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slideLayout" Target="../slideLayouts/slideLayout1.xml"/><Relationship Id="rId7"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image" Target="../media/image-2-8.png"/><Relationship Id="rId9" Type="http://schemas.openxmlformats.org/officeDocument/2006/relationships/image" Target="../media/image-2-9.png"/><Relationship Id="rId10" Type="http://schemas.openxmlformats.org/officeDocument/2006/relationships/image" Target="../media/image-2-10.png"/><Relationship Id="rId11" Type="http://schemas.openxmlformats.org/officeDocument/2006/relationships/image" Target="../media/image-2-11.png"/><Relationship Id="rId12" Type="http://schemas.openxmlformats.org/officeDocument/2006/relationships/image" Target="../media/image-2-12.png"/><Relationship Id="rId13" Type="http://schemas.openxmlformats.org/officeDocument/2006/relationships/slideLayout" Target="../slideLayouts/slideLayout1.xml"/><Relationship Id="rId1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3-8.png"/><Relationship Id="rId9" Type="http://schemas.openxmlformats.org/officeDocument/2006/relationships/image" Target="../media/image-3-9.png"/><Relationship Id="rId10" Type="http://schemas.openxmlformats.org/officeDocument/2006/relationships/image" Target="../media/image-3-10.png"/><Relationship Id="rId11" Type="http://schemas.openxmlformats.org/officeDocument/2006/relationships/image" Target="../media/image-3-11.png"/><Relationship Id="rId12" Type="http://schemas.openxmlformats.org/officeDocument/2006/relationships/image" Target="../media/image-3-12.png"/><Relationship Id="rId13" Type="http://schemas.openxmlformats.org/officeDocument/2006/relationships/image" Target="../media/image-3-13.png"/><Relationship Id="rId14" Type="http://schemas.openxmlformats.org/officeDocument/2006/relationships/image" Target="../media/image-3-14.png"/><Relationship Id="rId15" Type="http://schemas.openxmlformats.org/officeDocument/2006/relationships/slideLayout" Target="../slideLayouts/slideLayout1.xml"/><Relationship Id="rId1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image" Target="../media/image-4-8.png"/><Relationship Id="rId9" Type="http://schemas.openxmlformats.org/officeDocument/2006/relationships/slideLayout" Target="../slideLayouts/slideLayout1.xml"/><Relationship Id="rId10"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image" Target="../media/image-5-8.png"/><Relationship Id="rId9" Type="http://schemas.openxmlformats.org/officeDocument/2006/relationships/image" Target="../media/image-5-9.png"/><Relationship Id="rId10" Type="http://schemas.openxmlformats.org/officeDocument/2006/relationships/image" Target="../media/image-5-10.png"/><Relationship Id="rId11" Type="http://schemas.openxmlformats.org/officeDocument/2006/relationships/image" Target="../media/image-5-11.png"/><Relationship Id="rId12" Type="http://schemas.openxmlformats.org/officeDocument/2006/relationships/image" Target="../media/image-5-12.png"/><Relationship Id="rId13" Type="http://schemas.openxmlformats.org/officeDocument/2006/relationships/image" Target="../media/image-5-13.png"/><Relationship Id="rId14" Type="http://schemas.openxmlformats.org/officeDocument/2006/relationships/image" Target="../media/image-5-14.png"/><Relationship Id="rId15" Type="http://schemas.openxmlformats.org/officeDocument/2006/relationships/image" Target="../media/image-5-15.png"/><Relationship Id="rId16" Type="http://schemas.openxmlformats.org/officeDocument/2006/relationships/image" Target="../media/image-5-16.png"/><Relationship Id="rId17" Type="http://schemas.openxmlformats.org/officeDocument/2006/relationships/image" Target="../media/image-5-17.png"/><Relationship Id="rId18" Type="http://schemas.openxmlformats.org/officeDocument/2006/relationships/image" Target="../media/image-5-18.png"/><Relationship Id="rId19" Type="http://schemas.openxmlformats.org/officeDocument/2006/relationships/image" Target="../media/image-5-19.png"/><Relationship Id="rId20" Type="http://schemas.openxmlformats.org/officeDocument/2006/relationships/image" Target="../media/image-5-20.png"/><Relationship Id="rId21" Type="http://schemas.openxmlformats.org/officeDocument/2006/relationships/image" Target="../media/image-5-21.png"/><Relationship Id="rId22" Type="http://schemas.openxmlformats.org/officeDocument/2006/relationships/image" Target="../media/image-5-22.png"/><Relationship Id="rId23" Type="http://schemas.openxmlformats.org/officeDocument/2006/relationships/image" Target="../media/image-5-23.png"/><Relationship Id="rId24" Type="http://schemas.openxmlformats.org/officeDocument/2006/relationships/image" Target="../media/image-5-24.png"/><Relationship Id="rId25" Type="http://schemas.openxmlformats.org/officeDocument/2006/relationships/image" Target="../media/image-5-25.png"/><Relationship Id="rId26" Type="http://schemas.openxmlformats.org/officeDocument/2006/relationships/image" Target="../media/image-5-26.png"/><Relationship Id="rId27" Type="http://schemas.openxmlformats.org/officeDocument/2006/relationships/image" Target="../media/image-5-27.png"/><Relationship Id="rId28" Type="http://schemas.openxmlformats.org/officeDocument/2006/relationships/slideLayout" Target="../slideLayouts/slideLayout1.xml"/><Relationship Id="rId29"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image" Target="../media/image-6-8.png"/><Relationship Id="rId9" Type="http://schemas.openxmlformats.org/officeDocument/2006/relationships/image" Target="../media/image-6-9.png"/><Relationship Id="rId10" Type="http://schemas.openxmlformats.org/officeDocument/2006/relationships/image" Target="../media/image-6-10.png"/><Relationship Id="rId11" Type="http://schemas.openxmlformats.org/officeDocument/2006/relationships/image" Target="../media/image-6-11.png"/><Relationship Id="rId12" Type="http://schemas.openxmlformats.org/officeDocument/2006/relationships/slideLayout" Target="../slideLayouts/slideLayout1.xml"/><Relationship Id="rId1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image" Target="../media/image-7-8.png"/><Relationship Id="rId9" Type="http://schemas.openxmlformats.org/officeDocument/2006/relationships/image" Target="../media/image-7-9.png"/><Relationship Id="rId10" Type="http://schemas.openxmlformats.org/officeDocument/2006/relationships/image" Target="../media/image-7-10.png"/><Relationship Id="rId11" Type="http://schemas.openxmlformats.org/officeDocument/2006/relationships/image" Target="../media/image-7-11.png"/><Relationship Id="rId12" Type="http://schemas.openxmlformats.org/officeDocument/2006/relationships/image" Target="../media/image-7-12.png"/><Relationship Id="rId13" Type="http://schemas.openxmlformats.org/officeDocument/2006/relationships/image" Target="../media/image-7-13.png"/><Relationship Id="rId14" Type="http://schemas.openxmlformats.org/officeDocument/2006/relationships/image" Target="../media/image-7-14.png"/><Relationship Id="rId15" Type="http://schemas.openxmlformats.org/officeDocument/2006/relationships/image" Target="../media/image-7-15.png"/><Relationship Id="rId16" Type="http://schemas.openxmlformats.org/officeDocument/2006/relationships/image" Target="../media/image-7-16.png"/><Relationship Id="rId17" Type="http://schemas.openxmlformats.org/officeDocument/2006/relationships/image" Target="../media/image-7-17.png"/><Relationship Id="rId18" Type="http://schemas.openxmlformats.org/officeDocument/2006/relationships/slideLayout" Target="../slideLayouts/slideLayout1.xml"/><Relationship Id="rId19"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image" Target="../media/image-8-7.png"/><Relationship Id="rId8" Type="http://schemas.openxmlformats.org/officeDocument/2006/relationships/image" Target="../media/image-8-8.png"/><Relationship Id="rId9" Type="http://schemas.openxmlformats.org/officeDocument/2006/relationships/image" Target="../media/image-8-9.png"/><Relationship Id="rId10" Type="http://schemas.openxmlformats.org/officeDocument/2006/relationships/image" Target="../media/image-8-10.png"/><Relationship Id="rId11" Type="http://schemas.openxmlformats.org/officeDocument/2006/relationships/image" Target="../media/image-8-11.png"/><Relationship Id="rId12" Type="http://schemas.openxmlformats.org/officeDocument/2006/relationships/image" Target="../media/image-8-12.png"/><Relationship Id="rId13" Type="http://schemas.openxmlformats.org/officeDocument/2006/relationships/image" Target="../media/image-8-13.png"/><Relationship Id="rId14" Type="http://schemas.openxmlformats.org/officeDocument/2006/relationships/image" Target="../media/image-8-14.png"/><Relationship Id="rId15" Type="http://schemas.openxmlformats.org/officeDocument/2006/relationships/image" Target="../media/image-8-15.png"/><Relationship Id="rId16" Type="http://schemas.openxmlformats.org/officeDocument/2006/relationships/image" Target="../media/image-8-16.png"/><Relationship Id="rId17" Type="http://schemas.openxmlformats.org/officeDocument/2006/relationships/slideLayout" Target="../slideLayouts/slideLayout1.xml"/><Relationship Id="rId18"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image" Target="../media/image-9-7.png"/><Relationship Id="rId8" Type="http://schemas.openxmlformats.org/officeDocument/2006/relationships/image" Target="../media/image-9-8.png"/><Relationship Id="rId9" Type="http://schemas.openxmlformats.org/officeDocument/2006/relationships/image" Target="../media/image-9-9.png"/><Relationship Id="rId10" Type="http://schemas.openxmlformats.org/officeDocument/2006/relationships/image" Target="../media/image-9-10.png"/><Relationship Id="rId11" Type="http://schemas.openxmlformats.org/officeDocument/2006/relationships/image" Target="../media/image-9-11.png"/><Relationship Id="rId12" Type="http://schemas.openxmlformats.org/officeDocument/2006/relationships/image" Target="../media/image-9-12.png"/><Relationship Id="rId13" Type="http://schemas.openxmlformats.org/officeDocument/2006/relationships/image" Target="../media/image-9-13.png"/><Relationship Id="rId14" Type="http://schemas.openxmlformats.org/officeDocument/2006/relationships/image" Target="../media/image-9-14.png"/><Relationship Id="rId15" Type="http://schemas.openxmlformats.org/officeDocument/2006/relationships/image" Target="../media/image-9-15.png"/><Relationship Id="rId16" Type="http://schemas.openxmlformats.org/officeDocument/2006/relationships/image" Target="../media/image-9-16.png"/><Relationship Id="rId17" Type="http://schemas.openxmlformats.org/officeDocument/2006/relationships/image" Target="../media/image-9-17.png"/><Relationship Id="rId18" Type="http://schemas.openxmlformats.org/officeDocument/2006/relationships/image" Target="../media/image-9-18.png"/><Relationship Id="rId19" Type="http://schemas.openxmlformats.org/officeDocument/2006/relationships/image" Target="../media/image-9-19.png"/><Relationship Id="rId20" Type="http://schemas.openxmlformats.org/officeDocument/2006/relationships/image" Target="../media/image-9-20.png"/><Relationship Id="rId21" Type="http://schemas.openxmlformats.org/officeDocument/2006/relationships/image" Target="../media/image-9-21.png"/><Relationship Id="rId22" Type="http://schemas.openxmlformats.org/officeDocument/2006/relationships/image" Target="../media/image-9-22.png"/><Relationship Id="rId23" Type="http://schemas.openxmlformats.org/officeDocument/2006/relationships/image" Target="../media/image-9-23.png"/><Relationship Id="rId24" Type="http://schemas.openxmlformats.org/officeDocument/2006/relationships/image" Target="../media/image-9-24.png"/><Relationship Id="rId25" Type="http://schemas.openxmlformats.org/officeDocument/2006/relationships/slideLayout" Target="../slideLayouts/slideLayout1.xml"/><Relationship Id="rId2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image" Target="../media/image-10-6.png"/><Relationship Id="rId7" Type="http://schemas.openxmlformats.org/officeDocument/2006/relationships/image" Target="../media/image-10-7.png"/><Relationship Id="rId8" Type="http://schemas.openxmlformats.org/officeDocument/2006/relationships/image" Target="../media/image-10-8.png"/><Relationship Id="rId9" Type="http://schemas.openxmlformats.org/officeDocument/2006/relationships/image" Target="../media/image-10-9.png"/><Relationship Id="rId10" Type="http://schemas.openxmlformats.org/officeDocument/2006/relationships/image" Target="../media/image-10-10.png"/><Relationship Id="rId11" Type="http://schemas.openxmlformats.org/officeDocument/2006/relationships/image" Target="../media/image-10-11.png"/><Relationship Id="rId12" Type="http://schemas.openxmlformats.org/officeDocument/2006/relationships/image" Target="../media/image-10-12.png"/><Relationship Id="rId13" Type="http://schemas.openxmlformats.org/officeDocument/2006/relationships/image" Target="../media/image-10-13.png"/><Relationship Id="rId14" Type="http://schemas.openxmlformats.org/officeDocument/2006/relationships/slideLayout" Target="../slideLayouts/slideLayout1.xml"/><Relationship Id="rId1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image" Target="../media/image-11-7.png"/><Relationship Id="rId8" Type="http://schemas.openxmlformats.org/officeDocument/2006/relationships/image" Target="../media/image-11-8.png"/><Relationship Id="rId9" Type="http://schemas.openxmlformats.org/officeDocument/2006/relationships/image" Target="../media/image-11-9.png"/><Relationship Id="rId10" Type="http://schemas.openxmlformats.org/officeDocument/2006/relationships/image" Target="../media/image-11-10.png"/><Relationship Id="rId11" Type="http://schemas.openxmlformats.org/officeDocument/2006/relationships/image" Target="../media/image-11-11.png"/><Relationship Id="rId12" Type="http://schemas.openxmlformats.org/officeDocument/2006/relationships/image" Target="../media/image-11-12.png"/><Relationship Id="rId13" Type="http://schemas.openxmlformats.org/officeDocument/2006/relationships/image" Target="../media/image-11-13.png"/><Relationship Id="rId14" Type="http://schemas.openxmlformats.org/officeDocument/2006/relationships/image" Target="../media/image-11-14.png"/><Relationship Id="rId15" Type="http://schemas.openxmlformats.org/officeDocument/2006/relationships/slideLayout" Target="../slideLayouts/slideLayout1.xml"/><Relationship Id="rId16"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image" Target="../media/image-12-7.png"/><Relationship Id="rId8" Type="http://schemas.openxmlformats.org/officeDocument/2006/relationships/image" Target="../media/image-12-8.png"/><Relationship Id="rId9" Type="http://schemas.openxmlformats.org/officeDocument/2006/relationships/image" Target="../media/image-12-9.png"/><Relationship Id="rId10" Type="http://schemas.openxmlformats.org/officeDocument/2006/relationships/image" Target="../media/image-12-10.png"/><Relationship Id="rId11" Type="http://schemas.openxmlformats.org/officeDocument/2006/relationships/image" Target="../media/image-12-11.png"/><Relationship Id="rId12" Type="http://schemas.openxmlformats.org/officeDocument/2006/relationships/image" Target="../media/image-12-12.png"/><Relationship Id="rId13" Type="http://schemas.openxmlformats.org/officeDocument/2006/relationships/image" Target="../media/image-12-13.png"/><Relationship Id="rId14" Type="http://schemas.openxmlformats.org/officeDocument/2006/relationships/slideLayout" Target="../slideLayouts/slideLayout1.xml"/><Relationship Id="rId1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image" Target="../media/image-13-6.png"/><Relationship Id="rId7" Type="http://schemas.openxmlformats.org/officeDocument/2006/relationships/image" Target="../media/image-13-7.png"/><Relationship Id="rId8" Type="http://schemas.openxmlformats.org/officeDocument/2006/relationships/image" Target="../media/image-13-8.png"/><Relationship Id="rId9" Type="http://schemas.openxmlformats.org/officeDocument/2006/relationships/image" Target="../media/image-13-9.png"/><Relationship Id="rId10" Type="http://schemas.openxmlformats.org/officeDocument/2006/relationships/image" Target="../media/image-13-10.png"/><Relationship Id="rId11" Type="http://schemas.openxmlformats.org/officeDocument/2006/relationships/image" Target="../media/image-13-11.png"/><Relationship Id="rId12" Type="http://schemas.openxmlformats.org/officeDocument/2006/relationships/image" Target="../media/image-13-12.png"/><Relationship Id="rId13" Type="http://schemas.openxmlformats.org/officeDocument/2006/relationships/image" Target="../media/image-13-13.png"/><Relationship Id="rId14" Type="http://schemas.openxmlformats.org/officeDocument/2006/relationships/image" Target="../media/image-13-14.png"/><Relationship Id="rId15" Type="http://schemas.openxmlformats.org/officeDocument/2006/relationships/image" Target="../media/image-13-15.png"/><Relationship Id="rId16" Type="http://schemas.openxmlformats.org/officeDocument/2006/relationships/image" Target="../media/image-13-16.png"/><Relationship Id="rId17" Type="http://schemas.openxmlformats.org/officeDocument/2006/relationships/image" Target="../media/image-13-17.png"/><Relationship Id="rId18" Type="http://schemas.openxmlformats.org/officeDocument/2006/relationships/image" Target="../media/image-13-18.png"/><Relationship Id="rId19" Type="http://schemas.openxmlformats.org/officeDocument/2006/relationships/image" Target="../media/image-13-19.png"/><Relationship Id="rId20" Type="http://schemas.openxmlformats.org/officeDocument/2006/relationships/image" Target="../media/image-13-20.png"/><Relationship Id="rId21" Type="http://schemas.openxmlformats.org/officeDocument/2006/relationships/image" Target="../media/image-13-21.png"/><Relationship Id="rId22" Type="http://schemas.openxmlformats.org/officeDocument/2006/relationships/image" Target="../media/image-13-22.png"/><Relationship Id="rId23" Type="http://schemas.openxmlformats.org/officeDocument/2006/relationships/image" Target="../media/image-13-23.png"/><Relationship Id="rId24" Type="http://schemas.openxmlformats.org/officeDocument/2006/relationships/image" Target="../media/image-13-24.png"/><Relationship Id="rId25" Type="http://schemas.openxmlformats.org/officeDocument/2006/relationships/image" Target="../media/image-13-25.png"/><Relationship Id="rId26" Type="http://schemas.openxmlformats.org/officeDocument/2006/relationships/image" Target="../media/image-13-26.png"/><Relationship Id="rId27" Type="http://schemas.openxmlformats.org/officeDocument/2006/relationships/image" Target="../media/image-13-27.png"/><Relationship Id="rId28" Type="http://schemas.openxmlformats.org/officeDocument/2006/relationships/image" Target="../media/image-13-28.png"/><Relationship Id="rId29" Type="http://schemas.openxmlformats.org/officeDocument/2006/relationships/slideLayout" Target="../slideLayouts/slideLayout1.xml"/><Relationship Id="rId30"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image" Target="../media/image-15-6.png"/><Relationship Id="rId7" Type="http://schemas.openxmlformats.org/officeDocument/2006/relationships/image" Target="../media/image-15-7.png"/><Relationship Id="rId8" Type="http://schemas.openxmlformats.org/officeDocument/2006/relationships/image" Target="../media/image-15-8.png"/><Relationship Id="rId9" Type="http://schemas.openxmlformats.org/officeDocument/2006/relationships/image" Target="../media/image-15-9.png"/><Relationship Id="rId10" Type="http://schemas.openxmlformats.org/officeDocument/2006/relationships/image" Target="../media/image-15-10.png"/><Relationship Id="rId11" Type="http://schemas.openxmlformats.org/officeDocument/2006/relationships/image" Target="../media/image-15-11.png"/><Relationship Id="rId12" Type="http://schemas.openxmlformats.org/officeDocument/2006/relationships/image" Target="../media/image-15-12.png"/><Relationship Id="rId13" Type="http://schemas.openxmlformats.org/officeDocument/2006/relationships/image" Target="../media/image-15-13.png"/><Relationship Id="rId14" Type="http://schemas.openxmlformats.org/officeDocument/2006/relationships/image" Target="../media/image-15-14.png"/><Relationship Id="rId15" Type="http://schemas.openxmlformats.org/officeDocument/2006/relationships/image" Target="../media/image-15-15.png"/><Relationship Id="rId16" Type="http://schemas.openxmlformats.org/officeDocument/2006/relationships/image" Target="../media/image-15-16.png"/><Relationship Id="rId17" Type="http://schemas.openxmlformats.org/officeDocument/2006/relationships/image" Target="../media/image-15-17.png"/><Relationship Id="rId18" Type="http://schemas.openxmlformats.org/officeDocument/2006/relationships/image" Target="../media/image-15-18.png"/><Relationship Id="rId19" Type="http://schemas.openxmlformats.org/officeDocument/2006/relationships/image" Target="../media/image-15-19.png"/><Relationship Id="rId20" Type="http://schemas.openxmlformats.org/officeDocument/2006/relationships/image" Target="../media/image-15-20.png"/><Relationship Id="rId21" Type="http://schemas.openxmlformats.org/officeDocument/2006/relationships/image" Target="../media/image-15-21.png"/><Relationship Id="rId22" Type="http://schemas.openxmlformats.org/officeDocument/2006/relationships/image" Target="../media/image-15-22.png"/><Relationship Id="rId23" Type="http://schemas.openxmlformats.org/officeDocument/2006/relationships/slideLayout" Target="../slideLayouts/slideLayout1.xml"/><Relationship Id="rId2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image" Target="../media/image-16-6.png"/><Relationship Id="rId7" Type="http://schemas.openxmlformats.org/officeDocument/2006/relationships/image" Target="../media/image-16-7.png"/><Relationship Id="rId8" Type="http://schemas.openxmlformats.org/officeDocument/2006/relationships/image" Target="../media/image-16-8.png"/><Relationship Id="rId9" Type="http://schemas.openxmlformats.org/officeDocument/2006/relationships/image" Target="../media/image-16-9.png"/><Relationship Id="rId10" Type="http://schemas.openxmlformats.org/officeDocument/2006/relationships/image" Target="../media/image-16-10.png"/><Relationship Id="rId11" Type="http://schemas.openxmlformats.org/officeDocument/2006/relationships/image" Target="../media/image-16-11.png"/><Relationship Id="rId12" Type="http://schemas.openxmlformats.org/officeDocument/2006/relationships/image" Target="../media/image-16-12.png"/><Relationship Id="rId13" Type="http://schemas.openxmlformats.org/officeDocument/2006/relationships/image" Target="../media/image-16-13.png"/><Relationship Id="rId14" Type="http://schemas.openxmlformats.org/officeDocument/2006/relationships/image" Target="../media/image-16-14.png"/><Relationship Id="rId15" Type="http://schemas.openxmlformats.org/officeDocument/2006/relationships/image" Target="../media/image-16-15.png"/><Relationship Id="rId16" Type="http://schemas.openxmlformats.org/officeDocument/2006/relationships/image" Target="../media/image-16-16.png"/><Relationship Id="rId17" Type="http://schemas.openxmlformats.org/officeDocument/2006/relationships/image" Target="../media/image-16-17.png"/><Relationship Id="rId18" Type="http://schemas.openxmlformats.org/officeDocument/2006/relationships/image" Target="../media/image-16-18.png"/><Relationship Id="rId19" Type="http://schemas.openxmlformats.org/officeDocument/2006/relationships/image" Target="../media/image-16-19.png"/><Relationship Id="rId20" Type="http://schemas.openxmlformats.org/officeDocument/2006/relationships/image" Target="../media/image-16-20.png"/><Relationship Id="rId21" Type="http://schemas.openxmlformats.org/officeDocument/2006/relationships/image" Target="../media/image-16-21.png"/><Relationship Id="rId22" Type="http://schemas.openxmlformats.org/officeDocument/2006/relationships/slideLayout" Target="../slideLayouts/slideLayout1.xml"/><Relationship Id="rId2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image" Target="../media/image-17-3.png"/><Relationship Id="rId4" Type="http://schemas.openxmlformats.org/officeDocument/2006/relationships/image" Target="../media/image-17-4.png"/><Relationship Id="rId5" Type="http://schemas.openxmlformats.org/officeDocument/2006/relationships/image" Target="../media/image-17-5.png"/><Relationship Id="rId6" Type="http://schemas.openxmlformats.org/officeDocument/2006/relationships/image" Target="../media/image-17-6.png"/><Relationship Id="rId7" Type="http://schemas.openxmlformats.org/officeDocument/2006/relationships/image" Target="../media/image-17-7.png"/><Relationship Id="rId8" Type="http://schemas.openxmlformats.org/officeDocument/2006/relationships/image" Target="../media/image-17-8.png"/><Relationship Id="rId9" Type="http://schemas.openxmlformats.org/officeDocument/2006/relationships/image" Target="../media/image-17-9.png"/><Relationship Id="rId10" Type="http://schemas.openxmlformats.org/officeDocument/2006/relationships/image" Target="../media/image-17-10.png"/><Relationship Id="rId11" Type="http://schemas.openxmlformats.org/officeDocument/2006/relationships/image" Target="../media/image-17-11.png"/><Relationship Id="rId12" Type="http://schemas.openxmlformats.org/officeDocument/2006/relationships/image" Target="../media/image-17-12.png"/><Relationship Id="rId13" Type="http://schemas.openxmlformats.org/officeDocument/2006/relationships/image" Target="../media/image-17-13.png"/><Relationship Id="rId14" Type="http://schemas.openxmlformats.org/officeDocument/2006/relationships/image" Target="../media/image-17-14.png"/><Relationship Id="rId15" Type="http://schemas.openxmlformats.org/officeDocument/2006/relationships/image" Target="../media/image-17-15.png"/><Relationship Id="rId16" Type="http://schemas.openxmlformats.org/officeDocument/2006/relationships/image" Target="../media/image-17-16.png"/><Relationship Id="rId17" Type="http://schemas.openxmlformats.org/officeDocument/2006/relationships/image" Target="../media/image-17-17.png"/><Relationship Id="rId18" Type="http://schemas.openxmlformats.org/officeDocument/2006/relationships/image" Target="../media/image-17-18.png"/><Relationship Id="rId19" Type="http://schemas.openxmlformats.org/officeDocument/2006/relationships/slideLayout" Target="../slideLayouts/slideLayout1.xml"/><Relationship Id="rId20"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5568553"/>
          </a:xfrm>
          <a:prstGeom prst="rect">
            <a:avLst/>
          </a:prstGeom>
        </p:spPr>
      </p:pic>
      <p:pic>
        <p:nvPicPr>
          <p:cNvPr id="3" name="Image 1" descr="preencoded.png">    </p:cNvPr>
          <p:cNvPicPr>
            <a:picLocks noChangeAspect="1"/>
          </p:cNvPicPr>
          <p:nvPr/>
        </p:nvPicPr>
        <p:blipFill>
          <a:blip r:embed="rId2"/>
          <a:stretch>
            <a:fillRect/>
          </a:stretch>
        </p:blipFill>
        <p:spPr>
          <a:xfrm>
            <a:off x="3486122" y="457200"/>
            <a:ext cx="857250" cy="857250"/>
          </a:xfrm>
          <a:prstGeom prst="rect">
            <a:avLst/>
          </a:prstGeom>
        </p:spPr>
      </p:pic>
      <p:pic>
        <p:nvPicPr>
          <p:cNvPr id="4" name="Image 2" descr="preencoded.png">    </p:cNvPr>
          <p:cNvPicPr>
            <a:picLocks noChangeAspect="1"/>
          </p:cNvPicPr>
          <p:nvPr/>
        </p:nvPicPr>
        <p:blipFill>
          <a:blip r:embed="rId3"/>
          <a:stretch>
            <a:fillRect/>
          </a:stretch>
        </p:blipFill>
        <p:spPr>
          <a:xfrm>
            <a:off x="4800572" y="457200"/>
            <a:ext cx="857250" cy="857250"/>
          </a:xfrm>
          <a:prstGeom prst="rect">
            <a:avLst/>
          </a:prstGeom>
        </p:spPr>
      </p:pic>
      <p:sp>
        <p:nvSpPr>
          <p:cNvPr id="5" name="Shape 0"/>
          <p:cNvSpPr/>
          <p:nvPr/>
        </p:nvSpPr>
        <p:spPr>
          <a:xfrm>
            <a:off x="1071200" y="1543050"/>
            <a:ext cx="7001573" cy="428625"/>
          </a:xfrm>
          <a:prstGeom prst="rect">
            <a:avLst/>
          </a:prstGeom>
          <a:solidFill>
            <a:srgbClr val="93C5FD"/>
          </a:solidFill>
          <a:ln/>
        </p:spPr>
      </p:sp>
      <p:sp>
        <p:nvSpPr>
          <p:cNvPr id="6" name="Text 1"/>
          <p:cNvSpPr/>
          <p:nvPr/>
        </p:nvSpPr>
        <p:spPr>
          <a:xfrm>
            <a:off x="1071200" y="1543050"/>
            <a:ext cx="7073010" cy="428625"/>
          </a:xfrm>
          <a:prstGeom prst="rect">
            <a:avLst/>
          </a:prstGeom>
          <a:noFill/>
          <a:ln/>
        </p:spPr>
        <p:txBody>
          <a:bodyPr wrap="square" lIns="0" tIns="0" rIns="0" bIns="0" rtlCol="0" anchor="ctr">
            <a:spAutoFit/>
          </a:bodyPr>
          <a:lstStyle/>
          <a:p>
            <a:pPr algn="ctr" indent="0" marL="0">
              <a:buNone/>
            </a:pPr>
            <a:r>
              <a:rPr lang="en-US" sz="3375" b="1" dirty="0">
                <a:solidFill>
                  <a:srgbClr val="93C5FD"/>
                </a:solidFill>
                <a:latin typeface="Segoe UI" pitchFamily="34" charset="0"/>
                <a:ea typeface="Segoe UI" pitchFamily="34" charset="-122"/>
                <a:cs typeface="Segoe UI" pitchFamily="34" charset="-120"/>
              </a:rPr>
              <a:t>Introduction to Java Programming</a:t>
            </a:r>
            <a:endParaRPr lang="en-US" sz="3375" dirty="0"/>
          </a:p>
        </p:txBody>
      </p:sp>
      <p:sp>
        <p:nvSpPr>
          <p:cNvPr id="7" name="Text 2"/>
          <p:cNvSpPr/>
          <p:nvPr/>
        </p:nvSpPr>
        <p:spPr>
          <a:xfrm>
            <a:off x="3696779" y="2143125"/>
            <a:ext cx="1821852" cy="257175"/>
          </a:xfrm>
          <a:prstGeom prst="rect">
            <a:avLst/>
          </a:prstGeom>
          <a:noFill/>
          <a:ln/>
        </p:spPr>
        <p:txBody>
          <a:bodyPr wrap="square" lIns="0" tIns="0" rIns="0" bIns="0" rtlCol="0" anchor="ctr">
            <a:spAutoFit/>
          </a:bodyPr>
          <a:lstStyle/>
          <a:p>
            <a:pPr algn="ctr" indent="0" marL="0">
              <a:buNone/>
            </a:pPr>
            <a:r>
              <a:rPr lang="en-US" sz="1688" b="1" dirty="0">
                <a:solidFill>
                  <a:srgbClr val="BAE6FD"/>
                </a:solidFill>
                <a:latin typeface="Segoe UI" pitchFamily="34" charset="0"/>
                <a:ea typeface="Segoe UI" pitchFamily="34" charset="-122"/>
                <a:cs typeface="Segoe UI" pitchFamily="34" charset="-120"/>
              </a:rPr>
              <a:t>&amp; VS Code Setup</a:t>
            </a:r>
            <a:endParaRPr lang="en-US" sz="1688" dirty="0"/>
          </a:p>
        </p:txBody>
      </p:sp>
      <p:sp>
        <p:nvSpPr>
          <p:cNvPr id="8" name="Text 3"/>
          <p:cNvSpPr/>
          <p:nvPr/>
        </p:nvSpPr>
        <p:spPr>
          <a:xfrm>
            <a:off x="3628634" y="2514600"/>
            <a:ext cx="1958141" cy="228600"/>
          </a:xfrm>
          <a:prstGeom prst="rect">
            <a:avLst/>
          </a:prstGeom>
          <a:noFill/>
          <a:ln/>
        </p:spPr>
        <p:txBody>
          <a:bodyPr wrap="square" lIns="0" tIns="0" rIns="0" bIns="0" rtlCol="0" anchor="ctr">
            <a:spAutoFit/>
          </a:bodyPr>
          <a:lstStyle/>
          <a:p>
            <a:pPr algn="ctr" indent="0" marL="0">
              <a:buNone/>
            </a:pPr>
            <a:r>
              <a:rPr lang="en-US" sz="1350" b="1" dirty="0">
                <a:solidFill>
                  <a:srgbClr val="BFDBFE"/>
                </a:solidFill>
                <a:latin typeface="Segoe UI" pitchFamily="34" charset="0"/>
                <a:ea typeface="Segoe UI" pitchFamily="34" charset="-122"/>
                <a:cs typeface="Segoe UI" pitchFamily="34" charset="-120"/>
              </a:rPr>
              <a:t>Instructor: Khurram Iqbal</a:t>
            </a:r>
            <a:endParaRPr lang="en-US" sz="1350" dirty="0"/>
          </a:p>
        </p:txBody>
      </p:sp>
      <p:sp>
        <p:nvSpPr>
          <p:cNvPr id="9" name="Shape 4"/>
          <p:cNvSpPr/>
          <p:nvPr/>
        </p:nvSpPr>
        <p:spPr>
          <a:xfrm>
            <a:off x="1567718" y="3086100"/>
            <a:ext cx="6008508" cy="1368028"/>
          </a:xfrm>
          <a:prstGeom prst="rect">
            <a:avLst/>
          </a:prstGeom>
          <a:solidFill>
            <a:srgbClr val="FFFFFF">
              <a:alpha val="10000"/>
            </a:srgbClr>
          </a:solidFill>
          <a:ln w="99">
            <a:solidFill>
              <a:srgbClr val="93C5FD">
                <a:alpha val="30000"/>
              </a:srgbClr>
            </a:solidFill>
            <a:prstDash val="solid"/>
          </a:ln>
        </p:spPr>
      </p:sp>
      <p:pic>
        <p:nvPicPr>
          <p:cNvPr id="10" name="Image 3" descr="preencoded.png">    </p:cNvPr>
          <p:cNvPicPr>
            <a:picLocks noChangeAspect="1"/>
          </p:cNvPicPr>
          <p:nvPr/>
        </p:nvPicPr>
        <p:blipFill>
          <a:blip r:embed="rId4"/>
          <a:stretch>
            <a:fillRect/>
          </a:stretch>
        </p:blipFill>
        <p:spPr>
          <a:xfrm>
            <a:off x="2916241" y="3314700"/>
            <a:ext cx="428625" cy="342900"/>
          </a:xfrm>
          <a:prstGeom prst="rect">
            <a:avLst/>
          </a:prstGeom>
        </p:spPr>
      </p:pic>
      <p:sp>
        <p:nvSpPr>
          <p:cNvPr id="11" name="Text 5"/>
          <p:cNvSpPr/>
          <p:nvPr/>
        </p:nvSpPr>
        <p:spPr>
          <a:xfrm>
            <a:off x="2253155" y="3782616"/>
            <a:ext cx="1826261" cy="200025"/>
          </a:xfrm>
          <a:prstGeom prst="rect">
            <a:avLst/>
          </a:prstGeom>
          <a:noFill/>
          <a:ln/>
        </p:spPr>
        <p:txBody>
          <a:bodyPr wrap="square" lIns="0" tIns="0" rIns="0" bIns="0" rtlCol="0" anchor="ctr">
            <a:spAutoFit/>
          </a:bodyPr>
          <a:lstStyle/>
          <a:p>
            <a:pPr indent="0" marL="0">
              <a:buNone/>
            </a:pPr>
            <a:r>
              <a:rPr lang="en-US" sz="1125" b="1" dirty="0">
                <a:solidFill>
                  <a:srgbClr val="F1F5F9"/>
                </a:solidFill>
                <a:latin typeface="Segoe UI" pitchFamily="34" charset="0"/>
                <a:ea typeface="Segoe UI" pitchFamily="34" charset="-122"/>
                <a:cs typeface="Segoe UI" pitchFamily="34" charset="-120"/>
              </a:rPr>
              <a:t>Learn Java Fundamentals</a:t>
            </a:r>
            <a:endParaRPr lang="en-US" sz="1125" dirty="0"/>
          </a:p>
        </p:txBody>
      </p:sp>
      <p:sp>
        <p:nvSpPr>
          <p:cNvPr id="12" name="Text 6"/>
          <p:cNvSpPr/>
          <p:nvPr/>
        </p:nvSpPr>
        <p:spPr>
          <a:xfrm>
            <a:off x="1920469" y="4039791"/>
            <a:ext cx="2491606" cy="171450"/>
          </a:xfrm>
          <a:prstGeom prst="rect">
            <a:avLst/>
          </a:prstGeom>
          <a:noFill/>
          <a:ln/>
        </p:spPr>
        <p:txBody>
          <a:bodyPr wrap="square" lIns="0" tIns="0" rIns="0" bIns="0" rtlCol="0" anchor="ctr">
            <a:spAutoFit/>
          </a:bodyPr>
          <a:lstStyle/>
          <a:p>
            <a:pPr algn="ctr" indent="0" marL="0">
              <a:buNone/>
            </a:pPr>
            <a:r>
              <a:rPr lang="en-US" sz="900" dirty="0">
                <a:solidFill>
                  <a:srgbClr val="DBEAFE"/>
                </a:solidFill>
                <a:latin typeface="Segoe UI" pitchFamily="34" charset="0"/>
                <a:ea typeface="Segoe UI" pitchFamily="34" charset="-122"/>
                <a:cs typeface="Segoe UI" pitchFamily="34" charset="-120"/>
              </a:rPr>
              <a:t>From basic syntax to creating your first program</a:t>
            </a:r>
            <a:endParaRPr lang="en-US" sz="900" dirty="0"/>
          </a:p>
        </p:txBody>
      </p:sp>
      <p:pic>
        <p:nvPicPr>
          <p:cNvPr id="13" name="Image 4" descr="preencoded.png">    </p:cNvPr>
          <p:cNvPicPr>
            <a:picLocks noChangeAspect="1"/>
          </p:cNvPicPr>
          <p:nvPr/>
        </p:nvPicPr>
        <p:blipFill>
          <a:blip r:embed="rId5"/>
          <a:stretch>
            <a:fillRect/>
          </a:stretch>
        </p:blipFill>
        <p:spPr>
          <a:xfrm>
            <a:off x="5841913" y="3314700"/>
            <a:ext cx="342900" cy="342900"/>
          </a:xfrm>
          <a:prstGeom prst="rect">
            <a:avLst/>
          </a:prstGeom>
        </p:spPr>
      </p:pic>
      <p:sp>
        <p:nvSpPr>
          <p:cNvPr id="14" name="Text 7"/>
          <p:cNvSpPr/>
          <p:nvPr/>
        </p:nvSpPr>
        <p:spPr>
          <a:xfrm>
            <a:off x="4686272" y="3782616"/>
            <a:ext cx="2725648" cy="200025"/>
          </a:xfrm>
          <a:prstGeom prst="rect">
            <a:avLst/>
          </a:prstGeom>
          <a:noFill/>
          <a:ln/>
        </p:spPr>
        <p:txBody>
          <a:bodyPr wrap="square" lIns="0" tIns="0" rIns="0" bIns="0" rtlCol="0" anchor="ctr">
            <a:spAutoFit/>
          </a:bodyPr>
          <a:lstStyle/>
          <a:p>
            <a:pPr indent="0" marL="0">
              <a:buNone/>
            </a:pPr>
            <a:r>
              <a:rPr lang="en-US" sz="1125" b="1" dirty="0">
                <a:solidFill>
                  <a:srgbClr val="F1F5F9"/>
                </a:solidFill>
                <a:latin typeface="Segoe UI" pitchFamily="34" charset="0"/>
                <a:ea typeface="Segoe UI" pitchFamily="34" charset="-122"/>
                <a:cs typeface="Segoe UI" pitchFamily="34" charset="-120"/>
              </a:rPr>
              <a:t>Set Up Your Development Environment</a:t>
            </a:r>
            <a:endParaRPr lang="en-US" sz="1125" dirty="0"/>
          </a:p>
        </p:txBody>
      </p:sp>
      <p:sp>
        <p:nvSpPr>
          <p:cNvPr id="15" name="Text 8"/>
          <p:cNvSpPr/>
          <p:nvPr/>
        </p:nvSpPr>
        <p:spPr>
          <a:xfrm>
            <a:off x="4958655" y="4039791"/>
            <a:ext cx="2180853" cy="171450"/>
          </a:xfrm>
          <a:prstGeom prst="rect">
            <a:avLst/>
          </a:prstGeom>
          <a:noFill/>
          <a:ln/>
        </p:spPr>
        <p:txBody>
          <a:bodyPr wrap="square" lIns="0" tIns="0" rIns="0" bIns="0" rtlCol="0" anchor="ctr">
            <a:spAutoFit/>
          </a:bodyPr>
          <a:lstStyle/>
          <a:p>
            <a:pPr algn="ctr" indent="0" marL="0">
              <a:buNone/>
            </a:pPr>
            <a:r>
              <a:rPr lang="en-US" sz="900" dirty="0">
                <a:solidFill>
                  <a:srgbClr val="DBEAFE"/>
                </a:solidFill>
                <a:latin typeface="Segoe UI" pitchFamily="34" charset="0"/>
                <a:ea typeface="Segoe UI" pitchFamily="34" charset="-122"/>
                <a:cs typeface="Segoe UI" pitchFamily="34" charset="-120"/>
              </a:rPr>
              <a:t>Configure VS Code for Java development</a:t>
            </a:r>
            <a:endParaRPr lang="en-US" sz="900" dirty="0"/>
          </a:p>
        </p:txBody>
      </p:sp>
      <p:sp>
        <p:nvSpPr>
          <p:cNvPr id="16" name="Text 9"/>
          <p:cNvSpPr/>
          <p:nvPr/>
        </p:nvSpPr>
        <p:spPr>
          <a:xfrm>
            <a:off x="2894530" y="4897041"/>
            <a:ext cx="3426349" cy="200025"/>
          </a:xfrm>
          <a:prstGeom prst="rect">
            <a:avLst/>
          </a:prstGeom>
          <a:noFill/>
          <a:ln/>
        </p:spPr>
        <p:txBody>
          <a:bodyPr wrap="square" lIns="0" tIns="0" rIns="0" bIns="0" rtlCol="0" anchor="ctr">
            <a:spAutoFit/>
          </a:bodyPr>
          <a:lstStyle/>
          <a:p>
            <a:pPr indent="0" marL="0">
              <a:buNone/>
            </a:pPr>
            <a:r>
              <a:rPr lang="en-US" sz="1125" dirty="0">
                <a:solidFill>
                  <a:srgbClr val="BFDBFE"/>
                </a:solidFill>
                <a:latin typeface="Segoe UI" pitchFamily="34" charset="0"/>
                <a:ea typeface="Segoe UI" pitchFamily="34" charset="-122"/>
                <a:cs typeface="Segoe UI" pitchFamily="34" charset="-120"/>
              </a:rPr>
              <a:t>A beginner's guide to starting with Java programming</a:t>
            </a:r>
            <a:endParaRPr lang="en-US" sz="1125"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9101138"/>
          </a:xfrm>
          <a:prstGeom prst="rect">
            <a:avLst/>
          </a:prstGeom>
        </p:spPr>
      </p:pic>
      <p:sp>
        <p:nvSpPr>
          <p:cNvPr id="3" name="Text 0"/>
          <p:cNvSpPr/>
          <p:nvPr/>
        </p:nvSpPr>
        <p:spPr>
          <a:xfrm>
            <a:off x="457200" y="455414"/>
            <a:ext cx="1057331" cy="287536"/>
          </a:xfrm>
          <a:prstGeom prst="rect">
            <a:avLst/>
          </a:prstGeom>
          <a:noFill/>
          <a:ln/>
        </p:spPr>
        <p:txBody>
          <a:bodyPr wrap="none" lIns="0" tIns="0" rIns="0" bIns="0" rtlCol="0" anchor="ctr">
            <a:spAutoFit/>
          </a:bodyPr>
          <a:lstStyle/>
          <a:p>
            <a:pPr indent="0" marL="0">
              <a:buNone/>
            </a:pPr>
            <a:r>
              <a:rPr lang="en-US" sz="2025" b="1" dirty="0">
                <a:solidFill>
                  <a:srgbClr val="F1F5F9"/>
                </a:solidFill>
                <a:latin typeface="Segoe UI" pitchFamily="34" charset="0"/>
                <a:ea typeface="Segoe UI" pitchFamily="34" charset="-122"/>
                <a:cs typeface="Segoe UI" pitchFamily="34" charset="-120"/>
              </a:rPr>
              <a:t>What is</a:t>
            </a:r>
            <a:endParaRPr lang="en-US" sz="2025" dirty="0"/>
          </a:p>
        </p:txBody>
      </p:sp>
      <p:sp>
        <p:nvSpPr>
          <p:cNvPr id="4" name="Text 1"/>
          <p:cNvSpPr/>
          <p:nvPr/>
        </p:nvSpPr>
        <p:spPr>
          <a:xfrm>
            <a:off x="1443093" y="455414"/>
            <a:ext cx="643551" cy="287536"/>
          </a:xfrm>
          <a:prstGeom prst="rect">
            <a:avLst/>
          </a:prstGeom>
          <a:noFill/>
          <a:ln/>
        </p:spPr>
        <p:txBody>
          <a:bodyPr wrap="none" lIns="0" tIns="0" rIns="0" bIns="0" rtlCol="0" anchor="ctr">
            <a:spAutoFit/>
          </a:bodyPr>
          <a:lstStyle/>
          <a:p>
            <a:pPr indent="0" marL="0">
              <a:buNone/>
            </a:pPr>
            <a:r>
              <a:rPr lang="en-US" sz="2025" b="1" dirty="0">
                <a:solidFill>
                  <a:srgbClr val="60A5FA"/>
                </a:solidFill>
                <a:latin typeface="Segoe UI" pitchFamily="34" charset="0"/>
                <a:ea typeface="Segoe UI" pitchFamily="34" charset="-122"/>
                <a:cs typeface="Segoe UI" pitchFamily="34" charset="-120"/>
              </a:rPr>
              <a:t>Java</a:t>
            </a:r>
            <a:endParaRPr lang="en-US" sz="2025" dirty="0"/>
          </a:p>
        </p:txBody>
      </p:sp>
      <p:sp>
        <p:nvSpPr>
          <p:cNvPr id="5" name="Text 2"/>
          <p:cNvSpPr/>
          <p:nvPr/>
        </p:nvSpPr>
        <p:spPr>
          <a:xfrm>
            <a:off x="2015207" y="455414"/>
            <a:ext cx="228544" cy="287536"/>
          </a:xfrm>
          <a:prstGeom prst="rect">
            <a:avLst/>
          </a:prstGeom>
          <a:noFill/>
          <a:ln/>
        </p:spPr>
        <p:txBody>
          <a:bodyPr wrap="none" lIns="0" tIns="0" rIns="0" bIns="0" rtlCol="0" anchor="ctr">
            <a:spAutoFit/>
          </a:bodyPr>
          <a:lstStyle/>
          <a:p>
            <a:pPr indent="0" marL="0">
              <a:buNone/>
            </a:pPr>
            <a:r>
              <a:rPr lang="en-US" sz="2025" b="1" dirty="0">
                <a:solidFill>
                  <a:srgbClr val="F1F5F9"/>
                </a:solidFill>
                <a:latin typeface="Segoe UI" pitchFamily="34" charset="0"/>
                <a:ea typeface="Segoe UI" pitchFamily="34" charset="-122"/>
                <a:cs typeface="Segoe UI" pitchFamily="34" charset="-120"/>
              </a:rPr>
              <a:t>?</a:t>
            </a:r>
            <a:endParaRPr lang="en-US" sz="2025" dirty="0"/>
          </a:p>
        </p:txBody>
      </p:sp>
      <p:sp>
        <p:nvSpPr>
          <p:cNvPr id="6" name="Shape 3"/>
          <p:cNvSpPr/>
          <p:nvPr/>
        </p:nvSpPr>
        <p:spPr>
          <a:xfrm>
            <a:off x="457200" y="971550"/>
            <a:ext cx="4000500" cy="2557463"/>
          </a:xfrm>
          <a:prstGeom prst="rect">
            <a:avLst/>
          </a:prstGeom>
          <a:solidFill>
            <a:srgbClr val="FFFFFF">
              <a:alpha val="10000"/>
            </a:srgbClr>
          </a:solidFill>
          <a:ln w="99">
            <a:solidFill>
              <a:srgbClr val="60A5FA">
                <a:alpha val="30000"/>
              </a:srgbClr>
            </a:solidFill>
            <a:prstDash val="solid"/>
          </a:ln>
        </p:spPr>
      </p:sp>
      <p:sp>
        <p:nvSpPr>
          <p:cNvPr id="7" name="Text 4"/>
          <p:cNvSpPr/>
          <p:nvPr/>
        </p:nvSpPr>
        <p:spPr>
          <a:xfrm>
            <a:off x="628650" y="1143000"/>
            <a:ext cx="3729038" cy="228600"/>
          </a:xfrm>
          <a:prstGeom prst="rect">
            <a:avLst/>
          </a:prstGeom>
          <a:noFill/>
          <a:ln/>
        </p:spPr>
        <p:txBody>
          <a:bodyPr wrap="square" lIns="0" tIns="0" rIns="0" bIns="0" rtlCol="0" anchor="ctr">
            <a:spAutoFit/>
          </a:bodyPr>
          <a:lstStyle/>
          <a:p>
            <a:pPr indent="0" marL="0">
              <a:buNone/>
            </a:pPr>
            <a:r>
              <a:rPr lang="en-US" sz="1350" b="1" dirty="0">
                <a:solidFill>
                  <a:srgbClr val="BFDBFE"/>
                </a:solidFill>
                <a:latin typeface="Segoe UI" pitchFamily="34" charset="0"/>
                <a:ea typeface="Segoe UI" pitchFamily="34" charset="-122"/>
                <a:cs typeface="Segoe UI" pitchFamily="34" charset="-120"/>
              </a:rPr>
              <a:t>Definition</a:t>
            </a:r>
            <a:endParaRPr lang="en-US" sz="1350" dirty="0"/>
          </a:p>
        </p:txBody>
      </p:sp>
      <p:sp>
        <p:nvSpPr>
          <p:cNvPr id="8" name="Text 5"/>
          <p:cNvSpPr/>
          <p:nvPr/>
        </p:nvSpPr>
        <p:spPr>
          <a:xfrm>
            <a:off x="628650" y="1507331"/>
            <a:ext cx="554255" cy="128588"/>
          </a:xfrm>
          <a:prstGeom prst="rect">
            <a:avLst/>
          </a:prstGeom>
          <a:noFill/>
          <a:ln/>
        </p:spPr>
        <p:txBody>
          <a:bodyPr wrap="none" lIns="0" tIns="0" rIns="0" bIns="0" rtlCol="0" anchor="ctr">
            <a:spAutoFit/>
          </a:bodyPr>
          <a:lstStyle/>
          <a:p>
            <a:pPr indent="0" marL="0">
              <a:buNone/>
            </a:pPr>
            <a:r>
              <a:rPr lang="en-US" sz="900" dirty="0">
                <a:solidFill>
                  <a:srgbClr val="F1F5F9"/>
                </a:solidFill>
                <a:latin typeface="Segoe UI" pitchFamily="34" charset="0"/>
                <a:ea typeface="Segoe UI" pitchFamily="34" charset="-122"/>
                <a:cs typeface="Segoe UI" pitchFamily="34" charset="-120"/>
              </a:rPr>
              <a:t>Java is a</a:t>
            </a:r>
            <a:endParaRPr lang="en-US" sz="900" dirty="0"/>
          </a:p>
        </p:txBody>
      </p:sp>
      <p:sp>
        <p:nvSpPr>
          <p:cNvPr id="9" name="Text 6"/>
          <p:cNvSpPr/>
          <p:nvPr/>
        </p:nvSpPr>
        <p:spPr>
          <a:xfrm>
            <a:off x="1111467" y="1507331"/>
            <a:ext cx="2211939" cy="128588"/>
          </a:xfrm>
          <a:prstGeom prst="rect">
            <a:avLst/>
          </a:prstGeom>
          <a:noFill/>
          <a:ln/>
        </p:spPr>
        <p:txBody>
          <a:bodyPr wrap="square" lIns="0" tIns="0" rIns="0" bIns="0" rtlCol="0" anchor="ctr">
            <a:spAutoFit/>
          </a:bodyPr>
          <a:lstStyle/>
          <a:p>
            <a:pPr indent="0" marL="0">
              <a:buNone/>
            </a:pPr>
            <a:r>
              <a:rPr lang="en-US" sz="900" b="1" dirty="0">
                <a:solidFill>
                  <a:srgbClr val="60A5FA"/>
                </a:solidFill>
                <a:latin typeface="Segoe UI" pitchFamily="34" charset="0"/>
                <a:ea typeface="Segoe UI" pitchFamily="34" charset="-122"/>
                <a:cs typeface="Segoe UI" pitchFamily="34" charset="-120"/>
              </a:rPr>
              <a:t>high-level, class-based, object-oriented</a:t>
            </a:r>
            <a:endParaRPr lang="en-US" sz="900" dirty="0"/>
          </a:p>
        </p:txBody>
      </p:sp>
      <p:sp>
        <p:nvSpPr>
          <p:cNvPr id="10" name="Text 7"/>
          <p:cNvSpPr/>
          <p:nvPr/>
        </p:nvSpPr>
        <p:spPr>
          <a:xfrm>
            <a:off x="628650" y="1507331"/>
            <a:ext cx="3509200" cy="471488"/>
          </a:xfrm>
          <a:prstGeom prst="rect">
            <a:avLst/>
          </a:prstGeom>
          <a:noFill/>
          <a:ln/>
        </p:spPr>
        <p:txBody>
          <a:bodyPr wrap="square" lIns="0" tIns="0" rIns="0" bIns="0" rtlCol="0" anchor="ctr">
            <a:spAutoFit/>
          </a:bodyPr>
          <a:lstStyle/>
          <a:p>
            <a:pPr indent="0" marL="0">
              <a:buNone/>
            </a:pPr>
            <a:r>
              <a:rPr lang="en-US" sz="900" dirty="0">
                <a:solidFill>
                  <a:srgbClr val="F1F5F9"/>
                </a:solidFill>
                <a:latin typeface="Segoe UI" pitchFamily="34" charset="0"/>
                <a:ea typeface="Segoe UI" pitchFamily="34" charset="-122"/>
                <a:cs typeface="Segoe UI" pitchFamily="34" charset="-120"/>
              </a:rPr>
              <a:t>programming language designed to have as few implementation dependencies as possible.</a:t>
            </a:r>
            <a:endParaRPr lang="en-US" sz="900" dirty="0"/>
          </a:p>
        </p:txBody>
      </p:sp>
      <p:sp>
        <p:nvSpPr>
          <p:cNvPr id="11" name="Text 8"/>
          <p:cNvSpPr/>
          <p:nvPr/>
        </p:nvSpPr>
        <p:spPr>
          <a:xfrm>
            <a:off x="628650" y="2135981"/>
            <a:ext cx="662304" cy="128588"/>
          </a:xfrm>
          <a:prstGeom prst="rect">
            <a:avLst/>
          </a:prstGeom>
          <a:noFill/>
          <a:ln/>
        </p:spPr>
        <p:txBody>
          <a:bodyPr wrap="none" lIns="0" tIns="0" rIns="0" bIns="0" rtlCol="0" anchor="ctr">
            <a:spAutoFit/>
          </a:bodyPr>
          <a:lstStyle/>
          <a:p>
            <a:pPr indent="0" marL="0">
              <a:buNone/>
            </a:pPr>
            <a:r>
              <a:rPr lang="en-US" sz="900" dirty="0">
                <a:solidFill>
                  <a:srgbClr val="F1F5F9"/>
                </a:solidFill>
                <a:latin typeface="Segoe UI" pitchFamily="34" charset="0"/>
                <a:ea typeface="Segoe UI" pitchFamily="34" charset="-122"/>
                <a:cs typeface="Segoe UI" pitchFamily="34" charset="-120"/>
              </a:rPr>
              <a:t>Created by</a:t>
            </a:r>
            <a:endParaRPr lang="en-US" sz="900" dirty="0"/>
          </a:p>
        </p:txBody>
      </p:sp>
      <p:sp>
        <p:nvSpPr>
          <p:cNvPr id="12" name="Text 9"/>
          <p:cNvSpPr/>
          <p:nvPr/>
        </p:nvSpPr>
        <p:spPr>
          <a:xfrm>
            <a:off x="1219516" y="2135981"/>
            <a:ext cx="827391" cy="128588"/>
          </a:xfrm>
          <a:prstGeom prst="rect">
            <a:avLst/>
          </a:prstGeom>
          <a:noFill/>
          <a:ln/>
        </p:spPr>
        <p:txBody>
          <a:bodyPr wrap="none" lIns="0" tIns="0" rIns="0" bIns="0" rtlCol="0" anchor="ctr">
            <a:spAutoFit/>
          </a:bodyPr>
          <a:lstStyle/>
          <a:p>
            <a:pPr indent="0" marL="0">
              <a:buNone/>
            </a:pPr>
            <a:r>
              <a:rPr lang="en-US" sz="900" dirty="0">
                <a:solidFill>
                  <a:srgbClr val="60A5FA"/>
                </a:solidFill>
                <a:latin typeface="Segoe UI" pitchFamily="34" charset="0"/>
                <a:ea typeface="Segoe UI" pitchFamily="34" charset="-122"/>
                <a:cs typeface="Segoe UI" pitchFamily="34" charset="-120"/>
              </a:rPr>
              <a:t>James Gosling</a:t>
            </a:r>
            <a:endParaRPr lang="en-US" sz="900" dirty="0"/>
          </a:p>
        </p:txBody>
      </p:sp>
      <p:sp>
        <p:nvSpPr>
          <p:cNvPr id="13" name="Text 10"/>
          <p:cNvSpPr/>
          <p:nvPr/>
        </p:nvSpPr>
        <p:spPr>
          <a:xfrm>
            <a:off x="628650" y="2135981"/>
            <a:ext cx="3717764" cy="300038"/>
          </a:xfrm>
          <a:prstGeom prst="rect">
            <a:avLst/>
          </a:prstGeom>
          <a:noFill/>
          <a:ln/>
        </p:spPr>
        <p:txBody>
          <a:bodyPr wrap="square" lIns="0" tIns="0" rIns="0" bIns="0" rtlCol="0" anchor="ctr">
            <a:spAutoFit/>
          </a:bodyPr>
          <a:lstStyle/>
          <a:p>
            <a:pPr indent="0" marL="0">
              <a:buNone/>
            </a:pPr>
            <a:r>
              <a:rPr lang="en-US" sz="900" dirty="0">
                <a:solidFill>
                  <a:srgbClr val="F1F5F9"/>
                </a:solidFill>
                <a:latin typeface="Segoe UI" pitchFamily="34" charset="0"/>
                <a:ea typeface="Segoe UI" pitchFamily="34" charset="-122"/>
                <a:cs typeface="Segoe UI" pitchFamily="34" charset="-120"/>
              </a:rPr>
              <a:t>at Sun Microsystems (now owned by Oracle) and released in 1995.</a:t>
            </a:r>
            <a:endParaRPr lang="en-US" sz="900" dirty="0"/>
          </a:p>
        </p:txBody>
      </p:sp>
      <p:pic>
        <p:nvPicPr>
          <p:cNvPr id="14" name="Image 1" descr="preencoded.png">    </p:cNvPr>
          <p:cNvPicPr>
            <a:picLocks noChangeAspect="1"/>
          </p:cNvPicPr>
          <p:nvPr/>
        </p:nvPicPr>
        <p:blipFill>
          <a:blip r:embed="rId2"/>
          <a:stretch>
            <a:fillRect/>
          </a:stretch>
        </p:blipFill>
        <p:spPr>
          <a:xfrm>
            <a:off x="2100263" y="2628900"/>
            <a:ext cx="714375" cy="714375"/>
          </a:xfrm>
          <a:prstGeom prst="rect">
            <a:avLst/>
          </a:prstGeom>
        </p:spPr>
      </p:pic>
      <p:sp>
        <p:nvSpPr>
          <p:cNvPr id="15" name="Shape 11"/>
          <p:cNvSpPr/>
          <p:nvPr/>
        </p:nvSpPr>
        <p:spPr>
          <a:xfrm>
            <a:off x="457200" y="3686175"/>
            <a:ext cx="4000500" cy="1728788"/>
          </a:xfrm>
          <a:prstGeom prst="rect">
            <a:avLst/>
          </a:prstGeom>
          <a:solidFill>
            <a:srgbClr val="FFFFFF">
              <a:alpha val="10000"/>
            </a:srgbClr>
          </a:solidFill>
          <a:ln w="99">
            <a:solidFill>
              <a:srgbClr val="60A5FA">
                <a:alpha val="30000"/>
              </a:srgbClr>
            </a:solidFill>
            <a:prstDash val="solid"/>
          </a:ln>
        </p:spPr>
      </p:sp>
      <p:sp>
        <p:nvSpPr>
          <p:cNvPr id="16" name="Text 12"/>
          <p:cNvSpPr/>
          <p:nvPr/>
        </p:nvSpPr>
        <p:spPr>
          <a:xfrm>
            <a:off x="628650" y="3857625"/>
            <a:ext cx="3729038" cy="228600"/>
          </a:xfrm>
          <a:prstGeom prst="rect">
            <a:avLst/>
          </a:prstGeom>
          <a:noFill/>
          <a:ln/>
        </p:spPr>
        <p:txBody>
          <a:bodyPr wrap="square" lIns="0" tIns="0" rIns="0" bIns="0" rtlCol="0" anchor="ctr">
            <a:spAutoFit/>
          </a:bodyPr>
          <a:lstStyle/>
          <a:p>
            <a:pPr indent="0" marL="0">
              <a:buNone/>
            </a:pPr>
            <a:r>
              <a:rPr lang="en-US" sz="1350" b="1" dirty="0">
                <a:solidFill>
                  <a:srgbClr val="BFDBFE"/>
                </a:solidFill>
                <a:latin typeface="Segoe UI" pitchFamily="34" charset="0"/>
                <a:ea typeface="Segoe UI" pitchFamily="34" charset="-122"/>
                <a:cs typeface="Segoe UI" pitchFamily="34" charset="-120"/>
              </a:rPr>
              <a:t>Philosophy: "Write Once, Run Anywhere"</a:t>
            </a:r>
            <a:endParaRPr lang="en-US" sz="1350" dirty="0"/>
          </a:p>
        </p:txBody>
      </p:sp>
      <p:sp>
        <p:nvSpPr>
          <p:cNvPr id="17" name="Text 13"/>
          <p:cNvSpPr/>
          <p:nvPr/>
        </p:nvSpPr>
        <p:spPr>
          <a:xfrm>
            <a:off x="628650" y="4200525"/>
            <a:ext cx="3729038" cy="342900"/>
          </a:xfrm>
          <a:prstGeom prst="rect">
            <a:avLst/>
          </a:prstGeom>
          <a:noFill/>
          <a:ln/>
        </p:spPr>
        <p:txBody>
          <a:bodyPr wrap="square" lIns="0" tIns="0" rIns="0" bIns="0" rtlCol="0" anchor="ctr">
            <a:spAutoFit/>
          </a:bodyPr>
          <a:lstStyle/>
          <a:p>
            <a:pPr indent="0" marL="0">
              <a:buNone/>
            </a:pPr>
            <a:r>
              <a:rPr lang="en-US" sz="900" dirty="0">
                <a:solidFill>
                  <a:srgbClr val="F1F5F9"/>
                </a:solidFill>
                <a:latin typeface="Segoe UI" pitchFamily="34" charset="0"/>
                <a:ea typeface="Segoe UI" pitchFamily="34" charset="-122"/>
                <a:cs typeface="Segoe UI" pitchFamily="34" charset="-120"/>
              </a:rPr>
              <a:t>Java code is compiled to bytecode that runs on the Java Virtual Machine (JVM), allowing it to run on any device with a JVM installed.</a:t>
            </a:r>
            <a:endParaRPr lang="en-US" sz="900" dirty="0"/>
          </a:p>
        </p:txBody>
      </p:sp>
      <p:sp>
        <p:nvSpPr>
          <p:cNvPr id="18" name="Shape 14"/>
          <p:cNvSpPr/>
          <p:nvPr/>
        </p:nvSpPr>
        <p:spPr>
          <a:xfrm>
            <a:off x="628650" y="4657725"/>
            <a:ext cx="3657600" cy="571500"/>
          </a:xfrm>
          <a:prstGeom prst="rect">
            <a:avLst/>
          </a:prstGeom>
          <a:solidFill>
            <a:srgbClr val="1E3A8A">
              <a:alpha val="30000"/>
            </a:srgbClr>
          </a:solidFill>
          <a:ln/>
        </p:spPr>
      </p:sp>
      <p:pic>
        <p:nvPicPr>
          <p:cNvPr id="19" name="Image 2" descr="preencoded.png">    </p:cNvPr>
          <p:cNvPicPr>
            <a:picLocks noChangeAspect="1"/>
          </p:cNvPicPr>
          <p:nvPr/>
        </p:nvPicPr>
        <p:blipFill>
          <a:blip r:embed="rId3"/>
          <a:stretch>
            <a:fillRect/>
          </a:stretch>
        </p:blipFill>
        <p:spPr>
          <a:xfrm>
            <a:off x="742950" y="4857750"/>
            <a:ext cx="128588" cy="171450"/>
          </a:xfrm>
          <a:prstGeom prst="rect">
            <a:avLst/>
          </a:prstGeom>
        </p:spPr>
      </p:pic>
      <p:sp>
        <p:nvSpPr>
          <p:cNvPr id="20" name="Text 15"/>
          <p:cNvSpPr/>
          <p:nvPr/>
        </p:nvSpPr>
        <p:spPr>
          <a:xfrm>
            <a:off x="985838" y="4772025"/>
            <a:ext cx="3257550" cy="342900"/>
          </a:xfrm>
          <a:prstGeom prst="rect">
            <a:avLst/>
          </a:prstGeom>
          <a:noFill/>
          <a:ln/>
        </p:spPr>
        <p:txBody>
          <a:bodyPr wrap="square" lIns="0" tIns="0" rIns="0" bIns="0" rtlCol="0" anchor="ctr">
            <a:spAutoFit/>
          </a:bodyPr>
          <a:lstStyle/>
          <a:p>
            <a:pPr indent="0" marL="0">
              <a:buNone/>
            </a:pPr>
            <a:r>
              <a:rPr lang="en-US" sz="900" dirty="0">
                <a:solidFill>
                  <a:srgbClr val="F1F5F9"/>
                </a:solidFill>
                <a:latin typeface="Segoe UI" pitchFamily="34" charset="0"/>
                <a:ea typeface="Segoe UI" pitchFamily="34" charset="-122"/>
                <a:cs typeface="Segoe UI" pitchFamily="34" charset="-120"/>
              </a:rPr>
              <a:t>This platform independence makes Java ideal for cross-platform applications and enterprise systems.</a:t>
            </a:r>
            <a:endParaRPr lang="en-US" sz="900" dirty="0"/>
          </a:p>
        </p:txBody>
      </p:sp>
      <p:sp>
        <p:nvSpPr>
          <p:cNvPr id="21" name="Shape 16"/>
          <p:cNvSpPr/>
          <p:nvPr/>
        </p:nvSpPr>
        <p:spPr>
          <a:xfrm>
            <a:off x="4686300" y="971550"/>
            <a:ext cx="4000500" cy="3871913"/>
          </a:xfrm>
          <a:prstGeom prst="rect">
            <a:avLst/>
          </a:prstGeom>
          <a:solidFill>
            <a:srgbClr val="FFFFFF">
              <a:alpha val="10000"/>
            </a:srgbClr>
          </a:solidFill>
          <a:ln w="99">
            <a:solidFill>
              <a:srgbClr val="60A5FA">
                <a:alpha val="30000"/>
              </a:srgbClr>
            </a:solidFill>
            <a:prstDash val="solid"/>
          </a:ln>
        </p:spPr>
      </p:sp>
      <p:sp>
        <p:nvSpPr>
          <p:cNvPr id="22" name="Text 17"/>
          <p:cNvSpPr/>
          <p:nvPr/>
        </p:nvSpPr>
        <p:spPr>
          <a:xfrm>
            <a:off x="4857750" y="1143000"/>
            <a:ext cx="3729038" cy="228600"/>
          </a:xfrm>
          <a:prstGeom prst="rect">
            <a:avLst/>
          </a:prstGeom>
          <a:noFill/>
          <a:ln/>
        </p:spPr>
        <p:txBody>
          <a:bodyPr wrap="square" lIns="0" tIns="0" rIns="0" bIns="0" rtlCol="0" anchor="ctr">
            <a:spAutoFit/>
          </a:bodyPr>
          <a:lstStyle/>
          <a:p>
            <a:pPr indent="0" marL="0">
              <a:buNone/>
            </a:pPr>
            <a:r>
              <a:rPr lang="en-US" sz="1350" b="1" dirty="0">
                <a:solidFill>
                  <a:srgbClr val="BFDBFE"/>
                </a:solidFill>
                <a:latin typeface="Segoe UI" pitchFamily="34" charset="0"/>
                <a:ea typeface="Segoe UI" pitchFamily="34" charset="-122"/>
                <a:cs typeface="Segoe UI" pitchFamily="34" charset="-120"/>
              </a:rPr>
              <a:t>Key Features of Java</a:t>
            </a:r>
            <a:endParaRPr lang="en-US" sz="1350" dirty="0"/>
          </a:p>
        </p:txBody>
      </p:sp>
      <p:sp>
        <p:nvSpPr>
          <p:cNvPr id="23" name="Shape 18"/>
          <p:cNvSpPr/>
          <p:nvPr/>
        </p:nvSpPr>
        <p:spPr>
          <a:xfrm>
            <a:off x="4857750" y="1485900"/>
            <a:ext cx="3657600" cy="542925"/>
          </a:xfrm>
          <a:prstGeom prst="rect">
            <a:avLst/>
          </a:prstGeom>
          <a:solidFill>
            <a:srgbClr val="1E3A8A">
              <a:alpha val="30000"/>
            </a:srgbClr>
          </a:solidFill>
          <a:ln/>
        </p:spPr>
      </p:sp>
      <p:sp>
        <p:nvSpPr>
          <p:cNvPr id="24" name="Shape 19"/>
          <p:cNvSpPr/>
          <p:nvPr/>
        </p:nvSpPr>
        <p:spPr>
          <a:xfrm>
            <a:off x="4857750" y="1485900"/>
            <a:ext cx="28575" cy="542925"/>
          </a:xfrm>
          <a:prstGeom prst="rect">
            <a:avLst/>
          </a:prstGeom>
          <a:solidFill>
            <a:srgbClr val="60A5FA"/>
          </a:solidFill>
          <a:ln/>
        </p:spPr>
      </p:sp>
      <p:sp>
        <p:nvSpPr>
          <p:cNvPr id="25" name="Text 20"/>
          <p:cNvSpPr/>
          <p:nvPr/>
        </p:nvSpPr>
        <p:spPr>
          <a:xfrm>
            <a:off x="4972050" y="1571625"/>
            <a:ext cx="3614738" cy="200025"/>
          </a:xfrm>
          <a:prstGeom prst="rect">
            <a:avLst/>
          </a:prstGeom>
          <a:noFill/>
          <a:ln/>
        </p:spPr>
        <p:txBody>
          <a:bodyPr wrap="square" lIns="0" tIns="0" rIns="0" bIns="0" rtlCol="0" anchor="ctr">
            <a:spAutoFit/>
          </a:bodyPr>
          <a:lstStyle/>
          <a:p>
            <a:pPr indent="0" marL="0">
              <a:buNone/>
            </a:pPr>
            <a:r>
              <a:rPr lang="en-US" sz="1125" b="1" dirty="0">
                <a:solidFill>
                  <a:srgbClr val="F1F5F9"/>
                </a:solidFill>
                <a:latin typeface="Segoe UI" pitchFamily="34" charset="0"/>
                <a:ea typeface="Segoe UI" pitchFamily="34" charset="-122"/>
                <a:cs typeface="Segoe UI" pitchFamily="34" charset="-120"/>
              </a:rPr>
              <a:t>Object-Oriented</a:t>
            </a:r>
            <a:endParaRPr lang="en-US" sz="1125" dirty="0"/>
          </a:p>
        </p:txBody>
      </p:sp>
      <p:sp>
        <p:nvSpPr>
          <p:cNvPr id="26" name="Text 21"/>
          <p:cNvSpPr/>
          <p:nvPr/>
        </p:nvSpPr>
        <p:spPr>
          <a:xfrm>
            <a:off x="4972050" y="1800225"/>
            <a:ext cx="3614738" cy="142875"/>
          </a:xfrm>
          <a:prstGeom prst="rect">
            <a:avLst/>
          </a:prstGeom>
          <a:noFill/>
          <a:ln/>
        </p:spPr>
        <p:txBody>
          <a:bodyPr wrap="square" lIns="0" tIns="0" rIns="0" bIns="0" rtlCol="0" anchor="ctr">
            <a:spAutoFit/>
          </a:bodyPr>
          <a:lstStyle/>
          <a:p>
            <a:pPr indent="0" marL="0">
              <a:buNone/>
            </a:pPr>
            <a:r>
              <a:rPr lang="en-US" sz="788" dirty="0">
                <a:solidFill>
                  <a:srgbClr val="F1F5F9"/>
                </a:solidFill>
                <a:latin typeface="Segoe UI" pitchFamily="34" charset="0"/>
                <a:ea typeface="Segoe UI" pitchFamily="34" charset="-122"/>
                <a:cs typeface="Segoe UI" pitchFamily="34" charset="-120"/>
              </a:rPr>
              <a:t>Everything in Java is an object, making code modular, flexible, and extensible.</a:t>
            </a:r>
            <a:endParaRPr lang="en-US" sz="788" dirty="0"/>
          </a:p>
        </p:txBody>
      </p:sp>
      <p:sp>
        <p:nvSpPr>
          <p:cNvPr id="27" name="Shape 22"/>
          <p:cNvSpPr/>
          <p:nvPr/>
        </p:nvSpPr>
        <p:spPr>
          <a:xfrm>
            <a:off x="4857750" y="2143125"/>
            <a:ext cx="3657600" cy="542925"/>
          </a:xfrm>
          <a:prstGeom prst="rect">
            <a:avLst/>
          </a:prstGeom>
          <a:solidFill>
            <a:srgbClr val="1E3A8A">
              <a:alpha val="30000"/>
            </a:srgbClr>
          </a:solidFill>
          <a:ln/>
        </p:spPr>
      </p:sp>
      <p:sp>
        <p:nvSpPr>
          <p:cNvPr id="28" name="Shape 23"/>
          <p:cNvSpPr/>
          <p:nvPr/>
        </p:nvSpPr>
        <p:spPr>
          <a:xfrm>
            <a:off x="4857750" y="2143125"/>
            <a:ext cx="28575" cy="542925"/>
          </a:xfrm>
          <a:prstGeom prst="rect">
            <a:avLst/>
          </a:prstGeom>
          <a:solidFill>
            <a:srgbClr val="60A5FA"/>
          </a:solidFill>
          <a:ln/>
        </p:spPr>
      </p:sp>
      <p:sp>
        <p:nvSpPr>
          <p:cNvPr id="29" name="Text 24"/>
          <p:cNvSpPr/>
          <p:nvPr/>
        </p:nvSpPr>
        <p:spPr>
          <a:xfrm>
            <a:off x="4972050" y="2228850"/>
            <a:ext cx="3614738" cy="200025"/>
          </a:xfrm>
          <a:prstGeom prst="rect">
            <a:avLst/>
          </a:prstGeom>
          <a:noFill/>
          <a:ln/>
        </p:spPr>
        <p:txBody>
          <a:bodyPr wrap="square" lIns="0" tIns="0" rIns="0" bIns="0" rtlCol="0" anchor="ctr">
            <a:spAutoFit/>
          </a:bodyPr>
          <a:lstStyle/>
          <a:p>
            <a:pPr indent="0" marL="0">
              <a:buNone/>
            </a:pPr>
            <a:r>
              <a:rPr lang="en-US" sz="1125" b="1" dirty="0">
                <a:solidFill>
                  <a:srgbClr val="F1F5F9"/>
                </a:solidFill>
                <a:latin typeface="Segoe UI" pitchFamily="34" charset="0"/>
                <a:ea typeface="Segoe UI" pitchFamily="34" charset="-122"/>
                <a:cs typeface="Segoe UI" pitchFamily="34" charset="-120"/>
              </a:rPr>
              <a:t>Platform Independent</a:t>
            </a:r>
            <a:endParaRPr lang="en-US" sz="1125" dirty="0"/>
          </a:p>
        </p:txBody>
      </p:sp>
      <p:sp>
        <p:nvSpPr>
          <p:cNvPr id="30" name="Text 25"/>
          <p:cNvSpPr/>
          <p:nvPr/>
        </p:nvSpPr>
        <p:spPr>
          <a:xfrm>
            <a:off x="4972050" y="2457450"/>
            <a:ext cx="3614738" cy="142875"/>
          </a:xfrm>
          <a:prstGeom prst="rect">
            <a:avLst/>
          </a:prstGeom>
          <a:noFill/>
          <a:ln/>
        </p:spPr>
        <p:txBody>
          <a:bodyPr wrap="square" lIns="0" tIns="0" rIns="0" bIns="0" rtlCol="0" anchor="ctr">
            <a:spAutoFit/>
          </a:bodyPr>
          <a:lstStyle/>
          <a:p>
            <a:pPr indent="0" marL="0">
              <a:buNone/>
            </a:pPr>
            <a:r>
              <a:rPr lang="en-US" sz="788" dirty="0">
                <a:solidFill>
                  <a:srgbClr val="F1F5F9"/>
                </a:solidFill>
                <a:latin typeface="Segoe UI" pitchFamily="34" charset="0"/>
                <a:ea typeface="Segoe UI" pitchFamily="34" charset="-122"/>
                <a:cs typeface="Segoe UI" pitchFamily="34" charset="-120"/>
              </a:rPr>
              <a:t>Java programs can run on any device with a JVM installed.</a:t>
            </a:r>
            <a:endParaRPr lang="en-US" sz="788" dirty="0"/>
          </a:p>
        </p:txBody>
      </p:sp>
      <p:sp>
        <p:nvSpPr>
          <p:cNvPr id="31" name="Shape 26"/>
          <p:cNvSpPr/>
          <p:nvPr/>
        </p:nvSpPr>
        <p:spPr>
          <a:xfrm>
            <a:off x="4857750" y="2800350"/>
            <a:ext cx="3657600" cy="542925"/>
          </a:xfrm>
          <a:prstGeom prst="rect">
            <a:avLst/>
          </a:prstGeom>
          <a:solidFill>
            <a:srgbClr val="1E3A8A">
              <a:alpha val="30000"/>
            </a:srgbClr>
          </a:solidFill>
          <a:ln/>
        </p:spPr>
      </p:sp>
      <p:sp>
        <p:nvSpPr>
          <p:cNvPr id="32" name="Shape 27"/>
          <p:cNvSpPr/>
          <p:nvPr/>
        </p:nvSpPr>
        <p:spPr>
          <a:xfrm>
            <a:off x="4857750" y="2800350"/>
            <a:ext cx="28575" cy="542925"/>
          </a:xfrm>
          <a:prstGeom prst="rect">
            <a:avLst/>
          </a:prstGeom>
          <a:solidFill>
            <a:srgbClr val="60A5FA"/>
          </a:solidFill>
          <a:ln/>
        </p:spPr>
      </p:sp>
      <p:sp>
        <p:nvSpPr>
          <p:cNvPr id="33" name="Text 28"/>
          <p:cNvSpPr/>
          <p:nvPr/>
        </p:nvSpPr>
        <p:spPr>
          <a:xfrm>
            <a:off x="4972050" y="2886075"/>
            <a:ext cx="3614738" cy="200025"/>
          </a:xfrm>
          <a:prstGeom prst="rect">
            <a:avLst/>
          </a:prstGeom>
          <a:noFill/>
          <a:ln/>
        </p:spPr>
        <p:txBody>
          <a:bodyPr wrap="square" lIns="0" tIns="0" rIns="0" bIns="0" rtlCol="0" anchor="ctr">
            <a:spAutoFit/>
          </a:bodyPr>
          <a:lstStyle/>
          <a:p>
            <a:pPr indent="0" marL="0">
              <a:buNone/>
            </a:pPr>
            <a:r>
              <a:rPr lang="en-US" sz="1125" b="1" dirty="0">
                <a:solidFill>
                  <a:srgbClr val="F1F5F9"/>
                </a:solidFill>
                <a:latin typeface="Segoe UI" pitchFamily="34" charset="0"/>
                <a:ea typeface="Segoe UI" pitchFamily="34" charset="-122"/>
                <a:cs typeface="Segoe UI" pitchFamily="34" charset="-120"/>
              </a:rPr>
              <a:t>Simple &amp; Familiar Syntax</a:t>
            </a:r>
            <a:endParaRPr lang="en-US" sz="1125" dirty="0"/>
          </a:p>
        </p:txBody>
      </p:sp>
      <p:sp>
        <p:nvSpPr>
          <p:cNvPr id="34" name="Text 29"/>
          <p:cNvSpPr/>
          <p:nvPr/>
        </p:nvSpPr>
        <p:spPr>
          <a:xfrm>
            <a:off x="4972050" y="3114675"/>
            <a:ext cx="3614738" cy="142875"/>
          </a:xfrm>
          <a:prstGeom prst="rect">
            <a:avLst/>
          </a:prstGeom>
          <a:noFill/>
          <a:ln/>
        </p:spPr>
        <p:txBody>
          <a:bodyPr wrap="square" lIns="0" tIns="0" rIns="0" bIns="0" rtlCol="0" anchor="ctr">
            <a:spAutoFit/>
          </a:bodyPr>
          <a:lstStyle/>
          <a:p>
            <a:pPr indent="0" marL="0">
              <a:buNone/>
            </a:pPr>
            <a:r>
              <a:rPr lang="en-US" sz="788" dirty="0">
                <a:solidFill>
                  <a:srgbClr val="F1F5F9"/>
                </a:solidFill>
                <a:latin typeface="Segoe UI" pitchFamily="34" charset="0"/>
                <a:ea typeface="Segoe UI" pitchFamily="34" charset="-122"/>
                <a:cs typeface="Segoe UI" pitchFamily="34" charset="-120"/>
              </a:rPr>
              <a:t>Designed to be easy to learn, especially for those familiar with C/C++.</a:t>
            </a:r>
            <a:endParaRPr lang="en-US" sz="788" dirty="0"/>
          </a:p>
        </p:txBody>
      </p:sp>
      <p:sp>
        <p:nvSpPr>
          <p:cNvPr id="35" name="Shape 30"/>
          <p:cNvSpPr/>
          <p:nvPr/>
        </p:nvSpPr>
        <p:spPr>
          <a:xfrm>
            <a:off x="4857750" y="3457575"/>
            <a:ext cx="3657600" cy="542925"/>
          </a:xfrm>
          <a:prstGeom prst="rect">
            <a:avLst/>
          </a:prstGeom>
          <a:solidFill>
            <a:srgbClr val="1E3A8A">
              <a:alpha val="30000"/>
            </a:srgbClr>
          </a:solidFill>
          <a:ln/>
        </p:spPr>
      </p:sp>
      <p:sp>
        <p:nvSpPr>
          <p:cNvPr id="36" name="Shape 31"/>
          <p:cNvSpPr/>
          <p:nvPr/>
        </p:nvSpPr>
        <p:spPr>
          <a:xfrm>
            <a:off x="4857750" y="3457575"/>
            <a:ext cx="28575" cy="542925"/>
          </a:xfrm>
          <a:prstGeom prst="rect">
            <a:avLst/>
          </a:prstGeom>
          <a:solidFill>
            <a:srgbClr val="60A5FA"/>
          </a:solidFill>
          <a:ln/>
        </p:spPr>
      </p:sp>
      <p:sp>
        <p:nvSpPr>
          <p:cNvPr id="37" name="Text 32"/>
          <p:cNvSpPr/>
          <p:nvPr/>
        </p:nvSpPr>
        <p:spPr>
          <a:xfrm>
            <a:off x="4972050" y="3543300"/>
            <a:ext cx="3614738" cy="200025"/>
          </a:xfrm>
          <a:prstGeom prst="rect">
            <a:avLst/>
          </a:prstGeom>
          <a:noFill/>
          <a:ln/>
        </p:spPr>
        <p:txBody>
          <a:bodyPr wrap="square" lIns="0" tIns="0" rIns="0" bIns="0" rtlCol="0" anchor="ctr">
            <a:spAutoFit/>
          </a:bodyPr>
          <a:lstStyle/>
          <a:p>
            <a:pPr indent="0" marL="0">
              <a:buNone/>
            </a:pPr>
            <a:r>
              <a:rPr lang="en-US" sz="1125" b="1" dirty="0">
                <a:solidFill>
                  <a:srgbClr val="F1F5F9"/>
                </a:solidFill>
                <a:latin typeface="Segoe UI" pitchFamily="34" charset="0"/>
                <a:ea typeface="Segoe UI" pitchFamily="34" charset="-122"/>
                <a:cs typeface="Segoe UI" pitchFamily="34" charset="-120"/>
              </a:rPr>
              <a:t>Robust &amp; Secure</a:t>
            </a:r>
            <a:endParaRPr lang="en-US" sz="1125" dirty="0"/>
          </a:p>
        </p:txBody>
      </p:sp>
      <p:sp>
        <p:nvSpPr>
          <p:cNvPr id="38" name="Text 33"/>
          <p:cNvSpPr/>
          <p:nvPr/>
        </p:nvSpPr>
        <p:spPr>
          <a:xfrm>
            <a:off x="4972050" y="3771900"/>
            <a:ext cx="3614738" cy="142875"/>
          </a:xfrm>
          <a:prstGeom prst="rect">
            <a:avLst/>
          </a:prstGeom>
          <a:noFill/>
          <a:ln/>
        </p:spPr>
        <p:txBody>
          <a:bodyPr wrap="square" lIns="0" tIns="0" rIns="0" bIns="0" rtlCol="0" anchor="ctr">
            <a:spAutoFit/>
          </a:bodyPr>
          <a:lstStyle/>
          <a:p>
            <a:pPr indent="0" marL="0">
              <a:buNone/>
            </a:pPr>
            <a:r>
              <a:rPr lang="en-US" sz="788" dirty="0">
                <a:solidFill>
                  <a:srgbClr val="F1F5F9"/>
                </a:solidFill>
                <a:latin typeface="Segoe UI" pitchFamily="34" charset="0"/>
                <a:ea typeface="Segoe UI" pitchFamily="34" charset="-122"/>
                <a:cs typeface="Segoe UI" pitchFamily="34" charset="-120"/>
              </a:rPr>
              <a:t>Strong memory management, exception handling, and security features.</a:t>
            </a:r>
            <a:endParaRPr lang="en-US" sz="788" dirty="0"/>
          </a:p>
        </p:txBody>
      </p:sp>
      <p:sp>
        <p:nvSpPr>
          <p:cNvPr id="39" name="Shape 34"/>
          <p:cNvSpPr/>
          <p:nvPr/>
        </p:nvSpPr>
        <p:spPr>
          <a:xfrm>
            <a:off x="4857750" y="4114800"/>
            <a:ext cx="3657600" cy="542925"/>
          </a:xfrm>
          <a:prstGeom prst="rect">
            <a:avLst/>
          </a:prstGeom>
          <a:solidFill>
            <a:srgbClr val="1E3A8A">
              <a:alpha val="30000"/>
            </a:srgbClr>
          </a:solidFill>
          <a:ln/>
        </p:spPr>
      </p:sp>
      <p:sp>
        <p:nvSpPr>
          <p:cNvPr id="40" name="Shape 35"/>
          <p:cNvSpPr/>
          <p:nvPr/>
        </p:nvSpPr>
        <p:spPr>
          <a:xfrm>
            <a:off x="4857750" y="4114800"/>
            <a:ext cx="28575" cy="542925"/>
          </a:xfrm>
          <a:prstGeom prst="rect">
            <a:avLst/>
          </a:prstGeom>
          <a:solidFill>
            <a:srgbClr val="60A5FA"/>
          </a:solidFill>
          <a:ln/>
        </p:spPr>
      </p:sp>
      <p:sp>
        <p:nvSpPr>
          <p:cNvPr id="41" name="Text 36"/>
          <p:cNvSpPr/>
          <p:nvPr/>
        </p:nvSpPr>
        <p:spPr>
          <a:xfrm>
            <a:off x="4972050" y="4200525"/>
            <a:ext cx="3614738" cy="200025"/>
          </a:xfrm>
          <a:prstGeom prst="rect">
            <a:avLst/>
          </a:prstGeom>
          <a:noFill/>
          <a:ln/>
        </p:spPr>
        <p:txBody>
          <a:bodyPr wrap="square" lIns="0" tIns="0" rIns="0" bIns="0" rtlCol="0" anchor="ctr">
            <a:spAutoFit/>
          </a:bodyPr>
          <a:lstStyle/>
          <a:p>
            <a:pPr indent="0" marL="0">
              <a:buNone/>
            </a:pPr>
            <a:r>
              <a:rPr lang="en-US" sz="1125" b="1" dirty="0">
                <a:solidFill>
                  <a:srgbClr val="F1F5F9"/>
                </a:solidFill>
                <a:latin typeface="Segoe UI" pitchFamily="34" charset="0"/>
                <a:ea typeface="Segoe UI" pitchFamily="34" charset="-122"/>
                <a:cs typeface="Segoe UI" pitchFamily="34" charset="-120"/>
              </a:rPr>
              <a:t>Multithreaded</a:t>
            </a:r>
            <a:endParaRPr lang="en-US" sz="1125" dirty="0"/>
          </a:p>
        </p:txBody>
      </p:sp>
      <p:sp>
        <p:nvSpPr>
          <p:cNvPr id="42" name="Text 37"/>
          <p:cNvSpPr/>
          <p:nvPr/>
        </p:nvSpPr>
        <p:spPr>
          <a:xfrm>
            <a:off x="4972050" y="4429125"/>
            <a:ext cx="3614738" cy="142875"/>
          </a:xfrm>
          <a:prstGeom prst="rect">
            <a:avLst/>
          </a:prstGeom>
          <a:noFill/>
          <a:ln/>
        </p:spPr>
        <p:txBody>
          <a:bodyPr wrap="square" lIns="0" tIns="0" rIns="0" bIns="0" rtlCol="0" anchor="ctr">
            <a:spAutoFit/>
          </a:bodyPr>
          <a:lstStyle/>
          <a:p>
            <a:pPr indent="0" marL="0">
              <a:buNone/>
            </a:pPr>
            <a:r>
              <a:rPr lang="en-US" sz="788" dirty="0">
                <a:solidFill>
                  <a:srgbClr val="F1F5F9"/>
                </a:solidFill>
                <a:latin typeface="Segoe UI" pitchFamily="34" charset="0"/>
                <a:ea typeface="Segoe UI" pitchFamily="34" charset="-122"/>
                <a:cs typeface="Segoe UI" pitchFamily="34" charset="-120"/>
              </a:rPr>
              <a:t>Built-in support for concurrent programming and parallel execution.</a:t>
            </a:r>
            <a:endParaRPr lang="en-US" sz="788" dirty="0"/>
          </a:p>
        </p:txBody>
      </p:sp>
      <p:sp>
        <p:nvSpPr>
          <p:cNvPr id="43" name="Shape 38"/>
          <p:cNvSpPr/>
          <p:nvPr/>
        </p:nvSpPr>
        <p:spPr>
          <a:xfrm>
            <a:off x="4686300" y="5000625"/>
            <a:ext cx="4000500" cy="1785938"/>
          </a:xfrm>
          <a:prstGeom prst="rect">
            <a:avLst/>
          </a:prstGeom>
          <a:solidFill>
            <a:srgbClr val="FFFFFF">
              <a:alpha val="10000"/>
            </a:srgbClr>
          </a:solidFill>
          <a:ln w="99">
            <a:solidFill>
              <a:srgbClr val="60A5FA">
                <a:alpha val="30000"/>
              </a:srgbClr>
            </a:solidFill>
            <a:prstDash val="solid"/>
          </a:ln>
        </p:spPr>
      </p:sp>
      <p:sp>
        <p:nvSpPr>
          <p:cNvPr id="44" name="Text 39"/>
          <p:cNvSpPr/>
          <p:nvPr/>
        </p:nvSpPr>
        <p:spPr>
          <a:xfrm>
            <a:off x="4857750" y="5172075"/>
            <a:ext cx="3729038" cy="228600"/>
          </a:xfrm>
          <a:prstGeom prst="rect">
            <a:avLst/>
          </a:prstGeom>
          <a:noFill/>
          <a:ln/>
        </p:spPr>
        <p:txBody>
          <a:bodyPr wrap="square" lIns="0" tIns="0" rIns="0" bIns="0" rtlCol="0" anchor="ctr">
            <a:spAutoFit/>
          </a:bodyPr>
          <a:lstStyle/>
          <a:p>
            <a:pPr indent="0" marL="0">
              <a:buNone/>
            </a:pPr>
            <a:r>
              <a:rPr lang="en-US" sz="1350" b="1" dirty="0">
                <a:solidFill>
                  <a:srgbClr val="BFDBFE"/>
                </a:solidFill>
                <a:latin typeface="Segoe UI" pitchFamily="34" charset="0"/>
                <a:ea typeface="Segoe UI" pitchFamily="34" charset="-122"/>
                <a:cs typeface="Segoe UI" pitchFamily="34" charset="-120"/>
              </a:rPr>
              <a:t>Why Learn Java?</a:t>
            </a:r>
            <a:endParaRPr lang="en-US" sz="1350" dirty="0"/>
          </a:p>
        </p:txBody>
      </p:sp>
      <p:pic>
        <p:nvPicPr>
          <p:cNvPr id="45" name="Image 3" descr="preencoded.png">    </p:cNvPr>
          <p:cNvPicPr>
            <a:picLocks noChangeAspect="1"/>
          </p:cNvPicPr>
          <p:nvPr/>
        </p:nvPicPr>
        <p:blipFill>
          <a:blip r:embed="rId4"/>
          <a:stretch>
            <a:fillRect/>
          </a:stretch>
        </p:blipFill>
        <p:spPr>
          <a:xfrm>
            <a:off x="4857750" y="5543550"/>
            <a:ext cx="114300" cy="114300"/>
          </a:xfrm>
          <a:prstGeom prst="rect">
            <a:avLst/>
          </a:prstGeom>
        </p:spPr>
      </p:pic>
      <p:sp>
        <p:nvSpPr>
          <p:cNvPr id="46" name="Text 40"/>
          <p:cNvSpPr/>
          <p:nvPr/>
        </p:nvSpPr>
        <p:spPr>
          <a:xfrm>
            <a:off x="5029200" y="5514975"/>
            <a:ext cx="3394286" cy="171450"/>
          </a:xfrm>
          <a:prstGeom prst="rect">
            <a:avLst/>
          </a:prstGeom>
          <a:noFill/>
          <a:ln/>
        </p:spPr>
        <p:txBody>
          <a:bodyPr wrap="square" lIns="0" tIns="0" rIns="0" bIns="0" rtlCol="0" anchor="ctr">
            <a:spAutoFit/>
          </a:bodyPr>
          <a:lstStyle/>
          <a:p>
            <a:pPr algn="l" indent="0" marL="0">
              <a:buNone/>
            </a:pPr>
            <a:r>
              <a:rPr lang="en-US" sz="900" dirty="0">
                <a:solidFill>
                  <a:srgbClr val="F1F5F9"/>
                </a:solidFill>
                <a:latin typeface="Segoe UI" pitchFamily="34" charset="0"/>
                <a:ea typeface="Segoe UI" pitchFamily="34" charset="-122"/>
                <a:cs typeface="Segoe UI" pitchFamily="34" charset="-120"/>
              </a:rPr>
              <a:t>One of the most widely used programming languages in the world</a:t>
            </a:r>
            <a:endParaRPr lang="en-US" sz="900" dirty="0"/>
          </a:p>
        </p:txBody>
      </p:sp>
      <p:pic>
        <p:nvPicPr>
          <p:cNvPr id="47" name="Image 4" descr="preencoded.png">    </p:cNvPr>
          <p:cNvPicPr>
            <a:picLocks noChangeAspect="1"/>
          </p:cNvPicPr>
          <p:nvPr/>
        </p:nvPicPr>
        <p:blipFill>
          <a:blip r:embed="rId5"/>
          <a:stretch>
            <a:fillRect/>
          </a:stretch>
        </p:blipFill>
        <p:spPr>
          <a:xfrm>
            <a:off x="4857750" y="5772150"/>
            <a:ext cx="114300" cy="114300"/>
          </a:xfrm>
          <a:prstGeom prst="rect">
            <a:avLst/>
          </a:prstGeom>
        </p:spPr>
      </p:pic>
      <p:sp>
        <p:nvSpPr>
          <p:cNvPr id="48" name="Text 41"/>
          <p:cNvSpPr/>
          <p:nvPr/>
        </p:nvSpPr>
        <p:spPr>
          <a:xfrm>
            <a:off x="5029200" y="5743575"/>
            <a:ext cx="3197275" cy="171450"/>
          </a:xfrm>
          <a:prstGeom prst="rect">
            <a:avLst/>
          </a:prstGeom>
          <a:noFill/>
          <a:ln/>
        </p:spPr>
        <p:txBody>
          <a:bodyPr wrap="square" lIns="0" tIns="0" rIns="0" bIns="0" rtlCol="0" anchor="ctr">
            <a:spAutoFit/>
          </a:bodyPr>
          <a:lstStyle/>
          <a:p>
            <a:pPr algn="l" indent="0" marL="0">
              <a:buNone/>
            </a:pPr>
            <a:r>
              <a:rPr lang="en-US" sz="900" dirty="0">
                <a:solidFill>
                  <a:srgbClr val="F1F5F9"/>
                </a:solidFill>
                <a:latin typeface="Segoe UI" pitchFamily="34" charset="0"/>
                <a:ea typeface="Segoe UI" pitchFamily="34" charset="-122"/>
                <a:cs typeface="Segoe UI" pitchFamily="34" charset="-120"/>
              </a:rPr>
              <a:t>High demand in job market with excellent career opportunities</a:t>
            </a:r>
            <a:endParaRPr lang="en-US" sz="900" dirty="0"/>
          </a:p>
        </p:txBody>
      </p:sp>
      <p:pic>
        <p:nvPicPr>
          <p:cNvPr id="49" name="Image 5" descr="preencoded.png">    </p:cNvPr>
          <p:cNvPicPr>
            <a:picLocks noChangeAspect="1"/>
          </p:cNvPicPr>
          <p:nvPr/>
        </p:nvPicPr>
        <p:blipFill>
          <a:blip r:embed="rId6"/>
          <a:stretch>
            <a:fillRect/>
          </a:stretch>
        </p:blipFill>
        <p:spPr>
          <a:xfrm>
            <a:off x="4857750" y="6000750"/>
            <a:ext cx="114300" cy="114300"/>
          </a:xfrm>
          <a:prstGeom prst="rect">
            <a:avLst/>
          </a:prstGeom>
        </p:spPr>
      </p:pic>
      <p:sp>
        <p:nvSpPr>
          <p:cNvPr id="50" name="Text 42"/>
          <p:cNvSpPr/>
          <p:nvPr/>
        </p:nvSpPr>
        <p:spPr>
          <a:xfrm>
            <a:off x="5029200" y="5972175"/>
            <a:ext cx="3521478" cy="171450"/>
          </a:xfrm>
          <a:prstGeom prst="rect">
            <a:avLst/>
          </a:prstGeom>
          <a:noFill/>
          <a:ln/>
        </p:spPr>
        <p:txBody>
          <a:bodyPr wrap="square" lIns="0" tIns="0" rIns="0" bIns="0" rtlCol="0" anchor="ctr">
            <a:spAutoFit/>
          </a:bodyPr>
          <a:lstStyle/>
          <a:p>
            <a:pPr algn="l" indent="0" marL="0">
              <a:buNone/>
            </a:pPr>
            <a:r>
              <a:rPr lang="en-US" sz="900" dirty="0">
                <a:solidFill>
                  <a:srgbClr val="F1F5F9"/>
                </a:solidFill>
                <a:latin typeface="Segoe UI" pitchFamily="34" charset="0"/>
                <a:ea typeface="Segoe UI" pitchFamily="34" charset="-122"/>
                <a:cs typeface="Segoe UI" pitchFamily="34" charset="-120"/>
              </a:rPr>
              <a:t>Versatile: used for web, mobile, desktop, and enterprise applications</a:t>
            </a:r>
            <a:endParaRPr lang="en-US" sz="900" dirty="0"/>
          </a:p>
        </p:txBody>
      </p:sp>
      <p:pic>
        <p:nvPicPr>
          <p:cNvPr id="51" name="Image 6" descr="preencoded.png">    </p:cNvPr>
          <p:cNvPicPr>
            <a:picLocks noChangeAspect="1"/>
          </p:cNvPicPr>
          <p:nvPr/>
        </p:nvPicPr>
        <p:blipFill>
          <a:blip r:embed="rId7"/>
          <a:stretch>
            <a:fillRect/>
          </a:stretch>
        </p:blipFill>
        <p:spPr>
          <a:xfrm>
            <a:off x="4857750" y="6229350"/>
            <a:ext cx="114300" cy="114300"/>
          </a:xfrm>
          <a:prstGeom prst="rect">
            <a:avLst/>
          </a:prstGeom>
        </p:spPr>
      </p:pic>
      <p:sp>
        <p:nvSpPr>
          <p:cNvPr id="52" name="Text 43"/>
          <p:cNvSpPr/>
          <p:nvPr/>
        </p:nvSpPr>
        <p:spPr>
          <a:xfrm>
            <a:off x="5029200" y="6200775"/>
            <a:ext cx="2739517" cy="171450"/>
          </a:xfrm>
          <a:prstGeom prst="rect">
            <a:avLst/>
          </a:prstGeom>
          <a:noFill/>
          <a:ln/>
        </p:spPr>
        <p:txBody>
          <a:bodyPr wrap="square" lIns="0" tIns="0" rIns="0" bIns="0" rtlCol="0" anchor="ctr">
            <a:spAutoFit/>
          </a:bodyPr>
          <a:lstStyle/>
          <a:p>
            <a:pPr algn="l" indent="0" marL="0">
              <a:buNone/>
            </a:pPr>
            <a:r>
              <a:rPr lang="en-US" sz="900" dirty="0">
                <a:solidFill>
                  <a:srgbClr val="F1F5F9"/>
                </a:solidFill>
                <a:latin typeface="Segoe UI" pitchFamily="34" charset="0"/>
                <a:ea typeface="Segoe UI" pitchFamily="34" charset="-122"/>
                <a:cs typeface="Segoe UI" pitchFamily="34" charset="-120"/>
              </a:rPr>
              <a:t>Large community and extensive libraries/frameworks</a:t>
            </a:r>
            <a:endParaRPr lang="en-US" sz="900" dirty="0"/>
          </a:p>
        </p:txBody>
      </p:sp>
      <p:pic>
        <p:nvPicPr>
          <p:cNvPr id="53" name="Image 7" descr="preencoded.png">    </p:cNvPr>
          <p:cNvPicPr>
            <a:picLocks noChangeAspect="1"/>
          </p:cNvPicPr>
          <p:nvPr/>
        </p:nvPicPr>
        <p:blipFill>
          <a:blip r:embed="rId8"/>
          <a:stretch>
            <a:fillRect/>
          </a:stretch>
        </p:blipFill>
        <p:spPr>
          <a:xfrm>
            <a:off x="4857750" y="6457950"/>
            <a:ext cx="114300" cy="114300"/>
          </a:xfrm>
          <a:prstGeom prst="rect">
            <a:avLst/>
          </a:prstGeom>
        </p:spPr>
      </p:pic>
      <p:sp>
        <p:nvSpPr>
          <p:cNvPr id="54" name="Text 44"/>
          <p:cNvSpPr/>
          <p:nvPr/>
        </p:nvSpPr>
        <p:spPr>
          <a:xfrm>
            <a:off x="5029200" y="6429375"/>
            <a:ext cx="3261122" cy="171450"/>
          </a:xfrm>
          <a:prstGeom prst="rect">
            <a:avLst/>
          </a:prstGeom>
          <a:noFill/>
          <a:ln/>
        </p:spPr>
        <p:txBody>
          <a:bodyPr wrap="square" lIns="0" tIns="0" rIns="0" bIns="0" rtlCol="0" anchor="ctr">
            <a:spAutoFit/>
          </a:bodyPr>
          <a:lstStyle/>
          <a:p>
            <a:pPr algn="l" indent="0" marL="0">
              <a:buNone/>
            </a:pPr>
            <a:r>
              <a:rPr lang="en-US" sz="900" dirty="0">
                <a:solidFill>
                  <a:srgbClr val="F1F5F9"/>
                </a:solidFill>
                <a:latin typeface="Segoe UI" pitchFamily="34" charset="0"/>
                <a:ea typeface="Segoe UI" pitchFamily="34" charset="-122"/>
                <a:cs typeface="Segoe UI" pitchFamily="34" charset="-120"/>
              </a:rPr>
              <a:t>Excellent foundation for learning other programming languages</a:t>
            </a:r>
            <a:endParaRPr lang="en-US" sz="900" dirty="0"/>
          </a:p>
        </p:txBody>
      </p:sp>
      <p:sp>
        <p:nvSpPr>
          <p:cNvPr id="55" name="Shape 45"/>
          <p:cNvSpPr/>
          <p:nvPr/>
        </p:nvSpPr>
        <p:spPr>
          <a:xfrm>
            <a:off x="457200" y="7000875"/>
            <a:ext cx="8229600" cy="1614488"/>
          </a:xfrm>
          <a:prstGeom prst="rect">
            <a:avLst/>
          </a:prstGeom>
          <a:solidFill>
            <a:srgbClr val="FFFFFF">
              <a:alpha val="10000"/>
            </a:srgbClr>
          </a:solidFill>
          <a:ln w="99">
            <a:solidFill>
              <a:srgbClr val="60A5FA">
                <a:alpha val="30000"/>
              </a:srgbClr>
            </a:solidFill>
            <a:prstDash val="solid"/>
          </a:ln>
        </p:spPr>
      </p:sp>
      <p:sp>
        <p:nvSpPr>
          <p:cNvPr id="56" name="Text 46"/>
          <p:cNvSpPr/>
          <p:nvPr/>
        </p:nvSpPr>
        <p:spPr>
          <a:xfrm>
            <a:off x="628650" y="7172325"/>
            <a:ext cx="7958138" cy="228600"/>
          </a:xfrm>
          <a:prstGeom prst="rect">
            <a:avLst/>
          </a:prstGeom>
          <a:noFill/>
          <a:ln/>
        </p:spPr>
        <p:txBody>
          <a:bodyPr wrap="square" lIns="0" tIns="0" rIns="0" bIns="0" rtlCol="0" anchor="ctr">
            <a:spAutoFit/>
          </a:bodyPr>
          <a:lstStyle/>
          <a:p>
            <a:pPr indent="0" marL="0">
              <a:buNone/>
            </a:pPr>
            <a:r>
              <a:rPr lang="en-US" sz="1350" b="1" dirty="0">
                <a:solidFill>
                  <a:srgbClr val="BFDBFE"/>
                </a:solidFill>
                <a:latin typeface="Segoe UI" pitchFamily="34" charset="0"/>
                <a:ea typeface="Segoe UI" pitchFamily="34" charset="-122"/>
                <a:cs typeface="Segoe UI" pitchFamily="34" charset="-120"/>
              </a:rPr>
              <a:t>Common Java Applications</a:t>
            </a:r>
            <a:endParaRPr lang="en-US" sz="1350" dirty="0"/>
          </a:p>
        </p:txBody>
      </p:sp>
      <p:sp>
        <p:nvSpPr>
          <p:cNvPr id="57" name="Shape 47"/>
          <p:cNvSpPr/>
          <p:nvPr/>
        </p:nvSpPr>
        <p:spPr>
          <a:xfrm>
            <a:off x="628650" y="7515225"/>
            <a:ext cx="1843088" cy="914400"/>
          </a:xfrm>
          <a:prstGeom prst="rect">
            <a:avLst/>
          </a:prstGeom>
          <a:solidFill>
            <a:srgbClr val="1E3A8A">
              <a:alpha val="30000"/>
            </a:srgbClr>
          </a:solidFill>
          <a:ln/>
        </p:spPr>
      </p:sp>
      <p:pic>
        <p:nvPicPr>
          <p:cNvPr id="58" name="Image 8" descr="preencoded.png">    </p:cNvPr>
          <p:cNvPicPr>
            <a:picLocks noChangeAspect="1"/>
          </p:cNvPicPr>
          <p:nvPr/>
        </p:nvPicPr>
        <p:blipFill>
          <a:blip r:embed="rId9"/>
          <a:stretch>
            <a:fillRect/>
          </a:stretch>
        </p:blipFill>
        <p:spPr>
          <a:xfrm>
            <a:off x="1443038" y="7643813"/>
            <a:ext cx="214313" cy="214313"/>
          </a:xfrm>
          <a:prstGeom prst="rect">
            <a:avLst/>
          </a:prstGeom>
        </p:spPr>
      </p:pic>
      <p:sp>
        <p:nvSpPr>
          <p:cNvPr id="59" name="Text 48"/>
          <p:cNvSpPr/>
          <p:nvPr/>
        </p:nvSpPr>
        <p:spPr>
          <a:xfrm>
            <a:off x="742950" y="7972425"/>
            <a:ext cx="1685925" cy="200025"/>
          </a:xfrm>
          <a:prstGeom prst="rect">
            <a:avLst/>
          </a:prstGeom>
          <a:noFill/>
          <a:ln/>
        </p:spPr>
        <p:txBody>
          <a:bodyPr wrap="square" lIns="0" tIns="0" rIns="0" bIns="0" rtlCol="0" anchor="ctr">
            <a:spAutoFit/>
          </a:bodyPr>
          <a:lstStyle/>
          <a:p>
            <a:pPr algn="ctr" indent="0" marL="0">
              <a:buNone/>
            </a:pPr>
            <a:r>
              <a:rPr lang="en-US" sz="1013" b="1" dirty="0">
                <a:solidFill>
                  <a:srgbClr val="F1F5F9"/>
                </a:solidFill>
                <a:latin typeface="Segoe UI" pitchFamily="34" charset="0"/>
                <a:ea typeface="Segoe UI" pitchFamily="34" charset="-122"/>
                <a:cs typeface="Segoe UI" pitchFamily="34" charset="-120"/>
              </a:rPr>
              <a:t>Web Applications</a:t>
            </a:r>
            <a:endParaRPr lang="en-US" sz="1013" dirty="0"/>
          </a:p>
        </p:txBody>
      </p:sp>
      <p:sp>
        <p:nvSpPr>
          <p:cNvPr id="60" name="Text 49"/>
          <p:cNvSpPr/>
          <p:nvPr/>
        </p:nvSpPr>
        <p:spPr>
          <a:xfrm>
            <a:off x="742950" y="8201025"/>
            <a:ext cx="1685925" cy="114300"/>
          </a:xfrm>
          <a:prstGeom prst="rect">
            <a:avLst/>
          </a:prstGeom>
          <a:noFill/>
          <a:ln/>
        </p:spPr>
        <p:txBody>
          <a:bodyPr wrap="square" lIns="0" tIns="0" rIns="0" bIns="0" rtlCol="0" anchor="ctr">
            <a:spAutoFit/>
          </a:bodyPr>
          <a:lstStyle/>
          <a:p>
            <a:pPr algn="ctr" indent="0" marL="0">
              <a:buNone/>
            </a:pPr>
            <a:r>
              <a:rPr lang="en-US" sz="675" dirty="0">
                <a:solidFill>
                  <a:srgbClr val="F1F5F9"/>
                </a:solidFill>
                <a:latin typeface="Segoe UI" pitchFamily="34" charset="0"/>
                <a:ea typeface="Segoe UI" pitchFamily="34" charset="-122"/>
                <a:cs typeface="Segoe UI" pitchFamily="34" charset="-120"/>
              </a:rPr>
              <a:t>Spring, JSP, Servlets</a:t>
            </a:r>
            <a:endParaRPr lang="en-US" sz="675" dirty="0"/>
          </a:p>
        </p:txBody>
      </p:sp>
      <p:sp>
        <p:nvSpPr>
          <p:cNvPr id="61" name="Shape 50"/>
          <p:cNvSpPr/>
          <p:nvPr/>
        </p:nvSpPr>
        <p:spPr>
          <a:xfrm>
            <a:off x="2643188" y="7515225"/>
            <a:ext cx="1843088" cy="914400"/>
          </a:xfrm>
          <a:prstGeom prst="rect">
            <a:avLst/>
          </a:prstGeom>
          <a:solidFill>
            <a:srgbClr val="1E3A8A">
              <a:alpha val="30000"/>
            </a:srgbClr>
          </a:solidFill>
          <a:ln/>
        </p:spPr>
      </p:sp>
      <p:pic>
        <p:nvPicPr>
          <p:cNvPr id="62" name="Image 9" descr="preencoded.png">    </p:cNvPr>
          <p:cNvPicPr>
            <a:picLocks noChangeAspect="1"/>
          </p:cNvPicPr>
          <p:nvPr/>
        </p:nvPicPr>
        <p:blipFill>
          <a:blip r:embed="rId10"/>
          <a:stretch>
            <a:fillRect/>
          </a:stretch>
        </p:blipFill>
        <p:spPr>
          <a:xfrm>
            <a:off x="3484364" y="7643813"/>
            <a:ext cx="160734" cy="214313"/>
          </a:xfrm>
          <a:prstGeom prst="rect">
            <a:avLst/>
          </a:prstGeom>
        </p:spPr>
      </p:pic>
      <p:sp>
        <p:nvSpPr>
          <p:cNvPr id="63" name="Text 51"/>
          <p:cNvSpPr/>
          <p:nvPr/>
        </p:nvSpPr>
        <p:spPr>
          <a:xfrm>
            <a:off x="2757488" y="7972425"/>
            <a:ext cx="1685925" cy="200025"/>
          </a:xfrm>
          <a:prstGeom prst="rect">
            <a:avLst/>
          </a:prstGeom>
          <a:noFill/>
          <a:ln/>
        </p:spPr>
        <p:txBody>
          <a:bodyPr wrap="square" lIns="0" tIns="0" rIns="0" bIns="0" rtlCol="0" anchor="ctr">
            <a:spAutoFit/>
          </a:bodyPr>
          <a:lstStyle/>
          <a:p>
            <a:pPr algn="ctr" indent="0" marL="0">
              <a:buNone/>
            </a:pPr>
            <a:r>
              <a:rPr lang="en-US" sz="1013" b="1" dirty="0">
                <a:solidFill>
                  <a:srgbClr val="F1F5F9"/>
                </a:solidFill>
                <a:latin typeface="Segoe UI" pitchFamily="34" charset="0"/>
                <a:ea typeface="Segoe UI" pitchFamily="34" charset="-122"/>
                <a:cs typeface="Segoe UI" pitchFamily="34" charset="-120"/>
              </a:rPr>
              <a:t>Mobile Apps</a:t>
            </a:r>
            <a:endParaRPr lang="en-US" sz="1013" dirty="0"/>
          </a:p>
        </p:txBody>
      </p:sp>
      <p:sp>
        <p:nvSpPr>
          <p:cNvPr id="64" name="Text 52"/>
          <p:cNvSpPr/>
          <p:nvPr/>
        </p:nvSpPr>
        <p:spPr>
          <a:xfrm>
            <a:off x="2757488" y="8201025"/>
            <a:ext cx="1685925" cy="114300"/>
          </a:xfrm>
          <a:prstGeom prst="rect">
            <a:avLst/>
          </a:prstGeom>
          <a:noFill/>
          <a:ln/>
        </p:spPr>
        <p:txBody>
          <a:bodyPr wrap="square" lIns="0" tIns="0" rIns="0" bIns="0" rtlCol="0" anchor="ctr">
            <a:spAutoFit/>
          </a:bodyPr>
          <a:lstStyle/>
          <a:p>
            <a:pPr algn="ctr" indent="0" marL="0">
              <a:buNone/>
            </a:pPr>
            <a:r>
              <a:rPr lang="en-US" sz="675" dirty="0">
                <a:solidFill>
                  <a:srgbClr val="F1F5F9"/>
                </a:solidFill>
                <a:latin typeface="Segoe UI" pitchFamily="34" charset="0"/>
                <a:ea typeface="Segoe UI" pitchFamily="34" charset="-122"/>
                <a:cs typeface="Segoe UI" pitchFamily="34" charset="-120"/>
              </a:rPr>
              <a:t>Android Development</a:t>
            </a:r>
            <a:endParaRPr lang="en-US" sz="675" dirty="0"/>
          </a:p>
        </p:txBody>
      </p:sp>
      <p:sp>
        <p:nvSpPr>
          <p:cNvPr id="65" name="Shape 53"/>
          <p:cNvSpPr/>
          <p:nvPr/>
        </p:nvSpPr>
        <p:spPr>
          <a:xfrm>
            <a:off x="4657725" y="7515225"/>
            <a:ext cx="1843088" cy="914400"/>
          </a:xfrm>
          <a:prstGeom prst="rect">
            <a:avLst/>
          </a:prstGeom>
          <a:solidFill>
            <a:srgbClr val="1E3A8A">
              <a:alpha val="30000"/>
            </a:srgbClr>
          </a:solidFill>
          <a:ln/>
        </p:spPr>
      </p:sp>
      <p:pic>
        <p:nvPicPr>
          <p:cNvPr id="66" name="Image 10" descr="preencoded.png">    </p:cNvPr>
          <p:cNvPicPr>
            <a:picLocks noChangeAspect="1"/>
          </p:cNvPicPr>
          <p:nvPr/>
        </p:nvPicPr>
        <p:blipFill>
          <a:blip r:embed="rId11"/>
          <a:stretch>
            <a:fillRect/>
          </a:stretch>
        </p:blipFill>
        <p:spPr>
          <a:xfrm>
            <a:off x="5458718" y="7643813"/>
            <a:ext cx="241102" cy="214313"/>
          </a:xfrm>
          <a:prstGeom prst="rect">
            <a:avLst/>
          </a:prstGeom>
        </p:spPr>
      </p:pic>
      <p:sp>
        <p:nvSpPr>
          <p:cNvPr id="67" name="Text 54"/>
          <p:cNvSpPr/>
          <p:nvPr/>
        </p:nvSpPr>
        <p:spPr>
          <a:xfrm>
            <a:off x="4772025" y="7972425"/>
            <a:ext cx="1685925" cy="200025"/>
          </a:xfrm>
          <a:prstGeom prst="rect">
            <a:avLst/>
          </a:prstGeom>
          <a:noFill/>
          <a:ln/>
        </p:spPr>
        <p:txBody>
          <a:bodyPr wrap="square" lIns="0" tIns="0" rIns="0" bIns="0" rtlCol="0" anchor="ctr">
            <a:spAutoFit/>
          </a:bodyPr>
          <a:lstStyle/>
          <a:p>
            <a:pPr algn="ctr" indent="0" marL="0">
              <a:buNone/>
            </a:pPr>
            <a:r>
              <a:rPr lang="en-US" sz="1013" b="1" dirty="0">
                <a:solidFill>
                  <a:srgbClr val="F1F5F9"/>
                </a:solidFill>
                <a:latin typeface="Segoe UI" pitchFamily="34" charset="0"/>
                <a:ea typeface="Segoe UI" pitchFamily="34" charset="-122"/>
                <a:cs typeface="Segoe UI" pitchFamily="34" charset="-120"/>
              </a:rPr>
              <a:t>Desktop Apps</a:t>
            </a:r>
            <a:endParaRPr lang="en-US" sz="1013" dirty="0"/>
          </a:p>
        </p:txBody>
      </p:sp>
      <p:sp>
        <p:nvSpPr>
          <p:cNvPr id="68" name="Text 55"/>
          <p:cNvSpPr/>
          <p:nvPr/>
        </p:nvSpPr>
        <p:spPr>
          <a:xfrm>
            <a:off x="4772025" y="8201025"/>
            <a:ext cx="1685925" cy="114300"/>
          </a:xfrm>
          <a:prstGeom prst="rect">
            <a:avLst/>
          </a:prstGeom>
          <a:noFill/>
          <a:ln/>
        </p:spPr>
        <p:txBody>
          <a:bodyPr wrap="square" lIns="0" tIns="0" rIns="0" bIns="0" rtlCol="0" anchor="ctr">
            <a:spAutoFit/>
          </a:bodyPr>
          <a:lstStyle/>
          <a:p>
            <a:pPr algn="ctr" indent="0" marL="0">
              <a:buNone/>
            </a:pPr>
            <a:r>
              <a:rPr lang="en-US" sz="675" dirty="0">
                <a:solidFill>
                  <a:srgbClr val="F1F5F9"/>
                </a:solidFill>
                <a:latin typeface="Segoe UI" pitchFamily="34" charset="0"/>
                <a:ea typeface="Segoe UI" pitchFamily="34" charset="-122"/>
                <a:cs typeface="Segoe UI" pitchFamily="34" charset="-120"/>
              </a:rPr>
              <a:t>JavaFX, Swing</a:t>
            </a:r>
            <a:endParaRPr lang="en-US" sz="675" dirty="0"/>
          </a:p>
        </p:txBody>
      </p:sp>
      <p:sp>
        <p:nvSpPr>
          <p:cNvPr id="69" name="Shape 56"/>
          <p:cNvSpPr/>
          <p:nvPr/>
        </p:nvSpPr>
        <p:spPr>
          <a:xfrm>
            <a:off x="6672263" y="7515225"/>
            <a:ext cx="1843088" cy="914400"/>
          </a:xfrm>
          <a:prstGeom prst="rect">
            <a:avLst/>
          </a:prstGeom>
          <a:solidFill>
            <a:srgbClr val="1E3A8A">
              <a:alpha val="30000"/>
            </a:srgbClr>
          </a:solidFill>
          <a:ln/>
        </p:spPr>
      </p:sp>
      <p:pic>
        <p:nvPicPr>
          <p:cNvPr id="70" name="Image 11" descr="preencoded.png">    </p:cNvPr>
          <p:cNvPicPr>
            <a:picLocks noChangeAspect="1"/>
          </p:cNvPicPr>
          <p:nvPr/>
        </p:nvPicPr>
        <p:blipFill>
          <a:blip r:embed="rId12"/>
          <a:stretch>
            <a:fillRect/>
          </a:stretch>
        </p:blipFill>
        <p:spPr>
          <a:xfrm>
            <a:off x="7486650" y="7643813"/>
            <a:ext cx="214313" cy="214313"/>
          </a:xfrm>
          <a:prstGeom prst="rect">
            <a:avLst/>
          </a:prstGeom>
        </p:spPr>
      </p:pic>
      <p:sp>
        <p:nvSpPr>
          <p:cNvPr id="71" name="Text 57"/>
          <p:cNvSpPr/>
          <p:nvPr/>
        </p:nvSpPr>
        <p:spPr>
          <a:xfrm>
            <a:off x="6786563" y="7972425"/>
            <a:ext cx="1685925" cy="200025"/>
          </a:xfrm>
          <a:prstGeom prst="rect">
            <a:avLst/>
          </a:prstGeom>
          <a:noFill/>
          <a:ln/>
        </p:spPr>
        <p:txBody>
          <a:bodyPr wrap="square" lIns="0" tIns="0" rIns="0" bIns="0" rtlCol="0" anchor="ctr">
            <a:spAutoFit/>
          </a:bodyPr>
          <a:lstStyle/>
          <a:p>
            <a:pPr algn="ctr" indent="0" marL="0">
              <a:buNone/>
            </a:pPr>
            <a:r>
              <a:rPr lang="en-US" sz="1013" b="1" dirty="0">
                <a:solidFill>
                  <a:srgbClr val="F1F5F9"/>
                </a:solidFill>
                <a:latin typeface="Segoe UI" pitchFamily="34" charset="0"/>
                <a:ea typeface="Segoe UI" pitchFamily="34" charset="-122"/>
                <a:cs typeface="Segoe UI" pitchFamily="34" charset="-120"/>
              </a:rPr>
              <a:t>Enterprise Systems</a:t>
            </a:r>
            <a:endParaRPr lang="en-US" sz="1013" dirty="0"/>
          </a:p>
        </p:txBody>
      </p:sp>
      <p:sp>
        <p:nvSpPr>
          <p:cNvPr id="72" name="Text 58"/>
          <p:cNvSpPr/>
          <p:nvPr/>
        </p:nvSpPr>
        <p:spPr>
          <a:xfrm>
            <a:off x="6786563" y="8201025"/>
            <a:ext cx="1685925" cy="114300"/>
          </a:xfrm>
          <a:prstGeom prst="rect">
            <a:avLst/>
          </a:prstGeom>
          <a:noFill/>
          <a:ln/>
        </p:spPr>
        <p:txBody>
          <a:bodyPr wrap="square" lIns="0" tIns="0" rIns="0" bIns="0" rtlCol="0" anchor="ctr">
            <a:spAutoFit/>
          </a:bodyPr>
          <a:lstStyle/>
          <a:p>
            <a:pPr algn="ctr" indent="0" marL="0">
              <a:buNone/>
            </a:pPr>
            <a:r>
              <a:rPr lang="en-US" sz="675" dirty="0">
                <a:solidFill>
                  <a:srgbClr val="F1F5F9"/>
                </a:solidFill>
                <a:latin typeface="Segoe UI" pitchFamily="34" charset="0"/>
                <a:ea typeface="Segoe UI" pitchFamily="34" charset="-122"/>
                <a:cs typeface="Segoe UI" pitchFamily="34" charset="-120"/>
              </a:rPr>
              <a:t>Banking, Finance, Big Data</a:t>
            </a:r>
            <a:endParaRPr lang="en-US" sz="675"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11544300"/>
          </a:xfrm>
          <a:prstGeom prst="rect">
            <a:avLst/>
          </a:prstGeom>
        </p:spPr>
      </p:pic>
      <p:sp>
        <p:nvSpPr>
          <p:cNvPr id="3" name="Text 0"/>
          <p:cNvSpPr/>
          <p:nvPr/>
        </p:nvSpPr>
        <p:spPr>
          <a:xfrm>
            <a:off x="457200" y="455414"/>
            <a:ext cx="1829609" cy="287536"/>
          </a:xfrm>
          <a:prstGeom prst="rect">
            <a:avLst/>
          </a:prstGeom>
          <a:noFill/>
          <a:ln/>
        </p:spPr>
        <p:txBody>
          <a:bodyPr wrap="square" lIns="0" tIns="0" rIns="0" bIns="0" rtlCol="0" anchor="ctr">
            <a:spAutoFit/>
          </a:bodyPr>
          <a:lstStyle/>
          <a:p>
            <a:pPr indent="0" marL="0">
              <a:buNone/>
            </a:pPr>
            <a:r>
              <a:rPr lang="en-US" sz="2025" b="1" dirty="0">
                <a:solidFill>
                  <a:srgbClr val="F1F5F9"/>
                </a:solidFill>
                <a:latin typeface="Segoe UI" pitchFamily="34" charset="0"/>
                <a:ea typeface="Segoe UI" pitchFamily="34" charset="-122"/>
                <a:cs typeface="Segoe UI" pitchFamily="34" charset="-120"/>
              </a:rPr>
              <a:t>Java Platform</a:t>
            </a:r>
            <a:endParaRPr lang="en-US" sz="2025" dirty="0"/>
          </a:p>
        </p:txBody>
      </p:sp>
      <p:sp>
        <p:nvSpPr>
          <p:cNvPr id="4" name="Text 1"/>
          <p:cNvSpPr/>
          <p:nvPr/>
        </p:nvSpPr>
        <p:spPr>
          <a:xfrm>
            <a:off x="2215372" y="455414"/>
            <a:ext cx="1643007" cy="287536"/>
          </a:xfrm>
          <a:prstGeom prst="rect">
            <a:avLst/>
          </a:prstGeom>
          <a:noFill/>
          <a:ln/>
        </p:spPr>
        <p:txBody>
          <a:bodyPr wrap="square" lIns="0" tIns="0" rIns="0" bIns="0" rtlCol="0" anchor="ctr">
            <a:spAutoFit/>
          </a:bodyPr>
          <a:lstStyle/>
          <a:p>
            <a:pPr indent="0" marL="0">
              <a:buNone/>
            </a:pPr>
            <a:r>
              <a:rPr lang="en-US" sz="2025" b="1" dirty="0">
                <a:solidFill>
                  <a:srgbClr val="60A5FA"/>
                </a:solidFill>
                <a:latin typeface="Segoe UI" pitchFamily="34" charset="0"/>
                <a:ea typeface="Segoe UI" pitchFamily="34" charset="-122"/>
                <a:cs typeface="Segoe UI" pitchFamily="34" charset="-120"/>
              </a:rPr>
              <a:t>Components</a:t>
            </a:r>
            <a:endParaRPr lang="en-US" sz="2025" dirty="0"/>
          </a:p>
        </p:txBody>
      </p:sp>
      <p:sp>
        <p:nvSpPr>
          <p:cNvPr id="5" name="Shape 2"/>
          <p:cNvSpPr/>
          <p:nvPr/>
        </p:nvSpPr>
        <p:spPr>
          <a:xfrm>
            <a:off x="457200" y="971550"/>
            <a:ext cx="4000500" cy="3357563"/>
          </a:xfrm>
          <a:prstGeom prst="rect">
            <a:avLst/>
          </a:prstGeom>
          <a:solidFill>
            <a:srgbClr val="FFFFFF">
              <a:alpha val="10000"/>
            </a:srgbClr>
          </a:solidFill>
          <a:ln w="99">
            <a:solidFill>
              <a:srgbClr val="60A5FA">
                <a:alpha val="30000"/>
              </a:srgbClr>
            </a:solidFill>
            <a:prstDash val="solid"/>
          </a:ln>
        </p:spPr>
      </p:sp>
      <p:sp>
        <p:nvSpPr>
          <p:cNvPr id="6" name="Text 3"/>
          <p:cNvSpPr/>
          <p:nvPr/>
        </p:nvSpPr>
        <p:spPr>
          <a:xfrm>
            <a:off x="628650" y="1143000"/>
            <a:ext cx="3729038" cy="228600"/>
          </a:xfrm>
          <a:prstGeom prst="rect">
            <a:avLst/>
          </a:prstGeom>
          <a:noFill/>
          <a:ln/>
        </p:spPr>
        <p:txBody>
          <a:bodyPr wrap="square" lIns="0" tIns="0" rIns="0" bIns="0" rtlCol="0" anchor="ctr">
            <a:spAutoFit/>
          </a:bodyPr>
          <a:lstStyle/>
          <a:p>
            <a:pPr indent="0" marL="0">
              <a:buNone/>
            </a:pPr>
            <a:r>
              <a:rPr lang="en-US" sz="1350" b="1" dirty="0">
                <a:solidFill>
                  <a:srgbClr val="BFDBFE"/>
                </a:solidFill>
                <a:latin typeface="Segoe UI" pitchFamily="34" charset="0"/>
                <a:ea typeface="Segoe UI" pitchFamily="34" charset="-122"/>
                <a:cs typeface="Segoe UI" pitchFamily="34" charset="-120"/>
              </a:rPr>
              <a:t>The Java Platform Architecture</a:t>
            </a:r>
            <a:endParaRPr lang="en-US" sz="1350" dirty="0"/>
          </a:p>
        </p:txBody>
      </p:sp>
      <p:sp>
        <p:nvSpPr>
          <p:cNvPr id="7" name="Text 4"/>
          <p:cNvSpPr/>
          <p:nvPr/>
        </p:nvSpPr>
        <p:spPr>
          <a:xfrm>
            <a:off x="628650" y="1485900"/>
            <a:ext cx="3729038" cy="342900"/>
          </a:xfrm>
          <a:prstGeom prst="rect">
            <a:avLst/>
          </a:prstGeom>
          <a:noFill/>
          <a:ln/>
        </p:spPr>
        <p:txBody>
          <a:bodyPr wrap="square" lIns="0" tIns="0" rIns="0" bIns="0" rtlCol="0" anchor="ctr">
            <a:spAutoFit/>
          </a:bodyPr>
          <a:lstStyle/>
          <a:p>
            <a:pPr indent="0" marL="0">
              <a:buNone/>
            </a:pPr>
            <a:r>
              <a:rPr lang="en-US" sz="900" dirty="0">
                <a:solidFill>
                  <a:srgbClr val="F1F5F9"/>
                </a:solidFill>
                <a:latin typeface="Segoe UI" pitchFamily="34" charset="0"/>
                <a:ea typeface="Segoe UI" pitchFamily="34" charset="-122"/>
                <a:cs typeface="Segoe UI" pitchFamily="34" charset="-120"/>
              </a:rPr>
              <a:t>The Java platform consists of three main components that work together to create and run Java applications:</a:t>
            </a:r>
            <a:endParaRPr lang="en-US" sz="900" dirty="0"/>
          </a:p>
        </p:txBody>
      </p:sp>
      <p:pic>
        <p:nvPicPr>
          <p:cNvPr id="8" name="Image 1" descr="preencoded.png">    </p:cNvPr>
          <p:cNvPicPr>
            <a:picLocks noChangeAspect="1"/>
          </p:cNvPicPr>
          <p:nvPr/>
        </p:nvPicPr>
        <p:blipFill>
          <a:blip r:embed="rId2"/>
          <a:stretch>
            <a:fillRect/>
          </a:stretch>
        </p:blipFill>
        <p:spPr>
          <a:xfrm>
            <a:off x="628650" y="2000250"/>
            <a:ext cx="3657600" cy="2143125"/>
          </a:xfrm>
          <a:prstGeom prst="rect">
            <a:avLst/>
          </a:prstGeom>
        </p:spPr>
      </p:pic>
      <p:sp>
        <p:nvSpPr>
          <p:cNvPr id="9" name="Shape 5"/>
          <p:cNvSpPr/>
          <p:nvPr/>
        </p:nvSpPr>
        <p:spPr>
          <a:xfrm>
            <a:off x="457200" y="4486275"/>
            <a:ext cx="4000500" cy="2900363"/>
          </a:xfrm>
          <a:prstGeom prst="rect">
            <a:avLst/>
          </a:prstGeom>
          <a:solidFill>
            <a:srgbClr val="FFFFFF">
              <a:alpha val="10000"/>
            </a:srgbClr>
          </a:solidFill>
          <a:ln w="99">
            <a:solidFill>
              <a:srgbClr val="60A5FA">
                <a:alpha val="30000"/>
              </a:srgbClr>
            </a:solidFill>
            <a:prstDash val="solid"/>
          </a:ln>
        </p:spPr>
      </p:sp>
      <p:sp>
        <p:nvSpPr>
          <p:cNvPr id="10" name="Text 6"/>
          <p:cNvSpPr/>
          <p:nvPr/>
        </p:nvSpPr>
        <p:spPr>
          <a:xfrm>
            <a:off x="628650" y="4657725"/>
            <a:ext cx="3729038" cy="228600"/>
          </a:xfrm>
          <a:prstGeom prst="rect">
            <a:avLst/>
          </a:prstGeom>
          <a:noFill/>
          <a:ln/>
        </p:spPr>
        <p:txBody>
          <a:bodyPr wrap="square" lIns="0" tIns="0" rIns="0" bIns="0" rtlCol="0" anchor="ctr">
            <a:spAutoFit/>
          </a:bodyPr>
          <a:lstStyle/>
          <a:p>
            <a:pPr indent="0" marL="0">
              <a:buNone/>
            </a:pPr>
            <a:r>
              <a:rPr lang="en-US" sz="1350" b="1" dirty="0">
                <a:solidFill>
                  <a:srgbClr val="BFDBFE"/>
                </a:solidFill>
                <a:latin typeface="Segoe UI" pitchFamily="34" charset="0"/>
                <a:ea typeface="Segoe UI" pitchFamily="34" charset="-122"/>
                <a:cs typeface="Segoe UI" pitchFamily="34" charset="-120"/>
              </a:rPr>
              <a:t>How They Work Together</a:t>
            </a:r>
            <a:endParaRPr lang="en-US" sz="1350" dirty="0"/>
          </a:p>
        </p:txBody>
      </p:sp>
      <p:sp>
        <p:nvSpPr>
          <p:cNvPr id="11" name="Shape 7"/>
          <p:cNvSpPr/>
          <p:nvPr/>
        </p:nvSpPr>
        <p:spPr>
          <a:xfrm>
            <a:off x="628650" y="5000625"/>
            <a:ext cx="3657600" cy="1343025"/>
          </a:xfrm>
          <a:prstGeom prst="rect">
            <a:avLst/>
          </a:prstGeom>
          <a:solidFill>
            <a:srgbClr val="1E3A8A">
              <a:alpha val="30000"/>
            </a:srgbClr>
          </a:solidFill>
          <a:ln/>
        </p:spPr>
      </p:sp>
      <p:sp>
        <p:nvSpPr>
          <p:cNvPr id="12" name="Text 8"/>
          <p:cNvSpPr/>
          <p:nvPr/>
        </p:nvSpPr>
        <p:spPr>
          <a:xfrm>
            <a:off x="742950" y="5114925"/>
            <a:ext cx="3500438" cy="200025"/>
          </a:xfrm>
          <a:prstGeom prst="rect">
            <a:avLst/>
          </a:prstGeom>
          <a:noFill/>
          <a:ln/>
        </p:spPr>
        <p:txBody>
          <a:bodyPr wrap="square" lIns="0" tIns="0" rIns="0" bIns="0" rtlCol="0" anchor="ctr">
            <a:spAutoFit/>
          </a:bodyPr>
          <a:lstStyle/>
          <a:p>
            <a:pPr indent="0" marL="0">
              <a:buNone/>
            </a:pPr>
            <a:r>
              <a:rPr lang="en-US" sz="1125" b="1" dirty="0">
                <a:solidFill>
                  <a:srgbClr val="F1F5F9"/>
                </a:solidFill>
                <a:latin typeface="Segoe UI" pitchFamily="34" charset="0"/>
                <a:ea typeface="Segoe UI" pitchFamily="34" charset="-122"/>
                <a:cs typeface="Segoe UI" pitchFamily="34" charset="-120"/>
              </a:rPr>
              <a:t>Development Process</a:t>
            </a:r>
            <a:endParaRPr lang="en-US" sz="1125" dirty="0"/>
          </a:p>
        </p:txBody>
      </p:sp>
      <p:sp>
        <p:nvSpPr>
          <p:cNvPr id="13" name="Text 9"/>
          <p:cNvSpPr/>
          <p:nvPr/>
        </p:nvSpPr>
        <p:spPr>
          <a:xfrm>
            <a:off x="857250" y="5372100"/>
            <a:ext cx="3386138" cy="171450"/>
          </a:xfrm>
          <a:prstGeom prst="rect">
            <a:avLst/>
          </a:prstGeom>
          <a:noFill/>
          <a:ln/>
        </p:spPr>
        <p:txBody>
          <a:bodyPr wrap="square" lIns="0" tIns="0" rIns="0" bIns="0" rtlCol="0" anchor="ctr">
            <a:spAutoFit/>
          </a:bodyPr>
          <a:lstStyle/>
          <a:p>
            <a:pPr algn="l" indent="0" marL="0">
              <a:buNone/>
            </a:pPr>
            <a:r>
              <a:rPr lang="en-US" sz="900" dirty="0">
                <a:solidFill>
                  <a:srgbClr val="F1F5F9"/>
                </a:solidFill>
                <a:latin typeface="Segoe UI" pitchFamily="34" charset="0"/>
                <a:ea typeface="Segoe UI" pitchFamily="34" charset="-122"/>
                <a:cs typeface="Segoe UI" pitchFamily="34" charset="-120"/>
              </a:rPr>
              <a:t>Write Java source code (.java files)</a:t>
            </a:r>
            <a:endParaRPr lang="en-US" sz="900" dirty="0"/>
          </a:p>
        </p:txBody>
      </p:sp>
      <p:sp>
        <p:nvSpPr>
          <p:cNvPr id="14" name="Text 10"/>
          <p:cNvSpPr/>
          <p:nvPr/>
        </p:nvSpPr>
        <p:spPr>
          <a:xfrm>
            <a:off x="984331" y="5622131"/>
            <a:ext cx="1107058" cy="128588"/>
          </a:xfrm>
          <a:prstGeom prst="rect">
            <a:avLst/>
          </a:prstGeom>
          <a:noFill/>
          <a:ln/>
        </p:spPr>
        <p:txBody>
          <a:bodyPr wrap="none" lIns="0" tIns="0" rIns="0" bIns="0" rtlCol="0" anchor="ctr">
            <a:spAutoFit/>
          </a:bodyPr>
          <a:lstStyle/>
          <a:p>
            <a:pPr algn="l" indent="0" marL="0">
              <a:buNone/>
            </a:pPr>
            <a:r>
              <a:rPr lang="en-US" sz="900" dirty="0">
                <a:solidFill>
                  <a:srgbClr val="F1F5F9"/>
                </a:solidFill>
                <a:latin typeface="Segoe UI" pitchFamily="34" charset="0"/>
                <a:ea typeface="Segoe UI" pitchFamily="34" charset="-122"/>
                <a:cs typeface="Segoe UI" pitchFamily="34" charset="-120"/>
              </a:rPr>
              <a:t>Compile code using</a:t>
            </a:r>
            <a:endParaRPr lang="en-US" sz="900" dirty="0"/>
          </a:p>
        </p:txBody>
      </p:sp>
      <p:sp>
        <p:nvSpPr>
          <p:cNvPr id="15" name="Text 11"/>
          <p:cNvSpPr/>
          <p:nvPr/>
        </p:nvSpPr>
        <p:spPr>
          <a:xfrm>
            <a:off x="2019951" y="5622131"/>
            <a:ext cx="338268" cy="128588"/>
          </a:xfrm>
          <a:prstGeom prst="rect">
            <a:avLst/>
          </a:prstGeom>
          <a:noFill/>
          <a:ln/>
        </p:spPr>
        <p:txBody>
          <a:bodyPr wrap="none" lIns="0" tIns="0" rIns="0" bIns="0" rtlCol="0" anchor="ctr">
            <a:spAutoFit/>
          </a:bodyPr>
          <a:lstStyle/>
          <a:p>
            <a:pPr algn="l" indent="0" marL="0">
              <a:buNone/>
            </a:pPr>
            <a:r>
              <a:rPr lang="en-US" sz="900" dirty="0">
                <a:solidFill>
                  <a:srgbClr val="60A5FA"/>
                </a:solidFill>
                <a:latin typeface="Segoe UI" pitchFamily="34" charset="0"/>
                <a:ea typeface="Segoe UI" pitchFamily="34" charset="-122"/>
                <a:cs typeface="Segoe UI" pitchFamily="34" charset="-120"/>
              </a:rPr>
              <a:t>javac</a:t>
            </a:r>
            <a:endParaRPr lang="en-US" sz="900" dirty="0"/>
          </a:p>
        </p:txBody>
      </p:sp>
      <p:sp>
        <p:nvSpPr>
          <p:cNvPr id="16" name="Text 12"/>
          <p:cNvSpPr/>
          <p:nvPr/>
        </p:nvSpPr>
        <p:spPr>
          <a:xfrm>
            <a:off x="2286781" y="5622131"/>
            <a:ext cx="1214717" cy="128588"/>
          </a:xfrm>
          <a:prstGeom prst="rect">
            <a:avLst/>
          </a:prstGeom>
          <a:noFill/>
          <a:ln/>
        </p:spPr>
        <p:txBody>
          <a:bodyPr wrap="none" lIns="0" tIns="0" rIns="0" bIns="0" rtlCol="0" anchor="ctr">
            <a:spAutoFit/>
          </a:bodyPr>
          <a:lstStyle/>
          <a:p>
            <a:pPr algn="l" indent="0" marL="0">
              <a:buNone/>
            </a:pPr>
            <a:r>
              <a:rPr lang="en-US" sz="900" dirty="0">
                <a:solidFill>
                  <a:srgbClr val="F1F5F9"/>
                </a:solidFill>
                <a:latin typeface="Segoe UI" pitchFamily="34" charset="0"/>
                <a:ea typeface="Segoe UI" pitchFamily="34" charset="-122"/>
                <a:cs typeface="Segoe UI" pitchFamily="34" charset="-120"/>
              </a:rPr>
              <a:t>compiler (part of JDK)</a:t>
            </a:r>
            <a:endParaRPr lang="en-US" sz="900" dirty="0"/>
          </a:p>
        </p:txBody>
      </p:sp>
      <p:sp>
        <p:nvSpPr>
          <p:cNvPr id="17" name="Text 13"/>
          <p:cNvSpPr/>
          <p:nvPr/>
        </p:nvSpPr>
        <p:spPr>
          <a:xfrm>
            <a:off x="857250" y="5829300"/>
            <a:ext cx="3386138" cy="171450"/>
          </a:xfrm>
          <a:prstGeom prst="rect">
            <a:avLst/>
          </a:prstGeom>
          <a:noFill/>
          <a:ln/>
        </p:spPr>
        <p:txBody>
          <a:bodyPr wrap="square" lIns="0" tIns="0" rIns="0" bIns="0" rtlCol="0" anchor="ctr">
            <a:spAutoFit/>
          </a:bodyPr>
          <a:lstStyle/>
          <a:p>
            <a:pPr algn="l" indent="0" marL="0">
              <a:buNone/>
            </a:pPr>
            <a:r>
              <a:rPr lang="en-US" sz="900" dirty="0">
                <a:solidFill>
                  <a:srgbClr val="F1F5F9"/>
                </a:solidFill>
                <a:latin typeface="Segoe UI" pitchFamily="34" charset="0"/>
                <a:ea typeface="Segoe UI" pitchFamily="34" charset="-122"/>
                <a:cs typeface="Segoe UI" pitchFamily="34" charset="-120"/>
              </a:rPr>
              <a:t>Compiler creates bytecode (.class files)</a:t>
            </a:r>
            <a:endParaRPr lang="en-US" sz="900" dirty="0"/>
          </a:p>
        </p:txBody>
      </p:sp>
      <p:sp>
        <p:nvSpPr>
          <p:cNvPr id="18" name="Text 14"/>
          <p:cNvSpPr/>
          <p:nvPr/>
        </p:nvSpPr>
        <p:spPr>
          <a:xfrm>
            <a:off x="857250" y="6057900"/>
            <a:ext cx="3386138" cy="171450"/>
          </a:xfrm>
          <a:prstGeom prst="rect">
            <a:avLst/>
          </a:prstGeom>
          <a:noFill/>
          <a:ln/>
        </p:spPr>
        <p:txBody>
          <a:bodyPr wrap="square" lIns="0" tIns="0" rIns="0" bIns="0" rtlCol="0" anchor="ctr">
            <a:spAutoFit/>
          </a:bodyPr>
          <a:lstStyle/>
          <a:p>
            <a:pPr algn="l" indent="0" marL="0">
              <a:buNone/>
            </a:pPr>
            <a:r>
              <a:rPr lang="en-US" sz="900" dirty="0">
                <a:solidFill>
                  <a:srgbClr val="F1F5F9"/>
                </a:solidFill>
                <a:latin typeface="Segoe UI" pitchFamily="34" charset="0"/>
                <a:ea typeface="Segoe UI" pitchFamily="34" charset="-122"/>
                <a:cs typeface="Segoe UI" pitchFamily="34" charset="-120"/>
              </a:rPr>
              <a:t>JVM executes the bytecode</a:t>
            </a:r>
            <a:endParaRPr lang="en-US" sz="900" dirty="0"/>
          </a:p>
        </p:txBody>
      </p:sp>
      <p:sp>
        <p:nvSpPr>
          <p:cNvPr id="19" name="Shape 15"/>
          <p:cNvSpPr/>
          <p:nvPr/>
        </p:nvSpPr>
        <p:spPr>
          <a:xfrm>
            <a:off x="628650" y="6457950"/>
            <a:ext cx="3657600" cy="742950"/>
          </a:xfrm>
          <a:prstGeom prst="rect">
            <a:avLst/>
          </a:prstGeom>
          <a:solidFill>
            <a:srgbClr val="1E3A8A">
              <a:alpha val="30000"/>
            </a:srgbClr>
          </a:solidFill>
          <a:ln/>
        </p:spPr>
      </p:sp>
      <p:pic>
        <p:nvPicPr>
          <p:cNvPr id="20" name="Image 2" descr="preencoded.png">    </p:cNvPr>
          <p:cNvPicPr>
            <a:picLocks noChangeAspect="1"/>
          </p:cNvPicPr>
          <p:nvPr/>
        </p:nvPicPr>
        <p:blipFill>
          <a:blip r:embed="rId3"/>
          <a:stretch>
            <a:fillRect/>
          </a:stretch>
        </p:blipFill>
        <p:spPr>
          <a:xfrm>
            <a:off x="742950" y="6743700"/>
            <a:ext cx="128588" cy="171450"/>
          </a:xfrm>
          <a:prstGeom prst="rect">
            <a:avLst/>
          </a:prstGeom>
        </p:spPr>
      </p:pic>
      <p:sp>
        <p:nvSpPr>
          <p:cNvPr id="21" name="Text 16"/>
          <p:cNvSpPr/>
          <p:nvPr/>
        </p:nvSpPr>
        <p:spPr>
          <a:xfrm>
            <a:off x="985838" y="6572250"/>
            <a:ext cx="3257550" cy="514350"/>
          </a:xfrm>
          <a:prstGeom prst="rect">
            <a:avLst/>
          </a:prstGeom>
          <a:noFill/>
          <a:ln/>
        </p:spPr>
        <p:txBody>
          <a:bodyPr wrap="square" lIns="0" tIns="0" rIns="0" bIns="0" rtlCol="0" anchor="ctr">
            <a:spAutoFit/>
          </a:bodyPr>
          <a:lstStyle/>
          <a:p>
            <a:pPr indent="0" marL="0">
              <a:buNone/>
            </a:pPr>
            <a:r>
              <a:rPr lang="en-US" sz="900" dirty="0">
                <a:solidFill>
                  <a:srgbClr val="F1F5F9"/>
                </a:solidFill>
                <a:latin typeface="Segoe UI" pitchFamily="34" charset="0"/>
                <a:ea typeface="Segoe UI" pitchFamily="34" charset="-122"/>
                <a:cs typeface="Segoe UI" pitchFamily="34" charset="-120"/>
              </a:rPr>
              <a:t>The JVM is what enables Java's "Write Once, Run Anywhere" capability by providing a consistent runtime environment across different platforms.</a:t>
            </a:r>
            <a:endParaRPr lang="en-US" sz="900" dirty="0"/>
          </a:p>
        </p:txBody>
      </p:sp>
      <p:sp>
        <p:nvSpPr>
          <p:cNvPr id="22" name="Shape 17"/>
          <p:cNvSpPr/>
          <p:nvPr/>
        </p:nvSpPr>
        <p:spPr>
          <a:xfrm>
            <a:off x="4686300" y="971550"/>
            <a:ext cx="4000500" cy="2300288"/>
          </a:xfrm>
          <a:prstGeom prst="rect">
            <a:avLst/>
          </a:prstGeom>
          <a:solidFill>
            <a:srgbClr val="FFFFFF">
              <a:alpha val="10000"/>
            </a:srgbClr>
          </a:solidFill>
          <a:ln w="99">
            <a:solidFill>
              <a:srgbClr val="60A5FA">
                <a:alpha val="30000"/>
              </a:srgbClr>
            </a:solidFill>
            <a:prstDash val="solid"/>
          </a:ln>
        </p:spPr>
      </p:sp>
      <p:sp>
        <p:nvSpPr>
          <p:cNvPr id="23" name="Text 18"/>
          <p:cNvSpPr/>
          <p:nvPr/>
        </p:nvSpPr>
        <p:spPr>
          <a:xfrm>
            <a:off x="4857750" y="1143000"/>
            <a:ext cx="3729038" cy="228600"/>
          </a:xfrm>
          <a:prstGeom prst="rect">
            <a:avLst/>
          </a:prstGeom>
          <a:noFill/>
          <a:ln/>
        </p:spPr>
        <p:txBody>
          <a:bodyPr wrap="square" lIns="0" tIns="0" rIns="0" bIns="0" rtlCol="0" anchor="ctr">
            <a:spAutoFit/>
          </a:bodyPr>
          <a:lstStyle/>
          <a:p>
            <a:pPr indent="0" marL="0">
              <a:buNone/>
            </a:pPr>
            <a:r>
              <a:rPr lang="en-US" sz="1350" b="1" dirty="0">
                <a:solidFill>
                  <a:srgbClr val="BFDBFE"/>
                </a:solidFill>
                <a:latin typeface="Segoe UI" pitchFamily="34" charset="0"/>
                <a:ea typeface="Segoe UI" pitchFamily="34" charset="-122"/>
                <a:cs typeface="Segoe UI" pitchFamily="34" charset="-120"/>
              </a:rPr>
              <a:t>Java Development Kit (JDK)</a:t>
            </a:r>
            <a:endParaRPr lang="en-US" sz="1350" dirty="0"/>
          </a:p>
        </p:txBody>
      </p:sp>
      <p:sp>
        <p:nvSpPr>
          <p:cNvPr id="24" name="Text 19"/>
          <p:cNvSpPr/>
          <p:nvPr/>
        </p:nvSpPr>
        <p:spPr>
          <a:xfrm>
            <a:off x="4857750" y="1485900"/>
            <a:ext cx="3729038" cy="342900"/>
          </a:xfrm>
          <a:prstGeom prst="rect">
            <a:avLst/>
          </a:prstGeom>
          <a:noFill/>
          <a:ln/>
        </p:spPr>
        <p:txBody>
          <a:bodyPr wrap="square" lIns="0" tIns="0" rIns="0" bIns="0" rtlCol="0" anchor="ctr">
            <a:spAutoFit/>
          </a:bodyPr>
          <a:lstStyle/>
          <a:p>
            <a:pPr indent="0" marL="0">
              <a:buNone/>
            </a:pPr>
            <a:r>
              <a:rPr lang="en-US" sz="900" dirty="0">
                <a:solidFill>
                  <a:srgbClr val="F1F5F9"/>
                </a:solidFill>
                <a:latin typeface="Segoe UI" pitchFamily="34" charset="0"/>
                <a:ea typeface="Segoe UI" pitchFamily="34" charset="-122"/>
                <a:cs typeface="Segoe UI" pitchFamily="34" charset="-120"/>
              </a:rPr>
              <a:t>The JDK is a software development environment used for developing Java applications.</a:t>
            </a:r>
            <a:endParaRPr lang="en-US" sz="900" dirty="0"/>
          </a:p>
        </p:txBody>
      </p:sp>
      <p:sp>
        <p:nvSpPr>
          <p:cNvPr id="25" name="Shape 20"/>
          <p:cNvSpPr/>
          <p:nvPr/>
        </p:nvSpPr>
        <p:spPr>
          <a:xfrm>
            <a:off x="4857750" y="1943100"/>
            <a:ext cx="3657600" cy="885825"/>
          </a:xfrm>
          <a:prstGeom prst="rect">
            <a:avLst/>
          </a:prstGeom>
          <a:solidFill>
            <a:srgbClr val="1E3A8A">
              <a:alpha val="30000"/>
            </a:srgbClr>
          </a:solidFill>
          <a:ln/>
        </p:spPr>
      </p:sp>
      <p:sp>
        <p:nvSpPr>
          <p:cNvPr id="26" name="Shape 21"/>
          <p:cNvSpPr/>
          <p:nvPr/>
        </p:nvSpPr>
        <p:spPr>
          <a:xfrm>
            <a:off x="4857750" y="1943100"/>
            <a:ext cx="28575" cy="885825"/>
          </a:xfrm>
          <a:prstGeom prst="rect">
            <a:avLst/>
          </a:prstGeom>
          <a:solidFill>
            <a:srgbClr val="60A5FA"/>
          </a:solidFill>
          <a:ln/>
        </p:spPr>
      </p:sp>
      <p:sp>
        <p:nvSpPr>
          <p:cNvPr id="27" name="Text 22"/>
          <p:cNvSpPr/>
          <p:nvPr/>
        </p:nvSpPr>
        <p:spPr>
          <a:xfrm>
            <a:off x="4972050" y="2028825"/>
            <a:ext cx="3614738" cy="200025"/>
          </a:xfrm>
          <a:prstGeom prst="rect">
            <a:avLst/>
          </a:prstGeom>
          <a:noFill/>
          <a:ln/>
        </p:spPr>
        <p:txBody>
          <a:bodyPr wrap="square" lIns="0" tIns="0" rIns="0" bIns="0" rtlCol="0" anchor="ctr">
            <a:spAutoFit/>
          </a:bodyPr>
          <a:lstStyle/>
          <a:p>
            <a:pPr indent="0" marL="0">
              <a:buNone/>
            </a:pPr>
            <a:r>
              <a:rPr lang="en-US" sz="1125" b="1" dirty="0">
                <a:solidFill>
                  <a:srgbClr val="F1F5F9"/>
                </a:solidFill>
                <a:latin typeface="Segoe UI" pitchFamily="34" charset="0"/>
                <a:ea typeface="Segoe UI" pitchFamily="34" charset="-122"/>
                <a:cs typeface="Segoe UI" pitchFamily="34" charset="-120"/>
              </a:rPr>
              <a:t>Key Components</a:t>
            </a:r>
            <a:endParaRPr lang="en-US" sz="1125" dirty="0"/>
          </a:p>
        </p:txBody>
      </p:sp>
      <p:pic>
        <p:nvPicPr>
          <p:cNvPr id="28" name="Image 3" descr="preencoded.png">    </p:cNvPr>
          <p:cNvPicPr>
            <a:picLocks noChangeAspect="1"/>
          </p:cNvPicPr>
          <p:nvPr/>
        </p:nvPicPr>
        <p:blipFill>
          <a:blip r:embed="rId4"/>
          <a:stretch>
            <a:fillRect/>
          </a:stretch>
        </p:blipFill>
        <p:spPr>
          <a:xfrm>
            <a:off x="4972050" y="2286000"/>
            <a:ext cx="100013" cy="100013"/>
          </a:xfrm>
          <a:prstGeom prst="rect">
            <a:avLst/>
          </a:prstGeom>
        </p:spPr>
      </p:pic>
      <p:sp>
        <p:nvSpPr>
          <p:cNvPr id="29" name="Text 23"/>
          <p:cNvSpPr/>
          <p:nvPr/>
        </p:nvSpPr>
        <p:spPr>
          <a:xfrm>
            <a:off x="5129213" y="2271713"/>
            <a:ext cx="1133149" cy="112514"/>
          </a:xfrm>
          <a:prstGeom prst="rect">
            <a:avLst/>
          </a:prstGeom>
          <a:noFill/>
          <a:ln/>
        </p:spPr>
        <p:txBody>
          <a:bodyPr wrap="none" lIns="0" tIns="0" rIns="0" bIns="0" rtlCol="0" anchor="ctr">
            <a:spAutoFit/>
          </a:bodyPr>
          <a:lstStyle/>
          <a:p>
            <a:pPr algn="l" indent="0" marL="0">
              <a:buNone/>
            </a:pPr>
            <a:r>
              <a:rPr lang="en-US" sz="788" b="1" dirty="0">
                <a:solidFill>
                  <a:srgbClr val="60A5FA"/>
                </a:solidFill>
                <a:latin typeface="Segoe UI" pitchFamily="34" charset="0"/>
                <a:ea typeface="Segoe UI" pitchFamily="34" charset="-122"/>
                <a:cs typeface="Segoe UI" pitchFamily="34" charset="-120"/>
              </a:rPr>
              <a:t>Java Compiler (javac):</a:t>
            </a:r>
            <a:endParaRPr lang="en-US" sz="788" dirty="0"/>
          </a:p>
        </p:txBody>
      </p:sp>
      <p:sp>
        <p:nvSpPr>
          <p:cNvPr id="30" name="Text 24"/>
          <p:cNvSpPr/>
          <p:nvPr/>
        </p:nvSpPr>
        <p:spPr>
          <a:xfrm>
            <a:off x="6190924" y="2271713"/>
            <a:ext cx="1544389" cy="112514"/>
          </a:xfrm>
          <a:prstGeom prst="rect">
            <a:avLst/>
          </a:prstGeom>
          <a:noFill/>
          <a:ln/>
        </p:spPr>
        <p:txBody>
          <a:bodyPr wrap="square" lIns="0" tIns="0" rIns="0" bIns="0" rtlCol="0" anchor="ctr">
            <a:spAutoFit/>
          </a:bodyPr>
          <a:lstStyle/>
          <a:p>
            <a:pPr algn="l" indent="0" marL="0">
              <a:buNone/>
            </a:pPr>
            <a:r>
              <a:rPr lang="en-US" sz="788" dirty="0">
                <a:solidFill>
                  <a:srgbClr val="F1F5F9"/>
                </a:solidFill>
                <a:latin typeface="Segoe UI" pitchFamily="34" charset="0"/>
                <a:ea typeface="Segoe UI" pitchFamily="34" charset="-122"/>
                <a:cs typeface="Segoe UI" pitchFamily="34" charset="-120"/>
              </a:rPr>
              <a:t>Converts .java files to .class files</a:t>
            </a:r>
            <a:endParaRPr lang="en-US" sz="788" dirty="0"/>
          </a:p>
        </p:txBody>
      </p:sp>
      <p:pic>
        <p:nvPicPr>
          <p:cNvPr id="31" name="Image 4" descr="preencoded.png">    </p:cNvPr>
          <p:cNvPicPr>
            <a:picLocks noChangeAspect="1"/>
          </p:cNvPicPr>
          <p:nvPr/>
        </p:nvPicPr>
        <p:blipFill>
          <a:blip r:embed="rId5"/>
          <a:stretch>
            <a:fillRect/>
          </a:stretch>
        </p:blipFill>
        <p:spPr>
          <a:xfrm>
            <a:off x="4972050" y="2457450"/>
            <a:ext cx="100013" cy="100013"/>
          </a:xfrm>
          <a:prstGeom prst="rect">
            <a:avLst/>
          </a:prstGeom>
        </p:spPr>
      </p:pic>
      <p:sp>
        <p:nvSpPr>
          <p:cNvPr id="32" name="Text 25"/>
          <p:cNvSpPr/>
          <p:nvPr/>
        </p:nvSpPr>
        <p:spPr>
          <a:xfrm>
            <a:off x="5129213" y="2443163"/>
            <a:ext cx="1019798" cy="112514"/>
          </a:xfrm>
          <a:prstGeom prst="rect">
            <a:avLst/>
          </a:prstGeom>
          <a:noFill/>
          <a:ln/>
        </p:spPr>
        <p:txBody>
          <a:bodyPr wrap="none" lIns="0" tIns="0" rIns="0" bIns="0" rtlCol="0" anchor="ctr">
            <a:spAutoFit/>
          </a:bodyPr>
          <a:lstStyle/>
          <a:p>
            <a:pPr algn="l" indent="0" marL="0">
              <a:buNone/>
            </a:pPr>
            <a:r>
              <a:rPr lang="en-US" sz="788" b="1" dirty="0">
                <a:solidFill>
                  <a:srgbClr val="60A5FA"/>
                </a:solidFill>
                <a:latin typeface="Segoe UI" pitchFamily="34" charset="0"/>
                <a:ea typeface="Segoe UI" pitchFamily="34" charset="-122"/>
                <a:cs typeface="Segoe UI" pitchFamily="34" charset="-120"/>
              </a:rPr>
              <a:t>Development Tools:</a:t>
            </a:r>
            <a:endParaRPr lang="en-US" sz="788" dirty="0"/>
          </a:p>
        </p:txBody>
      </p:sp>
      <p:sp>
        <p:nvSpPr>
          <p:cNvPr id="33" name="Text 26"/>
          <p:cNvSpPr/>
          <p:nvPr/>
        </p:nvSpPr>
        <p:spPr>
          <a:xfrm>
            <a:off x="6077573" y="2443163"/>
            <a:ext cx="1700464" cy="112514"/>
          </a:xfrm>
          <a:prstGeom prst="rect">
            <a:avLst/>
          </a:prstGeom>
          <a:noFill/>
          <a:ln/>
        </p:spPr>
        <p:txBody>
          <a:bodyPr wrap="square" lIns="0" tIns="0" rIns="0" bIns="0" rtlCol="0" anchor="ctr">
            <a:spAutoFit/>
          </a:bodyPr>
          <a:lstStyle/>
          <a:p>
            <a:pPr algn="l" indent="0" marL="0">
              <a:buNone/>
            </a:pPr>
            <a:r>
              <a:rPr lang="en-US" sz="788" dirty="0">
                <a:solidFill>
                  <a:srgbClr val="F1F5F9"/>
                </a:solidFill>
                <a:latin typeface="Segoe UI" pitchFamily="34" charset="0"/>
                <a:ea typeface="Segoe UI" pitchFamily="34" charset="-122"/>
                <a:cs typeface="Segoe UI" pitchFamily="34" charset="-120"/>
              </a:rPr>
              <a:t>Debugger, documentation tools, etc.</a:t>
            </a:r>
            <a:endParaRPr lang="en-US" sz="788" dirty="0"/>
          </a:p>
        </p:txBody>
      </p:sp>
      <p:pic>
        <p:nvPicPr>
          <p:cNvPr id="34" name="Image 5" descr="preencoded.png">    </p:cNvPr>
          <p:cNvPicPr>
            <a:picLocks noChangeAspect="1"/>
          </p:cNvPicPr>
          <p:nvPr/>
        </p:nvPicPr>
        <p:blipFill>
          <a:blip r:embed="rId6"/>
          <a:stretch>
            <a:fillRect/>
          </a:stretch>
        </p:blipFill>
        <p:spPr>
          <a:xfrm>
            <a:off x="4972050" y="2628900"/>
            <a:ext cx="100013" cy="100013"/>
          </a:xfrm>
          <a:prstGeom prst="rect">
            <a:avLst/>
          </a:prstGeom>
        </p:spPr>
      </p:pic>
      <p:sp>
        <p:nvSpPr>
          <p:cNvPr id="35" name="Text 27"/>
          <p:cNvSpPr/>
          <p:nvPr/>
        </p:nvSpPr>
        <p:spPr>
          <a:xfrm>
            <a:off x="5129213" y="2614613"/>
            <a:ext cx="299312" cy="112514"/>
          </a:xfrm>
          <a:prstGeom prst="rect">
            <a:avLst/>
          </a:prstGeom>
          <a:noFill/>
          <a:ln/>
        </p:spPr>
        <p:txBody>
          <a:bodyPr wrap="none" lIns="0" tIns="0" rIns="0" bIns="0" rtlCol="0" anchor="ctr">
            <a:spAutoFit/>
          </a:bodyPr>
          <a:lstStyle/>
          <a:p>
            <a:pPr algn="l" indent="0" marL="0">
              <a:buNone/>
            </a:pPr>
            <a:r>
              <a:rPr lang="en-US" sz="788" b="1" dirty="0">
                <a:solidFill>
                  <a:srgbClr val="60A5FA"/>
                </a:solidFill>
                <a:latin typeface="Segoe UI" pitchFamily="34" charset="0"/>
                <a:ea typeface="Segoe UI" pitchFamily="34" charset="-122"/>
                <a:cs typeface="Segoe UI" pitchFamily="34" charset="-120"/>
              </a:rPr>
              <a:t>JRE:</a:t>
            </a:r>
            <a:endParaRPr lang="en-US" sz="788" dirty="0"/>
          </a:p>
        </p:txBody>
      </p:sp>
      <p:sp>
        <p:nvSpPr>
          <p:cNvPr id="36" name="Text 28"/>
          <p:cNvSpPr/>
          <p:nvPr/>
        </p:nvSpPr>
        <p:spPr>
          <a:xfrm>
            <a:off x="5357087" y="2614613"/>
            <a:ext cx="1466701" cy="112514"/>
          </a:xfrm>
          <a:prstGeom prst="rect">
            <a:avLst/>
          </a:prstGeom>
          <a:noFill/>
          <a:ln/>
        </p:spPr>
        <p:txBody>
          <a:bodyPr wrap="square" lIns="0" tIns="0" rIns="0" bIns="0" rtlCol="0" anchor="ctr">
            <a:spAutoFit/>
          </a:bodyPr>
          <a:lstStyle/>
          <a:p>
            <a:pPr algn="l" indent="0" marL="0">
              <a:buNone/>
            </a:pPr>
            <a:r>
              <a:rPr lang="en-US" sz="788" dirty="0">
                <a:solidFill>
                  <a:srgbClr val="F1F5F9"/>
                </a:solidFill>
                <a:latin typeface="Segoe UI" pitchFamily="34" charset="0"/>
                <a:ea typeface="Segoe UI" pitchFamily="34" charset="-122"/>
                <a:cs typeface="Segoe UI" pitchFamily="34" charset="-120"/>
              </a:rPr>
              <a:t>Complete runtime environment</a:t>
            </a:r>
            <a:endParaRPr lang="en-US" sz="788" dirty="0"/>
          </a:p>
        </p:txBody>
      </p:sp>
      <p:sp>
        <p:nvSpPr>
          <p:cNvPr id="37" name="Text 29"/>
          <p:cNvSpPr/>
          <p:nvPr/>
        </p:nvSpPr>
        <p:spPr>
          <a:xfrm>
            <a:off x="4857750" y="2943225"/>
            <a:ext cx="3729038" cy="142875"/>
          </a:xfrm>
          <a:prstGeom prst="rect">
            <a:avLst/>
          </a:prstGeom>
          <a:noFill/>
          <a:ln/>
        </p:spPr>
        <p:txBody>
          <a:bodyPr wrap="square" lIns="0" tIns="0" rIns="0" bIns="0" rtlCol="0" anchor="ctr">
            <a:spAutoFit/>
          </a:bodyPr>
          <a:lstStyle/>
          <a:p>
            <a:pPr indent="0" marL="0">
              <a:buNone/>
            </a:pPr>
            <a:r>
              <a:rPr lang="en-US" sz="788" i="1" dirty="0">
                <a:solidFill>
                  <a:srgbClr val="BFDBFE"/>
                </a:solidFill>
                <a:latin typeface="Segoe UI" pitchFamily="34" charset="0"/>
                <a:ea typeface="Segoe UI" pitchFamily="34" charset="-122"/>
                <a:cs typeface="Segoe UI" pitchFamily="34" charset="-120"/>
              </a:rPr>
              <a:t>The JDK is what developers install to write and compile Java code.</a:t>
            </a:r>
            <a:endParaRPr lang="en-US" sz="788" dirty="0"/>
          </a:p>
        </p:txBody>
      </p:sp>
      <p:sp>
        <p:nvSpPr>
          <p:cNvPr id="38" name="Shape 30"/>
          <p:cNvSpPr/>
          <p:nvPr/>
        </p:nvSpPr>
        <p:spPr>
          <a:xfrm>
            <a:off x="4686300" y="3429000"/>
            <a:ext cx="4000500" cy="2443163"/>
          </a:xfrm>
          <a:prstGeom prst="rect">
            <a:avLst/>
          </a:prstGeom>
          <a:solidFill>
            <a:srgbClr val="FFFFFF">
              <a:alpha val="10000"/>
            </a:srgbClr>
          </a:solidFill>
          <a:ln w="99">
            <a:solidFill>
              <a:srgbClr val="60A5FA">
                <a:alpha val="30000"/>
              </a:srgbClr>
            </a:solidFill>
            <a:prstDash val="solid"/>
          </a:ln>
        </p:spPr>
      </p:sp>
      <p:sp>
        <p:nvSpPr>
          <p:cNvPr id="39" name="Text 31"/>
          <p:cNvSpPr/>
          <p:nvPr/>
        </p:nvSpPr>
        <p:spPr>
          <a:xfrm>
            <a:off x="4857750" y="3600450"/>
            <a:ext cx="3729038" cy="228600"/>
          </a:xfrm>
          <a:prstGeom prst="rect">
            <a:avLst/>
          </a:prstGeom>
          <a:noFill/>
          <a:ln/>
        </p:spPr>
        <p:txBody>
          <a:bodyPr wrap="square" lIns="0" tIns="0" rIns="0" bIns="0" rtlCol="0" anchor="ctr">
            <a:spAutoFit/>
          </a:bodyPr>
          <a:lstStyle/>
          <a:p>
            <a:pPr indent="0" marL="0">
              <a:buNone/>
            </a:pPr>
            <a:r>
              <a:rPr lang="en-US" sz="1350" b="1" dirty="0">
                <a:solidFill>
                  <a:srgbClr val="BFDBFE"/>
                </a:solidFill>
                <a:latin typeface="Segoe UI" pitchFamily="34" charset="0"/>
                <a:ea typeface="Segoe UI" pitchFamily="34" charset="-122"/>
                <a:cs typeface="Segoe UI" pitchFamily="34" charset="-120"/>
              </a:rPr>
              <a:t>Java Runtime Environment (JRE)</a:t>
            </a:r>
            <a:endParaRPr lang="en-US" sz="1350" dirty="0"/>
          </a:p>
        </p:txBody>
      </p:sp>
      <p:sp>
        <p:nvSpPr>
          <p:cNvPr id="40" name="Text 32"/>
          <p:cNvSpPr/>
          <p:nvPr/>
        </p:nvSpPr>
        <p:spPr>
          <a:xfrm>
            <a:off x="4857750" y="3943350"/>
            <a:ext cx="3729038" cy="342900"/>
          </a:xfrm>
          <a:prstGeom prst="rect">
            <a:avLst/>
          </a:prstGeom>
          <a:noFill/>
          <a:ln/>
        </p:spPr>
        <p:txBody>
          <a:bodyPr wrap="square" lIns="0" tIns="0" rIns="0" bIns="0" rtlCol="0" anchor="ctr">
            <a:spAutoFit/>
          </a:bodyPr>
          <a:lstStyle/>
          <a:p>
            <a:pPr indent="0" marL="0">
              <a:buNone/>
            </a:pPr>
            <a:r>
              <a:rPr lang="en-US" sz="900" dirty="0">
                <a:solidFill>
                  <a:srgbClr val="F1F5F9"/>
                </a:solidFill>
                <a:latin typeface="Segoe UI" pitchFamily="34" charset="0"/>
                <a:ea typeface="Segoe UI" pitchFamily="34" charset="-122"/>
                <a:cs typeface="Segoe UI" pitchFamily="34" charset="-120"/>
              </a:rPr>
              <a:t>The JRE provides the libraries, Java Virtual Machine, and other components needed to run Java applications.</a:t>
            </a:r>
            <a:endParaRPr lang="en-US" sz="900" dirty="0"/>
          </a:p>
        </p:txBody>
      </p:sp>
      <p:sp>
        <p:nvSpPr>
          <p:cNvPr id="41" name="Shape 33"/>
          <p:cNvSpPr/>
          <p:nvPr/>
        </p:nvSpPr>
        <p:spPr>
          <a:xfrm>
            <a:off x="4857750" y="4400550"/>
            <a:ext cx="3657600" cy="885825"/>
          </a:xfrm>
          <a:prstGeom prst="rect">
            <a:avLst/>
          </a:prstGeom>
          <a:solidFill>
            <a:srgbClr val="1E3A8A">
              <a:alpha val="30000"/>
            </a:srgbClr>
          </a:solidFill>
          <a:ln/>
        </p:spPr>
      </p:sp>
      <p:sp>
        <p:nvSpPr>
          <p:cNvPr id="42" name="Shape 34"/>
          <p:cNvSpPr/>
          <p:nvPr/>
        </p:nvSpPr>
        <p:spPr>
          <a:xfrm>
            <a:off x="4857750" y="4400550"/>
            <a:ext cx="28575" cy="885825"/>
          </a:xfrm>
          <a:prstGeom prst="rect">
            <a:avLst/>
          </a:prstGeom>
          <a:solidFill>
            <a:srgbClr val="60A5FA"/>
          </a:solidFill>
          <a:ln/>
        </p:spPr>
      </p:sp>
      <p:sp>
        <p:nvSpPr>
          <p:cNvPr id="43" name="Text 35"/>
          <p:cNvSpPr/>
          <p:nvPr/>
        </p:nvSpPr>
        <p:spPr>
          <a:xfrm>
            <a:off x="4972050" y="4486275"/>
            <a:ext cx="3614738" cy="200025"/>
          </a:xfrm>
          <a:prstGeom prst="rect">
            <a:avLst/>
          </a:prstGeom>
          <a:noFill/>
          <a:ln/>
        </p:spPr>
        <p:txBody>
          <a:bodyPr wrap="square" lIns="0" tIns="0" rIns="0" bIns="0" rtlCol="0" anchor="ctr">
            <a:spAutoFit/>
          </a:bodyPr>
          <a:lstStyle/>
          <a:p>
            <a:pPr indent="0" marL="0">
              <a:buNone/>
            </a:pPr>
            <a:r>
              <a:rPr lang="en-US" sz="1125" b="1" dirty="0">
                <a:solidFill>
                  <a:srgbClr val="F1F5F9"/>
                </a:solidFill>
                <a:latin typeface="Segoe UI" pitchFamily="34" charset="0"/>
                <a:ea typeface="Segoe UI" pitchFamily="34" charset="-122"/>
                <a:cs typeface="Segoe UI" pitchFamily="34" charset="-120"/>
              </a:rPr>
              <a:t>Key Components</a:t>
            </a:r>
            <a:endParaRPr lang="en-US" sz="1125" dirty="0"/>
          </a:p>
        </p:txBody>
      </p:sp>
      <p:pic>
        <p:nvPicPr>
          <p:cNvPr id="44" name="Image 6" descr="preencoded.png">    </p:cNvPr>
          <p:cNvPicPr>
            <a:picLocks noChangeAspect="1"/>
          </p:cNvPicPr>
          <p:nvPr/>
        </p:nvPicPr>
        <p:blipFill>
          <a:blip r:embed="rId7"/>
          <a:stretch>
            <a:fillRect/>
          </a:stretch>
        </p:blipFill>
        <p:spPr>
          <a:xfrm>
            <a:off x="4972050" y="4743450"/>
            <a:ext cx="100013" cy="100013"/>
          </a:xfrm>
          <a:prstGeom prst="rect">
            <a:avLst/>
          </a:prstGeom>
        </p:spPr>
      </p:pic>
      <p:sp>
        <p:nvSpPr>
          <p:cNvPr id="45" name="Text 36"/>
          <p:cNvSpPr/>
          <p:nvPr/>
        </p:nvSpPr>
        <p:spPr>
          <a:xfrm>
            <a:off x="5129213" y="4729163"/>
            <a:ext cx="1392417" cy="112514"/>
          </a:xfrm>
          <a:prstGeom prst="rect">
            <a:avLst/>
          </a:prstGeom>
          <a:noFill/>
          <a:ln/>
        </p:spPr>
        <p:txBody>
          <a:bodyPr wrap="square" lIns="0" tIns="0" rIns="0" bIns="0" rtlCol="0" anchor="ctr">
            <a:spAutoFit/>
          </a:bodyPr>
          <a:lstStyle/>
          <a:p>
            <a:pPr algn="l" indent="0" marL="0">
              <a:buNone/>
            </a:pPr>
            <a:r>
              <a:rPr lang="en-US" sz="788" b="1" dirty="0">
                <a:solidFill>
                  <a:srgbClr val="60A5FA"/>
                </a:solidFill>
                <a:latin typeface="Segoe UI" pitchFamily="34" charset="0"/>
                <a:ea typeface="Segoe UI" pitchFamily="34" charset="-122"/>
                <a:cs typeface="Segoe UI" pitchFamily="34" charset="-120"/>
              </a:rPr>
              <a:t>Java Virtual Machine (JVM):</a:t>
            </a:r>
            <a:endParaRPr lang="en-US" sz="788" dirty="0"/>
          </a:p>
        </p:txBody>
      </p:sp>
      <p:sp>
        <p:nvSpPr>
          <p:cNvPr id="46" name="Text 37"/>
          <p:cNvSpPr/>
          <p:nvPr/>
        </p:nvSpPr>
        <p:spPr>
          <a:xfrm>
            <a:off x="6450192" y="4729163"/>
            <a:ext cx="1183351" cy="112514"/>
          </a:xfrm>
          <a:prstGeom prst="rect">
            <a:avLst/>
          </a:prstGeom>
          <a:noFill/>
          <a:ln/>
        </p:spPr>
        <p:txBody>
          <a:bodyPr wrap="none" lIns="0" tIns="0" rIns="0" bIns="0" rtlCol="0" anchor="ctr">
            <a:spAutoFit/>
          </a:bodyPr>
          <a:lstStyle/>
          <a:p>
            <a:pPr algn="l" indent="0" marL="0">
              <a:buNone/>
            </a:pPr>
            <a:r>
              <a:rPr lang="en-US" sz="788" dirty="0">
                <a:solidFill>
                  <a:srgbClr val="F1F5F9"/>
                </a:solidFill>
                <a:latin typeface="Segoe UI" pitchFamily="34" charset="0"/>
                <a:ea typeface="Segoe UI" pitchFamily="34" charset="-122"/>
                <a:cs typeface="Segoe UI" pitchFamily="34" charset="-120"/>
              </a:rPr>
              <a:t>Executes Java bytecode</a:t>
            </a:r>
            <a:endParaRPr lang="en-US" sz="788" dirty="0"/>
          </a:p>
        </p:txBody>
      </p:sp>
      <p:pic>
        <p:nvPicPr>
          <p:cNvPr id="47" name="Image 7" descr="preencoded.png">    </p:cNvPr>
          <p:cNvPicPr>
            <a:picLocks noChangeAspect="1"/>
          </p:cNvPicPr>
          <p:nvPr/>
        </p:nvPicPr>
        <p:blipFill>
          <a:blip r:embed="rId8"/>
          <a:stretch>
            <a:fillRect/>
          </a:stretch>
        </p:blipFill>
        <p:spPr>
          <a:xfrm>
            <a:off x="4972050" y="4914900"/>
            <a:ext cx="100013" cy="100013"/>
          </a:xfrm>
          <a:prstGeom prst="rect">
            <a:avLst/>
          </a:prstGeom>
        </p:spPr>
      </p:pic>
      <p:sp>
        <p:nvSpPr>
          <p:cNvPr id="48" name="Text 38"/>
          <p:cNvSpPr/>
          <p:nvPr/>
        </p:nvSpPr>
        <p:spPr>
          <a:xfrm>
            <a:off x="5129213" y="4900613"/>
            <a:ext cx="1072149" cy="112514"/>
          </a:xfrm>
          <a:prstGeom prst="rect">
            <a:avLst/>
          </a:prstGeom>
          <a:noFill/>
          <a:ln/>
        </p:spPr>
        <p:txBody>
          <a:bodyPr wrap="none" lIns="0" tIns="0" rIns="0" bIns="0" rtlCol="0" anchor="ctr">
            <a:spAutoFit/>
          </a:bodyPr>
          <a:lstStyle/>
          <a:p>
            <a:pPr algn="l" indent="0" marL="0">
              <a:buNone/>
            </a:pPr>
            <a:r>
              <a:rPr lang="en-US" sz="788" b="1" dirty="0">
                <a:solidFill>
                  <a:srgbClr val="60A5FA"/>
                </a:solidFill>
                <a:latin typeface="Segoe UI" pitchFamily="34" charset="0"/>
                <a:ea typeface="Segoe UI" pitchFamily="34" charset="-122"/>
                <a:cs typeface="Segoe UI" pitchFamily="34" charset="-120"/>
              </a:rPr>
              <a:t>Java Class Libraries:</a:t>
            </a:r>
            <a:endParaRPr lang="en-US" sz="788" dirty="0"/>
          </a:p>
        </p:txBody>
      </p:sp>
      <p:sp>
        <p:nvSpPr>
          <p:cNvPr id="49" name="Text 39"/>
          <p:cNvSpPr/>
          <p:nvPr/>
        </p:nvSpPr>
        <p:spPr>
          <a:xfrm>
            <a:off x="6129924" y="4900613"/>
            <a:ext cx="1389180" cy="112514"/>
          </a:xfrm>
          <a:prstGeom prst="rect">
            <a:avLst/>
          </a:prstGeom>
          <a:noFill/>
          <a:ln/>
        </p:spPr>
        <p:txBody>
          <a:bodyPr wrap="square" lIns="0" tIns="0" rIns="0" bIns="0" rtlCol="0" anchor="ctr">
            <a:spAutoFit/>
          </a:bodyPr>
          <a:lstStyle/>
          <a:p>
            <a:pPr algn="l" indent="0" marL="0">
              <a:buNone/>
            </a:pPr>
            <a:r>
              <a:rPr lang="en-US" sz="788" dirty="0">
                <a:solidFill>
                  <a:srgbClr val="F1F5F9"/>
                </a:solidFill>
                <a:latin typeface="Segoe UI" pitchFamily="34" charset="0"/>
                <a:ea typeface="Segoe UI" pitchFamily="34" charset="-122"/>
                <a:cs typeface="Segoe UI" pitchFamily="34" charset="-120"/>
              </a:rPr>
              <a:t>Standard APIs and packages</a:t>
            </a:r>
            <a:endParaRPr lang="en-US" sz="788" dirty="0"/>
          </a:p>
        </p:txBody>
      </p:sp>
      <p:pic>
        <p:nvPicPr>
          <p:cNvPr id="50" name="Image 8" descr="preencoded.png">    </p:cNvPr>
          <p:cNvPicPr>
            <a:picLocks noChangeAspect="1"/>
          </p:cNvPicPr>
          <p:nvPr/>
        </p:nvPicPr>
        <p:blipFill>
          <a:blip r:embed="rId9"/>
          <a:stretch>
            <a:fillRect/>
          </a:stretch>
        </p:blipFill>
        <p:spPr>
          <a:xfrm>
            <a:off x="4972050" y="5086350"/>
            <a:ext cx="100013" cy="100013"/>
          </a:xfrm>
          <a:prstGeom prst="rect">
            <a:avLst/>
          </a:prstGeom>
        </p:spPr>
      </p:pic>
      <p:sp>
        <p:nvSpPr>
          <p:cNvPr id="51" name="Text 40"/>
          <p:cNvSpPr/>
          <p:nvPr/>
        </p:nvSpPr>
        <p:spPr>
          <a:xfrm>
            <a:off x="5129213" y="5072063"/>
            <a:ext cx="1071730" cy="112514"/>
          </a:xfrm>
          <a:prstGeom prst="rect">
            <a:avLst/>
          </a:prstGeom>
          <a:noFill/>
          <a:ln/>
        </p:spPr>
        <p:txBody>
          <a:bodyPr wrap="none" lIns="0" tIns="0" rIns="0" bIns="0" rtlCol="0" anchor="ctr">
            <a:spAutoFit/>
          </a:bodyPr>
          <a:lstStyle/>
          <a:p>
            <a:pPr algn="l" indent="0" marL="0">
              <a:buNone/>
            </a:pPr>
            <a:r>
              <a:rPr lang="en-US" sz="788" b="1" dirty="0">
                <a:solidFill>
                  <a:srgbClr val="60A5FA"/>
                </a:solidFill>
                <a:latin typeface="Segoe UI" pitchFamily="34" charset="0"/>
                <a:ea typeface="Segoe UI" pitchFamily="34" charset="-122"/>
                <a:cs typeface="Segoe UI" pitchFamily="34" charset="-120"/>
              </a:rPr>
              <a:t>Integration Libraries:</a:t>
            </a:r>
            <a:endParaRPr lang="en-US" sz="788" dirty="0"/>
          </a:p>
        </p:txBody>
      </p:sp>
      <p:sp>
        <p:nvSpPr>
          <p:cNvPr id="52" name="Text 41"/>
          <p:cNvSpPr/>
          <p:nvPr/>
        </p:nvSpPr>
        <p:spPr>
          <a:xfrm>
            <a:off x="6129505" y="5072063"/>
            <a:ext cx="1194234" cy="112514"/>
          </a:xfrm>
          <a:prstGeom prst="rect">
            <a:avLst/>
          </a:prstGeom>
          <a:noFill/>
          <a:ln/>
        </p:spPr>
        <p:txBody>
          <a:bodyPr wrap="none" lIns="0" tIns="0" rIns="0" bIns="0" rtlCol="0" anchor="ctr">
            <a:spAutoFit/>
          </a:bodyPr>
          <a:lstStyle/>
          <a:p>
            <a:pPr algn="l" indent="0" marL="0">
              <a:buNone/>
            </a:pPr>
            <a:r>
              <a:rPr lang="en-US" sz="788" dirty="0">
                <a:solidFill>
                  <a:srgbClr val="F1F5F9"/>
                </a:solidFill>
                <a:latin typeface="Segoe UI" pitchFamily="34" charset="0"/>
                <a:ea typeface="Segoe UI" pitchFamily="34" charset="-122"/>
                <a:cs typeface="Segoe UI" pitchFamily="34" charset="-120"/>
              </a:rPr>
              <a:t>For browser plugins, etc.</a:t>
            </a:r>
            <a:endParaRPr lang="en-US" sz="788" dirty="0"/>
          </a:p>
        </p:txBody>
      </p:sp>
      <p:sp>
        <p:nvSpPr>
          <p:cNvPr id="53" name="Text 42"/>
          <p:cNvSpPr/>
          <p:nvPr/>
        </p:nvSpPr>
        <p:spPr>
          <a:xfrm>
            <a:off x="4857750" y="5400675"/>
            <a:ext cx="3729038" cy="285750"/>
          </a:xfrm>
          <a:prstGeom prst="rect">
            <a:avLst/>
          </a:prstGeom>
          <a:noFill/>
          <a:ln/>
        </p:spPr>
        <p:txBody>
          <a:bodyPr wrap="square" lIns="0" tIns="0" rIns="0" bIns="0" rtlCol="0" anchor="ctr">
            <a:spAutoFit/>
          </a:bodyPr>
          <a:lstStyle/>
          <a:p>
            <a:pPr indent="0" marL="0">
              <a:buNone/>
            </a:pPr>
            <a:r>
              <a:rPr lang="en-US" sz="788" i="1" dirty="0">
                <a:solidFill>
                  <a:srgbClr val="BFDBFE"/>
                </a:solidFill>
                <a:latin typeface="Segoe UI" pitchFamily="34" charset="0"/>
                <a:ea typeface="Segoe UI" pitchFamily="34" charset="-122"/>
                <a:cs typeface="Segoe UI" pitchFamily="34" charset="-120"/>
              </a:rPr>
              <a:t>End users who only want to run Java applications need only the JRE, not the full JDK.</a:t>
            </a:r>
            <a:endParaRPr lang="en-US" sz="788" dirty="0"/>
          </a:p>
        </p:txBody>
      </p:sp>
      <p:sp>
        <p:nvSpPr>
          <p:cNvPr id="54" name="Shape 43"/>
          <p:cNvSpPr/>
          <p:nvPr/>
        </p:nvSpPr>
        <p:spPr>
          <a:xfrm>
            <a:off x="4686300" y="6029325"/>
            <a:ext cx="4000500" cy="2614613"/>
          </a:xfrm>
          <a:prstGeom prst="rect">
            <a:avLst/>
          </a:prstGeom>
          <a:solidFill>
            <a:srgbClr val="FFFFFF">
              <a:alpha val="10000"/>
            </a:srgbClr>
          </a:solidFill>
          <a:ln w="99">
            <a:solidFill>
              <a:srgbClr val="60A5FA">
                <a:alpha val="30000"/>
              </a:srgbClr>
            </a:solidFill>
            <a:prstDash val="solid"/>
          </a:ln>
        </p:spPr>
      </p:sp>
      <p:sp>
        <p:nvSpPr>
          <p:cNvPr id="55" name="Text 44"/>
          <p:cNvSpPr/>
          <p:nvPr/>
        </p:nvSpPr>
        <p:spPr>
          <a:xfrm>
            <a:off x="4857750" y="6200775"/>
            <a:ext cx="3729038" cy="228600"/>
          </a:xfrm>
          <a:prstGeom prst="rect">
            <a:avLst/>
          </a:prstGeom>
          <a:noFill/>
          <a:ln/>
        </p:spPr>
        <p:txBody>
          <a:bodyPr wrap="square" lIns="0" tIns="0" rIns="0" bIns="0" rtlCol="0" anchor="ctr">
            <a:spAutoFit/>
          </a:bodyPr>
          <a:lstStyle/>
          <a:p>
            <a:pPr indent="0" marL="0">
              <a:buNone/>
            </a:pPr>
            <a:r>
              <a:rPr lang="en-US" sz="1350" b="1" dirty="0">
                <a:solidFill>
                  <a:srgbClr val="BFDBFE"/>
                </a:solidFill>
                <a:latin typeface="Segoe UI" pitchFamily="34" charset="0"/>
                <a:ea typeface="Segoe UI" pitchFamily="34" charset="-122"/>
                <a:cs typeface="Segoe UI" pitchFamily="34" charset="-120"/>
              </a:rPr>
              <a:t>Java Virtual Machine (JVM)</a:t>
            </a:r>
            <a:endParaRPr lang="en-US" sz="1350" dirty="0"/>
          </a:p>
        </p:txBody>
      </p:sp>
      <p:sp>
        <p:nvSpPr>
          <p:cNvPr id="56" name="Text 45"/>
          <p:cNvSpPr/>
          <p:nvPr/>
        </p:nvSpPr>
        <p:spPr>
          <a:xfrm>
            <a:off x="4857750" y="6543675"/>
            <a:ext cx="3729038" cy="342900"/>
          </a:xfrm>
          <a:prstGeom prst="rect">
            <a:avLst/>
          </a:prstGeom>
          <a:noFill/>
          <a:ln/>
        </p:spPr>
        <p:txBody>
          <a:bodyPr wrap="square" lIns="0" tIns="0" rIns="0" bIns="0" rtlCol="0" anchor="ctr">
            <a:spAutoFit/>
          </a:bodyPr>
          <a:lstStyle/>
          <a:p>
            <a:pPr indent="0" marL="0">
              <a:buNone/>
            </a:pPr>
            <a:r>
              <a:rPr lang="en-US" sz="900" dirty="0">
                <a:solidFill>
                  <a:srgbClr val="F1F5F9"/>
                </a:solidFill>
                <a:latin typeface="Segoe UI" pitchFamily="34" charset="0"/>
                <a:ea typeface="Segoe UI" pitchFamily="34" charset="-122"/>
                <a:cs typeface="Segoe UI" pitchFamily="34" charset="-120"/>
              </a:rPr>
              <a:t>The JVM is an abstract computing machine that enables a computer to run Java programs.</a:t>
            </a:r>
            <a:endParaRPr lang="en-US" sz="900" dirty="0"/>
          </a:p>
        </p:txBody>
      </p:sp>
      <p:sp>
        <p:nvSpPr>
          <p:cNvPr id="57" name="Shape 46"/>
          <p:cNvSpPr/>
          <p:nvPr/>
        </p:nvSpPr>
        <p:spPr>
          <a:xfrm>
            <a:off x="4857750" y="7000875"/>
            <a:ext cx="3657600" cy="1057275"/>
          </a:xfrm>
          <a:prstGeom prst="rect">
            <a:avLst/>
          </a:prstGeom>
          <a:solidFill>
            <a:srgbClr val="1E3A8A">
              <a:alpha val="30000"/>
            </a:srgbClr>
          </a:solidFill>
          <a:ln/>
        </p:spPr>
      </p:sp>
      <p:sp>
        <p:nvSpPr>
          <p:cNvPr id="58" name="Shape 47"/>
          <p:cNvSpPr/>
          <p:nvPr/>
        </p:nvSpPr>
        <p:spPr>
          <a:xfrm>
            <a:off x="4857750" y="7000875"/>
            <a:ext cx="28575" cy="1057275"/>
          </a:xfrm>
          <a:prstGeom prst="rect">
            <a:avLst/>
          </a:prstGeom>
          <a:solidFill>
            <a:srgbClr val="60A5FA"/>
          </a:solidFill>
          <a:ln/>
        </p:spPr>
      </p:sp>
      <p:sp>
        <p:nvSpPr>
          <p:cNvPr id="59" name="Text 48"/>
          <p:cNvSpPr/>
          <p:nvPr/>
        </p:nvSpPr>
        <p:spPr>
          <a:xfrm>
            <a:off x="4972050" y="7086600"/>
            <a:ext cx="3614738" cy="200025"/>
          </a:xfrm>
          <a:prstGeom prst="rect">
            <a:avLst/>
          </a:prstGeom>
          <a:noFill/>
          <a:ln/>
        </p:spPr>
        <p:txBody>
          <a:bodyPr wrap="square" lIns="0" tIns="0" rIns="0" bIns="0" rtlCol="0" anchor="ctr">
            <a:spAutoFit/>
          </a:bodyPr>
          <a:lstStyle/>
          <a:p>
            <a:pPr indent="0" marL="0">
              <a:buNone/>
            </a:pPr>
            <a:r>
              <a:rPr lang="en-US" sz="1125" b="1" dirty="0">
                <a:solidFill>
                  <a:srgbClr val="F1F5F9"/>
                </a:solidFill>
                <a:latin typeface="Segoe UI" pitchFamily="34" charset="0"/>
                <a:ea typeface="Segoe UI" pitchFamily="34" charset="-122"/>
                <a:cs typeface="Segoe UI" pitchFamily="34" charset="-120"/>
              </a:rPr>
              <a:t>Key Functions</a:t>
            </a:r>
            <a:endParaRPr lang="en-US" sz="1125" dirty="0"/>
          </a:p>
        </p:txBody>
      </p:sp>
      <p:pic>
        <p:nvPicPr>
          <p:cNvPr id="60" name="Image 9" descr="preencoded.png">    </p:cNvPr>
          <p:cNvPicPr>
            <a:picLocks noChangeAspect="1"/>
          </p:cNvPicPr>
          <p:nvPr/>
        </p:nvPicPr>
        <p:blipFill>
          <a:blip r:embed="rId10"/>
          <a:stretch>
            <a:fillRect/>
          </a:stretch>
        </p:blipFill>
        <p:spPr>
          <a:xfrm>
            <a:off x="4972050" y="7343775"/>
            <a:ext cx="100013" cy="100013"/>
          </a:xfrm>
          <a:prstGeom prst="rect">
            <a:avLst/>
          </a:prstGeom>
        </p:spPr>
      </p:pic>
      <p:sp>
        <p:nvSpPr>
          <p:cNvPr id="61" name="Text 49"/>
          <p:cNvSpPr/>
          <p:nvPr/>
        </p:nvSpPr>
        <p:spPr>
          <a:xfrm>
            <a:off x="5129213" y="7329488"/>
            <a:ext cx="949644" cy="112514"/>
          </a:xfrm>
          <a:prstGeom prst="rect">
            <a:avLst/>
          </a:prstGeom>
          <a:noFill/>
          <a:ln/>
        </p:spPr>
        <p:txBody>
          <a:bodyPr wrap="none" lIns="0" tIns="0" rIns="0" bIns="0" rtlCol="0" anchor="ctr">
            <a:spAutoFit/>
          </a:bodyPr>
          <a:lstStyle/>
          <a:p>
            <a:pPr algn="l" indent="0" marL="0">
              <a:buNone/>
            </a:pPr>
            <a:r>
              <a:rPr lang="en-US" sz="788" b="1" dirty="0">
                <a:solidFill>
                  <a:srgbClr val="60A5FA"/>
                </a:solidFill>
                <a:latin typeface="Segoe UI" pitchFamily="34" charset="0"/>
                <a:ea typeface="Segoe UI" pitchFamily="34" charset="-122"/>
                <a:cs typeface="Segoe UI" pitchFamily="34" charset="-120"/>
              </a:rPr>
              <a:t>Loads and verifies</a:t>
            </a:r>
            <a:endParaRPr lang="en-US" sz="788" dirty="0"/>
          </a:p>
        </p:txBody>
      </p:sp>
      <p:sp>
        <p:nvSpPr>
          <p:cNvPr id="62" name="Text 50"/>
          <p:cNvSpPr/>
          <p:nvPr/>
        </p:nvSpPr>
        <p:spPr>
          <a:xfrm>
            <a:off x="6007419" y="7329488"/>
            <a:ext cx="532740" cy="112514"/>
          </a:xfrm>
          <a:prstGeom prst="rect">
            <a:avLst/>
          </a:prstGeom>
          <a:noFill/>
          <a:ln/>
        </p:spPr>
        <p:txBody>
          <a:bodyPr wrap="none" lIns="0" tIns="0" rIns="0" bIns="0" rtlCol="0" anchor="ctr">
            <a:spAutoFit/>
          </a:bodyPr>
          <a:lstStyle/>
          <a:p>
            <a:pPr algn="l" indent="0" marL="0">
              <a:buNone/>
            </a:pPr>
            <a:r>
              <a:rPr lang="en-US" sz="788" dirty="0">
                <a:solidFill>
                  <a:srgbClr val="F1F5F9"/>
                </a:solidFill>
                <a:latin typeface="Segoe UI" pitchFamily="34" charset="0"/>
                <a:ea typeface="Segoe UI" pitchFamily="34" charset="-122"/>
                <a:cs typeface="Segoe UI" pitchFamily="34" charset="-120"/>
              </a:rPr>
              <a:t>class files</a:t>
            </a:r>
            <a:endParaRPr lang="en-US" sz="788" dirty="0"/>
          </a:p>
        </p:txBody>
      </p:sp>
      <p:pic>
        <p:nvPicPr>
          <p:cNvPr id="63" name="Image 10" descr="preencoded.png">    </p:cNvPr>
          <p:cNvPicPr>
            <a:picLocks noChangeAspect="1"/>
          </p:cNvPicPr>
          <p:nvPr/>
        </p:nvPicPr>
        <p:blipFill>
          <a:blip r:embed="rId11"/>
          <a:stretch>
            <a:fillRect/>
          </a:stretch>
        </p:blipFill>
        <p:spPr>
          <a:xfrm>
            <a:off x="4972050" y="7515225"/>
            <a:ext cx="100013" cy="100013"/>
          </a:xfrm>
          <a:prstGeom prst="rect">
            <a:avLst/>
          </a:prstGeom>
        </p:spPr>
      </p:pic>
      <p:sp>
        <p:nvSpPr>
          <p:cNvPr id="64" name="Text 51"/>
          <p:cNvSpPr/>
          <p:nvPr/>
        </p:nvSpPr>
        <p:spPr>
          <a:xfrm>
            <a:off x="5129213" y="7500938"/>
            <a:ext cx="999595" cy="112514"/>
          </a:xfrm>
          <a:prstGeom prst="rect">
            <a:avLst/>
          </a:prstGeom>
          <a:noFill/>
          <a:ln/>
        </p:spPr>
        <p:txBody>
          <a:bodyPr wrap="none" lIns="0" tIns="0" rIns="0" bIns="0" rtlCol="0" anchor="ctr">
            <a:spAutoFit/>
          </a:bodyPr>
          <a:lstStyle/>
          <a:p>
            <a:pPr algn="l" indent="0" marL="0">
              <a:buNone/>
            </a:pPr>
            <a:r>
              <a:rPr lang="en-US" sz="788" b="1" dirty="0">
                <a:solidFill>
                  <a:srgbClr val="60A5FA"/>
                </a:solidFill>
                <a:latin typeface="Segoe UI" pitchFamily="34" charset="0"/>
                <a:ea typeface="Segoe UI" pitchFamily="34" charset="-122"/>
                <a:cs typeface="Segoe UI" pitchFamily="34" charset="-120"/>
              </a:rPr>
              <a:t>Interprets bytecode</a:t>
            </a:r>
            <a:endParaRPr lang="en-US" sz="788" dirty="0"/>
          </a:p>
        </p:txBody>
      </p:sp>
      <p:sp>
        <p:nvSpPr>
          <p:cNvPr id="65" name="Text 52"/>
          <p:cNvSpPr/>
          <p:nvPr/>
        </p:nvSpPr>
        <p:spPr>
          <a:xfrm>
            <a:off x="6057370" y="7500938"/>
            <a:ext cx="910968" cy="112514"/>
          </a:xfrm>
          <a:prstGeom prst="rect">
            <a:avLst/>
          </a:prstGeom>
          <a:noFill/>
          <a:ln/>
        </p:spPr>
        <p:txBody>
          <a:bodyPr wrap="none" lIns="0" tIns="0" rIns="0" bIns="0" rtlCol="0" anchor="ctr">
            <a:spAutoFit/>
          </a:bodyPr>
          <a:lstStyle/>
          <a:p>
            <a:pPr algn="l" indent="0" marL="0">
              <a:buNone/>
            </a:pPr>
            <a:r>
              <a:rPr lang="en-US" sz="788" dirty="0">
                <a:solidFill>
                  <a:srgbClr val="F1F5F9"/>
                </a:solidFill>
                <a:latin typeface="Segoe UI" pitchFamily="34" charset="0"/>
                <a:ea typeface="Segoe UI" pitchFamily="34" charset="-122"/>
                <a:cs typeface="Segoe UI" pitchFamily="34" charset="-120"/>
              </a:rPr>
              <a:t>into machine code</a:t>
            </a:r>
            <a:endParaRPr lang="en-US" sz="788" dirty="0"/>
          </a:p>
        </p:txBody>
      </p:sp>
      <p:pic>
        <p:nvPicPr>
          <p:cNvPr id="66" name="Image 11" descr="preencoded.png">    </p:cNvPr>
          <p:cNvPicPr>
            <a:picLocks noChangeAspect="1"/>
          </p:cNvPicPr>
          <p:nvPr/>
        </p:nvPicPr>
        <p:blipFill>
          <a:blip r:embed="rId12"/>
          <a:stretch>
            <a:fillRect/>
          </a:stretch>
        </p:blipFill>
        <p:spPr>
          <a:xfrm>
            <a:off x="4972050" y="7686675"/>
            <a:ext cx="100013" cy="100013"/>
          </a:xfrm>
          <a:prstGeom prst="rect">
            <a:avLst/>
          </a:prstGeom>
        </p:spPr>
      </p:pic>
      <p:sp>
        <p:nvSpPr>
          <p:cNvPr id="67" name="Text 53"/>
          <p:cNvSpPr/>
          <p:nvPr/>
        </p:nvSpPr>
        <p:spPr>
          <a:xfrm>
            <a:off x="5129213" y="7672388"/>
            <a:ext cx="510667" cy="112514"/>
          </a:xfrm>
          <a:prstGeom prst="rect">
            <a:avLst/>
          </a:prstGeom>
          <a:noFill/>
          <a:ln/>
        </p:spPr>
        <p:txBody>
          <a:bodyPr wrap="none" lIns="0" tIns="0" rIns="0" bIns="0" rtlCol="0" anchor="ctr">
            <a:spAutoFit/>
          </a:bodyPr>
          <a:lstStyle/>
          <a:p>
            <a:pPr algn="l" indent="0" marL="0">
              <a:buNone/>
            </a:pPr>
            <a:r>
              <a:rPr lang="en-US" sz="788" dirty="0">
                <a:solidFill>
                  <a:srgbClr val="F1F5F9"/>
                </a:solidFill>
                <a:latin typeface="Segoe UI" pitchFamily="34" charset="0"/>
                <a:ea typeface="Segoe UI" pitchFamily="34" charset="-122"/>
                <a:cs typeface="Segoe UI" pitchFamily="34" charset="-120"/>
              </a:rPr>
              <a:t>Manages</a:t>
            </a:r>
            <a:endParaRPr lang="en-US" sz="788" dirty="0"/>
          </a:p>
        </p:txBody>
      </p:sp>
      <p:sp>
        <p:nvSpPr>
          <p:cNvPr id="68" name="Text 54"/>
          <p:cNvSpPr/>
          <p:nvPr/>
        </p:nvSpPr>
        <p:spPr>
          <a:xfrm>
            <a:off x="5568442" y="7672388"/>
            <a:ext cx="955142" cy="112514"/>
          </a:xfrm>
          <a:prstGeom prst="rect">
            <a:avLst/>
          </a:prstGeom>
          <a:noFill/>
          <a:ln/>
        </p:spPr>
        <p:txBody>
          <a:bodyPr wrap="none" lIns="0" tIns="0" rIns="0" bIns="0" rtlCol="0" anchor="ctr">
            <a:spAutoFit/>
          </a:bodyPr>
          <a:lstStyle/>
          <a:p>
            <a:pPr algn="l" indent="0" marL="0">
              <a:buNone/>
            </a:pPr>
            <a:r>
              <a:rPr lang="en-US" sz="788" b="1" dirty="0">
                <a:solidFill>
                  <a:srgbClr val="60A5FA"/>
                </a:solidFill>
                <a:latin typeface="Segoe UI" pitchFamily="34" charset="0"/>
                <a:ea typeface="Segoe UI" pitchFamily="34" charset="-122"/>
                <a:cs typeface="Segoe UI" pitchFamily="34" charset="-120"/>
              </a:rPr>
              <a:t>memory allocation</a:t>
            </a:r>
            <a:endParaRPr lang="en-US" sz="788" dirty="0"/>
          </a:p>
        </p:txBody>
      </p:sp>
      <p:sp>
        <p:nvSpPr>
          <p:cNvPr id="69" name="Text 55"/>
          <p:cNvSpPr/>
          <p:nvPr/>
        </p:nvSpPr>
        <p:spPr>
          <a:xfrm>
            <a:off x="6452146" y="7672388"/>
            <a:ext cx="1105663" cy="112514"/>
          </a:xfrm>
          <a:prstGeom prst="rect">
            <a:avLst/>
          </a:prstGeom>
          <a:noFill/>
          <a:ln/>
        </p:spPr>
        <p:txBody>
          <a:bodyPr wrap="none" lIns="0" tIns="0" rIns="0" bIns="0" rtlCol="0" anchor="ctr">
            <a:spAutoFit/>
          </a:bodyPr>
          <a:lstStyle/>
          <a:p>
            <a:pPr algn="l" indent="0" marL="0">
              <a:buNone/>
            </a:pPr>
            <a:r>
              <a:rPr lang="en-US" sz="788" dirty="0">
                <a:solidFill>
                  <a:srgbClr val="F1F5F9"/>
                </a:solidFill>
                <a:latin typeface="Segoe UI" pitchFamily="34" charset="0"/>
                <a:ea typeface="Segoe UI" pitchFamily="34" charset="-122"/>
                <a:cs typeface="Segoe UI" pitchFamily="34" charset="-120"/>
              </a:rPr>
              <a:t>and garbage collection</a:t>
            </a:r>
            <a:endParaRPr lang="en-US" sz="788" dirty="0"/>
          </a:p>
        </p:txBody>
      </p:sp>
      <p:pic>
        <p:nvPicPr>
          <p:cNvPr id="70" name="Image 12" descr="preencoded.png">    </p:cNvPr>
          <p:cNvPicPr>
            <a:picLocks noChangeAspect="1"/>
          </p:cNvPicPr>
          <p:nvPr/>
        </p:nvPicPr>
        <p:blipFill>
          <a:blip r:embed="rId13"/>
          <a:stretch>
            <a:fillRect/>
          </a:stretch>
        </p:blipFill>
        <p:spPr>
          <a:xfrm>
            <a:off x="4972050" y="7858125"/>
            <a:ext cx="100013" cy="100013"/>
          </a:xfrm>
          <a:prstGeom prst="rect">
            <a:avLst/>
          </a:prstGeom>
        </p:spPr>
      </p:pic>
      <p:sp>
        <p:nvSpPr>
          <p:cNvPr id="71" name="Text 56"/>
          <p:cNvSpPr/>
          <p:nvPr/>
        </p:nvSpPr>
        <p:spPr>
          <a:xfrm>
            <a:off x="5129213" y="7843838"/>
            <a:ext cx="488342" cy="112514"/>
          </a:xfrm>
          <a:prstGeom prst="rect">
            <a:avLst/>
          </a:prstGeom>
          <a:noFill/>
          <a:ln/>
        </p:spPr>
        <p:txBody>
          <a:bodyPr wrap="none" lIns="0" tIns="0" rIns="0" bIns="0" rtlCol="0" anchor="ctr">
            <a:spAutoFit/>
          </a:bodyPr>
          <a:lstStyle/>
          <a:p>
            <a:pPr algn="l" indent="0" marL="0">
              <a:buNone/>
            </a:pPr>
            <a:r>
              <a:rPr lang="en-US" sz="788" dirty="0">
                <a:solidFill>
                  <a:srgbClr val="F1F5F9"/>
                </a:solidFill>
                <a:latin typeface="Segoe UI" pitchFamily="34" charset="0"/>
                <a:ea typeface="Segoe UI" pitchFamily="34" charset="-122"/>
                <a:cs typeface="Segoe UI" pitchFamily="34" charset="-120"/>
              </a:rPr>
              <a:t>Provides</a:t>
            </a:r>
            <a:endParaRPr lang="en-US" sz="788" dirty="0"/>
          </a:p>
        </p:txBody>
      </p:sp>
      <p:sp>
        <p:nvSpPr>
          <p:cNvPr id="72" name="Text 57"/>
          <p:cNvSpPr/>
          <p:nvPr/>
        </p:nvSpPr>
        <p:spPr>
          <a:xfrm>
            <a:off x="5546117" y="7843838"/>
            <a:ext cx="455051" cy="112514"/>
          </a:xfrm>
          <a:prstGeom prst="rect">
            <a:avLst/>
          </a:prstGeom>
          <a:noFill/>
          <a:ln/>
        </p:spPr>
        <p:txBody>
          <a:bodyPr wrap="none" lIns="0" tIns="0" rIns="0" bIns="0" rtlCol="0" anchor="ctr">
            <a:spAutoFit/>
          </a:bodyPr>
          <a:lstStyle/>
          <a:p>
            <a:pPr algn="l" indent="0" marL="0">
              <a:buNone/>
            </a:pPr>
            <a:r>
              <a:rPr lang="en-US" sz="788" b="1" dirty="0">
                <a:solidFill>
                  <a:srgbClr val="60A5FA"/>
                </a:solidFill>
                <a:latin typeface="Segoe UI" pitchFamily="34" charset="0"/>
                <a:ea typeface="Segoe UI" pitchFamily="34" charset="-122"/>
                <a:cs typeface="Segoe UI" pitchFamily="34" charset="-120"/>
              </a:rPr>
              <a:t>security</a:t>
            </a:r>
            <a:endParaRPr lang="en-US" sz="788" dirty="0"/>
          </a:p>
        </p:txBody>
      </p:sp>
      <p:sp>
        <p:nvSpPr>
          <p:cNvPr id="73" name="Text 58"/>
          <p:cNvSpPr/>
          <p:nvPr/>
        </p:nvSpPr>
        <p:spPr>
          <a:xfrm>
            <a:off x="5929731" y="7843838"/>
            <a:ext cx="660825" cy="112514"/>
          </a:xfrm>
          <a:prstGeom prst="rect">
            <a:avLst/>
          </a:prstGeom>
          <a:noFill/>
          <a:ln/>
        </p:spPr>
        <p:txBody>
          <a:bodyPr wrap="none" lIns="0" tIns="0" rIns="0" bIns="0" rtlCol="0" anchor="ctr">
            <a:spAutoFit/>
          </a:bodyPr>
          <a:lstStyle/>
          <a:p>
            <a:pPr algn="l" indent="0" marL="0">
              <a:buNone/>
            </a:pPr>
            <a:r>
              <a:rPr lang="en-US" sz="788" dirty="0">
                <a:solidFill>
                  <a:srgbClr val="F1F5F9"/>
                </a:solidFill>
                <a:latin typeface="Segoe UI" pitchFamily="34" charset="0"/>
                <a:ea typeface="Segoe UI" pitchFamily="34" charset="-122"/>
                <a:cs typeface="Segoe UI" pitchFamily="34" charset="-120"/>
              </a:rPr>
              <a:t>and isolation</a:t>
            </a:r>
            <a:endParaRPr lang="en-US" sz="788" dirty="0"/>
          </a:p>
        </p:txBody>
      </p:sp>
      <p:sp>
        <p:nvSpPr>
          <p:cNvPr id="74" name="Text 59"/>
          <p:cNvSpPr/>
          <p:nvPr/>
        </p:nvSpPr>
        <p:spPr>
          <a:xfrm>
            <a:off x="4857750" y="8172450"/>
            <a:ext cx="3729038" cy="285750"/>
          </a:xfrm>
          <a:prstGeom prst="rect">
            <a:avLst/>
          </a:prstGeom>
          <a:noFill/>
          <a:ln/>
        </p:spPr>
        <p:txBody>
          <a:bodyPr wrap="square" lIns="0" tIns="0" rIns="0" bIns="0" rtlCol="0" anchor="ctr">
            <a:spAutoFit/>
          </a:bodyPr>
          <a:lstStyle/>
          <a:p>
            <a:pPr indent="0" marL="0">
              <a:buNone/>
            </a:pPr>
            <a:r>
              <a:rPr lang="en-US" sz="788" i="1" dirty="0">
                <a:solidFill>
                  <a:srgbClr val="BFDBFE"/>
                </a:solidFill>
                <a:latin typeface="Segoe UI" pitchFamily="34" charset="0"/>
                <a:ea typeface="Segoe UI" pitchFamily="34" charset="-122"/>
                <a:cs typeface="Segoe UI" pitchFamily="34" charset="-120"/>
              </a:rPr>
              <a:t>The JVM is platform-specific but provides a consistent environment for Java bytecode.</a:t>
            </a:r>
            <a:endParaRPr lang="en-US" sz="788" dirty="0"/>
          </a:p>
        </p:txBody>
      </p:sp>
      <p:sp>
        <p:nvSpPr>
          <p:cNvPr id="75" name="Shape 60"/>
          <p:cNvSpPr/>
          <p:nvPr/>
        </p:nvSpPr>
        <p:spPr>
          <a:xfrm>
            <a:off x="457200" y="8858250"/>
            <a:ext cx="8229600" cy="2185988"/>
          </a:xfrm>
          <a:prstGeom prst="rect">
            <a:avLst/>
          </a:prstGeom>
          <a:solidFill>
            <a:srgbClr val="FFFFFF">
              <a:alpha val="10000"/>
            </a:srgbClr>
          </a:solidFill>
          <a:ln w="99">
            <a:solidFill>
              <a:srgbClr val="60A5FA">
                <a:alpha val="30000"/>
              </a:srgbClr>
            </a:solidFill>
            <a:prstDash val="solid"/>
          </a:ln>
        </p:spPr>
      </p:sp>
      <p:sp>
        <p:nvSpPr>
          <p:cNvPr id="76" name="Text 61"/>
          <p:cNvSpPr/>
          <p:nvPr/>
        </p:nvSpPr>
        <p:spPr>
          <a:xfrm>
            <a:off x="628650" y="9029700"/>
            <a:ext cx="7958138" cy="228600"/>
          </a:xfrm>
          <a:prstGeom prst="rect">
            <a:avLst/>
          </a:prstGeom>
          <a:noFill/>
          <a:ln/>
        </p:spPr>
        <p:txBody>
          <a:bodyPr wrap="square" lIns="0" tIns="0" rIns="0" bIns="0" rtlCol="0" anchor="ctr">
            <a:spAutoFit/>
          </a:bodyPr>
          <a:lstStyle/>
          <a:p>
            <a:pPr indent="0" marL="0">
              <a:buNone/>
            </a:pPr>
            <a:r>
              <a:rPr lang="en-US" sz="1350" b="1" dirty="0">
                <a:solidFill>
                  <a:srgbClr val="BFDBFE"/>
                </a:solidFill>
                <a:latin typeface="Segoe UI" pitchFamily="34" charset="0"/>
                <a:ea typeface="Segoe UI" pitchFamily="34" charset="-122"/>
                <a:cs typeface="Segoe UI" pitchFamily="34" charset="-120"/>
              </a:rPr>
              <a:t>JDK Versions</a:t>
            </a:r>
            <a:endParaRPr lang="en-US" sz="1350" dirty="0"/>
          </a:p>
        </p:txBody>
      </p:sp>
      <p:sp>
        <p:nvSpPr>
          <p:cNvPr id="77" name="Shape 62"/>
          <p:cNvSpPr/>
          <p:nvPr/>
        </p:nvSpPr>
        <p:spPr>
          <a:xfrm>
            <a:off x="628650" y="9372600"/>
            <a:ext cx="2514600" cy="914400"/>
          </a:xfrm>
          <a:prstGeom prst="rect">
            <a:avLst/>
          </a:prstGeom>
          <a:solidFill>
            <a:srgbClr val="1E3A8A">
              <a:alpha val="30000"/>
            </a:srgbClr>
          </a:solidFill>
          <a:ln/>
        </p:spPr>
      </p:sp>
      <p:sp>
        <p:nvSpPr>
          <p:cNvPr id="78" name="Text 63"/>
          <p:cNvSpPr/>
          <p:nvPr/>
        </p:nvSpPr>
        <p:spPr>
          <a:xfrm>
            <a:off x="742950" y="9486900"/>
            <a:ext cx="2357438" cy="200025"/>
          </a:xfrm>
          <a:prstGeom prst="rect">
            <a:avLst/>
          </a:prstGeom>
          <a:noFill/>
          <a:ln/>
        </p:spPr>
        <p:txBody>
          <a:bodyPr wrap="square" lIns="0" tIns="0" rIns="0" bIns="0" rtlCol="0" anchor="ctr">
            <a:spAutoFit/>
          </a:bodyPr>
          <a:lstStyle/>
          <a:p>
            <a:pPr indent="0" marL="0">
              <a:buNone/>
            </a:pPr>
            <a:r>
              <a:rPr lang="en-US" sz="1125" b="1" dirty="0">
                <a:solidFill>
                  <a:srgbClr val="F1F5F9"/>
                </a:solidFill>
                <a:latin typeface="Segoe UI" pitchFamily="34" charset="0"/>
                <a:ea typeface="Segoe UI" pitchFamily="34" charset="-122"/>
                <a:cs typeface="Segoe UI" pitchFamily="34" charset="-120"/>
              </a:rPr>
              <a:t>Standard Edition (SE)</a:t>
            </a:r>
            <a:endParaRPr lang="en-US" sz="1125" dirty="0"/>
          </a:p>
        </p:txBody>
      </p:sp>
      <p:sp>
        <p:nvSpPr>
          <p:cNvPr id="79" name="Text 64"/>
          <p:cNvSpPr/>
          <p:nvPr/>
        </p:nvSpPr>
        <p:spPr>
          <a:xfrm>
            <a:off x="742950" y="9744075"/>
            <a:ext cx="2357438" cy="285750"/>
          </a:xfrm>
          <a:prstGeom prst="rect">
            <a:avLst/>
          </a:prstGeom>
          <a:noFill/>
          <a:ln/>
        </p:spPr>
        <p:txBody>
          <a:bodyPr wrap="square" lIns="0" tIns="0" rIns="0" bIns="0" rtlCol="0" anchor="ctr">
            <a:spAutoFit/>
          </a:bodyPr>
          <a:lstStyle/>
          <a:p>
            <a:pPr indent="0" marL="0">
              <a:buNone/>
            </a:pPr>
            <a:r>
              <a:rPr lang="en-US" sz="788" dirty="0">
                <a:solidFill>
                  <a:srgbClr val="F1F5F9"/>
                </a:solidFill>
                <a:latin typeface="Segoe UI" pitchFamily="34" charset="0"/>
                <a:ea typeface="Segoe UI" pitchFamily="34" charset="-122"/>
                <a:cs typeface="Segoe UI" pitchFamily="34" charset="-120"/>
              </a:rPr>
              <a:t>Core platform for desktop and server applications. Contains the essential libraries and APIs.</a:t>
            </a:r>
            <a:endParaRPr lang="en-US" sz="788" dirty="0"/>
          </a:p>
        </p:txBody>
      </p:sp>
      <p:sp>
        <p:nvSpPr>
          <p:cNvPr id="80" name="Shape 65"/>
          <p:cNvSpPr/>
          <p:nvPr/>
        </p:nvSpPr>
        <p:spPr>
          <a:xfrm>
            <a:off x="3314700" y="9372600"/>
            <a:ext cx="2514600" cy="914400"/>
          </a:xfrm>
          <a:prstGeom prst="rect">
            <a:avLst/>
          </a:prstGeom>
          <a:solidFill>
            <a:srgbClr val="1E3A8A">
              <a:alpha val="30000"/>
            </a:srgbClr>
          </a:solidFill>
          <a:ln/>
        </p:spPr>
      </p:sp>
      <p:sp>
        <p:nvSpPr>
          <p:cNvPr id="81" name="Text 66"/>
          <p:cNvSpPr/>
          <p:nvPr/>
        </p:nvSpPr>
        <p:spPr>
          <a:xfrm>
            <a:off x="3429000" y="9486900"/>
            <a:ext cx="2357438" cy="200025"/>
          </a:xfrm>
          <a:prstGeom prst="rect">
            <a:avLst/>
          </a:prstGeom>
          <a:noFill/>
          <a:ln/>
        </p:spPr>
        <p:txBody>
          <a:bodyPr wrap="square" lIns="0" tIns="0" rIns="0" bIns="0" rtlCol="0" anchor="ctr">
            <a:spAutoFit/>
          </a:bodyPr>
          <a:lstStyle/>
          <a:p>
            <a:pPr indent="0" marL="0">
              <a:buNone/>
            </a:pPr>
            <a:r>
              <a:rPr lang="en-US" sz="1125" b="1" dirty="0">
                <a:solidFill>
                  <a:srgbClr val="F1F5F9"/>
                </a:solidFill>
                <a:latin typeface="Segoe UI" pitchFamily="34" charset="0"/>
                <a:ea typeface="Segoe UI" pitchFamily="34" charset="-122"/>
                <a:cs typeface="Segoe UI" pitchFamily="34" charset="-120"/>
              </a:rPr>
              <a:t>Enterprise Edition (EE)</a:t>
            </a:r>
            <a:endParaRPr lang="en-US" sz="1125" dirty="0"/>
          </a:p>
        </p:txBody>
      </p:sp>
      <p:sp>
        <p:nvSpPr>
          <p:cNvPr id="82" name="Text 67"/>
          <p:cNvSpPr/>
          <p:nvPr/>
        </p:nvSpPr>
        <p:spPr>
          <a:xfrm>
            <a:off x="3429000" y="9744075"/>
            <a:ext cx="2357438" cy="428625"/>
          </a:xfrm>
          <a:prstGeom prst="rect">
            <a:avLst/>
          </a:prstGeom>
          <a:noFill/>
          <a:ln/>
        </p:spPr>
        <p:txBody>
          <a:bodyPr wrap="square" lIns="0" tIns="0" rIns="0" bIns="0" rtlCol="0" anchor="ctr">
            <a:spAutoFit/>
          </a:bodyPr>
          <a:lstStyle/>
          <a:p>
            <a:pPr indent="0" marL="0">
              <a:buNone/>
            </a:pPr>
            <a:r>
              <a:rPr lang="en-US" sz="788" dirty="0">
                <a:solidFill>
                  <a:srgbClr val="F1F5F9"/>
                </a:solidFill>
                <a:latin typeface="Segoe UI" pitchFamily="34" charset="0"/>
                <a:ea typeface="Segoe UI" pitchFamily="34" charset="-122"/>
                <a:cs typeface="Segoe UI" pitchFamily="34" charset="-120"/>
              </a:rPr>
              <a:t>Built on SE, adds libraries for large-scale, multi-tiered, scalable, reliable, and secure network applications.</a:t>
            </a:r>
            <a:endParaRPr lang="en-US" sz="788" dirty="0"/>
          </a:p>
        </p:txBody>
      </p:sp>
      <p:sp>
        <p:nvSpPr>
          <p:cNvPr id="83" name="Shape 68"/>
          <p:cNvSpPr/>
          <p:nvPr/>
        </p:nvSpPr>
        <p:spPr>
          <a:xfrm>
            <a:off x="6000750" y="9372600"/>
            <a:ext cx="2514600" cy="914400"/>
          </a:xfrm>
          <a:prstGeom prst="rect">
            <a:avLst/>
          </a:prstGeom>
          <a:solidFill>
            <a:srgbClr val="1E3A8A">
              <a:alpha val="30000"/>
            </a:srgbClr>
          </a:solidFill>
          <a:ln/>
        </p:spPr>
      </p:sp>
      <p:sp>
        <p:nvSpPr>
          <p:cNvPr id="84" name="Text 69"/>
          <p:cNvSpPr/>
          <p:nvPr/>
        </p:nvSpPr>
        <p:spPr>
          <a:xfrm>
            <a:off x="6115050" y="9486900"/>
            <a:ext cx="2357438" cy="200025"/>
          </a:xfrm>
          <a:prstGeom prst="rect">
            <a:avLst/>
          </a:prstGeom>
          <a:noFill/>
          <a:ln/>
        </p:spPr>
        <p:txBody>
          <a:bodyPr wrap="square" lIns="0" tIns="0" rIns="0" bIns="0" rtlCol="0" anchor="ctr">
            <a:spAutoFit/>
          </a:bodyPr>
          <a:lstStyle/>
          <a:p>
            <a:pPr indent="0" marL="0">
              <a:buNone/>
            </a:pPr>
            <a:r>
              <a:rPr lang="en-US" sz="1125" b="1" dirty="0">
                <a:solidFill>
                  <a:srgbClr val="F1F5F9"/>
                </a:solidFill>
                <a:latin typeface="Segoe UI" pitchFamily="34" charset="0"/>
                <a:ea typeface="Segoe UI" pitchFamily="34" charset="-122"/>
                <a:cs typeface="Segoe UI" pitchFamily="34" charset="-120"/>
              </a:rPr>
              <a:t>Micro Edition (ME)</a:t>
            </a:r>
            <a:endParaRPr lang="en-US" sz="1125" dirty="0"/>
          </a:p>
        </p:txBody>
      </p:sp>
      <p:sp>
        <p:nvSpPr>
          <p:cNvPr id="85" name="Text 70"/>
          <p:cNvSpPr/>
          <p:nvPr/>
        </p:nvSpPr>
        <p:spPr>
          <a:xfrm>
            <a:off x="6115050" y="9744075"/>
            <a:ext cx="2357438" cy="285750"/>
          </a:xfrm>
          <a:prstGeom prst="rect">
            <a:avLst/>
          </a:prstGeom>
          <a:noFill/>
          <a:ln/>
        </p:spPr>
        <p:txBody>
          <a:bodyPr wrap="square" lIns="0" tIns="0" rIns="0" bIns="0" rtlCol="0" anchor="ctr">
            <a:spAutoFit/>
          </a:bodyPr>
          <a:lstStyle/>
          <a:p>
            <a:pPr indent="0" marL="0">
              <a:buNone/>
            </a:pPr>
            <a:r>
              <a:rPr lang="en-US" sz="788" dirty="0">
                <a:solidFill>
                  <a:srgbClr val="F1F5F9"/>
                </a:solidFill>
                <a:latin typeface="Segoe UI" pitchFamily="34" charset="0"/>
                <a:ea typeface="Segoe UI" pitchFamily="34" charset="-122"/>
                <a:cs typeface="Segoe UI" pitchFamily="34" charset="-120"/>
              </a:rPr>
              <a:t>For developing applications for mobile devices and embedded systems with limited resources.</a:t>
            </a:r>
            <a:endParaRPr lang="en-US" sz="788" dirty="0"/>
          </a:p>
        </p:txBody>
      </p:sp>
      <p:sp>
        <p:nvSpPr>
          <p:cNvPr id="86" name="Shape 71"/>
          <p:cNvSpPr/>
          <p:nvPr/>
        </p:nvSpPr>
        <p:spPr>
          <a:xfrm>
            <a:off x="628650" y="10458450"/>
            <a:ext cx="7886700" cy="400050"/>
          </a:xfrm>
          <a:prstGeom prst="rect">
            <a:avLst/>
          </a:prstGeom>
          <a:solidFill>
            <a:srgbClr val="78350F">
              <a:alpha val="20000"/>
            </a:srgbClr>
          </a:solidFill>
          <a:ln/>
        </p:spPr>
      </p:sp>
      <p:pic>
        <p:nvPicPr>
          <p:cNvPr id="87" name="Image 13" descr="preencoded.png">    </p:cNvPr>
          <p:cNvPicPr>
            <a:picLocks noChangeAspect="1"/>
          </p:cNvPicPr>
          <p:nvPr/>
        </p:nvPicPr>
        <p:blipFill>
          <a:blip r:embed="rId14"/>
          <a:stretch>
            <a:fillRect/>
          </a:stretch>
        </p:blipFill>
        <p:spPr>
          <a:xfrm>
            <a:off x="742950" y="10572750"/>
            <a:ext cx="171450" cy="171450"/>
          </a:xfrm>
          <a:prstGeom prst="rect">
            <a:avLst/>
          </a:prstGeom>
        </p:spPr>
      </p:pic>
      <p:sp>
        <p:nvSpPr>
          <p:cNvPr id="88" name="Text 72"/>
          <p:cNvSpPr/>
          <p:nvPr/>
        </p:nvSpPr>
        <p:spPr>
          <a:xfrm>
            <a:off x="1028700" y="10572750"/>
            <a:ext cx="6900472" cy="171450"/>
          </a:xfrm>
          <a:prstGeom prst="rect">
            <a:avLst/>
          </a:prstGeom>
          <a:noFill/>
          <a:ln/>
        </p:spPr>
        <p:txBody>
          <a:bodyPr wrap="square" lIns="0" tIns="0" rIns="0" bIns="0" rtlCol="0" anchor="ctr">
            <a:spAutoFit/>
          </a:bodyPr>
          <a:lstStyle/>
          <a:p>
            <a:pPr indent="0" marL="0">
              <a:buNone/>
            </a:pPr>
            <a:r>
              <a:rPr lang="en-US" sz="900" dirty="0">
                <a:solidFill>
                  <a:srgbClr val="F1F5F9"/>
                </a:solidFill>
                <a:latin typeface="Segoe UI" pitchFamily="34" charset="0"/>
                <a:ea typeface="Segoe UI" pitchFamily="34" charset="-122"/>
                <a:cs typeface="Segoe UI" pitchFamily="34" charset="-120"/>
              </a:rPr>
              <a:t>For beginners, we'll focus on Java SE (Standard Edition), which is what you'll need for learning the fundamentals of Java programming.</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17430750"/>
          </a:xfrm>
          <a:prstGeom prst="rect">
            <a:avLst/>
          </a:prstGeom>
        </p:spPr>
      </p:pic>
      <p:sp>
        <p:nvSpPr>
          <p:cNvPr id="3" name="Text 0"/>
          <p:cNvSpPr/>
          <p:nvPr/>
        </p:nvSpPr>
        <p:spPr>
          <a:xfrm>
            <a:off x="457200" y="455414"/>
            <a:ext cx="1728899" cy="287536"/>
          </a:xfrm>
          <a:prstGeom prst="rect">
            <a:avLst/>
          </a:prstGeom>
          <a:noFill/>
          <a:ln/>
        </p:spPr>
        <p:txBody>
          <a:bodyPr wrap="square" lIns="0" tIns="0" rIns="0" bIns="0" rtlCol="0" anchor="ctr">
            <a:spAutoFit/>
          </a:bodyPr>
          <a:lstStyle/>
          <a:p>
            <a:pPr indent="0" marL="0">
              <a:buNone/>
            </a:pPr>
            <a:r>
              <a:rPr lang="en-US" sz="2025" b="1" dirty="0">
                <a:solidFill>
                  <a:srgbClr val="F1F5F9"/>
                </a:solidFill>
                <a:latin typeface="Segoe UI" pitchFamily="34" charset="0"/>
                <a:ea typeface="Segoe UI" pitchFamily="34" charset="-122"/>
                <a:cs typeface="Segoe UI" pitchFamily="34" charset="-120"/>
              </a:rPr>
              <a:t>Installing the</a:t>
            </a:r>
            <a:endParaRPr lang="en-US" sz="2025" dirty="0"/>
          </a:p>
        </p:txBody>
      </p:sp>
      <p:sp>
        <p:nvSpPr>
          <p:cNvPr id="4" name="Text 1"/>
          <p:cNvSpPr/>
          <p:nvPr/>
        </p:nvSpPr>
        <p:spPr>
          <a:xfrm>
            <a:off x="2114662" y="455414"/>
            <a:ext cx="3501358" cy="287536"/>
          </a:xfrm>
          <a:prstGeom prst="rect">
            <a:avLst/>
          </a:prstGeom>
          <a:noFill/>
          <a:ln/>
        </p:spPr>
        <p:txBody>
          <a:bodyPr wrap="square" lIns="0" tIns="0" rIns="0" bIns="0" rtlCol="0" anchor="ctr">
            <a:spAutoFit/>
          </a:bodyPr>
          <a:lstStyle/>
          <a:p>
            <a:pPr indent="0" marL="0">
              <a:buNone/>
            </a:pPr>
            <a:r>
              <a:rPr lang="en-US" sz="2025" b="1" dirty="0">
                <a:solidFill>
                  <a:srgbClr val="60A5FA"/>
                </a:solidFill>
                <a:latin typeface="Segoe UI" pitchFamily="34" charset="0"/>
                <a:ea typeface="Segoe UI" pitchFamily="34" charset="-122"/>
                <a:cs typeface="Segoe UI" pitchFamily="34" charset="-120"/>
              </a:rPr>
              <a:t>Java Development Kit (JDK)</a:t>
            </a:r>
            <a:endParaRPr lang="en-US" sz="2025" dirty="0"/>
          </a:p>
        </p:txBody>
      </p:sp>
      <p:sp>
        <p:nvSpPr>
          <p:cNvPr id="5" name="Shape 2"/>
          <p:cNvSpPr/>
          <p:nvPr/>
        </p:nvSpPr>
        <p:spPr>
          <a:xfrm>
            <a:off x="457200" y="971550"/>
            <a:ext cx="4000500" cy="3557588"/>
          </a:xfrm>
          <a:prstGeom prst="rect">
            <a:avLst/>
          </a:prstGeom>
          <a:solidFill>
            <a:srgbClr val="FFFFFF">
              <a:alpha val="10000"/>
            </a:srgbClr>
          </a:solidFill>
          <a:ln w="99">
            <a:solidFill>
              <a:srgbClr val="60A5FA">
                <a:alpha val="30000"/>
              </a:srgbClr>
            </a:solidFill>
            <a:prstDash val="solid"/>
          </a:ln>
        </p:spPr>
      </p:sp>
      <p:sp>
        <p:nvSpPr>
          <p:cNvPr id="6" name="Text 3"/>
          <p:cNvSpPr/>
          <p:nvPr/>
        </p:nvSpPr>
        <p:spPr>
          <a:xfrm>
            <a:off x="628650" y="1143000"/>
            <a:ext cx="3729038" cy="228600"/>
          </a:xfrm>
          <a:prstGeom prst="rect">
            <a:avLst/>
          </a:prstGeom>
          <a:noFill/>
          <a:ln/>
        </p:spPr>
        <p:txBody>
          <a:bodyPr wrap="square" lIns="0" tIns="0" rIns="0" bIns="0" rtlCol="0" anchor="ctr">
            <a:spAutoFit/>
          </a:bodyPr>
          <a:lstStyle/>
          <a:p>
            <a:pPr indent="0" marL="0">
              <a:buNone/>
            </a:pPr>
            <a:r>
              <a:rPr lang="en-US" sz="1350" b="1" dirty="0">
                <a:solidFill>
                  <a:srgbClr val="BFDBFE"/>
                </a:solidFill>
                <a:latin typeface="Segoe UI" pitchFamily="34" charset="0"/>
                <a:ea typeface="Segoe UI" pitchFamily="34" charset="-122"/>
                <a:cs typeface="Segoe UI" pitchFamily="34" charset="-120"/>
              </a:rPr>
              <a:t>Before You Begin</a:t>
            </a:r>
            <a:endParaRPr lang="en-US" sz="1350" dirty="0"/>
          </a:p>
        </p:txBody>
      </p:sp>
      <p:sp>
        <p:nvSpPr>
          <p:cNvPr id="7" name="Shape 4"/>
          <p:cNvSpPr/>
          <p:nvPr/>
        </p:nvSpPr>
        <p:spPr>
          <a:xfrm>
            <a:off x="628650" y="1485900"/>
            <a:ext cx="3657600" cy="1257300"/>
          </a:xfrm>
          <a:prstGeom prst="rect">
            <a:avLst/>
          </a:prstGeom>
          <a:solidFill>
            <a:srgbClr val="1E3A8A">
              <a:alpha val="30000"/>
            </a:srgbClr>
          </a:solidFill>
          <a:ln/>
        </p:spPr>
      </p:sp>
      <p:sp>
        <p:nvSpPr>
          <p:cNvPr id="8" name="Text 5"/>
          <p:cNvSpPr/>
          <p:nvPr/>
        </p:nvSpPr>
        <p:spPr>
          <a:xfrm>
            <a:off x="742950" y="1600200"/>
            <a:ext cx="3500438" cy="200025"/>
          </a:xfrm>
          <a:prstGeom prst="rect">
            <a:avLst/>
          </a:prstGeom>
          <a:noFill/>
          <a:ln/>
        </p:spPr>
        <p:txBody>
          <a:bodyPr wrap="square" lIns="0" tIns="0" rIns="0" bIns="0" rtlCol="0" anchor="ctr">
            <a:spAutoFit/>
          </a:bodyPr>
          <a:lstStyle/>
          <a:p>
            <a:pPr indent="0" marL="0">
              <a:buNone/>
            </a:pPr>
            <a:r>
              <a:rPr lang="en-US" sz="1125" b="1" dirty="0">
                <a:solidFill>
                  <a:srgbClr val="F1F5F9"/>
                </a:solidFill>
                <a:latin typeface="Segoe UI" pitchFamily="34" charset="0"/>
                <a:ea typeface="Segoe UI" pitchFamily="34" charset="-122"/>
                <a:cs typeface="Segoe UI" pitchFamily="34" charset="-120"/>
              </a:rPr>
              <a:t>Which JDK Version?</a:t>
            </a:r>
            <a:endParaRPr lang="en-US" sz="1125" dirty="0"/>
          </a:p>
        </p:txBody>
      </p:sp>
      <p:sp>
        <p:nvSpPr>
          <p:cNvPr id="9" name="Text 6"/>
          <p:cNvSpPr/>
          <p:nvPr/>
        </p:nvSpPr>
        <p:spPr>
          <a:xfrm>
            <a:off x="742950" y="1857375"/>
            <a:ext cx="3500438" cy="171450"/>
          </a:xfrm>
          <a:prstGeom prst="rect">
            <a:avLst/>
          </a:prstGeom>
          <a:noFill/>
          <a:ln/>
        </p:spPr>
        <p:txBody>
          <a:bodyPr wrap="square" lIns="0" tIns="0" rIns="0" bIns="0" rtlCol="0" anchor="ctr">
            <a:spAutoFit/>
          </a:bodyPr>
          <a:lstStyle/>
          <a:p>
            <a:pPr indent="0" marL="0">
              <a:buNone/>
            </a:pPr>
            <a:r>
              <a:rPr lang="en-US" sz="900" dirty="0">
                <a:solidFill>
                  <a:srgbClr val="F1F5F9"/>
                </a:solidFill>
                <a:latin typeface="Segoe UI" pitchFamily="34" charset="0"/>
                <a:ea typeface="Segoe UI" pitchFamily="34" charset="-122"/>
                <a:cs typeface="Segoe UI" pitchFamily="34" charset="-120"/>
              </a:rPr>
              <a:t>For beginners, we recommend:</a:t>
            </a:r>
            <a:endParaRPr lang="en-US" sz="900" dirty="0"/>
          </a:p>
        </p:txBody>
      </p:sp>
      <p:pic>
        <p:nvPicPr>
          <p:cNvPr id="10" name="Image 1" descr="preencoded.png">    </p:cNvPr>
          <p:cNvPicPr>
            <a:picLocks noChangeAspect="1"/>
          </p:cNvPicPr>
          <p:nvPr/>
        </p:nvPicPr>
        <p:blipFill>
          <a:blip r:embed="rId2"/>
          <a:stretch>
            <a:fillRect/>
          </a:stretch>
        </p:blipFill>
        <p:spPr>
          <a:xfrm>
            <a:off x="857250" y="2114550"/>
            <a:ext cx="114300" cy="114300"/>
          </a:xfrm>
          <a:prstGeom prst="rect">
            <a:avLst/>
          </a:prstGeom>
        </p:spPr>
      </p:pic>
      <p:sp>
        <p:nvSpPr>
          <p:cNvPr id="11" name="Text 7"/>
          <p:cNvSpPr/>
          <p:nvPr/>
        </p:nvSpPr>
        <p:spPr>
          <a:xfrm>
            <a:off x="1028700" y="2107406"/>
            <a:ext cx="2178118" cy="128588"/>
          </a:xfrm>
          <a:prstGeom prst="rect">
            <a:avLst/>
          </a:prstGeom>
          <a:noFill/>
          <a:ln/>
        </p:spPr>
        <p:txBody>
          <a:bodyPr wrap="square" lIns="0" tIns="0" rIns="0" bIns="0" rtlCol="0" anchor="ctr">
            <a:spAutoFit/>
          </a:bodyPr>
          <a:lstStyle/>
          <a:p>
            <a:pPr algn="l" indent="0" marL="0">
              <a:buNone/>
            </a:pPr>
            <a:r>
              <a:rPr lang="en-US" sz="900" b="1" dirty="0">
                <a:solidFill>
                  <a:srgbClr val="60A5FA"/>
                </a:solidFill>
                <a:latin typeface="Segoe UI" pitchFamily="34" charset="0"/>
                <a:ea typeface="Segoe UI" pitchFamily="34" charset="-122"/>
                <a:cs typeface="Segoe UI" pitchFamily="34" charset="-120"/>
              </a:rPr>
              <a:t>Java SE Development Kit (JDK) 17 LTS</a:t>
            </a:r>
            <a:endParaRPr lang="en-US" sz="900" dirty="0"/>
          </a:p>
        </p:txBody>
      </p:sp>
      <p:sp>
        <p:nvSpPr>
          <p:cNvPr id="12" name="Text 8"/>
          <p:cNvSpPr/>
          <p:nvPr/>
        </p:nvSpPr>
        <p:spPr>
          <a:xfrm>
            <a:off x="1028700" y="2107406"/>
            <a:ext cx="2817651" cy="300038"/>
          </a:xfrm>
          <a:prstGeom prst="rect">
            <a:avLst/>
          </a:prstGeom>
          <a:noFill/>
          <a:ln/>
        </p:spPr>
        <p:txBody>
          <a:bodyPr wrap="square" lIns="0" tIns="0" rIns="0" bIns="0" rtlCol="0" anchor="ctr">
            <a:spAutoFit/>
          </a:bodyPr>
          <a:lstStyle/>
          <a:p>
            <a:pPr algn="l" indent="0" marL="0">
              <a:buNone/>
            </a:pPr>
            <a:r>
              <a:rPr lang="en-US" sz="900" dirty="0">
                <a:solidFill>
                  <a:srgbClr val="F1F5F9"/>
                </a:solidFill>
                <a:latin typeface="Segoe UI" pitchFamily="34" charset="0"/>
                <a:ea typeface="Segoe UI" pitchFamily="34" charset="-122"/>
                <a:cs typeface="Segoe UI" pitchFamily="34" charset="-120"/>
              </a:rPr>
              <a:t>- Long Term Support version</a:t>
            </a:r>
            <a:endParaRPr lang="en-US" sz="900" dirty="0"/>
          </a:p>
        </p:txBody>
      </p:sp>
      <p:pic>
        <p:nvPicPr>
          <p:cNvPr id="13" name="Image 2" descr="preencoded.png">    </p:cNvPr>
          <p:cNvPicPr>
            <a:picLocks noChangeAspect="1"/>
          </p:cNvPicPr>
          <p:nvPr/>
        </p:nvPicPr>
        <p:blipFill>
          <a:blip r:embed="rId3"/>
          <a:stretch>
            <a:fillRect/>
          </a:stretch>
        </p:blipFill>
        <p:spPr>
          <a:xfrm>
            <a:off x="857250" y="2486025"/>
            <a:ext cx="114300" cy="114300"/>
          </a:xfrm>
          <a:prstGeom prst="rect">
            <a:avLst/>
          </a:prstGeom>
        </p:spPr>
      </p:pic>
      <p:sp>
        <p:nvSpPr>
          <p:cNvPr id="14" name="Text 9"/>
          <p:cNvSpPr/>
          <p:nvPr/>
        </p:nvSpPr>
        <p:spPr>
          <a:xfrm>
            <a:off x="1028700" y="2478881"/>
            <a:ext cx="230163" cy="128588"/>
          </a:xfrm>
          <a:prstGeom prst="rect">
            <a:avLst/>
          </a:prstGeom>
          <a:noFill/>
          <a:ln/>
        </p:spPr>
        <p:txBody>
          <a:bodyPr wrap="none" lIns="0" tIns="0" rIns="0" bIns="0" rtlCol="0" anchor="ctr">
            <a:spAutoFit/>
          </a:bodyPr>
          <a:lstStyle/>
          <a:p>
            <a:pPr algn="l" indent="0" marL="0">
              <a:buNone/>
            </a:pPr>
            <a:r>
              <a:rPr lang="en-US" sz="900" dirty="0">
                <a:solidFill>
                  <a:srgbClr val="F1F5F9"/>
                </a:solidFill>
                <a:latin typeface="Segoe UI" pitchFamily="34" charset="0"/>
                <a:ea typeface="Segoe UI" pitchFamily="34" charset="-122"/>
                <a:cs typeface="Segoe UI" pitchFamily="34" charset="-120"/>
              </a:rPr>
              <a:t>Or</a:t>
            </a:r>
            <a:endParaRPr lang="en-US" sz="900" dirty="0"/>
          </a:p>
        </p:txBody>
      </p:sp>
      <p:sp>
        <p:nvSpPr>
          <p:cNvPr id="15" name="Text 10"/>
          <p:cNvSpPr/>
          <p:nvPr/>
        </p:nvSpPr>
        <p:spPr>
          <a:xfrm>
            <a:off x="1187425" y="2478881"/>
            <a:ext cx="698134" cy="128588"/>
          </a:xfrm>
          <a:prstGeom prst="rect">
            <a:avLst/>
          </a:prstGeom>
          <a:noFill/>
          <a:ln/>
        </p:spPr>
        <p:txBody>
          <a:bodyPr wrap="none" lIns="0" tIns="0" rIns="0" bIns="0" rtlCol="0" anchor="ctr">
            <a:spAutoFit/>
          </a:bodyPr>
          <a:lstStyle/>
          <a:p>
            <a:pPr algn="l" indent="0" marL="0">
              <a:buNone/>
            </a:pPr>
            <a:r>
              <a:rPr lang="en-US" sz="900" b="1" dirty="0">
                <a:solidFill>
                  <a:srgbClr val="60A5FA"/>
                </a:solidFill>
                <a:latin typeface="Segoe UI" pitchFamily="34" charset="0"/>
                <a:ea typeface="Segoe UI" pitchFamily="34" charset="-122"/>
                <a:cs typeface="Segoe UI" pitchFamily="34" charset="-120"/>
              </a:rPr>
              <a:t>JDK 21 LTS</a:t>
            </a:r>
            <a:endParaRPr lang="en-US" sz="900" dirty="0"/>
          </a:p>
        </p:txBody>
      </p:sp>
      <p:sp>
        <p:nvSpPr>
          <p:cNvPr id="16" name="Text 11"/>
          <p:cNvSpPr/>
          <p:nvPr/>
        </p:nvSpPr>
        <p:spPr>
          <a:xfrm>
            <a:off x="1814122" y="2478881"/>
            <a:ext cx="1886396" cy="128588"/>
          </a:xfrm>
          <a:prstGeom prst="rect">
            <a:avLst/>
          </a:prstGeom>
          <a:noFill/>
          <a:ln/>
        </p:spPr>
        <p:txBody>
          <a:bodyPr wrap="square" lIns="0" tIns="0" rIns="0" bIns="0" rtlCol="0" anchor="ctr">
            <a:spAutoFit/>
          </a:bodyPr>
          <a:lstStyle/>
          <a:p>
            <a:pPr algn="l" indent="0" marL="0">
              <a:buNone/>
            </a:pPr>
            <a:r>
              <a:rPr lang="en-US" sz="900" dirty="0">
                <a:solidFill>
                  <a:srgbClr val="F1F5F9"/>
                </a:solidFill>
                <a:latin typeface="Segoe UI" pitchFamily="34" charset="0"/>
                <a:ea typeface="Segoe UI" pitchFamily="34" charset="-122"/>
                <a:cs typeface="Segoe UI" pitchFamily="34" charset="-120"/>
              </a:rPr>
              <a:t>- Latest Long Term Support version</a:t>
            </a:r>
            <a:endParaRPr lang="en-US" sz="900" dirty="0"/>
          </a:p>
        </p:txBody>
      </p:sp>
      <p:sp>
        <p:nvSpPr>
          <p:cNvPr id="17" name="Shape 12"/>
          <p:cNvSpPr/>
          <p:nvPr/>
        </p:nvSpPr>
        <p:spPr>
          <a:xfrm>
            <a:off x="628650" y="2857500"/>
            <a:ext cx="3657600" cy="1485900"/>
          </a:xfrm>
          <a:prstGeom prst="rect">
            <a:avLst/>
          </a:prstGeom>
          <a:solidFill>
            <a:srgbClr val="1E3A8A">
              <a:alpha val="30000"/>
            </a:srgbClr>
          </a:solidFill>
          <a:ln/>
        </p:spPr>
      </p:sp>
      <p:sp>
        <p:nvSpPr>
          <p:cNvPr id="18" name="Text 13"/>
          <p:cNvSpPr/>
          <p:nvPr/>
        </p:nvSpPr>
        <p:spPr>
          <a:xfrm>
            <a:off x="742950" y="2971800"/>
            <a:ext cx="3500438" cy="200025"/>
          </a:xfrm>
          <a:prstGeom prst="rect">
            <a:avLst/>
          </a:prstGeom>
          <a:noFill/>
          <a:ln/>
        </p:spPr>
        <p:txBody>
          <a:bodyPr wrap="square" lIns="0" tIns="0" rIns="0" bIns="0" rtlCol="0" anchor="ctr">
            <a:spAutoFit/>
          </a:bodyPr>
          <a:lstStyle/>
          <a:p>
            <a:pPr indent="0" marL="0">
              <a:buNone/>
            </a:pPr>
            <a:r>
              <a:rPr lang="en-US" sz="1125" b="1" dirty="0">
                <a:solidFill>
                  <a:srgbClr val="F1F5F9"/>
                </a:solidFill>
                <a:latin typeface="Segoe UI" pitchFamily="34" charset="0"/>
                <a:ea typeface="Segoe UI" pitchFamily="34" charset="-122"/>
                <a:cs typeface="Segoe UI" pitchFamily="34" charset="-120"/>
              </a:rPr>
              <a:t>JDK Distributions</a:t>
            </a:r>
            <a:endParaRPr lang="en-US" sz="1125" dirty="0"/>
          </a:p>
        </p:txBody>
      </p:sp>
      <p:sp>
        <p:nvSpPr>
          <p:cNvPr id="19" name="Text 14"/>
          <p:cNvSpPr/>
          <p:nvPr/>
        </p:nvSpPr>
        <p:spPr>
          <a:xfrm>
            <a:off x="742950" y="3228975"/>
            <a:ext cx="3500438" cy="171450"/>
          </a:xfrm>
          <a:prstGeom prst="rect">
            <a:avLst/>
          </a:prstGeom>
          <a:noFill/>
          <a:ln/>
        </p:spPr>
        <p:txBody>
          <a:bodyPr wrap="square" lIns="0" tIns="0" rIns="0" bIns="0" rtlCol="0" anchor="ctr">
            <a:spAutoFit/>
          </a:bodyPr>
          <a:lstStyle/>
          <a:p>
            <a:pPr indent="0" marL="0">
              <a:buNone/>
            </a:pPr>
            <a:r>
              <a:rPr lang="en-US" sz="900" dirty="0">
                <a:solidFill>
                  <a:srgbClr val="F1F5F9"/>
                </a:solidFill>
                <a:latin typeface="Segoe UI" pitchFamily="34" charset="0"/>
                <a:ea typeface="Segoe UI" pitchFamily="34" charset="-122"/>
                <a:cs typeface="Segoe UI" pitchFamily="34" charset="-120"/>
              </a:rPr>
              <a:t>Several vendors provide JDK distributions:</a:t>
            </a:r>
            <a:endParaRPr lang="en-US" sz="900" dirty="0"/>
          </a:p>
        </p:txBody>
      </p:sp>
      <p:pic>
        <p:nvPicPr>
          <p:cNvPr id="20" name="Image 3" descr="preencoded.png">    </p:cNvPr>
          <p:cNvPicPr>
            <a:picLocks noChangeAspect="1"/>
          </p:cNvPicPr>
          <p:nvPr/>
        </p:nvPicPr>
        <p:blipFill>
          <a:blip r:embed="rId4"/>
          <a:stretch>
            <a:fillRect/>
          </a:stretch>
        </p:blipFill>
        <p:spPr>
          <a:xfrm>
            <a:off x="857250" y="3486150"/>
            <a:ext cx="114300" cy="114300"/>
          </a:xfrm>
          <a:prstGeom prst="rect">
            <a:avLst/>
          </a:prstGeom>
        </p:spPr>
      </p:pic>
      <p:sp>
        <p:nvSpPr>
          <p:cNvPr id="21" name="Text 15"/>
          <p:cNvSpPr/>
          <p:nvPr/>
        </p:nvSpPr>
        <p:spPr>
          <a:xfrm>
            <a:off x="1028700" y="3479006"/>
            <a:ext cx="687698" cy="128588"/>
          </a:xfrm>
          <a:prstGeom prst="rect">
            <a:avLst/>
          </a:prstGeom>
          <a:noFill/>
          <a:ln/>
        </p:spPr>
        <p:txBody>
          <a:bodyPr wrap="none" lIns="0" tIns="0" rIns="0" bIns="0" rtlCol="0" anchor="ctr">
            <a:spAutoFit/>
          </a:bodyPr>
          <a:lstStyle/>
          <a:p>
            <a:pPr algn="l" indent="0" marL="0">
              <a:buNone/>
            </a:pPr>
            <a:r>
              <a:rPr lang="en-US" sz="900" b="1" dirty="0">
                <a:solidFill>
                  <a:srgbClr val="60A5FA"/>
                </a:solidFill>
                <a:latin typeface="Segoe UI" pitchFamily="34" charset="0"/>
                <a:ea typeface="Segoe UI" pitchFamily="34" charset="-122"/>
                <a:cs typeface="Segoe UI" pitchFamily="34" charset="-120"/>
              </a:rPr>
              <a:t>Oracle JDK</a:t>
            </a:r>
            <a:endParaRPr lang="en-US" sz="900" dirty="0"/>
          </a:p>
        </p:txBody>
      </p:sp>
      <p:sp>
        <p:nvSpPr>
          <p:cNvPr id="22" name="Text 16"/>
          <p:cNvSpPr/>
          <p:nvPr/>
        </p:nvSpPr>
        <p:spPr>
          <a:xfrm>
            <a:off x="1644960" y="3479006"/>
            <a:ext cx="1295307" cy="128588"/>
          </a:xfrm>
          <a:prstGeom prst="rect">
            <a:avLst/>
          </a:prstGeom>
          <a:noFill/>
          <a:ln/>
        </p:spPr>
        <p:txBody>
          <a:bodyPr wrap="square" lIns="0" tIns="0" rIns="0" bIns="0" rtlCol="0" anchor="ctr">
            <a:spAutoFit/>
          </a:bodyPr>
          <a:lstStyle/>
          <a:p>
            <a:pPr algn="l" indent="0" marL="0">
              <a:buNone/>
            </a:pPr>
            <a:r>
              <a:rPr lang="en-US" sz="900" dirty="0">
                <a:solidFill>
                  <a:srgbClr val="F1F5F9"/>
                </a:solidFill>
                <a:latin typeface="Segoe UI" pitchFamily="34" charset="0"/>
                <a:ea typeface="Segoe UI" pitchFamily="34" charset="-122"/>
                <a:cs typeface="Segoe UI" pitchFamily="34" charset="-120"/>
              </a:rPr>
              <a:t>- Official Oracle release</a:t>
            </a:r>
            <a:endParaRPr lang="en-US" sz="900" dirty="0"/>
          </a:p>
        </p:txBody>
      </p:sp>
      <p:pic>
        <p:nvPicPr>
          <p:cNvPr id="23" name="Image 4" descr="preencoded.png">    </p:cNvPr>
          <p:cNvPicPr>
            <a:picLocks noChangeAspect="1"/>
          </p:cNvPicPr>
          <p:nvPr/>
        </p:nvPicPr>
        <p:blipFill>
          <a:blip r:embed="rId5"/>
          <a:stretch>
            <a:fillRect/>
          </a:stretch>
        </p:blipFill>
        <p:spPr>
          <a:xfrm>
            <a:off x="857250" y="3686175"/>
            <a:ext cx="114300" cy="114300"/>
          </a:xfrm>
          <a:prstGeom prst="rect">
            <a:avLst/>
          </a:prstGeom>
        </p:spPr>
      </p:pic>
      <p:sp>
        <p:nvSpPr>
          <p:cNvPr id="24" name="Text 17"/>
          <p:cNvSpPr/>
          <p:nvPr/>
        </p:nvSpPr>
        <p:spPr>
          <a:xfrm>
            <a:off x="1028700" y="3679031"/>
            <a:ext cx="592206" cy="128588"/>
          </a:xfrm>
          <a:prstGeom prst="rect">
            <a:avLst/>
          </a:prstGeom>
          <a:noFill/>
          <a:ln/>
        </p:spPr>
        <p:txBody>
          <a:bodyPr wrap="none" lIns="0" tIns="0" rIns="0" bIns="0" rtlCol="0" anchor="ctr">
            <a:spAutoFit/>
          </a:bodyPr>
          <a:lstStyle/>
          <a:p>
            <a:pPr algn="l" indent="0" marL="0">
              <a:buNone/>
            </a:pPr>
            <a:r>
              <a:rPr lang="en-US" sz="900" b="1" dirty="0">
                <a:solidFill>
                  <a:srgbClr val="60A5FA"/>
                </a:solidFill>
                <a:latin typeface="Segoe UI" pitchFamily="34" charset="0"/>
                <a:ea typeface="Segoe UI" pitchFamily="34" charset="-122"/>
                <a:cs typeface="Segoe UI" pitchFamily="34" charset="-120"/>
              </a:rPr>
              <a:t>OpenJDK</a:t>
            </a:r>
            <a:endParaRPr lang="en-US" sz="900" dirty="0"/>
          </a:p>
        </p:txBody>
      </p:sp>
      <p:sp>
        <p:nvSpPr>
          <p:cNvPr id="25" name="Text 18"/>
          <p:cNvSpPr/>
          <p:nvPr/>
        </p:nvSpPr>
        <p:spPr>
          <a:xfrm>
            <a:off x="1549468" y="3679031"/>
            <a:ext cx="1913799" cy="128588"/>
          </a:xfrm>
          <a:prstGeom prst="rect">
            <a:avLst/>
          </a:prstGeom>
          <a:noFill/>
          <a:ln/>
        </p:spPr>
        <p:txBody>
          <a:bodyPr wrap="square" lIns="0" tIns="0" rIns="0" bIns="0" rtlCol="0" anchor="ctr">
            <a:spAutoFit/>
          </a:bodyPr>
          <a:lstStyle/>
          <a:p>
            <a:pPr algn="l" indent="0" marL="0">
              <a:buNone/>
            </a:pPr>
            <a:r>
              <a:rPr lang="en-US" sz="900" dirty="0">
                <a:solidFill>
                  <a:srgbClr val="F1F5F9"/>
                </a:solidFill>
                <a:latin typeface="Segoe UI" pitchFamily="34" charset="0"/>
                <a:ea typeface="Segoe UI" pitchFamily="34" charset="-122"/>
                <a:cs typeface="Segoe UI" pitchFamily="34" charset="-120"/>
              </a:rPr>
              <a:t>- Free, open-source implementation</a:t>
            </a:r>
            <a:endParaRPr lang="en-US" sz="900" dirty="0"/>
          </a:p>
        </p:txBody>
      </p:sp>
      <p:pic>
        <p:nvPicPr>
          <p:cNvPr id="26" name="Image 5" descr="preencoded.png">    </p:cNvPr>
          <p:cNvPicPr>
            <a:picLocks noChangeAspect="1"/>
          </p:cNvPicPr>
          <p:nvPr/>
        </p:nvPicPr>
        <p:blipFill>
          <a:blip r:embed="rId6"/>
          <a:stretch>
            <a:fillRect/>
          </a:stretch>
        </p:blipFill>
        <p:spPr>
          <a:xfrm>
            <a:off x="857250" y="3886200"/>
            <a:ext cx="114300" cy="114300"/>
          </a:xfrm>
          <a:prstGeom prst="rect">
            <a:avLst/>
          </a:prstGeom>
        </p:spPr>
      </p:pic>
      <p:sp>
        <p:nvSpPr>
          <p:cNvPr id="27" name="Text 19"/>
          <p:cNvSpPr/>
          <p:nvPr/>
        </p:nvSpPr>
        <p:spPr>
          <a:xfrm>
            <a:off x="1028700" y="3879056"/>
            <a:ext cx="998562" cy="128588"/>
          </a:xfrm>
          <a:prstGeom prst="rect">
            <a:avLst/>
          </a:prstGeom>
          <a:noFill/>
          <a:ln/>
        </p:spPr>
        <p:txBody>
          <a:bodyPr wrap="none" lIns="0" tIns="0" rIns="0" bIns="0" rtlCol="0" anchor="ctr">
            <a:spAutoFit/>
          </a:bodyPr>
          <a:lstStyle/>
          <a:p>
            <a:pPr algn="l" indent="0" marL="0">
              <a:buNone/>
            </a:pPr>
            <a:r>
              <a:rPr lang="en-US" sz="900" b="1" dirty="0">
                <a:solidFill>
                  <a:srgbClr val="60A5FA"/>
                </a:solidFill>
                <a:latin typeface="Segoe UI" pitchFamily="34" charset="0"/>
                <a:ea typeface="Segoe UI" pitchFamily="34" charset="-122"/>
                <a:cs typeface="Segoe UI" pitchFamily="34" charset="-120"/>
              </a:rPr>
              <a:t>Amazon Corretto</a:t>
            </a:r>
            <a:endParaRPr lang="en-US" sz="900" dirty="0"/>
          </a:p>
        </p:txBody>
      </p:sp>
      <p:sp>
        <p:nvSpPr>
          <p:cNvPr id="28" name="Text 20"/>
          <p:cNvSpPr/>
          <p:nvPr/>
        </p:nvSpPr>
        <p:spPr>
          <a:xfrm>
            <a:off x="1955825" y="3879056"/>
            <a:ext cx="134950" cy="128588"/>
          </a:xfrm>
          <a:prstGeom prst="rect">
            <a:avLst/>
          </a:prstGeom>
          <a:noFill/>
          <a:ln/>
        </p:spPr>
        <p:txBody>
          <a:bodyPr wrap="none" lIns="0" tIns="0" rIns="0" bIns="0" rtlCol="0" anchor="ctr">
            <a:spAutoFit/>
          </a:bodyPr>
          <a:lstStyle/>
          <a:p>
            <a:pPr algn="l" indent="0" marL="0">
              <a:buNone/>
            </a:pPr>
            <a:r>
              <a:rPr lang="en-US" sz="900" dirty="0">
                <a:solidFill>
                  <a:srgbClr val="F1F5F9"/>
                </a:solidFill>
                <a:latin typeface="Segoe UI" pitchFamily="34" charset="0"/>
                <a:ea typeface="Segoe UI" pitchFamily="34" charset="-122"/>
                <a:cs typeface="Segoe UI" pitchFamily="34" charset="-120"/>
              </a:rPr>
              <a:t>,</a:t>
            </a:r>
            <a:endParaRPr lang="en-US" sz="900" dirty="0"/>
          </a:p>
        </p:txBody>
      </p:sp>
      <p:sp>
        <p:nvSpPr>
          <p:cNvPr id="29" name="Text 21"/>
          <p:cNvSpPr/>
          <p:nvPr/>
        </p:nvSpPr>
        <p:spPr>
          <a:xfrm>
            <a:off x="2019337" y="3879056"/>
            <a:ext cx="922269" cy="128588"/>
          </a:xfrm>
          <a:prstGeom prst="rect">
            <a:avLst/>
          </a:prstGeom>
          <a:noFill/>
          <a:ln/>
        </p:spPr>
        <p:txBody>
          <a:bodyPr wrap="none" lIns="0" tIns="0" rIns="0" bIns="0" rtlCol="0" anchor="ctr">
            <a:spAutoFit/>
          </a:bodyPr>
          <a:lstStyle/>
          <a:p>
            <a:pPr algn="l" indent="0" marL="0">
              <a:buNone/>
            </a:pPr>
            <a:r>
              <a:rPr lang="en-US" sz="900" b="1" dirty="0">
                <a:solidFill>
                  <a:srgbClr val="60A5FA"/>
                </a:solidFill>
                <a:latin typeface="Segoe UI" pitchFamily="34" charset="0"/>
                <a:ea typeface="Segoe UI" pitchFamily="34" charset="-122"/>
                <a:cs typeface="Segoe UI" pitchFamily="34" charset="-120"/>
              </a:rPr>
              <a:t>AdoptOpenJDK</a:t>
            </a:r>
            <a:endParaRPr lang="en-US" sz="900" dirty="0"/>
          </a:p>
        </p:txBody>
      </p:sp>
      <p:sp>
        <p:nvSpPr>
          <p:cNvPr id="30" name="Text 22"/>
          <p:cNvSpPr/>
          <p:nvPr/>
        </p:nvSpPr>
        <p:spPr>
          <a:xfrm>
            <a:off x="2870169" y="3879056"/>
            <a:ext cx="319181" cy="128588"/>
          </a:xfrm>
          <a:prstGeom prst="rect">
            <a:avLst/>
          </a:prstGeom>
          <a:noFill/>
          <a:ln/>
        </p:spPr>
        <p:txBody>
          <a:bodyPr wrap="none" lIns="0" tIns="0" rIns="0" bIns="0" rtlCol="0" anchor="ctr">
            <a:spAutoFit/>
          </a:bodyPr>
          <a:lstStyle/>
          <a:p>
            <a:pPr algn="l" indent="0" marL="0">
              <a:buNone/>
            </a:pPr>
            <a:r>
              <a:rPr lang="en-US" sz="900" dirty="0">
                <a:solidFill>
                  <a:srgbClr val="F1F5F9"/>
                </a:solidFill>
                <a:latin typeface="Segoe UI" pitchFamily="34" charset="0"/>
                <a:ea typeface="Segoe UI" pitchFamily="34" charset="-122"/>
                <a:cs typeface="Segoe UI" pitchFamily="34" charset="-120"/>
              </a:rPr>
              <a:t>, etc.</a:t>
            </a:r>
            <a:endParaRPr lang="en-US" sz="900" dirty="0"/>
          </a:p>
        </p:txBody>
      </p:sp>
      <p:sp>
        <p:nvSpPr>
          <p:cNvPr id="31" name="Text 23"/>
          <p:cNvSpPr/>
          <p:nvPr/>
        </p:nvSpPr>
        <p:spPr>
          <a:xfrm>
            <a:off x="742950" y="4086225"/>
            <a:ext cx="3500438" cy="142875"/>
          </a:xfrm>
          <a:prstGeom prst="rect">
            <a:avLst/>
          </a:prstGeom>
          <a:noFill/>
          <a:ln/>
        </p:spPr>
        <p:txBody>
          <a:bodyPr wrap="square" lIns="0" tIns="0" rIns="0" bIns="0" rtlCol="0" anchor="ctr">
            <a:spAutoFit/>
          </a:bodyPr>
          <a:lstStyle/>
          <a:p>
            <a:pPr indent="0" marL="0">
              <a:buNone/>
            </a:pPr>
            <a:r>
              <a:rPr lang="en-US" sz="788" i="1" dirty="0">
                <a:solidFill>
                  <a:srgbClr val="F1F5F9"/>
                </a:solidFill>
                <a:latin typeface="Segoe UI" pitchFamily="34" charset="0"/>
                <a:ea typeface="Segoe UI" pitchFamily="34" charset="-122"/>
                <a:cs typeface="Segoe UI" pitchFamily="34" charset="-120"/>
              </a:rPr>
              <a:t>For this tutorial, we'll use Oracle's OpenJDK.</a:t>
            </a:r>
            <a:endParaRPr lang="en-US" sz="788" dirty="0"/>
          </a:p>
        </p:txBody>
      </p:sp>
      <p:sp>
        <p:nvSpPr>
          <p:cNvPr id="32" name="Shape 24"/>
          <p:cNvSpPr/>
          <p:nvPr/>
        </p:nvSpPr>
        <p:spPr>
          <a:xfrm>
            <a:off x="457200" y="4686300"/>
            <a:ext cx="4000500" cy="3357563"/>
          </a:xfrm>
          <a:prstGeom prst="rect">
            <a:avLst/>
          </a:prstGeom>
          <a:solidFill>
            <a:srgbClr val="FFFFFF">
              <a:alpha val="10000"/>
            </a:srgbClr>
          </a:solidFill>
          <a:ln w="99">
            <a:solidFill>
              <a:srgbClr val="60A5FA">
                <a:alpha val="30000"/>
              </a:srgbClr>
            </a:solidFill>
            <a:prstDash val="solid"/>
          </a:ln>
        </p:spPr>
      </p:sp>
      <p:sp>
        <p:nvSpPr>
          <p:cNvPr id="33" name="Text 25"/>
          <p:cNvSpPr/>
          <p:nvPr/>
        </p:nvSpPr>
        <p:spPr>
          <a:xfrm>
            <a:off x="628650" y="4857750"/>
            <a:ext cx="3729038" cy="228600"/>
          </a:xfrm>
          <a:prstGeom prst="rect">
            <a:avLst/>
          </a:prstGeom>
          <a:noFill/>
          <a:ln/>
        </p:spPr>
        <p:txBody>
          <a:bodyPr wrap="square" lIns="0" tIns="0" rIns="0" bIns="0" rtlCol="0" anchor="ctr">
            <a:spAutoFit/>
          </a:bodyPr>
          <a:lstStyle/>
          <a:p>
            <a:pPr indent="0" marL="0">
              <a:buNone/>
            </a:pPr>
            <a:r>
              <a:rPr lang="en-US" sz="1350" b="1" dirty="0">
                <a:solidFill>
                  <a:srgbClr val="BFDBFE"/>
                </a:solidFill>
                <a:latin typeface="Segoe UI" pitchFamily="34" charset="0"/>
                <a:ea typeface="Segoe UI" pitchFamily="34" charset="-122"/>
                <a:cs typeface="Segoe UI" pitchFamily="34" charset="-120"/>
              </a:rPr>
              <a:t>General Installation Steps</a:t>
            </a:r>
            <a:endParaRPr lang="en-US" sz="1350" dirty="0"/>
          </a:p>
        </p:txBody>
      </p:sp>
      <p:sp>
        <p:nvSpPr>
          <p:cNvPr id="34" name="Shape 26"/>
          <p:cNvSpPr/>
          <p:nvPr/>
        </p:nvSpPr>
        <p:spPr>
          <a:xfrm>
            <a:off x="628650" y="5200650"/>
            <a:ext cx="3657600" cy="685800"/>
          </a:xfrm>
          <a:prstGeom prst="rect">
            <a:avLst/>
          </a:prstGeom>
          <a:solidFill>
            <a:srgbClr val="1E3A8A">
              <a:alpha val="30000"/>
            </a:srgbClr>
          </a:solidFill>
          <a:ln/>
        </p:spPr>
      </p:sp>
      <p:sp>
        <p:nvSpPr>
          <p:cNvPr id="35" name="Shape 27"/>
          <p:cNvSpPr/>
          <p:nvPr/>
        </p:nvSpPr>
        <p:spPr>
          <a:xfrm>
            <a:off x="628650" y="5200650"/>
            <a:ext cx="28575" cy="685800"/>
          </a:xfrm>
          <a:prstGeom prst="rect">
            <a:avLst/>
          </a:prstGeom>
          <a:solidFill>
            <a:srgbClr val="60A5FA"/>
          </a:solidFill>
          <a:ln/>
        </p:spPr>
      </p:sp>
      <p:sp>
        <p:nvSpPr>
          <p:cNvPr id="36" name="Text 28"/>
          <p:cNvSpPr/>
          <p:nvPr/>
        </p:nvSpPr>
        <p:spPr>
          <a:xfrm>
            <a:off x="742950" y="5286375"/>
            <a:ext cx="3614738" cy="200025"/>
          </a:xfrm>
          <a:prstGeom prst="rect">
            <a:avLst/>
          </a:prstGeom>
          <a:noFill/>
          <a:ln/>
        </p:spPr>
        <p:txBody>
          <a:bodyPr wrap="square" lIns="0" tIns="0" rIns="0" bIns="0" rtlCol="0" anchor="ctr">
            <a:spAutoFit/>
          </a:bodyPr>
          <a:lstStyle/>
          <a:p>
            <a:pPr indent="0" marL="0">
              <a:buNone/>
            </a:pPr>
            <a:r>
              <a:rPr lang="en-US" sz="1125" b="1" dirty="0">
                <a:solidFill>
                  <a:srgbClr val="F1F5F9"/>
                </a:solidFill>
                <a:latin typeface="Segoe UI" pitchFamily="34" charset="0"/>
                <a:ea typeface="Segoe UI" pitchFamily="34" charset="-122"/>
                <a:cs typeface="Segoe UI" pitchFamily="34" charset="-120"/>
              </a:rPr>
              <a:t>Step 1: Download JDK</a:t>
            </a:r>
            <a:endParaRPr lang="en-US" sz="1125" dirty="0"/>
          </a:p>
        </p:txBody>
      </p:sp>
      <p:sp>
        <p:nvSpPr>
          <p:cNvPr id="37" name="Text 29"/>
          <p:cNvSpPr/>
          <p:nvPr/>
        </p:nvSpPr>
        <p:spPr>
          <a:xfrm>
            <a:off x="742950" y="5529263"/>
            <a:ext cx="286364" cy="112514"/>
          </a:xfrm>
          <a:prstGeom prst="rect">
            <a:avLst/>
          </a:prstGeom>
          <a:noFill/>
          <a:ln/>
        </p:spPr>
        <p:txBody>
          <a:bodyPr wrap="none" lIns="0" tIns="0" rIns="0" bIns="0" rtlCol="0" anchor="ctr">
            <a:spAutoFit/>
          </a:bodyPr>
          <a:lstStyle/>
          <a:p>
            <a:pPr indent="0" marL="0">
              <a:buNone/>
            </a:pPr>
            <a:r>
              <a:rPr lang="en-US" sz="788" dirty="0">
                <a:solidFill>
                  <a:srgbClr val="F1F5F9"/>
                </a:solidFill>
                <a:latin typeface="Segoe UI" pitchFamily="34" charset="0"/>
                <a:ea typeface="Segoe UI" pitchFamily="34" charset="-122"/>
                <a:cs typeface="Segoe UI" pitchFamily="34" charset="-120"/>
              </a:rPr>
              <a:t>Visit</a:t>
            </a:r>
            <a:endParaRPr lang="en-US" sz="788" dirty="0"/>
          </a:p>
        </p:txBody>
      </p:sp>
      <p:sp>
        <p:nvSpPr>
          <p:cNvPr id="38" name="Text 30"/>
          <p:cNvSpPr/>
          <p:nvPr/>
        </p:nvSpPr>
        <p:spPr>
          <a:xfrm>
            <a:off x="957876" y="5529263"/>
            <a:ext cx="905331" cy="112514"/>
          </a:xfrm>
          <a:prstGeom prst="rect">
            <a:avLst/>
          </a:prstGeom>
          <a:noFill/>
          <a:ln/>
        </p:spPr>
        <p:txBody>
          <a:bodyPr wrap="none" lIns="0" tIns="0" rIns="0" bIns="0" rtlCol="0" anchor="ctr">
            <a:spAutoFit/>
          </a:bodyPr>
          <a:lstStyle/>
          <a:p>
            <a:pPr indent="0" marL="0">
              <a:buNone/>
            </a:pPr>
            <a:r>
              <a:rPr lang="en-US" sz="788" dirty="0">
                <a:solidFill>
                  <a:srgbClr val="60A5FA"/>
                </a:solidFill>
                <a:latin typeface="Segoe UI" pitchFamily="34" charset="0"/>
                <a:ea typeface="Segoe UI" pitchFamily="34" charset="-122"/>
                <a:cs typeface="Segoe UI" pitchFamily="34" charset="-120"/>
              </a:rPr>
              <a:t>https://jdk.java.net/</a:t>
            </a:r>
            <a:endParaRPr lang="en-US" sz="788" dirty="0"/>
          </a:p>
        </p:txBody>
      </p:sp>
      <p:sp>
        <p:nvSpPr>
          <p:cNvPr id="39" name="Text 31"/>
          <p:cNvSpPr/>
          <p:nvPr/>
        </p:nvSpPr>
        <p:spPr>
          <a:xfrm>
            <a:off x="1791770" y="5529263"/>
            <a:ext cx="188165" cy="112514"/>
          </a:xfrm>
          <a:prstGeom prst="rect">
            <a:avLst/>
          </a:prstGeom>
          <a:noFill/>
          <a:ln/>
        </p:spPr>
        <p:txBody>
          <a:bodyPr wrap="none" lIns="0" tIns="0" rIns="0" bIns="0" rtlCol="0" anchor="ctr">
            <a:spAutoFit/>
          </a:bodyPr>
          <a:lstStyle/>
          <a:p>
            <a:pPr indent="0" marL="0">
              <a:buNone/>
            </a:pPr>
            <a:r>
              <a:rPr lang="en-US" sz="788" dirty="0">
                <a:solidFill>
                  <a:srgbClr val="F1F5F9"/>
                </a:solidFill>
                <a:latin typeface="Segoe UI" pitchFamily="34" charset="0"/>
                <a:ea typeface="Segoe UI" pitchFamily="34" charset="-122"/>
                <a:cs typeface="Segoe UI" pitchFamily="34" charset="-120"/>
              </a:rPr>
              <a:t>or</a:t>
            </a:r>
            <a:endParaRPr lang="en-US" sz="788" dirty="0"/>
          </a:p>
        </p:txBody>
      </p:sp>
      <p:sp>
        <p:nvSpPr>
          <p:cNvPr id="40" name="Text 32"/>
          <p:cNvSpPr/>
          <p:nvPr/>
        </p:nvSpPr>
        <p:spPr>
          <a:xfrm>
            <a:off x="742950" y="5672138"/>
            <a:ext cx="2434093" cy="112514"/>
          </a:xfrm>
          <a:prstGeom prst="rect">
            <a:avLst/>
          </a:prstGeom>
          <a:noFill/>
          <a:ln/>
        </p:spPr>
        <p:txBody>
          <a:bodyPr wrap="square" lIns="0" tIns="0" rIns="0" bIns="0" rtlCol="0" anchor="ctr">
            <a:spAutoFit/>
          </a:bodyPr>
          <a:lstStyle/>
          <a:p>
            <a:pPr indent="0" marL="0">
              <a:buNone/>
            </a:pPr>
            <a:r>
              <a:rPr lang="en-US" sz="788" dirty="0">
                <a:solidFill>
                  <a:srgbClr val="60A5FA"/>
                </a:solidFill>
                <a:latin typeface="Segoe UI" pitchFamily="34" charset="0"/>
                <a:ea typeface="Segoe UI" pitchFamily="34" charset="-122"/>
                <a:cs typeface="Segoe UI" pitchFamily="34" charset="-120"/>
              </a:rPr>
              <a:t>https://www.oracle.com/java/technologies/downloads/</a:t>
            </a:r>
            <a:endParaRPr lang="en-US" sz="788" dirty="0"/>
          </a:p>
        </p:txBody>
      </p:sp>
      <p:sp>
        <p:nvSpPr>
          <p:cNvPr id="41" name="Shape 33"/>
          <p:cNvSpPr/>
          <p:nvPr/>
        </p:nvSpPr>
        <p:spPr>
          <a:xfrm>
            <a:off x="628650" y="6000750"/>
            <a:ext cx="3657600" cy="542925"/>
          </a:xfrm>
          <a:prstGeom prst="rect">
            <a:avLst/>
          </a:prstGeom>
          <a:solidFill>
            <a:srgbClr val="1E3A8A">
              <a:alpha val="30000"/>
            </a:srgbClr>
          </a:solidFill>
          <a:ln/>
        </p:spPr>
      </p:sp>
      <p:sp>
        <p:nvSpPr>
          <p:cNvPr id="42" name="Shape 34"/>
          <p:cNvSpPr/>
          <p:nvPr/>
        </p:nvSpPr>
        <p:spPr>
          <a:xfrm>
            <a:off x="628650" y="6000750"/>
            <a:ext cx="28575" cy="542925"/>
          </a:xfrm>
          <a:prstGeom prst="rect">
            <a:avLst/>
          </a:prstGeom>
          <a:solidFill>
            <a:srgbClr val="60A5FA"/>
          </a:solidFill>
          <a:ln/>
        </p:spPr>
      </p:sp>
      <p:sp>
        <p:nvSpPr>
          <p:cNvPr id="43" name="Text 35"/>
          <p:cNvSpPr/>
          <p:nvPr/>
        </p:nvSpPr>
        <p:spPr>
          <a:xfrm>
            <a:off x="742950" y="6086475"/>
            <a:ext cx="3614738" cy="200025"/>
          </a:xfrm>
          <a:prstGeom prst="rect">
            <a:avLst/>
          </a:prstGeom>
          <a:noFill/>
          <a:ln/>
        </p:spPr>
        <p:txBody>
          <a:bodyPr wrap="square" lIns="0" tIns="0" rIns="0" bIns="0" rtlCol="0" anchor="ctr">
            <a:spAutoFit/>
          </a:bodyPr>
          <a:lstStyle/>
          <a:p>
            <a:pPr indent="0" marL="0">
              <a:buNone/>
            </a:pPr>
            <a:r>
              <a:rPr lang="en-US" sz="1125" b="1" dirty="0">
                <a:solidFill>
                  <a:srgbClr val="F1F5F9"/>
                </a:solidFill>
                <a:latin typeface="Segoe UI" pitchFamily="34" charset="0"/>
                <a:ea typeface="Segoe UI" pitchFamily="34" charset="-122"/>
                <a:cs typeface="Segoe UI" pitchFamily="34" charset="-120"/>
              </a:rPr>
              <a:t>Step 2: Run the Installer</a:t>
            </a:r>
            <a:endParaRPr lang="en-US" sz="1125" dirty="0"/>
          </a:p>
        </p:txBody>
      </p:sp>
      <p:sp>
        <p:nvSpPr>
          <p:cNvPr id="44" name="Text 36"/>
          <p:cNvSpPr/>
          <p:nvPr/>
        </p:nvSpPr>
        <p:spPr>
          <a:xfrm>
            <a:off x="742950" y="6315075"/>
            <a:ext cx="3614738" cy="142875"/>
          </a:xfrm>
          <a:prstGeom prst="rect">
            <a:avLst/>
          </a:prstGeom>
          <a:noFill/>
          <a:ln/>
        </p:spPr>
        <p:txBody>
          <a:bodyPr wrap="square" lIns="0" tIns="0" rIns="0" bIns="0" rtlCol="0" anchor="ctr">
            <a:spAutoFit/>
          </a:bodyPr>
          <a:lstStyle/>
          <a:p>
            <a:pPr indent="0" marL="0">
              <a:buNone/>
            </a:pPr>
            <a:r>
              <a:rPr lang="en-US" sz="788" dirty="0">
                <a:solidFill>
                  <a:srgbClr val="F1F5F9"/>
                </a:solidFill>
                <a:latin typeface="Segoe UI" pitchFamily="34" charset="0"/>
                <a:ea typeface="Segoe UI" pitchFamily="34" charset="-122"/>
                <a:cs typeface="Segoe UI" pitchFamily="34" charset="-120"/>
              </a:rPr>
              <a:t>Follow the installation wizard instructions for your OS</a:t>
            </a:r>
            <a:endParaRPr lang="en-US" sz="788" dirty="0"/>
          </a:p>
        </p:txBody>
      </p:sp>
      <p:sp>
        <p:nvSpPr>
          <p:cNvPr id="45" name="Shape 37"/>
          <p:cNvSpPr/>
          <p:nvPr/>
        </p:nvSpPr>
        <p:spPr>
          <a:xfrm>
            <a:off x="628650" y="6657975"/>
            <a:ext cx="3657600" cy="542925"/>
          </a:xfrm>
          <a:prstGeom prst="rect">
            <a:avLst/>
          </a:prstGeom>
          <a:solidFill>
            <a:srgbClr val="1E3A8A">
              <a:alpha val="30000"/>
            </a:srgbClr>
          </a:solidFill>
          <a:ln/>
        </p:spPr>
      </p:sp>
      <p:sp>
        <p:nvSpPr>
          <p:cNvPr id="46" name="Shape 38"/>
          <p:cNvSpPr/>
          <p:nvPr/>
        </p:nvSpPr>
        <p:spPr>
          <a:xfrm>
            <a:off x="628650" y="6657975"/>
            <a:ext cx="28575" cy="542925"/>
          </a:xfrm>
          <a:prstGeom prst="rect">
            <a:avLst/>
          </a:prstGeom>
          <a:solidFill>
            <a:srgbClr val="60A5FA"/>
          </a:solidFill>
          <a:ln/>
        </p:spPr>
      </p:sp>
      <p:sp>
        <p:nvSpPr>
          <p:cNvPr id="47" name="Text 39"/>
          <p:cNvSpPr/>
          <p:nvPr/>
        </p:nvSpPr>
        <p:spPr>
          <a:xfrm>
            <a:off x="742950" y="6743700"/>
            <a:ext cx="3614738" cy="200025"/>
          </a:xfrm>
          <a:prstGeom prst="rect">
            <a:avLst/>
          </a:prstGeom>
          <a:noFill/>
          <a:ln/>
        </p:spPr>
        <p:txBody>
          <a:bodyPr wrap="square" lIns="0" tIns="0" rIns="0" bIns="0" rtlCol="0" anchor="ctr">
            <a:spAutoFit/>
          </a:bodyPr>
          <a:lstStyle/>
          <a:p>
            <a:pPr indent="0" marL="0">
              <a:buNone/>
            </a:pPr>
            <a:r>
              <a:rPr lang="en-US" sz="1125" b="1" dirty="0">
                <a:solidFill>
                  <a:srgbClr val="F1F5F9"/>
                </a:solidFill>
                <a:latin typeface="Segoe UI" pitchFamily="34" charset="0"/>
                <a:ea typeface="Segoe UI" pitchFamily="34" charset="-122"/>
                <a:cs typeface="Segoe UI" pitchFamily="34" charset="-120"/>
              </a:rPr>
              <a:t>Step 3: Set JAVA_HOME (if needed)</a:t>
            </a:r>
            <a:endParaRPr lang="en-US" sz="1125" dirty="0"/>
          </a:p>
        </p:txBody>
      </p:sp>
      <p:sp>
        <p:nvSpPr>
          <p:cNvPr id="48" name="Text 40"/>
          <p:cNvSpPr/>
          <p:nvPr/>
        </p:nvSpPr>
        <p:spPr>
          <a:xfrm>
            <a:off x="742950" y="6972300"/>
            <a:ext cx="3614738" cy="142875"/>
          </a:xfrm>
          <a:prstGeom prst="rect">
            <a:avLst/>
          </a:prstGeom>
          <a:noFill/>
          <a:ln/>
        </p:spPr>
        <p:txBody>
          <a:bodyPr wrap="square" lIns="0" tIns="0" rIns="0" bIns="0" rtlCol="0" anchor="ctr">
            <a:spAutoFit/>
          </a:bodyPr>
          <a:lstStyle/>
          <a:p>
            <a:pPr indent="0" marL="0">
              <a:buNone/>
            </a:pPr>
            <a:r>
              <a:rPr lang="en-US" sz="788" dirty="0">
                <a:solidFill>
                  <a:srgbClr val="F1F5F9"/>
                </a:solidFill>
                <a:latin typeface="Segoe UI" pitchFamily="34" charset="0"/>
                <a:ea typeface="Segoe UI" pitchFamily="34" charset="-122"/>
                <a:cs typeface="Segoe UI" pitchFamily="34" charset="-120"/>
              </a:rPr>
              <a:t>Configure environment variable to point to JDK installation directory</a:t>
            </a:r>
            <a:endParaRPr lang="en-US" sz="788" dirty="0"/>
          </a:p>
        </p:txBody>
      </p:sp>
      <p:sp>
        <p:nvSpPr>
          <p:cNvPr id="49" name="Shape 41"/>
          <p:cNvSpPr/>
          <p:nvPr/>
        </p:nvSpPr>
        <p:spPr>
          <a:xfrm>
            <a:off x="628650" y="7315200"/>
            <a:ext cx="3657600" cy="542925"/>
          </a:xfrm>
          <a:prstGeom prst="rect">
            <a:avLst/>
          </a:prstGeom>
          <a:solidFill>
            <a:srgbClr val="1E3A8A">
              <a:alpha val="30000"/>
            </a:srgbClr>
          </a:solidFill>
          <a:ln/>
        </p:spPr>
      </p:sp>
      <p:sp>
        <p:nvSpPr>
          <p:cNvPr id="50" name="Shape 42"/>
          <p:cNvSpPr/>
          <p:nvPr/>
        </p:nvSpPr>
        <p:spPr>
          <a:xfrm>
            <a:off x="628650" y="7315200"/>
            <a:ext cx="28575" cy="542925"/>
          </a:xfrm>
          <a:prstGeom prst="rect">
            <a:avLst/>
          </a:prstGeom>
          <a:solidFill>
            <a:srgbClr val="60A5FA"/>
          </a:solidFill>
          <a:ln/>
        </p:spPr>
      </p:sp>
      <p:sp>
        <p:nvSpPr>
          <p:cNvPr id="51" name="Text 43"/>
          <p:cNvSpPr/>
          <p:nvPr/>
        </p:nvSpPr>
        <p:spPr>
          <a:xfrm>
            <a:off x="742950" y="7400925"/>
            <a:ext cx="3614738" cy="200025"/>
          </a:xfrm>
          <a:prstGeom prst="rect">
            <a:avLst/>
          </a:prstGeom>
          <a:noFill/>
          <a:ln/>
        </p:spPr>
        <p:txBody>
          <a:bodyPr wrap="square" lIns="0" tIns="0" rIns="0" bIns="0" rtlCol="0" anchor="ctr">
            <a:spAutoFit/>
          </a:bodyPr>
          <a:lstStyle/>
          <a:p>
            <a:pPr indent="0" marL="0">
              <a:buNone/>
            </a:pPr>
            <a:r>
              <a:rPr lang="en-US" sz="1125" b="1" dirty="0">
                <a:solidFill>
                  <a:srgbClr val="F1F5F9"/>
                </a:solidFill>
                <a:latin typeface="Segoe UI" pitchFamily="34" charset="0"/>
                <a:ea typeface="Segoe UI" pitchFamily="34" charset="-122"/>
                <a:cs typeface="Segoe UI" pitchFamily="34" charset="-120"/>
              </a:rPr>
              <a:t>Step 4: Verify Installation</a:t>
            </a:r>
            <a:endParaRPr lang="en-US" sz="1125" dirty="0"/>
          </a:p>
        </p:txBody>
      </p:sp>
      <p:sp>
        <p:nvSpPr>
          <p:cNvPr id="52" name="Text 44"/>
          <p:cNvSpPr/>
          <p:nvPr/>
        </p:nvSpPr>
        <p:spPr>
          <a:xfrm>
            <a:off x="742950" y="7643813"/>
            <a:ext cx="1928115" cy="112514"/>
          </a:xfrm>
          <a:prstGeom prst="rect">
            <a:avLst/>
          </a:prstGeom>
          <a:noFill/>
          <a:ln/>
        </p:spPr>
        <p:txBody>
          <a:bodyPr wrap="square" lIns="0" tIns="0" rIns="0" bIns="0" rtlCol="0" anchor="ctr">
            <a:spAutoFit/>
          </a:bodyPr>
          <a:lstStyle/>
          <a:p>
            <a:pPr indent="0" marL="0">
              <a:buNone/>
            </a:pPr>
            <a:r>
              <a:rPr lang="en-US" sz="788" dirty="0">
                <a:solidFill>
                  <a:srgbClr val="F1F5F9"/>
                </a:solidFill>
                <a:latin typeface="Segoe UI" pitchFamily="34" charset="0"/>
                <a:ea typeface="Segoe UI" pitchFamily="34" charset="-122"/>
                <a:cs typeface="Segoe UI" pitchFamily="34" charset="-120"/>
              </a:rPr>
              <a:t>Open terminal/command prompt and run:</a:t>
            </a:r>
            <a:endParaRPr lang="en-US" sz="788" dirty="0"/>
          </a:p>
        </p:txBody>
      </p:sp>
      <p:sp>
        <p:nvSpPr>
          <p:cNvPr id="53" name="Text 45"/>
          <p:cNvSpPr/>
          <p:nvPr/>
        </p:nvSpPr>
        <p:spPr>
          <a:xfrm>
            <a:off x="2599627" y="7643813"/>
            <a:ext cx="638417" cy="112514"/>
          </a:xfrm>
          <a:prstGeom prst="rect">
            <a:avLst/>
          </a:prstGeom>
          <a:noFill/>
          <a:ln/>
        </p:spPr>
        <p:txBody>
          <a:bodyPr wrap="none" lIns="0" tIns="0" rIns="0" bIns="0" rtlCol="0" anchor="ctr">
            <a:spAutoFit/>
          </a:bodyPr>
          <a:lstStyle/>
          <a:p>
            <a:pPr indent="0" marL="0">
              <a:buNone/>
            </a:pPr>
            <a:r>
              <a:rPr lang="en-US" sz="788" dirty="0">
                <a:solidFill>
                  <a:srgbClr val="60A5FA"/>
                </a:solidFill>
                <a:latin typeface="Segoe UI" pitchFamily="34" charset="0"/>
                <a:ea typeface="Segoe UI" pitchFamily="34" charset="-122"/>
                <a:cs typeface="Segoe UI" pitchFamily="34" charset="-120"/>
              </a:rPr>
              <a:t>java -version</a:t>
            </a:r>
            <a:endParaRPr lang="en-US" sz="788" dirty="0"/>
          </a:p>
        </p:txBody>
      </p:sp>
      <p:sp>
        <p:nvSpPr>
          <p:cNvPr id="54" name="Shape 46"/>
          <p:cNvSpPr/>
          <p:nvPr/>
        </p:nvSpPr>
        <p:spPr>
          <a:xfrm>
            <a:off x="4686300" y="971550"/>
            <a:ext cx="4000500" cy="4243388"/>
          </a:xfrm>
          <a:prstGeom prst="rect">
            <a:avLst/>
          </a:prstGeom>
          <a:solidFill>
            <a:srgbClr val="FFFFFF">
              <a:alpha val="10000"/>
            </a:srgbClr>
          </a:solidFill>
          <a:ln w="99">
            <a:solidFill>
              <a:srgbClr val="60A5FA">
                <a:alpha val="30000"/>
              </a:srgbClr>
            </a:solidFill>
            <a:prstDash val="solid"/>
          </a:ln>
        </p:spPr>
      </p:sp>
      <p:sp>
        <p:nvSpPr>
          <p:cNvPr id="55" name="Text 47"/>
          <p:cNvSpPr/>
          <p:nvPr/>
        </p:nvSpPr>
        <p:spPr>
          <a:xfrm>
            <a:off x="4857750" y="1143000"/>
            <a:ext cx="3729038" cy="228600"/>
          </a:xfrm>
          <a:prstGeom prst="rect">
            <a:avLst/>
          </a:prstGeom>
          <a:noFill/>
          <a:ln/>
        </p:spPr>
        <p:txBody>
          <a:bodyPr wrap="square" lIns="0" tIns="0" rIns="0" bIns="0" rtlCol="0" anchor="ctr">
            <a:spAutoFit/>
          </a:bodyPr>
          <a:lstStyle/>
          <a:p>
            <a:pPr indent="0" marL="0">
              <a:buNone/>
            </a:pPr>
            <a:r>
              <a:rPr lang="en-US" sz="1350" b="1" dirty="0">
                <a:solidFill>
                  <a:srgbClr val="BFDBFE"/>
                </a:solidFill>
                <a:latin typeface="Segoe UI" pitchFamily="34" charset="0"/>
                <a:ea typeface="Segoe UI" pitchFamily="34" charset="-122"/>
                <a:cs typeface="Segoe UI" pitchFamily="34" charset="-120"/>
              </a:rPr>
              <a:t>Windows Installation</a:t>
            </a:r>
            <a:endParaRPr lang="en-US" sz="1350" dirty="0"/>
          </a:p>
        </p:txBody>
      </p:sp>
      <p:sp>
        <p:nvSpPr>
          <p:cNvPr id="56" name="Shape 48"/>
          <p:cNvSpPr/>
          <p:nvPr/>
        </p:nvSpPr>
        <p:spPr>
          <a:xfrm>
            <a:off x="4857750" y="1485900"/>
            <a:ext cx="3657600" cy="2914650"/>
          </a:xfrm>
          <a:prstGeom prst="rect">
            <a:avLst/>
          </a:prstGeom>
          <a:solidFill>
            <a:srgbClr val="1E3A8A">
              <a:alpha val="30000"/>
            </a:srgbClr>
          </a:solidFill>
          <a:ln w="397">
            <a:solidFill>
              <a:srgbClr val="60A5FA"/>
            </a:solidFill>
            <a:prstDash val="solid"/>
          </a:ln>
        </p:spPr>
      </p:sp>
      <p:sp>
        <p:nvSpPr>
          <p:cNvPr id="57" name="Text 49"/>
          <p:cNvSpPr/>
          <p:nvPr/>
        </p:nvSpPr>
        <p:spPr>
          <a:xfrm>
            <a:off x="4972050" y="1600200"/>
            <a:ext cx="3500438" cy="200025"/>
          </a:xfrm>
          <a:prstGeom prst="rect">
            <a:avLst/>
          </a:prstGeom>
          <a:noFill/>
          <a:ln/>
        </p:spPr>
        <p:txBody>
          <a:bodyPr wrap="square" lIns="0" tIns="0" rIns="0" bIns="0" rtlCol="0" anchor="ctr">
            <a:spAutoFit/>
          </a:bodyPr>
          <a:lstStyle/>
          <a:p>
            <a:pPr indent="0" marL="0">
              <a:buNone/>
            </a:pPr>
            <a:r>
              <a:rPr lang="en-US" sz="1125" b="1" dirty="0">
                <a:solidFill>
                  <a:srgbClr val="F1F5F9"/>
                </a:solidFill>
                <a:latin typeface="Segoe UI" pitchFamily="34" charset="0"/>
                <a:ea typeface="Segoe UI" pitchFamily="34" charset="-122"/>
                <a:cs typeface="Segoe UI" pitchFamily="34" charset="-120"/>
              </a:rPr>
              <a:t>Step-by-Step Guide</a:t>
            </a:r>
            <a:endParaRPr lang="en-US" sz="1125" dirty="0"/>
          </a:p>
        </p:txBody>
      </p:sp>
      <p:sp>
        <p:nvSpPr>
          <p:cNvPr id="58" name="Text 50"/>
          <p:cNvSpPr/>
          <p:nvPr/>
        </p:nvSpPr>
        <p:spPr>
          <a:xfrm>
            <a:off x="5086350" y="1885950"/>
            <a:ext cx="3386138" cy="171450"/>
          </a:xfrm>
          <a:prstGeom prst="rect">
            <a:avLst/>
          </a:prstGeom>
          <a:noFill/>
          <a:ln/>
        </p:spPr>
        <p:txBody>
          <a:bodyPr wrap="square" lIns="0" tIns="0" rIns="0" bIns="0" rtlCol="0" anchor="ctr">
            <a:spAutoFit/>
          </a:bodyPr>
          <a:lstStyle/>
          <a:p>
            <a:pPr algn="l" indent="0" marL="0">
              <a:buNone/>
            </a:pPr>
            <a:r>
              <a:rPr lang="en-US" sz="900" dirty="0">
                <a:solidFill>
                  <a:srgbClr val="F1F5F9"/>
                </a:solidFill>
                <a:latin typeface="Segoe UI" pitchFamily="34" charset="0"/>
                <a:ea typeface="Segoe UI" pitchFamily="34" charset="-122"/>
                <a:cs typeface="Segoe UI" pitchFamily="34" charset="-120"/>
              </a:rPr>
              <a:t>Download the Windows .exe or .msi installer</a:t>
            </a:r>
            <a:endParaRPr lang="en-US" sz="900" dirty="0"/>
          </a:p>
        </p:txBody>
      </p:sp>
      <p:sp>
        <p:nvSpPr>
          <p:cNvPr id="59" name="Text 51"/>
          <p:cNvSpPr/>
          <p:nvPr/>
        </p:nvSpPr>
        <p:spPr>
          <a:xfrm>
            <a:off x="5086350" y="2114550"/>
            <a:ext cx="3386138" cy="171450"/>
          </a:xfrm>
          <a:prstGeom prst="rect">
            <a:avLst/>
          </a:prstGeom>
          <a:noFill/>
          <a:ln/>
        </p:spPr>
        <p:txBody>
          <a:bodyPr wrap="square" lIns="0" tIns="0" rIns="0" bIns="0" rtlCol="0" anchor="ctr">
            <a:spAutoFit/>
          </a:bodyPr>
          <a:lstStyle/>
          <a:p>
            <a:pPr algn="l" indent="0" marL="0">
              <a:buNone/>
            </a:pPr>
            <a:r>
              <a:rPr lang="en-US" sz="900" dirty="0">
                <a:solidFill>
                  <a:srgbClr val="F1F5F9"/>
                </a:solidFill>
                <a:latin typeface="Segoe UI" pitchFamily="34" charset="0"/>
                <a:ea typeface="Segoe UI" pitchFamily="34" charset="-122"/>
                <a:cs typeface="Segoe UI" pitchFamily="34" charset="-120"/>
              </a:rPr>
              <a:t>Run the installer with administrator privileges</a:t>
            </a:r>
            <a:endParaRPr lang="en-US" sz="900" dirty="0"/>
          </a:p>
        </p:txBody>
      </p:sp>
      <p:sp>
        <p:nvSpPr>
          <p:cNvPr id="60" name="Text 52"/>
          <p:cNvSpPr/>
          <p:nvPr/>
        </p:nvSpPr>
        <p:spPr>
          <a:xfrm>
            <a:off x="5086350" y="2343150"/>
            <a:ext cx="3386138" cy="171450"/>
          </a:xfrm>
          <a:prstGeom prst="rect">
            <a:avLst/>
          </a:prstGeom>
          <a:noFill/>
          <a:ln/>
        </p:spPr>
        <p:txBody>
          <a:bodyPr wrap="square" lIns="0" tIns="0" rIns="0" bIns="0" rtlCol="0" anchor="ctr">
            <a:spAutoFit/>
          </a:bodyPr>
          <a:lstStyle/>
          <a:p>
            <a:pPr algn="l" indent="0" marL="0">
              <a:buNone/>
            </a:pPr>
            <a:r>
              <a:rPr lang="en-US" sz="900" dirty="0">
                <a:solidFill>
                  <a:srgbClr val="F1F5F9"/>
                </a:solidFill>
                <a:latin typeface="Segoe UI" pitchFamily="34" charset="0"/>
                <a:ea typeface="Segoe UI" pitchFamily="34" charset="-122"/>
                <a:cs typeface="Segoe UI" pitchFamily="34" charset="-120"/>
              </a:rPr>
              <a:t>Follow the installation wizard prompts</a:t>
            </a:r>
            <a:endParaRPr lang="en-US" sz="900" dirty="0"/>
          </a:p>
        </p:txBody>
      </p:sp>
      <p:sp>
        <p:nvSpPr>
          <p:cNvPr id="61" name="Text 53"/>
          <p:cNvSpPr/>
          <p:nvPr/>
        </p:nvSpPr>
        <p:spPr>
          <a:xfrm>
            <a:off x="5086350" y="2571750"/>
            <a:ext cx="3386138" cy="171450"/>
          </a:xfrm>
          <a:prstGeom prst="rect">
            <a:avLst/>
          </a:prstGeom>
          <a:noFill/>
          <a:ln/>
        </p:spPr>
        <p:txBody>
          <a:bodyPr wrap="square" lIns="0" tIns="0" rIns="0" bIns="0" rtlCol="0" anchor="ctr">
            <a:spAutoFit/>
          </a:bodyPr>
          <a:lstStyle/>
          <a:p>
            <a:pPr algn="l" indent="0" marL="0">
              <a:buNone/>
            </a:pPr>
            <a:r>
              <a:rPr lang="en-US" sz="900" dirty="0">
                <a:solidFill>
                  <a:srgbClr val="F1F5F9"/>
                </a:solidFill>
                <a:latin typeface="Segoe UI" pitchFamily="34" charset="0"/>
                <a:ea typeface="Segoe UI" pitchFamily="34" charset="-122"/>
                <a:cs typeface="Segoe UI" pitchFamily="34" charset="-120"/>
              </a:rPr>
              <a:t>Accept the default installation location or choose your own</a:t>
            </a:r>
            <a:endParaRPr lang="en-US" sz="900" dirty="0"/>
          </a:p>
        </p:txBody>
      </p:sp>
      <p:sp>
        <p:nvSpPr>
          <p:cNvPr id="62" name="Text 54"/>
          <p:cNvSpPr/>
          <p:nvPr/>
        </p:nvSpPr>
        <p:spPr>
          <a:xfrm>
            <a:off x="5086350" y="2800350"/>
            <a:ext cx="3386138" cy="171450"/>
          </a:xfrm>
          <a:prstGeom prst="rect">
            <a:avLst/>
          </a:prstGeom>
          <a:noFill/>
          <a:ln/>
        </p:spPr>
        <p:txBody>
          <a:bodyPr wrap="square" lIns="0" tIns="0" rIns="0" bIns="0" rtlCol="0" anchor="ctr">
            <a:spAutoFit/>
          </a:bodyPr>
          <a:lstStyle/>
          <a:p>
            <a:pPr algn="l" indent="0" marL="0">
              <a:buNone/>
            </a:pPr>
            <a:r>
              <a:rPr lang="en-US" sz="900" dirty="0">
                <a:solidFill>
                  <a:srgbClr val="F1F5F9"/>
                </a:solidFill>
                <a:latin typeface="Segoe UI" pitchFamily="34" charset="0"/>
                <a:ea typeface="Segoe UI" pitchFamily="34" charset="-122"/>
                <a:cs typeface="Segoe UI" pitchFamily="34" charset="-120"/>
              </a:rPr>
              <a:t>Wait for installation to complete</a:t>
            </a:r>
            <a:endParaRPr lang="en-US" sz="900" dirty="0"/>
          </a:p>
        </p:txBody>
      </p:sp>
      <p:sp>
        <p:nvSpPr>
          <p:cNvPr id="63" name="Shape 55"/>
          <p:cNvSpPr/>
          <p:nvPr/>
        </p:nvSpPr>
        <p:spPr>
          <a:xfrm>
            <a:off x="4857750" y="3086100"/>
            <a:ext cx="3657600" cy="1285875"/>
          </a:xfrm>
          <a:prstGeom prst="rect">
            <a:avLst/>
          </a:prstGeom>
          <a:solidFill>
            <a:srgbClr val="1E40AF">
              <a:alpha val="50000"/>
            </a:srgbClr>
          </a:solidFill>
          <a:ln/>
        </p:spPr>
      </p:sp>
      <p:sp>
        <p:nvSpPr>
          <p:cNvPr id="64" name="Text 56"/>
          <p:cNvSpPr/>
          <p:nvPr/>
        </p:nvSpPr>
        <p:spPr>
          <a:xfrm>
            <a:off x="4972050" y="3200400"/>
            <a:ext cx="3500438" cy="171450"/>
          </a:xfrm>
          <a:prstGeom prst="rect">
            <a:avLst/>
          </a:prstGeom>
          <a:noFill/>
          <a:ln/>
        </p:spPr>
        <p:txBody>
          <a:bodyPr wrap="square" lIns="0" tIns="0" rIns="0" bIns="0" rtlCol="0" anchor="ctr">
            <a:spAutoFit/>
          </a:bodyPr>
          <a:lstStyle/>
          <a:p>
            <a:pPr indent="0" marL="0">
              <a:buNone/>
            </a:pPr>
            <a:r>
              <a:rPr lang="en-US" sz="900" b="1" dirty="0">
                <a:solidFill>
                  <a:srgbClr val="F1F5F9"/>
                </a:solidFill>
                <a:latin typeface="Segoe UI" pitchFamily="34" charset="0"/>
                <a:ea typeface="Segoe UI" pitchFamily="34" charset="-122"/>
                <a:cs typeface="Segoe UI" pitchFamily="34" charset="-120"/>
              </a:rPr>
              <a:t>Setting Path Variables (if needed)</a:t>
            </a:r>
            <a:endParaRPr lang="en-US" sz="900" dirty="0"/>
          </a:p>
        </p:txBody>
      </p:sp>
      <p:sp>
        <p:nvSpPr>
          <p:cNvPr id="65" name="Text 57"/>
          <p:cNvSpPr/>
          <p:nvPr/>
        </p:nvSpPr>
        <p:spPr>
          <a:xfrm>
            <a:off x="5086350" y="3429000"/>
            <a:ext cx="3386138" cy="142875"/>
          </a:xfrm>
          <a:prstGeom prst="rect">
            <a:avLst/>
          </a:prstGeom>
          <a:noFill/>
          <a:ln/>
        </p:spPr>
        <p:txBody>
          <a:bodyPr wrap="square" lIns="0" tIns="0" rIns="0" bIns="0" rtlCol="0" anchor="ctr">
            <a:spAutoFit/>
          </a:bodyPr>
          <a:lstStyle/>
          <a:p>
            <a:pPr algn="l" indent="0" marL="0">
              <a:buNone/>
            </a:pPr>
            <a:r>
              <a:rPr lang="en-US" sz="788" dirty="0">
                <a:solidFill>
                  <a:srgbClr val="F1F5F9"/>
                </a:solidFill>
                <a:latin typeface="Segoe UI" pitchFamily="34" charset="0"/>
                <a:ea typeface="Segoe UI" pitchFamily="34" charset="-122"/>
                <a:cs typeface="Segoe UI" pitchFamily="34" charset="-120"/>
              </a:rPr>
              <a:t>Right-click on "This PC" → Properties → Advanced system settings</a:t>
            </a:r>
            <a:endParaRPr lang="en-US" sz="788" dirty="0"/>
          </a:p>
        </p:txBody>
      </p:sp>
      <p:sp>
        <p:nvSpPr>
          <p:cNvPr id="66" name="Text 58"/>
          <p:cNvSpPr/>
          <p:nvPr/>
        </p:nvSpPr>
        <p:spPr>
          <a:xfrm>
            <a:off x="5086350" y="3600450"/>
            <a:ext cx="3386138" cy="142875"/>
          </a:xfrm>
          <a:prstGeom prst="rect">
            <a:avLst/>
          </a:prstGeom>
          <a:noFill/>
          <a:ln/>
        </p:spPr>
        <p:txBody>
          <a:bodyPr wrap="square" lIns="0" tIns="0" rIns="0" bIns="0" rtlCol="0" anchor="ctr">
            <a:spAutoFit/>
          </a:bodyPr>
          <a:lstStyle/>
          <a:p>
            <a:pPr algn="l" indent="0" marL="0">
              <a:buNone/>
            </a:pPr>
            <a:r>
              <a:rPr lang="en-US" sz="788" dirty="0">
                <a:solidFill>
                  <a:srgbClr val="F1F5F9"/>
                </a:solidFill>
                <a:latin typeface="Segoe UI" pitchFamily="34" charset="0"/>
                <a:ea typeface="Segoe UI" pitchFamily="34" charset="-122"/>
                <a:cs typeface="Segoe UI" pitchFamily="34" charset="-120"/>
              </a:rPr>
              <a:t>Click "Environment Variables"</a:t>
            </a:r>
            <a:endParaRPr lang="en-US" sz="788" dirty="0"/>
          </a:p>
        </p:txBody>
      </p:sp>
      <p:sp>
        <p:nvSpPr>
          <p:cNvPr id="67" name="Text 59"/>
          <p:cNvSpPr/>
          <p:nvPr/>
        </p:nvSpPr>
        <p:spPr>
          <a:xfrm>
            <a:off x="5086350" y="3771900"/>
            <a:ext cx="3386138" cy="142875"/>
          </a:xfrm>
          <a:prstGeom prst="rect">
            <a:avLst/>
          </a:prstGeom>
          <a:noFill/>
          <a:ln/>
        </p:spPr>
        <p:txBody>
          <a:bodyPr wrap="square" lIns="0" tIns="0" rIns="0" bIns="0" rtlCol="0" anchor="ctr">
            <a:spAutoFit/>
          </a:bodyPr>
          <a:lstStyle/>
          <a:p>
            <a:pPr algn="l" indent="0" marL="0">
              <a:buNone/>
            </a:pPr>
            <a:r>
              <a:rPr lang="en-US" sz="788" dirty="0">
                <a:solidFill>
                  <a:srgbClr val="F1F5F9"/>
                </a:solidFill>
                <a:latin typeface="Segoe UI" pitchFamily="34" charset="0"/>
                <a:ea typeface="Segoe UI" pitchFamily="34" charset="-122"/>
                <a:cs typeface="Segoe UI" pitchFamily="34" charset="-120"/>
              </a:rPr>
              <a:t>Under System variables, click "New" and add JAVA_HOME</a:t>
            </a:r>
            <a:endParaRPr lang="en-US" sz="788" dirty="0"/>
          </a:p>
        </p:txBody>
      </p:sp>
      <p:sp>
        <p:nvSpPr>
          <p:cNvPr id="68" name="Text 60"/>
          <p:cNvSpPr/>
          <p:nvPr/>
        </p:nvSpPr>
        <p:spPr>
          <a:xfrm>
            <a:off x="5086350" y="3943350"/>
            <a:ext cx="3386138" cy="142875"/>
          </a:xfrm>
          <a:prstGeom prst="rect">
            <a:avLst/>
          </a:prstGeom>
          <a:noFill/>
          <a:ln/>
        </p:spPr>
        <p:txBody>
          <a:bodyPr wrap="square" lIns="0" tIns="0" rIns="0" bIns="0" rtlCol="0" anchor="ctr">
            <a:spAutoFit/>
          </a:bodyPr>
          <a:lstStyle/>
          <a:p>
            <a:pPr algn="l" indent="0" marL="0">
              <a:buNone/>
            </a:pPr>
            <a:r>
              <a:rPr lang="en-US" sz="788" dirty="0">
                <a:solidFill>
                  <a:srgbClr val="F1F5F9"/>
                </a:solidFill>
                <a:latin typeface="Segoe UI" pitchFamily="34" charset="0"/>
                <a:ea typeface="Segoe UI" pitchFamily="34" charset="-122"/>
                <a:cs typeface="Segoe UI" pitchFamily="34" charset="-120"/>
              </a:rPr>
              <a:t>Set value to JDK installation path (e.g., C:\Program Files\Java\jdk-17)</a:t>
            </a:r>
            <a:endParaRPr lang="en-US" sz="788" dirty="0"/>
          </a:p>
        </p:txBody>
      </p:sp>
      <p:sp>
        <p:nvSpPr>
          <p:cNvPr id="69" name="Text 61"/>
          <p:cNvSpPr/>
          <p:nvPr/>
        </p:nvSpPr>
        <p:spPr>
          <a:xfrm>
            <a:off x="5086350" y="4114800"/>
            <a:ext cx="3386138" cy="142875"/>
          </a:xfrm>
          <a:prstGeom prst="rect">
            <a:avLst/>
          </a:prstGeom>
          <a:noFill/>
          <a:ln/>
        </p:spPr>
        <p:txBody>
          <a:bodyPr wrap="square" lIns="0" tIns="0" rIns="0" bIns="0" rtlCol="0" anchor="ctr">
            <a:spAutoFit/>
          </a:bodyPr>
          <a:lstStyle/>
          <a:p>
            <a:pPr algn="l" indent="0" marL="0">
              <a:buNone/>
            </a:pPr>
            <a:r>
              <a:rPr lang="en-US" sz="788" dirty="0">
                <a:solidFill>
                  <a:srgbClr val="F1F5F9"/>
                </a:solidFill>
                <a:latin typeface="Segoe UI" pitchFamily="34" charset="0"/>
                <a:ea typeface="Segoe UI" pitchFamily="34" charset="-122"/>
                <a:cs typeface="Segoe UI" pitchFamily="34" charset="-120"/>
              </a:rPr>
              <a:t>Edit "Path" variable and add %JAVA_HOME%\bin</a:t>
            </a:r>
            <a:endParaRPr lang="en-US" sz="788" dirty="0"/>
          </a:p>
        </p:txBody>
      </p:sp>
      <p:sp>
        <p:nvSpPr>
          <p:cNvPr id="70" name="Shape 62"/>
          <p:cNvSpPr/>
          <p:nvPr/>
        </p:nvSpPr>
        <p:spPr>
          <a:xfrm>
            <a:off x="4857750" y="4486275"/>
            <a:ext cx="3657600" cy="514350"/>
          </a:xfrm>
          <a:prstGeom prst="rect">
            <a:avLst/>
          </a:prstGeom>
          <a:solidFill>
            <a:srgbClr val="78350F">
              <a:alpha val="20000"/>
            </a:srgbClr>
          </a:solidFill>
          <a:ln/>
        </p:spPr>
      </p:sp>
      <p:pic>
        <p:nvPicPr>
          <p:cNvPr id="71" name="Image 6" descr="preencoded.png">    </p:cNvPr>
          <p:cNvPicPr>
            <a:picLocks noChangeAspect="1"/>
          </p:cNvPicPr>
          <p:nvPr/>
        </p:nvPicPr>
        <p:blipFill>
          <a:blip r:embed="rId7"/>
          <a:stretch>
            <a:fillRect/>
          </a:stretch>
        </p:blipFill>
        <p:spPr>
          <a:xfrm>
            <a:off x="4972050" y="4657725"/>
            <a:ext cx="128588" cy="171450"/>
          </a:xfrm>
          <a:prstGeom prst="rect">
            <a:avLst/>
          </a:prstGeom>
        </p:spPr>
      </p:pic>
      <p:sp>
        <p:nvSpPr>
          <p:cNvPr id="72" name="Text 63"/>
          <p:cNvSpPr/>
          <p:nvPr/>
        </p:nvSpPr>
        <p:spPr>
          <a:xfrm>
            <a:off x="5214938" y="4600575"/>
            <a:ext cx="3257550" cy="285750"/>
          </a:xfrm>
          <a:prstGeom prst="rect">
            <a:avLst/>
          </a:prstGeom>
          <a:noFill/>
          <a:ln/>
        </p:spPr>
        <p:txBody>
          <a:bodyPr wrap="square" lIns="0" tIns="0" rIns="0" bIns="0" rtlCol="0" anchor="ctr">
            <a:spAutoFit/>
          </a:bodyPr>
          <a:lstStyle/>
          <a:p>
            <a:pPr indent="0" marL="0">
              <a:buNone/>
            </a:pPr>
            <a:r>
              <a:rPr lang="en-US" sz="788" dirty="0">
                <a:solidFill>
                  <a:srgbClr val="F1F5F9"/>
                </a:solidFill>
                <a:latin typeface="Segoe UI" pitchFamily="34" charset="0"/>
                <a:ea typeface="Segoe UI" pitchFamily="34" charset="-122"/>
                <a:cs typeface="Segoe UI" pitchFamily="34" charset="-120"/>
              </a:rPr>
              <a:t>Modern JDK installers for Windows typically set the PATH variable automatically, so manual configuration may not be necessary.</a:t>
            </a:r>
            <a:endParaRPr lang="en-US" sz="788" dirty="0"/>
          </a:p>
        </p:txBody>
      </p:sp>
      <p:sp>
        <p:nvSpPr>
          <p:cNvPr id="73" name="Shape 64"/>
          <p:cNvSpPr/>
          <p:nvPr/>
        </p:nvSpPr>
        <p:spPr>
          <a:xfrm>
            <a:off x="4686300" y="5343525"/>
            <a:ext cx="4000500" cy="3614738"/>
          </a:xfrm>
          <a:prstGeom prst="rect">
            <a:avLst/>
          </a:prstGeom>
          <a:solidFill>
            <a:srgbClr val="FFFFFF">
              <a:alpha val="10000"/>
            </a:srgbClr>
          </a:solidFill>
          <a:ln w="99">
            <a:solidFill>
              <a:srgbClr val="60A5FA">
                <a:alpha val="30000"/>
              </a:srgbClr>
            </a:solidFill>
            <a:prstDash val="solid"/>
          </a:ln>
        </p:spPr>
      </p:sp>
      <p:sp>
        <p:nvSpPr>
          <p:cNvPr id="74" name="Text 65"/>
          <p:cNvSpPr/>
          <p:nvPr/>
        </p:nvSpPr>
        <p:spPr>
          <a:xfrm>
            <a:off x="4857750" y="5514975"/>
            <a:ext cx="3729038" cy="228600"/>
          </a:xfrm>
          <a:prstGeom prst="rect">
            <a:avLst/>
          </a:prstGeom>
          <a:noFill/>
          <a:ln/>
        </p:spPr>
        <p:txBody>
          <a:bodyPr wrap="square" lIns="0" tIns="0" rIns="0" bIns="0" rtlCol="0" anchor="ctr">
            <a:spAutoFit/>
          </a:bodyPr>
          <a:lstStyle/>
          <a:p>
            <a:pPr indent="0" marL="0">
              <a:buNone/>
            </a:pPr>
            <a:r>
              <a:rPr lang="en-US" sz="1350" b="1" dirty="0">
                <a:solidFill>
                  <a:srgbClr val="BFDBFE"/>
                </a:solidFill>
                <a:latin typeface="Segoe UI" pitchFamily="34" charset="0"/>
                <a:ea typeface="Segoe UI" pitchFamily="34" charset="-122"/>
                <a:cs typeface="Segoe UI" pitchFamily="34" charset="-120"/>
              </a:rPr>
              <a:t>macOS Installation</a:t>
            </a:r>
            <a:endParaRPr lang="en-US" sz="1350" dirty="0"/>
          </a:p>
        </p:txBody>
      </p:sp>
      <p:sp>
        <p:nvSpPr>
          <p:cNvPr id="75" name="Shape 66"/>
          <p:cNvSpPr/>
          <p:nvPr/>
        </p:nvSpPr>
        <p:spPr>
          <a:xfrm>
            <a:off x="4857750" y="5857875"/>
            <a:ext cx="3657600" cy="2914650"/>
          </a:xfrm>
          <a:prstGeom prst="rect">
            <a:avLst/>
          </a:prstGeom>
          <a:solidFill>
            <a:srgbClr val="1E3A8A">
              <a:alpha val="30000"/>
            </a:srgbClr>
          </a:solidFill>
          <a:ln w="397">
            <a:solidFill>
              <a:srgbClr val="60A5FA"/>
            </a:solidFill>
            <a:prstDash val="solid"/>
          </a:ln>
        </p:spPr>
      </p:sp>
      <p:sp>
        <p:nvSpPr>
          <p:cNvPr id="76" name="Text 67"/>
          <p:cNvSpPr/>
          <p:nvPr/>
        </p:nvSpPr>
        <p:spPr>
          <a:xfrm>
            <a:off x="4972050" y="5972175"/>
            <a:ext cx="3500438" cy="200025"/>
          </a:xfrm>
          <a:prstGeom prst="rect">
            <a:avLst/>
          </a:prstGeom>
          <a:noFill/>
          <a:ln/>
        </p:spPr>
        <p:txBody>
          <a:bodyPr wrap="square" lIns="0" tIns="0" rIns="0" bIns="0" rtlCol="0" anchor="ctr">
            <a:spAutoFit/>
          </a:bodyPr>
          <a:lstStyle/>
          <a:p>
            <a:pPr indent="0" marL="0">
              <a:buNone/>
            </a:pPr>
            <a:r>
              <a:rPr lang="en-US" sz="1125" b="1" dirty="0">
                <a:solidFill>
                  <a:srgbClr val="F1F5F9"/>
                </a:solidFill>
                <a:latin typeface="Segoe UI" pitchFamily="34" charset="0"/>
                <a:ea typeface="Segoe UI" pitchFamily="34" charset="-122"/>
                <a:cs typeface="Segoe UI" pitchFamily="34" charset="-120"/>
              </a:rPr>
              <a:t>Step-by-Step Guide</a:t>
            </a:r>
            <a:endParaRPr lang="en-US" sz="1125" dirty="0"/>
          </a:p>
        </p:txBody>
      </p:sp>
      <p:sp>
        <p:nvSpPr>
          <p:cNvPr id="77" name="Text 68"/>
          <p:cNvSpPr/>
          <p:nvPr/>
        </p:nvSpPr>
        <p:spPr>
          <a:xfrm>
            <a:off x="5086350" y="6257925"/>
            <a:ext cx="3386138" cy="171450"/>
          </a:xfrm>
          <a:prstGeom prst="rect">
            <a:avLst/>
          </a:prstGeom>
          <a:noFill/>
          <a:ln/>
        </p:spPr>
        <p:txBody>
          <a:bodyPr wrap="square" lIns="0" tIns="0" rIns="0" bIns="0" rtlCol="0" anchor="ctr">
            <a:spAutoFit/>
          </a:bodyPr>
          <a:lstStyle/>
          <a:p>
            <a:pPr algn="l" indent="0" marL="0">
              <a:buNone/>
            </a:pPr>
            <a:r>
              <a:rPr lang="en-US" sz="900" dirty="0">
                <a:solidFill>
                  <a:srgbClr val="F1F5F9"/>
                </a:solidFill>
                <a:latin typeface="Segoe UI" pitchFamily="34" charset="0"/>
                <a:ea typeface="Segoe UI" pitchFamily="34" charset="-122"/>
                <a:cs typeface="Segoe UI" pitchFamily="34" charset="-120"/>
              </a:rPr>
              <a:t>Download the macOS .dmg or .pkg installer</a:t>
            </a:r>
            <a:endParaRPr lang="en-US" sz="900" dirty="0"/>
          </a:p>
        </p:txBody>
      </p:sp>
      <p:sp>
        <p:nvSpPr>
          <p:cNvPr id="78" name="Text 69"/>
          <p:cNvSpPr/>
          <p:nvPr/>
        </p:nvSpPr>
        <p:spPr>
          <a:xfrm>
            <a:off x="5086350" y="6486525"/>
            <a:ext cx="3386138" cy="171450"/>
          </a:xfrm>
          <a:prstGeom prst="rect">
            <a:avLst/>
          </a:prstGeom>
          <a:noFill/>
          <a:ln/>
        </p:spPr>
        <p:txBody>
          <a:bodyPr wrap="square" lIns="0" tIns="0" rIns="0" bIns="0" rtlCol="0" anchor="ctr">
            <a:spAutoFit/>
          </a:bodyPr>
          <a:lstStyle/>
          <a:p>
            <a:pPr algn="l" indent="0" marL="0">
              <a:buNone/>
            </a:pPr>
            <a:r>
              <a:rPr lang="en-US" sz="900" dirty="0">
                <a:solidFill>
                  <a:srgbClr val="F1F5F9"/>
                </a:solidFill>
                <a:latin typeface="Segoe UI" pitchFamily="34" charset="0"/>
                <a:ea typeface="Segoe UI" pitchFamily="34" charset="-122"/>
                <a:cs typeface="Segoe UI" pitchFamily="34" charset="-120"/>
              </a:rPr>
              <a:t>Open the downloaded file</a:t>
            </a:r>
            <a:endParaRPr lang="en-US" sz="900" dirty="0"/>
          </a:p>
        </p:txBody>
      </p:sp>
      <p:sp>
        <p:nvSpPr>
          <p:cNvPr id="79" name="Text 70"/>
          <p:cNvSpPr/>
          <p:nvPr/>
        </p:nvSpPr>
        <p:spPr>
          <a:xfrm>
            <a:off x="5086350" y="6715125"/>
            <a:ext cx="3386138" cy="171450"/>
          </a:xfrm>
          <a:prstGeom prst="rect">
            <a:avLst/>
          </a:prstGeom>
          <a:noFill/>
          <a:ln/>
        </p:spPr>
        <p:txBody>
          <a:bodyPr wrap="square" lIns="0" tIns="0" rIns="0" bIns="0" rtlCol="0" anchor="ctr">
            <a:spAutoFit/>
          </a:bodyPr>
          <a:lstStyle/>
          <a:p>
            <a:pPr algn="l" indent="0" marL="0">
              <a:buNone/>
            </a:pPr>
            <a:r>
              <a:rPr lang="en-US" sz="900" dirty="0">
                <a:solidFill>
                  <a:srgbClr val="F1F5F9"/>
                </a:solidFill>
                <a:latin typeface="Segoe UI" pitchFamily="34" charset="0"/>
                <a:ea typeface="Segoe UI" pitchFamily="34" charset="-122"/>
                <a:cs typeface="Segoe UI" pitchFamily="34" charset="-120"/>
              </a:rPr>
              <a:t>Follow the installation wizard prompts</a:t>
            </a:r>
            <a:endParaRPr lang="en-US" sz="900" dirty="0"/>
          </a:p>
        </p:txBody>
      </p:sp>
      <p:sp>
        <p:nvSpPr>
          <p:cNvPr id="80" name="Text 71"/>
          <p:cNvSpPr/>
          <p:nvPr/>
        </p:nvSpPr>
        <p:spPr>
          <a:xfrm>
            <a:off x="5086350" y="6943725"/>
            <a:ext cx="3386138" cy="171450"/>
          </a:xfrm>
          <a:prstGeom prst="rect">
            <a:avLst/>
          </a:prstGeom>
          <a:noFill/>
          <a:ln/>
        </p:spPr>
        <p:txBody>
          <a:bodyPr wrap="square" lIns="0" tIns="0" rIns="0" bIns="0" rtlCol="0" anchor="ctr">
            <a:spAutoFit/>
          </a:bodyPr>
          <a:lstStyle/>
          <a:p>
            <a:pPr algn="l" indent="0" marL="0">
              <a:buNone/>
            </a:pPr>
            <a:r>
              <a:rPr lang="en-US" sz="900" dirty="0">
                <a:solidFill>
                  <a:srgbClr val="F1F5F9"/>
                </a:solidFill>
                <a:latin typeface="Segoe UI" pitchFamily="34" charset="0"/>
                <a:ea typeface="Segoe UI" pitchFamily="34" charset="-122"/>
                <a:cs typeface="Segoe UI" pitchFamily="34" charset="-120"/>
              </a:rPr>
              <a:t>Enter your administrator password when prompted</a:t>
            </a:r>
            <a:endParaRPr lang="en-US" sz="900" dirty="0"/>
          </a:p>
        </p:txBody>
      </p:sp>
      <p:sp>
        <p:nvSpPr>
          <p:cNvPr id="81" name="Text 72"/>
          <p:cNvSpPr/>
          <p:nvPr/>
        </p:nvSpPr>
        <p:spPr>
          <a:xfrm>
            <a:off x="5086350" y="7172325"/>
            <a:ext cx="3386138" cy="171450"/>
          </a:xfrm>
          <a:prstGeom prst="rect">
            <a:avLst/>
          </a:prstGeom>
          <a:noFill/>
          <a:ln/>
        </p:spPr>
        <p:txBody>
          <a:bodyPr wrap="square" lIns="0" tIns="0" rIns="0" bIns="0" rtlCol="0" anchor="ctr">
            <a:spAutoFit/>
          </a:bodyPr>
          <a:lstStyle/>
          <a:p>
            <a:pPr algn="l" indent="0" marL="0">
              <a:buNone/>
            </a:pPr>
            <a:r>
              <a:rPr lang="en-US" sz="900" dirty="0">
                <a:solidFill>
                  <a:srgbClr val="F1F5F9"/>
                </a:solidFill>
                <a:latin typeface="Segoe UI" pitchFamily="34" charset="0"/>
                <a:ea typeface="Segoe UI" pitchFamily="34" charset="-122"/>
                <a:cs typeface="Segoe UI" pitchFamily="34" charset="-120"/>
              </a:rPr>
              <a:t>Wait for installation to complete</a:t>
            </a:r>
            <a:endParaRPr lang="en-US" sz="900" dirty="0"/>
          </a:p>
        </p:txBody>
      </p:sp>
      <p:sp>
        <p:nvSpPr>
          <p:cNvPr id="82" name="Shape 73"/>
          <p:cNvSpPr/>
          <p:nvPr/>
        </p:nvSpPr>
        <p:spPr>
          <a:xfrm>
            <a:off x="4857750" y="7458075"/>
            <a:ext cx="3657600" cy="1285875"/>
          </a:xfrm>
          <a:prstGeom prst="rect">
            <a:avLst/>
          </a:prstGeom>
          <a:solidFill>
            <a:srgbClr val="1E40AF">
              <a:alpha val="50000"/>
            </a:srgbClr>
          </a:solidFill>
          <a:ln/>
        </p:spPr>
      </p:sp>
      <p:sp>
        <p:nvSpPr>
          <p:cNvPr id="83" name="Text 74"/>
          <p:cNvSpPr/>
          <p:nvPr/>
        </p:nvSpPr>
        <p:spPr>
          <a:xfrm>
            <a:off x="4972050" y="7572375"/>
            <a:ext cx="3500438" cy="171450"/>
          </a:xfrm>
          <a:prstGeom prst="rect">
            <a:avLst/>
          </a:prstGeom>
          <a:noFill/>
          <a:ln/>
        </p:spPr>
        <p:txBody>
          <a:bodyPr wrap="square" lIns="0" tIns="0" rIns="0" bIns="0" rtlCol="0" anchor="ctr">
            <a:spAutoFit/>
          </a:bodyPr>
          <a:lstStyle/>
          <a:p>
            <a:pPr indent="0" marL="0">
              <a:buNone/>
            </a:pPr>
            <a:r>
              <a:rPr lang="en-US" sz="900" b="1" dirty="0">
                <a:solidFill>
                  <a:srgbClr val="F1F5F9"/>
                </a:solidFill>
                <a:latin typeface="Segoe UI" pitchFamily="34" charset="0"/>
                <a:ea typeface="Segoe UI" pitchFamily="34" charset="-122"/>
                <a:cs typeface="Segoe UI" pitchFamily="34" charset="-120"/>
              </a:rPr>
              <a:t>Setting Path Variables (if needed)</a:t>
            </a:r>
            <a:endParaRPr lang="en-US" sz="900" dirty="0"/>
          </a:p>
        </p:txBody>
      </p:sp>
      <p:sp>
        <p:nvSpPr>
          <p:cNvPr id="84" name="Text 75"/>
          <p:cNvSpPr/>
          <p:nvPr/>
        </p:nvSpPr>
        <p:spPr>
          <a:xfrm>
            <a:off x="5086350" y="7800975"/>
            <a:ext cx="3386138" cy="142875"/>
          </a:xfrm>
          <a:prstGeom prst="rect">
            <a:avLst/>
          </a:prstGeom>
          <a:noFill/>
          <a:ln/>
        </p:spPr>
        <p:txBody>
          <a:bodyPr wrap="square" lIns="0" tIns="0" rIns="0" bIns="0" rtlCol="0" anchor="ctr">
            <a:spAutoFit/>
          </a:bodyPr>
          <a:lstStyle/>
          <a:p>
            <a:pPr algn="l" indent="0" marL="0">
              <a:buNone/>
            </a:pPr>
            <a:r>
              <a:rPr lang="en-US" sz="788" dirty="0">
                <a:solidFill>
                  <a:srgbClr val="F1F5F9"/>
                </a:solidFill>
                <a:latin typeface="Segoe UI" pitchFamily="34" charset="0"/>
                <a:ea typeface="Segoe UI" pitchFamily="34" charset="-122"/>
                <a:cs typeface="Segoe UI" pitchFamily="34" charset="-120"/>
              </a:rPr>
              <a:t>Open Terminal</a:t>
            </a:r>
            <a:endParaRPr lang="en-US" sz="788" dirty="0"/>
          </a:p>
        </p:txBody>
      </p:sp>
      <p:sp>
        <p:nvSpPr>
          <p:cNvPr id="85" name="Text 76"/>
          <p:cNvSpPr/>
          <p:nvPr/>
        </p:nvSpPr>
        <p:spPr>
          <a:xfrm>
            <a:off x="5086350" y="7972425"/>
            <a:ext cx="3386138" cy="142875"/>
          </a:xfrm>
          <a:prstGeom prst="rect">
            <a:avLst/>
          </a:prstGeom>
          <a:noFill/>
          <a:ln/>
        </p:spPr>
        <p:txBody>
          <a:bodyPr wrap="square" lIns="0" tIns="0" rIns="0" bIns="0" rtlCol="0" anchor="ctr">
            <a:spAutoFit/>
          </a:bodyPr>
          <a:lstStyle/>
          <a:p>
            <a:pPr algn="l" indent="0" marL="0">
              <a:buNone/>
            </a:pPr>
            <a:r>
              <a:rPr lang="en-US" sz="788" dirty="0">
                <a:solidFill>
                  <a:srgbClr val="F1F5F9"/>
                </a:solidFill>
                <a:latin typeface="Segoe UI" pitchFamily="34" charset="0"/>
                <a:ea typeface="Segoe UI" pitchFamily="34" charset="-122"/>
                <a:cs typeface="Segoe UI" pitchFamily="34" charset="-120"/>
              </a:rPr>
              <a:t>Edit your shell profile file (~/.bash_profile, ~/.zshrc, etc.)</a:t>
            </a:r>
            <a:endParaRPr lang="en-US" sz="788" dirty="0"/>
          </a:p>
        </p:txBody>
      </p:sp>
      <p:sp>
        <p:nvSpPr>
          <p:cNvPr id="86" name="Text 77"/>
          <p:cNvSpPr/>
          <p:nvPr/>
        </p:nvSpPr>
        <p:spPr>
          <a:xfrm>
            <a:off x="5086350" y="8143875"/>
            <a:ext cx="3386138" cy="142875"/>
          </a:xfrm>
          <a:prstGeom prst="rect">
            <a:avLst/>
          </a:prstGeom>
          <a:noFill/>
          <a:ln/>
        </p:spPr>
        <p:txBody>
          <a:bodyPr wrap="square" lIns="0" tIns="0" rIns="0" bIns="0" rtlCol="0" anchor="ctr">
            <a:spAutoFit/>
          </a:bodyPr>
          <a:lstStyle/>
          <a:p>
            <a:pPr algn="l" indent="0" marL="0">
              <a:buNone/>
            </a:pPr>
            <a:r>
              <a:rPr lang="en-US" sz="788" dirty="0">
                <a:solidFill>
                  <a:srgbClr val="F1F5F9"/>
                </a:solidFill>
                <a:latin typeface="Segoe UI" pitchFamily="34" charset="0"/>
                <a:ea typeface="Segoe UI" pitchFamily="34" charset="-122"/>
                <a:cs typeface="Segoe UI" pitchFamily="34" charset="-120"/>
              </a:rPr>
              <a:t>Add: export JAVA_HOME=$(/usr/libexec/java_home)</a:t>
            </a:r>
            <a:endParaRPr lang="en-US" sz="788" dirty="0"/>
          </a:p>
        </p:txBody>
      </p:sp>
      <p:sp>
        <p:nvSpPr>
          <p:cNvPr id="87" name="Text 78"/>
          <p:cNvSpPr/>
          <p:nvPr/>
        </p:nvSpPr>
        <p:spPr>
          <a:xfrm>
            <a:off x="5086350" y="8315325"/>
            <a:ext cx="3386138" cy="142875"/>
          </a:xfrm>
          <a:prstGeom prst="rect">
            <a:avLst/>
          </a:prstGeom>
          <a:noFill/>
          <a:ln/>
        </p:spPr>
        <p:txBody>
          <a:bodyPr wrap="square" lIns="0" tIns="0" rIns="0" bIns="0" rtlCol="0" anchor="ctr">
            <a:spAutoFit/>
          </a:bodyPr>
          <a:lstStyle/>
          <a:p>
            <a:pPr algn="l" indent="0" marL="0">
              <a:buNone/>
            </a:pPr>
            <a:r>
              <a:rPr lang="en-US" sz="788" dirty="0">
                <a:solidFill>
                  <a:srgbClr val="F1F5F9"/>
                </a:solidFill>
                <a:latin typeface="Segoe UI" pitchFamily="34" charset="0"/>
                <a:ea typeface="Segoe UI" pitchFamily="34" charset="-122"/>
                <a:cs typeface="Segoe UI" pitchFamily="34" charset="-120"/>
              </a:rPr>
              <a:t>Add: export PATH=$JAVA_HOME/bin:$PATH</a:t>
            </a:r>
            <a:endParaRPr lang="en-US" sz="788" dirty="0"/>
          </a:p>
        </p:txBody>
      </p:sp>
      <p:sp>
        <p:nvSpPr>
          <p:cNvPr id="88" name="Text 79"/>
          <p:cNvSpPr/>
          <p:nvPr/>
        </p:nvSpPr>
        <p:spPr>
          <a:xfrm>
            <a:off x="5086350" y="8486775"/>
            <a:ext cx="3386138" cy="142875"/>
          </a:xfrm>
          <a:prstGeom prst="rect">
            <a:avLst/>
          </a:prstGeom>
          <a:noFill/>
          <a:ln/>
        </p:spPr>
        <p:txBody>
          <a:bodyPr wrap="square" lIns="0" tIns="0" rIns="0" bIns="0" rtlCol="0" anchor="ctr">
            <a:spAutoFit/>
          </a:bodyPr>
          <a:lstStyle/>
          <a:p>
            <a:pPr algn="l" indent="0" marL="0">
              <a:buNone/>
            </a:pPr>
            <a:r>
              <a:rPr lang="en-US" sz="788" dirty="0">
                <a:solidFill>
                  <a:srgbClr val="F1F5F9"/>
                </a:solidFill>
                <a:latin typeface="Segoe UI" pitchFamily="34" charset="0"/>
                <a:ea typeface="Segoe UI" pitchFamily="34" charset="-122"/>
                <a:cs typeface="Segoe UI" pitchFamily="34" charset="-120"/>
              </a:rPr>
              <a:t>Save and run: source ~/.bash_profile (or your profile file)</a:t>
            </a:r>
            <a:endParaRPr lang="en-US" sz="788" dirty="0"/>
          </a:p>
        </p:txBody>
      </p:sp>
      <p:sp>
        <p:nvSpPr>
          <p:cNvPr id="89" name="Shape 80"/>
          <p:cNvSpPr/>
          <p:nvPr/>
        </p:nvSpPr>
        <p:spPr>
          <a:xfrm>
            <a:off x="4686300" y="9086850"/>
            <a:ext cx="4000500" cy="4071938"/>
          </a:xfrm>
          <a:prstGeom prst="rect">
            <a:avLst/>
          </a:prstGeom>
          <a:solidFill>
            <a:srgbClr val="FFFFFF">
              <a:alpha val="10000"/>
            </a:srgbClr>
          </a:solidFill>
          <a:ln w="99">
            <a:solidFill>
              <a:srgbClr val="60A5FA">
                <a:alpha val="30000"/>
              </a:srgbClr>
            </a:solidFill>
            <a:prstDash val="solid"/>
          </a:ln>
        </p:spPr>
      </p:sp>
      <p:sp>
        <p:nvSpPr>
          <p:cNvPr id="90" name="Text 81"/>
          <p:cNvSpPr/>
          <p:nvPr/>
        </p:nvSpPr>
        <p:spPr>
          <a:xfrm>
            <a:off x="4857750" y="9258300"/>
            <a:ext cx="3729038" cy="228600"/>
          </a:xfrm>
          <a:prstGeom prst="rect">
            <a:avLst/>
          </a:prstGeom>
          <a:noFill/>
          <a:ln/>
        </p:spPr>
        <p:txBody>
          <a:bodyPr wrap="square" lIns="0" tIns="0" rIns="0" bIns="0" rtlCol="0" anchor="ctr">
            <a:spAutoFit/>
          </a:bodyPr>
          <a:lstStyle/>
          <a:p>
            <a:pPr indent="0" marL="0">
              <a:buNone/>
            </a:pPr>
            <a:r>
              <a:rPr lang="en-US" sz="1350" b="1" dirty="0">
                <a:solidFill>
                  <a:srgbClr val="BFDBFE"/>
                </a:solidFill>
                <a:latin typeface="Segoe UI" pitchFamily="34" charset="0"/>
                <a:ea typeface="Segoe UI" pitchFamily="34" charset="-122"/>
                <a:cs typeface="Segoe UI" pitchFamily="34" charset="-120"/>
              </a:rPr>
              <a:t>Linux Installation</a:t>
            </a:r>
            <a:endParaRPr lang="en-US" sz="1350" dirty="0"/>
          </a:p>
        </p:txBody>
      </p:sp>
      <p:sp>
        <p:nvSpPr>
          <p:cNvPr id="91" name="Shape 82"/>
          <p:cNvSpPr/>
          <p:nvPr/>
        </p:nvSpPr>
        <p:spPr>
          <a:xfrm>
            <a:off x="4857750" y="9601200"/>
            <a:ext cx="3657600" cy="3371850"/>
          </a:xfrm>
          <a:prstGeom prst="rect">
            <a:avLst/>
          </a:prstGeom>
          <a:solidFill>
            <a:srgbClr val="1E3A8A">
              <a:alpha val="30000"/>
            </a:srgbClr>
          </a:solidFill>
          <a:ln w="397">
            <a:solidFill>
              <a:srgbClr val="60A5FA"/>
            </a:solidFill>
            <a:prstDash val="solid"/>
          </a:ln>
        </p:spPr>
      </p:sp>
      <p:sp>
        <p:nvSpPr>
          <p:cNvPr id="92" name="Text 83"/>
          <p:cNvSpPr/>
          <p:nvPr/>
        </p:nvSpPr>
        <p:spPr>
          <a:xfrm>
            <a:off x="4972050" y="9715500"/>
            <a:ext cx="3500438" cy="200025"/>
          </a:xfrm>
          <a:prstGeom prst="rect">
            <a:avLst/>
          </a:prstGeom>
          <a:noFill/>
          <a:ln/>
        </p:spPr>
        <p:txBody>
          <a:bodyPr wrap="square" lIns="0" tIns="0" rIns="0" bIns="0" rtlCol="0" anchor="ctr">
            <a:spAutoFit/>
          </a:bodyPr>
          <a:lstStyle/>
          <a:p>
            <a:pPr indent="0" marL="0">
              <a:buNone/>
            </a:pPr>
            <a:r>
              <a:rPr lang="en-US" sz="1125" b="1" dirty="0">
                <a:solidFill>
                  <a:srgbClr val="F1F5F9"/>
                </a:solidFill>
                <a:latin typeface="Segoe UI" pitchFamily="34" charset="0"/>
                <a:ea typeface="Segoe UI" pitchFamily="34" charset="-122"/>
                <a:cs typeface="Segoe UI" pitchFamily="34" charset="-120"/>
              </a:rPr>
              <a:t>Using Package Manager (Ubuntu/Debian)</a:t>
            </a:r>
            <a:endParaRPr lang="en-US" sz="1125" dirty="0"/>
          </a:p>
        </p:txBody>
      </p:sp>
      <p:sp>
        <p:nvSpPr>
          <p:cNvPr id="93" name="Shape 84"/>
          <p:cNvSpPr/>
          <p:nvPr/>
        </p:nvSpPr>
        <p:spPr>
          <a:xfrm>
            <a:off x="4972050" y="10001250"/>
            <a:ext cx="3429000" cy="514350"/>
          </a:xfrm>
          <a:prstGeom prst="rect">
            <a:avLst/>
          </a:prstGeom>
          <a:solidFill>
            <a:srgbClr val="111827">
              <a:alpha val="50000"/>
            </a:srgbClr>
          </a:solidFill>
          <a:ln/>
        </p:spPr>
      </p:sp>
      <p:sp>
        <p:nvSpPr>
          <p:cNvPr id="94" name="Text 85"/>
          <p:cNvSpPr/>
          <p:nvPr/>
        </p:nvSpPr>
        <p:spPr>
          <a:xfrm>
            <a:off x="5057775" y="10128052"/>
            <a:ext cx="971717" cy="114300"/>
          </a:xfrm>
          <a:prstGeom prst="rect">
            <a:avLst/>
          </a:prstGeom>
          <a:noFill/>
          <a:ln/>
        </p:spPr>
        <p:txBody>
          <a:bodyPr wrap="none" lIns="0" tIns="0" rIns="0" bIns="0" rtlCol="0" anchor="ctr">
            <a:spAutoFit/>
          </a:bodyPr>
          <a:lstStyle/>
          <a:p>
            <a:pPr indent="0" marL="0">
              <a:buNone/>
            </a:pPr>
            <a:r>
              <a:rPr lang="en-US" sz="788" dirty="0">
                <a:solidFill>
                  <a:srgbClr val="DBEAFE"/>
                </a:solidFill>
                <a:latin typeface="ui-monospace" pitchFamily="34" charset="0"/>
                <a:ea typeface="ui-monospace" pitchFamily="34" charset="-122"/>
                <a:cs typeface="ui-monospace" pitchFamily="34" charset="-120"/>
              </a:rPr>
              <a:t>sudo apt update</a:t>
            </a:r>
            <a:endParaRPr lang="en-US" sz="788" dirty="0"/>
          </a:p>
        </p:txBody>
      </p:sp>
      <p:sp>
        <p:nvSpPr>
          <p:cNvPr id="95" name="Text 86"/>
          <p:cNvSpPr/>
          <p:nvPr/>
        </p:nvSpPr>
        <p:spPr>
          <a:xfrm>
            <a:off x="5057775" y="10299502"/>
            <a:ext cx="1931994" cy="114300"/>
          </a:xfrm>
          <a:prstGeom prst="rect">
            <a:avLst/>
          </a:prstGeom>
          <a:noFill/>
          <a:ln/>
        </p:spPr>
        <p:txBody>
          <a:bodyPr wrap="square" lIns="0" tIns="0" rIns="0" bIns="0" rtlCol="0" anchor="ctr">
            <a:spAutoFit/>
          </a:bodyPr>
          <a:lstStyle/>
          <a:p>
            <a:pPr indent="0" marL="0">
              <a:buNone/>
            </a:pPr>
            <a:r>
              <a:rPr lang="en-US" sz="788" dirty="0">
                <a:solidFill>
                  <a:srgbClr val="DBEAFE"/>
                </a:solidFill>
                <a:latin typeface="ui-monospace" pitchFamily="34" charset="0"/>
                <a:ea typeface="ui-monospace" pitchFamily="34" charset="-122"/>
                <a:cs typeface="ui-monospace" pitchFamily="34" charset="-120"/>
              </a:rPr>
              <a:t>sudo apt install openjdk-17-jdk</a:t>
            </a:r>
            <a:endParaRPr lang="en-US" sz="788" dirty="0"/>
          </a:p>
        </p:txBody>
      </p:sp>
      <p:sp>
        <p:nvSpPr>
          <p:cNvPr id="96" name="Text 87"/>
          <p:cNvSpPr/>
          <p:nvPr/>
        </p:nvSpPr>
        <p:spPr>
          <a:xfrm>
            <a:off x="4972050" y="10629900"/>
            <a:ext cx="3500438" cy="200025"/>
          </a:xfrm>
          <a:prstGeom prst="rect">
            <a:avLst/>
          </a:prstGeom>
          <a:noFill/>
          <a:ln/>
        </p:spPr>
        <p:txBody>
          <a:bodyPr wrap="square" lIns="0" tIns="0" rIns="0" bIns="0" rtlCol="0" anchor="ctr">
            <a:spAutoFit/>
          </a:bodyPr>
          <a:lstStyle/>
          <a:p>
            <a:pPr indent="0" marL="0">
              <a:buNone/>
            </a:pPr>
            <a:r>
              <a:rPr lang="en-US" sz="1125" b="1" dirty="0">
                <a:solidFill>
                  <a:srgbClr val="F1F5F9"/>
                </a:solidFill>
                <a:latin typeface="Segoe UI" pitchFamily="34" charset="0"/>
                <a:ea typeface="Segoe UI" pitchFamily="34" charset="-122"/>
                <a:cs typeface="Segoe UI" pitchFamily="34" charset="-120"/>
              </a:rPr>
              <a:t>Manual Installation</a:t>
            </a:r>
            <a:endParaRPr lang="en-US" sz="1125" dirty="0"/>
          </a:p>
        </p:txBody>
      </p:sp>
      <p:sp>
        <p:nvSpPr>
          <p:cNvPr id="97" name="Text 88"/>
          <p:cNvSpPr/>
          <p:nvPr/>
        </p:nvSpPr>
        <p:spPr>
          <a:xfrm>
            <a:off x="5086350" y="10915650"/>
            <a:ext cx="3386138" cy="171450"/>
          </a:xfrm>
          <a:prstGeom prst="rect">
            <a:avLst/>
          </a:prstGeom>
          <a:noFill/>
          <a:ln/>
        </p:spPr>
        <p:txBody>
          <a:bodyPr wrap="square" lIns="0" tIns="0" rIns="0" bIns="0" rtlCol="0" anchor="ctr">
            <a:spAutoFit/>
          </a:bodyPr>
          <a:lstStyle/>
          <a:p>
            <a:pPr algn="l" indent="0" marL="0">
              <a:buNone/>
            </a:pPr>
            <a:r>
              <a:rPr lang="en-US" sz="900" dirty="0">
                <a:solidFill>
                  <a:srgbClr val="F1F5F9"/>
                </a:solidFill>
                <a:latin typeface="Segoe UI" pitchFamily="34" charset="0"/>
                <a:ea typeface="Segoe UI" pitchFamily="34" charset="-122"/>
                <a:cs typeface="Segoe UI" pitchFamily="34" charset="-120"/>
              </a:rPr>
              <a:t>Download the Linux .tar.gz archive</a:t>
            </a:r>
            <a:endParaRPr lang="en-US" sz="900" dirty="0"/>
          </a:p>
        </p:txBody>
      </p:sp>
      <p:sp>
        <p:nvSpPr>
          <p:cNvPr id="98" name="Text 89"/>
          <p:cNvSpPr/>
          <p:nvPr/>
        </p:nvSpPr>
        <p:spPr>
          <a:xfrm>
            <a:off x="5213431" y="11165681"/>
            <a:ext cx="1450070" cy="128588"/>
          </a:xfrm>
          <a:prstGeom prst="rect">
            <a:avLst/>
          </a:prstGeom>
          <a:noFill/>
          <a:ln/>
        </p:spPr>
        <p:txBody>
          <a:bodyPr wrap="square" lIns="0" tIns="0" rIns="0" bIns="0" rtlCol="0" anchor="ctr">
            <a:spAutoFit/>
          </a:bodyPr>
          <a:lstStyle/>
          <a:p>
            <a:pPr algn="l" indent="0" marL="0">
              <a:buNone/>
            </a:pPr>
            <a:r>
              <a:rPr lang="en-US" sz="900" dirty="0">
                <a:solidFill>
                  <a:srgbClr val="F1F5F9"/>
                </a:solidFill>
                <a:latin typeface="Segoe UI" pitchFamily="34" charset="0"/>
                <a:ea typeface="Segoe UI" pitchFamily="34" charset="-122"/>
                <a:cs typeface="Segoe UI" pitchFamily="34" charset="-120"/>
              </a:rPr>
              <a:t>Extract to desired location:</a:t>
            </a:r>
            <a:endParaRPr lang="en-US" sz="900" dirty="0"/>
          </a:p>
        </p:txBody>
      </p:sp>
      <p:sp>
        <p:nvSpPr>
          <p:cNvPr id="99" name="Text 90"/>
          <p:cNvSpPr/>
          <p:nvPr/>
        </p:nvSpPr>
        <p:spPr>
          <a:xfrm>
            <a:off x="5086350" y="11199614"/>
            <a:ext cx="2708904" cy="267891"/>
          </a:xfrm>
          <a:prstGeom prst="rect">
            <a:avLst/>
          </a:prstGeom>
          <a:noFill/>
          <a:ln/>
        </p:spPr>
        <p:txBody>
          <a:bodyPr wrap="square" lIns="0" tIns="0" rIns="0" bIns="0" rtlCol="0" anchor="ctr">
            <a:spAutoFit/>
          </a:bodyPr>
          <a:lstStyle/>
          <a:p>
            <a:pPr algn="l" indent="0" marL="0">
              <a:buNone/>
            </a:pPr>
            <a:r>
              <a:rPr lang="en-US" sz="675" dirty="0">
                <a:solidFill>
                  <a:srgbClr val="BFDBFE"/>
                </a:solidFill>
                <a:latin typeface="ui-monospace" pitchFamily="34" charset="0"/>
                <a:ea typeface="ui-monospace" pitchFamily="34" charset="-122"/>
                <a:cs typeface="ui-monospace" pitchFamily="34" charset="-120"/>
              </a:rPr>
              <a:t>tar -xvf jdk-17_linux-x64_bin.tar.gz</a:t>
            </a:r>
            <a:endParaRPr lang="en-US" sz="675" dirty="0"/>
          </a:p>
        </p:txBody>
      </p:sp>
      <p:sp>
        <p:nvSpPr>
          <p:cNvPr id="100" name="Text 91"/>
          <p:cNvSpPr/>
          <p:nvPr/>
        </p:nvSpPr>
        <p:spPr>
          <a:xfrm>
            <a:off x="5213431" y="11565731"/>
            <a:ext cx="763935" cy="128588"/>
          </a:xfrm>
          <a:prstGeom prst="rect">
            <a:avLst/>
          </a:prstGeom>
          <a:noFill/>
          <a:ln/>
        </p:spPr>
        <p:txBody>
          <a:bodyPr wrap="none" lIns="0" tIns="0" rIns="0" bIns="0" rtlCol="0" anchor="ctr">
            <a:spAutoFit/>
          </a:bodyPr>
          <a:lstStyle/>
          <a:p>
            <a:pPr algn="l" indent="0" marL="0">
              <a:buNone/>
            </a:pPr>
            <a:r>
              <a:rPr lang="en-US" sz="900" dirty="0">
                <a:solidFill>
                  <a:srgbClr val="F1F5F9"/>
                </a:solidFill>
                <a:latin typeface="Segoe UI" pitchFamily="34" charset="0"/>
                <a:ea typeface="Segoe UI" pitchFamily="34" charset="-122"/>
                <a:cs typeface="Segoe UI" pitchFamily="34" charset="-120"/>
              </a:rPr>
              <a:t>Move to /opt:</a:t>
            </a:r>
            <a:endParaRPr lang="en-US" sz="900" dirty="0"/>
          </a:p>
        </p:txBody>
      </p:sp>
      <p:sp>
        <p:nvSpPr>
          <p:cNvPr id="101" name="Text 92"/>
          <p:cNvSpPr/>
          <p:nvPr/>
        </p:nvSpPr>
        <p:spPr>
          <a:xfrm>
            <a:off x="5905928" y="11599664"/>
            <a:ext cx="1100305" cy="96441"/>
          </a:xfrm>
          <a:prstGeom prst="rect">
            <a:avLst/>
          </a:prstGeom>
          <a:noFill/>
          <a:ln/>
        </p:spPr>
        <p:txBody>
          <a:bodyPr wrap="none" lIns="0" tIns="0" rIns="0" bIns="0" rtlCol="0" anchor="ctr">
            <a:spAutoFit/>
          </a:bodyPr>
          <a:lstStyle/>
          <a:p>
            <a:pPr algn="l" indent="0" marL="0">
              <a:buNone/>
            </a:pPr>
            <a:r>
              <a:rPr lang="en-US" sz="675" dirty="0">
                <a:solidFill>
                  <a:srgbClr val="BFDBFE"/>
                </a:solidFill>
                <a:latin typeface="ui-monospace" pitchFamily="34" charset="0"/>
                <a:ea typeface="ui-monospace" pitchFamily="34" charset="-122"/>
                <a:cs typeface="ui-monospace" pitchFamily="34" charset="-120"/>
              </a:rPr>
              <a:t>sudo mv jdk-17 /opt/</a:t>
            </a:r>
            <a:endParaRPr lang="en-US" sz="675" dirty="0"/>
          </a:p>
        </p:txBody>
      </p:sp>
      <p:sp>
        <p:nvSpPr>
          <p:cNvPr id="102" name="Shape 93"/>
          <p:cNvSpPr/>
          <p:nvPr/>
        </p:nvSpPr>
        <p:spPr>
          <a:xfrm>
            <a:off x="4857750" y="11830050"/>
            <a:ext cx="3657600" cy="1114425"/>
          </a:xfrm>
          <a:prstGeom prst="rect">
            <a:avLst/>
          </a:prstGeom>
          <a:solidFill>
            <a:srgbClr val="1E40AF">
              <a:alpha val="50000"/>
            </a:srgbClr>
          </a:solidFill>
          <a:ln/>
        </p:spPr>
      </p:sp>
      <p:sp>
        <p:nvSpPr>
          <p:cNvPr id="103" name="Text 94"/>
          <p:cNvSpPr/>
          <p:nvPr/>
        </p:nvSpPr>
        <p:spPr>
          <a:xfrm>
            <a:off x="4972050" y="11944350"/>
            <a:ext cx="3500438" cy="171450"/>
          </a:xfrm>
          <a:prstGeom prst="rect">
            <a:avLst/>
          </a:prstGeom>
          <a:noFill/>
          <a:ln/>
        </p:spPr>
        <p:txBody>
          <a:bodyPr wrap="square" lIns="0" tIns="0" rIns="0" bIns="0" rtlCol="0" anchor="ctr">
            <a:spAutoFit/>
          </a:bodyPr>
          <a:lstStyle/>
          <a:p>
            <a:pPr indent="0" marL="0">
              <a:buNone/>
            </a:pPr>
            <a:r>
              <a:rPr lang="en-US" sz="900" b="1" dirty="0">
                <a:solidFill>
                  <a:srgbClr val="F1F5F9"/>
                </a:solidFill>
                <a:latin typeface="Segoe UI" pitchFamily="34" charset="0"/>
                <a:ea typeface="Segoe UI" pitchFamily="34" charset="-122"/>
                <a:cs typeface="Segoe UI" pitchFamily="34" charset="-120"/>
              </a:rPr>
              <a:t>Setting Path Variables</a:t>
            </a:r>
            <a:endParaRPr lang="en-US" sz="900" dirty="0"/>
          </a:p>
        </p:txBody>
      </p:sp>
      <p:sp>
        <p:nvSpPr>
          <p:cNvPr id="104" name="Text 95"/>
          <p:cNvSpPr/>
          <p:nvPr/>
        </p:nvSpPr>
        <p:spPr>
          <a:xfrm>
            <a:off x="5086350" y="12172950"/>
            <a:ext cx="3386138" cy="142875"/>
          </a:xfrm>
          <a:prstGeom prst="rect">
            <a:avLst/>
          </a:prstGeom>
          <a:noFill/>
          <a:ln/>
        </p:spPr>
        <p:txBody>
          <a:bodyPr wrap="square" lIns="0" tIns="0" rIns="0" bIns="0" rtlCol="0" anchor="ctr">
            <a:spAutoFit/>
          </a:bodyPr>
          <a:lstStyle/>
          <a:p>
            <a:pPr algn="l" indent="0" marL="0">
              <a:buNone/>
            </a:pPr>
            <a:r>
              <a:rPr lang="en-US" sz="788" dirty="0">
                <a:solidFill>
                  <a:srgbClr val="F1F5F9"/>
                </a:solidFill>
                <a:latin typeface="Segoe UI" pitchFamily="34" charset="0"/>
                <a:ea typeface="Segoe UI" pitchFamily="34" charset="-122"/>
                <a:cs typeface="Segoe UI" pitchFamily="34" charset="-120"/>
              </a:rPr>
              <a:t>Edit ~/.bashrc or ~/.profile</a:t>
            </a:r>
            <a:endParaRPr lang="en-US" sz="788" dirty="0"/>
          </a:p>
        </p:txBody>
      </p:sp>
      <p:sp>
        <p:nvSpPr>
          <p:cNvPr id="105" name="Text 96"/>
          <p:cNvSpPr/>
          <p:nvPr/>
        </p:nvSpPr>
        <p:spPr>
          <a:xfrm>
            <a:off x="5086350" y="12344400"/>
            <a:ext cx="3386138" cy="142875"/>
          </a:xfrm>
          <a:prstGeom prst="rect">
            <a:avLst/>
          </a:prstGeom>
          <a:noFill/>
          <a:ln/>
        </p:spPr>
        <p:txBody>
          <a:bodyPr wrap="square" lIns="0" tIns="0" rIns="0" bIns="0" rtlCol="0" anchor="ctr">
            <a:spAutoFit/>
          </a:bodyPr>
          <a:lstStyle/>
          <a:p>
            <a:pPr algn="l" indent="0" marL="0">
              <a:buNone/>
            </a:pPr>
            <a:r>
              <a:rPr lang="en-US" sz="788" dirty="0">
                <a:solidFill>
                  <a:srgbClr val="F1F5F9"/>
                </a:solidFill>
                <a:latin typeface="Segoe UI" pitchFamily="34" charset="0"/>
                <a:ea typeface="Segoe UI" pitchFamily="34" charset="-122"/>
                <a:cs typeface="Segoe UI" pitchFamily="34" charset="-120"/>
              </a:rPr>
              <a:t>Add: export JAVA_HOME=/opt/jdk-17</a:t>
            </a:r>
            <a:endParaRPr lang="en-US" sz="788" dirty="0"/>
          </a:p>
        </p:txBody>
      </p:sp>
      <p:sp>
        <p:nvSpPr>
          <p:cNvPr id="106" name="Text 97"/>
          <p:cNvSpPr/>
          <p:nvPr/>
        </p:nvSpPr>
        <p:spPr>
          <a:xfrm>
            <a:off x="5086350" y="12515850"/>
            <a:ext cx="3386138" cy="142875"/>
          </a:xfrm>
          <a:prstGeom prst="rect">
            <a:avLst/>
          </a:prstGeom>
          <a:noFill/>
          <a:ln/>
        </p:spPr>
        <p:txBody>
          <a:bodyPr wrap="square" lIns="0" tIns="0" rIns="0" bIns="0" rtlCol="0" anchor="ctr">
            <a:spAutoFit/>
          </a:bodyPr>
          <a:lstStyle/>
          <a:p>
            <a:pPr algn="l" indent="0" marL="0">
              <a:buNone/>
            </a:pPr>
            <a:r>
              <a:rPr lang="en-US" sz="788" dirty="0">
                <a:solidFill>
                  <a:srgbClr val="F1F5F9"/>
                </a:solidFill>
                <a:latin typeface="Segoe UI" pitchFamily="34" charset="0"/>
                <a:ea typeface="Segoe UI" pitchFamily="34" charset="-122"/>
                <a:cs typeface="Segoe UI" pitchFamily="34" charset="-120"/>
              </a:rPr>
              <a:t>Add: export PATH=$JAVA_HOME/bin:$PATH</a:t>
            </a:r>
            <a:endParaRPr lang="en-US" sz="788" dirty="0"/>
          </a:p>
        </p:txBody>
      </p:sp>
      <p:sp>
        <p:nvSpPr>
          <p:cNvPr id="107" name="Text 98"/>
          <p:cNvSpPr/>
          <p:nvPr/>
        </p:nvSpPr>
        <p:spPr>
          <a:xfrm>
            <a:off x="5086350" y="12687300"/>
            <a:ext cx="3386138" cy="142875"/>
          </a:xfrm>
          <a:prstGeom prst="rect">
            <a:avLst/>
          </a:prstGeom>
          <a:noFill/>
          <a:ln/>
        </p:spPr>
        <p:txBody>
          <a:bodyPr wrap="square" lIns="0" tIns="0" rIns="0" bIns="0" rtlCol="0" anchor="ctr">
            <a:spAutoFit/>
          </a:bodyPr>
          <a:lstStyle/>
          <a:p>
            <a:pPr algn="l" indent="0" marL="0">
              <a:buNone/>
            </a:pPr>
            <a:r>
              <a:rPr lang="en-US" sz="788" dirty="0">
                <a:solidFill>
                  <a:srgbClr val="F1F5F9"/>
                </a:solidFill>
                <a:latin typeface="Segoe UI" pitchFamily="34" charset="0"/>
                <a:ea typeface="Segoe UI" pitchFamily="34" charset="-122"/>
                <a:cs typeface="Segoe UI" pitchFamily="34" charset="-120"/>
              </a:rPr>
              <a:t>Save and run: source ~/.bashrc</a:t>
            </a:r>
            <a:endParaRPr lang="en-US" sz="788" dirty="0"/>
          </a:p>
        </p:txBody>
      </p:sp>
      <p:sp>
        <p:nvSpPr>
          <p:cNvPr id="108" name="Shape 99"/>
          <p:cNvSpPr/>
          <p:nvPr/>
        </p:nvSpPr>
        <p:spPr>
          <a:xfrm>
            <a:off x="457200" y="13344525"/>
            <a:ext cx="8229600" cy="3500438"/>
          </a:xfrm>
          <a:prstGeom prst="rect">
            <a:avLst/>
          </a:prstGeom>
          <a:solidFill>
            <a:srgbClr val="FFFFFF">
              <a:alpha val="10000"/>
            </a:srgbClr>
          </a:solidFill>
          <a:ln w="99">
            <a:solidFill>
              <a:srgbClr val="60A5FA">
                <a:alpha val="30000"/>
              </a:srgbClr>
            </a:solidFill>
            <a:prstDash val="solid"/>
          </a:ln>
        </p:spPr>
      </p:sp>
      <p:sp>
        <p:nvSpPr>
          <p:cNvPr id="109" name="Text 100"/>
          <p:cNvSpPr/>
          <p:nvPr/>
        </p:nvSpPr>
        <p:spPr>
          <a:xfrm>
            <a:off x="628650" y="13515975"/>
            <a:ext cx="7958138" cy="228600"/>
          </a:xfrm>
          <a:prstGeom prst="rect">
            <a:avLst/>
          </a:prstGeom>
          <a:noFill/>
          <a:ln/>
        </p:spPr>
        <p:txBody>
          <a:bodyPr wrap="square" lIns="0" tIns="0" rIns="0" bIns="0" rtlCol="0" anchor="ctr">
            <a:spAutoFit/>
          </a:bodyPr>
          <a:lstStyle/>
          <a:p>
            <a:pPr indent="0" marL="0">
              <a:buNone/>
            </a:pPr>
            <a:r>
              <a:rPr lang="en-US" sz="1350" b="1" dirty="0">
                <a:solidFill>
                  <a:srgbClr val="BFDBFE"/>
                </a:solidFill>
                <a:latin typeface="Segoe UI" pitchFamily="34" charset="0"/>
                <a:ea typeface="Segoe UI" pitchFamily="34" charset="-122"/>
                <a:cs typeface="Segoe UI" pitchFamily="34" charset="-120"/>
              </a:rPr>
              <a:t>Verifying Your Installation</a:t>
            </a:r>
            <a:endParaRPr lang="en-US" sz="1350" dirty="0"/>
          </a:p>
        </p:txBody>
      </p:sp>
      <p:sp>
        <p:nvSpPr>
          <p:cNvPr id="110" name="Shape 101"/>
          <p:cNvSpPr/>
          <p:nvPr/>
        </p:nvSpPr>
        <p:spPr>
          <a:xfrm>
            <a:off x="628650" y="13858875"/>
            <a:ext cx="3857625" cy="2057400"/>
          </a:xfrm>
          <a:prstGeom prst="rect">
            <a:avLst/>
          </a:prstGeom>
          <a:solidFill>
            <a:srgbClr val="1E3A8A">
              <a:alpha val="30000"/>
            </a:srgbClr>
          </a:solidFill>
          <a:ln/>
        </p:spPr>
      </p:sp>
      <p:sp>
        <p:nvSpPr>
          <p:cNvPr id="111" name="Text 102"/>
          <p:cNvSpPr/>
          <p:nvPr/>
        </p:nvSpPr>
        <p:spPr>
          <a:xfrm>
            <a:off x="742950" y="13973175"/>
            <a:ext cx="3700463" cy="200025"/>
          </a:xfrm>
          <a:prstGeom prst="rect">
            <a:avLst/>
          </a:prstGeom>
          <a:noFill/>
          <a:ln/>
        </p:spPr>
        <p:txBody>
          <a:bodyPr wrap="square" lIns="0" tIns="0" rIns="0" bIns="0" rtlCol="0" anchor="ctr">
            <a:spAutoFit/>
          </a:bodyPr>
          <a:lstStyle/>
          <a:p>
            <a:pPr indent="0" marL="0">
              <a:buNone/>
            </a:pPr>
            <a:r>
              <a:rPr lang="en-US" sz="1125" b="1" dirty="0">
                <a:solidFill>
                  <a:srgbClr val="F1F5F9"/>
                </a:solidFill>
                <a:latin typeface="Segoe UI" pitchFamily="34" charset="0"/>
                <a:ea typeface="Segoe UI" pitchFamily="34" charset="-122"/>
                <a:cs typeface="Segoe UI" pitchFamily="34" charset="-120"/>
              </a:rPr>
              <a:t>Check Java Version</a:t>
            </a:r>
            <a:endParaRPr lang="en-US" sz="1125" dirty="0"/>
          </a:p>
        </p:txBody>
      </p:sp>
      <p:sp>
        <p:nvSpPr>
          <p:cNvPr id="112" name="Text 103"/>
          <p:cNvSpPr/>
          <p:nvPr/>
        </p:nvSpPr>
        <p:spPr>
          <a:xfrm>
            <a:off x="742950" y="14258925"/>
            <a:ext cx="3700463" cy="171450"/>
          </a:xfrm>
          <a:prstGeom prst="rect">
            <a:avLst/>
          </a:prstGeom>
          <a:noFill/>
          <a:ln/>
        </p:spPr>
        <p:txBody>
          <a:bodyPr wrap="square" lIns="0" tIns="0" rIns="0" bIns="0" rtlCol="0" anchor="ctr">
            <a:spAutoFit/>
          </a:bodyPr>
          <a:lstStyle/>
          <a:p>
            <a:pPr indent="0" marL="0">
              <a:buNone/>
            </a:pPr>
            <a:r>
              <a:rPr lang="en-US" sz="900" dirty="0">
                <a:solidFill>
                  <a:srgbClr val="F1F5F9"/>
                </a:solidFill>
                <a:latin typeface="Segoe UI" pitchFamily="34" charset="0"/>
                <a:ea typeface="Segoe UI" pitchFamily="34" charset="-122"/>
                <a:cs typeface="Segoe UI" pitchFamily="34" charset="-120"/>
              </a:rPr>
              <a:t>Open a terminal or command prompt and run:</a:t>
            </a:r>
            <a:endParaRPr lang="en-US" sz="900" dirty="0"/>
          </a:p>
        </p:txBody>
      </p:sp>
      <p:sp>
        <p:nvSpPr>
          <p:cNvPr id="113" name="Shape 104"/>
          <p:cNvSpPr/>
          <p:nvPr/>
        </p:nvSpPr>
        <p:spPr>
          <a:xfrm>
            <a:off x="742950" y="14516100"/>
            <a:ext cx="3629025" cy="514350"/>
          </a:xfrm>
          <a:prstGeom prst="rect">
            <a:avLst/>
          </a:prstGeom>
          <a:solidFill>
            <a:srgbClr val="111827">
              <a:alpha val="50000"/>
            </a:srgbClr>
          </a:solidFill>
          <a:ln/>
        </p:spPr>
      </p:sp>
      <p:sp>
        <p:nvSpPr>
          <p:cNvPr id="114" name="Text 105"/>
          <p:cNvSpPr/>
          <p:nvPr/>
        </p:nvSpPr>
        <p:spPr>
          <a:xfrm>
            <a:off x="828675" y="14642902"/>
            <a:ext cx="851669" cy="114300"/>
          </a:xfrm>
          <a:prstGeom prst="rect">
            <a:avLst/>
          </a:prstGeom>
          <a:noFill/>
          <a:ln/>
        </p:spPr>
        <p:txBody>
          <a:bodyPr wrap="none" lIns="0" tIns="0" rIns="0" bIns="0" rtlCol="0" anchor="ctr">
            <a:spAutoFit/>
          </a:bodyPr>
          <a:lstStyle/>
          <a:p>
            <a:pPr indent="0" marL="0">
              <a:buNone/>
            </a:pPr>
            <a:r>
              <a:rPr lang="en-US" sz="788" dirty="0">
                <a:solidFill>
                  <a:srgbClr val="DBEAFE"/>
                </a:solidFill>
                <a:latin typeface="ui-monospace" pitchFamily="34" charset="0"/>
                <a:ea typeface="ui-monospace" pitchFamily="34" charset="-122"/>
                <a:cs typeface="ui-monospace" pitchFamily="34" charset="-120"/>
              </a:rPr>
              <a:t>java -version</a:t>
            </a:r>
            <a:endParaRPr lang="en-US" sz="788" dirty="0"/>
          </a:p>
        </p:txBody>
      </p:sp>
      <p:sp>
        <p:nvSpPr>
          <p:cNvPr id="115" name="Text 106"/>
          <p:cNvSpPr/>
          <p:nvPr/>
        </p:nvSpPr>
        <p:spPr>
          <a:xfrm>
            <a:off x="828675" y="14814352"/>
            <a:ext cx="911693" cy="114300"/>
          </a:xfrm>
          <a:prstGeom prst="rect">
            <a:avLst/>
          </a:prstGeom>
          <a:noFill/>
          <a:ln/>
        </p:spPr>
        <p:txBody>
          <a:bodyPr wrap="none" lIns="0" tIns="0" rIns="0" bIns="0" rtlCol="0" anchor="ctr">
            <a:spAutoFit/>
          </a:bodyPr>
          <a:lstStyle/>
          <a:p>
            <a:pPr indent="0" marL="0">
              <a:buNone/>
            </a:pPr>
            <a:r>
              <a:rPr lang="en-US" sz="788" dirty="0">
                <a:solidFill>
                  <a:srgbClr val="DBEAFE"/>
                </a:solidFill>
                <a:latin typeface="ui-monospace" pitchFamily="34" charset="0"/>
                <a:ea typeface="ui-monospace" pitchFamily="34" charset="-122"/>
                <a:cs typeface="ui-monospace" pitchFamily="34" charset="-120"/>
              </a:rPr>
              <a:t>javac -version</a:t>
            </a:r>
            <a:endParaRPr lang="en-US" sz="788" dirty="0"/>
          </a:p>
        </p:txBody>
      </p:sp>
      <p:sp>
        <p:nvSpPr>
          <p:cNvPr id="116" name="Text 107"/>
          <p:cNvSpPr/>
          <p:nvPr/>
        </p:nvSpPr>
        <p:spPr>
          <a:xfrm>
            <a:off x="742950" y="15116175"/>
            <a:ext cx="3700463" cy="142875"/>
          </a:xfrm>
          <a:prstGeom prst="rect">
            <a:avLst/>
          </a:prstGeom>
          <a:noFill/>
          <a:ln/>
        </p:spPr>
        <p:txBody>
          <a:bodyPr wrap="square" lIns="0" tIns="0" rIns="0" bIns="0" rtlCol="0" anchor="ctr">
            <a:spAutoFit/>
          </a:bodyPr>
          <a:lstStyle/>
          <a:p>
            <a:pPr indent="0" marL="0">
              <a:buNone/>
            </a:pPr>
            <a:r>
              <a:rPr lang="en-US" sz="788" dirty="0">
                <a:solidFill>
                  <a:srgbClr val="F1F5F9"/>
                </a:solidFill>
                <a:latin typeface="Segoe UI" pitchFamily="34" charset="0"/>
                <a:ea typeface="Segoe UI" pitchFamily="34" charset="-122"/>
                <a:cs typeface="Segoe UI" pitchFamily="34" charset="-120"/>
              </a:rPr>
              <a:t>You should see output showing the installed Java version.</a:t>
            </a:r>
            <a:endParaRPr lang="en-US" sz="788" dirty="0"/>
          </a:p>
        </p:txBody>
      </p:sp>
      <p:sp>
        <p:nvSpPr>
          <p:cNvPr id="117" name="Shape 108"/>
          <p:cNvSpPr/>
          <p:nvPr/>
        </p:nvSpPr>
        <p:spPr>
          <a:xfrm>
            <a:off x="4657725" y="13858875"/>
            <a:ext cx="3857625" cy="2057400"/>
          </a:xfrm>
          <a:prstGeom prst="rect">
            <a:avLst/>
          </a:prstGeom>
          <a:solidFill>
            <a:srgbClr val="1E3A8A">
              <a:alpha val="30000"/>
            </a:srgbClr>
          </a:solidFill>
          <a:ln/>
        </p:spPr>
      </p:sp>
      <p:sp>
        <p:nvSpPr>
          <p:cNvPr id="118" name="Text 109"/>
          <p:cNvSpPr/>
          <p:nvPr/>
        </p:nvSpPr>
        <p:spPr>
          <a:xfrm>
            <a:off x="4772025" y="13973175"/>
            <a:ext cx="3700463" cy="200025"/>
          </a:xfrm>
          <a:prstGeom prst="rect">
            <a:avLst/>
          </a:prstGeom>
          <a:noFill/>
          <a:ln/>
        </p:spPr>
        <p:txBody>
          <a:bodyPr wrap="square" lIns="0" tIns="0" rIns="0" bIns="0" rtlCol="0" anchor="ctr">
            <a:spAutoFit/>
          </a:bodyPr>
          <a:lstStyle/>
          <a:p>
            <a:pPr indent="0" marL="0">
              <a:buNone/>
            </a:pPr>
            <a:r>
              <a:rPr lang="en-US" sz="1125" b="1" dirty="0">
                <a:solidFill>
                  <a:srgbClr val="F1F5F9"/>
                </a:solidFill>
                <a:latin typeface="Segoe UI" pitchFamily="34" charset="0"/>
                <a:ea typeface="Segoe UI" pitchFamily="34" charset="-122"/>
                <a:cs typeface="Segoe UI" pitchFamily="34" charset="-120"/>
              </a:rPr>
              <a:t>Sample Output</a:t>
            </a:r>
            <a:endParaRPr lang="en-US" sz="1125" dirty="0"/>
          </a:p>
        </p:txBody>
      </p:sp>
      <p:sp>
        <p:nvSpPr>
          <p:cNvPr id="119" name="Shape 110"/>
          <p:cNvSpPr/>
          <p:nvPr/>
        </p:nvSpPr>
        <p:spPr>
          <a:xfrm>
            <a:off x="4772025" y="14258925"/>
            <a:ext cx="3629025" cy="1543050"/>
          </a:xfrm>
          <a:prstGeom prst="rect">
            <a:avLst/>
          </a:prstGeom>
          <a:solidFill>
            <a:srgbClr val="111827">
              <a:alpha val="50000"/>
            </a:srgbClr>
          </a:solidFill>
          <a:ln/>
        </p:spPr>
      </p:sp>
      <p:sp>
        <p:nvSpPr>
          <p:cNvPr id="120" name="Text 111"/>
          <p:cNvSpPr/>
          <p:nvPr/>
        </p:nvSpPr>
        <p:spPr>
          <a:xfrm>
            <a:off x="4857750" y="14385727"/>
            <a:ext cx="971717" cy="114300"/>
          </a:xfrm>
          <a:prstGeom prst="rect">
            <a:avLst/>
          </a:prstGeom>
          <a:noFill/>
          <a:ln/>
        </p:spPr>
        <p:txBody>
          <a:bodyPr wrap="none" lIns="0" tIns="0" rIns="0" bIns="0" rtlCol="0" anchor="ctr">
            <a:spAutoFit/>
          </a:bodyPr>
          <a:lstStyle/>
          <a:p>
            <a:pPr indent="0" marL="0">
              <a:buNone/>
            </a:pPr>
            <a:r>
              <a:rPr lang="en-US" sz="788" dirty="0">
                <a:solidFill>
                  <a:srgbClr val="6EE7B7"/>
                </a:solidFill>
                <a:latin typeface="ui-monospace" pitchFamily="34" charset="0"/>
                <a:ea typeface="ui-monospace" pitchFamily="34" charset="-122"/>
                <a:cs typeface="ui-monospace" pitchFamily="34" charset="-120"/>
              </a:rPr>
              <a:t>$ java -version</a:t>
            </a:r>
            <a:endParaRPr lang="en-US" sz="788" dirty="0"/>
          </a:p>
        </p:txBody>
      </p:sp>
      <p:sp>
        <p:nvSpPr>
          <p:cNvPr id="121" name="Text 112"/>
          <p:cNvSpPr/>
          <p:nvPr/>
        </p:nvSpPr>
        <p:spPr>
          <a:xfrm>
            <a:off x="4857750" y="14557177"/>
            <a:ext cx="2172063" cy="114300"/>
          </a:xfrm>
          <a:prstGeom prst="rect">
            <a:avLst/>
          </a:prstGeom>
          <a:noFill/>
          <a:ln/>
        </p:spPr>
        <p:txBody>
          <a:bodyPr wrap="square" lIns="0" tIns="0" rIns="0" bIns="0" rtlCol="0" anchor="ctr">
            <a:spAutoFit/>
          </a:bodyPr>
          <a:lstStyle/>
          <a:p>
            <a:pPr indent="0" marL="0">
              <a:buNone/>
            </a:pPr>
            <a:r>
              <a:rPr lang="en-US" sz="788" dirty="0">
                <a:solidFill>
                  <a:srgbClr val="6EE7B7"/>
                </a:solidFill>
                <a:latin typeface="ui-monospace" pitchFamily="34" charset="0"/>
                <a:ea typeface="ui-monospace" pitchFamily="34" charset="-122"/>
                <a:cs typeface="ui-monospace" pitchFamily="34" charset="-120"/>
              </a:rPr>
              <a:t>openjdk version "17.0.2" 2022-01-18</a:t>
            </a:r>
            <a:endParaRPr lang="en-US" sz="788" dirty="0"/>
          </a:p>
        </p:txBody>
      </p:sp>
      <p:sp>
        <p:nvSpPr>
          <p:cNvPr id="122" name="Text 113"/>
          <p:cNvSpPr/>
          <p:nvPr/>
        </p:nvSpPr>
        <p:spPr>
          <a:xfrm>
            <a:off x="4857750" y="14728627"/>
            <a:ext cx="2892270" cy="114300"/>
          </a:xfrm>
          <a:prstGeom prst="rect">
            <a:avLst/>
          </a:prstGeom>
          <a:noFill/>
          <a:ln/>
        </p:spPr>
        <p:txBody>
          <a:bodyPr wrap="square" lIns="0" tIns="0" rIns="0" bIns="0" rtlCol="0" anchor="ctr">
            <a:spAutoFit/>
          </a:bodyPr>
          <a:lstStyle/>
          <a:p>
            <a:pPr indent="0" marL="0">
              <a:buNone/>
            </a:pPr>
            <a:r>
              <a:rPr lang="en-US" sz="788" dirty="0">
                <a:solidFill>
                  <a:srgbClr val="6EE7B7"/>
                </a:solidFill>
                <a:latin typeface="ui-monospace" pitchFamily="34" charset="0"/>
                <a:ea typeface="ui-monospace" pitchFamily="34" charset="-122"/>
                <a:cs typeface="ui-monospace" pitchFamily="34" charset="-120"/>
              </a:rPr>
              <a:t>OpenJDK Runtime Environment (build 17.0.2+8-86)</a:t>
            </a:r>
            <a:endParaRPr lang="en-US" sz="788" dirty="0"/>
          </a:p>
        </p:txBody>
      </p:sp>
      <p:sp>
        <p:nvSpPr>
          <p:cNvPr id="123" name="Text 114"/>
          <p:cNvSpPr/>
          <p:nvPr/>
        </p:nvSpPr>
        <p:spPr>
          <a:xfrm>
            <a:off x="4857750" y="14900077"/>
            <a:ext cx="3432404" cy="285750"/>
          </a:xfrm>
          <a:prstGeom prst="rect">
            <a:avLst/>
          </a:prstGeom>
          <a:noFill/>
          <a:ln/>
        </p:spPr>
        <p:txBody>
          <a:bodyPr wrap="square" lIns="0" tIns="0" rIns="0" bIns="0" rtlCol="0" anchor="ctr">
            <a:spAutoFit/>
          </a:bodyPr>
          <a:lstStyle/>
          <a:p>
            <a:pPr indent="0" marL="0">
              <a:buNone/>
            </a:pPr>
            <a:r>
              <a:rPr lang="en-US" sz="788" dirty="0">
                <a:solidFill>
                  <a:srgbClr val="6EE7B7"/>
                </a:solidFill>
                <a:latin typeface="ui-monospace" pitchFamily="34" charset="0"/>
                <a:ea typeface="ui-monospace" pitchFamily="34" charset="-122"/>
                <a:cs typeface="ui-monospace" pitchFamily="34" charset="-120"/>
              </a:rPr>
              <a:t>OpenJDK 64-Bit Server VM (build 17.0.2+8-86, mixed mode, sharing)</a:t>
            </a:r>
            <a:endParaRPr lang="en-US" sz="788" dirty="0"/>
          </a:p>
        </p:txBody>
      </p:sp>
      <p:sp>
        <p:nvSpPr>
          <p:cNvPr id="124" name="Text 115"/>
          <p:cNvSpPr/>
          <p:nvPr/>
        </p:nvSpPr>
        <p:spPr>
          <a:xfrm>
            <a:off x="4857750" y="15414427"/>
            <a:ext cx="1031714" cy="114300"/>
          </a:xfrm>
          <a:prstGeom prst="rect">
            <a:avLst/>
          </a:prstGeom>
          <a:noFill/>
          <a:ln/>
        </p:spPr>
        <p:txBody>
          <a:bodyPr wrap="none" lIns="0" tIns="0" rIns="0" bIns="0" rtlCol="0" anchor="ctr">
            <a:spAutoFit/>
          </a:bodyPr>
          <a:lstStyle/>
          <a:p>
            <a:pPr indent="0" marL="0">
              <a:buNone/>
            </a:pPr>
            <a:r>
              <a:rPr lang="en-US" sz="788" dirty="0">
                <a:solidFill>
                  <a:srgbClr val="6EE7B7"/>
                </a:solidFill>
                <a:latin typeface="ui-monospace" pitchFamily="34" charset="0"/>
                <a:ea typeface="ui-monospace" pitchFamily="34" charset="-122"/>
                <a:cs typeface="ui-monospace" pitchFamily="34" charset="-120"/>
              </a:rPr>
              <a:t>$ javac -version</a:t>
            </a:r>
            <a:endParaRPr lang="en-US" sz="788" dirty="0"/>
          </a:p>
        </p:txBody>
      </p:sp>
      <p:sp>
        <p:nvSpPr>
          <p:cNvPr id="125" name="Text 116"/>
          <p:cNvSpPr/>
          <p:nvPr/>
        </p:nvSpPr>
        <p:spPr>
          <a:xfrm>
            <a:off x="4857750" y="15585877"/>
            <a:ext cx="791645" cy="114300"/>
          </a:xfrm>
          <a:prstGeom prst="rect">
            <a:avLst/>
          </a:prstGeom>
          <a:noFill/>
          <a:ln/>
        </p:spPr>
        <p:txBody>
          <a:bodyPr wrap="none" lIns="0" tIns="0" rIns="0" bIns="0" rtlCol="0" anchor="ctr">
            <a:spAutoFit/>
          </a:bodyPr>
          <a:lstStyle/>
          <a:p>
            <a:pPr indent="0" marL="0">
              <a:buNone/>
            </a:pPr>
            <a:r>
              <a:rPr lang="en-US" sz="788" dirty="0">
                <a:solidFill>
                  <a:srgbClr val="6EE7B7"/>
                </a:solidFill>
                <a:latin typeface="ui-monospace" pitchFamily="34" charset="0"/>
                <a:ea typeface="ui-monospace" pitchFamily="34" charset="-122"/>
                <a:cs typeface="ui-monospace" pitchFamily="34" charset="-120"/>
              </a:rPr>
              <a:t>javac 17.0.2</a:t>
            </a:r>
            <a:endParaRPr lang="en-US" sz="788" dirty="0"/>
          </a:p>
        </p:txBody>
      </p:sp>
      <p:sp>
        <p:nvSpPr>
          <p:cNvPr id="126" name="Shape 117"/>
          <p:cNvSpPr/>
          <p:nvPr/>
        </p:nvSpPr>
        <p:spPr>
          <a:xfrm>
            <a:off x="628650" y="16087725"/>
            <a:ext cx="7886700" cy="571500"/>
          </a:xfrm>
          <a:prstGeom prst="rect">
            <a:avLst/>
          </a:prstGeom>
          <a:solidFill>
            <a:srgbClr val="78350F">
              <a:alpha val="20000"/>
            </a:srgbClr>
          </a:solidFill>
          <a:ln/>
        </p:spPr>
      </p:sp>
      <p:pic>
        <p:nvPicPr>
          <p:cNvPr id="127" name="Image 7" descr="preencoded.png">    </p:cNvPr>
          <p:cNvPicPr>
            <a:picLocks noChangeAspect="1"/>
          </p:cNvPicPr>
          <p:nvPr/>
        </p:nvPicPr>
        <p:blipFill>
          <a:blip r:embed="rId8"/>
          <a:stretch>
            <a:fillRect/>
          </a:stretch>
        </p:blipFill>
        <p:spPr>
          <a:xfrm>
            <a:off x="742950" y="16287750"/>
            <a:ext cx="171450" cy="171450"/>
          </a:xfrm>
          <a:prstGeom prst="rect">
            <a:avLst/>
          </a:prstGeom>
        </p:spPr>
      </p:pic>
      <p:sp>
        <p:nvSpPr>
          <p:cNvPr id="128" name="Text 118"/>
          <p:cNvSpPr/>
          <p:nvPr/>
        </p:nvSpPr>
        <p:spPr>
          <a:xfrm>
            <a:off x="1028700" y="16202025"/>
            <a:ext cx="7443788" cy="342900"/>
          </a:xfrm>
          <a:prstGeom prst="rect">
            <a:avLst/>
          </a:prstGeom>
          <a:noFill/>
          <a:ln/>
        </p:spPr>
        <p:txBody>
          <a:bodyPr wrap="square" lIns="0" tIns="0" rIns="0" bIns="0" rtlCol="0" anchor="ctr">
            <a:spAutoFit/>
          </a:bodyPr>
          <a:lstStyle/>
          <a:p>
            <a:pPr indent="0" marL="0">
              <a:buNone/>
            </a:pPr>
            <a:r>
              <a:rPr lang="en-US" sz="900" dirty="0">
                <a:solidFill>
                  <a:srgbClr val="F1F5F9"/>
                </a:solidFill>
                <a:latin typeface="Segoe UI" pitchFamily="34" charset="0"/>
                <a:ea typeface="Segoe UI" pitchFamily="34" charset="-122"/>
                <a:cs typeface="Segoe UI" pitchFamily="34" charset="-120"/>
              </a:rPr>
              <a:t>If you receive a "command not found" error, your installation or PATH configuration may be incorrect. Double-check your installation and environment variables.</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10958513"/>
          </a:xfrm>
          <a:prstGeom prst="rect">
            <a:avLst/>
          </a:prstGeom>
        </p:spPr>
      </p:pic>
      <p:sp>
        <p:nvSpPr>
          <p:cNvPr id="3" name="Text 0"/>
          <p:cNvSpPr/>
          <p:nvPr/>
        </p:nvSpPr>
        <p:spPr>
          <a:xfrm>
            <a:off x="457200" y="455414"/>
            <a:ext cx="1956941" cy="287536"/>
          </a:xfrm>
          <a:prstGeom prst="rect">
            <a:avLst/>
          </a:prstGeom>
          <a:noFill/>
          <a:ln/>
        </p:spPr>
        <p:txBody>
          <a:bodyPr wrap="square" lIns="0" tIns="0" rIns="0" bIns="0" rtlCol="0" anchor="ctr">
            <a:spAutoFit/>
          </a:bodyPr>
          <a:lstStyle/>
          <a:p>
            <a:pPr indent="0" marL="0">
              <a:buNone/>
            </a:pPr>
            <a:r>
              <a:rPr lang="en-US" sz="2025" b="1" dirty="0">
                <a:solidFill>
                  <a:srgbClr val="F1F5F9"/>
                </a:solidFill>
                <a:latin typeface="Segoe UI" pitchFamily="34" charset="0"/>
                <a:ea typeface="Segoe UI" pitchFamily="34" charset="-122"/>
                <a:cs typeface="Segoe UI" pitchFamily="34" charset="-120"/>
              </a:rPr>
              <a:t>Introduction to</a:t>
            </a:r>
            <a:endParaRPr lang="en-US" sz="2025" dirty="0"/>
          </a:p>
        </p:txBody>
      </p:sp>
      <p:sp>
        <p:nvSpPr>
          <p:cNvPr id="4" name="Text 1"/>
          <p:cNvSpPr/>
          <p:nvPr/>
        </p:nvSpPr>
        <p:spPr>
          <a:xfrm>
            <a:off x="2342704" y="455414"/>
            <a:ext cx="2410123" cy="287536"/>
          </a:xfrm>
          <a:prstGeom prst="rect">
            <a:avLst/>
          </a:prstGeom>
          <a:noFill/>
          <a:ln/>
        </p:spPr>
        <p:txBody>
          <a:bodyPr wrap="square" lIns="0" tIns="0" rIns="0" bIns="0" rtlCol="0" anchor="ctr">
            <a:spAutoFit/>
          </a:bodyPr>
          <a:lstStyle/>
          <a:p>
            <a:pPr indent="0" marL="0">
              <a:buNone/>
            </a:pPr>
            <a:r>
              <a:rPr lang="en-US" sz="2025" b="1" dirty="0">
                <a:solidFill>
                  <a:srgbClr val="60A5FA"/>
                </a:solidFill>
                <a:latin typeface="Segoe UI" pitchFamily="34" charset="0"/>
                <a:ea typeface="Segoe UI" pitchFamily="34" charset="-122"/>
                <a:cs typeface="Segoe UI" pitchFamily="34" charset="-120"/>
              </a:rPr>
              <a:t>Visual Studio Code</a:t>
            </a:r>
            <a:endParaRPr lang="en-US" sz="2025" dirty="0"/>
          </a:p>
        </p:txBody>
      </p:sp>
      <p:sp>
        <p:nvSpPr>
          <p:cNvPr id="5" name="Shape 2"/>
          <p:cNvSpPr/>
          <p:nvPr/>
        </p:nvSpPr>
        <p:spPr>
          <a:xfrm>
            <a:off x="457200" y="971550"/>
            <a:ext cx="4000500" cy="2528888"/>
          </a:xfrm>
          <a:prstGeom prst="rect">
            <a:avLst/>
          </a:prstGeom>
          <a:solidFill>
            <a:srgbClr val="FFFFFF">
              <a:alpha val="10000"/>
            </a:srgbClr>
          </a:solidFill>
          <a:ln w="99">
            <a:solidFill>
              <a:srgbClr val="60A5FA">
                <a:alpha val="30000"/>
              </a:srgbClr>
            </a:solidFill>
            <a:prstDash val="solid"/>
          </a:ln>
        </p:spPr>
      </p:sp>
      <p:sp>
        <p:nvSpPr>
          <p:cNvPr id="6" name="Text 3"/>
          <p:cNvSpPr/>
          <p:nvPr/>
        </p:nvSpPr>
        <p:spPr>
          <a:xfrm>
            <a:off x="628650" y="1143000"/>
            <a:ext cx="3729038" cy="228600"/>
          </a:xfrm>
          <a:prstGeom prst="rect">
            <a:avLst/>
          </a:prstGeom>
          <a:noFill/>
          <a:ln/>
        </p:spPr>
        <p:txBody>
          <a:bodyPr wrap="square" lIns="0" tIns="0" rIns="0" bIns="0" rtlCol="0" anchor="ctr">
            <a:spAutoFit/>
          </a:bodyPr>
          <a:lstStyle/>
          <a:p>
            <a:pPr indent="0" marL="0">
              <a:buNone/>
            </a:pPr>
            <a:r>
              <a:rPr lang="en-US" sz="1350" b="1" dirty="0">
                <a:solidFill>
                  <a:srgbClr val="BFDBFE"/>
                </a:solidFill>
                <a:latin typeface="Segoe UI" pitchFamily="34" charset="0"/>
                <a:ea typeface="Segoe UI" pitchFamily="34" charset="-122"/>
                <a:cs typeface="Segoe UI" pitchFamily="34" charset="-120"/>
              </a:rPr>
              <a:t>What is VS Code?</a:t>
            </a:r>
            <a:endParaRPr lang="en-US" sz="1350" dirty="0"/>
          </a:p>
        </p:txBody>
      </p:sp>
      <p:sp>
        <p:nvSpPr>
          <p:cNvPr id="7" name="Text 4"/>
          <p:cNvSpPr/>
          <p:nvPr/>
        </p:nvSpPr>
        <p:spPr>
          <a:xfrm>
            <a:off x="628650" y="1485900"/>
            <a:ext cx="3729038" cy="342900"/>
          </a:xfrm>
          <a:prstGeom prst="rect">
            <a:avLst/>
          </a:prstGeom>
          <a:noFill/>
          <a:ln/>
        </p:spPr>
        <p:txBody>
          <a:bodyPr wrap="square" lIns="0" tIns="0" rIns="0" bIns="0" rtlCol="0" anchor="ctr">
            <a:spAutoFit/>
          </a:bodyPr>
          <a:lstStyle/>
          <a:p>
            <a:pPr indent="0" marL="0">
              <a:buNone/>
            </a:pPr>
            <a:r>
              <a:rPr lang="en-US" sz="900" dirty="0">
                <a:solidFill>
                  <a:srgbClr val="F1F5F9"/>
                </a:solidFill>
                <a:latin typeface="Segoe UI" pitchFamily="34" charset="0"/>
                <a:ea typeface="Segoe UI" pitchFamily="34" charset="-122"/>
                <a:cs typeface="Segoe UI" pitchFamily="34" charset="-120"/>
              </a:rPr>
              <a:t>Visual Studio Code (VS Code) is a lightweight but powerful source code editor developed by Microsoft for Windows, macOS, and Linux.</a:t>
            </a:r>
            <a:endParaRPr lang="en-US" sz="900" dirty="0"/>
          </a:p>
        </p:txBody>
      </p:sp>
      <p:sp>
        <p:nvSpPr>
          <p:cNvPr id="8" name="Text 5"/>
          <p:cNvSpPr/>
          <p:nvPr/>
        </p:nvSpPr>
        <p:spPr>
          <a:xfrm>
            <a:off x="628650" y="1964531"/>
            <a:ext cx="245678" cy="128588"/>
          </a:xfrm>
          <a:prstGeom prst="rect">
            <a:avLst/>
          </a:prstGeom>
          <a:noFill/>
          <a:ln/>
        </p:spPr>
        <p:txBody>
          <a:bodyPr wrap="none" lIns="0" tIns="0" rIns="0" bIns="0" rtlCol="0" anchor="ctr">
            <a:spAutoFit/>
          </a:bodyPr>
          <a:lstStyle/>
          <a:p>
            <a:pPr indent="0" marL="0">
              <a:buNone/>
            </a:pPr>
            <a:r>
              <a:rPr lang="en-US" sz="900" dirty="0">
                <a:solidFill>
                  <a:srgbClr val="F1F5F9"/>
                </a:solidFill>
                <a:latin typeface="Segoe UI" pitchFamily="34" charset="0"/>
                <a:ea typeface="Segoe UI" pitchFamily="34" charset="-122"/>
                <a:cs typeface="Segoe UI" pitchFamily="34" charset="-120"/>
              </a:rPr>
              <a:t>It's</a:t>
            </a:r>
            <a:endParaRPr lang="en-US" sz="900" dirty="0"/>
          </a:p>
        </p:txBody>
      </p:sp>
      <p:sp>
        <p:nvSpPr>
          <p:cNvPr id="9" name="Text 6"/>
          <p:cNvSpPr/>
          <p:nvPr/>
        </p:nvSpPr>
        <p:spPr>
          <a:xfrm>
            <a:off x="802891" y="1964531"/>
            <a:ext cx="281118" cy="128588"/>
          </a:xfrm>
          <a:prstGeom prst="rect">
            <a:avLst/>
          </a:prstGeom>
          <a:noFill/>
          <a:ln/>
        </p:spPr>
        <p:txBody>
          <a:bodyPr wrap="none" lIns="0" tIns="0" rIns="0" bIns="0" rtlCol="0" anchor="ctr">
            <a:spAutoFit/>
          </a:bodyPr>
          <a:lstStyle/>
          <a:p>
            <a:pPr indent="0" marL="0">
              <a:buNone/>
            </a:pPr>
            <a:r>
              <a:rPr lang="en-US" sz="900" b="1" dirty="0">
                <a:solidFill>
                  <a:srgbClr val="60A5FA"/>
                </a:solidFill>
                <a:latin typeface="Segoe UI" pitchFamily="34" charset="0"/>
                <a:ea typeface="Segoe UI" pitchFamily="34" charset="-122"/>
                <a:cs typeface="Segoe UI" pitchFamily="34" charset="-120"/>
              </a:rPr>
              <a:t>free</a:t>
            </a:r>
            <a:endParaRPr lang="en-US" sz="900" dirty="0"/>
          </a:p>
        </p:txBody>
      </p:sp>
      <p:sp>
        <p:nvSpPr>
          <p:cNvPr id="10" name="Text 7"/>
          <p:cNvSpPr/>
          <p:nvPr/>
        </p:nvSpPr>
        <p:spPr>
          <a:xfrm>
            <a:off x="1012571" y="1964531"/>
            <a:ext cx="134950" cy="128588"/>
          </a:xfrm>
          <a:prstGeom prst="rect">
            <a:avLst/>
          </a:prstGeom>
          <a:noFill/>
          <a:ln/>
        </p:spPr>
        <p:txBody>
          <a:bodyPr wrap="none" lIns="0" tIns="0" rIns="0" bIns="0" rtlCol="0" anchor="ctr">
            <a:spAutoFit/>
          </a:bodyPr>
          <a:lstStyle/>
          <a:p>
            <a:pPr indent="0" marL="0">
              <a:buNone/>
            </a:pPr>
            <a:r>
              <a:rPr lang="en-US" sz="900" dirty="0">
                <a:solidFill>
                  <a:srgbClr val="F1F5F9"/>
                </a:solidFill>
                <a:latin typeface="Segoe UI" pitchFamily="34" charset="0"/>
                <a:ea typeface="Segoe UI" pitchFamily="34" charset="-122"/>
                <a:cs typeface="Segoe UI" pitchFamily="34" charset="-120"/>
              </a:rPr>
              <a:t>,</a:t>
            </a:r>
            <a:endParaRPr lang="en-US" sz="900" dirty="0"/>
          </a:p>
        </p:txBody>
      </p:sp>
      <p:sp>
        <p:nvSpPr>
          <p:cNvPr id="11" name="Text 8"/>
          <p:cNvSpPr/>
          <p:nvPr/>
        </p:nvSpPr>
        <p:spPr>
          <a:xfrm>
            <a:off x="1076083" y="1964531"/>
            <a:ext cx="757349" cy="128588"/>
          </a:xfrm>
          <a:prstGeom prst="rect">
            <a:avLst/>
          </a:prstGeom>
          <a:noFill/>
          <a:ln/>
        </p:spPr>
        <p:txBody>
          <a:bodyPr wrap="none" lIns="0" tIns="0" rIns="0" bIns="0" rtlCol="0" anchor="ctr">
            <a:spAutoFit/>
          </a:bodyPr>
          <a:lstStyle/>
          <a:p>
            <a:pPr indent="0" marL="0">
              <a:buNone/>
            </a:pPr>
            <a:r>
              <a:rPr lang="en-US" sz="900" b="1" dirty="0">
                <a:solidFill>
                  <a:srgbClr val="60A5FA"/>
                </a:solidFill>
                <a:latin typeface="Segoe UI" pitchFamily="34" charset="0"/>
                <a:ea typeface="Segoe UI" pitchFamily="34" charset="-122"/>
                <a:cs typeface="Segoe UI" pitchFamily="34" charset="-120"/>
              </a:rPr>
              <a:t>open-source</a:t>
            </a:r>
            <a:endParaRPr lang="en-US" sz="900" dirty="0"/>
          </a:p>
        </p:txBody>
      </p:sp>
      <p:sp>
        <p:nvSpPr>
          <p:cNvPr id="12" name="Text 9"/>
          <p:cNvSpPr/>
          <p:nvPr/>
        </p:nvSpPr>
        <p:spPr>
          <a:xfrm>
            <a:off x="628650" y="1964531"/>
            <a:ext cx="3625732" cy="300038"/>
          </a:xfrm>
          <a:prstGeom prst="rect">
            <a:avLst/>
          </a:prstGeom>
          <a:noFill/>
          <a:ln/>
        </p:spPr>
        <p:txBody>
          <a:bodyPr wrap="square" lIns="0" tIns="0" rIns="0" bIns="0" rtlCol="0" anchor="ctr">
            <a:spAutoFit/>
          </a:bodyPr>
          <a:lstStyle/>
          <a:p>
            <a:pPr indent="0" marL="0">
              <a:buNone/>
            </a:pPr>
            <a:r>
              <a:rPr lang="en-US" sz="900" dirty="0">
                <a:solidFill>
                  <a:srgbClr val="F1F5F9"/>
                </a:solidFill>
                <a:latin typeface="Segoe UI" pitchFamily="34" charset="0"/>
                <a:ea typeface="Segoe UI" pitchFamily="34" charset="-122"/>
                <a:cs typeface="Segoe UI" pitchFamily="34" charset="-120"/>
              </a:rPr>
              <a:t>, and has become one of the most popular code editors among developers.</a:t>
            </a:r>
            <a:endParaRPr lang="en-US" sz="900" dirty="0"/>
          </a:p>
        </p:txBody>
      </p:sp>
      <p:pic>
        <p:nvPicPr>
          <p:cNvPr id="13" name="Image 1" descr="preencoded.png">    </p:cNvPr>
          <p:cNvPicPr>
            <a:picLocks noChangeAspect="1"/>
          </p:cNvPicPr>
          <p:nvPr/>
        </p:nvPicPr>
        <p:blipFill>
          <a:blip r:embed="rId2"/>
          <a:stretch>
            <a:fillRect/>
          </a:stretch>
        </p:blipFill>
        <p:spPr>
          <a:xfrm>
            <a:off x="2028825" y="2457450"/>
            <a:ext cx="857250" cy="857250"/>
          </a:xfrm>
          <a:prstGeom prst="rect">
            <a:avLst/>
          </a:prstGeom>
        </p:spPr>
      </p:pic>
      <p:sp>
        <p:nvSpPr>
          <p:cNvPr id="14" name="Shape 10"/>
          <p:cNvSpPr/>
          <p:nvPr/>
        </p:nvSpPr>
        <p:spPr>
          <a:xfrm>
            <a:off x="457200" y="3657600"/>
            <a:ext cx="4000500" cy="3214688"/>
          </a:xfrm>
          <a:prstGeom prst="rect">
            <a:avLst/>
          </a:prstGeom>
          <a:solidFill>
            <a:srgbClr val="FFFFFF">
              <a:alpha val="10000"/>
            </a:srgbClr>
          </a:solidFill>
          <a:ln w="99">
            <a:solidFill>
              <a:srgbClr val="60A5FA">
                <a:alpha val="30000"/>
              </a:srgbClr>
            </a:solidFill>
            <a:prstDash val="solid"/>
          </a:ln>
        </p:spPr>
      </p:sp>
      <p:sp>
        <p:nvSpPr>
          <p:cNvPr id="15" name="Text 11"/>
          <p:cNvSpPr/>
          <p:nvPr/>
        </p:nvSpPr>
        <p:spPr>
          <a:xfrm>
            <a:off x="628650" y="3829050"/>
            <a:ext cx="3729038" cy="228600"/>
          </a:xfrm>
          <a:prstGeom prst="rect">
            <a:avLst/>
          </a:prstGeom>
          <a:noFill/>
          <a:ln/>
        </p:spPr>
        <p:txBody>
          <a:bodyPr wrap="square" lIns="0" tIns="0" rIns="0" bIns="0" rtlCol="0" anchor="ctr">
            <a:spAutoFit/>
          </a:bodyPr>
          <a:lstStyle/>
          <a:p>
            <a:pPr indent="0" marL="0">
              <a:buNone/>
            </a:pPr>
            <a:r>
              <a:rPr lang="en-US" sz="1350" b="1" dirty="0">
                <a:solidFill>
                  <a:srgbClr val="BFDBFE"/>
                </a:solidFill>
                <a:latin typeface="Segoe UI" pitchFamily="34" charset="0"/>
                <a:ea typeface="Segoe UI" pitchFamily="34" charset="-122"/>
                <a:cs typeface="Segoe UI" pitchFamily="34" charset="-120"/>
              </a:rPr>
              <a:t>Why VS Code for Java Development?</a:t>
            </a:r>
            <a:endParaRPr lang="en-US" sz="1350" dirty="0"/>
          </a:p>
        </p:txBody>
      </p:sp>
      <p:sp>
        <p:nvSpPr>
          <p:cNvPr id="16" name="Shape 12"/>
          <p:cNvSpPr/>
          <p:nvPr/>
        </p:nvSpPr>
        <p:spPr>
          <a:xfrm>
            <a:off x="628650" y="4171950"/>
            <a:ext cx="3657600" cy="542925"/>
          </a:xfrm>
          <a:prstGeom prst="rect">
            <a:avLst/>
          </a:prstGeom>
          <a:solidFill>
            <a:srgbClr val="1E3A8A">
              <a:alpha val="30000"/>
            </a:srgbClr>
          </a:solidFill>
          <a:ln/>
        </p:spPr>
      </p:sp>
      <p:sp>
        <p:nvSpPr>
          <p:cNvPr id="17" name="Shape 13"/>
          <p:cNvSpPr/>
          <p:nvPr/>
        </p:nvSpPr>
        <p:spPr>
          <a:xfrm>
            <a:off x="628650" y="4171950"/>
            <a:ext cx="28575" cy="542925"/>
          </a:xfrm>
          <a:prstGeom prst="rect">
            <a:avLst/>
          </a:prstGeom>
          <a:solidFill>
            <a:srgbClr val="60A5FA"/>
          </a:solidFill>
          <a:ln/>
        </p:spPr>
      </p:sp>
      <p:sp>
        <p:nvSpPr>
          <p:cNvPr id="18" name="Text 14"/>
          <p:cNvSpPr/>
          <p:nvPr/>
        </p:nvSpPr>
        <p:spPr>
          <a:xfrm>
            <a:off x="742950" y="4257675"/>
            <a:ext cx="3614738" cy="200025"/>
          </a:xfrm>
          <a:prstGeom prst="rect">
            <a:avLst/>
          </a:prstGeom>
          <a:noFill/>
          <a:ln/>
        </p:spPr>
        <p:txBody>
          <a:bodyPr wrap="square" lIns="0" tIns="0" rIns="0" bIns="0" rtlCol="0" anchor="ctr">
            <a:spAutoFit/>
          </a:bodyPr>
          <a:lstStyle/>
          <a:p>
            <a:pPr indent="0" marL="0">
              <a:buNone/>
            </a:pPr>
            <a:r>
              <a:rPr lang="en-US" sz="1125" b="1" dirty="0">
                <a:solidFill>
                  <a:srgbClr val="F1F5F9"/>
                </a:solidFill>
                <a:latin typeface="Segoe UI" pitchFamily="34" charset="0"/>
                <a:ea typeface="Segoe UI" pitchFamily="34" charset="-122"/>
                <a:cs typeface="Segoe UI" pitchFamily="34" charset="-120"/>
              </a:rPr>
              <a:t>Lightweight &amp; Fast</a:t>
            </a:r>
            <a:endParaRPr lang="en-US" sz="1125" dirty="0"/>
          </a:p>
        </p:txBody>
      </p:sp>
      <p:sp>
        <p:nvSpPr>
          <p:cNvPr id="19" name="Text 15"/>
          <p:cNvSpPr/>
          <p:nvPr/>
        </p:nvSpPr>
        <p:spPr>
          <a:xfrm>
            <a:off x="742950" y="4486275"/>
            <a:ext cx="3614738" cy="142875"/>
          </a:xfrm>
          <a:prstGeom prst="rect">
            <a:avLst/>
          </a:prstGeom>
          <a:noFill/>
          <a:ln/>
        </p:spPr>
        <p:txBody>
          <a:bodyPr wrap="square" lIns="0" tIns="0" rIns="0" bIns="0" rtlCol="0" anchor="ctr">
            <a:spAutoFit/>
          </a:bodyPr>
          <a:lstStyle/>
          <a:p>
            <a:pPr indent="0" marL="0">
              <a:buNone/>
            </a:pPr>
            <a:r>
              <a:rPr lang="en-US" sz="788" dirty="0">
                <a:solidFill>
                  <a:srgbClr val="F1F5F9"/>
                </a:solidFill>
                <a:latin typeface="Segoe UI" pitchFamily="34" charset="0"/>
                <a:ea typeface="Segoe UI" pitchFamily="34" charset="-122"/>
                <a:cs typeface="Segoe UI" pitchFamily="34" charset="-120"/>
              </a:rPr>
              <a:t>Starts quickly and remains responsive even with large projects</a:t>
            </a:r>
            <a:endParaRPr lang="en-US" sz="788" dirty="0"/>
          </a:p>
        </p:txBody>
      </p:sp>
      <p:sp>
        <p:nvSpPr>
          <p:cNvPr id="20" name="Shape 16"/>
          <p:cNvSpPr/>
          <p:nvPr/>
        </p:nvSpPr>
        <p:spPr>
          <a:xfrm>
            <a:off x="628650" y="4829175"/>
            <a:ext cx="3657600" cy="542925"/>
          </a:xfrm>
          <a:prstGeom prst="rect">
            <a:avLst/>
          </a:prstGeom>
          <a:solidFill>
            <a:srgbClr val="1E3A8A">
              <a:alpha val="30000"/>
            </a:srgbClr>
          </a:solidFill>
          <a:ln/>
        </p:spPr>
      </p:sp>
      <p:sp>
        <p:nvSpPr>
          <p:cNvPr id="21" name="Shape 17"/>
          <p:cNvSpPr/>
          <p:nvPr/>
        </p:nvSpPr>
        <p:spPr>
          <a:xfrm>
            <a:off x="628650" y="4829175"/>
            <a:ext cx="28575" cy="542925"/>
          </a:xfrm>
          <a:prstGeom prst="rect">
            <a:avLst/>
          </a:prstGeom>
          <a:solidFill>
            <a:srgbClr val="60A5FA"/>
          </a:solidFill>
          <a:ln/>
        </p:spPr>
      </p:sp>
      <p:sp>
        <p:nvSpPr>
          <p:cNvPr id="22" name="Text 18"/>
          <p:cNvSpPr/>
          <p:nvPr/>
        </p:nvSpPr>
        <p:spPr>
          <a:xfrm>
            <a:off x="742950" y="4914900"/>
            <a:ext cx="3614738" cy="200025"/>
          </a:xfrm>
          <a:prstGeom prst="rect">
            <a:avLst/>
          </a:prstGeom>
          <a:noFill/>
          <a:ln/>
        </p:spPr>
        <p:txBody>
          <a:bodyPr wrap="square" lIns="0" tIns="0" rIns="0" bIns="0" rtlCol="0" anchor="ctr">
            <a:spAutoFit/>
          </a:bodyPr>
          <a:lstStyle/>
          <a:p>
            <a:pPr indent="0" marL="0">
              <a:buNone/>
            </a:pPr>
            <a:r>
              <a:rPr lang="en-US" sz="1125" b="1" dirty="0">
                <a:solidFill>
                  <a:srgbClr val="F1F5F9"/>
                </a:solidFill>
                <a:latin typeface="Segoe UI" pitchFamily="34" charset="0"/>
                <a:ea typeface="Segoe UI" pitchFamily="34" charset="-122"/>
                <a:cs typeface="Segoe UI" pitchFamily="34" charset="-120"/>
              </a:rPr>
              <a:t>Excellent Java Support</a:t>
            </a:r>
            <a:endParaRPr lang="en-US" sz="1125" dirty="0"/>
          </a:p>
        </p:txBody>
      </p:sp>
      <p:sp>
        <p:nvSpPr>
          <p:cNvPr id="23" name="Text 19"/>
          <p:cNvSpPr/>
          <p:nvPr/>
        </p:nvSpPr>
        <p:spPr>
          <a:xfrm>
            <a:off x="742950" y="5143500"/>
            <a:ext cx="3614738" cy="142875"/>
          </a:xfrm>
          <a:prstGeom prst="rect">
            <a:avLst/>
          </a:prstGeom>
          <a:noFill/>
          <a:ln/>
        </p:spPr>
        <p:txBody>
          <a:bodyPr wrap="square" lIns="0" tIns="0" rIns="0" bIns="0" rtlCol="0" anchor="ctr">
            <a:spAutoFit/>
          </a:bodyPr>
          <a:lstStyle/>
          <a:p>
            <a:pPr indent="0" marL="0">
              <a:buNone/>
            </a:pPr>
            <a:r>
              <a:rPr lang="en-US" sz="788" dirty="0">
                <a:solidFill>
                  <a:srgbClr val="F1F5F9"/>
                </a:solidFill>
                <a:latin typeface="Segoe UI" pitchFamily="34" charset="0"/>
                <a:ea typeface="Segoe UI" pitchFamily="34" charset="-122"/>
                <a:cs typeface="Segoe UI" pitchFamily="34" charset="-120"/>
              </a:rPr>
              <a:t>Through extensions that provide IDE-like features</a:t>
            </a:r>
            <a:endParaRPr lang="en-US" sz="788" dirty="0"/>
          </a:p>
        </p:txBody>
      </p:sp>
      <p:sp>
        <p:nvSpPr>
          <p:cNvPr id="24" name="Shape 20"/>
          <p:cNvSpPr/>
          <p:nvPr/>
        </p:nvSpPr>
        <p:spPr>
          <a:xfrm>
            <a:off x="628650" y="5486400"/>
            <a:ext cx="3657600" cy="542925"/>
          </a:xfrm>
          <a:prstGeom prst="rect">
            <a:avLst/>
          </a:prstGeom>
          <a:solidFill>
            <a:srgbClr val="1E3A8A">
              <a:alpha val="30000"/>
            </a:srgbClr>
          </a:solidFill>
          <a:ln/>
        </p:spPr>
      </p:sp>
      <p:sp>
        <p:nvSpPr>
          <p:cNvPr id="25" name="Shape 21"/>
          <p:cNvSpPr/>
          <p:nvPr/>
        </p:nvSpPr>
        <p:spPr>
          <a:xfrm>
            <a:off x="628650" y="5486400"/>
            <a:ext cx="28575" cy="542925"/>
          </a:xfrm>
          <a:prstGeom prst="rect">
            <a:avLst/>
          </a:prstGeom>
          <a:solidFill>
            <a:srgbClr val="60A5FA"/>
          </a:solidFill>
          <a:ln/>
        </p:spPr>
      </p:sp>
      <p:sp>
        <p:nvSpPr>
          <p:cNvPr id="26" name="Text 22"/>
          <p:cNvSpPr/>
          <p:nvPr/>
        </p:nvSpPr>
        <p:spPr>
          <a:xfrm>
            <a:off x="742950" y="5572125"/>
            <a:ext cx="3614738" cy="200025"/>
          </a:xfrm>
          <a:prstGeom prst="rect">
            <a:avLst/>
          </a:prstGeom>
          <a:noFill/>
          <a:ln/>
        </p:spPr>
        <p:txBody>
          <a:bodyPr wrap="square" lIns="0" tIns="0" rIns="0" bIns="0" rtlCol="0" anchor="ctr">
            <a:spAutoFit/>
          </a:bodyPr>
          <a:lstStyle/>
          <a:p>
            <a:pPr indent="0" marL="0">
              <a:buNone/>
            </a:pPr>
            <a:r>
              <a:rPr lang="en-US" sz="1125" b="1" dirty="0">
                <a:solidFill>
                  <a:srgbClr val="F1F5F9"/>
                </a:solidFill>
                <a:latin typeface="Segoe UI" pitchFamily="34" charset="0"/>
                <a:ea typeface="Segoe UI" pitchFamily="34" charset="-122"/>
                <a:cs typeface="Segoe UI" pitchFamily="34" charset="-120"/>
              </a:rPr>
              <a:t>Cross-Platform</a:t>
            </a:r>
            <a:endParaRPr lang="en-US" sz="1125" dirty="0"/>
          </a:p>
        </p:txBody>
      </p:sp>
      <p:sp>
        <p:nvSpPr>
          <p:cNvPr id="27" name="Text 23"/>
          <p:cNvSpPr/>
          <p:nvPr/>
        </p:nvSpPr>
        <p:spPr>
          <a:xfrm>
            <a:off x="742950" y="5800725"/>
            <a:ext cx="3614738" cy="142875"/>
          </a:xfrm>
          <a:prstGeom prst="rect">
            <a:avLst/>
          </a:prstGeom>
          <a:noFill/>
          <a:ln/>
        </p:spPr>
        <p:txBody>
          <a:bodyPr wrap="square" lIns="0" tIns="0" rIns="0" bIns="0" rtlCol="0" anchor="ctr">
            <a:spAutoFit/>
          </a:bodyPr>
          <a:lstStyle/>
          <a:p>
            <a:pPr indent="0" marL="0">
              <a:buNone/>
            </a:pPr>
            <a:r>
              <a:rPr lang="en-US" sz="788" dirty="0">
                <a:solidFill>
                  <a:srgbClr val="F1F5F9"/>
                </a:solidFill>
                <a:latin typeface="Segoe UI" pitchFamily="34" charset="0"/>
                <a:ea typeface="Segoe UI" pitchFamily="34" charset="-122"/>
                <a:cs typeface="Segoe UI" pitchFamily="34" charset="-120"/>
              </a:rPr>
              <a:t>Works consistently across Windows, macOS, and Linux</a:t>
            </a:r>
            <a:endParaRPr lang="en-US" sz="788" dirty="0"/>
          </a:p>
        </p:txBody>
      </p:sp>
      <p:sp>
        <p:nvSpPr>
          <p:cNvPr id="28" name="Shape 24"/>
          <p:cNvSpPr/>
          <p:nvPr/>
        </p:nvSpPr>
        <p:spPr>
          <a:xfrm>
            <a:off x="628650" y="6143625"/>
            <a:ext cx="3657600" cy="542925"/>
          </a:xfrm>
          <a:prstGeom prst="rect">
            <a:avLst/>
          </a:prstGeom>
          <a:solidFill>
            <a:srgbClr val="1E3A8A">
              <a:alpha val="30000"/>
            </a:srgbClr>
          </a:solidFill>
          <a:ln/>
        </p:spPr>
      </p:sp>
      <p:sp>
        <p:nvSpPr>
          <p:cNvPr id="29" name="Shape 25"/>
          <p:cNvSpPr/>
          <p:nvPr/>
        </p:nvSpPr>
        <p:spPr>
          <a:xfrm>
            <a:off x="628650" y="6143625"/>
            <a:ext cx="28575" cy="542925"/>
          </a:xfrm>
          <a:prstGeom prst="rect">
            <a:avLst/>
          </a:prstGeom>
          <a:solidFill>
            <a:srgbClr val="60A5FA"/>
          </a:solidFill>
          <a:ln/>
        </p:spPr>
      </p:sp>
      <p:sp>
        <p:nvSpPr>
          <p:cNvPr id="30" name="Text 26"/>
          <p:cNvSpPr/>
          <p:nvPr/>
        </p:nvSpPr>
        <p:spPr>
          <a:xfrm>
            <a:off x="742950" y="6229350"/>
            <a:ext cx="3614738" cy="200025"/>
          </a:xfrm>
          <a:prstGeom prst="rect">
            <a:avLst/>
          </a:prstGeom>
          <a:noFill/>
          <a:ln/>
        </p:spPr>
        <p:txBody>
          <a:bodyPr wrap="square" lIns="0" tIns="0" rIns="0" bIns="0" rtlCol="0" anchor="ctr">
            <a:spAutoFit/>
          </a:bodyPr>
          <a:lstStyle/>
          <a:p>
            <a:pPr indent="0" marL="0">
              <a:buNone/>
            </a:pPr>
            <a:r>
              <a:rPr lang="en-US" sz="1125" b="1" dirty="0">
                <a:solidFill>
                  <a:srgbClr val="F1F5F9"/>
                </a:solidFill>
                <a:latin typeface="Segoe UI" pitchFamily="34" charset="0"/>
                <a:ea typeface="Segoe UI" pitchFamily="34" charset="-122"/>
                <a:cs typeface="Segoe UI" pitchFamily="34" charset="-120"/>
              </a:rPr>
              <a:t>Free &amp; Open Source</a:t>
            </a:r>
            <a:endParaRPr lang="en-US" sz="1125" dirty="0"/>
          </a:p>
        </p:txBody>
      </p:sp>
      <p:sp>
        <p:nvSpPr>
          <p:cNvPr id="31" name="Text 27"/>
          <p:cNvSpPr/>
          <p:nvPr/>
        </p:nvSpPr>
        <p:spPr>
          <a:xfrm>
            <a:off x="742950" y="6457950"/>
            <a:ext cx="3614738" cy="142875"/>
          </a:xfrm>
          <a:prstGeom prst="rect">
            <a:avLst/>
          </a:prstGeom>
          <a:noFill/>
          <a:ln/>
        </p:spPr>
        <p:txBody>
          <a:bodyPr wrap="square" lIns="0" tIns="0" rIns="0" bIns="0" rtlCol="0" anchor="ctr">
            <a:spAutoFit/>
          </a:bodyPr>
          <a:lstStyle/>
          <a:p>
            <a:pPr indent="0" marL="0">
              <a:buNone/>
            </a:pPr>
            <a:r>
              <a:rPr lang="en-US" sz="788" dirty="0">
                <a:solidFill>
                  <a:srgbClr val="F1F5F9"/>
                </a:solidFill>
                <a:latin typeface="Segoe UI" pitchFamily="34" charset="0"/>
                <a:ea typeface="Segoe UI" pitchFamily="34" charset="-122"/>
                <a:cs typeface="Segoe UI" pitchFamily="34" charset="-120"/>
              </a:rPr>
              <a:t>No licensing costs or restrictions</a:t>
            </a:r>
            <a:endParaRPr lang="en-US" sz="788" dirty="0"/>
          </a:p>
        </p:txBody>
      </p:sp>
      <p:sp>
        <p:nvSpPr>
          <p:cNvPr id="32" name="Shape 28"/>
          <p:cNvSpPr/>
          <p:nvPr/>
        </p:nvSpPr>
        <p:spPr>
          <a:xfrm>
            <a:off x="4686300" y="971550"/>
            <a:ext cx="4000500" cy="3243263"/>
          </a:xfrm>
          <a:prstGeom prst="rect">
            <a:avLst/>
          </a:prstGeom>
          <a:solidFill>
            <a:srgbClr val="FFFFFF">
              <a:alpha val="10000"/>
            </a:srgbClr>
          </a:solidFill>
          <a:ln w="99">
            <a:solidFill>
              <a:srgbClr val="60A5FA">
                <a:alpha val="30000"/>
              </a:srgbClr>
            </a:solidFill>
            <a:prstDash val="solid"/>
          </a:ln>
        </p:spPr>
      </p:sp>
      <p:sp>
        <p:nvSpPr>
          <p:cNvPr id="33" name="Text 29"/>
          <p:cNvSpPr/>
          <p:nvPr/>
        </p:nvSpPr>
        <p:spPr>
          <a:xfrm>
            <a:off x="4857750" y="1143000"/>
            <a:ext cx="3729038" cy="228600"/>
          </a:xfrm>
          <a:prstGeom prst="rect">
            <a:avLst/>
          </a:prstGeom>
          <a:noFill/>
          <a:ln/>
        </p:spPr>
        <p:txBody>
          <a:bodyPr wrap="square" lIns="0" tIns="0" rIns="0" bIns="0" rtlCol="0" anchor="ctr">
            <a:spAutoFit/>
          </a:bodyPr>
          <a:lstStyle/>
          <a:p>
            <a:pPr indent="0" marL="0">
              <a:buNone/>
            </a:pPr>
            <a:r>
              <a:rPr lang="en-US" sz="1350" b="1" dirty="0">
                <a:solidFill>
                  <a:srgbClr val="BFDBFE"/>
                </a:solidFill>
                <a:latin typeface="Segoe UI" pitchFamily="34" charset="0"/>
                <a:ea typeface="Segoe UI" pitchFamily="34" charset="-122"/>
                <a:cs typeface="Segoe UI" pitchFamily="34" charset="-120"/>
              </a:rPr>
              <a:t>Key Features for Java Development</a:t>
            </a:r>
            <a:endParaRPr lang="en-US" sz="1350" dirty="0"/>
          </a:p>
        </p:txBody>
      </p:sp>
      <p:sp>
        <p:nvSpPr>
          <p:cNvPr id="34" name="Shape 30"/>
          <p:cNvSpPr/>
          <p:nvPr/>
        </p:nvSpPr>
        <p:spPr>
          <a:xfrm>
            <a:off x="4857750" y="1485900"/>
            <a:ext cx="1771650" cy="771525"/>
          </a:xfrm>
          <a:prstGeom prst="rect">
            <a:avLst/>
          </a:prstGeom>
          <a:solidFill>
            <a:srgbClr val="1E3A8A">
              <a:alpha val="30000"/>
            </a:srgbClr>
          </a:solidFill>
          <a:ln/>
        </p:spPr>
      </p:sp>
      <p:pic>
        <p:nvPicPr>
          <p:cNvPr id="35" name="Image 2" descr="preencoded.png">    </p:cNvPr>
          <p:cNvPicPr>
            <a:picLocks noChangeAspect="1"/>
          </p:cNvPicPr>
          <p:nvPr/>
        </p:nvPicPr>
        <p:blipFill>
          <a:blip r:embed="rId3"/>
          <a:stretch>
            <a:fillRect/>
          </a:stretch>
        </p:blipFill>
        <p:spPr>
          <a:xfrm>
            <a:off x="4972050" y="1628775"/>
            <a:ext cx="178594" cy="142875"/>
          </a:xfrm>
          <a:prstGeom prst="rect">
            <a:avLst/>
          </a:prstGeom>
        </p:spPr>
      </p:pic>
      <p:sp>
        <p:nvSpPr>
          <p:cNvPr id="36" name="Text 31"/>
          <p:cNvSpPr/>
          <p:nvPr/>
        </p:nvSpPr>
        <p:spPr>
          <a:xfrm>
            <a:off x="5236369" y="1600200"/>
            <a:ext cx="1278703" cy="200025"/>
          </a:xfrm>
          <a:prstGeom prst="rect">
            <a:avLst/>
          </a:prstGeom>
          <a:noFill/>
          <a:ln/>
        </p:spPr>
        <p:txBody>
          <a:bodyPr wrap="none" lIns="0" tIns="0" rIns="0" bIns="0" rtlCol="0" anchor="ctr">
            <a:spAutoFit/>
          </a:bodyPr>
          <a:lstStyle/>
          <a:p>
            <a:pPr indent="0" marL="0">
              <a:buNone/>
            </a:pPr>
            <a:r>
              <a:rPr lang="en-US" sz="1013" b="1" dirty="0">
                <a:solidFill>
                  <a:srgbClr val="F1F5F9"/>
                </a:solidFill>
                <a:latin typeface="Segoe UI" pitchFamily="34" charset="0"/>
                <a:ea typeface="Segoe UI" pitchFamily="34" charset="-122"/>
                <a:cs typeface="Segoe UI" pitchFamily="34" charset="-120"/>
              </a:rPr>
              <a:t>Syntax Highlighting</a:t>
            </a:r>
            <a:endParaRPr lang="en-US" sz="1013" dirty="0"/>
          </a:p>
        </p:txBody>
      </p:sp>
      <p:sp>
        <p:nvSpPr>
          <p:cNvPr id="37" name="Text 32"/>
          <p:cNvSpPr/>
          <p:nvPr/>
        </p:nvSpPr>
        <p:spPr>
          <a:xfrm>
            <a:off x="4972050" y="1857375"/>
            <a:ext cx="1614488" cy="285750"/>
          </a:xfrm>
          <a:prstGeom prst="rect">
            <a:avLst/>
          </a:prstGeom>
          <a:noFill/>
          <a:ln/>
        </p:spPr>
        <p:txBody>
          <a:bodyPr wrap="square" lIns="0" tIns="0" rIns="0" bIns="0" rtlCol="0" anchor="ctr">
            <a:spAutoFit/>
          </a:bodyPr>
          <a:lstStyle/>
          <a:p>
            <a:pPr indent="0" marL="0">
              <a:buNone/>
            </a:pPr>
            <a:r>
              <a:rPr lang="en-US" sz="788" dirty="0">
                <a:solidFill>
                  <a:srgbClr val="F1F5F9"/>
                </a:solidFill>
                <a:latin typeface="Segoe UI" pitchFamily="34" charset="0"/>
                <a:ea typeface="Segoe UI" pitchFamily="34" charset="-122"/>
                <a:cs typeface="Segoe UI" pitchFamily="34" charset="-120"/>
              </a:rPr>
              <a:t>Color-coded syntax makes code easier to read and understand</a:t>
            </a:r>
            <a:endParaRPr lang="en-US" sz="788" dirty="0"/>
          </a:p>
        </p:txBody>
      </p:sp>
      <p:sp>
        <p:nvSpPr>
          <p:cNvPr id="38" name="Shape 33"/>
          <p:cNvSpPr/>
          <p:nvPr/>
        </p:nvSpPr>
        <p:spPr>
          <a:xfrm>
            <a:off x="6743700" y="1485900"/>
            <a:ext cx="1771650" cy="771525"/>
          </a:xfrm>
          <a:prstGeom prst="rect">
            <a:avLst/>
          </a:prstGeom>
          <a:solidFill>
            <a:srgbClr val="1E3A8A">
              <a:alpha val="30000"/>
            </a:srgbClr>
          </a:solidFill>
          <a:ln/>
        </p:spPr>
      </p:sp>
      <p:pic>
        <p:nvPicPr>
          <p:cNvPr id="39" name="Image 3" descr="preencoded.png">    </p:cNvPr>
          <p:cNvPicPr>
            <a:picLocks noChangeAspect="1"/>
          </p:cNvPicPr>
          <p:nvPr/>
        </p:nvPicPr>
        <p:blipFill>
          <a:blip r:embed="rId4"/>
          <a:stretch>
            <a:fillRect/>
          </a:stretch>
        </p:blipFill>
        <p:spPr>
          <a:xfrm>
            <a:off x="6858000" y="1628775"/>
            <a:ext cx="107156" cy="142875"/>
          </a:xfrm>
          <a:prstGeom prst="rect">
            <a:avLst/>
          </a:prstGeom>
        </p:spPr>
      </p:pic>
      <p:sp>
        <p:nvSpPr>
          <p:cNvPr id="40" name="Text 34"/>
          <p:cNvSpPr/>
          <p:nvPr/>
        </p:nvSpPr>
        <p:spPr>
          <a:xfrm>
            <a:off x="7050881" y="1600200"/>
            <a:ext cx="786092" cy="200025"/>
          </a:xfrm>
          <a:prstGeom prst="rect">
            <a:avLst/>
          </a:prstGeom>
          <a:noFill/>
          <a:ln/>
        </p:spPr>
        <p:txBody>
          <a:bodyPr wrap="none" lIns="0" tIns="0" rIns="0" bIns="0" rtlCol="0" anchor="ctr">
            <a:spAutoFit/>
          </a:bodyPr>
          <a:lstStyle/>
          <a:p>
            <a:pPr indent="0" marL="0">
              <a:buNone/>
            </a:pPr>
            <a:r>
              <a:rPr lang="en-US" sz="1013" b="1" dirty="0">
                <a:solidFill>
                  <a:srgbClr val="F1F5F9"/>
                </a:solidFill>
                <a:latin typeface="Segoe UI" pitchFamily="34" charset="0"/>
                <a:ea typeface="Segoe UI" pitchFamily="34" charset="-122"/>
                <a:cs typeface="Segoe UI" pitchFamily="34" charset="-120"/>
              </a:rPr>
              <a:t>IntelliSense</a:t>
            </a:r>
            <a:endParaRPr lang="en-US" sz="1013" dirty="0"/>
          </a:p>
        </p:txBody>
      </p:sp>
      <p:sp>
        <p:nvSpPr>
          <p:cNvPr id="41" name="Text 35"/>
          <p:cNvSpPr/>
          <p:nvPr/>
        </p:nvSpPr>
        <p:spPr>
          <a:xfrm>
            <a:off x="6858000" y="1857375"/>
            <a:ext cx="1614488" cy="285750"/>
          </a:xfrm>
          <a:prstGeom prst="rect">
            <a:avLst/>
          </a:prstGeom>
          <a:noFill/>
          <a:ln/>
        </p:spPr>
        <p:txBody>
          <a:bodyPr wrap="square" lIns="0" tIns="0" rIns="0" bIns="0" rtlCol="0" anchor="ctr">
            <a:spAutoFit/>
          </a:bodyPr>
          <a:lstStyle/>
          <a:p>
            <a:pPr indent="0" marL="0">
              <a:buNone/>
            </a:pPr>
            <a:r>
              <a:rPr lang="en-US" sz="788" dirty="0">
                <a:solidFill>
                  <a:srgbClr val="F1F5F9"/>
                </a:solidFill>
                <a:latin typeface="Segoe UI" pitchFamily="34" charset="0"/>
                <a:ea typeface="Segoe UI" pitchFamily="34" charset="-122"/>
                <a:cs typeface="Segoe UI" pitchFamily="34" charset="-120"/>
              </a:rPr>
              <a:t>Code completion, parameter info, quick info, and member lists</a:t>
            </a:r>
            <a:endParaRPr lang="en-US" sz="788" dirty="0"/>
          </a:p>
        </p:txBody>
      </p:sp>
      <p:sp>
        <p:nvSpPr>
          <p:cNvPr id="42" name="Shape 36"/>
          <p:cNvSpPr/>
          <p:nvPr/>
        </p:nvSpPr>
        <p:spPr>
          <a:xfrm>
            <a:off x="4857750" y="2371725"/>
            <a:ext cx="1771650" cy="771525"/>
          </a:xfrm>
          <a:prstGeom prst="rect">
            <a:avLst/>
          </a:prstGeom>
          <a:solidFill>
            <a:srgbClr val="1E3A8A">
              <a:alpha val="30000"/>
            </a:srgbClr>
          </a:solidFill>
          <a:ln/>
        </p:spPr>
      </p:sp>
      <p:pic>
        <p:nvPicPr>
          <p:cNvPr id="43" name="Image 4" descr="preencoded.png">    </p:cNvPr>
          <p:cNvPicPr>
            <a:picLocks noChangeAspect="1"/>
          </p:cNvPicPr>
          <p:nvPr/>
        </p:nvPicPr>
        <p:blipFill>
          <a:blip r:embed="rId5"/>
          <a:stretch>
            <a:fillRect/>
          </a:stretch>
        </p:blipFill>
        <p:spPr>
          <a:xfrm>
            <a:off x="4972050" y="2514600"/>
            <a:ext cx="142875" cy="142875"/>
          </a:xfrm>
          <a:prstGeom prst="rect">
            <a:avLst/>
          </a:prstGeom>
        </p:spPr>
      </p:pic>
      <p:sp>
        <p:nvSpPr>
          <p:cNvPr id="44" name="Text 37"/>
          <p:cNvSpPr/>
          <p:nvPr/>
        </p:nvSpPr>
        <p:spPr>
          <a:xfrm>
            <a:off x="5200650" y="2486025"/>
            <a:ext cx="742838" cy="200025"/>
          </a:xfrm>
          <a:prstGeom prst="rect">
            <a:avLst/>
          </a:prstGeom>
          <a:noFill/>
          <a:ln/>
        </p:spPr>
        <p:txBody>
          <a:bodyPr wrap="none" lIns="0" tIns="0" rIns="0" bIns="0" rtlCol="0" anchor="ctr">
            <a:spAutoFit/>
          </a:bodyPr>
          <a:lstStyle/>
          <a:p>
            <a:pPr indent="0" marL="0">
              <a:buNone/>
            </a:pPr>
            <a:r>
              <a:rPr lang="en-US" sz="1013" b="1" dirty="0">
                <a:solidFill>
                  <a:srgbClr val="F1F5F9"/>
                </a:solidFill>
                <a:latin typeface="Segoe UI" pitchFamily="34" charset="0"/>
                <a:ea typeface="Segoe UI" pitchFamily="34" charset="-122"/>
                <a:cs typeface="Segoe UI" pitchFamily="34" charset="-120"/>
              </a:rPr>
              <a:t>Debugging</a:t>
            </a:r>
            <a:endParaRPr lang="en-US" sz="1013" dirty="0"/>
          </a:p>
        </p:txBody>
      </p:sp>
      <p:sp>
        <p:nvSpPr>
          <p:cNvPr id="45" name="Text 38"/>
          <p:cNvSpPr/>
          <p:nvPr/>
        </p:nvSpPr>
        <p:spPr>
          <a:xfrm>
            <a:off x="4972050" y="2743200"/>
            <a:ext cx="1614488" cy="285750"/>
          </a:xfrm>
          <a:prstGeom prst="rect">
            <a:avLst/>
          </a:prstGeom>
          <a:noFill/>
          <a:ln/>
        </p:spPr>
        <p:txBody>
          <a:bodyPr wrap="square" lIns="0" tIns="0" rIns="0" bIns="0" rtlCol="0" anchor="ctr">
            <a:spAutoFit/>
          </a:bodyPr>
          <a:lstStyle/>
          <a:p>
            <a:pPr indent="0" marL="0">
              <a:buNone/>
            </a:pPr>
            <a:r>
              <a:rPr lang="en-US" sz="788" dirty="0">
                <a:solidFill>
                  <a:srgbClr val="F1F5F9"/>
                </a:solidFill>
                <a:latin typeface="Segoe UI" pitchFamily="34" charset="0"/>
                <a:ea typeface="Segoe UI" pitchFamily="34" charset="-122"/>
                <a:cs typeface="Segoe UI" pitchFamily="34" charset="-120"/>
              </a:rPr>
              <a:t>Set breakpoints, step through code, inspect variables</a:t>
            </a:r>
            <a:endParaRPr lang="en-US" sz="788" dirty="0"/>
          </a:p>
        </p:txBody>
      </p:sp>
      <p:sp>
        <p:nvSpPr>
          <p:cNvPr id="46" name="Shape 39"/>
          <p:cNvSpPr/>
          <p:nvPr/>
        </p:nvSpPr>
        <p:spPr>
          <a:xfrm>
            <a:off x="6743700" y="2371725"/>
            <a:ext cx="1771650" cy="771525"/>
          </a:xfrm>
          <a:prstGeom prst="rect">
            <a:avLst/>
          </a:prstGeom>
          <a:solidFill>
            <a:srgbClr val="1E3A8A">
              <a:alpha val="30000"/>
            </a:srgbClr>
          </a:solidFill>
          <a:ln/>
        </p:spPr>
      </p:sp>
      <p:pic>
        <p:nvPicPr>
          <p:cNvPr id="47" name="Image 5" descr="preencoded.png">    </p:cNvPr>
          <p:cNvPicPr>
            <a:picLocks noChangeAspect="1"/>
          </p:cNvPicPr>
          <p:nvPr/>
        </p:nvPicPr>
        <p:blipFill>
          <a:blip r:embed="rId6"/>
          <a:stretch>
            <a:fillRect/>
          </a:stretch>
        </p:blipFill>
        <p:spPr>
          <a:xfrm>
            <a:off x="6858000" y="2514600"/>
            <a:ext cx="160734" cy="142875"/>
          </a:xfrm>
          <a:prstGeom prst="rect">
            <a:avLst/>
          </a:prstGeom>
        </p:spPr>
      </p:pic>
      <p:sp>
        <p:nvSpPr>
          <p:cNvPr id="48" name="Text 40"/>
          <p:cNvSpPr/>
          <p:nvPr/>
        </p:nvSpPr>
        <p:spPr>
          <a:xfrm>
            <a:off x="7104459" y="2486025"/>
            <a:ext cx="1255179" cy="200025"/>
          </a:xfrm>
          <a:prstGeom prst="rect">
            <a:avLst/>
          </a:prstGeom>
          <a:noFill/>
          <a:ln/>
        </p:spPr>
        <p:txBody>
          <a:bodyPr wrap="none" lIns="0" tIns="0" rIns="0" bIns="0" rtlCol="0" anchor="ctr">
            <a:spAutoFit/>
          </a:bodyPr>
          <a:lstStyle/>
          <a:p>
            <a:pPr indent="0" marL="0">
              <a:buNone/>
            </a:pPr>
            <a:r>
              <a:rPr lang="en-US" sz="1013" b="1" dirty="0">
                <a:solidFill>
                  <a:srgbClr val="F1F5F9"/>
                </a:solidFill>
                <a:latin typeface="Segoe UI" pitchFamily="34" charset="0"/>
                <a:ea typeface="Segoe UI" pitchFamily="34" charset="-122"/>
                <a:cs typeface="Segoe UI" pitchFamily="34" charset="-120"/>
              </a:rPr>
              <a:t>Integrated Terminal</a:t>
            </a:r>
            <a:endParaRPr lang="en-US" sz="1013" dirty="0"/>
          </a:p>
        </p:txBody>
      </p:sp>
      <p:sp>
        <p:nvSpPr>
          <p:cNvPr id="49" name="Text 41"/>
          <p:cNvSpPr/>
          <p:nvPr/>
        </p:nvSpPr>
        <p:spPr>
          <a:xfrm>
            <a:off x="6858000" y="2743200"/>
            <a:ext cx="1614488" cy="285750"/>
          </a:xfrm>
          <a:prstGeom prst="rect">
            <a:avLst/>
          </a:prstGeom>
          <a:noFill/>
          <a:ln/>
        </p:spPr>
        <p:txBody>
          <a:bodyPr wrap="square" lIns="0" tIns="0" rIns="0" bIns="0" rtlCol="0" anchor="ctr">
            <a:spAutoFit/>
          </a:bodyPr>
          <a:lstStyle/>
          <a:p>
            <a:pPr indent="0" marL="0">
              <a:buNone/>
            </a:pPr>
            <a:r>
              <a:rPr lang="en-US" sz="788" dirty="0">
                <a:solidFill>
                  <a:srgbClr val="F1F5F9"/>
                </a:solidFill>
                <a:latin typeface="Segoe UI" pitchFamily="34" charset="0"/>
                <a:ea typeface="Segoe UI" pitchFamily="34" charset="-122"/>
                <a:cs typeface="Segoe UI" pitchFamily="34" charset="-120"/>
              </a:rPr>
              <a:t>Run commands without leaving the editor</a:t>
            </a:r>
            <a:endParaRPr lang="en-US" sz="788" dirty="0"/>
          </a:p>
        </p:txBody>
      </p:sp>
      <p:sp>
        <p:nvSpPr>
          <p:cNvPr id="50" name="Shape 42"/>
          <p:cNvSpPr/>
          <p:nvPr/>
        </p:nvSpPr>
        <p:spPr>
          <a:xfrm>
            <a:off x="4857750" y="3257550"/>
            <a:ext cx="1771650" cy="771525"/>
          </a:xfrm>
          <a:prstGeom prst="rect">
            <a:avLst/>
          </a:prstGeom>
          <a:solidFill>
            <a:srgbClr val="1E3A8A">
              <a:alpha val="30000"/>
            </a:srgbClr>
          </a:solidFill>
          <a:ln/>
        </p:spPr>
      </p:sp>
      <p:pic>
        <p:nvPicPr>
          <p:cNvPr id="51" name="Image 6" descr="preencoded.png">    </p:cNvPr>
          <p:cNvPicPr>
            <a:picLocks noChangeAspect="1"/>
          </p:cNvPicPr>
          <p:nvPr/>
        </p:nvPicPr>
        <p:blipFill>
          <a:blip r:embed="rId7"/>
          <a:stretch>
            <a:fillRect/>
          </a:stretch>
        </p:blipFill>
        <p:spPr>
          <a:xfrm>
            <a:off x="4972050" y="3400425"/>
            <a:ext cx="125016" cy="142875"/>
          </a:xfrm>
          <a:prstGeom prst="rect">
            <a:avLst/>
          </a:prstGeom>
        </p:spPr>
      </p:pic>
      <p:sp>
        <p:nvSpPr>
          <p:cNvPr id="52" name="Text 43"/>
          <p:cNvSpPr/>
          <p:nvPr/>
        </p:nvSpPr>
        <p:spPr>
          <a:xfrm>
            <a:off x="5182791" y="3371850"/>
            <a:ext cx="950091" cy="200025"/>
          </a:xfrm>
          <a:prstGeom prst="rect">
            <a:avLst/>
          </a:prstGeom>
          <a:noFill/>
          <a:ln/>
        </p:spPr>
        <p:txBody>
          <a:bodyPr wrap="none" lIns="0" tIns="0" rIns="0" bIns="0" rtlCol="0" anchor="ctr">
            <a:spAutoFit/>
          </a:bodyPr>
          <a:lstStyle/>
          <a:p>
            <a:pPr indent="0" marL="0">
              <a:buNone/>
            </a:pPr>
            <a:r>
              <a:rPr lang="en-US" sz="1013" b="1" dirty="0">
                <a:solidFill>
                  <a:srgbClr val="F1F5F9"/>
                </a:solidFill>
                <a:latin typeface="Segoe UI" pitchFamily="34" charset="0"/>
                <a:ea typeface="Segoe UI" pitchFamily="34" charset="-122"/>
                <a:cs typeface="Segoe UI" pitchFamily="34" charset="-120"/>
              </a:rPr>
              <a:t>Git Integration</a:t>
            </a:r>
            <a:endParaRPr lang="en-US" sz="1013" dirty="0"/>
          </a:p>
        </p:txBody>
      </p:sp>
      <p:sp>
        <p:nvSpPr>
          <p:cNvPr id="53" name="Text 44"/>
          <p:cNvSpPr/>
          <p:nvPr/>
        </p:nvSpPr>
        <p:spPr>
          <a:xfrm>
            <a:off x="4972050" y="3629025"/>
            <a:ext cx="1614488" cy="285750"/>
          </a:xfrm>
          <a:prstGeom prst="rect">
            <a:avLst/>
          </a:prstGeom>
          <a:noFill/>
          <a:ln/>
        </p:spPr>
        <p:txBody>
          <a:bodyPr wrap="square" lIns="0" tIns="0" rIns="0" bIns="0" rtlCol="0" anchor="ctr">
            <a:spAutoFit/>
          </a:bodyPr>
          <a:lstStyle/>
          <a:p>
            <a:pPr indent="0" marL="0">
              <a:buNone/>
            </a:pPr>
            <a:r>
              <a:rPr lang="en-US" sz="788" dirty="0">
                <a:solidFill>
                  <a:srgbClr val="F1F5F9"/>
                </a:solidFill>
                <a:latin typeface="Segoe UI" pitchFamily="34" charset="0"/>
                <a:ea typeface="Segoe UI" pitchFamily="34" charset="-122"/>
                <a:cs typeface="Segoe UI" pitchFamily="34" charset="-120"/>
              </a:rPr>
              <a:t>Built-in Git commands and source control</a:t>
            </a:r>
            <a:endParaRPr lang="en-US" sz="788" dirty="0"/>
          </a:p>
        </p:txBody>
      </p:sp>
      <p:sp>
        <p:nvSpPr>
          <p:cNvPr id="54" name="Shape 45"/>
          <p:cNvSpPr/>
          <p:nvPr/>
        </p:nvSpPr>
        <p:spPr>
          <a:xfrm>
            <a:off x="6743700" y="3257550"/>
            <a:ext cx="1771650" cy="771525"/>
          </a:xfrm>
          <a:prstGeom prst="rect">
            <a:avLst/>
          </a:prstGeom>
          <a:solidFill>
            <a:srgbClr val="1E3A8A">
              <a:alpha val="30000"/>
            </a:srgbClr>
          </a:solidFill>
          <a:ln/>
        </p:spPr>
      </p:sp>
      <p:pic>
        <p:nvPicPr>
          <p:cNvPr id="55" name="Image 7" descr="preencoded.png">    </p:cNvPr>
          <p:cNvPicPr>
            <a:picLocks noChangeAspect="1"/>
          </p:cNvPicPr>
          <p:nvPr/>
        </p:nvPicPr>
        <p:blipFill>
          <a:blip r:embed="rId8"/>
          <a:stretch>
            <a:fillRect/>
          </a:stretch>
        </p:blipFill>
        <p:spPr>
          <a:xfrm>
            <a:off x="6858000" y="3400425"/>
            <a:ext cx="142875" cy="142875"/>
          </a:xfrm>
          <a:prstGeom prst="rect">
            <a:avLst/>
          </a:prstGeom>
        </p:spPr>
      </p:pic>
      <p:sp>
        <p:nvSpPr>
          <p:cNvPr id="56" name="Text 46"/>
          <p:cNvSpPr/>
          <p:nvPr/>
        </p:nvSpPr>
        <p:spPr>
          <a:xfrm>
            <a:off x="7086600" y="3371850"/>
            <a:ext cx="757461" cy="200025"/>
          </a:xfrm>
          <a:prstGeom prst="rect">
            <a:avLst/>
          </a:prstGeom>
          <a:noFill/>
          <a:ln/>
        </p:spPr>
        <p:txBody>
          <a:bodyPr wrap="none" lIns="0" tIns="0" rIns="0" bIns="0" rtlCol="0" anchor="ctr">
            <a:spAutoFit/>
          </a:bodyPr>
          <a:lstStyle/>
          <a:p>
            <a:pPr indent="0" marL="0">
              <a:buNone/>
            </a:pPr>
            <a:r>
              <a:rPr lang="en-US" sz="1013" b="1" dirty="0">
                <a:solidFill>
                  <a:srgbClr val="F1F5F9"/>
                </a:solidFill>
                <a:latin typeface="Segoe UI" pitchFamily="34" charset="0"/>
                <a:ea typeface="Segoe UI" pitchFamily="34" charset="-122"/>
                <a:cs typeface="Segoe UI" pitchFamily="34" charset="-120"/>
              </a:rPr>
              <a:t>Extensions</a:t>
            </a:r>
            <a:endParaRPr lang="en-US" sz="1013" dirty="0"/>
          </a:p>
        </p:txBody>
      </p:sp>
      <p:sp>
        <p:nvSpPr>
          <p:cNvPr id="57" name="Text 47"/>
          <p:cNvSpPr/>
          <p:nvPr/>
        </p:nvSpPr>
        <p:spPr>
          <a:xfrm>
            <a:off x="6858000" y="3629025"/>
            <a:ext cx="1614488" cy="285750"/>
          </a:xfrm>
          <a:prstGeom prst="rect">
            <a:avLst/>
          </a:prstGeom>
          <a:noFill/>
          <a:ln/>
        </p:spPr>
        <p:txBody>
          <a:bodyPr wrap="square" lIns="0" tIns="0" rIns="0" bIns="0" rtlCol="0" anchor="ctr">
            <a:spAutoFit/>
          </a:bodyPr>
          <a:lstStyle/>
          <a:p>
            <a:pPr indent="0" marL="0">
              <a:buNone/>
            </a:pPr>
            <a:r>
              <a:rPr lang="en-US" sz="788" dirty="0">
                <a:solidFill>
                  <a:srgbClr val="F1F5F9"/>
                </a:solidFill>
                <a:latin typeface="Segoe UI" pitchFamily="34" charset="0"/>
                <a:ea typeface="Segoe UI" pitchFamily="34" charset="-122"/>
                <a:cs typeface="Segoe UI" pitchFamily="34" charset="-120"/>
              </a:rPr>
              <a:t>Customize and enhance functionality with extensions</a:t>
            </a:r>
            <a:endParaRPr lang="en-US" sz="788" dirty="0"/>
          </a:p>
        </p:txBody>
      </p:sp>
      <p:sp>
        <p:nvSpPr>
          <p:cNvPr id="58" name="Shape 48"/>
          <p:cNvSpPr/>
          <p:nvPr/>
        </p:nvSpPr>
        <p:spPr>
          <a:xfrm>
            <a:off x="4686300" y="4371975"/>
            <a:ext cx="4000500" cy="3157538"/>
          </a:xfrm>
          <a:prstGeom prst="rect">
            <a:avLst/>
          </a:prstGeom>
          <a:solidFill>
            <a:srgbClr val="FFFFFF">
              <a:alpha val="10000"/>
            </a:srgbClr>
          </a:solidFill>
          <a:ln w="99">
            <a:solidFill>
              <a:srgbClr val="60A5FA">
                <a:alpha val="30000"/>
              </a:srgbClr>
            </a:solidFill>
            <a:prstDash val="solid"/>
          </a:ln>
        </p:spPr>
      </p:sp>
      <p:sp>
        <p:nvSpPr>
          <p:cNvPr id="59" name="Text 49"/>
          <p:cNvSpPr/>
          <p:nvPr/>
        </p:nvSpPr>
        <p:spPr>
          <a:xfrm>
            <a:off x="4857750" y="4543425"/>
            <a:ext cx="3729038" cy="228600"/>
          </a:xfrm>
          <a:prstGeom prst="rect">
            <a:avLst/>
          </a:prstGeom>
          <a:noFill/>
          <a:ln/>
        </p:spPr>
        <p:txBody>
          <a:bodyPr wrap="square" lIns="0" tIns="0" rIns="0" bIns="0" rtlCol="0" anchor="ctr">
            <a:spAutoFit/>
          </a:bodyPr>
          <a:lstStyle/>
          <a:p>
            <a:pPr indent="0" marL="0">
              <a:buNone/>
            </a:pPr>
            <a:r>
              <a:rPr lang="en-US" sz="1350" b="1" dirty="0">
                <a:solidFill>
                  <a:srgbClr val="BFDBFE"/>
                </a:solidFill>
                <a:latin typeface="Segoe UI" pitchFamily="34" charset="0"/>
                <a:ea typeface="Segoe UI" pitchFamily="34" charset="-122"/>
                <a:cs typeface="Segoe UI" pitchFamily="34" charset="-120"/>
              </a:rPr>
              <a:t>VS Code Interface</a:t>
            </a:r>
            <a:endParaRPr lang="en-US" sz="1350" dirty="0"/>
          </a:p>
        </p:txBody>
      </p:sp>
      <p:sp>
        <p:nvSpPr>
          <p:cNvPr id="60" name="Shape 50"/>
          <p:cNvSpPr/>
          <p:nvPr/>
        </p:nvSpPr>
        <p:spPr>
          <a:xfrm>
            <a:off x="4857750" y="4886325"/>
            <a:ext cx="3657600" cy="1600200"/>
          </a:xfrm>
          <a:prstGeom prst="rect">
            <a:avLst/>
          </a:prstGeom>
          <a:solidFill>
            <a:srgbClr val="1E3A8A">
              <a:alpha val="30000"/>
            </a:srgbClr>
          </a:solidFill>
          <a:ln/>
        </p:spPr>
      </p:sp>
      <p:sp>
        <p:nvSpPr>
          <p:cNvPr id="61" name="Text 51"/>
          <p:cNvSpPr/>
          <p:nvPr/>
        </p:nvSpPr>
        <p:spPr>
          <a:xfrm>
            <a:off x="4972050" y="5000625"/>
            <a:ext cx="3500438" cy="200025"/>
          </a:xfrm>
          <a:prstGeom prst="rect">
            <a:avLst/>
          </a:prstGeom>
          <a:noFill/>
          <a:ln/>
        </p:spPr>
        <p:txBody>
          <a:bodyPr wrap="square" lIns="0" tIns="0" rIns="0" bIns="0" rtlCol="0" anchor="ctr">
            <a:spAutoFit/>
          </a:bodyPr>
          <a:lstStyle/>
          <a:p>
            <a:pPr indent="0" marL="0">
              <a:buNone/>
            </a:pPr>
            <a:r>
              <a:rPr lang="en-US" sz="1125" b="1" dirty="0">
                <a:solidFill>
                  <a:srgbClr val="F1F5F9"/>
                </a:solidFill>
                <a:latin typeface="Segoe UI" pitchFamily="34" charset="0"/>
                <a:ea typeface="Segoe UI" pitchFamily="34" charset="-122"/>
                <a:cs typeface="Segoe UI" pitchFamily="34" charset="-120"/>
              </a:rPr>
              <a:t>Main Components</a:t>
            </a:r>
            <a:endParaRPr lang="en-US" sz="1125" dirty="0"/>
          </a:p>
        </p:txBody>
      </p:sp>
      <p:pic>
        <p:nvPicPr>
          <p:cNvPr id="62" name="Image 8" descr="preencoded.png">    </p:cNvPr>
          <p:cNvPicPr>
            <a:picLocks noChangeAspect="1"/>
          </p:cNvPicPr>
          <p:nvPr/>
        </p:nvPicPr>
        <p:blipFill>
          <a:blip r:embed="rId9"/>
          <a:stretch>
            <a:fillRect/>
          </a:stretch>
        </p:blipFill>
        <p:spPr>
          <a:xfrm>
            <a:off x="4972050" y="5314950"/>
            <a:ext cx="114300" cy="114300"/>
          </a:xfrm>
          <a:prstGeom prst="rect">
            <a:avLst/>
          </a:prstGeom>
        </p:spPr>
      </p:pic>
      <p:sp>
        <p:nvSpPr>
          <p:cNvPr id="63" name="Text 52"/>
          <p:cNvSpPr/>
          <p:nvPr/>
        </p:nvSpPr>
        <p:spPr>
          <a:xfrm>
            <a:off x="5143500" y="5307806"/>
            <a:ext cx="744736" cy="128588"/>
          </a:xfrm>
          <a:prstGeom prst="rect">
            <a:avLst/>
          </a:prstGeom>
          <a:noFill/>
          <a:ln/>
        </p:spPr>
        <p:txBody>
          <a:bodyPr wrap="none" lIns="0" tIns="0" rIns="0" bIns="0" rtlCol="0" anchor="ctr">
            <a:spAutoFit/>
          </a:bodyPr>
          <a:lstStyle/>
          <a:p>
            <a:pPr algn="l" indent="0" marL="0">
              <a:buNone/>
            </a:pPr>
            <a:r>
              <a:rPr lang="en-US" sz="900" b="1" dirty="0">
                <a:solidFill>
                  <a:srgbClr val="60A5FA"/>
                </a:solidFill>
                <a:latin typeface="Segoe UI" pitchFamily="34" charset="0"/>
                <a:ea typeface="Segoe UI" pitchFamily="34" charset="-122"/>
                <a:cs typeface="Segoe UI" pitchFamily="34" charset="-120"/>
              </a:rPr>
              <a:t>Activity Bar:</a:t>
            </a:r>
            <a:endParaRPr lang="en-US" sz="900" dirty="0"/>
          </a:p>
        </p:txBody>
      </p:sp>
      <p:sp>
        <p:nvSpPr>
          <p:cNvPr id="64" name="Text 53"/>
          <p:cNvSpPr/>
          <p:nvPr/>
        </p:nvSpPr>
        <p:spPr>
          <a:xfrm>
            <a:off x="5816798" y="5307806"/>
            <a:ext cx="1663991" cy="128588"/>
          </a:xfrm>
          <a:prstGeom prst="rect">
            <a:avLst/>
          </a:prstGeom>
          <a:noFill/>
          <a:ln/>
        </p:spPr>
        <p:txBody>
          <a:bodyPr wrap="square" lIns="0" tIns="0" rIns="0" bIns="0" rtlCol="0" anchor="ctr">
            <a:spAutoFit/>
          </a:bodyPr>
          <a:lstStyle/>
          <a:p>
            <a:pPr algn="l" indent="0" marL="0">
              <a:buNone/>
            </a:pPr>
            <a:r>
              <a:rPr lang="en-US" sz="900" dirty="0">
                <a:solidFill>
                  <a:srgbClr val="F1F5F9"/>
                </a:solidFill>
                <a:latin typeface="Segoe UI" pitchFamily="34" charset="0"/>
                <a:ea typeface="Segoe UI" pitchFamily="34" charset="-122"/>
                <a:cs typeface="Segoe UI" pitchFamily="34" charset="-120"/>
              </a:rPr>
              <a:t>Switch between different views</a:t>
            </a:r>
            <a:endParaRPr lang="en-US" sz="900" dirty="0"/>
          </a:p>
        </p:txBody>
      </p:sp>
      <p:pic>
        <p:nvPicPr>
          <p:cNvPr id="65" name="Image 9" descr="preencoded.png">    </p:cNvPr>
          <p:cNvPicPr>
            <a:picLocks noChangeAspect="1"/>
          </p:cNvPicPr>
          <p:nvPr/>
        </p:nvPicPr>
        <p:blipFill>
          <a:blip r:embed="rId10"/>
          <a:stretch>
            <a:fillRect/>
          </a:stretch>
        </p:blipFill>
        <p:spPr>
          <a:xfrm>
            <a:off x="4972050" y="5543550"/>
            <a:ext cx="114300" cy="114300"/>
          </a:xfrm>
          <a:prstGeom prst="rect">
            <a:avLst/>
          </a:prstGeom>
        </p:spPr>
      </p:pic>
      <p:sp>
        <p:nvSpPr>
          <p:cNvPr id="66" name="Text 54"/>
          <p:cNvSpPr/>
          <p:nvPr/>
        </p:nvSpPr>
        <p:spPr>
          <a:xfrm>
            <a:off x="5143500" y="5536406"/>
            <a:ext cx="573230" cy="128588"/>
          </a:xfrm>
          <a:prstGeom prst="rect">
            <a:avLst/>
          </a:prstGeom>
          <a:noFill/>
          <a:ln/>
        </p:spPr>
        <p:txBody>
          <a:bodyPr wrap="none" lIns="0" tIns="0" rIns="0" bIns="0" rtlCol="0" anchor="ctr">
            <a:spAutoFit/>
          </a:bodyPr>
          <a:lstStyle/>
          <a:p>
            <a:pPr algn="l" indent="0" marL="0">
              <a:buNone/>
            </a:pPr>
            <a:r>
              <a:rPr lang="en-US" sz="900" b="1" dirty="0">
                <a:solidFill>
                  <a:srgbClr val="60A5FA"/>
                </a:solidFill>
                <a:latin typeface="Segoe UI" pitchFamily="34" charset="0"/>
                <a:ea typeface="Segoe UI" pitchFamily="34" charset="-122"/>
                <a:cs typeface="Segoe UI" pitchFamily="34" charset="-120"/>
              </a:rPr>
              <a:t>Side Bar:</a:t>
            </a:r>
            <a:endParaRPr lang="en-US" sz="900" dirty="0"/>
          </a:p>
        </p:txBody>
      </p:sp>
      <p:sp>
        <p:nvSpPr>
          <p:cNvPr id="67" name="Text 55"/>
          <p:cNvSpPr/>
          <p:nvPr/>
        </p:nvSpPr>
        <p:spPr>
          <a:xfrm>
            <a:off x="5645293" y="5536406"/>
            <a:ext cx="2669865" cy="128588"/>
          </a:xfrm>
          <a:prstGeom prst="rect">
            <a:avLst/>
          </a:prstGeom>
          <a:noFill/>
          <a:ln/>
        </p:spPr>
        <p:txBody>
          <a:bodyPr wrap="square" lIns="0" tIns="0" rIns="0" bIns="0" rtlCol="0" anchor="ctr">
            <a:spAutoFit/>
          </a:bodyPr>
          <a:lstStyle/>
          <a:p>
            <a:pPr algn="l" indent="0" marL="0">
              <a:buNone/>
            </a:pPr>
            <a:r>
              <a:rPr lang="en-US" sz="900" dirty="0">
                <a:solidFill>
                  <a:srgbClr val="F1F5F9"/>
                </a:solidFill>
                <a:latin typeface="Segoe UI" pitchFamily="34" charset="0"/>
                <a:ea typeface="Segoe UI" pitchFamily="34" charset="-122"/>
                <a:cs typeface="Segoe UI" pitchFamily="34" charset="-120"/>
              </a:rPr>
              <a:t>Explorer, Search, Source Control, Run, Extensions</a:t>
            </a:r>
            <a:endParaRPr lang="en-US" sz="900" dirty="0"/>
          </a:p>
        </p:txBody>
      </p:sp>
      <p:pic>
        <p:nvPicPr>
          <p:cNvPr id="68" name="Image 10" descr="preencoded.png">    </p:cNvPr>
          <p:cNvPicPr>
            <a:picLocks noChangeAspect="1"/>
          </p:cNvPicPr>
          <p:nvPr/>
        </p:nvPicPr>
        <p:blipFill>
          <a:blip r:embed="rId11"/>
          <a:stretch>
            <a:fillRect/>
          </a:stretch>
        </p:blipFill>
        <p:spPr>
          <a:xfrm>
            <a:off x="4972050" y="5772150"/>
            <a:ext cx="114300" cy="114300"/>
          </a:xfrm>
          <a:prstGeom prst="rect">
            <a:avLst/>
          </a:prstGeom>
        </p:spPr>
      </p:pic>
      <p:sp>
        <p:nvSpPr>
          <p:cNvPr id="69" name="Text 56"/>
          <p:cNvSpPr/>
          <p:nvPr/>
        </p:nvSpPr>
        <p:spPr>
          <a:xfrm>
            <a:off x="5143500" y="5765006"/>
            <a:ext cx="439675" cy="128588"/>
          </a:xfrm>
          <a:prstGeom prst="rect">
            <a:avLst/>
          </a:prstGeom>
          <a:noFill/>
          <a:ln/>
        </p:spPr>
        <p:txBody>
          <a:bodyPr wrap="none" lIns="0" tIns="0" rIns="0" bIns="0" rtlCol="0" anchor="ctr">
            <a:spAutoFit/>
          </a:bodyPr>
          <a:lstStyle/>
          <a:p>
            <a:pPr algn="l" indent="0" marL="0">
              <a:buNone/>
            </a:pPr>
            <a:r>
              <a:rPr lang="en-US" sz="900" b="1" dirty="0">
                <a:solidFill>
                  <a:srgbClr val="60A5FA"/>
                </a:solidFill>
                <a:latin typeface="Segoe UI" pitchFamily="34" charset="0"/>
                <a:ea typeface="Segoe UI" pitchFamily="34" charset="-122"/>
                <a:cs typeface="Segoe UI" pitchFamily="34" charset="-120"/>
              </a:rPr>
              <a:t>Editor:</a:t>
            </a:r>
            <a:endParaRPr lang="en-US" sz="900" dirty="0"/>
          </a:p>
        </p:txBody>
      </p:sp>
      <p:sp>
        <p:nvSpPr>
          <p:cNvPr id="70" name="Text 57"/>
          <p:cNvSpPr/>
          <p:nvPr/>
        </p:nvSpPr>
        <p:spPr>
          <a:xfrm>
            <a:off x="5511738" y="5765006"/>
            <a:ext cx="1380195" cy="128588"/>
          </a:xfrm>
          <a:prstGeom prst="rect">
            <a:avLst/>
          </a:prstGeom>
          <a:noFill/>
          <a:ln/>
        </p:spPr>
        <p:txBody>
          <a:bodyPr wrap="square" lIns="0" tIns="0" rIns="0" bIns="0" rtlCol="0" anchor="ctr">
            <a:spAutoFit/>
          </a:bodyPr>
          <a:lstStyle/>
          <a:p>
            <a:pPr algn="l" indent="0" marL="0">
              <a:buNone/>
            </a:pPr>
            <a:r>
              <a:rPr lang="en-US" sz="900" dirty="0">
                <a:solidFill>
                  <a:srgbClr val="F1F5F9"/>
                </a:solidFill>
                <a:latin typeface="Segoe UI" pitchFamily="34" charset="0"/>
                <a:ea typeface="Segoe UI" pitchFamily="34" charset="-122"/>
                <a:cs typeface="Segoe UI" pitchFamily="34" charset="-120"/>
              </a:rPr>
              <a:t>Main area for editing files</a:t>
            </a:r>
            <a:endParaRPr lang="en-US" sz="900" dirty="0"/>
          </a:p>
        </p:txBody>
      </p:sp>
      <p:pic>
        <p:nvPicPr>
          <p:cNvPr id="71" name="Image 11" descr="preencoded.png">    </p:cNvPr>
          <p:cNvPicPr>
            <a:picLocks noChangeAspect="1"/>
          </p:cNvPicPr>
          <p:nvPr/>
        </p:nvPicPr>
        <p:blipFill>
          <a:blip r:embed="rId12"/>
          <a:stretch>
            <a:fillRect/>
          </a:stretch>
        </p:blipFill>
        <p:spPr>
          <a:xfrm>
            <a:off x="4972050" y="6000750"/>
            <a:ext cx="114300" cy="114300"/>
          </a:xfrm>
          <a:prstGeom prst="rect">
            <a:avLst/>
          </a:prstGeom>
        </p:spPr>
      </p:pic>
      <p:sp>
        <p:nvSpPr>
          <p:cNvPr id="72" name="Text 58"/>
          <p:cNvSpPr/>
          <p:nvPr/>
        </p:nvSpPr>
        <p:spPr>
          <a:xfrm>
            <a:off x="5143500" y="5993606"/>
            <a:ext cx="681168" cy="128588"/>
          </a:xfrm>
          <a:prstGeom prst="rect">
            <a:avLst/>
          </a:prstGeom>
          <a:noFill/>
          <a:ln/>
        </p:spPr>
        <p:txBody>
          <a:bodyPr wrap="none" lIns="0" tIns="0" rIns="0" bIns="0" rtlCol="0" anchor="ctr">
            <a:spAutoFit/>
          </a:bodyPr>
          <a:lstStyle/>
          <a:p>
            <a:pPr algn="l" indent="0" marL="0">
              <a:buNone/>
            </a:pPr>
            <a:r>
              <a:rPr lang="en-US" sz="900" b="1" dirty="0">
                <a:solidFill>
                  <a:srgbClr val="60A5FA"/>
                </a:solidFill>
                <a:latin typeface="Segoe UI" pitchFamily="34" charset="0"/>
                <a:ea typeface="Segoe UI" pitchFamily="34" charset="-122"/>
                <a:cs typeface="Segoe UI" pitchFamily="34" charset="-120"/>
              </a:rPr>
              <a:t>Status Bar:</a:t>
            </a:r>
            <a:endParaRPr lang="en-US" sz="900" dirty="0"/>
          </a:p>
        </p:txBody>
      </p:sp>
      <p:sp>
        <p:nvSpPr>
          <p:cNvPr id="73" name="Text 59"/>
          <p:cNvSpPr/>
          <p:nvPr/>
        </p:nvSpPr>
        <p:spPr>
          <a:xfrm>
            <a:off x="5753230" y="5993606"/>
            <a:ext cx="2346052" cy="128588"/>
          </a:xfrm>
          <a:prstGeom prst="rect">
            <a:avLst/>
          </a:prstGeom>
          <a:noFill/>
          <a:ln/>
        </p:spPr>
        <p:txBody>
          <a:bodyPr wrap="square" lIns="0" tIns="0" rIns="0" bIns="0" rtlCol="0" anchor="ctr">
            <a:spAutoFit/>
          </a:bodyPr>
          <a:lstStyle/>
          <a:p>
            <a:pPr algn="l" indent="0" marL="0">
              <a:buNone/>
            </a:pPr>
            <a:r>
              <a:rPr lang="en-US" sz="900" dirty="0">
                <a:solidFill>
                  <a:srgbClr val="F1F5F9"/>
                </a:solidFill>
                <a:latin typeface="Segoe UI" pitchFamily="34" charset="0"/>
                <a:ea typeface="Segoe UI" pitchFamily="34" charset="-122"/>
                <a:cs typeface="Segoe UI" pitchFamily="34" charset="-120"/>
              </a:rPr>
              <a:t>Information about the current project and file</a:t>
            </a:r>
            <a:endParaRPr lang="en-US" sz="900" dirty="0"/>
          </a:p>
        </p:txBody>
      </p:sp>
      <p:pic>
        <p:nvPicPr>
          <p:cNvPr id="74" name="Image 12" descr="preencoded.png">    </p:cNvPr>
          <p:cNvPicPr>
            <a:picLocks noChangeAspect="1"/>
          </p:cNvPicPr>
          <p:nvPr/>
        </p:nvPicPr>
        <p:blipFill>
          <a:blip r:embed="rId13"/>
          <a:stretch>
            <a:fillRect/>
          </a:stretch>
        </p:blipFill>
        <p:spPr>
          <a:xfrm>
            <a:off x="4972050" y="6229350"/>
            <a:ext cx="114300" cy="114300"/>
          </a:xfrm>
          <a:prstGeom prst="rect">
            <a:avLst/>
          </a:prstGeom>
        </p:spPr>
      </p:pic>
      <p:sp>
        <p:nvSpPr>
          <p:cNvPr id="75" name="Text 60"/>
          <p:cNvSpPr/>
          <p:nvPr/>
        </p:nvSpPr>
        <p:spPr>
          <a:xfrm>
            <a:off x="5143500" y="6222206"/>
            <a:ext cx="414449" cy="128588"/>
          </a:xfrm>
          <a:prstGeom prst="rect">
            <a:avLst/>
          </a:prstGeom>
          <a:noFill/>
          <a:ln/>
        </p:spPr>
        <p:txBody>
          <a:bodyPr wrap="none" lIns="0" tIns="0" rIns="0" bIns="0" rtlCol="0" anchor="ctr">
            <a:spAutoFit/>
          </a:bodyPr>
          <a:lstStyle/>
          <a:p>
            <a:pPr algn="l" indent="0" marL="0">
              <a:buNone/>
            </a:pPr>
            <a:r>
              <a:rPr lang="en-US" sz="900" b="1" dirty="0">
                <a:solidFill>
                  <a:srgbClr val="60A5FA"/>
                </a:solidFill>
                <a:latin typeface="Segoe UI" pitchFamily="34" charset="0"/>
                <a:ea typeface="Segoe UI" pitchFamily="34" charset="-122"/>
                <a:cs typeface="Segoe UI" pitchFamily="34" charset="-120"/>
              </a:rPr>
              <a:t>Panel:</a:t>
            </a:r>
            <a:endParaRPr lang="en-US" sz="900" dirty="0"/>
          </a:p>
        </p:txBody>
      </p:sp>
      <p:sp>
        <p:nvSpPr>
          <p:cNvPr id="76" name="Text 61"/>
          <p:cNvSpPr/>
          <p:nvPr/>
        </p:nvSpPr>
        <p:spPr>
          <a:xfrm>
            <a:off x="5486512" y="6222206"/>
            <a:ext cx="2337402" cy="128588"/>
          </a:xfrm>
          <a:prstGeom prst="rect">
            <a:avLst/>
          </a:prstGeom>
          <a:noFill/>
          <a:ln/>
        </p:spPr>
        <p:txBody>
          <a:bodyPr wrap="square" lIns="0" tIns="0" rIns="0" bIns="0" rtlCol="0" anchor="ctr">
            <a:spAutoFit/>
          </a:bodyPr>
          <a:lstStyle/>
          <a:p>
            <a:pPr algn="l" indent="0" marL="0">
              <a:buNone/>
            </a:pPr>
            <a:r>
              <a:rPr lang="en-US" sz="900" dirty="0">
                <a:solidFill>
                  <a:srgbClr val="F1F5F9"/>
                </a:solidFill>
                <a:latin typeface="Segoe UI" pitchFamily="34" charset="0"/>
                <a:ea typeface="Segoe UI" pitchFamily="34" charset="-122"/>
                <a:cs typeface="Segoe UI" pitchFamily="34" charset="-120"/>
              </a:rPr>
              <a:t>Terminal, Output, Problems, Debug Console</a:t>
            </a:r>
            <a:endParaRPr lang="en-US" sz="900" dirty="0"/>
          </a:p>
        </p:txBody>
      </p:sp>
      <p:sp>
        <p:nvSpPr>
          <p:cNvPr id="77" name="Shape 62"/>
          <p:cNvSpPr/>
          <p:nvPr/>
        </p:nvSpPr>
        <p:spPr>
          <a:xfrm>
            <a:off x="4857750" y="6600825"/>
            <a:ext cx="3657600" cy="742950"/>
          </a:xfrm>
          <a:prstGeom prst="rect">
            <a:avLst/>
          </a:prstGeom>
          <a:solidFill>
            <a:srgbClr val="78350F">
              <a:alpha val="20000"/>
            </a:srgbClr>
          </a:solidFill>
          <a:ln/>
        </p:spPr>
      </p:sp>
      <p:pic>
        <p:nvPicPr>
          <p:cNvPr id="78" name="Image 13" descr="preencoded.png">    </p:cNvPr>
          <p:cNvPicPr>
            <a:picLocks noChangeAspect="1"/>
          </p:cNvPicPr>
          <p:nvPr/>
        </p:nvPicPr>
        <p:blipFill>
          <a:blip r:embed="rId14"/>
          <a:stretch>
            <a:fillRect/>
          </a:stretch>
        </p:blipFill>
        <p:spPr>
          <a:xfrm>
            <a:off x="4972050" y="6886575"/>
            <a:ext cx="128588" cy="171450"/>
          </a:xfrm>
          <a:prstGeom prst="rect">
            <a:avLst/>
          </a:prstGeom>
        </p:spPr>
      </p:pic>
      <p:sp>
        <p:nvSpPr>
          <p:cNvPr id="79" name="Text 63"/>
          <p:cNvSpPr/>
          <p:nvPr/>
        </p:nvSpPr>
        <p:spPr>
          <a:xfrm>
            <a:off x="5214938" y="6715125"/>
            <a:ext cx="3257550" cy="514350"/>
          </a:xfrm>
          <a:prstGeom prst="rect">
            <a:avLst/>
          </a:prstGeom>
          <a:noFill/>
          <a:ln/>
        </p:spPr>
        <p:txBody>
          <a:bodyPr wrap="square" lIns="0" tIns="0" rIns="0" bIns="0" rtlCol="0" anchor="ctr">
            <a:spAutoFit/>
          </a:bodyPr>
          <a:lstStyle/>
          <a:p>
            <a:pPr indent="0" marL="0">
              <a:buNone/>
            </a:pPr>
            <a:r>
              <a:rPr lang="en-US" sz="900" dirty="0">
                <a:solidFill>
                  <a:srgbClr val="F1F5F9"/>
                </a:solidFill>
                <a:latin typeface="Segoe UI" pitchFamily="34" charset="0"/>
                <a:ea typeface="Segoe UI" pitchFamily="34" charset="-122"/>
                <a:cs typeface="Segoe UI" pitchFamily="34" charset="-120"/>
              </a:rPr>
              <a:t>VS Code's interface is highly customizable. You can rearrange panels, change themes, and adjust settings to create your ideal development environment.</a:t>
            </a:r>
            <a:endParaRPr lang="en-US" sz="900" dirty="0"/>
          </a:p>
        </p:txBody>
      </p:sp>
      <p:sp>
        <p:nvSpPr>
          <p:cNvPr id="80" name="Shape 64"/>
          <p:cNvSpPr/>
          <p:nvPr/>
        </p:nvSpPr>
        <p:spPr>
          <a:xfrm>
            <a:off x="457200" y="7743825"/>
            <a:ext cx="8229600" cy="2728913"/>
          </a:xfrm>
          <a:prstGeom prst="rect">
            <a:avLst/>
          </a:prstGeom>
          <a:solidFill>
            <a:srgbClr val="FFFFFF">
              <a:alpha val="10000"/>
            </a:srgbClr>
          </a:solidFill>
          <a:ln w="99">
            <a:solidFill>
              <a:srgbClr val="60A5FA">
                <a:alpha val="30000"/>
              </a:srgbClr>
            </a:solidFill>
            <a:prstDash val="solid"/>
          </a:ln>
        </p:spPr>
      </p:sp>
      <p:sp>
        <p:nvSpPr>
          <p:cNvPr id="81" name="Text 65"/>
          <p:cNvSpPr/>
          <p:nvPr/>
        </p:nvSpPr>
        <p:spPr>
          <a:xfrm>
            <a:off x="628650" y="7915275"/>
            <a:ext cx="7958138" cy="228600"/>
          </a:xfrm>
          <a:prstGeom prst="rect">
            <a:avLst/>
          </a:prstGeom>
          <a:noFill/>
          <a:ln/>
        </p:spPr>
        <p:txBody>
          <a:bodyPr wrap="square" lIns="0" tIns="0" rIns="0" bIns="0" rtlCol="0" anchor="ctr">
            <a:spAutoFit/>
          </a:bodyPr>
          <a:lstStyle/>
          <a:p>
            <a:pPr indent="0" marL="0">
              <a:buNone/>
            </a:pPr>
            <a:r>
              <a:rPr lang="en-US" sz="1350" b="1" dirty="0">
                <a:solidFill>
                  <a:srgbClr val="BFDBFE"/>
                </a:solidFill>
                <a:latin typeface="Segoe UI" pitchFamily="34" charset="0"/>
                <a:ea typeface="Segoe UI" pitchFamily="34" charset="-122"/>
                <a:cs typeface="Segoe UI" pitchFamily="34" charset="-120"/>
              </a:rPr>
              <a:t>VS Code vs. Other Java IDEs</a:t>
            </a:r>
            <a:endParaRPr lang="en-US" sz="1350" dirty="0"/>
          </a:p>
        </p:txBody>
      </p:sp>
      <p:sp>
        <p:nvSpPr>
          <p:cNvPr id="82" name="Shape 66"/>
          <p:cNvSpPr/>
          <p:nvPr/>
        </p:nvSpPr>
        <p:spPr>
          <a:xfrm>
            <a:off x="628650" y="8258175"/>
            <a:ext cx="2514600" cy="1285875"/>
          </a:xfrm>
          <a:prstGeom prst="rect">
            <a:avLst/>
          </a:prstGeom>
          <a:solidFill>
            <a:srgbClr val="1E3A8A">
              <a:alpha val="30000"/>
            </a:srgbClr>
          </a:solidFill>
          <a:ln/>
        </p:spPr>
      </p:sp>
      <p:sp>
        <p:nvSpPr>
          <p:cNvPr id="83" name="Text 67"/>
          <p:cNvSpPr/>
          <p:nvPr/>
        </p:nvSpPr>
        <p:spPr>
          <a:xfrm>
            <a:off x="742950" y="8372475"/>
            <a:ext cx="2357438" cy="200025"/>
          </a:xfrm>
          <a:prstGeom prst="rect">
            <a:avLst/>
          </a:prstGeom>
          <a:noFill/>
          <a:ln/>
        </p:spPr>
        <p:txBody>
          <a:bodyPr wrap="square" lIns="0" tIns="0" rIns="0" bIns="0" rtlCol="0" anchor="ctr">
            <a:spAutoFit/>
          </a:bodyPr>
          <a:lstStyle/>
          <a:p>
            <a:pPr algn="ctr" indent="0" marL="0">
              <a:buNone/>
            </a:pPr>
            <a:r>
              <a:rPr lang="en-US" sz="1125" b="1" dirty="0">
                <a:solidFill>
                  <a:srgbClr val="F1F5F9"/>
                </a:solidFill>
                <a:latin typeface="Segoe UI" pitchFamily="34" charset="0"/>
                <a:ea typeface="Segoe UI" pitchFamily="34" charset="-122"/>
                <a:cs typeface="Segoe UI" pitchFamily="34" charset="-120"/>
              </a:rPr>
              <a:t>VS Code</a:t>
            </a:r>
            <a:endParaRPr lang="en-US" sz="1125" dirty="0"/>
          </a:p>
        </p:txBody>
      </p:sp>
      <p:pic>
        <p:nvPicPr>
          <p:cNvPr id="84" name="Image 14" descr="preencoded.png">    </p:cNvPr>
          <p:cNvPicPr>
            <a:picLocks noChangeAspect="1"/>
          </p:cNvPicPr>
          <p:nvPr/>
        </p:nvPicPr>
        <p:blipFill>
          <a:blip r:embed="rId15"/>
          <a:stretch>
            <a:fillRect/>
          </a:stretch>
        </p:blipFill>
        <p:spPr>
          <a:xfrm>
            <a:off x="742950" y="8686800"/>
            <a:ext cx="100013" cy="114300"/>
          </a:xfrm>
          <a:prstGeom prst="rect">
            <a:avLst/>
          </a:prstGeom>
        </p:spPr>
      </p:pic>
      <p:sp>
        <p:nvSpPr>
          <p:cNvPr id="85" name="Text 68"/>
          <p:cNvSpPr/>
          <p:nvPr/>
        </p:nvSpPr>
        <p:spPr>
          <a:xfrm>
            <a:off x="900113" y="8658225"/>
            <a:ext cx="1088138" cy="171450"/>
          </a:xfrm>
          <a:prstGeom prst="rect">
            <a:avLst/>
          </a:prstGeom>
          <a:noFill/>
          <a:ln/>
        </p:spPr>
        <p:txBody>
          <a:bodyPr wrap="none" lIns="0" tIns="0" rIns="0" bIns="0" rtlCol="0" anchor="ctr">
            <a:spAutoFit/>
          </a:bodyPr>
          <a:lstStyle/>
          <a:p>
            <a:pPr algn="l" indent="0" marL="0">
              <a:buNone/>
            </a:pPr>
            <a:r>
              <a:rPr lang="en-US" sz="900" dirty="0">
                <a:solidFill>
                  <a:srgbClr val="F1F5F9"/>
                </a:solidFill>
                <a:latin typeface="Segoe UI" pitchFamily="34" charset="0"/>
                <a:ea typeface="Segoe UI" pitchFamily="34" charset="-122"/>
                <a:cs typeface="Segoe UI" pitchFamily="34" charset="-120"/>
              </a:rPr>
              <a:t>Lightweight and fast</a:t>
            </a:r>
            <a:endParaRPr lang="en-US" sz="900" dirty="0"/>
          </a:p>
        </p:txBody>
      </p:sp>
      <p:pic>
        <p:nvPicPr>
          <p:cNvPr id="86" name="Image 15" descr="preencoded.png">    </p:cNvPr>
          <p:cNvPicPr>
            <a:picLocks noChangeAspect="1"/>
          </p:cNvPicPr>
          <p:nvPr/>
        </p:nvPicPr>
        <p:blipFill>
          <a:blip r:embed="rId16"/>
          <a:stretch>
            <a:fillRect/>
          </a:stretch>
        </p:blipFill>
        <p:spPr>
          <a:xfrm>
            <a:off x="742950" y="8886825"/>
            <a:ext cx="100013" cy="114300"/>
          </a:xfrm>
          <a:prstGeom prst="rect">
            <a:avLst/>
          </a:prstGeom>
        </p:spPr>
      </p:pic>
      <p:sp>
        <p:nvSpPr>
          <p:cNvPr id="87" name="Text 69"/>
          <p:cNvSpPr/>
          <p:nvPr/>
        </p:nvSpPr>
        <p:spPr>
          <a:xfrm>
            <a:off x="900113" y="8858250"/>
            <a:ext cx="1087859" cy="171450"/>
          </a:xfrm>
          <a:prstGeom prst="rect">
            <a:avLst/>
          </a:prstGeom>
          <a:noFill/>
          <a:ln/>
        </p:spPr>
        <p:txBody>
          <a:bodyPr wrap="none" lIns="0" tIns="0" rIns="0" bIns="0" rtlCol="0" anchor="ctr">
            <a:spAutoFit/>
          </a:bodyPr>
          <a:lstStyle/>
          <a:p>
            <a:pPr algn="l" indent="0" marL="0">
              <a:buNone/>
            </a:pPr>
            <a:r>
              <a:rPr lang="en-US" sz="900" dirty="0">
                <a:solidFill>
                  <a:srgbClr val="F1F5F9"/>
                </a:solidFill>
                <a:latin typeface="Segoe UI" pitchFamily="34" charset="0"/>
                <a:ea typeface="Segoe UI" pitchFamily="34" charset="-122"/>
                <a:cs typeface="Segoe UI" pitchFamily="34" charset="-120"/>
              </a:rPr>
              <a:t>Highly customizable</a:t>
            </a:r>
            <a:endParaRPr lang="en-US" sz="900" dirty="0"/>
          </a:p>
        </p:txBody>
      </p:sp>
      <p:pic>
        <p:nvPicPr>
          <p:cNvPr id="88" name="Image 16" descr="preencoded.png">    </p:cNvPr>
          <p:cNvPicPr>
            <a:picLocks noChangeAspect="1"/>
          </p:cNvPicPr>
          <p:nvPr/>
        </p:nvPicPr>
        <p:blipFill>
          <a:blip r:embed="rId17"/>
          <a:stretch>
            <a:fillRect/>
          </a:stretch>
        </p:blipFill>
        <p:spPr>
          <a:xfrm>
            <a:off x="742950" y="9086850"/>
            <a:ext cx="100013" cy="114300"/>
          </a:xfrm>
          <a:prstGeom prst="rect">
            <a:avLst/>
          </a:prstGeom>
        </p:spPr>
      </p:pic>
      <p:sp>
        <p:nvSpPr>
          <p:cNvPr id="89" name="Text 70"/>
          <p:cNvSpPr/>
          <p:nvPr/>
        </p:nvSpPr>
        <p:spPr>
          <a:xfrm>
            <a:off x="900113" y="9058275"/>
            <a:ext cx="1735931" cy="171450"/>
          </a:xfrm>
          <a:prstGeom prst="rect">
            <a:avLst/>
          </a:prstGeom>
          <a:noFill/>
          <a:ln/>
        </p:spPr>
        <p:txBody>
          <a:bodyPr wrap="square" lIns="0" tIns="0" rIns="0" bIns="0" rtlCol="0" anchor="ctr">
            <a:spAutoFit/>
          </a:bodyPr>
          <a:lstStyle/>
          <a:p>
            <a:pPr algn="l" indent="0" marL="0">
              <a:buNone/>
            </a:pPr>
            <a:r>
              <a:rPr lang="en-US" sz="900" dirty="0">
                <a:solidFill>
                  <a:srgbClr val="F1F5F9"/>
                </a:solidFill>
                <a:latin typeface="Segoe UI" pitchFamily="34" charset="0"/>
                <a:ea typeface="Segoe UI" pitchFamily="34" charset="-122"/>
                <a:cs typeface="Segoe UI" pitchFamily="34" charset="-120"/>
              </a:rPr>
              <a:t>Great for multi-language projects</a:t>
            </a:r>
            <a:endParaRPr lang="en-US" sz="900" dirty="0"/>
          </a:p>
        </p:txBody>
      </p:sp>
      <p:pic>
        <p:nvPicPr>
          <p:cNvPr id="90" name="Image 17" descr="preencoded.png">    </p:cNvPr>
          <p:cNvPicPr>
            <a:picLocks noChangeAspect="1"/>
          </p:cNvPicPr>
          <p:nvPr/>
        </p:nvPicPr>
        <p:blipFill>
          <a:blip r:embed="rId18"/>
          <a:stretch>
            <a:fillRect/>
          </a:stretch>
        </p:blipFill>
        <p:spPr>
          <a:xfrm>
            <a:off x="742950" y="9286875"/>
            <a:ext cx="100013" cy="114300"/>
          </a:xfrm>
          <a:prstGeom prst="rect">
            <a:avLst/>
          </a:prstGeom>
        </p:spPr>
      </p:pic>
      <p:sp>
        <p:nvSpPr>
          <p:cNvPr id="91" name="Text 71"/>
          <p:cNvSpPr/>
          <p:nvPr/>
        </p:nvSpPr>
        <p:spPr>
          <a:xfrm>
            <a:off x="900113" y="9258300"/>
            <a:ext cx="2136260" cy="171450"/>
          </a:xfrm>
          <a:prstGeom prst="rect">
            <a:avLst/>
          </a:prstGeom>
          <a:noFill/>
          <a:ln/>
        </p:spPr>
        <p:txBody>
          <a:bodyPr wrap="square" lIns="0" tIns="0" rIns="0" bIns="0" rtlCol="0" anchor="ctr">
            <a:spAutoFit/>
          </a:bodyPr>
          <a:lstStyle/>
          <a:p>
            <a:pPr algn="l" indent="0" marL="0">
              <a:buNone/>
            </a:pPr>
            <a:r>
              <a:rPr lang="en-US" sz="900" dirty="0">
                <a:solidFill>
                  <a:srgbClr val="F1F5F9"/>
                </a:solidFill>
                <a:latin typeface="Segoe UI" pitchFamily="34" charset="0"/>
                <a:ea typeface="Segoe UI" pitchFamily="34" charset="-122"/>
                <a:cs typeface="Segoe UI" pitchFamily="34" charset="-120"/>
              </a:rPr>
              <a:t>Requires extensions for full Java support</a:t>
            </a:r>
            <a:endParaRPr lang="en-US" sz="900" dirty="0"/>
          </a:p>
        </p:txBody>
      </p:sp>
      <p:sp>
        <p:nvSpPr>
          <p:cNvPr id="92" name="Shape 72"/>
          <p:cNvSpPr/>
          <p:nvPr/>
        </p:nvSpPr>
        <p:spPr>
          <a:xfrm>
            <a:off x="3314700" y="8258175"/>
            <a:ext cx="2514600" cy="1285875"/>
          </a:xfrm>
          <a:prstGeom prst="rect">
            <a:avLst/>
          </a:prstGeom>
          <a:solidFill>
            <a:srgbClr val="1E3A8A">
              <a:alpha val="30000"/>
            </a:srgbClr>
          </a:solidFill>
          <a:ln/>
        </p:spPr>
      </p:sp>
      <p:sp>
        <p:nvSpPr>
          <p:cNvPr id="93" name="Text 73"/>
          <p:cNvSpPr/>
          <p:nvPr/>
        </p:nvSpPr>
        <p:spPr>
          <a:xfrm>
            <a:off x="3429000" y="8372475"/>
            <a:ext cx="2357438" cy="200025"/>
          </a:xfrm>
          <a:prstGeom prst="rect">
            <a:avLst/>
          </a:prstGeom>
          <a:noFill/>
          <a:ln/>
        </p:spPr>
        <p:txBody>
          <a:bodyPr wrap="square" lIns="0" tIns="0" rIns="0" bIns="0" rtlCol="0" anchor="ctr">
            <a:spAutoFit/>
          </a:bodyPr>
          <a:lstStyle/>
          <a:p>
            <a:pPr algn="ctr" indent="0" marL="0">
              <a:buNone/>
            </a:pPr>
            <a:r>
              <a:rPr lang="en-US" sz="1125" b="1" dirty="0">
                <a:solidFill>
                  <a:srgbClr val="F1F5F9"/>
                </a:solidFill>
                <a:latin typeface="Segoe UI" pitchFamily="34" charset="0"/>
                <a:ea typeface="Segoe UI" pitchFamily="34" charset="-122"/>
                <a:cs typeface="Segoe UI" pitchFamily="34" charset="-120"/>
              </a:rPr>
              <a:t>Eclipse</a:t>
            </a:r>
            <a:endParaRPr lang="en-US" sz="1125" dirty="0"/>
          </a:p>
        </p:txBody>
      </p:sp>
      <p:pic>
        <p:nvPicPr>
          <p:cNvPr id="94" name="Image 18" descr="preencoded.png">    </p:cNvPr>
          <p:cNvPicPr>
            <a:picLocks noChangeAspect="1"/>
          </p:cNvPicPr>
          <p:nvPr/>
        </p:nvPicPr>
        <p:blipFill>
          <a:blip r:embed="rId19"/>
          <a:stretch>
            <a:fillRect/>
          </a:stretch>
        </p:blipFill>
        <p:spPr>
          <a:xfrm>
            <a:off x="3429000" y="8686800"/>
            <a:ext cx="100013" cy="114300"/>
          </a:xfrm>
          <a:prstGeom prst="rect">
            <a:avLst/>
          </a:prstGeom>
        </p:spPr>
      </p:pic>
      <p:sp>
        <p:nvSpPr>
          <p:cNvPr id="95" name="Text 74"/>
          <p:cNvSpPr/>
          <p:nvPr/>
        </p:nvSpPr>
        <p:spPr>
          <a:xfrm>
            <a:off x="3586163" y="8658225"/>
            <a:ext cx="1882155" cy="171450"/>
          </a:xfrm>
          <a:prstGeom prst="rect">
            <a:avLst/>
          </a:prstGeom>
          <a:noFill/>
          <a:ln/>
        </p:spPr>
        <p:txBody>
          <a:bodyPr wrap="square" lIns="0" tIns="0" rIns="0" bIns="0" rtlCol="0" anchor="ctr">
            <a:spAutoFit/>
          </a:bodyPr>
          <a:lstStyle/>
          <a:p>
            <a:pPr algn="l" indent="0" marL="0">
              <a:buNone/>
            </a:pPr>
            <a:r>
              <a:rPr lang="en-US" sz="900" dirty="0">
                <a:solidFill>
                  <a:srgbClr val="F1F5F9"/>
                </a:solidFill>
                <a:latin typeface="Segoe UI" pitchFamily="34" charset="0"/>
                <a:ea typeface="Segoe UI" pitchFamily="34" charset="-122"/>
                <a:cs typeface="Segoe UI" pitchFamily="34" charset="-120"/>
              </a:rPr>
              <a:t>Comprehensive Java tooling built-in</a:t>
            </a:r>
            <a:endParaRPr lang="en-US" sz="900" dirty="0"/>
          </a:p>
        </p:txBody>
      </p:sp>
      <p:pic>
        <p:nvPicPr>
          <p:cNvPr id="96" name="Image 19" descr="preencoded.png">    </p:cNvPr>
          <p:cNvPicPr>
            <a:picLocks noChangeAspect="1"/>
          </p:cNvPicPr>
          <p:nvPr/>
        </p:nvPicPr>
        <p:blipFill>
          <a:blip r:embed="rId20"/>
          <a:stretch>
            <a:fillRect/>
          </a:stretch>
        </p:blipFill>
        <p:spPr>
          <a:xfrm>
            <a:off x="3429000" y="8886825"/>
            <a:ext cx="100013" cy="114300"/>
          </a:xfrm>
          <a:prstGeom prst="rect">
            <a:avLst/>
          </a:prstGeom>
        </p:spPr>
      </p:pic>
      <p:sp>
        <p:nvSpPr>
          <p:cNvPr id="97" name="Text 75"/>
          <p:cNvSpPr/>
          <p:nvPr/>
        </p:nvSpPr>
        <p:spPr>
          <a:xfrm>
            <a:off x="3586163" y="8858250"/>
            <a:ext cx="1005204" cy="171450"/>
          </a:xfrm>
          <a:prstGeom prst="rect">
            <a:avLst/>
          </a:prstGeom>
          <a:noFill/>
          <a:ln/>
        </p:spPr>
        <p:txBody>
          <a:bodyPr wrap="none" lIns="0" tIns="0" rIns="0" bIns="0" rtlCol="0" anchor="ctr">
            <a:spAutoFit/>
          </a:bodyPr>
          <a:lstStyle/>
          <a:p>
            <a:pPr algn="l" indent="0" marL="0">
              <a:buNone/>
            </a:pPr>
            <a:r>
              <a:rPr lang="en-US" sz="900" dirty="0">
                <a:solidFill>
                  <a:srgbClr val="F1F5F9"/>
                </a:solidFill>
                <a:latin typeface="Segoe UI" pitchFamily="34" charset="0"/>
                <a:ea typeface="Segoe UI" pitchFamily="34" charset="-122"/>
                <a:cs typeface="Segoe UI" pitchFamily="34" charset="-120"/>
              </a:rPr>
              <a:t>Mature ecosystem</a:t>
            </a:r>
            <a:endParaRPr lang="en-US" sz="900" dirty="0"/>
          </a:p>
        </p:txBody>
      </p:sp>
      <p:pic>
        <p:nvPicPr>
          <p:cNvPr id="98" name="Image 20" descr="preencoded.png">    </p:cNvPr>
          <p:cNvPicPr>
            <a:picLocks noChangeAspect="1"/>
          </p:cNvPicPr>
          <p:nvPr/>
        </p:nvPicPr>
        <p:blipFill>
          <a:blip r:embed="rId21"/>
          <a:stretch>
            <a:fillRect/>
          </a:stretch>
        </p:blipFill>
        <p:spPr>
          <a:xfrm>
            <a:off x="3429000" y="9086850"/>
            <a:ext cx="100013" cy="114300"/>
          </a:xfrm>
          <a:prstGeom prst="rect">
            <a:avLst/>
          </a:prstGeom>
        </p:spPr>
      </p:pic>
      <p:sp>
        <p:nvSpPr>
          <p:cNvPr id="99" name="Text 76"/>
          <p:cNvSpPr/>
          <p:nvPr/>
        </p:nvSpPr>
        <p:spPr>
          <a:xfrm>
            <a:off x="3586163" y="9058275"/>
            <a:ext cx="1284926" cy="171450"/>
          </a:xfrm>
          <a:prstGeom prst="rect">
            <a:avLst/>
          </a:prstGeom>
          <a:noFill/>
          <a:ln/>
        </p:spPr>
        <p:txBody>
          <a:bodyPr wrap="none" lIns="0" tIns="0" rIns="0" bIns="0" rtlCol="0" anchor="ctr">
            <a:spAutoFit/>
          </a:bodyPr>
          <a:lstStyle/>
          <a:p>
            <a:pPr algn="l" indent="0" marL="0">
              <a:buNone/>
            </a:pPr>
            <a:r>
              <a:rPr lang="en-US" sz="900" dirty="0">
                <a:solidFill>
                  <a:srgbClr val="F1F5F9"/>
                </a:solidFill>
                <a:latin typeface="Segoe UI" pitchFamily="34" charset="0"/>
                <a:ea typeface="Segoe UI" pitchFamily="34" charset="-122"/>
                <a:cs typeface="Segoe UI" pitchFamily="34" charset="-120"/>
              </a:rPr>
              <a:t>Heavier resource usage</a:t>
            </a:r>
            <a:endParaRPr lang="en-US" sz="900" dirty="0"/>
          </a:p>
        </p:txBody>
      </p:sp>
      <p:pic>
        <p:nvPicPr>
          <p:cNvPr id="100" name="Image 21" descr="preencoded.png">    </p:cNvPr>
          <p:cNvPicPr>
            <a:picLocks noChangeAspect="1"/>
          </p:cNvPicPr>
          <p:nvPr/>
        </p:nvPicPr>
        <p:blipFill>
          <a:blip r:embed="rId22"/>
          <a:stretch>
            <a:fillRect/>
          </a:stretch>
        </p:blipFill>
        <p:spPr>
          <a:xfrm>
            <a:off x="3429000" y="9286875"/>
            <a:ext cx="100013" cy="114300"/>
          </a:xfrm>
          <a:prstGeom prst="rect">
            <a:avLst/>
          </a:prstGeom>
        </p:spPr>
      </p:pic>
      <p:sp>
        <p:nvSpPr>
          <p:cNvPr id="101" name="Text 77"/>
          <p:cNvSpPr/>
          <p:nvPr/>
        </p:nvSpPr>
        <p:spPr>
          <a:xfrm>
            <a:off x="3586163" y="9258300"/>
            <a:ext cx="1221470" cy="171450"/>
          </a:xfrm>
          <a:prstGeom prst="rect">
            <a:avLst/>
          </a:prstGeom>
          <a:noFill/>
          <a:ln/>
        </p:spPr>
        <p:txBody>
          <a:bodyPr wrap="none" lIns="0" tIns="0" rIns="0" bIns="0" rtlCol="0" anchor="ctr">
            <a:spAutoFit/>
          </a:bodyPr>
          <a:lstStyle/>
          <a:p>
            <a:pPr algn="l" indent="0" marL="0">
              <a:buNone/>
            </a:pPr>
            <a:r>
              <a:rPr lang="en-US" sz="900" dirty="0">
                <a:solidFill>
                  <a:srgbClr val="F1F5F9"/>
                </a:solidFill>
                <a:latin typeface="Segoe UI" pitchFamily="34" charset="0"/>
                <a:ea typeface="Segoe UI" pitchFamily="34" charset="-122"/>
                <a:cs typeface="Segoe UI" pitchFamily="34" charset="-120"/>
              </a:rPr>
              <a:t>Steeper learning curve</a:t>
            </a:r>
            <a:endParaRPr lang="en-US" sz="900" dirty="0"/>
          </a:p>
        </p:txBody>
      </p:sp>
      <p:sp>
        <p:nvSpPr>
          <p:cNvPr id="102" name="Shape 78"/>
          <p:cNvSpPr/>
          <p:nvPr/>
        </p:nvSpPr>
        <p:spPr>
          <a:xfrm>
            <a:off x="6000750" y="8258175"/>
            <a:ext cx="2514600" cy="1285875"/>
          </a:xfrm>
          <a:prstGeom prst="rect">
            <a:avLst/>
          </a:prstGeom>
          <a:solidFill>
            <a:srgbClr val="1E3A8A">
              <a:alpha val="30000"/>
            </a:srgbClr>
          </a:solidFill>
          <a:ln/>
        </p:spPr>
      </p:sp>
      <p:sp>
        <p:nvSpPr>
          <p:cNvPr id="103" name="Text 79"/>
          <p:cNvSpPr/>
          <p:nvPr/>
        </p:nvSpPr>
        <p:spPr>
          <a:xfrm>
            <a:off x="6115050" y="8372475"/>
            <a:ext cx="2357438" cy="200025"/>
          </a:xfrm>
          <a:prstGeom prst="rect">
            <a:avLst/>
          </a:prstGeom>
          <a:noFill/>
          <a:ln/>
        </p:spPr>
        <p:txBody>
          <a:bodyPr wrap="square" lIns="0" tIns="0" rIns="0" bIns="0" rtlCol="0" anchor="ctr">
            <a:spAutoFit/>
          </a:bodyPr>
          <a:lstStyle/>
          <a:p>
            <a:pPr algn="ctr" indent="0" marL="0">
              <a:buNone/>
            </a:pPr>
            <a:r>
              <a:rPr lang="en-US" sz="1125" b="1" dirty="0">
                <a:solidFill>
                  <a:srgbClr val="F1F5F9"/>
                </a:solidFill>
                <a:latin typeface="Segoe UI" pitchFamily="34" charset="0"/>
                <a:ea typeface="Segoe UI" pitchFamily="34" charset="-122"/>
                <a:cs typeface="Segoe UI" pitchFamily="34" charset="-120"/>
              </a:rPr>
              <a:t>IntelliJ IDEA</a:t>
            </a:r>
            <a:endParaRPr lang="en-US" sz="1125" dirty="0"/>
          </a:p>
        </p:txBody>
      </p:sp>
      <p:pic>
        <p:nvPicPr>
          <p:cNvPr id="104" name="Image 22" descr="preencoded.png">    </p:cNvPr>
          <p:cNvPicPr>
            <a:picLocks noChangeAspect="1"/>
          </p:cNvPicPr>
          <p:nvPr/>
        </p:nvPicPr>
        <p:blipFill>
          <a:blip r:embed="rId23"/>
          <a:stretch>
            <a:fillRect/>
          </a:stretch>
        </p:blipFill>
        <p:spPr>
          <a:xfrm>
            <a:off x="6115050" y="8686800"/>
            <a:ext cx="100013" cy="114300"/>
          </a:xfrm>
          <a:prstGeom prst="rect">
            <a:avLst/>
          </a:prstGeom>
        </p:spPr>
      </p:pic>
      <p:sp>
        <p:nvSpPr>
          <p:cNvPr id="105" name="Text 80"/>
          <p:cNvSpPr/>
          <p:nvPr/>
        </p:nvSpPr>
        <p:spPr>
          <a:xfrm>
            <a:off x="6272213" y="8658225"/>
            <a:ext cx="1304125" cy="171450"/>
          </a:xfrm>
          <a:prstGeom prst="rect">
            <a:avLst/>
          </a:prstGeom>
          <a:noFill/>
          <a:ln/>
        </p:spPr>
        <p:txBody>
          <a:bodyPr wrap="square" lIns="0" tIns="0" rIns="0" bIns="0" rtlCol="0" anchor="ctr">
            <a:spAutoFit/>
          </a:bodyPr>
          <a:lstStyle/>
          <a:p>
            <a:pPr algn="l" indent="0" marL="0">
              <a:buNone/>
            </a:pPr>
            <a:r>
              <a:rPr lang="en-US" sz="900" dirty="0">
                <a:solidFill>
                  <a:srgbClr val="F1F5F9"/>
                </a:solidFill>
                <a:latin typeface="Segoe UI" pitchFamily="34" charset="0"/>
                <a:ea typeface="Segoe UI" pitchFamily="34" charset="-122"/>
                <a:cs typeface="Segoe UI" pitchFamily="34" charset="-120"/>
              </a:rPr>
              <a:t>Advanced code analysis</a:t>
            </a:r>
            <a:endParaRPr lang="en-US" sz="900" dirty="0"/>
          </a:p>
        </p:txBody>
      </p:sp>
      <p:pic>
        <p:nvPicPr>
          <p:cNvPr id="106" name="Image 23" descr="preencoded.png">    </p:cNvPr>
          <p:cNvPicPr>
            <a:picLocks noChangeAspect="1"/>
          </p:cNvPicPr>
          <p:nvPr/>
        </p:nvPicPr>
        <p:blipFill>
          <a:blip r:embed="rId24"/>
          <a:stretch>
            <a:fillRect/>
          </a:stretch>
        </p:blipFill>
        <p:spPr>
          <a:xfrm>
            <a:off x="6115050" y="8886825"/>
            <a:ext cx="100013" cy="114300"/>
          </a:xfrm>
          <a:prstGeom prst="rect">
            <a:avLst/>
          </a:prstGeom>
        </p:spPr>
      </p:pic>
      <p:sp>
        <p:nvSpPr>
          <p:cNvPr id="107" name="Text 81"/>
          <p:cNvSpPr/>
          <p:nvPr/>
        </p:nvSpPr>
        <p:spPr>
          <a:xfrm>
            <a:off x="6272213" y="8858250"/>
            <a:ext cx="1361108" cy="171450"/>
          </a:xfrm>
          <a:prstGeom prst="rect">
            <a:avLst/>
          </a:prstGeom>
          <a:noFill/>
          <a:ln/>
        </p:spPr>
        <p:txBody>
          <a:bodyPr wrap="square" lIns="0" tIns="0" rIns="0" bIns="0" rtlCol="0" anchor="ctr">
            <a:spAutoFit/>
          </a:bodyPr>
          <a:lstStyle/>
          <a:p>
            <a:pPr algn="l" indent="0" marL="0">
              <a:buNone/>
            </a:pPr>
            <a:r>
              <a:rPr lang="en-US" sz="900" dirty="0">
                <a:solidFill>
                  <a:srgbClr val="F1F5F9"/>
                </a:solidFill>
                <a:latin typeface="Segoe UI" pitchFamily="34" charset="0"/>
                <a:ea typeface="Segoe UI" pitchFamily="34" charset="-122"/>
                <a:cs typeface="Segoe UI" pitchFamily="34" charset="-120"/>
              </a:rPr>
              <a:t>Powerful refactoring tools</a:t>
            </a:r>
            <a:endParaRPr lang="en-US" sz="900" dirty="0"/>
          </a:p>
        </p:txBody>
      </p:sp>
      <p:pic>
        <p:nvPicPr>
          <p:cNvPr id="108" name="Image 24" descr="preencoded.png">    </p:cNvPr>
          <p:cNvPicPr>
            <a:picLocks noChangeAspect="1"/>
          </p:cNvPicPr>
          <p:nvPr/>
        </p:nvPicPr>
        <p:blipFill>
          <a:blip r:embed="rId25"/>
          <a:stretch>
            <a:fillRect/>
          </a:stretch>
        </p:blipFill>
        <p:spPr>
          <a:xfrm>
            <a:off x="6115050" y="9086850"/>
            <a:ext cx="100013" cy="114300"/>
          </a:xfrm>
          <a:prstGeom prst="rect">
            <a:avLst/>
          </a:prstGeom>
        </p:spPr>
      </p:pic>
      <p:sp>
        <p:nvSpPr>
          <p:cNvPr id="109" name="Text 82"/>
          <p:cNvSpPr/>
          <p:nvPr/>
        </p:nvSpPr>
        <p:spPr>
          <a:xfrm>
            <a:off x="6272213" y="9058275"/>
            <a:ext cx="1043490" cy="171450"/>
          </a:xfrm>
          <a:prstGeom prst="rect">
            <a:avLst/>
          </a:prstGeom>
          <a:noFill/>
          <a:ln/>
        </p:spPr>
        <p:txBody>
          <a:bodyPr wrap="none" lIns="0" tIns="0" rIns="0" bIns="0" rtlCol="0" anchor="ctr">
            <a:spAutoFit/>
          </a:bodyPr>
          <a:lstStyle/>
          <a:p>
            <a:pPr algn="l" indent="0" marL="0">
              <a:buNone/>
            </a:pPr>
            <a:r>
              <a:rPr lang="en-US" sz="900" dirty="0">
                <a:solidFill>
                  <a:srgbClr val="F1F5F9"/>
                </a:solidFill>
                <a:latin typeface="Segoe UI" pitchFamily="34" charset="0"/>
                <a:ea typeface="Segoe UI" pitchFamily="34" charset="-122"/>
                <a:cs typeface="Segoe UI" pitchFamily="34" charset="-120"/>
              </a:rPr>
              <a:t>Resource intensive</a:t>
            </a:r>
            <a:endParaRPr lang="en-US" sz="900" dirty="0"/>
          </a:p>
        </p:txBody>
      </p:sp>
      <p:pic>
        <p:nvPicPr>
          <p:cNvPr id="110" name="Image 25" descr="preencoded.png">    </p:cNvPr>
          <p:cNvPicPr>
            <a:picLocks noChangeAspect="1"/>
          </p:cNvPicPr>
          <p:nvPr/>
        </p:nvPicPr>
        <p:blipFill>
          <a:blip r:embed="rId26"/>
          <a:stretch>
            <a:fillRect/>
          </a:stretch>
        </p:blipFill>
        <p:spPr>
          <a:xfrm>
            <a:off x="6115050" y="9286875"/>
            <a:ext cx="100013" cy="114300"/>
          </a:xfrm>
          <a:prstGeom prst="rect">
            <a:avLst/>
          </a:prstGeom>
        </p:spPr>
      </p:pic>
      <p:sp>
        <p:nvSpPr>
          <p:cNvPr id="111" name="Text 83"/>
          <p:cNvSpPr/>
          <p:nvPr/>
        </p:nvSpPr>
        <p:spPr>
          <a:xfrm>
            <a:off x="6272213" y="9258300"/>
            <a:ext cx="1735931" cy="171450"/>
          </a:xfrm>
          <a:prstGeom prst="rect">
            <a:avLst/>
          </a:prstGeom>
          <a:noFill/>
          <a:ln/>
        </p:spPr>
        <p:txBody>
          <a:bodyPr wrap="square" lIns="0" tIns="0" rIns="0" bIns="0" rtlCol="0" anchor="ctr">
            <a:spAutoFit/>
          </a:bodyPr>
          <a:lstStyle/>
          <a:p>
            <a:pPr algn="l" indent="0" marL="0">
              <a:buNone/>
            </a:pPr>
            <a:r>
              <a:rPr lang="en-US" sz="900" dirty="0">
                <a:solidFill>
                  <a:srgbClr val="F1F5F9"/>
                </a:solidFill>
                <a:latin typeface="Segoe UI" pitchFamily="34" charset="0"/>
                <a:ea typeface="Segoe UI" pitchFamily="34" charset="-122"/>
                <a:cs typeface="Segoe UI" pitchFamily="34" charset="-120"/>
              </a:rPr>
              <a:t>Full version requires paid license</a:t>
            </a:r>
            <a:endParaRPr lang="en-US" sz="900" dirty="0"/>
          </a:p>
        </p:txBody>
      </p:sp>
      <p:sp>
        <p:nvSpPr>
          <p:cNvPr id="112" name="Shape 84"/>
          <p:cNvSpPr/>
          <p:nvPr/>
        </p:nvSpPr>
        <p:spPr>
          <a:xfrm>
            <a:off x="628650" y="9715500"/>
            <a:ext cx="7886700" cy="571500"/>
          </a:xfrm>
          <a:prstGeom prst="rect">
            <a:avLst/>
          </a:prstGeom>
          <a:solidFill>
            <a:srgbClr val="1E3A8A">
              <a:alpha val="30000"/>
            </a:srgbClr>
          </a:solidFill>
          <a:ln/>
        </p:spPr>
      </p:sp>
      <p:pic>
        <p:nvPicPr>
          <p:cNvPr id="113" name="Image 26" descr="preencoded.png">    </p:cNvPr>
          <p:cNvPicPr>
            <a:picLocks noChangeAspect="1"/>
          </p:cNvPicPr>
          <p:nvPr/>
        </p:nvPicPr>
        <p:blipFill>
          <a:blip r:embed="rId27"/>
          <a:stretch>
            <a:fillRect/>
          </a:stretch>
        </p:blipFill>
        <p:spPr>
          <a:xfrm>
            <a:off x="742950" y="9915525"/>
            <a:ext cx="171450" cy="171450"/>
          </a:xfrm>
          <a:prstGeom prst="rect">
            <a:avLst/>
          </a:prstGeom>
        </p:spPr>
      </p:pic>
      <p:sp>
        <p:nvSpPr>
          <p:cNvPr id="114" name="Text 85"/>
          <p:cNvSpPr/>
          <p:nvPr/>
        </p:nvSpPr>
        <p:spPr>
          <a:xfrm>
            <a:off x="1028700" y="9829800"/>
            <a:ext cx="7443788" cy="342900"/>
          </a:xfrm>
          <a:prstGeom prst="rect">
            <a:avLst/>
          </a:prstGeom>
          <a:noFill/>
          <a:ln/>
        </p:spPr>
        <p:txBody>
          <a:bodyPr wrap="square" lIns="0" tIns="0" rIns="0" bIns="0" rtlCol="0" anchor="ctr">
            <a:spAutoFit/>
          </a:bodyPr>
          <a:lstStyle/>
          <a:p>
            <a:pPr indent="0" marL="0">
              <a:buNone/>
            </a:pPr>
            <a:r>
              <a:rPr lang="en-US" sz="900" dirty="0">
                <a:solidFill>
                  <a:srgbClr val="F1F5F9"/>
                </a:solidFill>
                <a:latin typeface="Segoe UI" pitchFamily="34" charset="0"/>
                <a:ea typeface="Segoe UI" pitchFamily="34" charset="-122"/>
                <a:cs typeface="Segoe UI" pitchFamily="34" charset="-120"/>
              </a:rPr>
              <a:t>For beginners, VS Code offers an excellent balance of simplicity, performance, and features. With the right extensions, it provides all the functionality needed for Java development while remaining lightweight and easy to use.</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18630900"/>
          </a:xfrm>
          <a:prstGeom prst="rect">
            <a:avLst/>
          </a:prstGeom>
        </p:spPr>
      </p:pic>
      <p:sp>
        <p:nvSpPr>
          <p:cNvPr id="3" name="Text 0"/>
          <p:cNvSpPr/>
          <p:nvPr/>
        </p:nvSpPr>
        <p:spPr>
          <a:xfrm>
            <a:off x="457200" y="455414"/>
            <a:ext cx="1271671" cy="287536"/>
          </a:xfrm>
          <a:prstGeom prst="rect">
            <a:avLst/>
          </a:prstGeom>
          <a:noFill/>
          <a:ln/>
        </p:spPr>
        <p:txBody>
          <a:bodyPr wrap="none" lIns="0" tIns="0" rIns="0" bIns="0" rtlCol="0" anchor="ctr">
            <a:spAutoFit/>
          </a:bodyPr>
          <a:lstStyle/>
          <a:p>
            <a:pPr indent="0" marL="0">
              <a:buNone/>
            </a:pPr>
            <a:r>
              <a:rPr lang="en-US" sz="2025" b="1" dirty="0">
                <a:solidFill>
                  <a:srgbClr val="F1F5F9"/>
                </a:solidFill>
                <a:latin typeface="Segoe UI" pitchFamily="34" charset="0"/>
                <a:ea typeface="Segoe UI" pitchFamily="34" charset="-122"/>
                <a:cs typeface="Segoe UI" pitchFamily="34" charset="-120"/>
              </a:rPr>
              <a:t>Installing</a:t>
            </a:r>
            <a:endParaRPr lang="en-US" sz="2025" dirty="0"/>
          </a:p>
        </p:txBody>
      </p:sp>
      <p:sp>
        <p:nvSpPr>
          <p:cNvPr id="4" name="Text 1"/>
          <p:cNvSpPr/>
          <p:nvPr/>
        </p:nvSpPr>
        <p:spPr>
          <a:xfrm>
            <a:off x="1657434" y="455414"/>
            <a:ext cx="2410123" cy="287536"/>
          </a:xfrm>
          <a:prstGeom prst="rect">
            <a:avLst/>
          </a:prstGeom>
          <a:noFill/>
          <a:ln/>
        </p:spPr>
        <p:txBody>
          <a:bodyPr wrap="square" lIns="0" tIns="0" rIns="0" bIns="0" rtlCol="0" anchor="ctr">
            <a:spAutoFit/>
          </a:bodyPr>
          <a:lstStyle/>
          <a:p>
            <a:pPr indent="0" marL="0">
              <a:buNone/>
            </a:pPr>
            <a:r>
              <a:rPr lang="en-US" sz="2025" b="1" dirty="0">
                <a:solidFill>
                  <a:srgbClr val="60A5FA"/>
                </a:solidFill>
                <a:latin typeface="Segoe UI" pitchFamily="34" charset="0"/>
                <a:ea typeface="Segoe UI" pitchFamily="34" charset="-122"/>
                <a:cs typeface="Segoe UI" pitchFamily="34" charset="-120"/>
              </a:rPr>
              <a:t>Visual Studio Code</a:t>
            </a:r>
            <a:endParaRPr lang="en-US" sz="2025" dirty="0"/>
          </a:p>
        </p:txBody>
      </p:sp>
      <p:sp>
        <p:nvSpPr>
          <p:cNvPr id="5" name="Shape 2"/>
          <p:cNvSpPr/>
          <p:nvPr/>
        </p:nvSpPr>
        <p:spPr>
          <a:xfrm>
            <a:off x="457200" y="971550"/>
            <a:ext cx="4000500" cy="3357563"/>
          </a:xfrm>
          <a:prstGeom prst="rect">
            <a:avLst/>
          </a:prstGeom>
          <a:solidFill>
            <a:srgbClr val="FFFFFF">
              <a:alpha val="10000"/>
            </a:srgbClr>
          </a:solidFill>
          <a:ln w="99">
            <a:solidFill>
              <a:srgbClr val="60A5FA">
                <a:alpha val="30000"/>
              </a:srgbClr>
            </a:solidFill>
            <a:prstDash val="solid"/>
          </a:ln>
        </p:spPr>
      </p:sp>
      <p:sp>
        <p:nvSpPr>
          <p:cNvPr id="6" name="Text 3"/>
          <p:cNvSpPr/>
          <p:nvPr/>
        </p:nvSpPr>
        <p:spPr>
          <a:xfrm>
            <a:off x="628650" y="1143000"/>
            <a:ext cx="3729038" cy="228600"/>
          </a:xfrm>
          <a:prstGeom prst="rect">
            <a:avLst/>
          </a:prstGeom>
          <a:noFill/>
          <a:ln/>
        </p:spPr>
        <p:txBody>
          <a:bodyPr wrap="square" lIns="0" tIns="0" rIns="0" bIns="0" rtlCol="0" anchor="ctr">
            <a:spAutoFit/>
          </a:bodyPr>
          <a:lstStyle/>
          <a:p>
            <a:pPr indent="0" marL="0">
              <a:buNone/>
            </a:pPr>
            <a:r>
              <a:rPr lang="en-US" sz="1350" b="1" dirty="0">
                <a:solidFill>
                  <a:srgbClr val="BFDBFE"/>
                </a:solidFill>
                <a:latin typeface="Segoe UI" pitchFamily="34" charset="0"/>
                <a:ea typeface="Segoe UI" pitchFamily="34" charset="-122"/>
                <a:cs typeface="Segoe UI" pitchFamily="34" charset="-120"/>
              </a:rPr>
              <a:t>Before You Begin</a:t>
            </a:r>
            <a:endParaRPr lang="en-US" sz="1350" dirty="0"/>
          </a:p>
        </p:txBody>
      </p:sp>
      <p:sp>
        <p:nvSpPr>
          <p:cNvPr id="7" name="Shape 4"/>
          <p:cNvSpPr/>
          <p:nvPr/>
        </p:nvSpPr>
        <p:spPr>
          <a:xfrm>
            <a:off x="628650" y="1485900"/>
            <a:ext cx="3657600" cy="1057275"/>
          </a:xfrm>
          <a:prstGeom prst="rect">
            <a:avLst/>
          </a:prstGeom>
          <a:solidFill>
            <a:srgbClr val="1E3A8A">
              <a:alpha val="30000"/>
            </a:srgbClr>
          </a:solidFill>
          <a:ln/>
        </p:spPr>
      </p:sp>
      <p:sp>
        <p:nvSpPr>
          <p:cNvPr id="8" name="Text 5"/>
          <p:cNvSpPr/>
          <p:nvPr/>
        </p:nvSpPr>
        <p:spPr>
          <a:xfrm>
            <a:off x="742950" y="1600200"/>
            <a:ext cx="3500438" cy="200025"/>
          </a:xfrm>
          <a:prstGeom prst="rect">
            <a:avLst/>
          </a:prstGeom>
          <a:noFill/>
          <a:ln/>
        </p:spPr>
        <p:txBody>
          <a:bodyPr wrap="square" lIns="0" tIns="0" rIns="0" bIns="0" rtlCol="0" anchor="ctr">
            <a:spAutoFit/>
          </a:bodyPr>
          <a:lstStyle/>
          <a:p>
            <a:pPr indent="0" marL="0">
              <a:buNone/>
            </a:pPr>
            <a:r>
              <a:rPr lang="en-US" sz="1125" b="1" dirty="0">
                <a:solidFill>
                  <a:srgbClr val="F1F5F9"/>
                </a:solidFill>
                <a:latin typeface="Segoe UI" pitchFamily="34" charset="0"/>
                <a:ea typeface="Segoe UI" pitchFamily="34" charset="-122"/>
                <a:cs typeface="Segoe UI" pitchFamily="34" charset="-120"/>
              </a:rPr>
              <a:t>System Requirements</a:t>
            </a:r>
            <a:endParaRPr lang="en-US" sz="1125" dirty="0"/>
          </a:p>
        </p:txBody>
      </p:sp>
      <p:pic>
        <p:nvPicPr>
          <p:cNvPr id="9" name="Image 1" descr="preencoded.png">    </p:cNvPr>
          <p:cNvPicPr>
            <a:picLocks noChangeAspect="1"/>
          </p:cNvPicPr>
          <p:nvPr/>
        </p:nvPicPr>
        <p:blipFill>
          <a:blip r:embed="rId2"/>
          <a:stretch>
            <a:fillRect/>
          </a:stretch>
        </p:blipFill>
        <p:spPr>
          <a:xfrm>
            <a:off x="857250" y="1885950"/>
            <a:ext cx="114300" cy="114300"/>
          </a:xfrm>
          <a:prstGeom prst="rect">
            <a:avLst/>
          </a:prstGeom>
        </p:spPr>
      </p:pic>
      <p:sp>
        <p:nvSpPr>
          <p:cNvPr id="10" name="Text 6"/>
          <p:cNvSpPr/>
          <p:nvPr/>
        </p:nvSpPr>
        <p:spPr>
          <a:xfrm>
            <a:off x="1028700" y="1878806"/>
            <a:ext cx="610065" cy="128588"/>
          </a:xfrm>
          <a:prstGeom prst="rect">
            <a:avLst/>
          </a:prstGeom>
          <a:noFill/>
          <a:ln/>
        </p:spPr>
        <p:txBody>
          <a:bodyPr wrap="none" lIns="0" tIns="0" rIns="0" bIns="0" rtlCol="0" anchor="ctr">
            <a:spAutoFit/>
          </a:bodyPr>
          <a:lstStyle/>
          <a:p>
            <a:pPr algn="l" indent="0" marL="0">
              <a:buNone/>
            </a:pPr>
            <a:r>
              <a:rPr lang="en-US" sz="900" b="1" dirty="0">
                <a:solidFill>
                  <a:srgbClr val="60A5FA"/>
                </a:solidFill>
                <a:latin typeface="Segoe UI" pitchFamily="34" charset="0"/>
                <a:ea typeface="Segoe UI" pitchFamily="34" charset="-122"/>
                <a:cs typeface="Segoe UI" pitchFamily="34" charset="-120"/>
              </a:rPr>
              <a:t>Windows:</a:t>
            </a:r>
            <a:endParaRPr lang="en-US" sz="900" dirty="0"/>
          </a:p>
        </p:txBody>
      </p:sp>
      <p:sp>
        <p:nvSpPr>
          <p:cNvPr id="11" name="Text 7"/>
          <p:cNvSpPr/>
          <p:nvPr/>
        </p:nvSpPr>
        <p:spPr>
          <a:xfrm>
            <a:off x="1567328" y="1878806"/>
            <a:ext cx="1428806" cy="128588"/>
          </a:xfrm>
          <a:prstGeom prst="rect">
            <a:avLst/>
          </a:prstGeom>
          <a:noFill/>
          <a:ln/>
        </p:spPr>
        <p:txBody>
          <a:bodyPr wrap="square" lIns="0" tIns="0" rIns="0" bIns="0" rtlCol="0" anchor="ctr">
            <a:spAutoFit/>
          </a:bodyPr>
          <a:lstStyle/>
          <a:p>
            <a:pPr algn="l" indent="0" marL="0">
              <a:buNone/>
            </a:pPr>
            <a:r>
              <a:rPr lang="en-US" sz="900" dirty="0">
                <a:solidFill>
                  <a:srgbClr val="F1F5F9"/>
                </a:solidFill>
                <a:latin typeface="Segoe UI" pitchFamily="34" charset="0"/>
                <a:ea typeface="Segoe UI" pitchFamily="34" charset="-122"/>
                <a:cs typeface="Segoe UI" pitchFamily="34" charset="-120"/>
              </a:rPr>
              <a:t>Windows 8, 10, 11 (64-bit)</a:t>
            </a:r>
            <a:endParaRPr lang="en-US" sz="900" dirty="0"/>
          </a:p>
        </p:txBody>
      </p:sp>
      <p:pic>
        <p:nvPicPr>
          <p:cNvPr id="12" name="Image 2" descr="preencoded.png">    </p:cNvPr>
          <p:cNvPicPr>
            <a:picLocks noChangeAspect="1"/>
          </p:cNvPicPr>
          <p:nvPr/>
        </p:nvPicPr>
        <p:blipFill>
          <a:blip r:embed="rId3"/>
          <a:stretch>
            <a:fillRect/>
          </a:stretch>
        </p:blipFill>
        <p:spPr>
          <a:xfrm>
            <a:off x="857250" y="2085975"/>
            <a:ext cx="114300" cy="114300"/>
          </a:xfrm>
          <a:prstGeom prst="rect">
            <a:avLst/>
          </a:prstGeom>
        </p:spPr>
      </p:pic>
      <p:sp>
        <p:nvSpPr>
          <p:cNvPr id="13" name="Text 8"/>
          <p:cNvSpPr/>
          <p:nvPr/>
        </p:nvSpPr>
        <p:spPr>
          <a:xfrm>
            <a:off x="1028700" y="2078831"/>
            <a:ext cx="503411" cy="128588"/>
          </a:xfrm>
          <a:prstGeom prst="rect">
            <a:avLst/>
          </a:prstGeom>
          <a:noFill/>
          <a:ln/>
        </p:spPr>
        <p:txBody>
          <a:bodyPr wrap="none" lIns="0" tIns="0" rIns="0" bIns="0" rtlCol="0" anchor="ctr">
            <a:spAutoFit/>
          </a:bodyPr>
          <a:lstStyle/>
          <a:p>
            <a:pPr algn="l" indent="0" marL="0">
              <a:buNone/>
            </a:pPr>
            <a:r>
              <a:rPr lang="en-US" sz="900" b="1" dirty="0">
                <a:solidFill>
                  <a:srgbClr val="60A5FA"/>
                </a:solidFill>
                <a:latin typeface="Segoe UI" pitchFamily="34" charset="0"/>
                <a:ea typeface="Segoe UI" pitchFamily="34" charset="-122"/>
                <a:cs typeface="Segoe UI" pitchFamily="34" charset="-120"/>
              </a:rPr>
              <a:t>macOS:</a:t>
            </a:r>
            <a:endParaRPr lang="en-US" sz="900" dirty="0"/>
          </a:p>
        </p:txBody>
      </p:sp>
      <p:sp>
        <p:nvSpPr>
          <p:cNvPr id="14" name="Text 9"/>
          <p:cNvSpPr/>
          <p:nvPr/>
        </p:nvSpPr>
        <p:spPr>
          <a:xfrm>
            <a:off x="1460674" y="2078831"/>
            <a:ext cx="860320" cy="128588"/>
          </a:xfrm>
          <a:prstGeom prst="rect">
            <a:avLst/>
          </a:prstGeom>
          <a:noFill/>
          <a:ln/>
        </p:spPr>
        <p:txBody>
          <a:bodyPr wrap="none" lIns="0" tIns="0" rIns="0" bIns="0" rtlCol="0" anchor="ctr">
            <a:spAutoFit/>
          </a:bodyPr>
          <a:lstStyle/>
          <a:p>
            <a:pPr algn="l" indent="0" marL="0">
              <a:buNone/>
            </a:pPr>
            <a:r>
              <a:rPr lang="en-US" sz="900" dirty="0">
                <a:solidFill>
                  <a:srgbClr val="F1F5F9"/>
                </a:solidFill>
                <a:latin typeface="Segoe UI" pitchFamily="34" charset="0"/>
                <a:ea typeface="Segoe UI" pitchFamily="34" charset="-122"/>
                <a:cs typeface="Segoe UI" pitchFamily="34" charset="-120"/>
              </a:rPr>
              <a:t>macOS 10.11+</a:t>
            </a:r>
            <a:endParaRPr lang="en-US" sz="900" dirty="0"/>
          </a:p>
        </p:txBody>
      </p:sp>
      <p:pic>
        <p:nvPicPr>
          <p:cNvPr id="15" name="Image 3" descr="preencoded.png">    </p:cNvPr>
          <p:cNvPicPr>
            <a:picLocks noChangeAspect="1"/>
          </p:cNvPicPr>
          <p:nvPr/>
        </p:nvPicPr>
        <p:blipFill>
          <a:blip r:embed="rId4"/>
          <a:stretch>
            <a:fillRect/>
          </a:stretch>
        </p:blipFill>
        <p:spPr>
          <a:xfrm>
            <a:off x="857250" y="2286000"/>
            <a:ext cx="114300" cy="114300"/>
          </a:xfrm>
          <a:prstGeom prst="rect">
            <a:avLst/>
          </a:prstGeom>
        </p:spPr>
      </p:pic>
      <p:sp>
        <p:nvSpPr>
          <p:cNvPr id="16" name="Text 10"/>
          <p:cNvSpPr/>
          <p:nvPr/>
        </p:nvSpPr>
        <p:spPr>
          <a:xfrm>
            <a:off x="1028700" y="2278856"/>
            <a:ext cx="414282" cy="128588"/>
          </a:xfrm>
          <a:prstGeom prst="rect">
            <a:avLst/>
          </a:prstGeom>
          <a:noFill/>
          <a:ln/>
        </p:spPr>
        <p:txBody>
          <a:bodyPr wrap="none" lIns="0" tIns="0" rIns="0" bIns="0" rtlCol="0" anchor="ctr">
            <a:spAutoFit/>
          </a:bodyPr>
          <a:lstStyle/>
          <a:p>
            <a:pPr algn="l" indent="0" marL="0">
              <a:buNone/>
            </a:pPr>
            <a:r>
              <a:rPr lang="en-US" sz="900" b="1" dirty="0">
                <a:solidFill>
                  <a:srgbClr val="60A5FA"/>
                </a:solidFill>
                <a:latin typeface="Segoe UI" pitchFamily="34" charset="0"/>
                <a:ea typeface="Segoe UI" pitchFamily="34" charset="-122"/>
                <a:cs typeface="Segoe UI" pitchFamily="34" charset="-120"/>
              </a:rPr>
              <a:t>Linux:</a:t>
            </a:r>
            <a:endParaRPr lang="en-US" sz="900" dirty="0"/>
          </a:p>
        </p:txBody>
      </p:sp>
      <p:sp>
        <p:nvSpPr>
          <p:cNvPr id="17" name="Text 11"/>
          <p:cNvSpPr/>
          <p:nvPr/>
        </p:nvSpPr>
        <p:spPr>
          <a:xfrm>
            <a:off x="1371544" y="2278856"/>
            <a:ext cx="2180741" cy="128588"/>
          </a:xfrm>
          <a:prstGeom prst="rect">
            <a:avLst/>
          </a:prstGeom>
          <a:noFill/>
          <a:ln/>
        </p:spPr>
        <p:txBody>
          <a:bodyPr wrap="square" lIns="0" tIns="0" rIns="0" bIns="0" rtlCol="0" anchor="ctr">
            <a:spAutoFit/>
          </a:bodyPr>
          <a:lstStyle/>
          <a:p>
            <a:pPr algn="l" indent="0" marL="0">
              <a:buNone/>
            </a:pPr>
            <a:r>
              <a:rPr lang="en-US" sz="900" dirty="0">
                <a:solidFill>
                  <a:srgbClr val="F1F5F9"/>
                </a:solidFill>
                <a:latin typeface="Segoe UI" pitchFamily="34" charset="0"/>
                <a:ea typeface="Segoe UI" pitchFamily="34" charset="-122"/>
                <a:cs typeface="Segoe UI" pitchFamily="34" charset="-120"/>
              </a:rPr>
              <a:t>Debian, Ubuntu, Red Hat, Fedora, SUSE</a:t>
            </a:r>
            <a:endParaRPr lang="en-US" sz="900" dirty="0"/>
          </a:p>
        </p:txBody>
      </p:sp>
      <p:pic>
        <p:nvPicPr>
          <p:cNvPr id="18" name="Image 4" descr="preencoded.png">    </p:cNvPr>
          <p:cNvPicPr>
            <a:picLocks noChangeAspect="1"/>
          </p:cNvPicPr>
          <p:nvPr/>
        </p:nvPicPr>
        <p:blipFill>
          <a:blip r:embed="rId5"/>
          <a:stretch>
            <a:fillRect/>
          </a:stretch>
        </p:blipFill>
        <p:spPr>
          <a:xfrm>
            <a:off x="2100263" y="2657475"/>
            <a:ext cx="714375" cy="714375"/>
          </a:xfrm>
          <a:prstGeom prst="rect">
            <a:avLst/>
          </a:prstGeom>
        </p:spPr>
      </p:pic>
      <p:sp>
        <p:nvSpPr>
          <p:cNvPr id="19" name="Shape 12"/>
          <p:cNvSpPr/>
          <p:nvPr/>
        </p:nvSpPr>
        <p:spPr>
          <a:xfrm>
            <a:off x="628650" y="3486150"/>
            <a:ext cx="3657600" cy="657225"/>
          </a:xfrm>
          <a:prstGeom prst="rect">
            <a:avLst/>
          </a:prstGeom>
          <a:solidFill>
            <a:srgbClr val="78350F">
              <a:alpha val="20000"/>
            </a:srgbClr>
          </a:solidFill>
          <a:ln/>
        </p:spPr>
      </p:sp>
      <p:pic>
        <p:nvPicPr>
          <p:cNvPr id="20" name="Image 5" descr="preencoded.png">    </p:cNvPr>
          <p:cNvPicPr>
            <a:picLocks noChangeAspect="1"/>
          </p:cNvPicPr>
          <p:nvPr/>
        </p:nvPicPr>
        <p:blipFill>
          <a:blip r:embed="rId6"/>
          <a:stretch>
            <a:fillRect/>
          </a:stretch>
        </p:blipFill>
        <p:spPr>
          <a:xfrm>
            <a:off x="742950" y="3729038"/>
            <a:ext cx="128588" cy="171450"/>
          </a:xfrm>
          <a:prstGeom prst="rect">
            <a:avLst/>
          </a:prstGeom>
        </p:spPr>
      </p:pic>
      <p:sp>
        <p:nvSpPr>
          <p:cNvPr id="21" name="Text 13"/>
          <p:cNvSpPr/>
          <p:nvPr/>
        </p:nvSpPr>
        <p:spPr>
          <a:xfrm>
            <a:off x="985838" y="3600450"/>
            <a:ext cx="3257550" cy="428625"/>
          </a:xfrm>
          <a:prstGeom prst="rect">
            <a:avLst/>
          </a:prstGeom>
          <a:noFill/>
          <a:ln/>
        </p:spPr>
        <p:txBody>
          <a:bodyPr wrap="square" lIns="0" tIns="0" rIns="0" bIns="0" rtlCol="0" anchor="ctr">
            <a:spAutoFit/>
          </a:bodyPr>
          <a:lstStyle/>
          <a:p>
            <a:pPr indent="0" marL="0">
              <a:buNone/>
            </a:pPr>
            <a:r>
              <a:rPr lang="en-US" sz="788" dirty="0">
                <a:solidFill>
                  <a:srgbClr val="F1F5F9"/>
                </a:solidFill>
                <a:latin typeface="Segoe UI" pitchFamily="34" charset="0"/>
                <a:ea typeface="Segoe UI" pitchFamily="34" charset="-122"/>
                <a:cs typeface="Segoe UI" pitchFamily="34" charset="-120"/>
              </a:rPr>
              <a:t>VS Code is lightweight but having at least 4GB of RAM and a modern processor will ensure a smooth experience, especially when working with larger projects.</a:t>
            </a:r>
            <a:endParaRPr lang="en-US" sz="788" dirty="0"/>
          </a:p>
        </p:txBody>
      </p:sp>
      <p:sp>
        <p:nvSpPr>
          <p:cNvPr id="22" name="Shape 14"/>
          <p:cNvSpPr/>
          <p:nvPr/>
        </p:nvSpPr>
        <p:spPr>
          <a:xfrm>
            <a:off x="457200" y="4486275"/>
            <a:ext cx="4000500" cy="3214688"/>
          </a:xfrm>
          <a:prstGeom prst="rect">
            <a:avLst/>
          </a:prstGeom>
          <a:solidFill>
            <a:srgbClr val="FFFFFF">
              <a:alpha val="10000"/>
            </a:srgbClr>
          </a:solidFill>
          <a:ln w="99">
            <a:solidFill>
              <a:srgbClr val="60A5FA">
                <a:alpha val="30000"/>
              </a:srgbClr>
            </a:solidFill>
            <a:prstDash val="solid"/>
          </a:ln>
        </p:spPr>
      </p:sp>
      <p:sp>
        <p:nvSpPr>
          <p:cNvPr id="23" name="Text 15"/>
          <p:cNvSpPr/>
          <p:nvPr/>
        </p:nvSpPr>
        <p:spPr>
          <a:xfrm>
            <a:off x="628650" y="4657725"/>
            <a:ext cx="3729038" cy="228600"/>
          </a:xfrm>
          <a:prstGeom prst="rect">
            <a:avLst/>
          </a:prstGeom>
          <a:noFill/>
          <a:ln/>
        </p:spPr>
        <p:txBody>
          <a:bodyPr wrap="square" lIns="0" tIns="0" rIns="0" bIns="0" rtlCol="0" anchor="ctr">
            <a:spAutoFit/>
          </a:bodyPr>
          <a:lstStyle/>
          <a:p>
            <a:pPr indent="0" marL="0">
              <a:buNone/>
            </a:pPr>
            <a:r>
              <a:rPr lang="en-US" sz="1350" b="1" dirty="0">
                <a:solidFill>
                  <a:srgbClr val="BFDBFE"/>
                </a:solidFill>
                <a:latin typeface="Segoe UI" pitchFamily="34" charset="0"/>
                <a:ea typeface="Segoe UI" pitchFamily="34" charset="-122"/>
                <a:cs typeface="Segoe UI" pitchFamily="34" charset="-120"/>
              </a:rPr>
              <a:t>General Installation Steps</a:t>
            </a:r>
            <a:endParaRPr lang="en-US" sz="1350" dirty="0"/>
          </a:p>
        </p:txBody>
      </p:sp>
      <p:sp>
        <p:nvSpPr>
          <p:cNvPr id="24" name="Shape 16"/>
          <p:cNvSpPr/>
          <p:nvPr/>
        </p:nvSpPr>
        <p:spPr>
          <a:xfrm>
            <a:off x="628650" y="5000625"/>
            <a:ext cx="3657600" cy="542925"/>
          </a:xfrm>
          <a:prstGeom prst="rect">
            <a:avLst/>
          </a:prstGeom>
          <a:solidFill>
            <a:srgbClr val="1E3A8A">
              <a:alpha val="30000"/>
            </a:srgbClr>
          </a:solidFill>
          <a:ln/>
        </p:spPr>
      </p:sp>
      <p:sp>
        <p:nvSpPr>
          <p:cNvPr id="25" name="Shape 17"/>
          <p:cNvSpPr/>
          <p:nvPr/>
        </p:nvSpPr>
        <p:spPr>
          <a:xfrm>
            <a:off x="628650" y="5000625"/>
            <a:ext cx="28575" cy="542925"/>
          </a:xfrm>
          <a:prstGeom prst="rect">
            <a:avLst/>
          </a:prstGeom>
          <a:solidFill>
            <a:srgbClr val="60A5FA"/>
          </a:solidFill>
          <a:ln/>
        </p:spPr>
      </p:sp>
      <p:sp>
        <p:nvSpPr>
          <p:cNvPr id="26" name="Text 18"/>
          <p:cNvSpPr/>
          <p:nvPr/>
        </p:nvSpPr>
        <p:spPr>
          <a:xfrm>
            <a:off x="742950" y="5086350"/>
            <a:ext cx="3614738" cy="200025"/>
          </a:xfrm>
          <a:prstGeom prst="rect">
            <a:avLst/>
          </a:prstGeom>
          <a:noFill/>
          <a:ln/>
        </p:spPr>
        <p:txBody>
          <a:bodyPr wrap="square" lIns="0" tIns="0" rIns="0" bIns="0" rtlCol="0" anchor="ctr">
            <a:spAutoFit/>
          </a:bodyPr>
          <a:lstStyle/>
          <a:p>
            <a:pPr indent="0" marL="0">
              <a:buNone/>
            </a:pPr>
            <a:r>
              <a:rPr lang="en-US" sz="1125" b="1" dirty="0">
                <a:solidFill>
                  <a:srgbClr val="F1F5F9"/>
                </a:solidFill>
                <a:latin typeface="Segoe UI" pitchFamily="34" charset="0"/>
                <a:ea typeface="Segoe UI" pitchFamily="34" charset="-122"/>
                <a:cs typeface="Segoe UI" pitchFamily="34" charset="-120"/>
              </a:rPr>
              <a:t>Step 1: Download VS Code</a:t>
            </a:r>
            <a:endParaRPr lang="en-US" sz="1125" dirty="0"/>
          </a:p>
        </p:txBody>
      </p:sp>
      <p:sp>
        <p:nvSpPr>
          <p:cNvPr id="27" name="Text 19"/>
          <p:cNvSpPr/>
          <p:nvPr/>
        </p:nvSpPr>
        <p:spPr>
          <a:xfrm>
            <a:off x="742950" y="5329238"/>
            <a:ext cx="286364" cy="112514"/>
          </a:xfrm>
          <a:prstGeom prst="rect">
            <a:avLst/>
          </a:prstGeom>
          <a:noFill/>
          <a:ln/>
        </p:spPr>
        <p:txBody>
          <a:bodyPr wrap="none" lIns="0" tIns="0" rIns="0" bIns="0" rtlCol="0" anchor="ctr">
            <a:spAutoFit/>
          </a:bodyPr>
          <a:lstStyle/>
          <a:p>
            <a:pPr indent="0" marL="0">
              <a:buNone/>
            </a:pPr>
            <a:r>
              <a:rPr lang="en-US" sz="788" dirty="0">
                <a:solidFill>
                  <a:srgbClr val="F1F5F9"/>
                </a:solidFill>
                <a:latin typeface="Segoe UI" pitchFamily="34" charset="0"/>
                <a:ea typeface="Segoe UI" pitchFamily="34" charset="-122"/>
                <a:cs typeface="Segoe UI" pitchFamily="34" charset="-120"/>
              </a:rPr>
              <a:t>Visit</a:t>
            </a:r>
            <a:endParaRPr lang="en-US" sz="788" dirty="0"/>
          </a:p>
        </p:txBody>
      </p:sp>
      <p:sp>
        <p:nvSpPr>
          <p:cNvPr id="28" name="Text 20"/>
          <p:cNvSpPr/>
          <p:nvPr/>
        </p:nvSpPr>
        <p:spPr>
          <a:xfrm>
            <a:off x="957876" y="5329238"/>
            <a:ext cx="1811555" cy="112514"/>
          </a:xfrm>
          <a:prstGeom prst="rect">
            <a:avLst/>
          </a:prstGeom>
          <a:noFill/>
          <a:ln/>
        </p:spPr>
        <p:txBody>
          <a:bodyPr wrap="square" lIns="0" tIns="0" rIns="0" bIns="0" rtlCol="0" anchor="ctr">
            <a:spAutoFit/>
          </a:bodyPr>
          <a:lstStyle/>
          <a:p>
            <a:pPr indent="0" marL="0">
              <a:buNone/>
            </a:pPr>
            <a:r>
              <a:rPr lang="en-US" sz="788" dirty="0">
                <a:solidFill>
                  <a:srgbClr val="60A5FA"/>
                </a:solidFill>
                <a:latin typeface="Segoe UI" pitchFamily="34" charset="0"/>
                <a:ea typeface="Segoe UI" pitchFamily="34" charset="-122"/>
                <a:cs typeface="Segoe UI" pitchFamily="34" charset="-120"/>
              </a:rPr>
              <a:t>https://code.visualstudio.com/download</a:t>
            </a:r>
            <a:endParaRPr lang="en-US" sz="788" dirty="0"/>
          </a:p>
        </p:txBody>
      </p:sp>
      <p:sp>
        <p:nvSpPr>
          <p:cNvPr id="29" name="Text 21"/>
          <p:cNvSpPr/>
          <p:nvPr/>
        </p:nvSpPr>
        <p:spPr>
          <a:xfrm>
            <a:off x="2697993" y="5329238"/>
            <a:ext cx="1166552" cy="112514"/>
          </a:xfrm>
          <a:prstGeom prst="rect">
            <a:avLst/>
          </a:prstGeom>
          <a:noFill/>
          <a:ln/>
        </p:spPr>
        <p:txBody>
          <a:bodyPr wrap="none" lIns="0" tIns="0" rIns="0" bIns="0" rtlCol="0" anchor="ctr">
            <a:spAutoFit/>
          </a:bodyPr>
          <a:lstStyle/>
          <a:p>
            <a:pPr indent="0" marL="0">
              <a:buNone/>
            </a:pPr>
            <a:r>
              <a:rPr lang="en-US" sz="788" dirty="0">
                <a:solidFill>
                  <a:srgbClr val="F1F5F9"/>
                </a:solidFill>
                <a:latin typeface="Segoe UI" pitchFamily="34" charset="0"/>
                <a:ea typeface="Segoe UI" pitchFamily="34" charset="-122"/>
                <a:cs typeface="Segoe UI" pitchFamily="34" charset="-120"/>
              </a:rPr>
              <a:t>and select your platform</a:t>
            </a:r>
            <a:endParaRPr lang="en-US" sz="788" dirty="0"/>
          </a:p>
        </p:txBody>
      </p:sp>
      <p:sp>
        <p:nvSpPr>
          <p:cNvPr id="30" name="Shape 22"/>
          <p:cNvSpPr/>
          <p:nvPr/>
        </p:nvSpPr>
        <p:spPr>
          <a:xfrm>
            <a:off x="628650" y="5657850"/>
            <a:ext cx="3657600" cy="542925"/>
          </a:xfrm>
          <a:prstGeom prst="rect">
            <a:avLst/>
          </a:prstGeom>
          <a:solidFill>
            <a:srgbClr val="1E3A8A">
              <a:alpha val="30000"/>
            </a:srgbClr>
          </a:solidFill>
          <a:ln/>
        </p:spPr>
      </p:sp>
      <p:sp>
        <p:nvSpPr>
          <p:cNvPr id="31" name="Shape 23"/>
          <p:cNvSpPr/>
          <p:nvPr/>
        </p:nvSpPr>
        <p:spPr>
          <a:xfrm>
            <a:off x="628650" y="5657850"/>
            <a:ext cx="28575" cy="542925"/>
          </a:xfrm>
          <a:prstGeom prst="rect">
            <a:avLst/>
          </a:prstGeom>
          <a:solidFill>
            <a:srgbClr val="60A5FA"/>
          </a:solidFill>
          <a:ln/>
        </p:spPr>
      </p:sp>
      <p:sp>
        <p:nvSpPr>
          <p:cNvPr id="32" name="Text 24"/>
          <p:cNvSpPr/>
          <p:nvPr/>
        </p:nvSpPr>
        <p:spPr>
          <a:xfrm>
            <a:off x="742950" y="5743575"/>
            <a:ext cx="3614738" cy="200025"/>
          </a:xfrm>
          <a:prstGeom prst="rect">
            <a:avLst/>
          </a:prstGeom>
          <a:noFill/>
          <a:ln/>
        </p:spPr>
        <p:txBody>
          <a:bodyPr wrap="square" lIns="0" tIns="0" rIns="0" bIns="0" rtlCol="0" anchor="ctr">
            <a:spAutoFit/>
          </a:bodyPr>
          <a:lstStyle/>
          <a:p>
            <a:pPr indent="0" marL="0">
              <a:buNone/>
            </a:pPr>
            <a:r>
              <a:rPr lang="en-US" sz="1125" b="1" dirty="0">
                <a:solidFill>
                  <a:srgbClr val="F1F5F9"/>
                </a:solidFill>
                <a:latin typeface="Segoe UI" pitchFamily="34" charset="0"/>
                <a:ea typeface="Segoe UI" pitchFamily="34" charset="-122"/>
                <a:cs typeface="Segoe UI" pitchFamily="34" charset="-120"/>
              </a:rPr>
              <a:t>Step 2: Run the Installer</a:t>
            </a:r>
            <a:endParaRPr lang="en-US" sz="1125" dirty="0"/>
          </a:p>
        </p:txBody>
      </p:sp>
      <p:sp>
        <p:nvSpPr>
          <p:cNvPr id="33" name="Text 25"/>
          <p:cNvSpPr/>
          <p:nvPr/>
        </p:nvSpPr>
        <p:spPr>
          <a:xfrm>
            <a:off x="742950" y="5972175"/>
            <a:ext cx="3614738" cy="142875"/>
          </a:xfrm>
          <a:prstGeom prst="rect">
            <a:avLst/>
          </a:prstGeom>
          <a:noFill/>
          <a:ln/>
        </p:spPr>
        <p:txBody>
          <a:bodyPr wrap="square" lIns="0" tIns="0" rIns="0" bIns="0" rtlCol="0" anchor="ctr">
            <a:spAutoFit/>
          </a:bodyPr>
          <a:lstStyle/>
          <a:p>
            <a:pPr indent="0" marL="0">
              <a:buNone/>
            </a:pPr>
            <a:r>
              <a:rPr lang="en-US" sz="788" dirty="0">
                <a:solidFill>
                  <a:srgbClr val="F1F5F9"/>
                </a:solidFill>
                <a:latin typeface="Segoe UI" pitchFamily="34" charset="0"/>
                <a:ea typeface="Segoe UI" pitchFamily="34" charset="-122"/>
                <a:cs typeface="Segoe UI" pitchFamily="34" charset="-120"/>
              </a:rPr>
              <a:t>Follow the installation wizard instructions for your OS</a:t>
            </a:r>
            <a:endParaRPr lang="en-US" sz="788" dirty="0"/>
          </a:p>
        </p:txBody>
      </p:sp>
      <p:sp>
        <p:nvSpPr>
          <p:cNvPr id="34" name="Shape 26"/>
          <p:cNvSpPr/>
          <p:nvPr/>
        </p:nvSpPr>
        <p:spPr>
          <a:xfrm>
            <a:off x="628650" y="6315075"/>
            <a:ext cx="3657600" cy="542925"/>
          </a:xfrm>
          <a:prstGeom prst="rect">
            <a:avLst/>
          </a:prstGeom>
          <a:solidFill>
            <a:srgbClr val="1E3A8A">
              <a:alpha val="30000"/>
            </a:srgbClr>
          </a:solidFill>
          <a:ln/>
        </p:spPr>
      </p:sp>
      <p:sp>
        <p:nvSpPr>
          <p:cNvPr id="35" name="Shape 27"/>
          <p:cNvSpPr/>
          <p:nvPr/>
        </p:nvSpPr>
        <p:spPr>
          <a:xfrm>
            <a:off x="628650" y="6315075"/>
            <a:ext cx="28575" cy="542925"/>
          </a:xfrm>
          <a:prstGeom prst="rect">
            <a:avLst/>
          </a:prstGeom>
          <a:solidFill>
            <a:srgbClr val="60A5FA"/>
          </a:solidFill>
          <a:ln/>
        </p:spPr>
      </p:sp>
      <p:sp>
        <p:nvSpPr>
          <p:cNvPr id="36" name="Text 28"/>
          <p:cNvSpPr/>
          <p:nvPr/>
        </p:nvSpPr>
        <p:spPr>
          <a:xfrm>
            <a:off x="742950" y="6400800"/>
            <a:ext cx="3614738" cy="200025"/>
          </a:xfrm>
          <a:prstGeom prst="rect">
            <a:avLst/>
          </a:prstGeom>
          <a:noFill/>
          <a:ln/>
        </p:spPr>
        <p:txBody>
          <a:bodyPr wrap="square" lIns="0" tIns="0" rIns="0" bIns="0" rtlCol="0" anchor="ctr">
            <a:spAutoFit/>
          </a:bodyPr>
          <a:lstStyle/>
          <a:p>
            <a:pPr indent="0" marL="0">
              <a:buNone/>
            </a:pPr>
            <a:r>
              <a:rPr lang="en-US" sz="1125" b="1" dirty="0">
                <a:solidFill>
                  <a:srgbClr val="F1F5F9"/>
                </a:solidFill>
                <a:latin typeface="Segoe UI" pitchFamily="34" charset="0"/>
                <a:ea typeface="Segoe UI" pitchFamily="34" charset="-122"/>
                <a:cs typeface="Segoe UI" pitchFamily="34" charset="-120"/>
              </a:rPr>
              <a:t>Step 3: Launch VS Code</a:t>
            </a:r>
            <a:endParaRPr lang="en-US" sz="1125" dirty="0"/>
          </a:p>
        </p:txBody>
      </p:sp>
      <p:sp>
        <p:nvSpPr>
          <p:cNvPr id="37" name="Text 29"/>
          <p:cNvSpPr/>
          <p:nvPr/>
        </p:nvSpPr>
        <p:spPr>
          <a:xfrm>
            <a:off x="742950" y="6629400"/>
            <a:ext cx="3614738" cy="142875"/>
          </a:xfrm>
          <a:prstGeom prst="rect">
            <a:avLst/>
          </a:prstGeom>
          <a:noFill/>
          <a:ln/>
        </p:spPr>
        <p:txBody>
          <a:bodyPr wrap="square" lIns="0" tIns="0" rIns="0" bIns="0" rtlCol="0" anchor="ctr">
            <a:spAutoFit/>
          </a:bodyPr>
          <a:lstStyle/>
          <a:p>
            <a:pPr indent="0" marL="0">
              <a:buNone/>
            </a:pPr>
            <a:r>
              <a:rPr lang="en-US" sz="788" dirty="0">
                <a:solidFill>
                  <a:srgbClr val="F1F5F9"/>
                </a:solidFill>
                <a:latin typeface="Segoe UI" pitchFamily="34" charset="0"/>
                <a:ea typeface="Segoe UI" pitchFamily="34" charset="-122"/>
                <a:cs typeface="Segoe UI" pitchFamily="34" charset="-120"/>
              </a:rPr>
              <a:t>Open VS Code from your applications menu or desktop shortcut</a:t>
            </a:r>
            <a:endParaRPr lang="en-US" sz="788" dirty="0"/>
          </a:p>
        </p:txBody>
      </p:sp>
      <p:sp>
        <p:nvSpPr>
          <p:cNvPr id="38" name="Shape 30"/>
          <p:cNvSpPr/>
          <p:nvPr/>
        </p:nvSpPr>
        <p:spPr>
          <a:xfrm>
            <a:off x="628650" y="6972300"/>
            <a:ext cx="3657600" cy="542925"/>
          </a:xfrm>
          <a:prstGeom prst="rect">
            <a:avLst/>
          </a:prstGeom>
          <a:solidFill>
            <a:srgbClr val="1E3A8A">
              <a:alpha val="30000"/>
            </a:srgbClr>
          </a:solidFill>
          <a:ln/>
        </p:spPr>
      </p:sp>
      <p:sp>
        <p:nvSpPr>
          <p:cNvPr id="39" name="Shape 31"/>
          <p:cNvSpPr/>
          <p:nvPr/>
        </p:nvSpPr>
        <p:spPr>
          <a:xfrm>
            <a:off x="628650" y="6972300"/>
            <a:ext cx="28575" cy="542925"/>
          </a:xfrm>
          <a:prstGeom prst="rect">
            <a:avLst/>
          </a:prstGeom>
          <a:solidFill>
            <a:srgbClr val="60A5FA"/>
          </a:solidFill>
          <a:ln/>
        </p:spPr>
      </p:sp>
      <p:sp>
        <p:nvSpPr>
          <p:cNvPr id="40" name="Text 32"/>
          <p:cNvSpPr/>
          <p:nvPr/>
        </p:nvSpPr>
        <p:spPr>
          <a:xfrm>
            <a:off x="742950" y="7058025"/>
            <a:ext cx="3614738" cy="200025"/>
          </a:xfrm>
          <a:prstGeom prst="rect">
            <a:avLst/>
          </a:prstGeom>
          <a:noFill/>
          <a:ln/>
        </p:spPr>
        <p:txBody>
          <a:bodyPr wrap="square" lIns="0" tIns="0" rIns="0" bIns="0" rtlCol="0" anchor="ctr">
            <a:spAutoFit/>
          </a:bodyPr>
          <a:lstStyle/>
          <a:p>
            <a:pPr indent="0" marL="0">
              <a:buNone/>
            </a:pPr>
            <a:r>
              <a:rPr lang="en-US" sz="1125" b="1" dirty="0">
                <a:solidFill>
                  <a:srgbClr val="F1F5F9"/>
                </a:solidFill>
                <a:latin typeface="Segoe UI" pitchFamily="34" charset="0"/>
                <a:ea typeface="Segoe UI" pitchFamily="34" charset="-122"/>
                <a:cs typeface="Segoe UI" pitchFamily="34" charset="-120"/>
              </a:rPr>
              <a:t>Step 4: Install Extensions</a:t>
            </a:r>
            <a:endParaRPr lang="en-US" sz="1125" dirty="0"/>
          </a:p>
        </p:txBody>
      </p:sp>
      <p:sp>
        <p:nvSpPr>
          <p:cNvPr id="41" name="Text 33"/>
          <p:cNvSpPr/>
          <p:nvPr/>
        </p:nvSpPr>
        <p:spPr>
          <a:xfrm>
            <a:off x="742950" y="7286625"/>
            <a:ext cx="3614738" cy="142875"/>
          </a:xfrm>
          <a:prstGeom prst="rect">
            <a:avLst/>
          </a:prstGeom>
          <a:noFill/>
          <a:ln/>
        </p:spPr>
        <p:txBody>
          <a:bodyPr wrap="square" lIns="0" tIns="0" rIns="0" bIns="0" rtlCol="0" anchor="ctr">
            <a:spAutoFit/>
          </a:bodyPr>
          <a:lstStyle/>
          <a:p>
            <a:pPr indent="0" marL="0">
              <a:buNone/>
            </a:pPr>
            <a:r>
              <a:rPr lang="en-US" sz="788" dirty="0">
                <a:solidFill>
                  <a:srgbClr val="F1F5F9"/>
                </a:solidFill>
                <a:latin typeface="Segoe UI" pitchFamily="34" charset="0"/>
                <a:ea typeface="Segoe UI" pitchFamily="34" charset="-122"/>
                <a:cs typeface="Segoe UI" pitchFamily="34" charset="-120"/>
              </a:rPr>
              <a:t>Add Java extensions (covered in the next slide)</a:t>
            </a:r>
            <a:endParaRPr lang="en-US" sz="788" dirty="0"/>
          </a:p>
        </p:txBody>
      </p:sp>
      <p:sp>
        <p:nvSpPr>
          <p:cNvPr id="42" name="Shape 34"/>
          <p:cNvSpPr/>
          <p:nvPr/>
        </p:nvSpPr>
        <p:spPr>
          <a:xfrm>
            <a:off x="4686300" y="971550"/>
            <a:ext cx="4000500" cy="3300413"/>
          </a:xfrm>
          <a:prstGeom prst="rect">
            <a:avLst/>
          </a:prstGeom>
          <a:solidFill>
            <a:srgbClr val="FFFFFF">
              <a:alpha val="10000"/>
            </a:srgbClr>
          </a:solidFill>
          <a:ln w="99">
            <a:solidFill>
              <a:srgbClr val="60A5FA">
                <a:alpha val="30000"/>
              </a:srgbClr>
            </a:solidFill>
            <a:prstDash val="solid"/>
          </a:ln>
        </p:spPr>
      </p:sp>
      <p:sp>
        <p:nvSpPr>
          <p:cNvPr id="43" name="Text 35"/>
          <p:cNvSpPr/>
          <p:nvPr/>
        </p:nvSpPr>
        <p:spPr>
          <a:xfrm>
            <a:off x="4857750" y="1143000"/>
            <a:ext cx="3729038" cy="228600"/>
          </a:xfrm>
          <a:prstGeom prst="rect">
            <a:avLst/>
          </a:prstGeom>
          <a:noFill/>
          <a:ln/>
        </p:spPr>
        <p:txBody>
          <a:bodyPr wrap="square" lIns="0" tIns="0" rIns="0" bIns="0" rtlCol="0" anchor="ctr">
            <a:spAutoFit/>
          </a:bodyPr>
          <a:lstStyle/>
          <a:p>
            <a:pPr indent="0" marL="0">
              <a:buNone/>
            </a:pPr>
            <a:r>
              <a:rPr lang="en-US" sz="1350" b="1" dirty="0">
                <a:solidFill>
                  <a:srgbClr val="BFDBFE"/>
                </a:solidFill>
                <a:latin typeface="Segoe UI" pitchFamily="34" charset="0"/>
                <a:ea typeface="Segoe UI" pitchFamily="34" charset="-122"/>
                <a:cs typeface="Segoe UI" pitchFamily="34" charset="-120"/>
              </a:rPr>
              <a:t>Windows Installation</a:t>
            </a:r>
            <a:endParaRPr lang="en-US" sz="1350" dirty="0"/>
          </a:p>
        </p:txBody>
      </p:sp>
      <p:sp>
        <p:nvSpPr>
          <p:cNvPr id="44" name="Shape 36"/>
          <p:cNvSpPr/>
          <p:nvPr/>
        </p:nvSpPr>
        <p:spPr>
          <a:xfrm>
            <a:off x="4857750" y="1485900"/>
            <a:ext cx="3657600" cy="2600325"/>
          </a:xfrm>
          <a:prstGeom prst="rect">
            <a:avLst/>
          </a:prstGeom>
          <a:solidFill>
            <a:srgbClr val="1E3A8A">
              <a:alpha val="30000"/>
            </a:srgbClr>
          </a:solidFill>
          <a:ln w="397">
            <a:solidFill>
              <a:srgbClr val="60A5FA"/>
            </a:solidFill>
            <a:prstDash val="solid"/>
          </a:ln>
        </p:spPr>
      </p:sp>
      <p:sp>
        <p:nvSpPr>
          <p:cNvPr id="45" name="Text 37"/>
          <p:cNvSpPr/>
          <p:nvPr/>
        </p:nvSpPr>
        <p:spPr>
          <a:xfrm>
            <a:off x="4972050" y="1600200"/>
            <a:ext cx="3500438" cy="200025"/>
          </a:xfrm>
          <a:prstGeom prst="rect">
            <a:avLst/>
          </a:prstGeom>
          <a:noFill/>
          <a:ln/>
        </p:spPr>
        <p:txBody>
          <a:bodyPr wrap="square" lIns="0" tIns="0" rIns="0" bIns="0" rtlCol="0" anchor="ctr">
            <a:spAutoFit/>
          </a:bodyPr>
          <a:lstStyle/>
          <a:p>
            <a:pPr indent="0" marL="0">
              <a:buNone/>
            </a:pPr>
            <a:r>
              <a:rPr lang="en-US" sz="1125" b="1" dirty="0">
                <a:solidFill>
                  <a:srgbClr val="F1F5F9"/>
                </a:solidFill>
                <a:latin typeface="Segoe UI" pitchFamily="34" charset="0"/>
                <a:ea typeface="Segoe UI" pitchFamily="34" charset="-122"/>
                <a:cs typeface="Segoe UI" pitchFamily="34" charset="-120"/>
              </a:rPr>
              <a:t>Step-by-Step Guide</a:t>
            </a:r>
            <a:endParaRPr lang="en-US" sz="1125" dirty="0"/>
          </a:p>
        </p:txBody>
      </p:sp>
      <p:sp>
        <p:nvSpPr>
          <p:cNvPr id="46" name="Text 38"/>
          <p:cNvSpPr/>
          <p:nvPr/>
        </p:nvSpPr>
        <p:spPr>
          <a:xfrm>
            <a:off x="5086350" y="1885950"/>
            <a:ext cx="3386138" cy="171450"/>
          </a:xfrm>
          <a:prstGeom prst="rect">
            <a:avLst/>
          </a:prstGeom>
          <a:noFill/>
          <a:ln/>
        </p:spPr>
        <p:txBody>
          <a:bodyPr wrap="square" lIns="0" tIns="0" rIns="0" bIns="0" rtlCol="0" anchor="ctr">
            <a:spAutoFit/>
          </a:bodyPr>
          <a:lstStyle/>
          <a:p>
            <a:pPr algn="l" indent="0" marL="0">
              <a:buNone/>
            </a:pPr>
            <a:r>
              <a:rPr lang="en-US" sz="900" dirty="0">
                <a:solidFill>
                  <a:srgbClr val="F1F5F9"/>
                </a:solidFill>
                <a:latin typeface="Segoe UI" pitchFamily="34" charset="0"/>
                <a:ea typeface="Segoe UI" pitchFamily="34" charset="-122"/>
                <a:cs typeface="Segoe UI" pitchFamily="34" charset="-120"/>
              </a:rPr>
              <a:t>Download the Windows installer (.exe file)</a:t>
            </a:r>
            <a:endParaRPr lang="en-US" sz="900" dirty="0"/>
          </a:p>
        </p:txBody>
      </p:sp>
      <p:sp>
        <p:nvSpPr>
          <p:cNvPr id="47" name="Text 39"/>
          <p:cNvSpPr/>
          <p:nvPr/>
        </p:nvSpPr>
        <p:spPr>
          <a:xfrm>
            <a:off x="5086350" y="2114550"/>
            <a:ext cx="3386138" cy="171450"/>
          </a:xfrm>
          <a:prstGeom prst="rect">
            <a:avLst/>
          </a:prstGeom>
          <a:noFill/>
          <a:ln/>
        </p:spPr>
        <p:txBody>
          <a:bodyPr wrap="square" lIns="0" tIns="0" rIns="0" bIns="0" rtlCol="0" anchor="ctr">
            <a:spAutoFit/>
          </a:bodyPr>
          <a:lstStyle/>
          <a:p>
            <a:pPr algn="l" indent="0" marL="0">
              <a:buNone/>
            </a:pPr>
            <a:r>
              <a:rPr lang="en-US" sz="900" dirty="0">
                <a:solidFill>
                  <a:srgbClr val="F1F5F9"/>
                </a:solidFill>
                <a:latin typeface="Segoe UI" pitchFamily="34" charset="0"/>
                <a:ea typeface="Segoe UI" pitchFamily="34" charset="-122"/>
                <a:cs typeface="Segoe UI" pitchFamily="34" charset="-120"/>
              </a:rPr>
              <a:t>Run the installer</a:t>
            </a:r>
            <a:endParaRPr lang="en-US" sz="900" dirty="0"/>
          </a:p>
        </p:txBody>
      </p:sp>
      <p:sp>
        <p:nvSpPr>
          <p:cNvPr id="48" name="Text 40"/>
          <p:cNvSpPr/>
          <p:nvPr/>
        </p:nvSpPr>
        <p:spPr>
          <a:xfrm>
            <a:off x="5086350" y="2343150"/>
            <a:ext cx="3386138" cy="171450"/>
          </a:xfrm>
          <a:prstGeom prst="rect">
            <a:avLst/>
          </a:prstGeom>
          <a:noFill/>
          <a:ln/>
        </p:spPr>
        <p:txBody>
          <a:bodyPr wrap="square" lIns="0" tIns="0" rIns="0" bIns="0" rtlCol="0" anchor="ctr">
            <a:spAutoFit/>
          </a:bodyPr>
          <a:lstStyle/>
          <a:p>
            <a:pPr algn="l" indent="0" marL="0">
              <a:buNone/>
            </a:pPr>
            <a:r>
              <a:rPr lang="en-US" sz="900" dirty="0">
                <a:solidFill>
                  <a:srgbClr val="F1F5F9"/>
                </a:solidFill>
                <a:latin typeface="Segoe UI" pitchFamily="34" charset="0"/>
                <a:ea typeface="Segoe UI" pitchFamily="34" charset="-122"/>
                <a:cs typeface="Segoe UI" pitchFamily="34" charset="-120"/>
              </a:rPr>
              <a:t>Accept the license agreement</a:t>
            </a:r>
            <a:endParaRPr lang="en-US" sz="900" dirty="0"/>
          </a:p>
        </p:txBody>
      </p:sp>
      <p:sp>
        <p:nvSpPr>
          <p:cNvPr id="49" name="Text 41"/>
          <p:cNvSpPr/>
          <p:nvPr/>
        </p:nvSpPr>
        <p:spPr>
          <a:xfrm>
            <a:off x="5086350" y="2571750"/>
            <a:ext cx="3386138" cy="171450"/>
          </a:xfrm>
          <a:prstGeom prst="rect">
            <a:avLst/>
          </a:prstGeom>
          <a:noFill/>
          <a:ln/>
        </p:spPr>
        <p:txBody>
          <a:bodyPr wrap="square" lIns="0" tIns="0" rIns="0" bIns="0" rtlCol="0" anchor="ctr">
            <a:spAutoFit/>
          </a:bodyPr>
          <a:lstStyle/>
          <a:p>
            <a:pPr algn="l" indent="0" marL="0">
              <a:buNone/>
            </a:pPr>
            <a:r>
              <a:rPr lang="en-US" sz="900" dirty="0">
                <a:solidFill>
                  <a:srgbClr val="F1F5F9"/>
                </a:solidFill>
                <a:latin typeface="Segoe UI" pitchFamily="34" charset="0"/>
                <a:ea typeface="Segoe UI" pitchFamily="34" charset="-122"/>
                <a:cs typeface="Segoe UI" pitchFamily="34" charset="-120"/>
              </a:rPr>
              <a:t>Choose installation location (default is recommended)</a:t>
            </a:r>
            <a:endParaRPr lang="en-US" sz="900" dirty="0"/>
          </a:p>
        </p:txBody>
      </p:sp>
      <p:sp>
        <p:nvSpPr>
          <p:cNvPr id="50" name="Text 42"/>
          <p:cNvSpPr/>
          <p:nvPr/>
        </p:nvSpPr>
        <p:spPr>
          <a:xfrm>
            <a:off x="5086350" y="2800350"/>
            <a:ext cx="3386138" cy="171450"/>
          </a:xfrm>
          <a:prstGeom prst="rect">
            <a:avLst/>
          </a:prstGeom>
          <a:noFill/>
          <a:ln/>
        </p:spPr>
        <p:txBody>
          <a:bodyPr wrap="square" lIns="0" tIns="0" rIns="0" bIns="0" rtlCol="0" anchor="ctr">
            <a:spAutoFit/>
          </a:bodyPr>
          <a:lstStyle/>
          <a:p>
            <a:pPr algn="l" indent="0" marL="0">
              <a:buNone/>
            </a:pPr>
            <a:r>
              <a:rPr lang="en-US" sz="900" dirty="0">
                <a:solidFill>
                  <a:srgbClr val="F1F5F9"/>
                </a:solidFill>
                <a:latin typeface="Segoe UI" pitchFamily="34" charset="0"/>
                <a:ea typeface="Segoe UI" pitchFamily="34" charset="-122"/>
                <a:cs typeface="Segoe UI" pitchFamily="34" charset="-120"/>
              </a:rPr>
              <a:t>Select Start Menu folder</a:t>
            </a:r>
            <a:endParaRPr lang="en-US" sz="900" dirty="0"/>
          </a:p>
        </p:txBody>
      </p:sp>
      <p:sp>
        <p:nvSpPr>
          <p:cNvPr id="51" name="Text 43"/>
          <p:cNvSpPr/>
          <p:nvPr/>
        </p:nvSpPr>
        <p:spPr>
          <a:xfrm>
            <a:off x="5213431" y="3050381"/>
            <a:ext cx="1240501" cy="128588"/>
          </a:xfrm>
          <a:prstGeom prst="rect">
            <a:avLst/>
          </a:prstGeom>
          <a:noFill/>
          <a:ln/>
        </p:spPr>
        <p:txBody>
          <a:bodyPr wrap="none" lIns="0" tIns="0" rIns="0" bIns="0" rtlCol="0" anchor="ctr">
            <a:spAutoFit/>
          </a:bodyPr>
          <a:lstStyle/>
          <a:p>
            <a:pPr algn="l" indent="0" marL="0">
              <a:buNone/>
            </a:pPr>
            <a:r>
              <a:rPr lang="en-US" sz="900" dirty="0">
                <a:solidFill>
                  <a:srgbClr val="F1F5F9"/>
                </a:solidFill>
                <a:latin typeface="Segoe UI" pitchFamily="34" charset="0"/>
                <a:ea typeface="Segoe UI" pitchFamily="34" charset="-122"/>
                <a:cs typeface="Segoe UI" pitchFamily="34" charset="-120"/>
              </a:rPr>
              <a:t>Select additional tasks:</a:t>
            </a:r>
            <a:endParaRPr lang="en-US" sz="900" dirty="0"/>
          </a:p>
        </p:txBody>
      </p:sp>
      <p:sp>
        <p:nvSpPr>
          <p:cNvPr id="52" name="Text 44"/>
          <p:cNvSpPr/>
          <p:nvPr/>
        </p:nvSpPr>
        <p:spPr>
          <a:xfrm>
            <a:off x="5257800" y="3228975"/>
            <a:ext cx="3214688" cy="171450"/>
          </a:xfrm>
          <a:prstGeom prst="rect">
            <a:avLst/>
          </a:prstGeom>
          <a:noFill/>
          <a:ln/>
        </p:spPr>
        <p:txBody>
          <a:bodyPr wrap="square" lIns="0" tIns="0" rIns="0" bIns="0" rtlCol="0" anchor="ctr">
            <a:spAutoFit/>
          </a:bodyPr>
          <a:lstStyle/>
          <a:p>
            <a:pPr algn="l" indent="0" marL="0">
              <a:buNone/>
            </a:pPr>
            <a:r>
              <a:rPr lang="en-US" sz="900" dirty="0">
                <a:solidFill>
                  <a:srgbClr val="F1F5F9"/>
                </a:solidFill>
                <a:latin typeface="Segoe UI" pitchFamily="34" charset="0"/>
                <a:ea typeface="Segoe UI" pitchFamily="34" charset="-122"/>
                <a:cs typeface="Segoe UI" pitchFamily="34" charset="-120"/>
              </a:rPr>
              <a:t>• Add "Open with Code" to context menu</a:t>
            </a:r>
            <a:endParaRPr lang="en-US" sz="900" dirty="0"/>
          </a:p>
        </p:txBody>
      </p:sp>
      <p:sp>
        <p:nvSpPr>
          <p:cNvPr id="53" name="Text 45"/>
          <p:cNvSpPr/>
          <p:nvPr/>
        </p:nvSpPr>
        <p:spPr>
          <a:xfrm>
            <a:off x="5257800" y="3429000"/>
            <a:ext cx="3214688" cy="171450"/>
          </a:xfrm>
          <a:prstGeom prst="rect">
            <a:avLst/>
          </a:prstGeom>
          <a:noFill/>
          <a:ln/>
        </p:spPr>
        <p:txBody>
          <a:bodyPr wrap="square" lIns="0" tIns="0" rIns="0" bIns="0" rtlCol="0" anchor="ctr">
            <a:spAutoFit/>
          </a:bodyPr>
          <a:lstStyle/>
          <a:p>
            <a:pPr algn="l" indent="0" marL="0">
              <a:buNone/>
            </a:pPr>
            <a:r>
              <a:rPr lang="en-US" sz="900" dirty="0">
                <a:solidFill>
                  <a:srgbClr val="F1F5F9"/>
                </a:solidFill>
                <a:latin typeface="Segoe UI" pitchFamily="34" charset="0"/>
                <a:ea typeface="Segoe UI" pitchFamily="34" charset="-122"/>
                <a:cs typeface="Segoe UI" pitchFamily="34" charset="-120"/>
              </a:rPr>
              <a:t>• Add to PATH (recommended)</a:t>
            </a:r>
            <a:endParaRPr lang="en-US" sz="900" dirty="0"/>
          </a:p>
        </p:txBody>
      </p:sp>
      <p:sp>
        <p:nvSpPr>
          <p:cNvPr id="54" name="Text 46"/>
          <p:cNvSpPr/>
          <p:nvPr/>
        </p:nvSpPr>
        <p:spPr>
          <a:xfrm>
            <a:off x="5086350" y="3657600"/>
            <a:ext cx="3386138" cy="171450"/>
          </a:xfrm>
          <a:prstGeom prst="rect">
            <a:avLst/>
          </a:prstGeom>
          <a:noFill/>
          <a:ln/>
        </p:spPr>
        <p:txBody>
          <a:bodyPr wrap="square" lIns="0" tIns="0" rIns="0" bIns="0" rtlCol="0" anchor="ctr">
            <a:spAutoFit/>
          </a:bodyPr>
          <a:lstStyle/>
          <a:p>
            <a:pPr algn="l" indent="0" marL="0">
              <a:buNone/>
            </a:pPr>
            <a:r>
              <a:rPr lang="en-US" sz="900" dirty="0">
                <a:solidFill>
                  <a:srgbClr val="F1F5F9"/>
                </a:solidFill>
                <a:latin typeface="Segoe UI" pitchFamily="34" charset="0"/>
                <a:ea typeface="Segoe UI" pitchFamily="34" charset="-122"/>
                <a:cs typeface="Segoe UI" pitchFamily="34" charset="-120"/>
              </a:rPr>
              <a:t>Click Install and wait for completion</a:t>
            </a:r>
            <a:endParaRPr lang="en-US" sz="900" dirty="0"/>
          </a:p>
        </p:txBody>
      </p:sp>
      <p:sp>
        <p:nvSpPr>
          <p:cNvPr id="55" name="Text 47"/>
          <p:cNvSpPr/>
          <p:nvPr/>
        </p:nvSpPr>
        <p:spPr>
          <a:xfrm>
            <a:off x="5086350" y="3886200"/>
            <a:ext cx="3386138" cy="171450"/>
          </a:xfrm>
          <a:prstGeom prst="rect">
            <a:avLst/>
          </a:prstGeom>
          <a:noFill/>
          <a:ln/>
        </p:spPr>
        <p:txBody>
          <a:bodyPr wrap="square" lIns="0" tIns="0" rIns="0" bIns="0" rtlCol="0" anchor="ctr">
            <a:spAutoFit/>
          </a:bodyPr>
          <a:lstStyle/>
          <a:p>
            <a:pPr algn="l" indent="0" marL="0">
              <a:buNone/>
            </a:pPr>
            <a:r>
              <a:rPr lang="en-US" sz="900" dirty="0">
                <a:solidFill>
                  <a:srgbClr val="F1F5F9"/>
                </a:solidFill>
                <a:latin typeface="Segoe UI" pitchFamily="34" charset="0"/>
                <a:ea typeface="Segoe UI" pitchFamily="34" charset="-122"/>
                <a:cs typeface="Segoe UI" pitchFamily="34" charset="-120"/>
              </a:rPr>
              <a:t>Launch VS Code</a:t>
            </a:r>
            <a:endParaRPr lang="en-US" sz="900" dirty="0"/>
          </a:p>
        </p:txBody>
      </p:sp>
      <p:sp>
        <p:nvSpPr>
          <p:cNvPr id="56" name="Shape 48"/>
          <p:cNvSpPr/>
          <p:nvPr/>
        </p:nvSpPr>
        <p:spPr>
          <a:xfrm>
            <a:off x="4686300" y="4400550"/>
            <a:ext cx="4000500" cy="3614738"/>
          </a:xfrm>
          <a:prstGeom prst="rect">
            <a:avLst/>
          </a:prstGeom>
          <a:solidFill>
            <a:srgbClr val="FFFFFF">
              <a:alpha val="10000"/>
            </a:srgbClr>
          </a:solidFill>
          <a:ln w="99">
            <a:solidFill>
              <a:srgbClr val="60A5FA">
                <a:alpha val="30000"/>
              </a:srgbClr>
            </a:solidFill>
            <a:prstDash val="solid"/>
          </a:ln>
        </p:spPr>
      </p:sp>
      <p:sp>
        <p:nvSpPr>
          <p:cNvPr id="57" name="Text 49"/>
          <p:cNvSpPr/>
          <p:nvPr/>
        </p:nvSpPr>
        <p:spPr>
          <a:xfrm>
            <a:off x="4857750" y="4572000"/>
            <a:ext cx="3729038" cy="228600"/>
          </a:xfrm>
          <a:prstGeom prst="rect">
            <a:avLst/>
          </a:prstGeom>
          <a:noFill/>
          <a:ln/>
        </p:spPr>
        <p:txBody>
          <a:bodyPr wrap="square" lIns="0" tIns="0" rIns="0" bIns="0" rtlCol="0" anchor="ctr">
            <a:spAutoFit/>
          </a:bodyPr>
          <a:lstStyle/>
          <a:p>
            <a:pPr indent="0" marL="0">
              <a:buNone/>
            </a:pPr>
            <a:r>
              <a:rPr lang="en-US" sz="1350" b="1" dirty="0">
                <a:solidFill>
                  <a:srgbClr val="BFDBFE"/>
                </a:solidFill>
                <a:latin typeface="Segoe UI" pitchFamily="34" charset="0"/>
                <a:ea typeface="Segoe UI" pitchFamily="34" charset="-122"/>
                <a:cs typeface="Segoe UI" pitchFamily="34" charset="-120"/>
              </a:rPr>
              <a:t>macOS Installation</a:t>
            </a:r>
            <a:endParaRPr lang="en-US" sz="1350" dirty="0"/>
          </a:p>
        </p:txBody>
      </p:sp>
      <p:sp>
        <p:nvSpPr>
          <p:cNvPr id="58" name="Shape 50"/>
          <p:cNvSpPr/>
          <p:nvPr/>
        </p:nvSpPr>
        <p:spPr>
          <a:xfrm>
            <a:off x="4857750" y="4914900"/>
            <a:ext cx="3657600" cy="2771775"/>
          </a:xfrm>
          <a:prstGeom prst="rect">
            <a:avLst/>
          </a:prstGeom>
          <a:solidFill>
            <a:srgbClr val="1E3A8A">
              <a:alpha val="30000"/>
            </a:srgbClr>
          </a:solidFill>
          <a:ln w="397">
            <a:solidFill>
              <a:srgbClr val="60A5FA"/>
            </a:solidFill>
            <a:prstDash val="solid"/>
          </a:ln>
        </p:spPr>
      </p:sp>
      <p:sp>
        <p:nvSpPr>
          <p:cNvPr id="59" name="Text 51"/>
          <p:cNvSpPr/>
          <p:nvPr/>
        </p:nvSpPr>
        <p:spPr>
          <a:xfrm>
            <a:off x="4972050" y="5029200"/>
            <a:ext cx="3500438" cy="200025"/>
          </a:xfrm>
          <a:prstGeom prst="rect">
            <a:avLst/>
          </a:prstGeom>
          <a:noFill/>
          <a:ln/>
        </p:spPr>
        <p:txBody>
          <a:bodyPr wrap="square" lIns="0" tIns="0" rIns="0" bIns="0" rtlCol="0" anchor="ctr">
            <a:spAutoFit/>
          </a:bodyPr>
          <a:lstStyle/>
          <a:p>
            <a:pPr indent="0" marL="0">
              <a:buNone/>
            </a:pPr>
            <a:r>
              <a:rPr lang="en-US" sz="1125" b="1" dirty="0">
                <a:solidFill>
                  <a:srgbClr val="F1F5F9"/>
                </a:solidFill>
                <a:latin typeface="Segoe UI" pitchFamily="34" charset="0"/>
                <a:ea typeface="Segoe UI" pitchFamily="34" charset="-122"/>
                <a:cs typeface="Segoe UI" pitchFamily="34" charset="-120"/>
              </a:rPr>
              <a:t>Step-by-Step Guide</a:t>
            </a:r>
            <a:endParaRPr lang="en-US" sz="1125" dirty="0"/>
          </a:p>
        </p:txBody>
      </p:sp>
      <p:sp>
        <p:nvSpPr>
          <p:cNvPr id="60" name="Text 52"/>
          <p:cNvSpPr/>
          <p:nvPr/>
        </p:nvSpPr>
        <p:spPr>
          <a:xfrm>
            <a:off x="5086350" y="5314950"/>
            <a:ext cx="3386138" cy="171450"/>
          </a:xfrm>
          <a:prstGeom prst="rect">
            <a:avLst/>
          </a:prstGeom>
          <a:noFill/>
          <a:ln/>
        </p:spPr>
        <p:txBody>
          <a:bodyPr wrap="square" lIns="0" tIns="0" rIns="0" bIns="0" rtlCol="0" anchor="ctr">
            <a:spAutoFit/>
          </a:bodyPr>
          <a:lstStyle/>
          <a:p>
            <a:pPr algn="l" indent="0" marL="0">
              <a:buNone/>
            </a:pPr>
            <a:r>
              <a:rPr lang="en-US" sz="900" dirty="0">
                <a:solidFill>
                  <a:srgbClr val="F1F5F9"/>
                </a:solidFill>
                <a:latin typeface="Segoe UI" pitchFamily="34" charset="0"/>
                <a:ea typeface="Segoe UI" pitchFamily="34" charset="-122"/>
                <a:cs typeface="Segoe UI" pitchFamily="34" charset="-120"/>
              </a:rPr>
              <a:t>Download the macOS .zip file</a:t>
            </a:r>
            <a:endParaRPr lang="en-US" sz="900" dirty="0"/>
          </a:p>
        </p:txBody>
      </p:sp>
      <p:sp>
        <p:nvSpPr>
          <p:cNvPr id="61" name="Text 53"/>
          <p:cNvSpPr/>
          <p:nvPr/>
        </p:nvSpPr>
        <p:spPr>
          <a:xfrm>
            <a:off x="5086350" y="5543550"/>
            <a:ext cx="3386138" cy="171450"/>
          </a:xfrm>
          <a:prstGeom prst="rect">
            <a:avLst/>
          </a:prstGeom>
          <a:noFill/>
          <a:ln/>
        </p:spPr>
        <p:txBody>
          <a:bodyPr wrap="square" lIns="0" tIns="0" rIns="0" bIns="0" rtlCol="0" anchor="ctr">
            <a:spAutoFit/>
          </a:bodyPr>
          <a:lstStyle/>
          <a:p>
            <a:pPr algn="l" indent="0" marL="0">
              <a:buNone/>
            </a:pPr>
            <a:r>
              <a:rPr lang="en-US" sz="900" dirty="0">
                <a:solidFill>
                  <a:srgbClr val="F1F5F9"/>
                </a:solidFill>
                <a:latin typeface="Segoe UI" pitchFamily="34" charset="0"/>
                <a:ea typeface="Segoe UI" pitchFamily="34" charset="-122"/>
                <a:cs typeface="Segoe UI" pitchFamily="34" charset="-120"/>
              </a:rPr>
              <a:t>Extract the zip file</a:t>
            </a:r>
            <a:endParaRPr lang="en-US" sz="900" dirty="0"/>
          </a:p>
        </p:txBody>
      </p:sp>
      <p:sp>
        <p:nvSpPr>
          <p:cNvPr id="62" name="Text 54"/>
          <p:cNvSpPr/>
          <p:nvPr/>
        </p:nvSpPr>
        <p:spPr>
          <a:xfrm>
            <a:off x="5086350" y="5772150"/>
            <a:ext cx="3386138" cy="171450"/>
          </a:xfrm>
          <a:prstGeom prst="rect">
            <a:avLst/>
          </a:prstGeom>
          <a:noFill/>
          <a:ln/>
        </p:spPr>
        <p:txBody>
          <a:bodyPr wrap="square" lIns="0" tIns="0" rIns="0" bIns="0" rtlCol="0" anchor="ctr">
            <a:spAutoFit/>
          </a:bodyPr>
          <a:lstStyle/>
          <a:p>
            <a:pPr algn="l" indent="0" marL="0">
              <a:buNone/>
            </a:pPr>
            <a:r>
              <a:rPr lang="en-US" sz="900" dirty="0">
                <a:solidFill>
                  <a:srgbClr val="F1F5F9"/>
                </a:solidFill>
                <a:latin typeface="Segoe UI" pitchFamily="34" charset="0"/>
                <a:ea typeface="Segoe UI" pitchFamily="34" charset="-122"/>
                <a:cs typeface="Segoe UI" pitchFamily="34" charset="-120"/>
              </a:rPr>
              <a:t>Drag Visual Studio Code.app to the Applications folder</a:t>
            </a:r>
            <a:endParaRPr lang="en-US" sz="900" dirty="0"/>
          </a:p>
        </p:txBody>
      </p:sp>
      <p:sp>
        <p:nvSpPr>
          <p:cNvPr id="63" name="Text 55"/>
          <p:cNvSpPr/>
          <p:nvPr/>
        </p:nvSpPr>
        <p:spPr>
          <a:xfrm>
            <a:off x="5086350" y="6000750"/>
            <a:ext cx="3386138" cy="171450"/>
          </a:xfrm>
          <a:prstGeom prst="rect">
            <a:avLst/>
          </a:prstGeom>
          <a:noFill/>
          <a:ln/>
        </p:spPr>
        <p:txBody>
          <a:bodyPr wrap="square" lIns="0" tIns="0" rIns="0" bIns="0" rtlCol="0" anchor="ctr">
            <a:spAutoFit/>
          </a:bodyPr>
          <a:lstStyle/>
          <a:p>
            <a:pPr algn="l" indent="0" marL="0">
              <a:buNone/>
            </a:pPr>
            <a:r>
              <a:rPr lang="en-US" sz="900" dirty="0">
                <a:solidFill>
                  <a:srgbClr val="F1F5F9"/>
                </a:solidFill>
                <a:latin typeface="Segoe UI" pitchFamily="34" charset="0"/>
                <a:ea typeface="Segoe UI" pitchFamily="34" charset="-122"/>
                <a:cs typeface="Segoe UI" pitchFamily="34" charset="-120"/>
              </a:rPr>
              <a:t>Launch VS Code from Applications folder or Spotlight</a:t>
            </a:r>
            <a:endParaRPr lang="en-US" sz="900" dirty="0"/>
          </a:p>
        </p:txBody>
      </p:sp>
      <p:sp>
        <p:nvSpPr>
          <p:cNvPr id="64" name="Text 56"/>
          <p:cNvSpPr/>
          <p:nvPr/>
        </p:nvSpPr>
        <p:spPr>
          <a:xfrm>
            <a:off x="5086350" y="6229350"/>
            <a:ext cx="3386138" cy="171450"/>
          </a:xfrm>
          <a:prstGeom prst="rect">
            <a:avLst/>
          </a:prstGeom>
          <a:noFill/>
          <a:ln/>
        </p:spPr>
        <p:txBody>
          <a:bodyPr wrap="square" lIns="0" tIns="0" rIns="0" bIns="0" rtlCol="0" anchor="ctr">
            <a:spAutoFit/>
          </a:bodyPr>
          <a:lstStyle/>
          <a:p>
            <a:pPr algn="l" indent="0" marL="0">
              <a:buNone/>
            </a:pPr>
            <a:r>
              <a:rPr lang="en-US" sz="900" dirty="0">
                <a:solidFill>
                  <a:srgbClr val="F1F5F9"/>
                </a:solidFill>
                <a:latin typeface="Segoe UI" pitchFamily="34" charset="0"/>
                <a:ea typeface="Segoe UI" pitchFamily="34" charset="-122"/>
                <a:cs typeface="Segoe UI" pitchFamily="34" charset="-120"/>
              </a:rPr>
              <a:t>Optional: Add VS Code to Dock</a:t>
            </a:r>
            <a:endParaRPr lang="en-US" sz="900" dirty="0"/>
          </a:p>
        </p:txBody>
      </p:sp>
      <p:sp>
        <p:nvSpPr>
          <p:cNvPr id="65" name="Shape 57"/>
          <p:cNvSpPr/>
          <p:nvPr/>
        </p:nvSpPr>
        <p:spPr>
          <a:xfrm>
            <a:off x="4972050" y="6515100"/>
            <a:ext cx="3429000" cy="1143000"/>
          </a:xfrm>
          <a:prstGeom prst="rect">
            <a:avLst/>
          </a:prstGeom>
          <a:solidFill>
            <a:srgbClr val="1E40AF">
              <a:alpha val="50000"/>
            </a:srgbClr>
          </a:solidFill>
          <a:ln/>
        </p:spPr>
      </p:sp>
      <p:sp>
        <p:nvSpPr>
          <p:cNvPr id="66" name="Text 58"/>
          <p:cNvSpPr/>
          <p:nvPr/>
        </p:nvSpPr>
        <p:spPr>
          <a:xfrm>
            <a:off x="5086350" y="6629400"/>
            <a:ext cx="3271838" cy="171450"/>
          </a:xfrm>
          <a:prstGeom prst="rect">
            <a:avLst/>
          </a:prstGeom>
          <a:noFill/>
          <a:ln/>
        </p:spPr>
        <p:txBody>
          <a:bodyPr wrap="square" lIns="0" tIns="0" rIns="0" bIns="0" rtlCol="0" anchor="ctr">
            <a:spAutoFit/>
          </a:bodyPr>
          <a:lstStyle/>
          <a:p>
            <a:pPr indent="0" marL="0">
              <a:buNone/>
            </a:pPr>
            <a:r>
              <a:rPr lang="en-US" sz="900" b="1" dirty="0">
                <a:solidFill>
                  <a:srgbClr val="F1F5F9"/>
                </a:solidFill>
                <a:latin typeface="Segoe UI" pitchFamily="34" charset="0"/>
                <a:ea typeface="Segoe UI" pitchFamily="34" charset="-122"/>
                <a:cs typeface="Segoe UI" pitchFamily="34" charset="-120"/>
              </a:rPr>
              <a:t>Adding to PATH (Optional)</a:t>
            </a:r>
            <a:endParaRPr lang="en-US" sz="900" dirty="0"/>
          </a:p>
        </p:txBody>
      </p:sp>
      <p:sp>
        <p:nvSpPr>
          <p:cNvPr id="67" name="Text 59"/>
          <p:cNvSpPr/>
          <p:nvPr/>
        </p:nvSpPr>
        <p:spPr>
          <a:xfrm>
            <a:off x="5086350" y="6858000"/>
            <a:ext cx="3271838" cy="142875"/>
          </a:xfrm>
          <a:prstGeom prst="rect">
            <a:avLst/>
          </a:prstGeom>
          <a:noFill/>
          <a:ln/>
        </p:spPr>
        <p:txBody>
          <a:bodyPr wrap="square" lIns="0" tIns="0" rIns="0" bIns="0" rtlCol="0" anchor="ctr">
            <a:spAutoFit/>
          </a:bodyPr>
          <a:lstStyle/>
          <a:p>
            <a:pPr indent="0" marL="0">
              <a:buNone/>
            </a:pPr>
            <a:r>
              <a:rPr lang="en-US" sz="788" dirty="0">
                <a:solidFill>
                  <a:srgbClr val="F1F5F9"/>
                </a:solidFill>
                <a:latin typeface="Segoe UI" pitchFamily="34" charset="0"/>
                <a:ea typeface="Segoe UI" pitchFamily="34" charset="-122"/>
                <a:cs typeface="Segoe UI" pitchFamily="34" charset="-120"/>
              </a:rPr>
              <a:t>To enable the 'code' command in terminal:</a:t>
            </a:r>
            <a:endParaRPr lang="en-US" sz="788" dirty="0"/>
          </a:p>
        </p:txBody>
      </p:sp>
      <p:sp>
        <p:nvSpPr>
          <p:cNvPr id="68" name="Text 60"/>
          <p:cNvSpPr/>
          <p:nvPr/>
        </p:nvSpPr>
        <p:spPr>
          <a:xfrm>
            <a:off x="5200650" y="7058025"/>
            <a:ext cx="3157538" cy="142875"/>
          </a:xfrm>
          <a:prstGeom prst="rect">
            <a:avLst/>
          </a:prstGeom>
          <a:noFill/>
          <a:ln/>
        </p:spPr>
        <p:txBody>
          <a:bodyPr wrap="square" lIns="0" tIns="0" rIns="0" bIns="0" rtlCol="0" anchor="ctr">
            <a:spAutoFit/>
          </a:bodyPr>
          <a:lstStyle/>
          <a:p>
            <a:pPr algn="l" indent="0" marL="0">
              <a:buNone/>
            </a:pPr>
            <a:r>
              <a:rPr lang="en-US" sz="788" dirty="0">
                <a:solidFill>
                  <a:srgbClr val="F1F5F9"/>
                </a:solidFill>
                <a:latin typeface="Segoe UI" pitchFamily="34" charset="0"/>
                <a:ea typeface="Segoe UI" pitchFamily="34" charset="-122"/>
                <a:cs typeface="Segoe UI" pitchFamily="34" charset="-120"/>
              </a:rPr>
              <a:t>Launch VS Code</a:t>
            </a:r>
            <a:endParaRPr lang="en-US" sz="788" dirty="0"/>
          </a:p>
        </p:txBody>
      </p:sp>
      <p:sp>
        <p:nvSpPr>
          <p:cNvPr id="69" name="Text 61"/>
          <p:cNvSpPr/>
          <p:nvPr/>
        </p:nvSpPr>
        <p:spPr>
          <a:xfrm>
            <a:off x="5200650" y="7229475"/>
            <a:ext cx="3157538" cy="142875"/>
          </a:xfrm>
          <a:prstGeom prst="rect">
            <a:avLst/>
          </a:prstGeom>
          <a:noFill/>
          <a:ln/>
        </p:spPr>
        <p:txBody>
          <a:bodyPr wrap="square" lIns="0" tIns="0" rIns="0" bIns="0" rtlCol="0" anchor="ctr">
            <a:spAutoFit/>
          </a:bodyPr>
          <a:lstStyle/>
          <a:p>
            <a:pPr algn="l" indent="0" marL="0">
              <a:buNone/>
            </a:pPr>
            <a:r>
              <a:rPr lang="en-US" sz="788" dirty="0">
                <a:solidFill>
                  <a:srgbClr val="F1F5F9"/>
                </a:solidFill>
                <a:latin typeface="Segoe UI" pitchFamily="34" charset="0"/>
                <a:ea typeface="Segoe UI" pitchFamily="34" charset="-122"/>
                <a:cs typeface="Segoe UI" pitchFamily="34" charset="-120"/>
              </a:rPr>
              <a:t>Open Command Palette (⌘+Shift+P)</a:t>
            </a:r>
            <a:endParaRPr lang="en-US" sz="788" dirty="0"/>
          </a:p>
        </p:txBody>
      </p:sp>
      <p:sp>
        <p:nvSpPr>
          <p:cNvPr id="70" name="Text 62"/>
          <p:cNvSpPr/>
          <p:nvPr/>
        </p:nvSpPr>
        <p:spPr>
          <a:xfrm>
            <a:off x="5200650" y="7400925"/>
            <a:ext cx="3157538" cy="142875"/>
          </a:xfrm>
          <a:prstGeom prst="rect">
            <a:avLst/>
          </a:prstGeom>
          <a:noFill/>
          <a:ln/>
        </p:spPr>
        <p:txBody>
          <a:bodyPr wrap="square" lIns="0" tIns="0" rIns="0" bIns="0" rtlCol="0" anchor="ctr">
            <a:spAutoFit/>
          </a:bodyPr>
          <a:lstStyle/>
          <a:p>
            <a:pPr algn="l" indent="0" marL="0">
              <a:buNone/>
            </a:pPr>
            <a:r>
              <a:rPr lang="en-US" sz="788" dirty="0">
                <a:solidFill>
                  <a:srgbClr val="F1F5F9"/>
                </a:solidFill>
                <a:latin typeface="Segoe UI" pitchFamily="34" charset="0"/>
                <a:ea typeface="Segoe UI" pitchFamily="34" charset="-122"/>
                <a:cs typeface="Segoe UI" pitchFamily="34" charset="-120"/>
              </a:rPr>
              <a:t>Type "shell command" and select "Install 'code' command in PATH"</a:t>
            </a:r>
            <a:endParaRPr lang="en-US" sz="788" dirty="0"/>
          </a:p>
        </p:txBody>
      </p:sp>
      <p:sp>
        <p:nvSpPr>
          <p:cNvPr id="71" name="Shape 63"/>
          <p:cNvSpPr/>
          <p:nvPr/>
        </p:nvSpPr>
        <p:spPr>
          <a:xfrm>
            <a:off x="4686300" y="8001000"/>
            <a:ext cx="4000500" cy="6357938"/>
          </a:xfrm>
          <a:prstGeom prst="rect">
            <a:avLst/>
          </a:prstGeom>
          <a:solidFill>
            <a:srgbClr val="FFFFFF">
              <a:alpha val="10000"/>
            </a:srgbClr>
          </a:solidFill>
          <a:ln w="99">
            <a:solidFill>
              <a:srgbClr val="60A5FA">
                <a:alpha val="30000"/>
              </a:srgbClr>
            </a:solidFill>
            <a:prstDash val="solid"/>
          </a:ln>
        </p:spPr>
      </p:sp>
      <p:sp>
        <p:nvSpPr>
          <p:cNvPr id="72" name="Text 64"/>
          <p:cNvSpPr/>
          <p:nvPr/>
        </p:nvSpPr>
        <p:spPr>
          <a:xfrm>
            <a:off x="4857750" y="8172450"/>
            <a:ext cx="3729038" cy="228600"/>
          </a:xfrm>
          <a:prstGeom prst="rect">
            <a:avLst/>
          </a:prstGeom>
          <a:noFill/>
          <a:ln/>
        </p:spPr>
        <p:txBody>
          <a:bodyPr wrap="square" lIns="0" tIns="0" rIns="0" bIns="0" rtlCol="0" anchor="ctr">
            <a:spAutoFit/>
          </a:bodyPr>
          <a:lstStyle/>
          <a:p>
            <a:pPr indent="0" marL="0">
              <a:buNone/>
            </a:pPr>
            <a:r>
              <a:rPr lang="en-US" sz="1350" b="1" dirty="0">
                <a:solidFill>
                  <a:srgbClr val="BFDBFE"/>
                </a:solidFill>
                <a:latin typeface="Segoe UI" pitchFamily="34" charset="0"/>
                <a:ea typeface="Segoe UI" pitchFamily="34" charset="-122"/>
                <a:cs typeface="Segoe UI" pitchFamily="34" charset="-120"/>
              </a:rPr>
              <a:t>Linux Installation</a:t>
            </a:r>
            <a:endParaRPr lang="en-US" sz="1350" dirty="0"/>
          </a:p>
        </p:txBody>
      </p:sp>
      <p:sp>
        <p:nvSpPr>
          <p:cNvPr id="73" name="Shape 65"/>
          <p:cNvSpPr/>
          <p:nvPr/>
        </p:nvSpPr>
        <p:spPr>
          <a:xfrm>
            <a:off x="4857750" y="8515350"/>
            <a:ext cx="3657600" cy="5657850"/>
          </a:xfrm>
          <a:prstGeom prst="rect">
            <a:avLst/>
          </a:prstGeom>
          <a:solidFill>
            <a:srgbClr val="1E3A8A">
              <a:alpha val="30000"/>
            </a:srgbClr>
          </a:solidFill>
          <a:ln w="397">
            <a:solidFill>
              <a:srgbClr val="60A5FA"/>
            </a:solidFill>
            <a:prstDash val="solid"/>
          </a:ln>
        </p:spPr>
      </p:sp>
      <p:sp>
        <p:nvSpPr>
          <p:cNvPr id="74" name="Text 66"/>
          <p:cNvSpPr/>
          <p:nvPr/>
        </p:nvSpPr>
        <p:spPr>
          <a:xfrm>
            <a:off x="4972050" y="8629650"/>
            <a:ext cx="3500438" cy="200025"/>
          </a:xfrm>
          <a:prstGeom prst="rect">
            <a:avLst/>
          </a:prstGeom>
          <a:noFill/>
          <a:ln/>
        </p:spPr>
        <p:txBody>
          <a:bodyPr wrap="square" lIns="0" tIns="0" rIns="0" bIns="0" rtlCol="0" anchor="ctr">
            <a:spAutoFit/>
          </a:bodyPr>
          <a:lstStyle/>
          <a:p>
            <a:pPr indent="0" marL="0">
              <a:buNone/>
            </a:pPr>
            <a:r>
              <a:rPr lang="en-US" sz="1125" b="1" dirty="0">
                <a:solidFill>
                  <a:srgbClr val="F1F5F9"/>
                </a:solidFill>
                <a:latin typeface="Segoe UI" pitchFamily="34" charset="0"/>
                <a:ea typeface="Segoe UI" pitchFamily="34" charset="-122"/>
                <a:cs typeface="Segoe UI" pitchFamily="34" charset="-120"/>
              </a:rPr>
              <a:t>Using Package Manager</a:t>
            </a:r>
            <a:endParaRPr lang="en-US" sz="1125" dirty="0"/>
          </a:p>
        </p:txBody>
      </p:sp>
      <p:sp>
        <p:nvSpPr>
          <p:cNvPr id="75" name="Text 67"/>
          <p:cNvSpPr/>
          <p:nvPr/>
        </p:nvSpPr>
        <p:spPr>
          <a:xfrm>
            <a:off x="4972050" y="8915400"/>
            <a:ext cx="3500438" cy="171450"/>
          </a:xfrm>
          <a:prstGeom prst="rect">
            <a:avLst/>
          </a:prstGeom>
          <a:noFill/>
          <a:ln/>
        </p:spPr>
        <p:txBody>
          <a:bodyPr wrap="square" lIns="0" tIns="0" rIns="0" bIns="0" rtlCol="0" anchor="ctr">
            <a:spAutoFit/>
          </a:bodyPr>
          <a:lstStyle/>
          <a:p>
            <a:pPr indent="0" marL="0">
              <a:buNone/>
            </a:pPr>
            <a:r>
              <a:rPr lang="en-US" sz="900" b="1" dirty="0">
                <a:solidFill>
                  <a:srgbClr val="F1F5F9"/>
                </a:solidFill>
                <a:latin typeface="Segoe UI" pitchFamily="34" charset="0"/>
                <a:ea typeface="Segoe UI" pitchFamily="34" charset="-122"/>
                <a:cs typeface="Segoe UI" pitchFamily="34" charset="-120"/>
              </a:rPr>
              <a:t>Debian/Ubuntu</a:t>
            </a:r>
            <a:endParaRPr lang="en-US" sz="900" dirty="0"/>
          </a:p>
        </p:txBody>
      </p:sp>
      <p:sp>
        <p:nvSpPr>
          <p:cNvPr id="76" name="Shape 68"/>
          <p:cNvSpPr/>
          <p:nvPr/>
        </p:nvSpPr>
        <p:spPr>
          <a:xfrm>
            <a:off x="4972050" y="9144000"/>
            <a:ext cx="3429000" cy="2400300"/>
          </a:xfrm>
          <a:prstGeom prst="rect">
            <a:avLst/>
          </a:prstGeom>
          <a:solidFill>
            <a:srgbClr val="111827">
              <a:alpha val="50000"/>
            </a:srgbClr>
          </a:solidFill>
          <a:ln/>
        </p:spPr>
      </p:sp>
      <p:sp>
        <p:nvSpPr>
          <p:cNvPr id="77" name="Text 69"/>
          <p:cNvSpPr/>
          <p:nvPr/>
        </p:nvSpPr>
        <p:spPr>
          <a:xfrm>
            <a:off x="5057775" y="9270802"/>
            <a:ext cx="1391831" cy="114300"/>
          </a:xfrm>
          <a:prstGeom prst="rect">
            <a:avLst/>
          </a:prstGeom>
          <a:noFill/>
          <a:ln/>
        </p:spPr>
        <p:txBody>
          <a:bodyPr wrap="square" lIns="0" tIns="0" rIns="0" bIns="0" rtlCol="0" anchor="ctr">
            <a:spAutoFit/>
          </a:bodyPr>
          <a:lstStyle/>
          <a:p>
            <a:pPr indent="0" marL="0">
              <a:buNone/>
            </a:pPr>
            <a:r>
              <a:rPr lang="en-US" sz="788" dirty="0">
                <a:solidFill>
                  <a:srgbClr val="DBEAFE"/>
                </a:solidFill>
                <a:latin typeface="ui-monospace" pitchFamily="34" charset="0"/>
                <a:ea typeface="ui-monospace" pitchFamily="34" charset="-122"/>
                <a:cs typeface="ui-monospace" pitchFamily="34" charset="-120"/>
              </a:rPr>
              <a:t># Download the package</a:t>
            </a:r>
            <a:endParaRPr lang="en-US" sz="788" dirty="0"/>
          </a:p>
        </p:txBody>
      </p:sp>
      <p:sp>
        <p:nvSpPr>
          <p:cNvPr id="78" name="Text 70"/>
          <p:cNvSpPr/>
          <p:nvPr/>
        </p:nvSpPr>
        <p:spPr>
          <a:xfrm>
            <a:off x="5057775" y="9442252"/>
            <a:ext cx="3132339" cy="457200"/>
          </a:xfrm>
          <a:prstGeom prst="rect">
            <a:avLst/>
          </a:prstGeom>
          <a:noFill/>
          <a:ln/>
        </p:spPr>
        <p:txBody>
          <a:bodyPr wrap="square" lIns="0" tIns="0" rIns="0" bIns="0" rtlCol="0" anchor="ctr">
            <a:spAutoFit/>
          </a:bodyPr>
          <a:lstStyle/>
          <a:p>
            <a:pPr indent="0" marL="0">
              <a:buNone/>
            </a:pPr>
            <a:r>
              <a:rPr lang="en-US" sz="788" dirty="0">
                <a:solidFill>
                  <a:srgbClr val="DBEAFE"/>
                </a:solidFill>
                <a:latin typeface="ui-monospace" pitchFamily="34" charset="0"/>
                <a:ea typeface="ui-monospace" pitchFamily="34" charset="-122"/>
                <a:cs typeface="ui-monospace" pitchFamily="34" charset="-120"/>
              </a:rPr>
              <a:t>wget -qO- https://packages.microsoft.com/keys/microsoft.asc | gpg --dearmor &gt; packages.microsoft.gpg</a:t>
            </a:r>
            <a:endParaRPr lang="en-US" sz="788" dirty="0"/>
          </a:p>
        </p:txBody>
      </p:sp>
      <p:sp>
        <p:nvSpPr>
          <p:cNvPr id="79" name="Text 71"/>
          <p:cNvSpPr/>
          <p:nvPr/>
        </p:nvSpPr>
        <p:spPr>
          <a:xfrm>
            <a:off x="5057775" y="9956602"/>
            <a:ext cx="2832246" cy="285750"/>
          </a:xfrm>
          <a:prstGeom prst="rect">
            <a:avLst/>
          </a:prstGeom>
          <a:noFill/>
          <a:ln/>
        </p:spPr>
        <p:txBody>
          <a:bodyPr wrap="square" lIns="0" tIns="0" rIns="0" bIns="0" rtlCol="0" anchor="ctr">
            <a:spAutoFit/>
          </a:bodyPr>
          <a:lstStyle/>
          <a:p>
            <a:pPr indent="0" marL="0">
              <a:buNone/>
            </a:pPr>
            <a:r>
              <a:rPr lang="en-US" sz="788" dirty="0">
                <a:solidFill>
                  <a:srgbClr val="DBEAFE"/>
                </a:solidFill>
                <a:latin typeface="ui-monospace" pitchFamily="34" charset="0"/>
                <a:ea typeface="ui-monospace" pitchFamily="34" charset="-122"/>
                <a:cs typeface="ui-monospace" pitchFamily="34" charset="-120"/>
              </a:rPr>
              <a:t>sudo install -o root -g root -m 644 packages.microsoft.gpg /etc/apt/trusted.gpg.d/</a:t>
            </a:r>
            <a:endParaRPr lang="en-US" sz="788" dirty="0"/>
          </a:p>
        </p:txBody>
      </p:sp>
      <p:sp>
        <p:nvSpPr>
          <p:cNvPr id="80" name="Text 72"/>
          <p:cNvSpPr/>
          <p:nvPr/>
        </p:nvSpPr>
        <p:spPr>
          <a:xfrm>
            <a:off x="5057775" y="10299502"/>
            <a:ext cx="3312384" cy="628650"/>
          </a:xfrm>
          <a:prstGeom prst="rect">
            <a:avLst/>
          </a:prstGeom>
          <a:noFill/>
          <a:ln/>
        </p:spPr>
        <p:txBody>
          <a:bodyPr wrap="square" lIns="0" tIns="0" rIns="0" bIns="0" rtlCol="0" anchor="ctr">
            <a:spAutoFit/>
          </a:bodyPr>
          <a:lstStyle/>
          <a:p>
            <a:pPr indent="0" marL="0">
              <a:buNone/>
            </a:pPr>
            <a:r>
              <a:rPr lang="en-US" sz="788" dirty="0">
                <a:solidFill>
                  <a:srgbClr val="DBEAFE"/>
                </a:solidFill>
                <a:latin typeface="ui-monospace" pitchFamily="34" charset="0"/>
                <a:ea typeface="ui-monospace" pitchFamily="34" charset="-122"/>
                <a:cs typeface="ui-monospace" pitchFamily="34" charset="-120"/>
              </a:rPr>
              <a:t>sudo sh -c 'echo "deb [arch=amd64,arm64,armhf signed-by=/etc/apt/trusted.gpg.d/packages.microsoft.gpg] https://packages.microsoft.com/repos/code stable main" &gt; /etc/apt/sources.list.d/vscode.list'</a:t>
            </a:r>
            <a:endParaRPr lang="en-US" sz="788" dirty="0"/>
          </a:p>
        </p:txBody>
      </p:sp>
      <p:sp>
        <p:nvSpPr>
          <p:cNvPr id="81" name="Text 73"/>
          <p:cNvSpPr/>
          <p:nvPr/>
        </p:nvSpPr>
        <p:spPr>
          <a:xfrm>
            <a:off x="5057775" y="10985302"/>
            <a:ext cx="2232059" cy="114300"/>
          </a:xfrm>
          <a:prstGeom prst="rect">
            <a:avLst/>
          </a:prstGeom>
          <a:noFill/>
          <a:ln/>
        </p:spPr>
        <p:txBody>
          <a:bodyPr wrap="square" lIns="0" tIns="0" rIns="0" bIns="0" rtlCol="0" anchor="ctr">
            <a:spAutoFit/>
          </a:bodyPr>
          <a:lstStyle/>
          <a:p>
            <a:pPr indent="0" marL="0">
              <a:buNone/>
            </a:pPr>
            <a:r>
              <a:rPr lang="en-US" sz="788" dirty="0">
                <a:solidFill>
                  <a:srgbClr val="DBEAFE"/>
                </a:solidFill>
                <a:latin typeface="ui-monospace" pitchFamily="34" charset="0"/>
                <a:ea typeface="ui-monospace" pitchFamily="34" charset="-122"/>
                <a:cs typeface="ui-monospace" pitchFamily="34" charset="-120"/>
              </a:rPr>
              <a:t>sudo apt install apt-transport-https</a:t>
            </a:r>
            <a:endParaRPr lang="en-US" sz="788" dirty="0"/>
          </a:p>
        </p:txBody>
      </p:sp>
      <p:sp>
        <p:nvSpPr>
          <p:cNvPr id="82" name="Text 74"/>
          <p:cNvSpPr/>
          <p:nvPr/>
        </p:nvSpPr>
        <p:spPr>
          <a:xfrm>
            <a:off x="5057775" y="11156752"/>
            <a:ext cx="971717" cy="114300"/>
          </a:xfrm>
          <a:prstGeom prst="rect">
            <a:avLst/>
          </a:prstGeom>
          <a:noFill/>
          <a:ln/>
        </p:spPr>
        <p:txBody>
          <a:bodyPr wrap="none" lIns="0" tIns="0" rIns="0" bIns="0" rtlCol="0" anchor="ctr">
            <a:spAutoFit/>
          </a:bodyPr>
          <a:lstStyle/>
          <a:p>
            <a:pPr indent="0" marL="0">
              <a:buNone/>
            </a:pPr>
            <a:r>
              <a:rPr lang="en-US" sz="788" dirty="0">
                <a:solidFill>
                  <a:srgbClr val="DBEAFE"/>
                </a:solidFill>
                <a:latin typeface="ui-monospace" pitchFamily="34" charset="0"/>
                <a:ea typeface="ui-monospace" pitchFamily="34" charset="-122"/>
                <a:cs typeface="ui-monospace" pitchFamily="34" charset="-120"/>
              </a:rPr>
              <a:t>sudo apt update</a:t>
            </a:r>
            <a:endParaRPr lang="en-US" sz="788" dirty="0"/>
          </a:p>
        </p:txBody>
      </p:sp>
      <p:sp>
        <p:nvSpPr>
          <p:cNvPr id="83" name="Text 75"/>
          <p:cNvSpPr/>
          <p:nvPr/>
        </p:nvSpPr>
        <p:spPr>
          <a:xfrm>
            <a:off x="5057775" y="11328202"/>
            <a:ext cx="1331807" cy="114300"/>
          </a:xfrm>
          <a:prstGeom prst="rect">
            <a:avLst/>
          </a:prstGeom>
          <a:noFill/>
          <a:ln/>
        </p:spPr>
        <p:txBody>
          <a:bodyPr wrap="square" lIns="0" tIns="0" rIns="0" bIns="0" rtlCol="0" anchor="ctr">
            <a:spAutoFit/>
          </a:bodyPr>
          <a:lstStyle/>
          <a:p>
            <a:pPr indent="0" marL="0">
              <a:buNone/>
            </a:pPr>
            <a:r>
              <a:rPr lang="en-US" sz="788" dirty="0">
                <a:solidFill>
                  <a:srgbClr val="DBEAFE"/>
                </a:solidFill>
                <a:latin typeface="ui-monospace" pitchFamily="34" charset="0"/>
                <a:ea typeface="ui-monospace" pitchFamily="34" charset="-122"/>
                <a:cs typeface="ui-monospace" pitchFamily="34" charset="-120"/>
              </a:rPr>
              <a:t>sudo apt install code</a:t>
            </a:r>
            <a:endParaRPr lang="en-US" sz="788" dirty="0"/>
          </a:p>
        </p:txBody>
      </p:sp>
      <p:sp>
        <p:nvSpPr>
          <p:cNvPr id="84" name="Text 76"/>
          <p:cNvSpPr/>
          <p:nvPr/>
        </p:nvSpPr>
        <p:spPr>
          <a:xfrm>
            <a:off x="4972050" y="11658600"/>
            <a:ext cx="3500438" cy="171450"/>
          </a:xfrm>
          <a:prstGeom prst="rect">
            <a:avLst/>
          </a:prstGeom>
          <a:noFill/>
          <a:ln/>
        </p:spPr>
        <p:txBody>
          <a:bodyPr wrap="square" lIns="0" tIns="0" rIns="0" bIns="0" rtlCol="0" anchor="ctr">
            <a:spAutoFit/>
          </a:bodyPr>
          <a:lstStyle/>
          <a:p>
            <a:pPr indent="0" marL="0">
              <a:buNone/>
            </a:pPr>
            <a:r>
              <a:rPr lang="en-US" sz="900" b="1" dirty="0">
                <a:solidFill>
                  <a:srgbClr val="F1F5F9"/>
                </a:solidFill>
                <a:latin typeface="Segoe UI" pitchFamily="34" charset="0"/>
                <a:ea typeface="Segoe UI" pitchFamily="34" charset="-122"/>
                <a:cs typeface="Segoe UI" pitchFamily="34" charset="-120"/>
              </a:rPr>
              <a:t>RHEL/Fedora/CentOS</a:t>
            </a:r>
            <a:endParaRPr lang="en-US" sz="900" dirty="0"/>
          </a:p>
        </p:txBody>
      </p:sp>
      <p:sp>
        <p:nvSpPr>
          <p:cNvPr id="85" name="Shape 77"/>
          <p:cNvSpPr/>
          <p:nvPr/>
        </p:nvSpPr>
        <p:spPr>
          <a:xfrm>
            <a:off x="4972050" y="11887200"/>
            <a:ext cx="3429000" cy="1200150"/>
          </a:xfrm>
          <a:prstGeom prst="rect">
            <a:avLst/>
          </a:prstGeom>
          <a:solidFill>
            <a:srgbClr val="111827">
              <a:alpha val="50000"/>
            </a:srgbClr>
          </a:solidFill>
          <a:ln/>
        </p:spPr>
      </p:sp>
      <p:sp>
        <p:nvSpPr>
          <p:cNvPr id="86" name="Text 78"/>
          <p:cNvSpPr/>
          <p:nvPr/>
        </p:nvSpPr>
        <p:spPr>
          <a:xfrm>
            <a:off x="5057775" y="12014002"/>
            <a:ext cx="3012291" cy="285750"/>
          </a:xfrm>
          <a:prstGeom prst="rect">
            <a:avLst/>
          </a:prstGeom>
          <a:noFill/>
          <a:ln/>
        </p:spPr>
        <p:txBody>
          <a:bodyPr wrap="square" lIns="0" tIns="0" rIns="0" bIns="0" rtlCol="0" anchor="ctr">
            <a:spAutoFit/>
          </a:bodyPr>
          <a:lstStyle/>
          <a:p>
            <a:pPr indent="0" marL="0">
              <a:buNone/>
            </a:pPr>
            <a:r>
              <a:rPr lang="en-US" sz="788" dirty="0">
                <a:solidFill>
                  <a:srgbClr val="DBEAFE"/>
                </a:solidFill>
                <a:latin typeface="ui-monospace" pitchFamily="34" charset="0"/>
                <a:ea typeface="ui-monospace" pitchFamily="34" charset="-122"/>
                <a:cs typeface="ui-monospace" pitchFamily="34" charset="-120"/>
              </a:rPr>
              <a:t>sudo rpm --import https://packages.microsoft.com/keys/microsoft.asc</a:t>
            </a:r>
            <a:endParaRPr lang="en-US" sz="788" dirty="0"/>
          </a:p>
        </p:txBody>
      </p:sp>
      <p:sp>
        <p:nvSpPr>
          <p:cNvPr id="87" name="Text 79"/>
          <p:cNvSpPr/>
          <p:nvPr/>
        </p:nvSpPr>
        <p:spPr>
          <a:xfrm>
            <a:off x="5057775" y="12356902"/>
            <a:ext cx="8522466" cy="457200"/>
          </a:xfrm>
          <a:prstGeom prst="rect">
            <a:avLst/>
          </a:prstGeom>
          <a:noFill/>
          <a:ln/>
        </p:spPr>
        <p:txBody>
          <a:bodyPr wrap="square" lIns="0" tIns="0" rIns="0" bIns="0" rtlCol="0" anchor="ctr">
            <a:spAutoFit/>
          </a:bodyPr>
          <a:lstStyle/>
          <a:p>
            <a:pPr indent="0" marL="0">
              <a:buNone/>
            </a:pPr>
            <a:r>
              <a:rPr lang="en-US" sz="788" dirty="0">
                <a:solidFill>
                  <a:srgbClr val="DBEAFE"/>
                </a:solidFill>
                <a:latin typeface="ui-monospace" pitchFamily="34" charset="0"/>
                <a:ea typeface="ui-monospace" pitchFamily="34" charset="-122"/>
                <a:cs typeface="ui-monospace" pitchFamily="34" charset="-120"/>
              </a:rPr>
              <a:t>sudo sh -c 'echo -e "[code]\nname=Visual Studio Code\nbaseurl=https://packages.microsoft.com/yumrepos/vscode\nenabled=1\ngpgcheck=1\ngpgkey=https://packages.microsoft.com/keys/microsoft.asc" &gt; /etc/yum.repos.d/vscode.repo'</a:t>
            </a:r>
            <a:endParaRPr lang="en-US" sz="788" dirty="0"/>
          </a:p>
        </p:txBody>
      </p:sp>
      <p:sp>
        <p:nvSpPr>
          <p:cNvPr id="88" name="Text 80"/>
          <p:cNvSpPr/>
          <p:nvPr/>
        </p:nvSpPr>
        <p:spPr>
          <a:xfrm>
            <a:off x="5057775" y="12871252"/>
            <a:ext cx="1331807" cy="114300"/>
          </a:xfrm>
          <a:prstGeom prst="rect">
            <a:avLst/>
          </a:prstGeom>
          <a:noFill/>
          <a:ln/>
        </p:spPr>
        <p:txBody>
          <a:bodyPr wrap="square" lIns="0" tIns="0" rIns="0" bIns="0" rtlCol="0" anchor="ctr">
            <a:spAutoFit/>
          </a:bodyPr>
          <a:lstStyle/>
          <a:p>
            <a:pPr indent="0" marL="0">
              <a:buNone/>
            </a:pPr>
            <a:r>
              <a:rPr lang="en-US" sz="788" dirty="0">
                <a:solidFill>
                  <a:srgbClr val="DBEAFE"/>
                </a:solidFill>
                <a:latin typeface="ui-monospace" pitchFamily="34" charset="0"/>
                <a:ea typeface="ui-monospace" pitchFamily="34" charset="-122"/>
                <a:cs typeface="ui-monospace" pitchFamily="34" charset="-120"/>
              </a:rPr>
              <a:t>sudo dnf install code</a:t>
            </a:r>
            <a:endParaRPr lang="en-US" sz="788" dirty="0"/>
          </a:p>
        </p:txBody>
      </p:sp>
      <p:sp>
        <p:nvSpPr>
          <p:cNvPr id="89" name="Text 81"/>
          <p:cNvSpPr/>
          <p:nvPr/>
        </p:nvSpPr>
        <p:spPr>
          <a:xfrm>
            <a:off x="4972050" y="13201650"/>
            <a:ext cx="3500438" cy="200025"/>
          </a:xfrm>
          <a:prstGeom prst="rect">
            <a:avLst/>
          </a:prstGeom>
          <a:noFill/>
          <a:ln/>
        </p:spPr>
        <p:txBody>
          <a:bodyPr wrap="square" lIns="0" tIns="0" rIns="0" bIns="0" rtlCol="0" anchor="ctr">
            <a:spAutoFit/>
          </a:bodyPr>
          <a:lstStyle/>
          <a:p>
            <a:pPr indent="0" marL="0">
              <a:buNone/>
            </a:pPr>
            <a:r>
              <a:rPr lang="en-US" sz="1125" b="1" dirty="0">
                <a:solidFill>
                  <a:srgbClr val="F1F5F9"/>
                </a:solidFill>
                <a:latin typeface="Segoe UI" pitchFamily="34" charset="0"/>
                <a:ea typeface="Segoe UI" pitchFamily="34" charset="-122"/>
                <a:cs typeface="Segoe UI" pitchFamily="34" charset="-120"/>
              </a:rPr>
              <a:t>Using .deb or .rpm Package</a:t>
            </a:r>
            <a:endParaRPr lang="en-US" sz="1125" dirty="0"/>
          </a:p>
        </p:txBody>
      </p:sp>
      <p:sp>
        <p:nvSpPr>
          <p:cNvPr id="90" name="Text 82"/>
          <p:cNvSpPr/>
          <p:nvPr/>
        </p:nvSpPr>
        <p:spPr>
          <a:xfrm>
            <a:off x="5086350" y="13487400"/>
            <a:ext cx="3386138" cy="142875"/>
          </a:xfrm>
          <a:prstGeom prst="rect">
            <a:avLst/>
          </a:prstGeom>
          <a:noFill/>
          <a:ln/>
        </p:spPr>
        <p:txBody>
          <a:bodyPr wrap="square" lIns="0" tIns="0" rIns="0" bIns="0" rtlCol="0" anchor="ctr">
            <a:spAutoFit/>
          </a:bodyPr>
          <a:lstStyle/>
          <a:p>
            <a:pPr algn="l" indent="0" marL="0">
              <a:buNone/>
            </a:pPr>
            <a:r>
              <a:rPr lang="en-US" sz="788" dirty="0">
                <a:solidFill>
                  <a:srgbClr val="F1F5F9"/>
                </a:solidFill>
                <a:latin typeface="Segoe UI" pitchFamily="34" charset="0"/>
                <a:ea typeface="Segoe UI" pitchFamily="34" charset="-122"/>
                <a:cs typeface="Segoe UI" pitchFamily="34" charset="-120"/>
              </a:rPr>
              <a:t>Download the .deb or .rpm package from the VS Code website</a:t>
            </a:r>
            <a:endParaRPr lang="en-US" sz="788" dirty="0"/>
          </a:p>
        </p:txBody>
      </p:sp>
      <p:sp>
        <p:nvSpPr>
          <p:cNvPr id="91" name="Text 83"/>
          <p:cNvSpPr/>
          <p:nvPr/>
        </p:nvSpPr>
        <p:spPr>
          <a:xfrm>
            <a:off x="5086350" y="13658850"/>
            <a:ext cx="3386138" cy="142875"/>
          </a:xfrm>
          <a:prstGeom prst="rect">
            <a:avLst/>
          </a:prstGeom>
          <a:noFill/>
          <a:ln/>
        </p:spPr>
        <p:txBody>
          <a:bodyPr wrap="square" lIns="0" tIns="0" rIns="0" bIns="0" rtlCol="0" anchor="ctr">
            <a:spAutoFit/>
          </a:bodyPr>
          <a:lstStyle/>
          <a:p>
            <a:pPr algn="l" indent="0" marL="0">
              <a:buNone/>
            </a:pPr>
            <a:r>
              <a:rPr lang="en-US" sz="788" dirty="0">
                <a:solidFill>
                  <a:srgbClr val="F1F5F9"/>
                </a:solidFill>
                <a:latin typeface="Segoe UI" pitchFamily="34" charset="0"/>
                <a:ea typeface="Segoe UI" pitchFamily="34" charset="-122"/>
                <a:cs typeface="Segoe UI" pitchFamily="34" charset="-120"/>
              </a:rPr>
              <a:t>Install using your package manager</a:t>
            </a:r>
            <a:endParaRPr lang="en-US" sz="788" dirty="0"/>
          </a:p>
        </p:txBody>
      </p:sp>
      <p:sp>
        <p:nvSpPr>
          <p:cNvPr id="92" name="Text 84"/>
          <p:cNvSpPr/>
          <p:nvPr/>
        </p:nvSpPr>
        <p:spPr>
          <a:xfrm>
            <a:off x="5197553" y="13844588"/>
            <a:ext cx="499476" cy="112514"/>
          </a:xfrm>
          <a:prstGeom prst="rect">
            <a:avLst/>
          </a:prstGeom>
          <a:noFill/>
          <a:ln/>
        </p:spPr>
        <p:txBody>
          <a:bodyPr wrap="none" lIns="0" tIns="0" rIns="0" bIns="0" rtlCol="0" anchor="ctr">
            <a:spAutoFit/>
          </a:bodyPr>
          <a:lstStyle/>
          <a:p>
            <a:pPr algn="l" indent="0" marL="0">
              <a:buNone/>
            </a:pPr>
            <a:r>
              <a:rPr lang="en-US" sz="788" dirty="0">
                <a:solidFill>
                  <a:srgbClr val="F1F5F9"/>
                </a:solidFill>
                <a:latin typeface="Segoe UI" pitchFamily="34" charset="0"/>
                <a:ea typeface="Segoe UI" pitchFamily="34" charset="-122"/>
                <a:cs typeface="Segoe UI" pitchFamily="34" charset="-120"/>
              </a:rPr>
              <a:t>For .deb:</a:t>
            </a:r>
            <a:endParaRPr lang="en-US" sz="788" dirty="0"/>
          </a:p>
        </p:txBody>
      </p:sp>
      <p:sp>
        <p:nvSpPr>
          <p:cNvPr id="93" name="Text 85"/>
          <p:cNvSpPr/>
          <p:nvPr/>
        </p:nvSpPr>
        <p:spPr>
          <a:xfrm>
            <a:off x="5625592" y="13866019"/>
            <a:ext cx="1563309" cy="96441"/>
          </a:xfrm>
          <a:prstGeom prst="rect">
            <a:avLst/>
          </a:prstGeom>
          <a:noFill/>
          <a:ln/>
        </p:spPr>
        <p:txBody>
          <a:bodyPr wrap="square" lIns="0" tIns="0" rIns="0" bIns="0" rtlCol="0" anchor="ctr">
            <a:spAutoFit/>
          </a:bodyPr>
          <a:lstStyle/>
          <a:p>
            <a:pPr algn="l" indent="0" marL="0">
              <a:buNone/>
            </a:pPr>
            <a:r>
              <a:rPr lang="en-US" sz="675" dirty="0">
                <a:solidFill>
                  <a:srgbClr val="BFDBFE"/>
                </a:solidFill>
                <a:latin typeface="ui-monospace" pitchFamily="34" charset="0"/>
                <a:ea typeface="ui-monospace" pitchFamily="34" charset="-122"/>
                <a:cs typeface="ui-monospace" pitchFamily="34" charset="-120"/>
              </a:rPr>
              <a:t>sudo apt install ./code_*.deb</a:t>
            </a:r>
            <a:endParaRPr lang="en-US" sz="675" dirty="0"/>
          </a:p>
        </p:txBody>
      </p:sp>
      <p:sp>
        <p:nvSpPr>
          <p:cNvPr id="94" name="Text 86"/>
          <p:cNvSpPr/>
          <p:nvPr/>
        </p:nvSpPr>
        <p:spPr>
          <a:xfrm>
            <a:off x="5197553" y="14016038"/>
            <a:ext cx="504862" cy="112514"/>
          </a:xfrm>
          <a:prstGeom prst="rect">
            <a:avLst/>
          </a:prstGeom>
          <a:noFill/>
          <a:ln/>
        </p:spPr>
        <p:txBody>
          <a:bodyPr wrap="none" lIns="0" tIns="0" rIns="0" bIns="0" rtlCol="0" anchor="ctr">
            <a:spAutoFit/>
          </a:bodyPr>
          <a:lstStyle/>
          <a:p>
            <a:pPr algn="l" indent="0" marL="0">
              <a:buNone/>
            </a:pPr>
            <a:r>
              <a:rPr lang="en-US" sz="788" dirty="0">
                <a:solidFill>
                  <a:srgbClr val="F1F5F9"/>
                </a:solidFill>
                <a:latin typeface="Segoe UI" pitchFamily="34" charset="0"/>
                <a:ea typeface="Segoe UI" pitchFamily="34" charset="-122"/>
                <a:cs typeface="Segoe UI" pitchFamily="34" charset="-120"/>
              </a:rPr>
              <a:t>For .rpm:</a:t>
            </a:r>
            <a:endParaRPr lang="en-US" sz="788" dirty="0"/>
          </a:p>
        </p:txBody>
      </p:sp>
      <p:sp>
        <p:nvSpPr>
          <p:cNvPr id="95" name="Text 87"/>
          <p:cNvSpPr/>
          <p:nvPr/>
        </p:nvSpPr>
        <p:spPr>
          <a:xfrm>
            <a:off x="5630977" y="14037469"/>
            <a:ext cx="1203192" cy="96441"/>
          </a:xfrm>
          <a:prstGeom prst="rect">
            <a:avLst/>
          </a:prstGeom>
          <a:noFill/>
          <a:ln/>
        </p:spPr>
        <p:txBody>
          <a:bodyPr wrap="none" lIns="0" tIns="0" rIns="0" bIns="0" rtlCol="0" anchor="ctr">
            <a:spAutoFit/>
          </a:bodyPr>
          <a:lstStyle/>
          <a:p>
            <a:pPr algn="l" indent="0" marL="0">
              <a:buNone/>
            </a:pPr>
            <a:r>
              <a:rPr lang="en-US" sz="675" dirty="0">
                <a:solidFill>
                  <a:srgbClr val="BFDBFE"/>
                </a:solidFill>
                <a:latin typeface="ui-monospace" pitchFamily="34" charset="0"/>
                <a:ea typeface="ui-monospace" pitchFamily="34" charset="-122"/>
                <a:cs typeface="ui-monospace" pitchFamily="34" charset="-120"/>
              </a:rPr>
              <a:t>sudo rpm -i code-*.rpm</a:t>
            </a:r>
            <a:endParaRPr lang="en-US" sz="675" dirty="0"/>
          </a:p>
        </p:txBody>
      </p:sp>
      <p:sp>
        <p:nvSpPr>
          <p:cNvPr id="96" name="Shape 88"/>
          <p:cNvSpPr/>
          <p:nvPr/>
        </p:nvSpPr>
        <p:spPr>
          <a:xfrm>
            <a:off x="457200" y="14544675"/>
            <a:ext cx="8229600" cy="3357563"/>
          </a:xfrm>
          <a:prstGeom prst="rect">
            <a:avLst/>
          </a:prstGeom>
          <a:solidFill>
            <a:srgbClr val="FFFFFF">
              <a:alpha val="10000"/>
            </a:srgbClr>
          </a:solidFill>
          <a:ln w="99">
            <a:solidFill>
              <a:srgbClr val="60A5FA">
                <a:alpha val="30000"/>
              </a:srgbClr>
            </a:solidFill>
            <a:prstDash val="solid"/>
          </a:ln>
        </p:spPr>
      </p:sp>
      <p:sp>
        <p:nvSpPr>
          <p:cNvPr id="97" name="Text 89"/>
          <p:cNvSpPr/>
          <p:nvPr/>
        </p:nvSpPr>
        <p:spPr>
          <a:xfrm>
            <a:off x="628650" y="14716125"/>
            <a:ext cx="7958138" cy="228600"/>
          </a:xfrm>
          <a:prstGeom prst="rect">
            <a:avLst/>
          </a:prstGeom>
          <a:noFill/>
          <a:ln/>
        </p:spPr>
        <p:txBody>
          <a:bodyPr wrap="square" lIns="0" tIns="0" rIns="0" bIns="0" rtlCol="0" anchor="ctr">
            <a:spAutoFit/>
          </a:bodyPr>
          <a:lstStyle/>
          <a:p>
            <a:pPr indent="0" marL="0">
              <a:buNone/>
            </a:pPr>
            <a:r>
              <a:rPr lang="en-US" sz="1350" b="1" dirty="0">
                <a:solidFill>
                  <a:srgbClr val="BFDBFE"/>
                </a:solidFill>
                <a:latin typeface="Segoe UI" pitchFamily="34" charset="0"/>
                <a:ea typeface="Segoe UI" pitchFamily="34" charset="-122"/>
                <a:cs typeface="Segoe UI" pitchFamily="34" charset="-120"/>
              </a:rPr>
              <a:t>Verifying Your Installation</a:t>
            </a:r>
            <a:endParaRPr lang="en-US" sz="1350" dirty="0"/>
          </a:p>
        </p:txBody>
      </p:sp>
      <p:sp>
        <p:nvSpPr>
          <p:cNvPr id="98" name="Shape 90"/>
          <p:cNvSpPr/>
          <p:nvPr/>
        </p:nvSpPr>
        <p:spPr>
          <a:xfrm>
            <a:off x="628650" y="15059025"/>
            <a:ext cx="3857625" cy="1514475"/>
          </a:xfrm>
          <a:prstGeom prst="rect">
            <a:avLst/>
          </a:prstGeom>
          <a:solidFill>
            <a:srgbClr val="1E3A8A">
              <a:alpha val="30000"/>
            </a:srgbClr>
          </a:solidFill>
          <a:ln/>
        </p:spPr>
      </p:sp>
      <p:sp>
        <p:nvSpPr>
          <p:cNvPr id="99" name="Text 91"/>
          <p:cNvSpPr/>
          <p:nvPr/>
        </p:nvSpPr>
        <p:spPr>
          <a:xfrm>
            <a:off x="742950" y="15173325"/>
            <a:ext cx="3700463" cy="200025"/>
          </a:xfrm>
          <a:prstGeom prst="rect">
            <a:avLst/>
          </a:prstGeom>
          <a:noFill/>
          <a:ln/>
        </p:spPr>
        <p:txBody>
          <a:bodyPr wrap="square" lIns="0" tIns="0" rIns="0" bIns="0" rtlCol="0" anchor="ctr">
            <a:spAutoFit/>
          </a:bodyPr>
          <a:lstStyle/>
          <a:p>
            <a:pPr indent="0" marL="0">
              <a:buNone/>
            </a:pPr>
            <a:r>
              <a:rPr lang="en-US" sz="1125" b="1" dirty="0">
                <a:solidFill>
                  <a:srgbClr val="F1F5F9"/>
                </a:solidFill>
                <a:latin typeface="Segoe UI" pitchFamily="34" charset="0"/>
                <a:ea typeface="Segoe UI" pitchFamily="34" charset="-122"/>
                <a:cs typeface="Segoe UI" pitchFamily="34" charset="-120"/>
              </a:rPr>
              <a:t>Launch VS Code</a:t>
            </a:r>
            <a:endParaRPr lang="en-US" sz="1125" dirty="0"/>
          </a:p>
        </p:txBody>
      </p:sp>
      <p:sp>
        <p:nvSpPr>
          <p:cNvPr id="100" name="Text 92"/>
          <p:cNvSpPr/>
          <p:nvPr/>
        </p:nvSpPr>
        <p:spPr>
          <a:xfrm>
            <a:off x="742950" y="15459075"/>
            <a:ext cx="3700463" cy="171450"/>
          </a:xfrm>
          <a:prstGeom prst="rect">
            <a:avLst/>
          </a:prstGeom>
          <a:noFill/>
          <a:ln/>
        </p:spPr>
        <p:txBody>
          <a:bodyPr wrap="square" lIns="0" tIns="0" rIns="0" bIns="0" rtlCol="0" anchor="ctr">
            <a:spAutoFit/>
          </a:bodyPr>
          <a:lstStyle/>
          <a:p>
            <a:pPr indent="0" marL="0">
              <a:buNone/>
            </a:pPr>
            <a:r>
              <a:rPr lang="en-US" sz="900" dirty="0">
                <a:solidFill>
                  <a:srgbClr val="F1F5F9"/>
                </a:solidFill>
                <a:latin typeface="Segoe UI" pitchFamily="34" charset="0"/>
                <a:ea typeface="Segoe UI" pitchFamily="34" charset="-122"/>
                <a:cs typeface="Segoe UI" pitchFamily="34" charset="-120"/>
              </a:rPr>
              <a:t>After installation, launch VS Code:</a:t>
            </a:r>
            <a:endParaRPr lang="en-US" sz="900" dirty="0"/>
          </a:p>
        </p:txBody>
      </p:sp>
      <p:pic>
        <p:nvPicPr>
          <p:cNvPr id="101" name="Image 6" descr="preencoded.png">    </p:cNvPr>
          <p:cNvPicPr>
            <a:picLocks noChangeAspect="1"/>
          </p:cNvPicPr>
          <p:nvPr/>
        </p:nvPicPr>
        <p:blipFill>
          <a:blip r:embed="rId7"/>
          <a:stretch>
            <a:fillRect/>
          </a:stretch>
        </p:blipFill>
        <p:spPr>
          <a:xfrm>
            <a:off x="857250" y="15744825"/>
            <a:ext cx="114300" cy="114300"/>
          </a:xfrm>
          <a:prstGeom prst="rect">
            <a:avLst/>
          </a:prstGeom>
        </p:spPr>
      </p:pic>
      <p:sp>
        <p:nvSpPr>
          <p:cNvPr id="102" name="Text 93"/>
          <p:cNvSpPr/>
          <p:nvPr/>
        </p:nvSpPr>
        <p:spPr>
          <a:xfrm>
            <a:off x="1028700" y="15737681"/>
            <a:ext cx="610065" cy="128588"/>
          </a:xfrm>
          <a:prstGeom prst="rect">
            <a:avLst/>
          </a:prstGeom>
          <a:noFill/>
          <a:ln/>
        </p:spPr>
        <p:txBody>
          <a:bodyPr wrap="none" lIns="0" tIns="0" rIns="0" bIns="0" rtlCol="0" anchor="ctr">
            <a:spAutoFit/>
          </a:bodyPr>
          <a:lstStyle/>
          <a:p>
            <a:pPr algn="l" indent="0" marL="0">
              <a:buNone/>
            </a:pPr>
            <a:r>
              <a:rPr lang="en-US" sz="900" b="1" dirty="0">
                <a:solidFill>
                  <a:srgbClr val="60A5FA"/>
                </a:solidFill>
                <a:latin typeface="Segoe UI" pitchFamily="34" charset="0"/>
                <a:ea typeface="Segoe UI" pitchFamily="34" charset="-122"/>
                <a:cs typeface="Segoe UI" pitchFamily="34" charset="-120"/>
              </a:rPr>
              <a:t>Windows:</a:t>
            </a:r>
            <a:endParaRPr lang="en-US" sz="900" dirty="0"/>
          </a:p>
        </p:txBody>
      </p:sp>
      <p:sp>
        <p:nvSpPr>
          <p:cNvPr id="103" name="Text 94"/>
          <p:cNvSpPr/>
          <p:nvPr/>
        </p:nvSpPr>
        <p:spPr>
          <a:xfrm>
            <a:off x="1567328" y="15737681"/>
            <a:ext cx="1666056" cy="128588"/>
          </a:xfrm>
          <a:prstGeom prst="rect">
            <a:avLst/>
          </a:prstGeom>
          <a:noFill/>
          <a:ln/>
        </p:spPr>
        <p:txBody>
          <a:bodyPr wrap="square" lIns="0" tIns="0" rIns="0" bIns="0" rtlCol="0" anchor="ctr">
            <a:spAutoFit/>
          </a:bodyPr>
          <a:lstStyle/>
          <a:p>
            <a:pPr algn="l" indent="0" marL="0">
              <a:buNone/>
            </a:pPr>
            <a:r>
              <a:rPr lang="en-US" sz="900" dirty="0">
                <a:solidFill>
                  <a:srgbClr val="F1F5F9"/>
                </a:solidFill>
                <a:latin typeface="Segoe UI" pitchFamily="34" charset="0"/>
                <a:ea typeface="Segoe UI" pitchFamily="34" charset="-122"/>
                <a:cs typeface="Segoe UI" pitchFamily="34" charset="-120"/>
              </a:rPr>
              <a:t>Start menu or desktop shortcut</a:t>
            </a:r>
            <a:endParaRPr lang="en-US" sz="900" dirty="0"/>
          </a:p>
        </p:txBody>
      </p:sp>
      <p:pic>
        <p:nvPicPr>
          <p:cNvPr id="104" name="Image 7" descr="preencoded.png">    </p:cNvPr>
          <p:cNvPicPr>
            <a:picLocks noChangeAspect="1"/>
          </p:cNvPicPr>
          <p:nvPr/>
        </p:nvPicPr>
        <p:blipFill>
          <a:blip r:embed="rId8"/>
          <a:stretch>
            <a:fillRect/>
          </a:stretch>
        </p:blipFill>
        <p:spPr>
          <a:xfrm>
            <a:off x="857250" y="15944850"/>
            <a:ext cx="114300" cy="114300"/>
          </a:xfrm>
          <a:prstGeom prst="rect">
            <a:avLst/>
          </a:prstGeom>
        </p:spPr>
      </p:pic>
      <p:sp>
        <p:nvSpPr>
          <p:cNvPr id="105" name="Text 95"/>
          <p:cNvSpPr/>
          <p:nvPr/>
        </p:nvSpPr>
        <p:spPr>
          <a:xfrm>
            <a:off x="1028700" y="15937706"/>
            <a:ext cx="503411" cy="128588"/>
          </a:xfrm>
          <a:prstGeom prst="rect">
            <a:avLst/>
          </a:prstGeom>
          <a:noFill/>
          <a:ln/>
        </p:spPr>
        <p:txBody>
          <a:bodyPr wrap="none" lIns="0" tIns="0" rIns="0" bIns="0" rtlCol="0" anchor="ctr">
            <a:spAutoFit/>
          </a:bodyPr>
          <a:lstStyle/>
          <a:p>
            <a:pPr algn="l" indent="0" marL="0">
              <a:buNone/>
            </a:pPr>
            <a:r>
              <a:rPr lang="en-US" sz="900" b="1" dirty="0">
                <a:solidFill>
                  <a:srgbClr val="60A5FA"/>
                </a:solidFill>
                <a:latin typeface="Segoe UI" pitchFamily="34" charset="0"/>
                <a:ea typeface="Segoe UI" pitchFamily="34" charset="-122"/>
                <a:cs typeface="Segoe UI" pitchFamily="34" charset="-120"/>
              </a:rPr>
              <a:t>macOS:</a:t>
            </a:r>
            <a:endParaRPr lang="en-US" sz="900" dirty="0"/>
          </a:p>
        </p:txBody>
      </p:sp>
      <p:sp>
        <p:nvSpPr>
          <p:cNvPr id="106" name="Text 96"/>
          <p:cNvSpPr/>
          <p:nvPr/>
        </p:nvSpPr>
        <p:spPr>
          <a:xfrm>
            <a:off x="1460674" y="15937706"/>
            <a:ext cx="1456432" cy="128588"/>
          </a:xfrm>
          <a:prstGeom prst="rect">
            <a:avLst/>
          </a:prstGeom>
          <a:noFill/>
          <a:ln/>
        </p:spPr>
        <p:txBody>
          <a:bodyPr wrap="square" lIns="0" tIns="0" rIns="0" bIns="0" rtlCol="0" anchor="ctr">
            <a:spAutoFit/>
          </a:bodyPr>
          <a:lstStyle/>
          <a:p>
            <a:pPr algn="l" indent="0" marL="0">
              <a:buNone/>
            </a:pPr>
            <a:r>
              <a:rPr lang="en-US" sz="900" dirty="0">
                <a:solidFill>
                  <a:srgbClr val="F1F5F9"/>
                </a:solidFill>
                <a:latin typeface="Segoe UI" pitchFamily="34" charset="0"/>
                <a:ea typeface="Segoe UI" pitchFamily="34" charset="-122"/>
                <a:cs typeface="Segoe UI" pitchFamily="34" charset="-120"/>
              </a:rPr>
              <a:t>Applications folder or Dock</a:t>
            </a:r>
            <a:endParaRPr lang="en-US" sz="900" dirty="0"/>
          </a:p>
        </p:txBody>
      </p:sp>
      <p:pic>
        <p:nvPicPr>
          <p:cNvPr id="107" name="Image 8" descr="preencoded.png">    </p:cNvPr>
          <p:cNvPicPr>
            <a:picLocks noChangeAspect="1"/>
          </p:cNvPicPr>
          <p:nvPr/>
        </p:nvPicPr>
        <p:blipFill>
          <a:blip r:embed="rId9"/>
          <a:stretch>
            <a:fillRect/>
          </a:stretch>
        </p:blipFill>
        <p:spPr>
          <a:xfrm>
            <a:off x="857250" y="16144875"/>
            <a:ext cx="114300" cy="114300"/>
          </a:xfrm>
          <a:prstGeom prst="rect">
            <a:avLst/>
          </a:prstGeom>
        </p:spPr>
      </p:pic>
      <p:sp>
        <p:nvSpPr>
          <p:cNvPr id="108" name="Text 97"/>
          <p:cNvSpPr/>
          <p:nvPr/>
        </p:nvSpPr>
        <p:spPr>
          <a:xfrm>
            <a:off x="1028700" y="16137731"/>
            <a:ext cx="414282" cy="128588"/>
          </a:xfrm>
          <a:prstGeom prst="rect">
            <a:avLst/>
          </a:prstGeom>
          <a:noFill/>
          <a:ln/>
        </p:spPr>
        <p:txBody>
          <a:bodyPr wrap="none" lIns="0" tIns="0" rIns="0" bIns="0" rtlCol="0" anchor="ctr">
            <a:spAutoFit/>
          </a:bodyPr>
          <a:lstStyle/>
          <a:p>
            <a:pPr algn="l" indent="0" marL="0">
              <a:buNone/>
            </a:pPr>
            <a:r>
              <a:rPr lang="en-US" sz="900" b="1" dirty="0">
                <a:solidFill>
                  <a:srgbClr val="60A5FA"/>
                </a:solidFill>
                <a:latin typeface="Segoe UI" pitchFamily="34" charset="0"/>
                <a:ea typeface="Segoe UI" pitchFamily="34" charset="-122"/>
                <a:cs typeface="Segoe UI" pitchFamily="34" charset="-120"/>
              </a:rPr>
              <a:t>Linux:</a:t>
            </a:r>
            <a:endParaRPr lang="en-US" sz="900" dirty="0"/>
          </a:p>
        </p:txBody>
      </p:sp>
      <p:sp>
        <p:nvSpPr>
          <p:cNvPr id="109" name="Text 98"/>
          <p:cNvSpPr/>
          <p:nvPr/>
        </p:nvSpPr>
        <p:spPr>
          <a:xfrm>
            <a:off x="1371544" y="16137731"/>
            <a:ext cx="1869318" cy="128588"/>
          </a:xfrm>
          <a:prstGeom prst="rect">
            <a:avLst/>
          </a:prstGeom>
          <a:noFill/>
          <a:ln/>
        </p:spPr>
        <p:txBody>
          <a:bodyPr wrap="square" lIns="0" tIns="0" rIns="0" bIns="0" rtlCol="0" anchor="ctr">
            <a:spAutoFit/>
          </a:bodyPr>
          <a:lstStyle/>
          <a:p>
            <a:pPr algn="l" indent="0" marL="0">
              <a:buNone/>
            </a:pPr>
            <a:r>
              <a:rPr lang="en-US" sz="900" dirty="0">
                <a:solidFill>
                  <a:srgbClr val="F1F5F9"/>
                </a:solidFill>
                <a:latin typeface="Segoe UI" pitchFamily="34" charset="0"/>
                <a:ea typeface="Segoe UI" pitchFamily="34" charset="-122"/>
                <a:cs typeface="Segoe UI" pitchFamily="34" charset="-120"/>
              </a:rPr>
              <a:t>Applications menu or terminal with</a:t>
            </a:r>
            <a:endParaRPr lang="en-US" sz="900" dirty="0"/>
          </a:p>
        </p:txBody>
      </p:sp>
      <p:sp>
        <p:nvSpPr>
          <p:cNvPr id="110" name="Text 99"/>
          <p:cNvSpPr/>
          <p:nvPr/>
        </p:nvSpPr>
        <p:spPr>
          <a:xfrm>
            <a:off x="3169425" y="16148447"/>
            <a:ext cx="345802" cy="128588"/>
          </a:xfrm>
          <a:prstGeom prst="rect">
            <a:avLst/>
          </a:prstGeom>
          <a:noFill/>
          <a:ln/>
        </p:spPr>
        <p:txBody>
          <a:bodyPr wrap="none" lIns="0" tIns="0" rIns="0" bIns="0" rtlCol="0" anchor="ctr">
            <a:spAutoFit/>
          </a:bodyPr>
          <a:lstStyle/>
          <a:p>
            <a:pPr algn="l" indent="0" marL="0">
              <a:buNone/>
            </a:pPr>
            <a:r>
              <a:rPr lang="en-US" sz="900" dirty="0">
                <a:solidFill>
                  <a:srgbClr val="F1F5F9"/>
                </a:solidFill>
                <a:latin typeface="ui-monospace" pitchFamily="34" charset="0"/>
                <a:ea typeface="ui-monospace" pitchFamily="34" charset="-122"/>
                <a:cs typeface="ui-monospace" pitchFamily="34" charset="-120"/>
              </a:rPr>
              <a:t>code</a:t>
            </a:r>
            <a:endParaRPr lang="en-US" sz="900" dirty="0"/>
          </a:p>
        </p:txBody>
      </p:sp>
      <p:sp>
        <p:nvSpPr>
          <p:cNvPr id="111" name="Text 100"/>
          <p:cNvSpPr/>
          <p:nvPr/>
        </p:nvSpPr>
        <p:spPr>
          <a:xfrm>
            <a:off x="3443790" y="16137731"/>
            <a:ext cx="605042" cy="128588"/>
          </a:xfrm>
          <a:prstGeom prst="rect">
            <a:avLst/>
          </a:prstGeom>
          <a:noFill/>
          <a:ln/>
        </p:spPr>
        <p:txBody>
          <a:bodyPr wrap="none" lIns="0" tIns="0" rIns="0" bIns="0" rtlCol="0" anchor="ctr">
            <a:spAutoFit/>
          </a:bodyPr>
          <a:lstStyle/>
          <a:p>
            <a:pPr algn="l" indent="0" marL="0">
              <a:buNone/>
            </a:pPr>
            <a:r>
              <a:rPr lang="en-US" sz="900" dirty="0">
                <a:solidFill>
                  <a:srgbClr val="F1F5F9"/>
                </a:solidFill>
                <a:latin typeface="Segoe UI" pitchFamily="34" charset="0"/>
                <a:ea typeface="Segoe UI" pitchFamily="34" charset="-122"/>
                <a:cs typeface="Segoe UI" pitchFamily="34" charset="-120"/>
              </a:rPr>
              <a:t>command</a:t>
            </a:r>
            <a:endParaRPr lang="en-US" sz="900" dirty="0"/>
          </a:p>
        </p:txBody>
      </p:sp>
      <p:sp>
        <p:nvSpPr>
          <p:cNvPr id="112" name="Shape 101"/>
          <p:cNvSpPr/>
          <p:nvPr/>
        </p:nvSpPr>
        <p:spPr>
          <a:xfrm>
            <a:off x="4657725" y="15059025"/>
            <a:ext cx="3857625" cy="1514475"/>
          </a:xfrm>
          <a:prstGeom prst="rect">
            <a:avLst/>
          </a:prstGeom>
          <a:solidFill>
            <a:srgbClr val="1E3A8A">
              <a:alpha val="30000"/>
            </a:srgbClr>
          </a:solidFill>
          <a:ln/>
        </p:spPr>
      </p:sp>
      <p:sp>
        <p:nvSpPr>
          <p:cNvPr id="113" name="Text 102"/>
          <p:cNvSpPr/>
          <p:nvPr/>
        </p:nvSpPr>
        <p:spPr>
          <a:xfrm>
            <a:off x="4772025" y="15173325"/>
            <a:ext cx="3700463" cy="200025"/>
          </a:xfrm>
          <a:prstGeom prst="rect">
            <a:avLst/>
          </a:prstGeom>
          <a:noFill/>
          <a:ln/>
        </p:spPr>
        <p:txBody>
          <a:bodyPr wrap="square" lIns="0" tIns="0" rIns="0" bIns="0" rtlCol="0" anchor="ctr">
            <a:spAutoFit/>
          </a:bodyPr>
          <a:lstStyle/>
          <a:p>
            <a:pPr indent="0" marL="0">
              <a:buNone/>
            </a:pPr>
            <a:r>
              <a:rPr lang="en-US" sz="1125" b="1" dirty="0">
                <a:solidFill>
                  <a:srgbClr val="F1F5F9"/>
                </a:solidFill>
                <a:latin typeface="Segoe UI" pitchFamily="34" charset="0"/>
                <a:ea typeface="Segoe UI" pitchFamily="34" charset="-122"/>
                <a:cs typeface="Segoe UI" pitchFamily="34" charset="-120"/>
              </a:rPr>
              <a:t>Check Version</a:t>
            </a:r>
            <a:endParaRPr lang="en-US" sz="1125" dirty="0"/>
          </a:p>
        </p:txBody>
      </p:sp>
      <p:sp>
        <p:nvSpPr>
          <p:cNvPr id="114" name="Text 103"/>
          <p:cNvSpPr/>
          <p:nvPr/>
        </p:nvSpPr>
        <p:spPr>
          <a:xfrm>
            <a:off x="4772025" y="15459075"/>
            <a:ext cx="3700463" cy="171450"/>
          </a:xfrm>
          <a:prstGeom prst="rect">
            <a:avLst/>
          </a:prstGeom>
          <a:noFill/>
          <a:ln/>
        </p:spPr>
        <p:txBody>
          <a:bodyPr wrap="square" lIns="0" tIns="0" rIns="0" bIns="0" rtlCol="0" anchor="ctr">
            <a:spAutoFit/>
          </a:bodyPr>
          <a:lstStyle/>
          <a:p>
            <a:pPr indent="0" marL="0">
              <a:buNone/>
            </a:pPr>
            <a:r>
              <a:rPr lang="en-US" sz="900" dirty="0">
                <a:solidFill>
                  <a:srgbClr val="F1F5F9"/>
                </a:solidFill>
                <a:latin typeface="Segoe UI" pitchFamily="34" charset="0"/>
                <a:ea typeface="Segoe UI" pitchFamily="34" charset="-122"/>
                <a:cs typeface="Segoe UI" pitchFamily="34" charset="-120"/>
              </a:rPr>
              <a:t>To verify the installation and check the version:</a:t>
            </a:r>
            <a:endParaRPr lang="en-US" sz="900" dirty="0"/>
          </a:p>
        </p:txBody>
      </p:sp>
      <p:sp>
        <p:nvSpPr>
          <p:cNvPr id="115" name="Text 104"/>
          <p:cNvSpPr/>
          <p:nvPr/>
        </p:nvSpPr>
        <p:spPr>
          <a:xfrm>
            <a:off x="4886325" y="15716250"/>
            <a:ext cx="3586163" cy="171450"/>
          </a:xfrm>
          <a:prstGeom prst="rect">
            <a:avLst/>
          </a:prstGeom>
          <a:noFill/>
          <a:ln/>
        </p:spPr>
        <p:txBody>
          <a:bodyPr wrap="square" lIns="0" tIns="0" rIns="0" bIns="0" rtlCol="0" anchor="ctr">
            <a:spAutoFit/>
          </a:bodyPr>
          <a:lstStyle/>
          <a:p>
            <a:pPr algn="l" indent="0" marL="0">
              <a:buNone/>
            </a:pPr>
            <a:r>
              <a:rPr lang="en-US" sz="900" dirty="0">
                <a:solidFill>
                  <a:srgbClr val="F1F5F9"/>
                </a:solidFill>
                <a:latin typeface="Segoe UI" pitchFamily="34" charset="0"/>
                <a:ea typeface="Segoe UI" pitchFamily="34" charset="-122"/>
                <a:cs typeface="Segoe UI" pitchFamily="34" charset="-120"/>
              </a:rPr>
              <a:t>Launch VS Code</a:t>
            </a:r>
            <a:endParaRPr lang="en-US" sz="900" dirty="0"/>
          </a:p>
        </p:txBody>
      </p:sp>
      <p:sp>
        <p:nvSpPr>
          <p:cNvPr id="116" name="Text 105"/>
          <p:cNvSpPr/>
          <p:nvPr/>
        </p:nvSpPr>
        <p:spPr>
          <a:xfrm>
            <a:off x="4886325" y="15916275"/>
            <a:ext cx="3586163" cy="342900"/>
          </a:xfrm>
          <a:prstGeom prst="rect">
            <a:avLst/>
          </a:prstGeom>
          <a:noFill/>
          <a:ln/>
        </p:spPr>
        <p:txBody>
          <a:bodyPr wrap="square" lIns="0" tIns="0" rIns="0" bIns="0" rtlCol="0" anchor="ctr">
            <a:spAutoFit/>
          </a:bodyPr>
          <a:lstStyle/>
          <a:p>
            <a:pPr algn="l" indent="0" marL="0">
              <a:buNone/>
            </a:pPr>
            <a:r>
              <a:rPr lang="en-US" sz="900" dirty="0">
                <a:solidFill>
                  <a:srgbClr val="F1F5F9"/>
                </a:solidFill>
                <a:latin typeface="Segoe UI" pitchFamily="34" charset="0"/>
                <a:ea typeface="Segoe UI" pitchFamily="34" charset="-122"/>
                <a:cs typeface="Segoe UI" pitchFamily="34" charset="-120"/>
              </a:rPr>
              <a:t>Click on Help → About (Windows/Linux) or Code → About Visual Studio Code (macOS)</a:t>
            </a:r>
            <a:endParaRPr lang="en-US" sz="900" dirty="0"/>
          </a:p>
        </p:txBody>
      </p:sp>
      <p:sp>
        <p:nvSpPr>
          <p:cNvPr id="117" name="Text 106"/>
          <p:cNvSpPr/>
          <p:nvPr/>
        </p:nvSpPr>
        <p:spPr>
          <a:xfrm>
            <a:off x="5013406" y="16309181"/>
            <a:ext cx="1837339" cy="128588"/>
          </a:xfrm>
          <a:prstGeom prst="rect">
            <a:avLst/>
          </a:prstGeom>
          <a:noFill/>
          <a:ln/>
        </p:spPr>
        <p:txBody>
          <a:bodyPr wrap="square" lIns="0" tIns="0" rIns="0" bIns="0" rtlCol="0" anchor="ctr">
            <a:spAutoFit/>
          </a:bodyPr>
          <a:lstStyle/>
          <a:p>
            <a:pPr algn="l" indent="0" marL="0">
              <a:buNone/>
            </a:pPr>
            <a:r>
              <a:rPr lang="en-US" sz="900" dirty="0">
                <a:solidFill>
                  <a:srgbClr val="F1F5F9"/>
                </a:solidFill>
                <a:latin typeface="Segoe UI" pitchFamily="34" charset="0"/>
                <a:ea typeface="Segoe UI" pitchFamily="34" charset="-122"/>
                <a:cs typeface="Segoe UI" pitchFamily="34" charset="-120"/>
              </a:rPr>
              <a:t>Or use terminal/command prompt:</a:t>
            </a:r>
            <a:endParaRPr lang="en-US" sz="900" dirty="0"/>
          </a:p>
        </p:txBody>
      </p:sp>
      <p:sp>
        <p:nvSpPr>
          <p:cNvPr id="118" name="Text 107"/>
          <p:cNvSpPr/>
          <p:nvPr/>
        </p:nvSpPr>
        <p:spPr>
          <a:xfrm>
            <a:off x="6779307" y="16343114"/>
            <a:ext cx="791645" cy="96441"/>
          </a:xfrm>
          <a:prstGeom prst="rect">
            <a:avLst/>
          </a:prstGeom>
          <a:noFill/>
          <a:ln/>
        </p:spPr>
        <p:txBody>
          <a:bodyPr wrap="none" lIns="0" tIns="0" rIns="0" bIns="0" rtlCol="0" anchor="ctr">
            <a:spAutoFit/>
          </a:bodyPr>
          <a:lstStyle/>
          <a:p>
            <a:pPr algn="l" indent="0" marL="0">
              <a:buNone/>
            </a:pPr>
            <a:r>
              <a:rPr lang="en-US" sz="675" dirty="0">
                <a:solidFill>
                  <a:srgbClr val="BFDBFE"/>
                </a:solidFill>
                <a:latin typeface="ui-monospace" pitchFamily="34" charset="0"/>
                <a:ea typeface="ui-monospace" pitchFamily="34" charset="-122"/>
                <a:cs typeface="ui-monospace" pitchFamily="34" charset="-120"/>
              </a:rPr>
              <a:t>code --version</a:t>
            </a:r>
            <a:endParaRPr lang="en-US" sz="675" dirty="0"/>
          </a:p>
        </p:txBody>
      </p:sp>
      <p:sp>
        <p:nvSpPr>
          <p:cNvPr id="119" name="Shape 108"/>
          <p:cNvSpPr/>
          <p:nvPr/>
        </p:nvSpPr>
        <p:spPr>
          <a:xfrm>
            <a:off x="628650" y="16744950"/>
            <a:ext cx="7886700" cy="400050"/>
          </a:xfrm>
          <a:prstGeom prst="rect">
            <a:avLst/>
          </a:prstGeom>
          <a:solidFill>
            <a:srgbClr val="78350F">
              <a:alpha val="20000"/>
            </a:srgbClr>
          </a:solidFill>
          <a:ln/>
        </p:spPr>
      </p:sp>
      <p:pic>
        <p:nvPicPr>
          <p:cNvPr id="120" name="Image 9" descr="preencoded.png">    </p:cNvPr>
          <p:cNvPicPr>
            <a:picLocks noChangeAspect="1"/>
          </p:cNvPicPr>
          <p:nvPr/>
        </p:nvPicPr>
        <p:blipFill>
          <a:blip r:embed="rId10"/>
          <a:stretch>
            <a:fillRect/>
          </a:stretch>
        </p:blipFill>
        <p:spPr>
          <a:xfrm>
            <a:off x="742950" y="16859250"/>
            <a:ext cx="171450" cy="171450"/>
          </a:xfrm>
          <a:prstGeom prst="rect">
            <a:avLst/>
          </a:prstGeom>
        </p:spPr>
      </p:pic>
      <p:sp>
        <p:nvSpPr>
          <p:cNvPr id="121" name="Text 109"/>
          <p:cNvSpPr/>
          <p:nvPr/>
        </p:nvSpPr>
        <p:spPr>
          <a:xfrm>
            <a:off x="1028700" y="16880681"/>
            <a:ext cx="4064068" cy="128588"/>
          </a:xfrm>
          <a:prstGeom prst="rect">
            <a:avLst/>
          </a:prstGeom>
          <a:noFill/>
          <a:ln/>
        </p:spPr>
        <p:txBody>
          <a:bodyPr wrap="square" lIns="0" tIns="0" rIns="0" bIns="0" rtlCol="0" anchor="ctr">
            <a:spAutoFit/>
          </a:bodyPr>
          <a:lstStyle/>
          <a:p>
            <a:pPr indent="0" marL="0">
              <a:buNone/>
            </a:pPr>
            <a:r>
              <a:rPr lang="en-US" sz="900" dirty="0">
                <a:solidFill>
                  <a:srgbClr val="F1F5F9"/>
                </a:solidFill>
                <a:latin typeface="Segoe UI" pitchFamily="34" charset="0"/>
                <a:ea typeface="Segoe UI" pitchFamily="34" charset="-122"/>
                <a:cs typeface="Segoe UI" pitchFamily="34" charset="-120"/>
              </a:rPr>
              <a:t>If VS Code doesn't launch or you encounter errors, try reinstalling or check the</a:t>
            </a:r>
            <a:endParaRPr lang="en-US" sz="900" dirty="0"/>
          </a:p>
        </p:txBody>
      </p:sp>
      <p:sp>
        <p:nvSpPr>
          <p:cNvPr id="122" name="Text 110"/>
          <p:cNvSpPr/>
          <p:nvPr/>
        </p:nvSpPr>
        <p:spPr>
          <a:xfrm>
            <a:off x="5021331" y="16880681"/>
            <a:ext cx="1174924" cy="128588"/>
          </a:xfrm>
          <a:prstGeom prst="rect">
            <a:avLst/>
          </a:prstGeom>
          <a:noFill/>
          <a:ln/>
        </p:spPr>
        <p:txBody>
          <a:bodyPr wrap="none" lIns="0" tIns="0" rIns="0" bIns="0" rtlCol="0" anchor="ctr">
            <a:spAutoFit/>
          </a:bodyPr>
          <a:lstStyle/>
          <a:p>
            <a:pPr indent="0" marL="0">
              <a:buNone/>
            </a:pPr>
            <a:r>
              <a:rPr lang="en-US" sz="900" u="sng" dirty="0">
                <a:solidFill>
                  <a:srgbClr val="93C5FD"/>
                </a:solidFill>
                <a:uFill>
                  <a:solidFill>
                    <a:srgbClr val="93C5FD"/>
                  </a:solidFill>
                </a:uFill>
                <a:latin typeface="Segoe UI" pitchFamily="34" charset="0"/>
                <a:ea typeface="Segoe UI" pitchFamily="34" charset="-122"/>
                <a:cs typeface="Segoe UI" pitchFamily="34" charset="-120"/>
              </a:rPr>
              <a:t>official documentation</a:t>
            </a:r>
            <a:endParaRPr lang="en-US" sz="900" dirty="0"/>
          </a:p>
        </p:txBody>
      </p:sp>
      <p:sp>
        <p:nvSpPr>
          <p:cNvPr id="123" name="Text 111"/>
          <p:cNvSpPr/>
          <p:nvPr/>
        </p:nvSpPr>
        <p:spPr>
          <a:xfrm>
            <a:off x="6124817" y="16880681"/>
            <a:ext cx="1386669" cy="128588"/>
          </a:xfrm>
          <a:prstGeom prst="rect">
            <a:avLst/>
          </a:prstGeom>
          <a:noFill/>
          <a:ln/>
        </p:spPr>
        <p:txBody>
          <a:bodyPr wrap="square" lIns="0" tIns="0" rIns="0" bIns="0" rtlCol="0" anchor="ctr">
            <a:spAutoFit/>
          </a:bodyPr>
          <a:lstStyle/>
          <a:p>
            <a:pPr indent="0" marL="0">
              <a:buNone/>
            </a:pPr>
            <a:r>
              <a:rPr lang="en-US" sz="900" dirty="0">
                <a:solidFill>
                  <a:srgbClr val="F1F5F9"/>
                </a:solidFill>
                <a:latin typeface="Segoe UI" pitchFamily="34" charset="0"/>
                <a:ea typeface="Segoe UI" pitchFamily="34" charset="-122"/>
                <a:cs typeface="Segoe UI" pitchFamily="34" charset="-120"/>
              </a:rPr>
              <a:t>for troubleshooting steps.</a:t>
            </a:r>
            <a:endParaRPr lang="en-US" sz="900" dirty="0"/>
          </a:p>
        </p:txBody>
      </p:sp>
      <p:sp>
        <p:nvSpPr>
          <p:cNvPr id="124" name="Shape 112"/>
          <p:cNvSpPr/>
          <p:nvPr/>
        </p:nvSpPr>
        <p:spPr>
          <a:xfrm>
            <a:off x="628650" y="17316450"/>
            <a:ext cx="7886700" cy="400050"/>
          </a:xfrm>
          <a:prstGeom prst="rect">
            <a:avLst/>
          </a:prstGeom>
          <a:solidFill>
            <a:srgbClr val="1E3A8A">
              <a:alpha val="30000"/>
            </a:srgbClr>
          </a:solidFill>
          <a:ln/>
        </p:spPr>
      </p:sp>
      <p:pic>
        <p:nvPicPr>
          <p:cNvPr id="125" name="Image 10" descr="preencoded.png">    </p:cNvPr>
          <p:cNvPicPr>
            <a:picLocks noChangeAspect="1"/>
          </p:cNvPicPr>
          <p:nvPr/>
        </p:nvPicPr>
        <p:blipFill>
          <a:blip r:embed="rId11"/>
          <a:stretch>
            <a:fillRect/>
          </a:stretch>
        </p:blipFill>
        <p:spPr>
          <a:xfrm>
            <a:off x="742950" y="17430750"/>
            <a:ext cx="171450" cy="171450"/>
          </a:xfrm>
          <a:prstGeom prst="rect">
            <a:avLst/>
          </a:prstGeom>
        </p:spPr>
      </p:pic>
      <p:sp>
        <p:nvSpPr>
          <p:cNvPr id="126" name="Text 113"/>
          <p:cNvSpPr/>
          <p:nvPr/>
        </p:nvSpPr>
        <p:spPr>
          <a:xfrm>
            <a:off x="1028700" y="17430750"/>
            <a:ext cx="6221927" cy="171450"/>
          </a:xfrm>
          <a:prstGeom prst="rect">
            <a:avLst/>
          </a:prstGeom>
          <a:noFill/>
          <a:ln/>
        </p:spPr>
        <p:txBody>
          <a:bodyPr wrap="square" lIns="0" tIns="0" rIns="0" bIns="0" rtlCol="0" anchor="ctr">
            <a:spAutoFit/>
          </a:bodyPr>
          <a:lstStyle/>
          <a:p>
            <a:pPr indent="0" marL="0">
              <a:buNone/>
            </a:pPr>
            <a:r>
              <a:rPr lang="en-US" sz="900" dirty="0">
                <a:solidFill>
                  <a:srgbClr val="F1F5F9"/>
                </a:solidFill>
                <a:latin typeface="Segoe UI" pitchFamily="34" charset="0"/>
                <a:ea typeface="Segoe UI" pitchFamily="34" charset="-122"/>
                <a:cs typeface="Segoe UI" pitchFamily="34" charset="-120"/>
              </a:rPr>
              <a:t>Now that you have VS Code installed, the next step is to install the Java extensions to enable Java development features.</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14016038"/>
          </a:xfrm>
          <a:prstGeom prst="rect">
            <a:avLst/>
          </a:prstGeom>
        </p:spPr>
      </p:pic>
      <p:sp>
        <p:nvSpPr>
          <p:cNvPr id="3" name="Text 0"/>
          <p:cNvSpPr/>
          <p:nvPr/>
        </p:nvSpPr>
        <p:spPr>
          <a:xfrm>
            <a:off x="457200" y="455414"/>
            <a:ext cx="1271671" cy="287536"/>
          </a:xfrm>
          <a:prstGeom prst="rect">
            <a:avLst/>
          </a:prstGeom>
          <a:noFill/>
          <a:ln/>
        </p:spPr>
        <p:txBody>
          <a:bodyPr wrap="none" lIns="0" tIns="0" rIns="0" bIns="0" rtlCol="0" anchor="ctr">
            <a:spAutoFit/>
          </a:bodyPr>
          <a:lstStyle/>
          <a:p>
            <a:pPr indent="0" marL="0">
              <a:buNone/>
            </a:pPr>
            <a:r>
              <a:rPr lang="en-US" sz="2025" b="1" dirty="0">
                <a:solidFill>
                  <a:srgbClr val="F1F5F9"/>
                </a:solidFill>
                <a:latin typeface="Segoe UI" pitchFamily="34" charset="0"/>
                <a:ea typeface="Segoe UI" pitchFamily="34" charset="-122"/>
                <a:cs typeface="Segoe UI" pitchFamily="34" charset="-120"/>
              </a:rPr>
              <a:t>Installing</a:t>
            </a:r>
            <a:endParaRPr lang="en-US" sz="2025" dirty="0"/>
          </a:p>
        </p:txBody>
      </p:sp>
      <p:sp>
        <p:nvSpPr>
          <p:cNvPr id="4" name="Text 1"/>
          <p:cNvSpPr/>
          <p:nvPr/>
        </p:nvSpPr>
        <p:spPr>
          <a:xfrm>
            <a:off x="1657434" y="455414"/>
            <a:ext cx="2087035" cy="287536"/>
          </a:xfrm>
          <a:prstGeom prst="rect">
            <a:avLst/>
          </a:prstGeom>
          <a:noFill/>
          <a:ln/>
        </p:spPr>
        <p:txBody>
          <a:bodyPr wrap="square" lIns="0" tIns="0" rIns="0" bIns="0" rtlCol="0" anchor="ctr">
            <a:spAutoFit/>
          </a:bodyPr>
          <a:lstStyle/>
          <a:p>
            <a:pPr indent="0" marL="0">
              <a:buNone/>
            </a:pPr>
            <a:r>
              <a:rPr lang="en-US" sz="2025" b="1" dirty="0">
                <a:solidFill>
                  <a:srgbClr val="60A5FA"/>
                </a:solidFill>
                <a:latin typeface="Segoe UI" pitchFamily="34" charset="0"/>
                <a:ea typeface="Segoe UI" pitchFamily="34" charset="-122"/>
                <a:cs typeface="Segoe UI" pitchFamily="34" charset="-120"/>
              </a:rPr>
              <a:t>Java Extensions</a:t>
            </a:r>
            <a:endParaRPr lang="en-US" sz="2025" dirty="0"/>
          </a:p>
        </p:txBody>
      </p:sp>
      <p:sp>
        <p:nvSpPr>
          <p:cNvPr id="5" name="Text 2"/>
          <p:cNvSpPr/>
          <p:nvPr/>
        </p:nvSpPr>
        <p:spPr>
          <a:xfrm>
            <a:off x="3673032" y="455414"/>
            <a:ext cx="1500355" cy="287536"/>
          </a:xfrm>
          <a:prstGeom prst="rect">
            <a:avLst/>
          </a:prstGeom>
          <a:noFill/>
          <a:ln/>
        </p:spPr>
        <p:txBody>
          <a:bodyPr wrap="square" lIns="0" tIns="0" rIns="0" bIns="0" rtlCol="0" anchor="ctr">
            <a:spAutoFit/>
          </a:bodyPr>
          <a:lstStyle/>
          <a:p>
            <a:pPr indent="0" marL="0">
              <a:buNone/>
            </a:pPr>
            <a:r>
              <a:rPr lang="en-US" sz="2025" b="1" dirty="0">
                <a:solidFill>
                  <a:srgbClr val="F1F5F9"/>
                </a:solidFill>
                <a:latin typeface="Segoe UI" pitchFamily="34" charset="0"/>
                <a:ea typeface="Segoe UI" pitchFamily="34" charset="-122"/>
                <a:cs typeface="Segoe UI" pitchFamily="34" charset="-120"/>
              </a:rPr>
              <a:t>in VS Code</a:t>
            </a:r>
            <a:endParaRPr lang="en-US" sz="2025" dirty="0"/>
          </a:p>
        </p:txBody>
      </p:sp>
      <p:sp>
        <p:nvSpPr>
          <p:cNvPr id="6" name="Shape 3"/>
          <p:cNvSpPr/>
          <p:nvPr/>
        </p:nvSpPr>
        <p:spPr>
          <a:xfrm>
            <a:off x="457200" y="971550"/>
            <a:ext cx="4000500" cy="3243263"/>
          </a:xfrm>
          <a:prstGeom prst="rect">
            <a:avLst/>
          </a:prstGeom>
          <a:solidFill>
            <a:srgbClr val="FFFFFF">
              <a:alpha val="10000"/>
            </a:srgbClr>
          </a:solidFill>
          <a:ln w="99">
            <a:solidFill>
              <a:srgbClr val="60A5FA">
                <a:alpha val="30000"/>
              </a:srgbClr>
            </a:solidFill>
            <a:prstDash val="solid"/>
          </a:ln>
        </p:spPr>
      </p:sp>
      <p:sp>
        <p:nvSpPr>
          <p:cNvPr id="7" name="Text 4"/>
          <p:cNvSpPr/>
          <p:nvPr/>
        </p:nvSpPr>
        <p:spPr>
          <a:xfrm>
            <a:off x="628650" y="1143000"/>
            <a:ext cx="3729038" cy="228600"/>
          </a:xfrm>
          <a:prstGeom prst="rect">
            <a:avLst/>
          </a:prstGeom>
          <a:noFill/>
          <a:ln/>
        </p:spPr>
        <p:txBody>
          <a:bodyPr wrap="square" lIns="0" tIns="0" rIns="0" bIns="0" rtlCol="0" anchor="ctr">
            <a:spAutoFit/>
          </a:bodyPr>
          <a:lstStyle/>
          <a:p>
            <a:pPr indent="0" marL="0">
              <a:buNone/>
            </a:pPr>
            <a:r>
              <a:rPr lang="en-US" sz="1350" b="1" dirty="0">
                <a:solidFill>
                  <a:srgbClr val="BFDBFE"/>
                </a:solidFill>
                <a:latin typeface="Segoe UI" pitchFamily="34" charset="0"/>
                <a:ea typeface="Segoe UI" pitchFamily="34" charset="-122"/>
                <a:cs typeface="Segoe UI" pitchFamily="34" charset="-120"/>
              </a:rPr>
              <a:t>Why Extensions?</a:t>
            </a:r>
            <a:endParaRPr lang="en-US" sz="1350" dirty="0"/>
          </a:p>
        </p:txBody>
      </p:sp>
      <p:sp>
        <p:nvSpPr>
          <p:cNvPr id="8" name="Text 5"/>
          <p:cNvSpPr/>
          <p:nvPr/>
        </p:nvSpPr>
        <p:spPr>
          <a:xfrm>
            <a:off x="628650" y="1485900"/>
            <a:ext cx="3729038" cy="342900"/>
          </a:xfrm>
          <a:prstGeom prst="rect">
            <a:avLst/>
          </a:prstGeom>
          <a:noFill/>
          <a:ln/>
        </p:spPr>
        <p:txBody>
          <a:bodyPr wrap="square" lIns="0" tIns="0" rIns="0" bIns="0" rtlCol="0" anchor="ctr">
            <a:spAutoFit/>
          </a:bodyPr>
          <a:lstStyle/>
          <a:p>
            <a:pPr indent="0" marL="0">
              <a:buNone/>
            </a:pPr>
            <a:r>
              <a:rPr lang="en-US" sz="900" dirty="0">
                <a:solidFill>
                  <a:srgbClr val="F1F5F9"/>
                </a:solidFill>
                <a:latin typeface="Segoe UI" pitchFamily="34" charset="0"/>
                <a:ea typeface="Segoe UI" pitchFamily="34" charset="-122"/>
                <a:cs typeface="Segoe UI" pitchFamily="34" charset="-120"/>
              </a:rPr>
              <a:t>VS Code is a lightweight editor by default. To enable Java development features, you need to install Java-specific extensions.</a:t>
            </a:r>
            <a:endParaRPr lang="en-US" sz="900" dirty="0"/>
          </a:p>
        </p:txBody>
      </p:sp>
      <p:sp>
        <p:nvSpPr>
          <p:cNvPr id="9" name="Shape 6"/>
          <p:cNvSpPr/>
          <p:nvPr/>
        </p:nvSpPr>
        <p:spPr>
          <a:xfrm>
            <a:off x="628650" y="1943100"/>
            <a:ext cx="3657600" cy="1457325"/>
          </a:xfrm>
          <a:prstGeom prst="rect">
            <a:avLst/>
          </a:prstGeom>
          <a:solidFill>
            <a:srgbClr val="1E3A8A">
              <a:alpha val="30000"/>
            </a:srgbClr>
          </a:solidFill>
          <a:ln/>
        </p:spPr>
      </p:sp>
      <p:sp>
        <p:nvSpPr>
          <p:cNvPr id="10" name="Text 7"/>
          <p:cNvSpPr/>
          <p:nvPr/>
        </p:nvSpPr>
        <p:spPr>
          <a:xfrm>
            <a:off x="742950" y="2057400"/>
            <a:ext cx="3500438" cy="200025"/>
          </a:xfrm>
          <a:prstGeom prst="rect">
            <a:avLst/>
          </a:prstGeom>
          <a:noFill/>
          <a:ln/>
        </p:spPr>
        <p:txBody>
          <a:bodyPr wrap="square" lIns="0" tIns="0" rIns="0" bIns="0" rtlCol="0" anchor="ctr">
            <a:spAutoFit/>
          </a:bodyPr>
          <a:lstStyle/>
          <a:p>
            <a:pPr indent="0" marL="0">
              <a:buNone/>
            </a:pPr>
            <a:r>
              <a:rPr lang="en-US" sz="1125" b="1" dirty="0">
                <a:solidFill>
                  <a:srgbClr val="F1F5F9"/>
                </a:solidFill>
                <a:latin typeface="Segoe UI" pitchFamily="34" charset="0"/>
                <a:ea typeface="Segoe UI" pitchFamily="34" charset="-122"/>
                <a:cs typeface="Segoe UI" pitchFamily="34" charset="-120"/>
              </a:rPr>
              <a:t>Extensions Add:</a:t>
            </a:r>
            <a:endParaRPr lang="en-US" sz="1125" dirty="0"/>
          </a:p>
        </p:txBody>
      </p:sp>
      <p:pic>
        <p:nvPicPr>
          <p:cNvPr id="11" name="Image 1" descr="preencoded.png">    </p:cNvPr>
          <p:cNvPicPr>
            <a:picLocks noChangeAspect="1"/>
          </p:cNvPicPr>
          <p:nvPr/>
        </p:nvPicPr>
        <p:blipFill>
          <a:blip r:embed="rId2"/>
          <a:stretch>
            <a:fillRect/>
          </a:stretch>
        </p:blipFill>
        <p:spPr>
          <a:xfrm>
            <a:off x="857250" y="2343150"/>
            <a:ext cx="114300" cy="114300"/>
          </a:xfrm>
          <a:prstGeom prst="rect">
            <a:avLst/>
          </a:prstGeom>
        </p:spPr>
      </p:pic>
      <p:sp>
        <p:nvSpPr>
          <p:cNvPr id="12" name="Text 8"/>
          <p:cNvSpPr/>
          <p:nvPr/>
        </p:nvSpPr>
        <p:spPr>
          <a:xfrm>
            <a:off x="1028700" y="2314575"/>
            <a:ext cx="2422624" cy="171450"/>
          </a:xfrm>
          <a:prstGeom prst="rect">
            <a:avLst/>
          </a:prstGeom>
          <a:noFill/>
          <a:ln/>
        </p:spPr>
        <p:txBody>
          <a:bodyPr wrap="square" lIns="0" tIns="0" rIns="0" bIns="0" rtlCol="0" anchor="ctr">
            <a:spAutoFit/>
          </a:bodyPr>
          <a:lstStyle/>
          <a:p>
            <a:pPr algn="l" indent="0" marL="0">
              <a:buNone/>
            </a:pPr>
            <a:r>
              <a:rPr lang="en-US" sz="900" dirty="0">
                <a:solidFill>
                  <a:srgbClr val="F1F5F9"/>
                </a:solidFill>
                <a:latin typeface="Segoe UI" pitchFamily="34" charset="0"/>
                <a:ea typeface="Segoe UI" pitchFamily="34" charset="-122"/>
                <a:cs typeface="Segoe UI" pitchFamily="34" charset="-120"/>
              </a:rPr>
              <a:t>Java language support and syntax highlighting</a:t>
            </a:r>
            <a:endParaRPr lang="en-US" sz="900" dirty="0"/>
          </a:p>
        </p:txBody>
      </p:sp>
      <p:pic>
        <p:nvPicPr>
          <p:cNvPr id="13" name="Image 2" descr="preencoded.png">    </p:cNvPr>
          <p:cNvPicPr>
            <a:picLocks noChangeAspect="1"/>
          </p:cNvPicPr>
          <p:nvPr/>
        </p:nvPicPr>
        <p:blipFill>
          <a:blip r:embed="rId3"/>
          <a:stretch>
            <a:fillRect/>
          </a:stretch>
        </p:blipFill>
        <p:spPr>
          <a:xfrm>
            <a:off x="857250" y="2543175"/>
            <a:ext cx="114300" cy="114300"/>
          </a:xfrm>
          <a:prstGeom prst="rect">
            <a:avLst/>
          </a:prstGeom>
        </p:spPr>
      </p:pic>
      <p:sp>
        <p:nvSpPr>
          <p:cNvPr id="14" name="Text 9"/>
          <p:cNvSpPr/>
          <p:nvPr/>
        </p:nvSpPr>
        <p:spPr>
          <a:xfrm>
            <a:off x="1028700" y="2514600"/>
            <a:ext cx="1774329" cy="171450"/>
          </a:xfrm>
          <a:prstGeom prst="rect">
            <a:avLst/>
          </a:prstGeom>
          <a:noFill/>
          <a:ln/>
        </p:spPr>
        <p:txBody>
          <a:bodyPr wrap="square" lIns="0" tIns="0" rIns="0" bIns="0" rtlCol="0" anchor="ctr">
            <a:spAutoFit/>
          </a:bodyPr>
          <a:lstStyle/>
          <a:p>
            <a:pPr algn="l" indent="0" marL="0">
              <a:buNone/>
            </a:pPr>
            <a:r>
              <a:rPr lang="en-US" sz="900" dirty="0">
                <a:solidFill>
                  <a:srgbClr val="F1F5F9"/>
                </a:solidFill>
                <a:latin typeface="Segoe UI" pitchFamily="34" charset="0"/>
                <a:ea typeface="Segoe UI" pitchFamily="34" charset="-122"/>
                <a:cs typeface="Segoe UI" pitchFamily="34" charset="-120"/>
              </a:rPr>
              <a:t>Code completion and IntelliSense</a:t>
            </a:r>
            <a:endParaRPr lang="en-US" sz="900" dirty="0"/>
          </a:p>
        </p:txBody>
      </p:sp>
      <p:pic>
        <p:nvPicPr>
          <p:cNvPr id="15" name="Image 3" descr="preencoded.png">    </p:cNvPr>
          <p:cNvPicPr>
            <a:picLocks noChangeAspect="1"/>
          </p:cNvPicPr>
          <p:nvPr/>
        </p:nvPicPr>
        <p:blipFill>
          <a:blip r:embed="rId4"/>
          <a:stretch>
            <a:fillRect/>
          </a:stretch>
        </p:blipFill>
        <p:spPr>
          <a:xfrm>
            <a:off x="857250" y="2743200"/>
            <a:ext cx="114300" cy="114300"/>
          </a:xfrm>
          <a:prstGeom prst="rect">
            <a:avLst/>
          </a:prstGeom>
        </p:spPr>
      </p:pic>
      <p:sp>
        <p:nvSpPr>
          <p:cNvPr id="16" name="Text 10"/>
          <p:cNvSpPr/>
          <p:nvPr/>
        </p:nvSpPr>
        <p:spPr>
          <a:xfrm>
            <a:off x="1028700" y="2714625"/>
            <a:ext cx="1221581" cy="171450"/>
          </a:xfrm>
          <a:prstGeom prst="rect">
            <a:avLst/>
          </a:prstGeom>
          <a:noFill/>
          <a:ln/>
        </p:spPr>
        <p:txBody>
          <a:bodyPr wrap="none" lIns="0" tIns="0" rIns="0" bIns="0" rtlCol="0" anchor="ctr">
            <a:spAutoFit/>
          </a:bodyPr>
          <a:lstStyle/>
          <a:p>
            <a:pPr algn="l" indent="0" marL="0">
              <a:buNone/>
            </a:pPr>
            <a:r>
              <a:rPr lang="en-US" sz="900" dirty="0">
                <a:solidFill>
                  <a:srgbClr val="F1F5F9"/>
                </a:solidFill>
                <a:latin typeface="Segoe UI" pitchFamily="34" charset="0"/>
                <a:ea typeface="Segoe UI" pitchFamily="34" charset="-122"/>
                <a:cs typeface="Segoe UI" pitchFamily="34" charset="-120"/>
              </a:rPr>
              <a:t>Debugging capabilities</a:t>
            </a:r>
            <a:endParaRPr lang="en-US" sz="900" dirty="0"/>
          </a:p>
        </p:txBody>
      </p:sp>
      <p:pic>
        <p:nvPicPr>
          <p:cNvPr id="17" name="Image 4" descr="preencoded.png">    </p:cNvPr>
          <p:cNvPicPr>
            <a:picLocks noChangeAspect="1"/>
          </p:cNvPicPr>
          <p:nvPr/>
        </p:nvPicPr>
        <p:blipFill>
          <a:blip r:embed="rId5"/>
          <a:stretch>
            <a:fillRect/>
          </a:stretch>
        </p:blipFill>
        <p:spPr>
          <a:xfrm>
            <a:off x="857250" y="2943225"/>
            <a:ext cx="114300" cy="114300"/>
          </a:xfrm>
          <a:prstGeom prst="rect">
            <a:avLst/>
          </a:prstGeom>
        </p:spPr>
      </p:pic>
      <p:sp>
        <p:nvSpPr>
          <p:cNvPr id="18" name="Text 11"/>
          <p:cNvSpPr/>
          <p:nvPr/>
        </p:nvSpPr>
        <p:spPr>
          <a:xfrm>
            <a:off x="1028700" y="2914650"/>
            <a:ext cx="1399282" cy="171450"/>
          </a:xfrm>
          <a:prstGeom prst="rect">
            <a:avLst/>
          </a:prstGeom>
          <a:noFill/>
          <a:ln/>
        </p:spPr>
        <p:txBody>
          <a:bodyPr wrap="square" lIns="0" tIns="0" rIns="0" bIns="0" rtlCol="0" anchor="ctr">
            <a:spAutoFit/>
          </a:bodyPr>
          <a:lstStyle/>
          <a:p>
            <a:pPr algn="l" indent="0" marL="0">
              <a:buNone/>
            </a:pPr>
            <a:r>
              <a:rPr lang="en-US" sz="900" dirty="0">
                <a:solidFill>
                  <a:srgbClr val="F1F5F9"/>
                </a:solidFill>
                <a:latin typeface="Segoe UI" pitchFamily="34" charset="0"/>
                <a:ea typeface="Segoe UI" pitchFamily="34" charset="-122"/>
                <a:cs typeface="Segoe UI" pitchFamily="34" charset="-120"/>
              </a:rPr>
              <a:t>Project management tools</a:t>
            </a:r>
            <a:endParaRPr lang="en-US" sz="900" dirty="0"/>
          </a:p>
        </p:txBody>
      </p:sp>
      <p:pic>
        <p:nvPicPr>
          <p:cNvPr id="19" name="Image 5" descr="preencoded.png">    </p:cNvPr>
          <p:cNvPicPr>
            <a:picLocks noChangeAspect="1"/>
          </p:cNvPicPr>
          <p:nvPr/>
        </p:nvPicPr>
        <p:blipFill>
          <a:blip r:embed="rId6"/>
          <a:stretch>
            <a:fillRect/>
          </a:stretch>
        </p:blipFill>
        <p:spPr>
          <a:xfrm>
            <a:off x="857250" y="3143250"/>
            <a:ext cx="114300" cy="114300"/>
          </a:xfrm>
          <a:prstGeom prst="rect">
            <a:avLst/>
          </a:prstGeom>
        </p:spPr>
      </p:pic>
      <p:sp>
        <p:nvSpPr>
          <p:cNvPr id="20" name="Text 12"/>
          <p:cNvSpPr/>
          <p:nvPr/>
        </p:nvSpPr>
        <p:spPr>
          <a:xfrm>
            <a:off x="1028700" y="3114675"/>
            <a:ext cx="1564370" cy="171450"/>
          </a:xfrm>
          <a:prstGeom prst="rect">
            <a:avLst/>
          </a:prstGeom>
          <a:noFill/>
          <a:ln/>
        </p:spPr>
        <p:txBody>
          <a:bodyPr wrap="square" lIns="0" tIns="0" rIns="0" bIns="0" rtlCol="0" anchor="ctr">
            <a:spAutoFit/>
          </a:bodyPr>
          <a:lstStyle/>
          <a:p>
            <a:pPr algn="l" indent="0" marL="0">
              <a:buNone/>
            </a:pPr>
            <a:r>
              <a:rPr lang="en-US" sz="900" dirty="0">
                <a:solidFill>
                  <a:srgbClr val="F1F5F9"/>
                </a:solidFill>
                <a:latin typeface="Segoe UI" pitchFamily="34" charset="0"/>
                <a:ea typeface="Segoe UI" pitchFamily="34" charset="-122"/>
                <a:cs typeface="Segoe UI" pitchFamily="34" charset="-120"/>
              </a:rPr>
              <a:t>Testing framework integration</a:t>
            </a:r>
            <a:endParaRPr lang="en-US" sz="900" dirty="0"/>
          </a:p>
        </p:txBody>
      </p:sp>
      <p:sp>
        <p:nvSpPr>
          <p:cNvPr id="21" name="Shape 13"/>
          <p:cNvSpPr/>
          <p:nvPr/>
        </p:nvSpPr>
        <p:spPr>
          <a:xfrm>
            <a:off x="628650" y="3514725"/>
            <a:ext cx="3657600" cy="514350"/>
          </a:xfrm>
          <a:prstGeom prst="rect">
            <a:avLst/>
          </a:prstGeom>
          <a:solidFill>
            <a:srgbClr val="78350F">
              <a:alpha val="20000"/>
            </a:srgbClr>
          </a:solidFill>
          <a:ln/>
        </p:spPr>
      </p:sp>
      <p:pic>
        <p:nvPicPr>
          <p:cNvPr id="22" name="Image 6" descr="preencoded.png">    </p:cNvPr>
          <p:cNvPicPr>
            <a:picLocks noChangeAspect="1"/>
          </p:cNvPicPr>
          <p:nvPr/>
        </p:nvPicPr>
        <p:blipFill>
          <a:blip r:embed="rId7"/>
          <a:stretch>
            <a:fillRect/>
          </a:stretch>
        </p:blipFill>
        <p:spPr>
          <a:xfrm>
            <a:off x="742950" y="3686175"/>
            <a:ext cx="128588" cy="171450"/>
          </a:xfrm>
          <a:prstGeom prst="rect">
            <a:avLst/>
          </a:prstGeom>
        </p:spPr>
      </p:pic>
      <p:sp>
        <p:nvSpPr>
          <p:cNvPr id="23" name="Text 14"/>
          <p:cNvSpPr/>
          <p:nvPr/>
        </p:nvSpPr>
        <p:spPr>
          <a:xfrm>
            <a:off x="985838" y="3629025"/>
            <a:ext cx="3257550" cy="285750"/>
          </a:xfrm>
          <a:prstGeom prst="rect">
            <a:avLst/>
          </a:prstGeom>
          <a:noFill/>
          <a:ln/>
        </p:spPr>
        <p:txBody>
          <a:bodyPr wrap="square" lIns="0" tIns="0" rIns="0" bIns="0" rtlCol="0" anchor="ctr">
            <a:spAutoFit/>
          </a:bodyPr>
          <a:lstStyle/>
          <a:p>
            <a:pPr indent="0" marL="0">
              <a:buNone/>
            </a:pPr>
            <a:r>
              <a:rPr lang="en-US" sz="788" dirty="0">
                <a:solidFill>
                  <a:srgbClr val="F1F5F9"/>
                </a:solidFill>
                <a:latin typeface="Segoe UI" pitchFamily="34" charset="0"/>
                <a:ea typeface="Segoe UI" pitchFamily="34" charset="-122"/>
                <a:cs typeface="Segoe UI" pitchFamily="34" charset="-120"/>
              </a:rPr>
              <a:t>With the right extensions, VS Code transforms from a simple text editor into a powerful Java IDE!</a:t>
            </a:r>
            <a:endParaRPr lang="en-US" sz="788" dirty="0"/>
          </a:p>
        </p:txBody>
      </p:sp>
      <p:sp>
        <p:nvSpPr>
          <p:cNvPr id="24" name="Shape 15"/>
          <p:cNvSpPr/>
          <p:nvPr/>
        </p:nvSpPr>
        <p:spPr>
          <a:xfrm>
            <a:off x="457200" y="4371975"/>
            <a:ext cx="4000500" cy="3557588"/>
          </a:xfrm>
          <a:prstGeom prst="rect">
            <a:avLst/>
          </a:prstGeom>
          <a:solidFill>
            <a:srgbClr val="FFFFFF">
              <a:alpha val="10000"/>
            </a:srgbClr>
          </a:solidFill>
          <a:ln w="99">
            <a:solidFill>
              <a:srgbClr val="60A5FA">
                <a:alpha val="30000"/>
              </a:srgbClr>
            </a:solidFill>
            <a:prstDash val="solid"/>
          </a:ln>
        </p:spPr>
      </p:sp>
      <p:sp>
        <p:nvSpPr>
          <p:cNvPr id="25" name="Text 16"/>
          <p:cNvSpPr/>
          <p:nvPr/>
        </p:nvSpPr>
        <p:spPr>
          <a:xfrm>
            <a:off x="628650" y="4543425"/>
            <a:ext cx="3729038" cy="228600"/>
          </a:xfrm>
          <a:prstGeom prst="rect">
            <a:avLst/>
          </a:prstGeom>
          <a:noFill/>
          <a:ln/>
        </p:spPr>
        <p:txBody>
          <a:bodyPr wrap="square" lIns="0" tIns="0" rIns="0" bIns="0" rtlCol="0" anchor="ctr">
            <a:spAutoFit/>
          </a:bodyPr>
          <a:lstStyle/>
          <a:p>
            <a:pPr indent="0" marL="0">
              <a:buNone/>
            </a:pPr>
            <a:r>
              <a:rPr lang="en-US" sz="1350" b="1" dirty="0">
                <a:solidFill>
                  <a:srgbClr val="BFDBFE"/>
                </a:solidFill>
                <a:latin typeface="Segoe UI" pitchFamily="34" charset="0"/>
                <a:ea typeface="Segoe UI" pitchFamily="34" charset="-122"/>
                <a:cs typeface="Segoe UI" pitchFamily="34" charset="-120"/>
              </a:rPr>
              <a:t>How to Install Extensions</a:t>
            </a:r>
            <a:endParaRPr lang="en-US" sz="1350" dirty="0"/>
          </a:p>
        </p:txBody>
      </p:sp>
      <p:sp>
        <p:nvSpPr>
          <p:cNvPr id="26" name="Shape 17"/>
          <p:cNvSpPr/>
          <p:nvPr/>
        </p:nvSpPr>
        <p:spPr>
          <a:xfrm>
            <a:off x="628650" y="4886325"/>
            <a:ext cx="3657600" cy="1028700"/>
          </a:xfrm>
          <a:prstGeom prst="rect">
            <a:avLst/>
          </a:prstGeom>
          <a:solidFill>
            <a:srgbClr val="1E3A8A">
              <a:alpha val="30000"/>
            </a:srgbClr>
          </a:solidFill>
          <a:ln/>
        </p:spPr>
      </p:sp>
      <p:sp>
        <p:nvSpPr>
          <p:cNvPr id="27" name="Shape 18"/>
          <p:cNvSpPr/>
          <p:nvPr/>
        </p:nvSpPr>
        <p:spPr>
          <a:xfrm>
            <a:off x="628650" y="4886325"/>
            <a:ext cx="28575" cy="1028700"/>
          </a:xfrm>
          <a:prstGeom prst="rect">
            <a:avLst/>
          </a:prstGeom>
          <a:solidFill>
            <a:srgbClr val="60A5FA"/>
          </a:solidFill>
          <a:ln/>
        </p:spPr>
      </p:sp>
      <p:sp>
        <p:nvSpPr>
          <p:cNvPr id="28" name="Text 19"/>
          <p:cNvSpPr/>
          <p:nvPr/>
        </p:nvSpPr>
        <p:spPr>
          <a:xfrm>
            <a:off x="742950" y="4972050"/>
            <a:ext cx="3614738" cy="200025"/>
          </a:xfrm>
          <a:prstGeom prst="rect">
            <a:avLst/>
          </a:prstGeom>
          <a:noFill/>
          <a:ln/>
        </p:spPr>
        <p:txBody>
          <a:bodyPr wrap="square" lIns="0" tIns="0" rIns="0" bIns="0" rtlCol="0" anchor="ctr">
            <a:spAutoFit/>
          </a:bodyPr>
          <a:lstStyle/>
          <a:p>
            <a:pPr indent="0" marL="0">
              <a:buNone/>
            </a:pPr>
            <a:r>
              <a:rPr lang="en-US" sz="1125" b="1" dirty="0">
                <a:solidFill>
                  <a:srgbClr val="F1F5F9"/>
                </a:solidFill>
                <a:latin typeface="Segoe UI" pitchFamily="34" charset="0"/>
                <a:ea typeface="Segoe UI" pitchFamily="34" charset="-122"/>
                <a:cs typeface="Segoe UI" pitchFamily="34" charset="-120"/>
              </a:rPr>
              <a:t>Method 1: Extensions View</a:t>
            </a:r>
            <a:endParaRPr lang="en-US" sz="1125" dirty="0"/>
          </a:p>
        </p:txBody>
      </p:sp>
      <p:sp>
        <p:nvSpPr>
          <p:cNvPr id="29" name="Text 20"/>
          <p:cNvSpPr/>
          <p:nvPr/>
        </p:nvSpPr>
        <p:spPr>
          <a:xfrm>
            <a:off x="857250" y="5200650"/>
            <a:ext cx="3500438" cy="285750"/>
          </a:xfrm>
          <a:prstGeom prst="rect">
            <a:avLst/>
          </a:prstGeom>
          <a:noFill/>
          <a:ln/>
        </p:spPr>
        <p:txBody>
          <a:bodyPr wrap="square" lIns="0" tIns="0" rIns="0" bIns="0" rtlCol="0" anchor="ctr">
            <a:spAutoFit/>
          </a:bodyPr>
          <a:lstStyle/>
          <a:p>
            <a:pPr algn="l" indent="0" marL="0">
              <a:buNone/>
            </a:pPr>
            <a:r>
              <a:rPr lang="en-US" sz="788" dirty="0">
                <a:solidFill>
                  <a:srgbClr val="F1F5F9"/>
                </a:solidFill>
                <a:latin typeface="Segoe UI" pitchFamily="34" charset="0"/>
                <a:ea typeface="Segoe UI" pitchFamily="34" charset="-122"/>
                <a:cs typeface="Segoe UI" pitchFamily="34" charset="-120"/>
              </a:rPr>
              <a:t>Click on the Extensions icon in the Activity Bar (or press Ctrl+Shift+X / Cmd+Shift+X)</a:t>
            </a:r>
            <a:endParaRPr lang="en-US" sz="788" dirty="0"/>
          </a:p>
        </p:txBody>
      </p:sp>
      <p:sp>
        <p:nvSpPr>
          <p:cNvPr id="30" name="Text 21"/>
          <p:cNvSpPr/>
          <p:nvPr/>
        </p:nvSpPr>
        <p:spPr>
          <a:xfrm>
            <a:off x="857250" y="5514975"/>
            <a:ext cx="3500438" cy="142875"/>
          </a:xfrm>
          <a:prstGeom prst="rect">
            <a:avLst/>
          </a:prstGeom>
          <a:noFill/>
          <a:ln/>
        </p:spPr>
        <p:txBody>
          <a:bodyPr wrap="square" lIns="0" tIns="0" rIns="0" bIns="0" rtlCol="0" anchor="ctr">
            <a:spAutoFit/>
          </a:bodyPr>
          <a:lstStyle/>
          <a:p>
            <a:pPr algn="l" indent="0" marL="0">
              <a:buNone/>
            </a:pPr>
            <a:r>
              <a:rPr lang="en-US" sz="788" dirty="0">
                <a:solidFill>
                  <a:srgbClr val="F1F5F9"/>
                </a:solidFill>
                <a:latin typeface="Segoe UI" pitchFamily="34" charset="0"/>
                <a:ea typeface="Segoe UI" pitchFamily="34" charset="-122"/>
                <a:cs typeface="Segoe UI" pitchFamily="34" charset="-120"/>
              </a:rPr>
              <a:t>Search for the extension name</a:t>
            </a:r>
            <a:endParaRPr lang="en-US" sz="788" dirty="0"/>
          </a:p>
        </p:txBody>
      </p:sp>
      <p:sp>
        <p:nvSpPr>
          <p:cNvPr id="31" name="Text 22"/>
          <p:cNvSpPr/>
          <p:nvPr/>
        </p:nvSpPr>
        <p:spPr>
          <a:xfrm>
            <a:off x="857250" y="5686425"/>
            <a:ext cx="3500438" cy="142875"/>
          </a:xfrm>
          <a:prstGeom prst="rect">
            <a:avLst/>
          </a:prstGeom>
          <a:noFill/>
          <a:ln/>
        </p:spPr>
        <p:txBody>
          <a:bodyPr wrap="square" lIns="0" tIns="0" rIns="0" bIns="0" rtlCol="0" anchor="ctr">
            <a:spAutoFit/>
          </a:bodyPr>
          <a:lstStyle/>
          <a:p>
            <a:pPr algn="l" indent="0" marL="0">
              <a:buNone/>
            </a:pPr>
            <a:r>
              <a:rPr lang="en-US" sz="788" dirty="0">
                <a:solidFill>
                  <a:srgbClr val="F1F5F9"/>
                </a:solidFill>
                <a:latin typeface="Segoe UI" pitchFamily="34" charset="0"/>
                <a:ea typeface="Segoe UI" pitchFamily="34" charset="-122"/>
                <a:cs typeface="Segoe UI" pitchFamily="34" charset="-120"/>
              </a:rPr>
              <a:t>Click the "Install" button</a:t>
            </a:r>
            <a:endParaRPr lang="en-US" sz="788" dirty="0"/>
          </a:p>
        </p:txBody>
      </p:sp>
      <p:sp>
        <p:nvSpPr>
          <p:cNvPr id="32" name="Shape 23"/>
          <p:cNvSpPr/>
          <p:nvPr/>
        </p:nvSpPr>
        <p:spPr>
          <a:xfrm>
            <a:off x="628650" y="6029325"/>
            <a:ext cx="3657600" cy="885825"/>
          </a:xfrm>
          <a:prstGeom prst="rect">
            <a:avLst/>
          </a:prstGeom>
          <a:solidFill>
            <a:srgbClr val="1E3A8A">
              <a:alpha val="30000"/>
            </a:srgbClr>
          </a:solidFill>
          <a:ln/>
        </p:spPr>
      </p:sp>
      <p:sp>
        <p:nvSpPr>
          <p:cNvPr id="33" name="Shape 24"/>
          <p:cNvSpPr/>
          <p:nvPr/>
        </p:nvSpPr>
        <p:spPr>
          <a:xfrm>
            <a:off x="628650" y="6029325"/>
            <a:ext cx="28575" cy="885825"/>
          </a:xfrm>
          <a:prstGeom prst="rect">
            <a:avLst/>
          </a:prstGeom>
          <a:solidFill>
            <a:srgbClr val="60A5FA"/>
          </a:solidFill>
          <a:ln/>
        </p:spPr>
      </p:sp>
      <p:sp>
        <p:nvSpPr>
          <p:cNvPr id="34" name="Text 25"/>
          <p:cNvSpPr/>
          <p:nvPr/>
        </p:nvSpPr>
        <p:spPr>
          <a:xfrm>
            <a:off x="742950" y="6115050"/>
            <a:ext cx="3614738" cy="200025"/>
          </a:xfrm>
          <a:prstGeom prst="rect">
            <a:avLst/>
          </a:prstGeom>
          <a:noFill/>
          <a:ln/>
        </p:spPr>
        <p:txBody>
          <a:bodyPr wrap="square" lIns="0" tIns="0" rIns="0" bIns="0" rtlCol="0" anchor="ctr">
            <a:spAutoFit/>
          </a:bodyPr>
          <a:lstStyle/>
          <a:p>
            <a:pPr indent="0" marL="0">
              <a:buNone/>
            </a:pPr>
            <a:r>
              <a:rPr lang="en-US" sz="1125" b="1" dirty="0">
                <a:solidFill>
                  <a:srgbClr val="F1F5F9"/>
                </a:solidFill>
                <a:latin typeface="Segoe UI" pitchFamily="34" charset="0"/>
                <a:ea typeface="Segoe UI" pitchFamily="34" charset="-122"/>
                <a:cs typeface="Segoe UI" pitchFamily="34" charset="-120"/>
              </a:rPr>
              <a:t>Method 2: Command Palette</a:t>
            </a:r>
            <a:endParaRPr lang="en-US" sz="1125" dirty="0"/>
          </a:p>
        </p:txBody>
      </p:sp>
      <p:sp>
        <p:nvSpPr>
          <p:cNvPr id="35" name="Text 26"/>
          <p:cNvSpPr/>
          <p:nvPr/>
        </p:nvSpPr>
        <p:spPr>
          <a:xfrm>
            <a:off x="857250" y="6343650"/>
            <a:ext cx="3500438" cy="142875"/>
          </a:xfrm>
          <a:prstGeom prst="rect">
            <a:avLst/>
          </a:prstGeom>
          <a:noFill/>
          <a:ln/>
        </p:spPr>
        <p:txBody>
          <a:bodyPr wrap="square" lIns="0" tIns="0" rIns="0" bIns="0" rtlCol="0" anchor="ctr">
            <a:spAutoFit/>
          </a:bodyPr>
          <a:lstStyle/>
          <a:p>
            <a:pPr algn="l" indent="0" marL="0">
              <a:buNone/>
            </a:pPr>
            <a:r>
              <a:rPr lang="en-US" sz="788" dirty="0">
                <a:solidFill>
                  <a:srgbClr val="F1F5F9"/>
                </a:solidFill>
                <a:latin typeface="Segoe UI" pitchFamily="34" charset="0"/>
                <a:ea typeface="Segoe UI" pitchFamily="34" charset="-122"/>
                <a:cs typeface="Segoe UI" pitchFamily="34" charset="-120"/>
              </a:rPr>
              <a:t>Open Command Palette (Ctrl+Shift+P / Cmd+Shift+P)</a:t>
            </a:r>
            <a:endParaRPr lang="en-US" sz="788" dirty="0"/>
          </a:p>
        </p:txBody>
      </p:sp>
      <p:sp>
        <p:nvSpPr>
          <p:cNvPr id="36" name="Text 27"/>
          <p:cNvSpPr/>
          <p:nvPr/>
        </p:nvSpPr>
        <p:spPr>
          <a:xfrm>
            <a:off x="857250" y="6515100"/>
            <a:ext cx="3500438" cy="142875"/>
          </a:xfrm>
          <a:prstGeom prst="rect">
            <a:avLst/>
          </a:prstGeom>
          <a:noFill/>
          <a:ln/>
        </p:spPr>
        <p:txBody>
          <a:bodyPr wrap="square" lIns="0" tIns="0" rIns="0" bIns="0" rtlCol="0" anchor="ctr">
            <a:spAutoFit/>
          </a:bodyPr>
          <a:lstStyle/>
          <a:p>
            <a:pPr algn="l" indent="0" marL="0">
              <a:buNone/>
            </a:pPr>
            <a:r>
              <a:rPr lang="en-US" sz="788" dirty="0">
                <a:solidFill>
                  <a:srgbClr val="F1F5F9"/>
                </a:solidFill>
                <a:latin typeface="Segoe UI" pitchFamily="34" charset="0"/>
                <a:ea typeface="Segoe UI" pitchFamily="34" charset="-122"/>
                <a:cs typeface="Segoe UI" pitchFamily="34" charset="-120"/>
              </a:rPr>
              <a:t>Type "Extensions: Install Extensions"</a:t>
            </a:r>
            <a:endParaRPr lang="en-US" sz="788" dirty="0"/>
          </a:p>
        </p:txBody>
      </p:sp>
      <p:sp>
        <p:nvSpPr>
          <p:cNvPr id="37" name="Text 28"/>
          <p:cNvSpPr/>
          <p:nvPr/>
        </p:nvSpPr>
        <p:spPr>
          <a:xfrm>
            <a:off x="857250" y="6686550"/>
            <a:ext cx="3500438" cy="142875"/>
          </a:xfrm>
          <a:prstGeom prst="rect">
            <a:avLst/>
          </a:prstGeom>
          <a:noFill/>
          <a:ln/>
        </p:spPr>
        <p:txBody>
          <a:bodyPr wrap="square" lIns="0" tIns="0" rIns="0" bIns="0" rtlCol="0" anchor="ctr">
            <a:spAutoFit/>
          </a:bodyPr>
          <a:lstStyle/>
          <a:p>
            <a:pPr algn="l" indent="0" marL="0">
              <a:buNone/>
            </a:pPr>
            <a:r>
              <a:rPr lang="en-US" sz="788" dirty="0">
                <a:solidFill>
                  <a:srgbClr val="F1F5F9"/>
                </a:solidFill>
                <a:latin typeface="Segoe UI" pitchFamily="34" charset="0"/>
                <a:ea typeface="Segoe UI" pitchFamily="34" charset="-122"/>
                <a:cs typeface="Segoe UI" pitchFamily="34" charset="-120"/>
              </a:rPr>
              <a:t>Search and install desired extensions</a:t>
            </a:r>
            <a:endParaRPr lang="en-US" sz="788" dirty="0"/>
          </a:p>
        </p:txBody>
      </p:sp>
      <p:sp>
        <p:nvSpPr>
          <p:cNvPr id="38" name="Shape 29"/>
          <p:cNvSpPr/>
          <p:nvPr/>
        </p:nvSpPr>
        <p:spPr>
          <a:xfrm>
            <a:off x="628650" y="7029450"/>
            <a:ext cx="3657600" cy="714375"/>
          </a:xfrm>
          <a:prstGeom prst="rect">
            <a:avLst/>
          </a:prstGeom>
          <a:solidFill>
            <a:srgbClr val="1E3A8A">
              <a:alpha val="30000"/>
            </a:srgbClr>
          </a:solidFill>
          <a:ln/>
        </p:spPr>
      </p:sp>
      <p:sp>
        <p:nvSpPr>
          <p:cNvPr id="39" name="Shape 30"/>
          <p:cNvSpPr/>
          <p:nvPr/>
        </p:nvSpPr>
        <p:spPr>
          <a:xfrm>
            <a:off x="628650" y="7029450"/>
            <a:ext cx="28575" cy="714375"/>
          </a:xfrm>
          <a:prstGeom prst="rect">
            <a:avLst/>
          </a:prstGeom>
          <a:solidFill>
            <a:srgbClr val="60A5FA"/>
          </a:solidFill>
          <a:ln/>
        </p:spPr>
      </p:sp>
      <p:sp>
        <p:nvSpPr>
          <p:cNvPr id="40" name="Text 31"/>
          <p:cNvSpPr/>
          <p:nvPr/>
        </p:nvSpPr>
        <p:spPr>
          <a:xfrm>
            <a:off x="742950" y="7115175"/>
            <a:ext cx="3614738" cy="200025"/>
          </a:xfrm>
          <a:prstGeom prst="rect">
            <a:avLst/>
          </a:prstGeom>
          <a:noFill/>
          <a:ln/>
        </p:spPr>
        <p:txBody>
          <a:bodyPr wrap="square" lIns="0" tIns="0" rIns="0" bIns="0" rtlCol="0" anchor="ctr">
            <a:spAutoFit/>
          </a:bodyPr>
          <a:lstStyle/>
          <a:p>
            <a:pPr indent="0" marL="0">
              <a:buNone/>
            </a:pPr>
            <a:r>
              <a:rPr lang="en-US" sz="1125" b="1" dirty="0">
                <a:solidFill>
                  <a:srgbClr val="F1F5F9"/>
                </a:solidFill>
                <a:latin typeface="Segoe UI" pitchFamily="34" charset="0"/>
                <a:ea typeface="Segoe UI" pitchFamily="34" charset="-122"/>
                <a:cs typeface="Segoe UI" pitchFamily="34" charset="-120"/>
              </a:rPr>
              <a:t>Method 3: Extension Pack</a:t>
            </a:r>
            <a:endParaRPr lang="en-US" sz="1125" dirty="0"/>
          </a:p>
        </p:txBody>
      </p:sp>
      <p:sp>
        <p:nvSpPr>
          <p:cNvPr id="41" name="Text 32"/>
          <p:cNvSpPr/>
          <p:nvPr/>
        </p:nvSpPr>
        <p:spPr>
          <a:xfrm>
            <a:off x="857250" y="7343775"/>
            <a:ext cx="3500438" cy="142875"/>
          </a:xfrm>
          <a:prstGeom prst="rect">
            <a:avLst/>
          </a:prstGeom>
          <a:noFill/>
          <a:ln/>
        </p:spPr>
        <p:txBody>
          <a:bodyPr wrap="square" lIns="0" tIns="0" rIns="0" bIns="0" rtlCol="0" anchor="ctr">
            <a:spAutoFit/>
          </a:bodyPr>
          <a:lstStyle/>
          <a:p>
            <a:pPr algn="l" indent="0" marL="0">
              <a:buNone/>
            </a:pPr>
            <a:r>
              <a:rPr lang="en-US" sz="788" dirty="0">
                <a:solidFill>
                  <a:srgbClr val="F1F5F9"/>
                </a:solidFill>
                <a:latin typeface="Segoe UI" pitchFamily="34" charset="0"/>
                <a:ea typeface="Segoe UI" pitchFamily="34" charset="-122"/>
                <a:cs typeface="Segoe UI" pitchFamily="34" charset="-120"/>
              </a:rPr>
              <a:t>Install "Extension Pack for Java" which includes multiple Java extensions</a:t>
            </a:r>
            <a:endParaRPr lang="en-US" sz="788" dirty="0"/>
          </a:p>
        </p:txBody>
      </p:sp>
      <p:sp>
        <p:nvSpPr>
          <p:cNvPr id="42" name="Text 33"/>
          <p:cNvSpPr/>
          <p:nvPr/>
        </p:nvSpPr>
        <p:spPr>
          <a:xfrm>
            <a:off x="857250" y="7515225"/>
            <a:ext cx="3500438" cy="142875"/>
          </a:xfrm>
          <a:prstGeom prst="rect">
            <a:avLst/>
          </a:prstGeom>
          <a:noFill/>
          <a:ln/>
        </p:spPr>
        <p:txBody>
          <a:bodyPr wrap="square" lIns="0" tIns="0" rIns="0" bIns="0" rtlCol="0" anchor="ctr">
            <a:spAutoFit/>
          </a:bodyPr>
          <a:lstStyle/>
          <a:p>
            <a:pPr algn="l" indent="0" marL="0">
              <a:buNone/>
            </a:pPr>
            <a:r>
              <a:rPr lang="en-US" sz="788" dirty="0">
                <a:solidFill>
                  <a:srgbClr val="F1F5F9"/>
                </a:solidFill>
                <a:latin typeface="Segoe UI" pitchFamily="34" charset="0"/>
                <a:ea typeface="Segoe UI" pitchFamily="34" charset="-122"/>
                <a:cs typeface="Segoe UI" pitchFamily="34" charset="-120"/>
              </a:rPr>
              <a:t>This is the recommended approach for beginners</a:t>
            </a:r>
            <a:endParaRPr lang="en-US" sz="788" dirty="0"/>
          </a:p>
        </p:txBody>
      </p:sp>
      <p:sp>
        <p:nvSpPr>
          <p:cNvPr id="43" name="Shape 34"/>
          <p:cNvSpPr/>
          <p:nvPr/>
        </p:nvSpPr>
        <p:spPr>
          <a:xfrm>
            <a:off x="4686300" y="971550"/>
            <a:ext cx="4000500" cy="5272088"/>
          </a:xfrm>
          <a:prstGeom prst="rect">
            <a:avLst/>
          </a:prstGeom>
          <a:solidFill>
            <a:srgbClr val="FFFFFF">
              <a:alpha val="10000"/>
            </a:srgbClr>
          </a:solidFill>
          <a:ln w="99">
            <a:solidFill>
              <a:srgbClr val="60A5FA">
                <a:alpha val="30000"/>
              </a:srgbClr>
            </a:solidFill>
            <a:prstDash val="solid"/>
          </a:ln>
        </p:spPr>
      </p:sp>
      <p:sp>
        <p:nvSpPr>
          <p:cNvPr id="44" name="Text 35"/>
          <p:cNvSpPr/>
          <p:nvPr/>
        </p:nvSpPr>
        <p:spPr>
          <a:xfrm>
            <a:off x="4857750" y="1143000"/>
            <a:ext cx="3729038" cy="228600"/>
          </a:xfrm>
          <a:prstGeom prst="rect">
            <a:avLst/>
          </a:prstGeom>
          <a:noFill/>
          <a:ln/>
        </p:spPr>
        <p:txBody>
          <a:bodyPr wrap="square" lIns="0" tIns="0" rIns="0" bIns="0" rtlCol="0" anchor="ctr">
            <a:spAutoFit/>
          </a:bodyPr>
          <a:lstStyle/>
          <a:p>
            <a:pPr indent="0" marL="0">
              <a:buNone/>
            </a:pPr>
            <a:r>
              <a:rPr lang="en-US" sz="1350" b="1" dirty="0">
                <a:solidFill>
                  <a:srgbClr val="BFDBFE"/>
                </a:solidFill>
                <a:latin typeface="Segoe UI" pitchFamily="34" charset="0"/>
                <a:ea typeface="Segoe UI" pitchFamily="34" charset="-122"/>
                <a:cs typeface="Segoe UI" pitchFamily="34" charset="-120"/>
              </a:rPr>
              <a:t>Recommended Java Extensions</a:t>
            </a:r>
            <a:endParaRPr lang="en-US" sz="1350" dirty="0"/>
          </a:p>
        </p:txBody>
      </p:sp>
      <p:sp>
        <p:nvSpPr>
          <p:cNvPr id="45" name="Shape 36"/>
          <p:cNvSpPr/>
          <p:nvPr/>
        </p:nvSpPr>
        <p:spPr>
          <a:xfrm>
            <a:off x="4857750" y="1485900"/>
            <a:ext cx="3657600" cy="1628775"/>
          </a:xfrm>
          <a:prstGeom prst="rect">
            <a:avLst/>
          </a:prstGeom>
          <a:solidFill>
            <a:srgbClr val="1E3A8A">
              <a:alpha val="30000"/>
            </a:srgbClr>
          </a:solidFill>
          <a:ln/>
        </p:spPr>
      </p:sp>
      <p:sp>
        <p:nvSpPr>
          <p:cNvPr id="46" name="Shape 37"/>
          <p:cNvSpPr/>
          <p:nvPr/>
        </p:nvSpPr>
        <p:spPr>
          <a:xfrm>
            <a:off x="4857750" y="1485900"/>
            <a:ext cx="28575" cy="1628775"/>
          </a:xfrm>
          <a:prstGeom prst="rect">
            <a:avLst/>
          </a:prstGeom>
          <a:solidFill>
            <a:srgbClr val="60A5FA"/>
          </a:solidFill>
          <a:ln/>
        </p:spPr>
      </p:sp>
      <p:sp>
        <p:nvSpPr>
          <p:cNvPr id="47" name="Text 38"/>
          <p:cNvSpPr/>
          <p:nvPr/>
        </p:nvSpPr>
        <p:spPr>
          <a:xfrm>
            <a:off x="4972050" y="1571625"/>
            <a:ext cx="3614738" cy="200025"/>
          </a:xfrm>
          <a:prstGeom prst="rect">
            <a:avLst/>
          </a:prstGeom>
          <a:noFill/>
          <a:ln/>
        </p:spPr>
        <p:txBody>
          <a:bodyPr wrap="square" lIns="0" tIns="0" rIns="0" bIns="0" rtlCol="0" anchor="ctr">
            <a:spAutoFit/>
          </a:bodyPr>
          <a:lstStyle/>
          <a:p>
            <a:pPr indent="0" marL="0">
              <a:buNone/>
            </a:pPr>
            <a:r>
              <a:rPr lang="en-US" sz="1125" b="1" dirty="0">
                <a:solidFill>
                  <a:srgbClr val="F1F5F9"/>
                </a:solidFill>
                <a:latin typeface="Segoe UI" pitchFamily="34" charset="0"/>
                <a:ea typeface="Segoe UI" pitchFamily="34" charset="-122"/>
                <a:cs typeface="Segoe UI" pitchFamily="34" charset="-120"/>
              </a:rPr>
              <a:t>Extension Pack for Java</a:t>
            </a:r>
            <a:endParaRPr lang="en-US" sz="1125" dirty="0"/>
          </a:p>
        </p:txBody>
      </p:sp>
      <p:sp>
        <p:nvSpPr>
          <p:cNvPr id="48" name="Text 39"/>
          <p:cNvSpPr/>
          <p:nvPr/>
        </p:nvSpPr>
        <p:spPr>
          <a:xfrm>
            <a:off x="4972050" y="1800225"/>
            <a:ext cx="3614738" cy="142875"/>
          </a:xfrm>
          <a:prstGeom prst="rect">
            <a:avLst/>
          </a:prstGeom>
          <a:noFill/>
          <a:ln/>
        </p:spPr>
        <p:txBody>
          <a:bodyPr wrap="square" lIns="0" tIns="0" rIns="0" bIns="0" rtlCol="0" anchor="ctr">
            <a:spAutoFit/>
          </a:bodyPr>
          <a:lstStyle/>
          <a:p>
            <a:pPr indent="0" marL="0">
              <a:buNone/>
            </a:pPr>
            <a:r>
              <a:rPr lang="en-US" sz="788" dirty="0">
                <a:solidFill>
                  <a:srgbClr val="F1F5F9"/>
                </a:solidFill>
                <a:latin typeface="Segoe UI" pitchFamily="34" charset="0"/>
                <a:ea typeface="Segoe UI" pitchFamily="34" charset="-122"/>
                <a:cs typeface="Segoe UI" pitchFamily="34" charset="-120"/>
              </a:rPr>
              <a:t>A collection of popular extensions for Java development:</a:t>
            </a:r>
            <a:endParaRPr lang="en-US" sz="788" dirty="0"/>
          </a:p>
        </p:txBody>
      </p:sp>
      <p:sp>
        <p:nvSpPr>
          <p:cNvPr id="49" name="Text 40"/>
          <p:cNvSpPr/>
          <p:nvPr/>
        </p:nvSpPr>
        <p:spPr>
          <a:xfrm>
            <a:off x="5086350" y="2000250"/>
            <a:ext cx="3500438" cy="114300"/>
          </a:xfrm>
          <a:prstGeom prst="rect">
            <a:avLst/>
          </a:prstGeom>
          <a:noFill/>
          <a:ln/>
        </p:spPr>
        <p:txBody>
          <a:bodyPr wrap="square" lIns="0" tIns="0" rIns="0" bIns="0" rtlCol="0" anchor="ctr">
            <a:spAutoFit/>
          </a:bodyPr>
          <a:lstStyle/>
          <a:p>
            <a:pPr algn="l" indent="0" marL="0">
              <a:buNone/>
            </a:pPr>
            <a:r>
              <a:rPr lang="en-US" sz="675" dirty="0">
                <a:solidFill>
                  <a:srgbClr val="F1F5F9"/>
                </a:solidFill>
                <a:latin typeface="Segoe UI" pitchFamily="34" charset="0"/>
                <a:ea typeface="Segoe UI" pitchFamily="34" charset="-122"/>
                <a:cs typeface="Segoe UI" pitchFamily="34" charset="-120"/>
              </a:rPr>
              <a:t>• Language Support for Java by Red Hat</a:t>
            </a:r>
            <a:endParaRPr lang="en-US" sz="675" dirty="0"/>
          </a:p>
        </p:txBody>
      </p:sp>
      <p:sp>
        <p:nvSpPr>
          <p:cNvPr id="50" name="Text 41"/>
          <p:cNvSpPr/>
          <p:nvPr/>
        </p:nvSpPr>
        <p:spPr>
          <a:xfrm>
            <a:off x="5086350" y="2143125"/>
            <a:ext cx="3500438" cy="114300"/>
          </a:xfrm>
          <a:prstGeom prst="rect">
            <a:avLst/>
          </a:prstGeom>
          <a:noFill/>
          <a:ln/>
        </p:spPr>
        <p:txBody>
          <a:bodyPr wrap="square" lIns="0" tIns="0" rIns="0" bIns="0" rtlCol="0" anchor="ctr">
            <a:spAutoFit/>
          </a:bodyPr>
          <a:lstStyle/>
          <a:p>
            <a:pPr algn="l" indent="0" marL="0">
              <a:buNone/>
            </a:pPr>
            <a:r>
              <a:rPr lang="en-US" sz="675" dirty="0">
                <a:solidFill>
                  <a:srgbClr val="F1F5F9"/>
                </a:solidFill>
                <a:latin typeface="Segoe UI" pitchFamily="34" charset="0"/>
                <a:ea typeface="Segoe UI" pitchFamily="34" charset="-122"/>
                <a:cs typeface="Segoe UI" pitchFamily="34" charset="-120"/>
              </a:rPr>
              <a:t>• Debugger for Java</a:t>
            </a:r>
            <a:endParaRPr lang="en-US" sz="675" dirty="0"/>
          </a:p>
        </p:txBody>
      </p:sp>
      <p:sp>
        <p:nvSpPr>
          <p:cNvPr id="51" name="Text 42"/>
          <p:cNvSpPr/>
          <p:nvPr/>
        </p:nvSpPr>
        <p:spPr>
          <a:xfrm>
            <a:off x="5086350" y="2286000"/>
            <a:ext cx="3500438" cy="114300"/>
          </a:xfrm>
          <a:prstGeom prst="rect">
            <a:avLst/>
          </a:prstGeom>
          <a:noFill/>
          <a:ln/>
        </p:spPr>
        <p:txBody>
          <a:bodyPr wrap="square" lIns="0" tIns="0" rIns="0" bIns="0" rtlCol="0" anchor="ctr">
            <a:spAutoFit/>
          </a:bodyPr>
          <a:lstStyle/>
          <a:p>
            <a:pPr algn="l" indent="0" marL="0">
              <a:buNone/>
            </a:pPr>
            <a:r>
              <a:rPr lang="en-US" sz="675" dirty="0">
                <a:solidFill>
                  <a:srgbClr val="F1F5F9"/>
                </a:solidFill>
                <a:latin typeface="Segoe UI" pitchFamily="34" charset="0"/>
                <a:ea typeface="Segoe UI" pitchFamily="34" charset="-122"/>
                <a:cs typeface="Segoe UI" pitchFamily="34" charset="-120"/>
              </a:rPr>
              <a:t>• Test Runner for Java</a:t>
            </a:r>
            <a:endParaRPr lang="en-US" sz="675" dirty="0"/>
          </a:p>
        </p:txBody>
      </p:sp>
      <p:sp>
        <p:nvSpPr>
          <p:cNvPr id="52" name="Text 43"/>
          <p:cNvSpPr/>
          <p:nvPr/>
        </p:nvSpPr>
        <p:spPr>
          <a:xfrm>
            <a:off x="5086350" y="2428875"/>
            <a:ext cx="3500438" cy="114300"/>
          </a:xfrm>
          <a:prstGeom prst="rect">
            <a:avLst/>
          </a:prstGeom>
          <a:noFill/>
          <a:ln/>
        </p:spPr>
        <p:txBody>
          <a:bodyPr wrap="square" lIns="0" tIns="0" rIns="0" bIns="0" rtlCol="0" anchor="ctr">
            <a:spAutoFit/>
          </a:bodyPr>
          <a:lstStyle/>
          <a:p>
            <a:pPr algn="l" indent="0" marL="0">
              <a:buNone/>
            </a:pPr>
            <a:r>
              <a:rPr lang="en-US" sz="675" dirty="0">
                <a:solidFill>
                  <a:srgbClr val="F1F5F9"/>
                </a:solidFill>
                <a:latin typeface="Segoe UI" pitchFamily="34" charset="0"/>
                <a:ea typeface="Segoe UI" pitchFamily="34" charset="-122"/>
                <a:cs typeface="Segoe UI" pitchFamily="34" charset="-120"/>
              </a:rPr>
              <a:t>• Maven for Java</a:t>
            </a:r>
            <a:endParaRPr lang="en-US" sz="675" dirty="0"/>
          </a:p>
        </p:txBody>
      </p:sp>
      <p:sp>
        <p:nvSpPr>
          <p:cNvPr id="53" name="Text 44"/>
          <p:cNvSpPr/>
          <p:nvPr/>
        </p:nvSpPr>
        <p:spPr>
          <a:xfrm>
            <a:off x="5086350" y="2571750"/>
            <a:ext cx="3500438" cy="114300"/>
          </a:xfrm>
          <a:prstGeom prst="rect">
            <a:avLst/>
          </a:prstGeom>
          <a:noFill/>
          <a:ln/>
        </p:spPr>
        <p:txBody>
          <a:bodyPr wrap="square" lIns="0" tIns="0" rIns="0" bIns="0" rtlCol="0" anchor="ctr">
            <a:spAutoFit/>
          </a:bodyPr>
          <a:lstStyle/>
          <a:p>
            <a:pPr algn="l" indent="0" marL="0">
              <a:buNone/>
            </a:pPr>
            <a:r>
              <a:rPr lang="en-US" sz="675" dirty="0">
                <a:solidFill>
                  <a:srgbClr val="F1F5F9"/>
                </a:solidFill>
                <a:latin typeface="Segoe UI" pitchFamily="34" charset="0"/>
                <a:ea typeface="Segoe UI" pitchFamily="34" charset="-122"/>
                <a:cs typeface="Segoe UI" pitchFamily="34" charset="-120"/>
              </a:rPr>
              <a:t>• Project Manager for Java</a:t>
            </a:r>
            <a:endParaRPr lang="en-US" sz="675" dirty="0"/>
          </a:p>
        </p:txBody>
      </p:sp>
      <p:sp>
        <p:nvSpPr>
          <p:cNvPr id="54" name="Text 45"/>
          <p:cNvSpPr/>
          <p:nvPr/>
        </p:nvSpPr>
        <p:spPr>
          <a:xfrm>
            <a:off x="5086350" y="2714625"/>
            <a:ext cx="3500438" cy="114300"/>
          </a:xfrm>
          <a:prstGeom prst="rect">
            <a:avLst/>
          </a:prstGeom>
          <a:noFill/>
          <a:ln/>
        </p:spPr>
        <p:txBody>
          <a:bodyPr wrap="square" lIns="0" tIns="0" rIns="0" bIns="0" rtlCol="0" anchor="ctr">
            <a:spAutoFit/>
          </a:bodyPr>
          <a:lstStyle/>
          <a:p>
            <a:pPr algn="l" indent="0" marL="0">
              <a:buNone/>
            </a:pPr>
            <a:r>
              <a:rPr lang="en-US" sz="675" dirty="0">
                <a:solidFill>
                  <a:srgbClr val="F1F5F9"/>
                </a:solidFill>
                <a:latin typeface="Segoe UI" pitchFamily="34" charset="0"/>
                <a:ea typeface="Segoe UI" pitchFamily="34" charset="-122"/>
                <a:cs typeface="Segoe UI" pitchFamily="34" charset="-120"/>
              </a:rPr>
              <a:t>• Visual Studio IntelliCode</a:t>
            </a:r>
            <a:endParaRPr lang="en-US" sz="675" dirty="0"/>
          </a:p>
        </p:txBody>
      </p:sp>
      <p:sp>
        <p:nvSpPr>
          <p:cNvPr id="55" name="Text 46"/>
          <p:cNvSpPr/>
          <p:nvPr/>
        </p:nvSpPr>
        <p:spPr>
          <a:xfrm>
            <a:off x="4972050" y="2886075"/>
            <a:ext cx="3614738" cy="142875"/>
          </a:xfrm>
          <a:prstGeom prst="rect">
            <a:avLst/>
          </a:prstGeom>
          <a:noFill/>
          <a:ln/>
        </p:spPr>
        <p:txBody>
          <a:bodyPr wrap="square" lIns="0" tIns="0" rIns="0" bIns="0" rtlCol="0" anchor="ctr">
            <a:spAutoFit/>
          </a:bodyPr>
          <a:lstStyle/>
          <a:p>
            <a:pPr indent="0" marL="0">
              <a:buNone/>
            </a:pPr>
            <a:r>
              <a:rPr lang="en-US" sz="788" i="1" dirty="0">
                <a:solidFill>
                  <a:srgbClr val="F1F5F9"/>
                </a:solidFill>
                <a:latin typeface="Segoe UI" pitchFamily="34" charset="0"/>
                <a:ea typeface="Segoe UI" pitchFamily="34" charset="-122"/>
                <a:cs typeface="Segoe UI" pitchFamily="34" charset="-120"/>
              </a:rPr>
              <a:t>Publisher: Microsoft</a:t>
            </a:r>
            <a:endParaRPr lang="en-US" sz="788" dirty="0"/>
          </a:p>
        </p:txBody>
      </p:sp>
      <p:sp>
        <p:nvSpPr>
          <p:cNvPr id="56" name="Shape 47"/>
          <p:cNvSpPr/>
          <p:nvPr/>
        </p:nvSpPr>
        <p:spPr>
          <a:xfrm>
            <a:off x="4857750" y="3228975"/>
            <a:ext cx="3657600" cy="1285875"/>
          </a:xfrm>
          <a:prstGeom prst="rect">
            <a:avLst/>
          </a:prstGeom>
          <a:solidFill>
            <a:srgbClr val="1E3A8A">
              <a:alpha val="30000"/>
            </a:srgbClr>
          </a:solidFill>
          <a:ln/>
        </p:spPr>
      </p:sp>
      <p:sp>
        <p:nvSpPr>
          <p:cNvPr id="57" name="Shape 48"/>
          <p:cNvSpPr/>
          <p:nvPr/>
        </p:nvSpPr>
        <p:spPr>
          <a:xfrm>
            <a:off x="4857750" y="3228975"/>
            <a:ext cx="28575" cy="1285875"/>
          </a:xfrm>
          <a:prstGeom prst="rect">
            <a:avLst/>
          </a:prstGeom>
          <a:solidFill>
            <a:srgbClr val="60A5FA"/>
          </a:solidFill>
          <a:ln/>
        </p:spPr>
      </p:sp>
      <p:sp>
        <p:nvSpPr>
          <p:cNvPr id="58" name="Text 49"/>
          <p:cNvSpPr/>
          <p:nvPr/>
        </p:nvSpPr>
        <p:spPr>
          <a:xfrm>
            <a:off x="4972050" y="3314700"/>
            <a:ext cx="3614738" cy="200025"/>
          </a:xfrm>
          <a:prstGeom prst="rect">
            <a:avLst/>
          </a:prstGeom>
          <a:noFill/>
          <a:ln/>
        </p:spPr>
        <p:txBody>
          <a:bodyPr wrap="square" lIns="0" tIns="0" rIns="0" bIns="0" rtlCol="0" anchor="ctr">
            <a:spAutoFit/>
          </a:bodyPr>
          <a:lstStyle/>
          <a:p>
            <a:pPr indent="0" marL="0">
              <a:buNone/>
            </a:pPr>
            <a:r>
              <a:rPr lang="en-US" sz="1125" b="1" dirty="0">
                <a:solidFill>
                  <a:srgbClr val="F1F5F9"/>
                </a:solidFill>
                <a:latin typeface="Segoe UI" pitchFamily="34" charset="0"/>
                <a:ea typeface="Segoe UI" pitchFamily="34" charset="-122"/>
                <a:cs typeface="Segoe UI" pitchFamily="34" charset="-120"/>
              </a:rPr>
              <a:t>Language Support for Java™ by Red Hat</a:t>
            </a:r>
            <a:endParaRPr lang="en-US" sz="1125" dirty="0"/>
          </a:p>
        </p:txBody>
      </p:sp>
      <p:sp>
        <p:nvSpPr>
          <p:cNvPr id="59" name="Text 50"/>
          <p:cNvSpPr/>
          <p:nvPr/>
        </p:nvSpPr>
        <p:spPr>
          <a:xfrm>
            <a:off x="4972050" y="3543300"/>
            <a:ext cx="3614738" cy="142875"/>
          </a:xfrm>
          <a:prstGeom prst="rect">
            <a:avLst/>
          </a:prstGeom>
          <a:noFill/>
          <a:ln/>
        </p:spPr>
        <p:txBody>
          <a:bodyPr wrap="square" lIns="0" tIns="0" rIns="0" bIns="0" rtlCol="0" anchor="ctr">
            <a:spAutoFit/>
          </a:bodyPr>
          <a:lstStyle/>
          <a:p>
            <a:pPr indent="0" marL="0">
              <a:buNone/>
            </a:pPr>
            <a:r>
              <a:rPr lang="en-US" sz="788" dirty="0">
                <a:solidFill>
                  <a:srgbClr val="F1F5F9"/>
                </a:solidFill>
                <a:latin typeface="Segoe UI" pitchFamily="34" charset="0"/>
                <a:ea typeface="Segoe UI" pitchFamily="34" charset="-122"/>
                <a:cs typeface="Segoe UI" pitchFamily="34" charset="-120"/>
              </a:rPr>
              <a:t>Provides Java language support via Eclipse JDT Language Server. Includes:</a:t>
            </a:r>
            <a:endParaRPr lang="en-US" sz="788" dirty="0"/>
          </a:p>
        </p:txBody>
      </p:sp>
      <p:sp>
        <p:nvSpPr>
          <p:cNvPr id="60" name="Text 51"/>
          <p:cNvSpPr/>
          <p:nvPr/>
        </p:nvSpPr>
        <p:spPr>
          <a:xfrm>
            <a:off x="5086350" y="3686175"/>
            <a:ext cx="3500438" cy="114300"/>
          </a:xfrm>
          <a:prstGeom prst="rect">
            <a:avLst/>
          </a:prstGeom>
          <a:noFill/>
          <a:ln/>
        </p:spPr>
        <p:txBody>
          <a:bodyPr wrap="square" lIns="0" tIns="0" rIns="0" bIns="0" rtlCol="0" anchor="ctr">
            <a:spAutoFit/>
          </a:bodyPr>
          <a:lstStyle/>
          <a:p>
            <a:pPr algn="l" indent="0" marL="0">
              <a:buNone/>
            </a:pPr>
            <a:r>
              <a:rPr lang="en-US" sz="675" dirty="0">
                <a:solidFill>
                  <a:srgbClr val="F1F5F9"/>
                </a:solidFill>
                <a:latin typeface="Segoe UI" pitchFamily="34" charset="0"/>
                <a:ea typeface="Segoe UI" pitchFamily="34" charset="-122"/>
                <a:cs typeface="Segoe UI" pitchFamily="34" charset="-120"/>
              </a:rPr>
              <a:t>• IntelliSense</a:t>
            </a:r>
            <a:endParaRPr lang="en-US" sz="675" dirty="0"/>
          </a:p>
        </p:txBody>
      </p:sp>
      <p:sp>
        <p:nvSpPr>
          <p:cNvPr id="61" name="Text 52"/>
          <p:cNvSpPr/>
          <p:nvPr/>
        </p:nvSpPr>
        <p:spPr>
          <a:xfrm>
            <a:off x="5086350" y="3829050"/>
            <a:ext cx="3500438" cy="114300"/>
          </a:xfrm>
          <a:prstGeom prst="rect">
            <a:avLst/>
          </a:prstGeom>
          <a:noFill/>
          <a:ln/>
        </p:spPr>
        <p:txBody>
          <a:bodyPr wrap="square" lIns="0" tIns="0" rIns="0" bIns="0" rtlCol="0" anchor="ctr">
            <a:spAutoFit/>
          </a:bodyPr>
          <a:lstStyle/>
          <a:p>
            <a:pPr algn="l" indent="0" marL="0">
              <a:buNone/>
            </a:pPr>
            <a:r>
              <a:rPr lang="en-US" sz="675" dirty="0">
                <a:solidFill>
                  <a:srgbClr val="F1F5F9"/>
                </a:solidFill>
                <a:latin typeface="Segoe UI" pitchFamily="34" charset="0"/>
                <a:ea typeface="Segoe UI" pitchFamily="34" charset="-122"/>
                <a:cs typeface="Segoe UI" pitchFamily="34" charset="-120"/>
              </a:rPr>
              <a:t>• Code navigation</a:t>
            </a:r>
            <a:endParaRPr lang="en-US" sz="675" dirty="0"/>
          </a:p>
        </p:txBody>
      </p:sp>
      <p:sp>
        <p:nvSpPr>
          <p:cNvPr id="62" name="Text 53"/>
          <p:cNvSpPr/>
          <p:nvPr/>
        </p:nvSpPr>
        <p:spPr>
          <a:xfrm>
            <a:off x="5086350" y="3971925"/>
            <a:ext cx="3500438" cy="114300"/>
          </a:xfrm>
          <a:prstGeom prst="rect">
            <a:avLst/>
          </a:prstGeom>
          <a:noFill/>
          <a:ln/>
        </p:spPr>
        <p:txBody>
          <a:bodyPr wrap="square" lIns="0" tIns="0" rIns="0" bIns="0" rtlCol="0" anchor="ctr">
            <a:spAutoFit/>
          </a:bodyPr>
          <a:lstStyle/>
          <a:p>
            <a:pPr algn="l" indent="0" marL="0">
              <a:buNone/>
            </a:pPr>
            <a:r>
              <a:rPr lang="en-US" sz="675" dirty="0">
                <a:solidFill>
                  <a:srgbClr val="F1F5F9"/>
                </a:solidFill>
                <a:latin typeface="Segoe UI" pitchFamily="34" charset="0"/>
                <a:ea typeface="Segoe UI" pitchFamily="34" charset="-122"/>
                <a:cs typeface="Segoe UI" pitchFamily="34" charset="-120"/>
              </a:rPr>
              <a:t>• Refactoring</a:t>
            </a:r>
            <a:endParaRPr lang="en-US" sz="675" dirty="0"/>
          </a:p>
        </p:txBody>
      </p:sp>
      <p:sp>
        <p:nvSpPr>
          <p:cNvPr id="63" name="Text 54"/>
          <p:cNvSpPr/>
          <p:nvPr/>
        </p:nvSpPr>
        <p:spPr>
          <a:xfrm>
            <a:off x="5086350" y="4114800"/>
            <a:ext cx="3500438" cy="114300"/>
          </a:xfrm>
          <a:prstGeom prst="rect">
            <a:avLst/>
          </a:prstGeom>
          <a:noFill/>
          <a:ln/>
        </p:spPr>
        <p:txBody>
          <a:bodyPr wrap="square" lIns="0" tIns="0" rIns="0" bIns="0" rtlCol="0" anchor="ctr">
            <a:spAutoFit/>
          </a:bodyPr>
          <a:lstStyle/>
          <a:p>
            <a:pPr algn="l" indent="0" marL="0">
              <a:buNone/>
            </a:pPr>
            <a:r>
              <a:rPr lang="en-US" sz="675" dirty="0">
                <a:solidFill>
                  <a:srgbClr val="F1F5F9"/>
                </a:solidFill>
                <a:latin typeface="Segoe UI" pitchFamily="34" charset="0"/>
                <a:ea typeface="Segoe UI" pitchFamily="34" charset="-122"/>
                <a:cs typeface="Segoe UI" pitchFamily="34" charset="-120"/>
              </a:rPr>
              <a:t>• Code snippets</a:t>
            </a:r>
            <a:endParaRPr lang="en-US" sz="675" dirty="0"/>
          </a:p>
        </p:txBody>
      </p:sp>
      <p:sp>
        <p:nvSpPr>
          <p:cNvPr id="64" name="Text 55"/>
          <p:cNvSpPr/>
          <p:nvPr/>
        </p:nvSpPr>
        <p:spPr>
          <a:xfrm>
            <a:off x="4972050" y="4286250"/>
            <a:ext cx="3614738" cy="142875"/>
          </a:xfrm>
          <a:prstGeom prst="rect">
            <a:avLst/>
          </a:prstGeom>
          <a:noFill/>
          <a:ln/>
        </p:spPr>
        <p:txBody>
          <a:bodyPr wrap="square" lIns="0" tIns="0" rIns="0" bIns="0" rtlCol="0" anchor="ctr">
            <a:spAutoFit/>
          </a:bodyPr>
          <a:lstStyle/>
          <a:p>
            <a:pPr indent="0" marL="0">
              <a:buNone/>
            </a:pPr>
            <a:r>
              <a:rPr lang="en-US" sz="788" i="1" dirty="0">
                <a:solidFill>
                  <a:srgbClr val="F1F5F9"/>
                </a:solidFill>
                <a:latin typeface="Segoe UI" pitchFamily="34" charset="0"/>
                <a:ea typeface="Segoe UI" pitchFamily="34" charset="-122"/>
                <a:cs typeface="Segoe UI" pitchFamily="34" charset="-120"/>
              </a:rPr>
              <a:t>Publisher: Red Hat</a:t>
            </a:r>
            <a:endParaRPr lang="en-US" sz="788" dirty="0"/>
          </a:p>
        </p:txBody>
      </p:sp>
      <p:sp>
        <p:nvSpPr>
          <p:cNvPr id="65" name="Shape 56"/>
          <p:cNvSpPr/>
          <p:nvPr/>
        </p:nvSpPr>
        <p:spPr>
          <a:xfrm>
            <a:off x="4857750" y="4629150"/>
            <a:ext cx="3657600" cy="1428750"/>
          </a:xfrm>
          <a:prstGeom prst="rect">
            <a:avLst/>
          </a:prstGeom>
          <a:solidFill>
            <a:srgbClr val="1E3A8A">
              <a:alpha val="30000"/>
            </a:srgbClr>
          </a:solidFill>
          <a:ln/>
        </p:spPr>
      </p:sp>
      <p:sp>
        <p:nvSpPr>
          <p:cNvPr id="66" name="Shape 57"/>
          <p:cNvSpPr/>
          <p:nvPr/>
        </p:nvSpPr>
        <p:spPr>
          <a:xfrm>
            <a:off x="4857750" y="4629150"/>
            <a:ext cx="28575" cy="1428750"/>
          </a:xfrm>
          <a:prstGeom prst="rect">
            <a:avLst/>
          </a:prstGeom>
          <a:solidFill>
            <a:srgbClr val="60A5FA"/>
          </a:solidFill>
          <a:ln/>
        </p:spPr>
      </p:sp>
      <p:sp>
        <p:nvSpPr>
          <p:cNvPr id="67" name="Text 58"/>
          <p:cNvSpPr/>
          <p:nvPr/>
        </p:nvSpPr>
        <p:spPr>
          <a:xfrm>
            <a:off x="4972050" y="4714875"/>
            <a:ext cx="3614738" cy="200025"/>
          </a:xfrm>
          <a:prstGeom prst="rect">
            <a:avLst/>
          </a:prstGeom>
          <a:noFill/>
          <a:ln/>
        </p:spPr>
        <p:txBody>
          <a:bodyPr wrap="square" lIns="0" tIns="0" rIns="0" bIns="0" rtlCol="0" anchor="ctr">
            <a:spAutoFit/>
          </a:bodyPr>
          <a:lstStyle/>
          <a:p>
            <a:pPr indent="0" marL="0">
              <a:buNone/>
            </a:pPr>
            <a:r>
              <a:rPr lang="en-US" sz="1125" b="1" dirty="0">
                <a:solidFill>
                  <a:srgbClr val="F1F5F9"/>
                </a:solidFill>
                <a:latin typeface="Segoe UI" pitchFamily="34" charset="0"/>
                <a:ea typeface="Segoe UI" pitchFamily="34" charset="-122"/>
                <a:cs typeface="Segoe UI" pitchFamily="34" charset="-120"/>
              </a:rPr>
              <a:t>Debugger for Java</a:t>
            </a:r>
            <a:endParaRPr lang="en-US" sz="1125" dirty="0"/>
          </a:p>
        </p:txBody>
      </p:sp>
      <p:sp>
        <p:nvSpPr>
          <p:cNvPr id="68" name="Text 59"/>
          <p:cNvSpPr/>
          <p:nvPr/>
        </p:nvSpPr>
        <p:spPr>
          <a:xfrm>
            <a:off x="4972050" y="4943475"/>
            <a:ext cx="3614738" cy="142875"/>
          </a:xfrm>
          <a:prstGeom prst="rect">
            <a:avLst/>
          </a:prstGeom>
          <a:noFill/>
          <a:ln/>
        </p:spPr>
        <p:txBody>
          <a:bodyPr wrap="square" lIns="0" tIns="0" rIns="0" bIns="0" rtlCol="0" anchor="ctr">
            <a:spAutoFit/>
          </a:bodyPr>
          <a:lstStyle/>
          <a:p>
            <a:pPr indent="0" marL="0">
              <a:buNone/>
            </a:pPr>
            <a:r>
              <a:rPr lang="en-US" sz="788" dirty="0">
                <a:solidFill>
                  <a:srgbClr val="F1F5F9"/>
                </a:solidFill>
                <a:latin typeface="Segoe UI" pitchFamily="34" charset="0"/>
                <a:ea typeface="Segoe UI" pitchFamily="34" charset="-122"/>
                <a:cs typeface="Segoe UI" pitchFamily="34" charset="-120"/>
              </a:rPr>
              <a:t>A lightweight Java debugger based on Java Debug Server:</a:t>
            </a:r>
            <a:endParaRPr lang="en-US" sz="788" dirty="0"/>
          </a:p>
        </p:txBody>
      </p:sp>
      <p:sp>
        <p:nvSpPr>
          <p:cNvPr id="69" name="Text 60"/>
          <p:cNvSpPr/>
          <p:nvPr/>
        </p:nvSpPr>
        <p:spPr>
          <a:xfrm>
            <a:off x="5086350" y="5086350"/>
            <a:ext cx="3500438" cy="114300"/>
          </a:xfrm>
          <a:prstGeom prst="rect">
            <a:avLst/>
          </a:prstGeom>
          <a:noFill/>
          <a:ln/>
        </p:spPr>
        <p:txBody>
          <a:bodyPr wrap="square" lIns="0" tIns="0" rIns="0" bIns="0" rtlCol="0" anchor="ctr">
            <a:spAutoFit/>
          </a:bodyPr>
          <a:lstStyle/>
          <a:p>
            <a:pPr algn="l" indent="0" marL="0">
              <a:buNone/>
            </a:pPr>
            <a:r>
              <a:rPr lang="en-US" sz="675" dirty="0">
                <a:solidFill>
                  <a:srgbClr val="F1F5F9"/>
                </a:solidFill>
                <a:latin typeface="Segoe UI" pitchFamily="34" charset="0"/>
                <a:ea typeface="Segoe UI" pitchFamily="34" charset="-122"/>
                <a:cs typeface="Segoe UI" pitchFamily="34" charset="-120"/>
              </a:rPr>
              <a:t>• Launch/Attach</a:t>
            </a:r>
            <a:endParaRPr lang="en-US" sz="675" dirty="0"/>
          </a:p>
        </p:txBody>
      </p:sp>
      <p:sp>
        <p:nvSpPr>
          <p:cNvPr id="70" name="Text 61"/>
          <p:cNvSpPr/>
          <p:nvPr/>
        </p:nvSpPr>
        <p:spPr>
          <a:xfrm>
            <a:off x="5086350" y="5229225"/>
            <a:ext cx="3500438" cy="114300"/>
          </a:xfrm>
          <a:prstGeom prst="rect">
            <a:avLst/>
          </a:prstGeom>
          <a:noFill/>
          <a:ln/>
        </p:spPr>
        <p:txBody>
          <a:bodyPr wrap="square" lIns="0" tIns="0" rIns="0" bIns="0" rtlCol="0" anchor="ctr">
            <a:spAutoFit/>
          </a:bodyPr>
          <a:lstStyle/>
          <a:p>
            <a:pPr algn="l" indent="0" marL="0">
              <a:buNone/>
            </a:pPr>
            <a:r>
              <a:rPr lang="en-US" sz="675" dirty="0">
                <a:solidFill>
                  <a:srgbClr val="F1F5F9"/>
                </a:solidFill>
                <a:latin typeface="Segoe UI" pitchFamily="34" charset="0"/>
                <a:ea typeface="Segoe UI" pitchFamily="34" charset="-122"/>
                <a:cs typeface="Segoe UI" pitchFamily="34" charset="-120"/>
              </a:rPr>
              <a:t>• Breakpoints</a:t>
            </a:r>
            <a:endParaRPr lang="en-US" sz="675" dirty="0"/>
          </a:p>
        </p:txBody>
      </p:sp>
      <p:sp>
        <p:nvSpPr>
          <p:cNvPr id="71" name="Text 62"/>
          <p:cNvSpPr/>
          <p:nvPr/>
        </p:nvSpPr>
        <p:spPr>
          <a:xfrm>
            <a:off x="5086350" y="5372100"/>
            <a:ext cx="3500438" cy="114300"/>
          </a:xfrm>
          <a:prstGeom prst="rect">
            <a:avLst/>
          </a:prstGeom>
          <a:noFill/>
          <a:ln/>
        </p:spPr>
        <p:txBody>
          <a:bodyPr wrap="square" lIns="0" tIns="0" rIns="0" bIns="0" rtlCol="0" anchor="ctr">
            <a:spAutoFit/>
          </a:bodyPr>
          <a:lstStyle/>
          <a:p>
            <a:pPr algn="l" indent="0" marL="0">
              <a:buNone/>
            </a:pPr>
            <a:r>
              <a:rPr lang="en-US" sz="675" dirty="0">
                <a:solidFill>
                  <a:srgbClr val="F1F5F9"/>
                </a:solidFill>
                <a:latin typeface="Segoe UI" pitchFamily="34" charset="0"/>
                <a:ea typeface="Segoe UI" pitchFamily="34" charset="-122"/>
                <a:cs typeface="Segoe UI" pitchFamily="34" charset="-120"/>
              </a:rPr>
              <a:t>• Exceptions</a:t>
            </a:r>
            <a:endParaRPr lang="en-US" sz="675" dirty="0"/>
          </a:p>
        </p:txBody>
      </p:sp>
      <p:sp>
        <p:nvSpPr>
          <p:cNvPr id="72" name="Text 63"/>
          <p:cNvSpPr/>
          <p:nvPr/>
        </p:nvSpPr>
        <p:spPr>
          <a:xfrm>
            <a:off x="5086350" y="5514975"/>
            <a:ext cx="3500438" cy="114300"/>
          </a:xfrm>
          <a:prstGeom prst="rect">
            <a:avLst/>
          </a:prstGeom>
          <a:noFill/>
          <a:ln/>
        </p:spPr>
        <p:txBody>
          <a:bodyPr wrap="square" lIns="0" tIns="0" rIns="0" bIns="0" rtlCol="0" anchor="ctr">
            <a:spAutoFit/>
          </a:bodyPr>
          <a:lstStyle/>
          <a:p>
            <a:pPr algn="l" indent="0" marL="0">
              <a:buNone/>
            </a:pPr>
            <a:r>
              <a:rPr lang="en-US" sz="675" dirty="0">
                <a:solidFill>
                  <a:srgbClr val="F1F5F9"/>
                </a:solidFill>
                <a:latin typeface="Segoe UI" pitchFamily="34" charset="0"/>
                <a:ea typeface="Segoe UI" pitchFamily="34" charset="-122"/>
                <a:cs typeface="Segoe UI" pitchFamily="34" charset="-120"/>
              </a:rPr>
              <a:t>• Variables &amp; Watch</a:t>
            </a:r>
            <a:endParaRPr lang="en-US" sz="675" dirty="0"/>
          </a:p>
        </p:txBody>
      </p:sp>
      <p:sp>
        <p:nvSpPr>
          <p:cNvPr id="73" name="Text 64"/>
          <p:cNvSpPr/>
          <p:nvPr/>
        </p:nvSpPr>
        <p:spPr>
          <a:xfrm>
            <a:off x="5086350" y="5657850"/>
            <a:ext cx="3500438" cy="114300"/>
          </a:xfrm>
          <a:prstGeom prst="rect">
            <a:avLst/>
          </a:prstGeom>
          <a:noFill/>
          <a:ln/>
        </p:spPr>
        <p:txBody>
          <a:bodyPr wrap="square" lIns="0" tIns="0" rIns="0" bIns="0" rtlCol="0" anchor="ctr">
            <a:spAutoFit/>
          </a:bodyPr>
          <a:lstStyle/>
          <a:p>
            <a:pPr algn="l" indent="0" marL="0">
              <a:buNone/>
            </a:pPr>
            <a:r>
              <a:rPr lang="en-US" sz="675" dirty="0">
                <a:solidFill>
                  <a:srgbClr val="F1F5F9"/>
                </a:solidFill>
                <a:latin typeface="Segoe UI" pitchFamily="34" charset="0"/>
                <a:ea typeface="Segoe UI" pitchFamily="34" charset="-122"/>
                <a:cs typeface="Segoe UI" pitchFamily="34" charset="-120"/>
              </a:rPr>
              <a:t>• Call Stacks</a:t>
            </a:r>
            <a:endParaRPr lang="en-US" sz="675" dirty="0"/>
          </a:p>
        </p:txBody>
      </p:sp>
      <p:sp>
        <p:nvSpPr>
          <p:cNvPr id="74" name="Text 65"/>
          <p:cNvSpPr/>
          <p:nvPr/>
        </p:nvSpPr>
        <p:spPr>
          <a:xfrm>
            <a:off x="4972050" y="5829300"/>
            <a:ext cx="3614738" cy="142875"/>
          </a:xfrm>
          <a:prstGeom prst="rect">
            <a:avLst/>
          </a:prstGeom>
          <a:noFill/>
          <a:ln/>
        </p:spPr>
        <p:txBody>
          <a:bodyPr wrap="square" lIns="0" tIns="0" rIns="0" bIns="0" rtlCol="0" anchor="ctr">
            <a:spAutoFit/>
          </a:bodyPr>
          <a:lstStyle/>
          <a:p>
            <a:pPr indent="0" marL="0">
              <a:buNone/>
            </a:pPr>
            <a:r>
              <a:rPr lang="en-US" sz="788" i="1" dirty="0">
                <a:solidFill>
                  <a:srgbClr val="F1F5F9"/>
                </a:solidFill>
                <a:latin typeface="Segoe UI" pitchFamily="34" charset="0"/>
                <a:ea typeface="Segoe UI" pitchFamily="34" charset="-122"/>
                <a:cs typeface="Segoe UI" pitchFamily="34" charset="-120"/>
              </a:rPr>
              <a:t>Publisher: Microsoft</a:t>
            </a:r>
            <a:endParaRPr lang="en-US" sz="788" dirty="0"/>
          </a:p>
        </p:txBody>
      </p:sp>
      <p:sp>
        <p:nvSpPr>
          <p:cNvPr id="75" name="Shape 66"/>
          <p:cNvSpPr/>
          <p:nvPr/>
        </p:nvSpPr>
        <p:spPr>
          <a:xfrm>
            <a:off x="4686300" y="6400800"/>
            <a:ext cx="4000500" cy="3614738"/>
          </a:xfrm>
          <a:prstGeom prst="rect">
            <a:avLst/>
          </a:prstGeom>
          <a:solidFill>
            <a:srgbClr val="FFFFFF">
              <a:alpha val="10000"/>
            </a:srgbClr>
          </a:solidFill>
          <a:ln w="99">
            <a:solidFill>
              <a:srgbClr val="60A5FA">
                <a:alpha val="30000"/>
              </a:srgbClr>
            </a:solidFill>
            <a:prstDash val="solid"/>
          </a:ln>
        </p:spPr>
      </p:sp>
      <p:sp>
        <p:nvSpPr>
          <p:cNvPr id="76" name="Text 67"/>
          <p:cNvSpPr/>
          <p:nvPr/>
        </p:nvSpPr>
        <p:spPr>
          <a:xfrm>
            <a:off x="4857750" y="6572250"/>
            <a:ext cx="3729038" cy="228600"/>
          </a:xfrm>
          <a:prstGeom prst="rect">
            <a:avLst/>
          </a:prstGeom>
          <a:noFill/>
          <a:ln/>
        </p:spPr>
        <p:txBody>
          <a:bodyPr wrap="square" lIns="0" tIns="0" rIns="0" bIns="0" rtlCol="0" anchor="ctr">
            <a:spAutoFit/>
          </a:bodyPr>
          <a:lstStyle/>
          <a:p>
            <a:pPr indent="0" marL="0">
              <a:buNone/>
            </a:pPr>
            <a:r>
              <a:rPr lang="en-US" sz="1350" b="1" dirty="0">
                <a:solidFill>
                  <a:srgbClr val="BFDBFE"/>
                </a:solidFill>
                <a:latin typeface="Segoe UI" pitchFamily="34" charset="0"/>
                <a:ea typeface="Segoe UI" pitchFamily="34" charset="-122"/>
                <a:cs typeface="Segoe UI" pitchFamily="34" charset="-120"/>
              </a:rPr>
              <a:t>Additional Useful Extensions</a:t>
            </a:r>
            <a:endParaRPr lang="en-US" sz="1350" dirty="0"/>
          </a:p>
        </p:txBody>
      </p:sp>
      <p:sp>
        <p:nvSpPr>
          <p:cNvPr id="77" name="Shape 68"/>
          <p:cNvSpPr/>
          <p:nvPr/>
        </p:nvSpPr>
        <p:spPr>
          <a:xfrm>
            <a:off x="4857750" y="6915150"/>
            <a:ext cx="1771650" cy="714375"/>
          </a:xfrm>
          <a:prstGeom prst="rect">
            <a:avLst/>
          </a:prstGeom>
          <a:solidFill>
            <a:srgbClr val="1E3A8A">
              <a:alpha val="30000"/>
            </a:srgbClr>
          </a:solidFill>
          <a:ln/>
        </p:spPr>
      </p:sp>
      <p:sp>
        <p:nvSpPr>
          <p:cNvPr id="78" name="Text 69"/>
          <p:cNvSpPr/>
          <p:nvPr/>
        </p:nvSpPr>
        <p:spPr>
          <a:xfrm>
            <a:off x="4972050" y="7029450"/>
            <a:ext cx="1614488" cy="200025"/>
          </a:xfrm>
          <a:prstGeom prst="rect">
            <a:avLst/>
          </a:prstGeom>
          <a:noFill/>
          <a:ln/>
        </p:spPr>
        <p:txBody>
          <a:bodyPr wrap="square" lIns="0" tIns="0" rIns="0" bIns="0" rtlCol="0" anchor="ctr">
            <a:spAutoFit/>
          </a:bodyPr>
          <a:lstStyle/>
          <a:p>
            <a:pPr indent="0" marL="0">
              <a:buNone/>
            </a:pPr>
            <a:r>
              <a:rPr lang="en-US" sz="1013" b="1" dirty="0">
                <a:solidFill>
                  <a:srgbClr val="F1F5F9"/>
                </a:solidFill>
                <a:latin typeface="Segoe UI" pitchFamily="34" charset="0"/>
                <a:ea typeface="Segoe UI" pitchFamily="34" charset="-122"/>
                <a:cs typeface="Segoe UI" pitchFamily="34" charset="-120"/>
              </a:rPr>
              <a:t>Maven for Java</a:t>
            </a:r>
            <a:endParaRPr lang="en-US" sz="1013" dirty="0"/>
          </a:p>
        </p:txBody>
      </p:sp>
      <p:sp>
        <p:nvSpPr>
          <p:cNvPr id="79" name="Text 70"/>
          <p:cNvSpPr/>
          <p:nvPr/>
        </p:nvSpPr>
        <p:spPr>
          <a:xfrm>
            <a:off x="4972050" y="7286625"/>
            <a:ext cx="1614488" cy="228600"/>
          </a:xfrm>
          <a:prstGeom prst="rect">
            <a:avLst/>
          </a:prstGeom>
          <a:noFill/>
          <a:ln/>
        </p:spPr>
        <p:txBody>
          <a:bodyPr wrap="square" lIns="0" tIns="0" rIns="0" bIns="0" rtlCol="0" anchor="ctr">
            <a:spAutoFit/>
          </a:bodyPr>
          <a:lstStyle/>
          <a:p>
            <a:pPr indent="0" marL="0">
              <a:buNone/>
            </a:pPr>
            <a:r>
              <a:rPr lang="en-US" sz="675" dirty="0">
                <a:solidFill>
                  <a:srgbClr val="F1F5F9"/>
                </a:solidFill>
                <a:latin typeface="Segoe UI" pitchFamily="34" charset="0"/>
                <a:ea typeface="Segoe UI" pitchFamily="34" charset="-122"/>
                <a:cs typeface="Segoe UI" pitchFamily="34" charset="-120"/>
              </a:rPr>
              <a:t>Project management and build automation</a:t>
            </a:r>
            <a:endParaRPr lang="en-US" sz="675" dirty="0"/>
          </a:p>
        </p:txBody>
      </p:sp>
      <p:sp>
        <p:nvSpPr>
          <p:cNvPr id="80" name="Shape 71"/>
          <p:cNvSpPr/>
          <p:nvPr/>
        </p:nvSpPr>
        <p:spPr>
          <a:xfrm>
            <a:off x="6743700" y="6915150"/>
            <a:ext cx="1771650" cy="714375"/>
          </a:xfrm>
          <a:prstGeom prst="rect">
            <a:avLst/>
          </a:prstGeom>
          <a:solidFill>
            <a:srgbClr val="1E3A8A">
              <a:alpha val="30000"/>
            </a:srgbClr>
          </a:solidFill>
          <a:ln/>
        </p:spPr>
      </p:sp>
      <p:sp>
        <p:nvSpPr>
          <p:cNvPr id="81" name="Text 72"/>
          <p:cNvSpPr/>
          <p:nvPr/>
        </p:nvSpPr>
        <p:spPr>
          <a:xfrm>
            <a:off x="6858000" y="7029450"/>
            <a:ext cx="1614488" cy="200025"/>
          </a:xfrm>
          <a:prstGeom prst="rect">
            <a:avLst/>
          </a:prstGeom>
          <a:noFill/>
          <a:ln/>
        </p:spPr>
        <p:txBody>
          <a:bodyPr wrap="square" lIns="0" tIns="0" rIns="0" bIns="0" rtlCol="0" anchor="ctr">
            <a:spAutoFit/>
          </a:bodyPr>
          <a:lstStyle/>
          <a:p>
            <a:pPr indent="0" marL="0">
              <a:buNone/>
            </a:pPr>
            <a:r>
              <a:rPr lang="en-US" sz="1013" b="1" dirty="0">
                <a:solidFill>
                  <a:srgbClr val="F1F5F9"/>
                </a:solidFill>
                <a:latin typeface="Segoe UI" pitchFamily="34" charset="0"/>
                <a:ea typeface="Segoe UI" pitchFamily="34" charset="-122"/>
                <a:cs typeface="Segoe UI" pitchFamily="34" charset="-120"/>
              </a:rPr>
              <a:t>Test Runner for Java</a:t>
            </a:r>
            <a:endParaRPr lang="en-US" sz="1013" dirty="0"/>
          </a:p>
        </p:txBody>
      </p:sp>
      <p:sp>
        <p:nvSpPr>
          <p:cNvPr id="82" name="Text 73"/>
          <p:cNvSpPr/>
          <p:nvPr/>
        </p:nvSpPr>
        <p:spPr>
          <a:xfrm>
            <a:off x="6858000" y="7286625"/>
            <a:ext cx="1614488" cy="114300"/>
          </a:xfrm>
          <a:prstGeom prst="rect">
            <a:avLst/>
          </a:prstGeom>
          <a:noFill/>
          <a:ln/>
        </p:spPr>
        <p:txBody>
          <a:bodyPr wrap="square" lIns="0" tIns="0" rIns="0" bIns="0" rtlCol="0" anchor="ctr">
            <a:spAutoFit/>
          </a:bodyPr>
          <a:lstStyle/>
          <a:p>
            <a:pPr indent="0" marL="0">
              <a:buNone/>
            </a:pPr>
            <a:r>
              <a:rPr lang="en-US" sz="675" dirty="0">
                <a:solidFill>
                  <a:srgbClr val="F1F5F9"/>
                </a:solidFill>
                <a:latin typeface="Segoe UI" pitchFamily="34" charset="0"/>
                <a:ea typeface="Segoe UI" pitchFamily="34" charset="-122"/>
                <a:cs typeface="Segoe UI" pitchFamily="34" charset="-120"/>
              </a:rPr>
              <a:t>Run and debug JUnit/TestNG tests</a:t>
            </a:r>
            <a:endParaRPr lang="en-US" sz="675" dirty="0"/>
          </a:p>
        </p:txBody>
      </p:sp>
      <p:sp>
        <p:nvSpPr>
          <p:cNvPr id="83" name="Shape 74"/>
          <p:cNvSpPr/>
          <p:nvPr/>
        </p:nvSpPr>
        <p:spPr>
          <a:xfrm>
            <a:off x="4857750" y="7743825"/>
            <a:ext cx="1771650" cy="600075"/>
          </a:xfrm>
          <a:prstGeom prst="rect">
            <a:avLst/>
          </a:prstGeom>
          <a:solidFill>
            <a:srgbClr val="1E3A8A">
              <a:alpha val="30000"/>
            </a:srgbClr>
          </a:solidFill>
          <a:ln/>
        </p:spPr>
      </p:sp>
      <p:sp>
        <p:nvSpPr>
          <p:cNvPr id="84" name="Text 75"/>
          <p:cNvSpPr/>
          <p:nvPr/>
        </p:nvSpPr>
        <p:spPr>
          <a:xfrm>
            <a:off x="4972050" y="7858125"/>
            <a:ext cx="1614488" cy="200025"/>
          </a:xfrm>
          <a:prstGeom prst="rect">
            <a:avLst/>
          </a:prstGeom>
          <a:noFill/>
          <a:ln/>
        </p:spPr>
        <p:txBody>
          <a:bodyPr wrap="square" lIns="0" tIns="0" rIns="0" bIns="0" rtlCol="0" anchor="ctr">
            <a:spAutoFit/>
          </a:bodyPr>
          <a:lstStyle/>
          <a:p>
            <a:pPr indent="0" marL="0">
              <a:buNone/>
            </a:pPr>
            <a:r>
              <a:rPr lang="en-US" sz="1013" b="1" dirty="0">
                <a:solidFill>
                  <a:srgbClr val="F1F5F9"/>
                </a:solidFill>
                <a:latin typeface="Segoe UI" pitchFamily="34" charset="0"/>
                <a:ea typeface="Segoe UI" pitchFamily="34" charset="-122"/>
                <a:cs typeface="Segoe UI" pitchFamily="34" charset="-120"/>
              </a:rPr>
              <a:t>Java Dependency Viewer</a:t>
            </a:r>
            <a:endParaRPr lang="en-US" sz="1013" dirty="0"/>
          </a:p>
        </p:txBody>
      </p:sp>
      <p:sp>
        <p:nvSpPr>
          <p:cNvPr id="85" name="Text 76"/>
          <p:cNvSpPr/>
          <p:nvPr/>
        </p:nvSpPr>
        <p:spPr>
          <a:xfrm>
            <a:off x="4972050" y="8115300"/>
            <a:ext cx="1614488" cy="114300"/>
          </a:xfrm>
          <a:prstGeom prst="rect">
            <a:avLst/>
          </a:prstGeom>
          <a:noFill/>
          <a:ln/>
        </p:spPr>
        <p:txBody>
          <a:bodyPr wrap="square" lIns="0" tIns="0" rIns="0" bIns="0" rtlCol="0" anchor="ctr">
            <a:spAutoFit/>
          </a:bodyPr>
          <a:lstStyle/>
          <a:p>
            <a:pPr indent="0" marL="0">
              <a:buNone/>
            </a:pPr>
            <a:r>
              <a:rPr lang="en-US" sz="675" dirty="0">
                <a:solidFill>
                  <a:srgbClr val="F1F5F9"/>
                </a:solidFill>
                <a:latin typeface="Segoe UI" pitchFamily="34" charset="0"/>
                <a:ea typeface="Segoe UI" pitchFamily="34" charset="-122"/>
                <a:cs typeface="Segoe UI" pitchFamily="34" charset="-120"/>
              </a:rPr>
              <a:t>View Java dependencies in a tree</a:t>
            </a:r>
            <a:endParaRPr lang="en-US" sz="675" dirty="0"/>
          </a:p>
        </p:txBody>
      </p:sp>
      <p:sp>
        <p:nvSpPr>
          <p:cNvPr id="86" name="Shape 77"/>
          <p:cNvSpPr/>
          <p:nvPr/>
        </p:nvSpPr>
        <p:spPr>
          <a:xfrm>
            <a:off x="6743700" y="7743825"/>
            <a:ext cx="1771650" cy="600075"/>
          </a:xfrm>
          <a:prstGeom prst="rect">
            <a:avLst/>
          </a:prstGeom>
          <a:solidFill>
            <a:srgbClr val="1E3A8A">
              <a:alpha val="30000"/>
            </a:srgbClr>
          </a:solidFill>
          <a:ln/>
        </p:spPr>
      </p:sp>
      <p:sp>
        <p:nvSpPr>
          <p:cNvPr id="87" name="Text 78"/>
          <p:cNvSpPr/>
          <p:nvPr/>
        </p:nvSpPr>
        <p:spPr>
          <a:xfrm>
            <a:off x="6858000" y="7858125"/>
            <a:ext cx="1614488" cy="200025"/>
          </a:xfrm>
          <a:prstGeom prst="rect">
            <a:avLst/>
          </a:prstGeom>
          <a:noFill/>
          <a:ln/>
        </p:spPr>
        <p:txBody>
          <a:bodyPr wrap="square" lIns="0" tIns="0" rIns="0" bIns="0" rtlCol="0" anchor="ctr">
            <a:spAutoFit/>
          </a:bodyPr>
          <a:lstStyle/>
          <a:p>
            <a:pPr indent="0" marL="0">
              <a:buNone/>
            </a:pPr>
            <a:r>
              <a:rPr lang="en-US" sz="1013" b="1" dirty="0">
                <a:solidFill>
                  <a:srgbClr val="F1F5F9"/>
                </a:solidFill>
                <a:latin typeface="Segoe UI" pitchFamily="34" charset="0"/>
                <a:ea typeface="Segoe UI" pitchFamily="34" charset="-122"/>
                <a:cs typeface="Segoe UI" pitchFamily="34" charset="-120"/>
              </a:rPr>
              <a:t>Visual Studio IntelliCode</a:t>
            </a:r>
            <a:endParaRPr lang="en-US" sz="1013" dirty="0"/>
          </a:p>
        </p:txBody>
      </p:sp>
      <p:sp>
        <p:nvSpPr>
          <p:cNvPr id="88" name="Text 79"/>
          <p:cNvSpPr/>
          <p:nvPr/>
        </p:nvSpPr>
        <p:spPr>
          <a:xfrm>
            <a:off x="6858000" y="8115300"/>
            <a:ext cx="1614488" cy="114300"/>
          </a:xfrm>
          <a:prstGeom prst="rect">
            <a:avLst/>
          </a:prstGeom>
          <a:noFill/>
          <a:ln/>
        </p:spPr>
        <p:txBody>
          <a:bodyPr wrap="square" lIns="0" tIns="0" rIns="0" bIns="0" rtlCol="0" anchor="ctr">
            <a:spAutoFit/>
          </a:bodyPr>
          <a:lstStyle/>
          <a:p>
            <a:pPr indent="0" marL="0">
              <a:buNone/>
            </a:pPr>
            <a:r>
              <a:rPr lang="en-US" sz="675" dirty="0">
                <a:solidFill>
                  <a:srgbClr val="F1F5F9"/>
                </a:solidFill>
                <a:latin typeface="Segoe UI" pitchFamily="34" charset="0"/>
                <a:ea typeface="Segoe UI" pitchFamily="34" charset="-122"/>
                <a:cs typeface="Segoe UI" pitchFamily="34" charset="-120"/>
              </a:rPr>
              <a:t>AI-assisted code completions</a:t>
            </a:r>
            <a:endParaRPr lang="en-US" sz="675" dirty="0"/>
          </a:p>
        </p:txBody>
      </p:sp>
      <p:sp>
        <p:nvSpPr>
          <p:cNvPr id="89" name="Shape 80"/>
          <p:cNvSpPr/>
          <p:nvPr/>
        </p:nvSpPr>
        <p:spPr>
          <a:xfrm>
            <a:off x="4857750" y="8458200"/>
            <a:ext cx="1771650" cy="600075"/>
          </a:xfrm>
          <a:prstGeom prst="rect">
            <a:avLst/>
          </a:prstGeom>
          <a:solidFill>
            <a:srgbClr val="1E3A8A">
              <a:alpha val="30000"/>
            </a:srgbClr>
          </a:solidFill>
          <a:ln/>
        </p:spPr>
      </p:sp>
      <p:sp>
        <p:nvSpPr>
          <p:cNvPr id="90" name="Text 81"/>
          <p:cNvSpPr/>
          <p:nvPr/>
        </p:nvSpPr>
        <p:spPr>
          <a:xfrm>
            <a:off x="4972050" y="8572500"/>
            <a:ext cx="1614488" cy="200025"/>
          </a:xfrm>
          <a:prstGeom prst="rect">
            <a:avLst/>
          </a:prstGeom>
          <a:noFill/>
          <a:ln/>
        </p:spPr>
        <p:txBody>
          <a:bodyPr wrap="square" lIns="0" tIns="0" rIns="0" bIns="0" rtlCol="0" anchor="ctr">
            <a:spAutoFit/>
          </a:bodyPr>
          <a:lstStyle/>
          <a:p>
            <a:pPr indent="0" marL="0">
              <a:buNone/>
            </a:pPr>
            <a:r>
              <a:rPr lang="en-US" sz="1013" b="1" dirty="0">
                <a:solidFill>
                  <a:srgbClr val="F1F5F9"/>
                </a:solidFill>
                <a:latin typeface="Segoe UI" pitchFamily="34" charset="0"/>
                <a:ea typeface="Segoe UI" pitchFamily="34" charset="-122"/>
                <a:cs typeface="Segoe UI" pitchFamily="34" charset="-120"/>
              </a:rPr>
              <a:t>Checkstyle for Java</a:t>
            </a:r>
            <a:endParaRPr lang="en-US" sz="1013" dirty="0"/>
          </a:p>
        </p:txBody>
      </p:sp>
      <p:sp>
        <p:nvSpPr>
          <p:cNvPr id="91" name="Text 82"/>
          <p:cNvSpPr/>
          <p:nvPr/>
        </p:nvSpPr>
        <p:spPr>
          <a:xfrm>
            <a:off x="4972050" y="8829675"/>
            <a:ext cx="1614488" cy="114300"/>
          </a:xfrm>
          <a:prstGeom prst="rect">
            <a:avLst/>
          </a:prstGeom>
          <a:noFill/>
          <a:ln/>
        </p:spPr>
        <p:txBody>
          <a:bodyPr wrap="square" lIns="0" tIns="0" rIns="0" bIns="0" rtlCol="0" anchor="ctr">
            <a:spAutoFit/>
          </a:bodyPr>
          <a:lstStyle/>
          <a:p>
            <a:pPr indent="0" marL="0">
              <a:buNone/>
            </a:pPr>
            <a:r>
              <a:rPr lang="en-US" sz="675" dirty="0">
                <a:solidFill>
                  <a:srgbClr val="F1F5F9"/>
                </a:solidFill>
                <a:latin typeface="Segoe UI" pitchFamily="34" charset="0"/>
                <a:ea typeface="Segoe UI" pitchFamily="34" charset="-122"/>
                <a:cs typeface="Segoe UI" pitchFamily="34" charset="-120"/>
              </a:rPr>
              <a:t>Code style checking and formatting</a:t>
            </a:r>
            <a:endParaRPr lang="en-US" sz="675" dirty="0"/>
          </a:p>
        </p:txBody>
      </p:sp>
      <p:sp>
        <p:nvSpPr>
          <p:cNvPr id="92" name="Shape 83"/>
          <p:cNvSpPr/>
          <p:nvPr/>
        </p:nvSpPr>
        <p:spPr>
          <a:xfrm>
            <a:off x="6743700" y="8458200"/>
            <a:ext cx="1771650" cy="600075"/>
          </a:xfrm>
          <a:prstGeom prst="rect">
            <a:avLst/>
          </a:prstGeom>
          <a:solidFill>
            <a:srgbClr val="1E3A8A">
              <a:alpha val="30000"/>
            </a:srgbClr>
          </a:solidFill>
          <a:ln/>
        </p:spPr>
      </p:sp>
      <p:sp>
        <p:nvSpPr>
          <p:cNvPr id="93" name="Text 84"/>
          <p:cNvSpPr/>
          <p:nvPr/>
        </p:nvSpPr>
        <p:spPr>
          <a:xfrm>
            <a:off x="6858000" y="8572500"/>
            <a:ext cx="1614488" cy="200025"/>
          </a:xfrm>
          <a:prstGeom prst="rect">
            <a:avLst/>
          </a:prstGeom>
          <a:noFill/>
          <a:ln/>
        </p:spPr>
        <p:txBody>
          <a:bodyPr wrap="square" lIns="0" tIns="0" rIns="0" bIns="0" rtlCol="0" anchor="ctr">
            <a:spAutoFit/>
          </a:bodyPr>
          <a:lstStyle/>
          <a:p>
            <a:pPr indent="0" marL="0">
              <a:buNone/>
            </a:pPr>
            <a:r>
              <a:rPr lang="en-US" sz="1013" b="1" dirty="0">
                <a:solidFill>
                  <a:srgbClr val="F1F5F9"/>
                </a:solidFill>
                <a:latin typeface="Segoe UI" pitchFamily="34" charset="0"/>
                <a:ea typeface="Segoe UI" pitchFamily="34" charset="-122"/>
                <a:cs typeface="Segoe UI" pitchFamily="34" charset="-120"/>
              </a:rPr>
              <a:t>SonarLint</a:t>
            </a:r>
            <a:endParaRPr lang="en-US" sz="1013" dirty="0"/>
          </a:p>
        </p:txBody>
      </p:sp>
      <p:sp>
        <p:nvSpPr>
          <p:cNvPr id="94" name="Text 85"/>
          <p:cNvSpPr/>
          <p:nvPr/>
        </p:nvSpPr>
        <p:spPr>
          <a:xfrm>
            <a:off x="6858000" y="8829675"/>
            <a:ext cx="1614488" cy="114300"/>
          </a:xfrm>
          <a:prstGeom prst="rect">
            <a:avLst/>
          </a:prstGeom>
          <a:noFill/>
          <a:ln/>
        </p:spPr>
        <p:txBody>
          <a:bodyPr wrap="square" lIns="0" tIns="0" rIns="0" bIns="0" rtlCol="0" anchor="ctr">
            <a:spAutoFit/>
          </a:bodyPr>
          <a:lstStyle/>
          <a:p>
            <a:pPr indent="0" marL="0">
              <a:buNone/>
            </a:pPr>
            <a:r>
              <a:rPr lang="en-US" sz="675" dirty="0">
                <a:solidFill>
                  <a:srgbClr val="F1F5F9"/>
                </a:solidFill>
                <a:latin typeface="Segoe UI" pitchFamily="34" charset="0"/>
                <a:ea typeface="Segoe UI" pitchFamily="34" charset="-122"/>
                <a:cs typeface="Segoe UI" pitchFamily="34" charset="-120"/>
              </a:rPr>
              <a:t>Code quality and security analysis</a:t>
            </a:r>
            <a:endParaRPr lang="en-US" sz="675" dirty="0"/>
          </a:p>
        </p:txBody>
      </p:sp>
      <p:sp>
        <p:nvSpPr>
          <p:cNvPr id="95" name="Shape 86"/>
          <p:cNvSpPr/>
          <p:nvPr/>
        </p:nvSpPr>
        <p:spPr>
          <a:xfrm>
            <a:off x="4857750" y="9172575"/>
            <a:ext cx="3657600" cy="657225"/>
          </a:xfrm>
          <a:prstGeom prst="rect">
            <a:avLst/>
          </a:prstGeom>
          <a:solidFill>
            <a:srgbClr val="78350F">
              <a:alpha val="20000"/>
            </a:srgbClr>
          </a:solidFill>
          <a:ln/>
        </p:spPr>
      </p:sp>
      <p:pic>
        <p:nvPicPr>
          <p:cNvPr id="96" name="Image 7" descr="preencoded.png">    </p:cNvPr>
          <p:cNvPicPr>
            <a:picLocks noChangeAspect="1"/>
          </p:cNvPicPr>
          <p:nvPr/>
        </p:nvPicPr>
        <p:blipFill>
          <a:blip r:embed="rId8"/>
          <a:stretch>
            <a:fillRect/>
          </a:stretch>
        </p:blipFill>
        <p:spPr>
          <a:xfrm>
            <a:off x="4972050" y="9415463"/>
            <a:ext cx="128588" cy="171450"/>
          </a:xfrm>
          <a:prstGeom prst="rect">
            <a:avLst/>
          </a:prstGeom>
        </p:spPr>
      </p:pic>
      <p:sp>
        <p:nvSpPr>
          <p:cNvPr id="97" name="Text 87"/>
          <p:cNvSpPr/>
          <p:nvPr/>
        </p:nvSpPr>
        <p:spPr>
          <a:xfrm>
            <a:off x="5214938" y="9286875"/>
            <a:ext cx="3257550" cy="428625"/>
          </a:xfrm>
          <a:prstGeom prst="rect">
            <a:avLst/>
          </a:prstGeom>
          <a:noFill/>
          <a:ln/>
        </p:spPr>
        <p:txBody>
          <a:bodyPr wrap="square" lIns="0" tIns="0" rIns="0" bIns="0" rtlCol="0" anchor="ctr">
            <a:spAutoFit/>
          </a:bodyPr>
          <a:lstStyle/>
          <a:p>
            <a:pPr indent="0" marL="0">
              <a:buNone/>
            </a:pPr>
            <a:r>
              <a:rPr lang="en-US" sz="788" dirty="0">
                <a:solidFill>
                  <a:srgbClr val="F1F5F9"/>
                </a:solidFill>
                <a:latin typeface="Segoe UI" pitchFamily="34" charset="0"/>
                <a:ea typeface="Segoe UI" pitchFamily="34" charset="-122"/>
                <a:cs typeface="Segoe UI" pitchFamily="34" charset="-120"/>
              </a:rPr>
              <a:t>For beginners, start with just the "Extension Pack for Java" which includes the most essential extensions. You can add more as needed later.</a:t>
            </a:r>
            <a:endParaRPr lang="en-US" sz="788" dirty="0"/>
          </a:p>
        </p:txBody>
      </p:sp>
      <p:sp>
        <p:nvSpPr>
          <p:cNvPr id="98" name="Shape 88"/>
          <p:cNvSpPr/>
          <p:nvPr/>
        </p:nvSpPr>
        <p:spPr>
          <a:xfrm>
            <a:off x="457200" y="10229850"/>
            <a:ext cx="8229600" cy="3300413"/>
          </a:xfrm>
          <a:prstGeom prst="rect">
            <a:avLst/>
          </a:prstGeom>
          <a:solidFill>
            <a:srgbClr val="FFFFFF">
              <a:alpha val="10000"/>
            </a:srgbClr>
          </a:solidFill>
          <a:ln w="99">
            <a:solidFill>
              <a:srgbClr val="60A5FA">
                <a:alpha val="30000"/>
              </a:srgbClr>
            </a:solidFill>
            <a:prstDash val="solid"/>
          </a:ln>
        </p:spPr>
      </p:sp>
      <p:sp>
        <p:nvSpPr>
          <p:cNvPr id="99" name="Text 89"/>
          <p:cNvSpPr/>
          <p:nvPr/>
        </p:nvSpPr>
        <p:spPr>
          <a:xfrm>
            <a:off x="628650" y="10401300"/>
            <a:ext cx="7958138" cy="228600"/>
          </a:xfrm>
          <a:prstGeom prst="rect">
            <a:avLst/>
          </a:prstGeom>
          <a:noFill/>
          <a:ln/>
        </p:spPr>
        <p:txBody>
          <a:bodyPr wrap="square" lIns="0" tIns="0" rIns="0" bIns="0" rtlCol="0" anchor="ctr">
            <a:spAutoFit/>
          </a:bodyPr>
          <a:lstStyle/>
          <a:p>
            <a:pPr indent="0" marL="0">
              <a:buNone/>
            </a:pPr>
            <a:r>
              <a:rPr lang="en-US" sz="1350" b="1" dirty="0">
                <a:solidFill>
                  <a:srgbClr val="BFDBFE"/>
                </a:solidFill>
                <a:latin typeface="Segoe UI" pitchFamily="34" charset="0"/>
                <a:ea typeface="Segoe UI" pitchFamily="34" charset="-122"/>
                <a:cs typeface="Segoe UI" pitchFamily="34" charset="-120"/>
              </a:rPr>
              <a:t>Installing the Extension Pack for Java</a:t>
            </a:r>
            <a:endParaRPr lang="en-US" sz="1350" dirty="0"/>
          </a:p>
        </p:txBody>
      </p:sp>
      <p:sp>
        <p:nvSpPr>
          <p:cNvPr id="100" name="Shape 90"/>
          <p:cNvSpPr/>
          <p:nvPr/>
        </p:nvSpPr>
        <p:spPr>
          <a:xfrm>
            <a:off x="628650" y="10744200"/>
            <a:ext cx="2514600" cy="1285875"/>
          </a:xfrm>
          <a:prstGeom prst="rect">
            <a:avLst/>
          </a:prstGeom>
          <a:solidFill>
            <a:srgbClr val="1E3A8A">
              <a:alpha val="30000"/>
            </a:srgbClr>
          </a:solidFill>
          <a:ln/>
        </p:spPr>
      </p:sp>
      <p:sp>
        <p:nvSpPr>
          <p:cNvPr id="101" name="Text 91"/>
          <p:cNvSpPr/>
          <p:nvPr/>
        </p:nvSpPr>
        <p:spPr>
          <a:xfrm>
            <a:off x="742950" y="10858500"/>
            <a:ext cx="2357438" cy="200025"/>
          </a:xfrm>
          <a:prstGeom prst="rect">
            <a:avLst/>
          </a:prstGeom>
          <a:noFill/>
          <a:ln/>
        </p:spPr>
        <p:txBody>
          <a:bodyPr wrap="square" lIns="0" tIns="0" rIns="0" bIns="0" rtlCol="0" anchor="ctr">
            <a:spAutoFit/>
          </a:bodyPr>
          <a:lstStyle/>
          <a:p>
            <a:pPr algn="ctr" indent="0" marL="0">
              <a:buNone/>
            </a:pPr>
            <a:r>
              <a:rPr lang="en-US" sz="1125" b="1" dirty="0">
                <a:solidFill>
                  <a:srgbClr val="F1F5F9"/>
                </a:solidFill>
                <a:latin typeface="Segoe UI" pitchFamily="34" charset="0"/>
                <a:ea typeface="Segoe UI" pitchFamily="34" charset="-122"/>
                <a:cs typeface="Segoe UI" pitchFamily="34" charset="-120"/>
              </a:rPr>
              <a:t>Step 1</a:t>
            </a:r>
            <a:endParaRPr lang="en-US" sz="1125" dirty="0"/>
          </a:p>
        </p:txBody>
      </p:sp>
      <p:pic>
        <p:nvPicPr>
          <p:cNvPr id="102" name="Image 8" descr="preencoded.png">    </p:cNvPr>
          <p:cNvPicPr>
            <a:picLocks noChangeAspect="1"/>
          </p:cNvPicPr>
          <p:nvPr/>
        </p:nvPicPr>
        <p:blipFill>
          <a:blip r:embed="rId9"/>
          <a:stretch>
            <a:fillRect/>
          </a:stretch>
        </p:blipFill>
        <p:spPr>
          <a:xfrm>
            <a:off x="1778794" y="11158538"/>
            <a:ext cx="214313" cy="214313"/>
          </a:xfrm>
          <a:prstGeom prst="rect">
            <a:avLst/>
          </a:prstGeom>
        </p:spPr>
      </p:pic>
      <p:sp>
        <p:nvSpPr>
          <p:cNvPr id="103" name="Text 92"/>
          <p:cNvSpPr/>
          <p:nvPr/>
        </p:nvSpPr>
        <p:spPr>
          <a:xfrm>
            <a:off x="742950" y="11487150"/>
            <a:ext cx="2357438" cy="428625"/>
          </a:xfrm>
          <a:prstGeom prst="rect">
            <a:avLst/>
          </a:prstGeom>
          <a:noFill/>
          <a:ln/>
        </p:spPr>
        <p:txBody>
          <a:bodyPr wrap="square" lIns="0" tIns="0" rIns="0" bIns="0" rtlCol="0" anchor="ctr">
            <a:spAutoFit/>
          </a:bodyPr>
          <a:lstStyle/>
          <a:p>
            <a:pPr algn="ctr" indent="0" marL="0">
              <a:buNone/>
            </a:pPr>
            <a:r>
              <a:rPr lang="en-US" sz="788" dirty="0">
                <a:solidFill>
                  <a:srgbClr val="F1F5F9"/>
                </a:solidFill>
                <a:latin typeface="Segoe UI" pitchFamily="34" charset="0"/>
                <a:ea typeface="Segoe UI" pitchFamily="34" charset="-122"/>
                <a:cs typeface="Segoe UI" pitchFamily="34" charset="-120"/>
              </a:rPr>
              <a:t>Open VS Code and click on the Extensions icon in the Activity Bar (or press Ctrl+Shift+X / Cmd+Shift+X)</a:t>
            </a:r>
            <a:endParaRPr lang="en-US" sz="788" dirty="0"/>
          </a:p>
        </p:txBody>
      </p:sp>
      <p:sp>
        <p:nvSpPr>
          <p:cNvPr id="104" name="Shape 93"/>
          <p:cNvSpPr/>
          <p:nvPr/>
        </p:nvSpPr>
        <p:spPr>
          <a:xfrm>
            <a:off x="3314700" y="10744200"/>
            <a:ext cx="2514600" cy="1285875"/>
          </a:xfrm>
          <a:prstGeom prst="rect">
            <a:avLst/>
          </a:prstGeom>
          <a:solidFill>
            <a:srgbClr val="1E3A8A">
              <a:alpha val="30000"/>
            </a:srgbClr>
          </a:solidFill>
          <a:ln/>
        </p:spPr>
      </p:sp>
      <p:sp>
        <p:nvSpPr>
          <p:cNvPr id="105" name="Text 94"/>
          <p:cNvSpPr/>
          <p:nvPr/>
        </p:nvSpPr>
        <p:spPr>
          <a:xfrm>
            <a:off x="3429000" y="10858500"/>
            <a:ext cx="2357438" cy="200025"/>
          </a:xfrm>
          <a:prstGeom prst="rect">
            <a:avLst/>
          </a:prstGeom>
          <a:noFill/>
          <a:ln/>
        </p:spPr>
        <p:txBody>
          <a:bodyPr wrap="square" lIns="0" tIns="0" rIns="0" bIns="0" rtlCol="0" anchor="ctr">
            <a:spAutoFit/>
          </a:bodyPr>
          <a:lstStyle/>
          <a:p>
            <a:pPr algn="ctr" indent="0" marL="0">
              <a:buNone/>
            </a:pPr>
            <a:r>
              <a:rPr lang="en-US" sz="1125" b="1" dirty="0">
                <a:solidFill>
                  <a:srgbClr val="F1F5F9"/>
                </a:solidFill>
                <a:latin typeface="Segoe UI" pitchFamily="34" charset="0"/>
                <a:ea typeface="Segoe UI" pitchFamily="34" charset="-122"/>
                <a:cs typeface="Segoe UI" pitchFamily="34" charset="-120"/>
              </a:rPr>
              <a:t>Step 2</a:t>
            </a:r>
            <a:endParaRPr lang="en-US" sz="1125" dirty="0"/>
          </a:p>
        </p:txBody>
      </p:sp>
      <p:pic>
        <p:nvPicPr>
          <p:cNvPr id="106" name="Image 9" descr="preencoded.png">    </p:cNvPr>
          <p:cNvPicPr>
            <a:picLocks noChangeAspect="1"/>
          </p:cNvPicPr>
          <p:nvPr/>
        </p:nvPicPr>
        <p:blipFill>
          <a:blip r:embed="rId10"/>
          <a:stretch>
            <a:fillRect/>
          </a:stretch>
        </p:blipFill>
        <p:spPr>
          <a:xfrm>
            <a:off x="4464844" y="11158538"/>
            <a:ext cx="214313" cy="214313"/>
          </a:xfrm>
          <a:prstGeom prst="rect">
            <a:avLst/>
          </a:prstGeom>
        </p:spPr>
      </p:pic>
      <p:sp>
        <p:nvSpPr>
          <p:cNvPr id="107" name="Text 95"/>
          <p:cNvSpPr/>
          <p:nvPr/>
        </p:nvSpPr>
        <p:spPr>
          <a:xfrm>
            <a:off x="3429000" y="11487150"/>
            <a:ext cx="2357438" cy="285750"/>
          </a:xfrm>
          <a:prstGeom prst="rect">
            <a:avLst/>
          </a:prstGeom>
          <a:noFill/>
          <a:ln/>
        </p:spPr>
        <p:txBody>
          <a:bodyPr wrap="square" lIns="0" tIns="0" rIns="0" bIns="0" rtlCol="0" anchor="ctr">
            <a:spAutoFit/>
          </a:bodyPr>
          <a:lstStyle/>
          <a:p>
            <a:pPr algn="ctr" indent="0" marL="0">
              <a:buNone/>
            </a:pPr>
            <a:r>
              <a:rPr lang="en-US" sz="788" dirty="0">
                <a:solidFill>
                  <a:srgbClr val="F1F5F9"/>
                </a:solidFill>
                <a:latin typeface="Segoe UI" pitchFamily="34" charset="0"/>
                <a:ea typeface="Segoe UI" pitchFamily="34" charset="-122"/>
                <a:cs typeface="Segoe UI" pitchFamily="34" charset="-120"/>
              </a:rPr>
              <a:t>Search for "Extension Pack for Java" in the search bar</a:t>
            </a:r>
            <a:endParaRPr lang="en-US" sz="788" dirty="0"/>
          </a:p>
        </p:txBody>
      </p:sp>
      <p:sp>
        <p:nvSpPr>
          <p:cNvPr id="108" name="Shape 96"/>
          <p:cNvSpPr/>
          <p:nvPr/>
        </p:nvSpPr>
        <p:spPr>
          <a:xfrm>
            <a:off x="6000750" y="10744200"/>
            <a:ext cx="2514600" cy="1285875"/>
          </a:xfrm>
          <a:prstGeom prst="rect">
            <a:avLst/>
          </a:prstGeom>
          <a:solidFill>
            <a:srgbClr val="1E3A8A">
              <a:alpha val="30000"/>
            </a:srgbClr>
          </a:solidFill>
          <a:ln/>
        </p:spPr>
      </p:sp>
      <p:sp>
        <p:nvSpPr>
          <p:cNvPr id="109" name="Text 97"/>
          <p:cNvSpPr/>
          <p:nvPr/>
        </p:nvSpPr>
        <p:spPr>
          <a:xfrm>
            <a:off x="6115050" y="10858500"/>
            <a:ext cx="2357438" cy="200025"/>
          </a:xfrm>
          <a:prstGeom prst="rect">
            <a:avLst/>
          </a:prstGeom>
          <a:noFill/>
          <a:ln/>
        </p:spPr>
        <p:txBody>
          <a:bodyPr wrap="square" lIns="0" tIns="0" rIns="0" bIns="0" rtlCol="0" anchor="ctr">
            <a:spAutoFit/>
          </a:bodyPr>
          <a:lstStyle/>
          <a:p>
            <a:pPr algn="ctr" indent="0" marL="0">
              <a:buNone/>
            </a:pPr>
            <a:r>
              <a:rPr lang="en-US" sz="1125" b="1" dirty="0">
                <a:solidFill>
                  <a:srgbClr val="F1F5F9"/>
                </a:solidFill>
                <a:latin typeface="Segoe UI" pitchFamily="34" charset="0"/>
                <a:ea typeface="Segoe UI" pitchFamily="34" charset="-122"/>
                <a:cs typeface="Segoe UI" pitchFamily="34" charset="-120"/>
              </a:rPr>
              <a:t>Step 3</a:t>
            </a:r>
            <a:endParaRPr lang="en-US" sz="1125" dirty="0"/>
          </a:p>
        </p:txBody>
      </p:sp>
      <p:pic>
        <p:nvPicPr>
          <p:cNvPr id="110" name="Image 10" descr="preencoded.png">    </p:cNvPr>
          <p:cNvPicPr>
            <a:picLocks noChangeAspect="1"/>
          </p:cNvPicPr>
          <p:nvPr/>
        </p:nvPicPr>
        <p:blipFill>
          <a:blip r:embed="rId11"/>
          <a:stretch>
            <a:fillRect/>
          </a:stretch>
        </p:blipFill>
        <p:spPr>
          <a:xfrm>
            <a:off x="7150894" y="11158538"/>
            <a:ext cx="214313" cy="214313"/>
          </a:xfrm>
          <a:prstGeom prst="rect">
            <a:avLst/>
          </a:prstGeom>
        </p:spPr>
      </p:pic>
      <p:sp>
        <p:nvSpPr>
          <p:cNvPr id="111" name="Text 98"/>
          <p:cNvSpPr/>
          <p:nvPr/>
        </p:nvSpPr>
        <p:spPr>
          <a:xfrm>
            <a:off x="6115050" y="11487150"/>
            <a:ext cx="2357438" cy="285750"/>
          </a:xfrm>
          <a:prstGeom prst="rect">
            <a:avLst/>
          </a:prstGeom>
          <a:noFill/>
          <a:ln/>
        </p:spPr>
        <p:txBody>
          <a:bodyPr wrap="square" lIns="0" tIns="0" rIns="0" bIns="0" rtlCol="0" anchor="ctr">
            <a:spAutoFit/>
          </a:bodyPr>
          <a:lstStyle/>
          <a:p>
            <a:pPr algn="ctr" indent="0" marL="0">
              <a:buNone/>
            </a:pPr>
            <a:r>
              <a:rPr lang="en-US" sz="788" dirty="0">
                <a:solidFill>
                  <a:srgbClr val="F1F5F9"/>
                </a:solidFill>
                <a:latin typeface="Segoe UI" pitchFamily="34" charset="0"/>
                <a:ea typeface="Segoe UI" pitchFamily="34" charset="-122"/>
                <a:cs typeface="Segoe UI" pitchFamily="34" charset="-120"/>
              </a:rPr>
              <a:t>Click the "Install" button on the Extension Pack for Java by Microsoft</a:t>
            </a:r>
            <a:endParaRPr lang="en-US" sz="788" dirty="0"/>
          </a:p>
        </p:txBody>
      </p:sp>
      <p:sp>
        <p:nvSpPr>
          <p:cNvPr id="112" name="Shape 99"/>
          <p:cNvSpPr/>
          <p:nvPr/>
        </p:nvSpPr>
        <p:spPr>
          <a:xfrm>
            <a:off x="628650" y="12201525"/>
            <a:ext cx="7886700" cy="1143000"/>
          </a:xfrm>
          <a:prstGeom prst="rect">
            <a:avLst/>
          </a:prstGeom>
          <a:solidFill>
            <a:srgbClr val="1E3A8A">
              <a:alpha val="30000"/>
            </a:srgbClr>
          </a:solidFill>
          <a:ln/>
        </p:spPr>
      </p:sp>
      <p:sp>
        <p:nvSpPr>
          <p:cNvPr id="113" name="Text 100"/>
          <p:cNvSpPr/>
          <p:nvPr/>
        </p:nvSpPr>
        <p:spPr>
          <a:xfrm>
            <a:off x="742950" y="12315825"/>
            <a:ext cx="7729538" cy="200025"/>
          </a:xfrm>
          <a:prstGeom prst="rect">
            <a:avLst/>
          </a:prstGeom>
          <a:noFill/>
          <a:ln/>
        </p:spPr>
        <p:txBody>
          <a:bodyPr wrap="square" lIns="0" tIns="0" rIns="0" bIns="0" rtlCol="0" anchor="ctr">
            <a:spAutoFit/>
          </a:bodyPr>
          <a:lstStyle/>
          <a:p>
            <a:pPr algn="ctr" indent="0" marL="0">
              <a:buNone/>
            </a:pPr>
            <a:r>
              <a:rPr lang="en-US" sz="1125" b="1" dirty="0">
                <a:solidFill>
                  <a:srgbClr val="F1F5F9"/>
                </a:solidFill>
                <a:latin typeface="Segoe UI" pitchFamily="34" charset="0"/>
                <a:ea typeface="Segoe UI" pitchFamily="34" charset="-122"/>
                <a:cs typeface="Segoe UI" pitchFamily="34" charset="-120"/>
              </a:rPr>
              <a:t>After Installation</a:t>
            </a:r>
            <a:endParaRPr lang="en-US" sz="1125" dirty="0"/>
          </a:p>
        </p:txBody>
      </p:sp>
      <p:pic>
        <p:nvPicPr>
          <p:cNvPr id="114" name="Image 11" descr="preencoded.png">    </p:cNvPr>
          <p:cNvPicPr>
            <a:picLocks noChangeAspect="1"/>
          </p:cNvPicPr>
          <p:nvPr/>
        </p:nvPicPr>
        <p:blipFill>
          <a:blip r:embed="rId12"/>
          <a:stretch>
            <a:fillRect/>
          </a:stretch>
        </p:blipFill>
        <p:spPr>
          <a:xfrm>
            <a:off x="742950" y="12630150"/>
            <a:ext cx="114300" cy="114300"/>
          </a:xfrm>
          <a:prstGeom prst="rect">
            <a:avLst/>
          </a:prstGeom>
        </p:spPr>
      </p:pic>
      <p:sp>
        <p:nvSpPr>
          <p:cNvPr id="115" name="Text 101"/>
          <p:cNvSpPr/>
          <p:nvPr/>
        </p:nvSpPr>
        <p:spPr>
          <a:xfrm>
            <a:off x="914400" y="12601575"/>
            <a:ext cx="2968786" cy="171450"/>
          </a:xfrm>
          <a:prstGeom prst="rect">
            <a:avLst/>
          </a:prstGeom>
          <a:noFill/>
          <a:ln/>
        </p:spPr>
        <p:txBody>
          <a:bodyPr wrap="square" lIns="0" tIns="0" rIns="0" bIns="0" rtlCol="0" anchor="ctr">
            <a:spAutoFit/>
          </a:bodyPr>
          <a:lstStyle/>
          <a:p>
            <a:pPr algn="l" indent="0" marL="0">
              <a:buNone/>
            </a:pPr>
            <a:r>
              <a:rPr lang="en-US" sz="900" dirty="0">
                <a:solidFill>
                  <a:srgbClr val="F1F5F9"/>
                </a:solidFill>
                <a:latin typeface="Segoe UI" pitchFamily="34" charset="0"/>
                <a:ea typeface="Segoe UI" pitchFamily="34" charset="-122"/>
                <a:cs typeface="Segoe UI" pitchFamily="34" charset="-120"/>
              </a:rPr>
              <a:t>VS Code will download and install all included extensions</a:t>
            </a:r>
            <a:endParaRPr lang="en-US" sz="900" dirty="0"/>
          </a:p>
        </p:txBody>
      </p:sp>
      <p:pic>
        <p:nvPicPr>
          <p:cNvPr id="116" name="Image 12" descr="preencoded.png">    </p:cNvPr>
          <p:cNvPicPr>
            <a:picLocks noChangeAspect="1"/>
          </p:cNvPicPr>
          <p:nvPr/>
        </p:nvPicPr>
        <p:blipFill>
          <a:blip r:embed="rId13"/>
          <a:stretch>
            <a:fillRect/>
          </a:stretch>
        </p:blipFill>
        <p:spPr>
          <a:xfrm>
            <a:off x="742950" y="12858750"/>
            <a:ext cx="114300" cy="114300"/>
          </a:xfrm>
          <a:prstGeom prst="rect">
            <a:avLst/>
          </a:prstGeom>
        </p:spPr>
      </p:pic>
      <p:sp>
        <p:nvSpPr>
          <p:cNvPr id="117" name="Text 102"/>
          <p:cNvSpPr/>
          <p:nvPr/>
        </p:nvSpPr>
        <p:spPr>
          <a:xfrm>
            <a:off x="914400" y="12830175"/>
            <a:ext cx="2583470" cy="171450"/>
          </a:xfrm>
          <a:prstGeom prst="rect">
            <a:avLst/>
          </a:prstGeom>
          <a:noFill/>
          <a:ln/>
        </p:spPr>
        <p:txBody>
          <a:bodyPr wrap="square" lIns="0" tIns="0" rIns="0" bIns="0" rtlCol="0" anchor="ctr">
            <a:spAutoFit/>
          </a:bodyPr>
          <a:lstStyle/>
          <a:p>
            <a:pPr algn="l" indent="0" marL="0">
              <a:buNone/>
            </a:pPr>
            <a:r>
              <a:rPr lang="en-US" sz="900" dirty="0">
                <a:solidFill>
                  <a:srgbClr val="F1F5F9"/>
                </a:solidFill>
                <a:latin typeface="Segoe UI" pitchFamily="34" charset="0"/>
                <a:ea typeface="Segoe UI" pitchFamily="34" charset="-122"/>
                <a:cs typeface="Segoe UI" pitchFamily="34" charset="-120"/>
              </a:rPr>
              <a:t>You may need to reload VS Code when prompted</a:t>
            </a:r>
            <a:endParaRPr lang="en-US" sz="900" dirty="0"/>
          </a:p>
        </p:txBody>
      </p:sp>
      <p:pic>
        <p:nvPicPr>
          <p:cNvPr id="118" name="Image 13" descr="preencoded.png">    </p:cNvPr>
          <p:cNvPicPr>
            <a:picLocks noChangeAspect="1"/>
          </p:cNvPicPr>
          <p:nvPr/>
        </p:nvPicPr>
        <p:blipFill>
          <a:blip r:embed="rId14"/>
          <a:stretch>
            <a:fillRect/>
          </a:stretch>
        </p:blipFill>
        <p:spPr>
          <a:xfrm>
            <a:off x="742950" y="13087350"/>
            <a:ext cx="114300" cy="114300"/>
          </a:xfrm>
          <a:prstGeom prst="rect">
            <a:avLst/>
          </a:prstGeom>
        </p:spPr>
      </p:pic>
      <p:sp>
        <p:nvSpPr>
          <p:cNvPr id="119" name="Text 103"/>
          <p:cNvSpPr/>
          <p:nvPr/>
        </p:nvSpPr>
        <p:spPr>
          <a:xfrm>
            <a:off x="914400" y="13058775"/>
            <a:ext cx="2834953" cy="171450"/>
          </a:xfrm>
          <a:prstGeom prst="rect">
            <a:avLst/>
          </a:prstGeom>
          <a:noFill/>
          <a:ln/>
        </p:spPr>
        <p:txBody>
          <a:bodyPr wrap="square" lIns="0" tIns="0" rIns="0" bIns="0" rtlCol="0" anchor="ctr">
            <a:spAutoFit/>
          </a:bodyPr>
          <a:lstStyle/>
          <a:p>
            <a:pPr algn="l" indent="0" marL="0">
              <a:buNone/>
            </a:pPr>
            <a:r>
              <a:rPr lang="en-US" sz="900" dirty="0">
                <a:solidFill>
                  <a:srgbClr val="F1F5F9"/>
                </a:solidFill>
                <a:latin typeface="Segoe UI" pitchFamily="34" charset="0"/>
                <a:ea typeface="Segoe UI" pitchFamily="34" charset="-122"/>
                <a:cs typeface="Segoe UI" pitchFamily="34" charset="-120"/>
              </a:rPr>
              <a:t>VS Code will automatically detect your JDK installation</a:t>
            </a:r>
            <a:endParaRPr lang="en-US" sz="900" dirty="0"/>
          </a:p>
        </p:txBody>
      </p:sp>
      <p:pic>
        <p:nvPicPr>
          <p:cNvPr id="120" name="Image 14" descr="preencoded.png">    </p:cNvPr>
          <p:cNvPicPr>
            <a:picLocks noChangeAspect="1"/>
          </p:cNvPicPr>
          <p:nvPr/>
        </p:nvPicPr>
        <p:blipFill>
          <a:blip r:embed="rId15"/>
          <a:stretch>
            <a:fillRect/>
          </a:stretch>
        </p:blipFill>
        <p:spPr>
          <a:xfrm>
            <a:off x="4657725" y="12630150"/>
            <a:ext cx="114300" cy="114300"/>
          </a:xfrm>
          <a:prstGeom prst="rect">
            <a:avLst/>
          </a:prstGeom>
        </p:spPr>
      </p:pic>
      <p:sp>
        <p:nvSpPr>
          <p:cNvPr id="121" name="Text 104"/>
          <p:cNvSpPr/>
          <p:nvPr/>
        </p:nvSpPr>
        <p:spPr>
          <a:xfrm>
            <a:off x="4829175" y="12601575"/>
            <a:ext cx="2790862" cy="171450"/>
          </a:xfrm>
          <a:prstGeom prst="rect">
            <a:avLst/>
          </a:prstGeom>
          <a:noFill/>
          <a:ln/>
        </p:spPr>
        <p:txBody>
          <a:bodyPr wrap="square" lIns="0" tIns="0" rIns="0" bIns="0" rtlCol="0" anchor="ctr">
            <a:spAutoFit/>
          </a:bodyPr>
          <a:lstStyle/>
          <a:p>
            <a:pPr algn="l" indent="0" marL="0">
              <a:buNone/>
            </a:pPr>
            <a:r>
              <a:rPr lang="en-US" sz="900" dirty="0">
                <a:solidFill>
                  <a:srgbClr val="F1F5F9"/>
                </a:solidFill>
                <a:latin typeface="Segoe UI" pitchFamily="34" charset="0"/>
                <a:ea typeface="Segoe UI" pitchFamily="34" charset="-122"/>
                <a:cs typeface="Segoe UI" pitchFamily="34" charset="-120"/>
              </a:rPr>
              <a:t>Java Language Server will initialize in the background</a:t>
            </a:r>
            <a:endParaRPr lang="en-US" sz="900" dirty="0"/>
          </a:p>
        </p:txBody>
      </p:sp>
      <p:pic>
        <p:nvPicPr>
          <p:cNvPr id="122" name="Image 15" descr="preencoded.png">    </p:cNvPr>
          <p:cNvPicPr>
            <a:picLocks noChangeAspect="1"/>
          </p:cNvPicPr>
          <p:nvPr/>
        </p:nvPicPr>
        <p:blipFill>
          <a:blip r:embed="rId16"/>
          <a:stretch>
            <a:fillRect/>
          </a:stretch>
        </p:blipFill>
        <p:spPr>
          <a:xfrm>
            <a:off x="4657725" y="12858750"/>
            <a:ext cx="114300" cy="114300"/>
          </a:xfrm>
          <a:prstGeom prst="rect">
            <a:avLst/>
          </a:prstGeom>
        </p:spPr>
      </p:pic>
      <p:sp>
        <p:nvSpPr>
          <p:cNvPr id="123" name="Text 105"/>
          <p:cNvSpPr/>
          <p:nvPr/>
        </p:nvSpPr>
        <p:spPr>
          <a:xfrm>
            <a:off x="4829175" y="12830175"/>
            <a:ext cx="2523920" cy="171450"/>
          </a:xfrm>
          <a:prstGeom prst="rect">
            <a:avLst/>
          </a:prstGeom>
          <a:noFill/>
          <a:ln/>
        </p:spPr>
        <p:txBody>
          <a:bodyPr wrap="square" lIns="0" tIns="0" rIns="0" bIns="0" rtlCol="0" anchor="ctr">
            <a:spAutoFit/>
          </a:bodyPr>
          <a:lstStyle/>
          <a:p>
            <a:pPr algn="l" indent="0" marL="0">
              <a:buNone/>
            </a:pPr>
            <a:r>
              <a:rPr lang="en-US" sz="900" dirty="0">
                <a:solidFill>
                  <a:srgbClr val="F1F5F9"/>
                </a:solidFill>
                <a:latin typeface="Segoe UI" pitchFamily="34" charset="0"/>
                <a:ea typeface="Segoe UI" pitchFamily="34" charset="-122"/>
                <a:cs typeface="Segoe UI" pitchFamily="34" charset="-120"/>
              </a:rPr>
              <a:t>A notification will appear when setup is complete</a:t>
            </a:r>
            <a:endParaRPr lang="en-US" sz="900" dirty="0"/>
          </a:p>
        </p:txBody>
      </p:sp>
      <p:pic>
        <p:nvPicPr>
          <p:cNvPr id="124" name="Image 16" descr="preencoded.png">    </p:cNvPr>
          <p:cNvPicPr>
            <a:picLocks noChangeAspect="1"/>
          </p:cNvPicPr>
          <p:nvPr/>
        </p:nvPicPr>
        <p:blipFill>
          <a:blip r:embed="rId17"/>
          <a:stretch>
            <a:fillRect/>
          </a:stretch>
        </p:blipFill>
        <p:spPr>
          <a:xfrm>
            <a:off x="4657725" y="13087350"/>
            <a:ext cx="114300" cy="114300"/>
          </a:xfrm>
          <a:prstGeom prst="rect">
            <a:avLst/>
          </a:prstGeom>
        </p:spPr>
      </p:pic>
      <p:sp>
        <p:nvSpPr>
          <p:cNvPr id="125" name="Text 106"/>
          <p:cNvSpPr/>
          <p:nvPr/>
        </p:nvSpPr>
        <p:spPr>
          <a:xfrm>
            <a:off x="4829175" y="13058775"/>
            <a:ext cx="3221496" cy="171450"/>
          </a:xfrm>
          <a:prstGeom prst="rect">
            <a:avLst/>
          </a:prstGeom>
          <a:noFill/>
          <a:ln/>
        </p:spPr>
        <p:txBody>
          <a:bodyPr wrap="square" lIns="0" tIns="0" rIns="0" bIns="0" rtlCol="0" anchor="ctr">
            <a:spAutoFit/>
          </a:bodyPr>
          <a:lstStyle/>
          <a:p>
            <a:pPr algn="l" indent="0" marL="0">
              <a:buNone/>
            </a:pPr>
            <a:r>
              <a:rPr lang="en-US" sz="900" dirty="0">
                <a:solidFill>
                  <a:srgbClr val="F1F5F9"/>
                </a:solidFill>
                <a:latin typeface="Segoe UI" pitchFamily="34" charset="0"/>
                <a:ea typeface="Segoe UI" pitchFamily="34" charset="-122"/>
                <a:cs typeface="Segoe UI" pitchFamily="34" charset="-120"/>
              </a:rPr>
              <a:t>You're now ready to configure VS Code for Java development!</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15459075"/>
          </a:xfrm>
          <a:prstGeom prst="rect">
            <a:avLst/>
          </a:prstGeom>
        </p:spPr>
      </p:pic>
      <p:sp>
        <p:nvSpPr>
          <p:cNvPr id="3" name="Text 0"/>
          <p:cNvSpPr/>
          <p:nvPr/>
        </p:nvSpPr>
        <p:spPr>
          <a:xfrm>
            <a:off x="457200" y="455414"/>
            <a:ext cx="1599809" cy="287536"/>
          </a:xfrm>
          <a:prstGeom prst="rect">
            <a:avLst/>
          </a:prstGeom>
          <a:noFill/>
          <a:ln/>
        </p:spPr>
        <p:txBody>
          <a:bodyPr wrap="square" lIns="0" tIns="0" rIns="0" bIns="0" rtlCol="0" anchor="ctr">
            <a:spAutoFit/>
          </a:bodyPr>
          <a:lstStyle/>
          <a:p>
            <a:pPr indent="0" marL="0">
              <a:buNone/>
            </a:pPr>
            <a:r>
              <a:rPr lang="en-US" sz="2025" b="1" dirty="0">
                <a:solidFill>
                  <a:srgbClr val="F1F5F9"/>
                </a:solidFill>
                <a:latin typeface="Segoe UI" pitchFamily="34" charset="0"/>
                <a:ea typeface="Segoe UI" pitchFamily="34" charset="-122"/>
                <a:cs typeface="Segoe UI" pitchFamily="34" charset="-120"/>
              </a:rPr>
              <a:t>Configuring</a:t>
            </a:r>
            <a:endParaRPr lang="en-US" sz="2025" dirty="0"/>
          </a:p>
        </p:txBody>
      </p:sp>
      <p:sp>
        <p:nvSpPr>
          <p:cNvPr id="4" name="Text 1"/>
          <p:cNvSpPr/>
          <p:nvPr/>
        </p:nvSpPr>
        <p:spPr>
          <a:xfrm>
            <a:off x="1985572" y="455414"/>
            <a:ext cx="1128908" cy="287536"/>
          </a:xfrm>
          <a:prstGeom prst="rect">
            <a:avLst/>
          </a:prstGeom>
          <a:noFill/>
          <a:ln/>
        </p:spPr>
        <p:txBody>
          <a:bodyPr wrap="none" lIns="0" tIns="0" rIns="0" bIns="0" rtlCol="0" anchor="ctr">
            <a:spAutoFit/>
          </a:bodyPr>
          <a:lstStyle/>
          <a:p>
            <a:pPr indent="0" marL="0">
              <a:buNone/>
            </a:pPr>
            <a:r>
              <a:rPr lang="en-US" sz="2025" b="1" dirty="0">
                <a:solidFill>
                  <a:srgbClr val="60A5FA"/>
                </a:solidFill>
                <a:latin typeface="Segoe UI" pitchFamily="34" charset="0"/>
                <a:ea typeface="Segoe UI" pitchFamily="34" charset="-122"/>
                <a:cs typeface="Segoe UI" pitchFamily="34" charset="-120"/>
              </a:rPr>
              <a:t>VS Code</a:t>
            </a:r>
            <a:endParaRPr lang="en-US" sz="2025" dirty="0"/>
          </a:p>
        </p:txBody>
      </p:sp>
      <p:sp>
        <p:nvSpPr>
          <p:cNvPr id="5" name="Text 2"/>
          <p:cNvSpPr/>
          <p:nvPr/>
        </p:nvSpPr>
        <p:spPr>
          <a:xfrm>
            <a:off x="3043042" y="455414"/>
            <a:ext cx="1129271" cy="287536"/>
          </a:xfrm>
          <a:prstGeom prst="rect">
            <a:avLst/>
          </a:prstGeom>
          <a:noFill/>
          <a:ln/>
        </p:spPr>
        <p:txBody>
          <a:bodyPr wrap="none" lIns="0" tIns="0" rIns="0" bIns="0" rtlCol="0" anchor="ctr">
            <a:spAutoFit/>
          </a:bodyPr>
          <a:lstStyle/>
          <a:p>
            <a:pPr indent="0" marL="0">
              <a:buNone/>
            </a:pPr>
            <a:r>
              <a:rPr lang="en-US" sz="2025" b="1" dirty="0">
                <a:solidFill>
                  <a:srgbClr val="F1F5F9"/>
                </a:solidFill>
                <a:latin typeface="Segoe UI" pitchFamily="34" charset="0"/>
                <a:ea typeface="Segoe UI" pitchFamily="34" charset="-122"/>
                <a:cs typeface="Segoe UI" pitchFamily="34" charset="-120"/>
              </a:rPr>
              <a:t>for Java</a:t>
            </a:r>
            <a:endParaRPr lang="en-US" sz="2025" dirty="0"/>
          </a:p>
        </p:txBody>
      </p:sp>
      <p:sp>
        <p:nvSpPr>
          <p:cNvPr id="6" name="Shape 3"/>
          <p:cNvSpPr/>
          <p:nvPr/>
        </p:nvSpPr>
        <p:spPr>
          <a:xfrm>
            <a:off x="457200" y="971550"/>
            <a:ext cx="4000500" cy="3243263"/>
          </a:xfrm>
          <a:prstGeom prst="rect">
            <a:avLst/>
          </a:prstGeom>
          <a:solidFill>
            <a:srgbClr val="FFFFFF">
              <a:alpha val="10000"/>
            </a:srgbClr>
          </a:solidFill>
          <a:ln w="99">
            <a:solidFill>
              <a:srgbClr val="60A5FA">
                <a:alpha val="30000"/>
              </a:srgbClr>
            </a:solidFill>
            <a:prstDash val="solid"/>
          </a:ln>
        </p:spPr>
      </p:sp>
      <p:sp>
        <p:nvSpPr>
          <p:cNvPr id="7" name="Text 4"/>
          <p:cNvSpPr/>
          <p:nvPr/>
        </p:nvSpPr>
        <p:spPr>
          <a:xfrm>
            <a:off x="628650" y="1143000"/>
            <a:ext cx="3729038" cy="228600"/>
          </a:xfrm>
          <a:prstGeom prst="rect">
            <a:avLst/>
          </a:prstGeom>
          <a:noFill/>
          <a:ln/>
        </p:spPr>
        <p:txBody>
          <a:bodyPr wrap="square" lIns="0" tIns="0" rIns="0" bIns="0" rtlCol="0" anchor="ctr">
            <a:spAutoFit/>
          </a:bodyPr>
          <a:lstStyle/>
          <a:p>
            <a:pPr indent="0" marL="0">
              <a:buNone/>
            </a:pPr>
            <a:r>
              <a:rPr lang="en-US" sz="1350" b="1" dirty="0">
                <a:solidFill>
                  <a:srgbClr val="BFDBFE"/>
                </a:solidFill>
                <a:latin typeface="Segoe UI" pitchFamily="34" charset="0"/>
                <a:ea typeface="Segoe UI" pitchFamily="34" charset="-122"/>
                <a:cs typeface="Segoe UI" pitchFamily="34" charset="-120"/>
              </a:rPr>
              <a:t>JDK Configuration</a:t>
            </a:r>
            <a:endParaRPr lang="en-US" sz="1350" dirty="0"/>
          </a:p>
        </p:txBody>
      </p:sp>
      <p:sp>
        <p:nvSpPr>
          <p:cNvPr id="8" name="Text 5"/>
          <p:cNvSpPr/>
          <p:nvPr/>
        </p:nvSpPr>
        <p:spPr>
          <a:xfrm>
            <a:off x="628650" y="1485900"/>
            <a:ext cx="3729038" cy="342900"/>
          </a:xfrm>
          <a:prstGeom prst="rect">
            <a:avLst/>
          </a:prstGeom>
          <a:noFill/>
          <a:ln/>
        </p:spPr>
        <p:txBody>
          <a:bodyPr wrap="square" lIns="0" tIns="0" rIns="0" bIns="0" rtlCol="0" anchor="ctr">
            <a:spAutoFit/>
          </a:bodyPr>
          <a:lstStyle/>
          <a:p>
            <a:pPr indent="0" marL="0">
              <a:buNone/>
            </a:pPr>
            <a:r>
              <a:rPr lang="en-US" sz="900" dirty="0">
                <a:solidFill>
                  <a:srgbClr val="F1F5F9"/>
                </a:solidFill>
                <a:latin typeface="Segoe UI" pitchFamily="34" charset="0"/>
                <a:ea typeface="Segoe UI" pitchFamily="34" charset="-122"/>
                <a:cs typeface="Segoe UI" pitchFamily="34" charset="-120"/>
              </a:rPr>
              <a:t>After installing the Java extensions, VS Code needs to know where your JDK is located.</a:t>
            </a:r>
            <a:endParaRPr lang="en-US" sz="900" dirty="0"/>
          </a:p>
        </p:txBody>
      </p:sp>
      <p:sp>
        <p:nvSpPr>
          <p:cNvPr id="9" name="Shape 6"/>
          <p:cNvSpPr/>
          <p:nvPr/>
        </p:nvSpPr>
        <p:spPr>
          <a:xfrm>
            <a:off x="628650" y="1943100"/>
            <a:ext cx="3657600" cy="685800"/>
          </a:xfrm>
          <a:prstGeom prst="rect">
            <a:avLst/>
          </a:prstGeom>
          <a:solidFill>
            <a:srgbClr val="1E3A8A">
              <a:alpha val="30000"/>
            </a:srgbClr>
          </a:solidFill>
          <a:ln/>
        </p:spPr>
      </p:sp>
      <p:sp>
        <p:nvSpPr>
          <p:cNvPr id="10" name="Shape 7"/>
          <p:cNvSpPr/>
          <p:nvPr/>
        </p:nvSpPr>
        <p:spPr>
          <a:xfrm>
            <a:off x="628650" y="1943100"/>
            <a:ext cx="28575" cy="685800"/>
          </a:xfrm>
          <a:prstGeom prst="rect">
            <a:avLst/>
          </a:prstGeom>
          <a:solidFill>
            <a:srgbClr val="60A5FA"/>
          </a:solidFill>
          <a:ln/>
        </p:spPr>
      </p:sp>
      <p:sp>
        <p:nvSpPr>
          <p:cNvPr id="11" name="Text 8"/>
          <p:cNvSpPr/>
          <p:nvPr/>
        </p:nvSpPr>
        <p:spPr>
          <a:xfrm>
            <a:off x="742950" y="2028825"/>
            <a:ext cx="3614738" cy="200025"/>
          </a:xfrm>
          <a:prstGeom prst="rect">
            <a:avLst/>
          </a:prstGeom>
          <a:noFill/>
          <a:ln/>
        </p:spPr>
        <p:txBody>
          <a:bodyPr wrap="square" lIns="0" tIns="0" rIns="0" bIns="0" rtlCol="0" anchor="ctr">
            <a:spAutoFit/>
          </a:bodyPr>
          <a:lstStyle/>
          <a:p>
            <a:pPr indent="0" marL="0">
              <a:buNone/>
            </a:pPr>
            <a:r>
              <a:rPr lang="en-US" sz="1125" b="1" dirty="0">
                <a:solidFill>
                  <a:srgbClr val="F1F5F9"/>
                </a:solidFill>
                <a:latin typeface="Segoe UI" pitchFamily="34" charset="0"/>
                <a:ea typeface="Segoe UI" pitchFamily="34" charset="-122"/>
                <a:cs typeface="Segoe UI" pitchFamily="34" charset="-120"/>
              </a:rPr>
              <a:t>Automatic Detection</a:t>
            </a:r>
            <a:endParaRPr lang="en-US" sz="1125" dirty="0"/>
          </a:p>
        </p:txBody>
      </p:sp>
      <p:sp>
        <p:nvSpPr>
          <p:cNvPr id="12" name="Text 9"/>
          <p:cNvSpPr/>
          <p:nvPr/>
        </p:nvSpPr>
        <p:spPr>
          <a:xfrm>
            <a:off x="742950" y="2257425"/>
            <a:ext cx="3614738" cy="285750"/>
          </a:xfrm>
          <a:prstGeom prst="rect">
            <a:avLst/>
          </a:prstGeom>
          <a:noFill/>
          <a:ln/>
        </p:spPr>
        <p:txBody>
          <a:bodyPr wrap="square" lIns="0" tIns="0" rIns="0" bIns="0" rtlCol="0" anchor="ctr">
            <a:spAutoFit/>
          </a:bodyPr>
          <a:lstStyle/>
          <a:p>
            <a:pPr indent="0" marL="0">
              <a:buNone/>
            </a:pPr>
            <a:r>
              <a:rPr lang="en-US" sz="788" dirty="0">
                <a:solidFill>
                  <a:srgbClr val="F1F5F9"/>
                </a:solidFill>
                <a:latin typeface="Segoe UI" pitchFamily="34" charset="0"/>
                <a:ea typeface="Segoe UI" pitchFamily="34" charset="-122"/>
                <a:cs typeface="Segoe UI" pitchFamily="34" charset="-120"/>
              </a:rPr>
              <a:t>VS Code will attempt to automatically detect your JDK installation. If successful, no further action is needed.</a:t>
            </a:r>
            <a:endParaRPr lang="en-US" sz="788" dirty="0"/>
          </a:p>
        </p:txBody>
      </p:sp>
      <p:sp>
        <p:nvSpPr>
          <p:cNvPr id="13" name="Shape 10"/>
          <p:cNvSpPr/>
          <p:nvPr/>
        </p:nvSpPr>
        <p:spPr>
          <a:xfrm>
            <a:off x="628650" y="2743200"/>
            <a:ext cx="3657600" cy="1285875"/>
          </a:xfrm>
          <a:prstGeom prst="rect">
            <a:avLst/>
          </a:prstGeom>
          <a:solidFill>
            <a:srgbClr val="1E3A8A">
              <a:alpha val="30000"/>
            </a:srgbClr>
          </a:solidFill>
          <a:ln/>
        </p:spPr>
      </p:sp>
      <p:sp>
        <p:nvSpPr>
          <p:cNvPr id="14" name="Shape 11"/>
          <p:cNvSpPr/>
          <p:nvPr/>
        </p:nvSpPr>
        <p:spPr>
          <a:xfrm>
            <a:off x="628650" y="2743200"/>
            <a:ext cx="28575" cy="1285875"/>
          </a:xfrm>
          <a:prstGeom prst="rect">
            <a:avLst/>
          </a:prstGeom>
          <a:solidFill>
            <a:srgbClr val="60A5FA"/>
          </a:solidFill>
          <a:ln/>
        </p:spPr>
      </p:sp>
      <p:sp>
        <p:nvSpPr>
          <p:cNvPr id="15" name="Text 12"/>
          <p:cNvSpPr/>
          <p:nvPr/>
        </p:nvSpPr>
        <p:spPr>
          <a:xfrm>
            <a:off x="742950" y="2828925"/>
            <a:ext cx="3614738" cy="200025"/>
          </a:xfrm>
          <a:prstGeom prst="rect">
            <a:avLst/>
          </a:prstGeom>
          <a:noFill/>
          <a:ln/>
        </p:spPr>
        <p:txBody>
          <a:bodyPr wrap="square" lIns="0" tIns="0" rIns="0" bIns="0" rtlCol="0" anchor="ctr">
            <a:spAutoFit/>
          </a:bodyPr>
          <a:lstStyle/>
          <a:p>
            <a:pPr indent="0" marL="0">
              <a:buNone/>
            </a:pPr>
            <a:r>
              <a:rPr lang="en-US" sz="1125" b="1" dirty="0">
                <a:solidFill>
                  <a:srgbClr val="F1F5F9"/>
                </a:solidFill>
                <a:latin typeface="Segoe UI" pitchFamily="34" charset="0"/>
                <a:ea typeface="Segoe UI" pitchFamily="34" charset="-122"/>
                <a:cs typeface="Segoe UI" pitchFamily="34" charset="-120"/>
              </a:rPr>
              <a:t>Manual Configuration</a:t>
            </a:r>
            <a:endParaRPr lang="en-US" sz="1125" dirty="0"/>
          </a:p>
        </p:txBody>
      </p:sp>
      <p:sp>
        <p:nvSpPr>
          <p:cNvPr id="16" name="Text 13"/>
          <p:cNvSpPr/>
          <p:nvPr/>
        </p:nvSpPr>
        <p:spPr>
          <a:xfrm>
            <a:off x="742950" y="3057525"/>
            <a:ext cx="3614738" cy="142875"/>
          </a:xfrm>
          <a:prstGeom prst="rect">
            <a:avLst/>
          </a:prstGeom>
          <a:noFill/>
          <a:ln/>
        </p:spPr>
        <p:txBody>
          <a:bodyPr wrap="square" lIns="0" tIns="0" rIns="0" bIns="0" rtlCol="0" anchor="ctr">
            <a:spAutoFit/>
          </a:bodyPr>
          <a:lstStyle/>
          <a:p>
            <a:pPr indent="0" marL="0">
              <a:buNone/>
            </a:pPr>
            <a:r>
              <a:rPr lang="en-US" sz="788" dirty="0">
                <a:solidFill>
                  <a:srgbClr val="F1F5F9"/>
                </a:solidFill>
                <a:latin typeface="Segoe UI" pitchFamily="34" charset="0"/>
                <a:ea typeface="Segoe UI" pitchFamily="34" charset="-122"/>
                <a:cs typeface="Segoe UI" pitchFamily="34" charset="-120"/>
              </a:rPr>
              <a:t>If automatic detection fails, you can manually set the JDK path:</a:t>
            </a:r>
            <a:endParaRPr lang="en-US" sz="788" dirty="0"/>
          </a:p>
        </p:txBody>
      </p:sp>
      <p:sp>
        <p:nvSpPr>
          <p:cNvPr id="17" name="Text 14"/>
          <p:cNvSpPr/>
          <p:nvPr/>
        </p:nvSpPr>
        <p:spPr>
          <a:xfrm>
            <a:off x="857250" y="3257550"/>
            <a:ext cx="3500438" cy="114300"/>
          </a:xfrm>
          <a:prstGeom prst="rect">
            <a:avLst/>
          </a:prstGeom>
          <a:noFill/>
          <a:ln/>
        </p:spPr>
        <p:txBody>
          <a:bodyPr wrap="square" lIns="0" tIns="0" rIns="0" bIns="0" rtlCol="0" anchor="ctr">
            <a:spAutoFit/>
          </a:bodyPr>
          <a:lstStyle/>
          <a:p>
            <a:pPr algn="l" indent="0" marL="0">
              <a:buNone/>
            </a:pPr>
            <a:r>
              <a:rPr lang="en-US" sz="675" dirty="0">
                <a:solidFill>
                  <a:srgbClr val="F1F5F9"/>
                </a:solidFill>
                <a:latin typeface="Segoe UI" pitchFamily="34" charset="0"/>
                <a:ea typeface="Segoe UI" pitchFamily="34" charset="-122"/>
                <a:cs typeface="Segoe UI" pitchFamily="34" charset="-120"/>
              </a:rPr>
              <a:t>Open Command Palette (Ctrl+Shift+P / Cmd+Shift+P)</a:t>
            </a:r>
            <a:endParaRPr lang="en-US" sz="675" dirty="0"/>
          </a:p>
        </p:txBody>
      </p:sp>
      <p:sp>
        <p:nvSpPr>
          <p:cNvPr id="18" name="Text 15"/>
          <p:cNvSpPr/>
          <p:nvPr/>
        </p:nvSpPr>
        <p:spPr>
          <a:xfrm>
            <a:off x="857250" y="3400425"/>
            <a:ext cx="3500438" cy="114300"/>
          </a:xfrm>
          <a:prstGeom prst="rect">
            <a:avLst/>
          </a:prstGeom>
          <a:noFill/>
          <a:ln/>
        </p:spPr>
        <p:txBody>
          <a:bodyPr wrap="square" lIns="0" tIns="0" rIns="0" bIns="0" rtlCol="0" anchor="ctr">
            <a:spAutoFit/>
          </a:bodyPr>
          <a:lstStyle/>
          <a:p>
            <a:pPr algn="l" indent="0" marL="0">
              <a:buNone/>
            </a:pPr>
            <a:r>
              <a:rPr lang="en-US" sz="675" dirty="0">
                <a:solidFill>
                  <a:srgbClr val="F1F5F9"/>
                </a:solidFill>
                <a:latin typeface="Segoe UI" pitchFamily="34" charset="0"/>
                <a:ea typeface="Segoe UI" pitchFamily="34" charset="-122"/>
                <a:cs typeface="Segoe UI" pitchFamily="34" charset="-120"/>
              </a:rPr>
              <a:t>Type "Java: Configure Java Runtime"</a:t>
            </a:r>
            <a:endParaRPr lang="en-US" sz="675" dirty="0"/>
          </a:p>
        </p:txBody>
      </p:sp>
      <p:sp>
        <p:nvSpPr>
          <p:cNvPr id="19" name="Text 16"/>
          <p:cNvSpPr/>
          <p:nvPr/>
        </p:nvSpPr>
        <p:spPr>
          <a:xfrm>
            <a:off x="857250" y="3543300"/>
            <a:ext cx="3500438" cy="114300"/>
          </a:xfrm>
          <a:prstGeom prst="rect">
            <a:avLst/>
          </a:prstGeom>
          <a:noFill/>
          <a:ln/>
        </p:spPr>
        <p:txBody>
          <a:bodyPr wrap="square" lIns="0" tIns="0" rIns="0" bIns="0" rtlCol="0" anchor="ctr">
            <a:spAutoFit/>
          </a:bodyPr>
          <a:lstStyle/>
          <a:p>
            <a:pPr algn="l" indent="0" marL="0">
              <a:buNone/>
            </a:pPr>
            <a:r>
              <a:rPr lang="en-US" sz="675" dirty="0">
                <a:solidFill>
                  <a:srgbClr val="F1F5F9"/>
                </a:solidFill>
                <a:latin typeface="Segoe UI" pitchFamily="34" charset="0"/>
                <a:ea typeface="Segoe UI" pitchFamily="34" charset="-122"/>
                <a:cs typeface="Segoe UI" pitchFamily="34" charset="-120"/>
              </a:rPr>
              <a:t>Click "Configure Java Runtime"</a:t>
            </a:r>
            <a:endParaRPr lang="en-US" sz="675" dirty="0"/>
          </a:p>
        </p:txBody>
      </p:sp>
      <p:sp>
        <p:nvSpPr>
          <p:cNvPr id="20" name="Text 17"/>
          <p:cNvSpPr/>
          <p:nvPr/>
        </p:nvSpPr>
        <p:spPr>
          <a:xfrm>
            <a:off x="857250" y="3686175"/>
            <a:ext cx="3500438" cy="114300"/>
          </a:xfrm>
          <a:prstGeom prst="rect">
            <a:avLst/>
          </a:prstGeom>
          <a:noFill/>
          <a:ln/>
        </p:spPr>
        <p:txBody>
          <a:bodyPr wrap="square" lIns="0" tIns="0" rIns="0" bIns="0" rtlCol="0" anchor="ctr">
            <a:spAutoFit/>
          </a:bodyPr>
          <a:lstStyle/>
          <a:p>
            <a:pPr algn="l" indent="0" marL="0">
              <a:buNone/>
            </a:pPr>
            <a:r>
              <a:rPr lang="en-US" sz="675" dirty="0">
                <a:solidFill>
                  <a:srgbClr val="F1F5F9"/>
                </a:solidFill>
                <a:latin typeface="Segoe UI" pitchFamily="34" charset="0"/>
                <a:ea typeface="Segoe UI" pitchFamily="34" charset="-122"/>
                <a:cs typeface="Segoe UI" pitchFamily="34" charset="-120"/>
              </a:rPr>
              <a:t>Under "JDK Installations", click "Add"</a:t>
            </a:r>
            <a:endParaRPr lang="en-US" sz="675" dirty="0"/>
          </a:p>
        </p:txBody>
      </p:sp>
      <p:sp>
        <p:nvSpPr>
          <p:cNvPr id="21" name="Text 18"/>
          <p:cNvSpPr/>
          <p:nvPr/>
        </p:nvSpPr>
        <p:spPr>
          <a:xfrm>
            <a:off x="857250" y="3829050"/>
            <a:ext cx="3500438" cy="114300"/>
          </a:xfrm>
          <a:prstGeom prst="rect">
            <a:avLst/>
          </a:prstGeom>
          <a:noFill/>
          <a:ln/>
        </p:spPr>
        <p:txBody>
          <a:bodyPr wrap="square" lIns="0" tIns="0" rIns="0" bIns="0" rtlCol="0" anchor="ctr">
            <a:spAutoFit/>
          </a:bodyPr>
          <a:lstStyle/>
          <a:p>
            <a:pPr algn="l" indent="0" marL="0">
              <a:buNone/>
            </a:pPr>
            <a:r>
              <a:rPr lang="en-US" sz="675" dirty="0">
                <a:solidFill>
                  <a:srgbClr val="F1F5F9"/>
                </a:solidFill>
                <a:latin typeface="Segoe UI" pitchFamily="34" charset="0"/>
                <a:ea typeface="Segoe UI" pitchFamily="34" charset="-122"/>
                <a:cs typeface="Segoe UI" pitchFamily="34" charset="-120"/>
              </a:rPr>
              <a:t>Browse to your JDK installation folder</a:t>
            </a:r>
            <a:endParaRPr lang="en-US" sz="675" dirty="0"/>
          </a:p>
        </p:txBody>
      </p:sp>
      <p:sp>
        <p:nvSpPr>
          <p:cNvPr id="22" name="Shape 19"/>
          <p:cNvSpPr/>
          <p:nvPr/>
        </p:nvSpPr>
        <p:spPr>
          <a:xfrm>
            <a:off x="457200" y="4371975"/>
            <a:ext cx="4000500" cy="3100388"/>
          </a:xfrm>
          <a:prstGeom prst="rect">
            <a:avLst/>
          </a:prstGeom>
          <a:solidFill>
            <a:srgbClr val="FFFFFF">
              <a:alpha val="10000"/>
            </a:srgbClr>
          </a:solidFill>
          <a:ln w="99">
            <a:solidFill>
              <a:srgbClr val="60A5FA">
                <a:alpha val="30000"/>
              </a:srgbClr>
            </a:solidFill>
            <a:prstDash val="solid"/>
          </a:ln>
        </p:spPr>
      </p:sp>
      <p:sp>
        <p:nvSpPr>
          <p:cNvPr id="23" name="Text 20"/>
          <p:cNvSpPr/>
          <p:nvPr/>
        </p:nvSpPr>
        <p:spPr>
          <a:xfrm>
            <a:off x="628650" y="4543425"/>
            <a:ext cx="3729038" cy="228600"/>
          </a:xfrm>
          <a:prstGeom prst="rect">
            <a:avLst/>
          </a:prstGeom>
          <a:noFill/>
          <a:ln/>
        </p:spPr>
        <p:txBody>
          <a:bodyPr wrap="square" lIns="0" tIns="0" rIns="0" bIns="0" rtlCol="0" anchor="ctr">
            <a:spAutoFit/>
          </a:bodyPr>
          <a:lstStyle/>
          <a:p>
            <a:pPr indent="0" marL="0">
              <a:buNone/>
            </a:pPr>
            <a:r>
              <a:rPr lang="en-US" sz="1350" b="1" dirty="0">
                <a:solidFill>
                  <a:srgbClr val="BFDBFE"/>
                </a:solidFill>
                <a:latin typeface="Segoe UI" pitchFamily="34" charset="0"/>
                <a:ea typeface="Segoe UI" pitchFamily="34" charset="-122"/>
                <a:cs typeface="Segoe UI" pitchFamily="34" charset="-120"/>
              </a:rPr>
              <a:t>Workspace Settings</a:t>
            </a:r>
            <a:endParaRPr lang="en-US" sz="1350" dirty="0"/>
          </a:p>
        </p:txBody>
      </p:sp>
      <p:sp>
        <p:nvSpPr>
          <p:cNvPr id="24" name="Shape 21"/>
          <p:cNvSpPr/>
          <p:nvPr/>
        </p:nvSpPr>
        <p:spPr>
          <a:xfrm>
            <a:off x="628650" y="4886325"/>
            <a:ext cx="3657600" cy="1285875"/>
          </a:xfrm>
          <a:prstGeom prst="rect">
            <a:avLst/>
          </a:prstGeom>
          <a:solidFill>
            <a:srgbClr val="1E3A8A">
              <a:alpha val="30000"/>
            </a:srgbClr>
          </a:solidFill>
          <a:ln/>
        </p:spPr>
      </p:sp>
      <p:sp>
        <p:nvSpPr>
          <p:cNvPr id="25" name="Shape 22"/>
          <p:cNvSpPr/>
          <p:nvPr/>
        </p:nvSpPr>
        <p:spPr>
          <a:xfrm>
            <a:off x="628650" y="4886325"/>
            <a:ext cx="28575" cy="1285875"/>
          </a:xfrm>
          <a:prstGeom prst="rect">
            <a:avLst/>
          </a:prstGeom>
          <a:solidFill>
            <a:srgbClr val="60A5FA"/>
          </a:solidFill>
          <a:ln/>
        </p:spPr>
      </p:sp>
      <p:sp>
        <p:nvSpPr>
          <p:cNvPr id="26" name="Text 23"/>
          <p:cNvSpPr/>
          <p:nvPr/>
        </p:nvSpPr>
        <p:spPr>
          <a:xfrm>
            <a:off x="742950" y="4972050"/>
            <a:ext cx="3614738" cy="200025"/>
          </a:xfrm>
          <a:prstGeom prst="rect">
            <a:avLst/>
          </a:prstGeom>
          <a:noFill/>
          <a:ln/>
        </p:spPr>
        <p:txBody>
          <a:bodyPr wrap="square" lIns="0" tIns="0" rIns="0" bIns="0" rtlCol="0" anchor="ctr">
            <a:spAutoFit/>
          </a:bodyPr>
          <a:lstStyle/>
          <a:p>
            <a:pPr indent="0" marL="0">
              <a:buNone/>
            </a:pPr>
            <a:r>
              <a:rPr lang="en-US" sz="1125" b="1" dirty="0">
                <a:solidFill>
                  <a:srgbClr val="F1F5F9"/>
                </a:solidFill>
                <a:latin typeface="Segoe UI" pitchFamily="34" charset="0"/>
                <a:ea typeface="Segoe UI" pitchFamily="34" charset="-122"/>
                <a:cs typeface="Segoe UI" pitchFamily="34" charset="-120"/>
              </a:rPr>
              <a:t>Creating a Workspace</a:t>
            </a:r>
            <a:endParaRPr lang="en-US" sz="1125" dirty="0"/>
          </a:p>
        </p:txBody>
      </p:sp>
      <p:sp>
        <p:nvSpPr>
          <p:cNvPr id="27" name="Text 24"/>
          <p:cNvSpPr/>
          <p:nvPr/>
        </p:nvSpPr>
        <p:spPr>
          <a:xfrm>
            <a:off x="742950" y="5200650"/>
            <a:ext cx="3614738" cy="142875"/>
          </a:xfrm>
          <a:prstGeom prst="rect">
            <a:avLst/>
          </a:prstGeom>
          <a:noFill/>
          <a:ln/>
        </p:spPr>
        <p:txBody>
          <a:bodyPr wrap="square" lIns="0" tIns="0" rIns="0" bIns="0" rtlCol="0" anchor="ctr">
            <a:spAutoFit/>
          </a:bodyPr>
          <a:lstStyle/>
          <a:p>
            <a:pPr indent="0" marL="0">
              <a:buNone/>
            </a:pPr>
            <a:r>
              <a:rPr lang="en-US" sz="788" dirty="0">
                <a:solidFill>
                  <a:srgbClr val="F1F5F9"/>
                </a:solidFill>
                <a:latin typeface="Segoe UI" pitchFamily="34" charset="0"/>
                <a:ea typeface="Segoe UI" pitchFamily="34" charset="-122"/>
                <a:cs typeface="Segoe UI" pitchFamily="34" charset="-120"/>
              </a:rPr>
              <a:t>For better organization, create a dedicated workspace for Java projects:</a:t>
            </a:r>
            <a:endParaRPr lang="en-US" sz="788" dirty="0"/>
          </a:p>
        </p:txBody>
      </p:sp>
      <p:sp>
        <p:nvSpPr>
          <p:cNvPr id="28" name="Text 25"/>
          <p:cNvSpPr/>
          <p:nvPr/>
        </p:nvSpPr>
        <p:spPr>
          <a:xfrm>
            <a:off x="857250" y="5400675"/>
            <a:ext cx="3500438" cy="114300"/>
          </a:xfrm>
          <a:prstGeom prst="rect">
            <a:avLst/>
          </a:prstGeom>
          <a:noFill/>
          <a:ln/>
        </p:spPr>
        <p:txBody>
          <a:bodyPr wrap="square" lIns="0" tIns="0" rIns="0" bIns="0" rtlCol="0" anchor="ctr">
            <a:spAutoFit/>
          </a:bodyPr>
          <a:lstStyle/>
          <a:p>
            <a:pPr algn="l" indent="0" marL="0">
              <a:buNone/>
            </a:pPr>
            <a:r>
              <a:rPr lang="en-US" sz="675" dirty="0">
                <a:solidFill>
                  <a:srgbClr val="F1F5F9"/>
                </a:solidFill>
                <a:latin typeface="Segoe UI" pitchFamily="34" charset="0"/>
                <a:ea typeface="Segoe UI" pitchFamily="34" charset="-122"/>
                <a:cs typeface="Segoe UI" pitchFamily="34" charset="-120"/>
              </a:rPr>
              <a:t>Create a new folder for your Java projects</a:t>
            </a:r>
            <a:endParaRPr lang="en-US" sz="675" dirty="0"/>
          </a:p>
        </p:txBody>
      </p:sp>
      <p:sp>
        <p:nvSpPr>
          <p:cNvPr id="29" name="Text 26"/>
          <p:cNvSpPr/>
          <p:nvPr/>
        </p:nvSpPr>
        <p:spPr>
          <a:xfrm>
            <a:off x="857250" y="5543550"/>
            <a:ext cx="3500438" cy="114300"/>
          </a:xfrm>
          <a:prstGeom prst="rect">
            <a:avLst/>
          </a:prstGeom>
          <a:noFill/>
          <a:ln/>
        </p:spPr>
        <p:txBody>
          <a:bodyPr wrap="square" lIns="0" tIns="0" rIns="0" bIns="0" rtlCol="0" anchor="ctr">
            <a:spAutoFit/>
          </a:bodyPr>
          <a:lstStyle/>
          <a:p>
            <a:pPr algn="l" indent="0" marL="0">
              <a:buNone/>
            </a:pPr>
            <a:r>
              <a:rPr lang="en-US" sz="675" dirty="0">
                <a:solidFill>
                  <a:srgbClr val="F1F5F9"/>
                </a:solidFill>
                <a:latin typeface="Segoe UI" pitchFamily="34" charset="0"/>
                <a:ea typeface="Segoe UI" pitchFamily="34" charset="-122"/>
                <a:cs typeface="Segoe UI" pitchFamily="34" charset="-120"/>
              </a:rPr>
              <a:t>In VS Code, go to File → Open Folder</a:t>
            </a:r>
            <a:endParaRPr lang="en-US" sz="675" dirty="0"/>
          </a:p>
        </p:txBody>
      </p:sp>
      <p:sp>
        <p:nvSpPr>
          <p:cNvPr id="30" name="Text 27"/>
          <p:cNvSpPr/>
          <p:nvPr/>
        </p:nvSpPr>
        <p:spPr>
          <a:xfrm>
            <a:off x="857250" y="5686425"/>
            <a:ext cx="3500438" cy="114300"/>
          </a:xfrm>
          <a:prstGeom prst="rect">
            <a:avLst/>
          </a:prstGeom>
          <a:noFill/>
          <a:ln/>
        </p:spPr>
        <p:txBody>
          <a:bodyPr wrap="square" lIns="0" tIns="0" rIns="0" bIns="0" rtlCol="0" anchor="ctr">
            <a:spAutoFit/>
          </a:bodyPr>
          <a:lstStyle/>
          <a:p>
            <a:pPr algn="l" indent="0" marL="0">
              <a:buNone/>
            </a:pPr>
            <a:r>
              <a:rPr lang="en-US" sz="675" dirty="0">
                <a:solidFill>
                  <a:srgbClr val="F1F5F9"/>
                </a:solidFill>
                <a:latin typeface="Segoe UI" pitchFamily="34" charset="0"/>
                <a:ea typeface="Segoe UI" pitchFamily="34" charset="-122"/>
                <a:cs typeface="Segoe UI" pitchFamily="34" charset="-120"/>
              </a:rPr>
              <a:t>Select your Java projects folder</a:t>
            </a:r>
            <a:endParaRPr lang="en-US" sz="675" dirty="0"/>
          </a:p>
        </p:txBody>
      </p:sp>
      <p:sp>
        <p:nvSpPr>
          <p:cNvPr id="31" name="Text 28"/>
          <p:cNvSpPr/>
          <p:nvPr/>
        </p:nvSpPr>
        <p:spPr>
          <a:xfrm>
            <a:off x="857250" y="5829300"/>
            <a:ext cx="3500438" cy="114300"/>
          </a:xfrm>
          <a:prstGeom prst="rect">
            <a:avLst/>
          </a:prstGeom>
          <a:noFill/>
          <a:ln/>
        </p:spPr>
        <p:txBody>
          <a:bodyPr wrap="square" lIns="0" tIns="0" rIns="0" bIns="0" rtlCol="0" anchor="ctr">
            <a:spAutoFit/>
          </a:bodyPr>
          <a:lstStyle/>
          <a:p>
            <a:pPr algn="l" indent="0" marL="0">
              <a:buNone/>
            </a:pPr>
            <a:r>
              <a:rPr lang="en-US" sz="675" dirty="0">
                <a:solidFill>
                  <a:srgbClr val="F1F5F9"/>
                </a:solidFill>
                <a:latin typeface="Segoe UI" pitchFamily="34" charset="0"/>
                <a:ea typeface="Segoe UI" pitchFamily="34" charset="-122"/>
                <a:cs typeface="Segoe UI" pitchFamily="34" charset="-120"/>
              </a:rPr>
              <a:t>Go to File → Save Workspace As...</a:t>
            </a:r>
            <a:endParaRPr lang="en-US" sz="675" dirty="0"/>
          </a:p>
        </p:txBody>
      </p:sp>
      <p:sp>
        <p:nvSpPr>
          <p:cNvPr id="32" name="Text 29"/>
          <p:cNvSpPr/>
          <p:nvPr/>
        </p:nvSpPr>
        <p:spPr>
          <a:xfrm>
            <a:off x="857250" y="5972175"/>
            <a:ext cx="3500438" cy="114300"/>
          </a:xfrm>
          <a:prstGeom prst="rect">
            <a:avLst/>
          </a:prstGeom>
          <a:noFill/>
          <a:ln/>
        </p:spPr>
        <p:txBody>
          <a:bodyPr wrap="square" lIns="0" tIns="0" rIns="0" bIns="0" rtlCol="0" anchor="ctr">
            <a:spAutoFit/>
          </a:bodyPr>
          <a:lstStyle/>
          <a:p>
            <a:pPr algn="l" indent="0" marL="0">
              <a:buNone/>
            </a:pPr>
            <a:r>
              <a:rPr lang="en-US" sz="675" dirty="0">
                <a:solidFill>
                  <a:srgbClr val="F1F5F9"/>
                </a:solidFill>
                <a:latin typeface="Segoe UI" pitchFamily="34" charset="0"/>
                <a:ea typeface="Segoe UI" pitchFamily="34" charset="-122"/>
                <a:cs typeface="Segoe UI" pitchFamily="34" charset="-120"/>
              </a:rPr>
              <a:t>Name your workspace (e.g., "JavaProjects.code-workspace")</a:t>
            </a:r>
            <a:endParaRPr lang="en-US" sz="675" dirty="0"/>
          </a:p>
        </p:txBody>
      </p:sp>
      <p:sp>
        <p:nvSpPr>
          <p:cNvPr id="33" name="Shape 30"/>
          <p:cNvSpPr/>
          <p:nvPr/>
        </p:nvSpPr>
        <p:spPr>
          <a:xfrm>
            <a:off x="628650" y="6286500"/>
            <a:ext cx="3657600" cy="1000125"/>
          </a:xfrm>
          <a:prstGeom prst="rect">
            <a:avLst/>
          </a:prstGeom>
          <a:solidFill>
            <a:srgbClr val="1E3A8A">
              <a:alpha val="30000"/>
            </a:srgbClr>
          </a:solidFill>
          <a:ln/>
        </p:spPr>
      </p:sp>
      <p:sp>
        <p:nvSpPr>
          <p:cNvPr id="34" name="Shape 31"/>
          <p:cNvSpPr/>
          <p:nvPr/>
        </p:nvSpPr>
        <p:spPr>
          <a:xfrm>
            <a:off x="628650" y="6286500"/>
            <a:ext cx="28575" cy="1000125"/>
          </a:xfrm>
          <a:prstGeom prst="rect">
            <a:avLst/>
          </a:prstGeom>
          <a:solidFill>
            <a:srgbClr val="60A5FA"/>
          </a:solidFill>
          <a:ln/>
        </p:spPr>
      </p:sp>
      <p:sp>
        <p:nvSpPr>
          <p:cNvPr id="35" name="Text 32"/>
          <p:cNvSpPr/>
          <p:nvPr/>
        </p:nvSpPr>
        <p:spPr>
          <a:xfrm>
            <a:off x="742950" y="6372225"/>
            <a:ext cx="3614738" cy="200025"/>
          </a:xfrm>
          <a:prstGeom prst="rect">
            <a:avLst/>
          </a:prstGeom>
          <a:noFill/>
          <a:ln/>
        </p:spPr>
        <p:txBody>
          <a:bodyPr wrap="square" lIns="0" tIns="0" rIns="0" bIns="0" rtlCol="0" anchor="ctr">
            <a:spAutoFit/>
          </a:bodyPr>
          <a:lstStyle/>
          <a:p>
            <a:pPr indent="0" marL="0">
              <a:buNone/>
            </a:pPr>
            <a:r>
              <a:rPr lang="en-US" sz="1125" b="1" dirty="0">
                <a:solidFill>
                  <a:srgbClr val="F1F5F9"/>
                </a:solidFill>
                <a:latin typeface="Segoe UI" pitchFamily="34" charset="0"/>
                <a:ea typeface="Segoe UI" pitchFamily="34" charset="-122"/>
                <a:cs typeface="Segoe UI" pitchFamily="34" charset="-120"/>
              </a:rPr>
              <a:t>Workspace Settings File</a:t>
            </a:r>
            <a:endParaRPr lang="en-US" sz="1125" dirty="0"/>
          </a:p>
        </p:txBody>
      </p:sp>
      <p:sp>
        <p:nvSpPr>
          <p:cNvPr id="36" name="Text 33"/>
          <p:cNvSpPr/>
          <p:nvPr/>
        </p:nvSpPr>
        <p:spPr>
          <a:xfrm>
            <a:off x="742950" y="6600825"/>
            <a:ext cx="3614738" cy="142875"/>
          </a:xfrm>
          <a:prstGeom prst="rect">
            <a:avLst/>
          </a:prstGeom>
          <a:noFill/>
          <a:ln/>
        </p:spPr>
        <p:txBody>
          <a:bodyPr wrap="square" lIns="0" tIns="0" rIns="0" bIns="0" rtlCol="0" anchor="ctr">
            <a:spAutoFit/>
          </a:bodyPr>
          <a:lstStyle/>
          <a:p>
            <a:pPr indent="0" marL="0">
              <a:buNone/>
            </a:pPr>
            <a:r>
              <a:rPr lang="en-US" sz="788" dirty="0">
                <a:solidFill>
                  <a:srgbClr val="F1F5F9"/>
                </a:solidFill>
                <a:latin typeface="Segoe UI" pitchFamily="34" charset="0"/>
                <a:ea typeface="Segoe UI" pitchFamily="34" charset="-122"/>
                <a:cs typeface="Segoe UI" pitchFamily="34" charset="-120"/>
              </a:rPr>
              <a:t>Create or modify settings.json for Java-specific configurations:</a:t>
            </a:r>
            <a:endParaRPr lang="en-US" sz="788" dirty="0"/>
          </a:p>
        </p:txBody>
      </p:sp>
      <p:sp>
        <p:nvSpPr>
          <p:cNvPr id="37" name="Text 34"/>
          <p:cNvSpPr/>
          <p:nvPr/>
        </p:nvSpPr>
        <p:spPr>
          <a:xfrm>
            <a:off x="857250" y="6800850"/>
            <a:ext cx="3500438" cy="114300"/>
          </a:xfrm>
          <a:prstGeom prst="rect">
            <a:avLst/>
          </a:prstGeom>
          <a:noFill/>
          <a:ln/>
        </p:spPr>
        <p:txBody>
          <a:bodyPr wrap="square" lIns="0" tIns="0" rIns="0" bIns="0" rtlCol="0" anchor="ctr">
            <a:spAutoFit/>
          </a:bodyPr>
          <a:lstStyle/>
          <a:p>
            <a:pPr algn="l" indent="0" marL="0">
              <a:buNone/>
            </a:pPr>
            <a:r>
              <a:rPr lang="en-US" sz="675" dirty="0">
                <a:solidFill>
                  <a:srgbClr val="F1F5F9"/>
                </a:solidFill>
                <a:latin typeface="Segoe UI" pitchFamily="34" charset="0"/>
                <a:ea typeface="Segoe UI" pitchFamily="34" charset="-122"/>
                <a:cs typeface="Segoe UI" pitchFamily="34" charset="-120"/>
              </a:rPr>
              <a:t>Open Command Palette (Ctrl+Shift+P / Cmd+Shift+P)</a:t>
            </a:r>
            <a:endParaRPr lang="en-US" sz="675" dirty="0"/>
          </a:p>
        </p:txBody>
      </p:sp>
      <p:sp>
        <p:nvSpPr>
          <p:cNvPr id="38" name="Text 35"/>
          <p:cNvSpPr/>
          <p:nvPr/>
        </p:nvSpPr>
        <p:spPr>
          <a:xfrm>
            <a:off x="857250" y="6943725"/>
            <a:ext cx="3500438" cy="114300"/>
          </a:xfrm>
          <a:prstGeom prst="rect">
            <a:avLst/>
          </a:prstGeom>
          <a:noFill/>
          <a:ln/>
        </p:spPr>
        <p:txBody>
          <a:bodyPr wrap="square" lIns="0" tIns="0" rIns="0" bIns="0" rtlCol="0" anchor="ctr">
            <a:spAutoFit/>
          </a:bodyPr>
          <a:lstStyle/>
          <a:p>
            <a:pPr algn="l" indent="0" marL="0">
              <a:buNone/>
            </a:pPr>
            <a:r>
              <a:rPr lang="en-US" sz="675" dirty="0">
                <a:solidFill>
                  <a:srgbClr val="F1F5F9"/>
                </a:solidFill>
                <a:latin typeface="Segoe UI" pitchFamily="34" charset="0"/>
                <a:ea typeface="Segoe UI" pitchFamily="34" charset="-122"/>
                <a:cs typeface="Segoe UI" pitchFamily="34" charset="-120"/>
              </a:rPr>
              <a:t>Type "Preferences: Open Workspace Settings (JSON)"</a:t>
            </a:r>
            <a:endParaRPr lang="en-US" sz="675" dirty="0"/>
          </a:p>
        </p:txBody>
      </p:sp>
      <p:sp>
        <p:nvSpPr>
          <p:cNvPr id="39" name="Text 36"/>
          <p:cNvSpPr/>
          <p:nvPr/>
        </p:nvSpPr>
        <p:spPr>
          <a:xfrm>
            <a:off x="857250" y="7086600"/>
            <a:ext cx="3500438" cy="114300"/>
          </a:xfrm>
          <a:prstGeom prst="rect">
            <a:avLst/>
          </a:prstGeom>
          <a:noFill/>
          <a:ln/>
        </p:spPr>
        <p:txBody>
          <a:bodyPr wrap="square" lIns="0" tIns="0" rIns="0" bIns="0" rtlCol="0" anchor="ctr">
            <a:spAutoFit/>
          </a:bodyPr>
          <a:lstStyle/>
          <a:p>
            <a:pPr algn="l" indent="0" marL="0">
              <a:buNone/>
            </a:pPr>
            <a:r>
              <a:rPr lang="en-US" sz="675" dirty="0">
                <a:solidFill>
                  <a:srgbClr val="F1F5F9"/>
                </a:solidFill>
                <a:latin typeface="Segoe UI" pitchFamily="34" charset="0"/>
                <a:ea typeface="Segoe UI" pitchFamily="34" charset="-122"/>
                <a:cs typeface="Segoe UI" pitchFamily="34" charset="-120"/>
              </a:rPr>
              <a:t>Add Java-specific settings (examples in next section)</a:t>
            </a:r>
            <a:endParaRPr lang="en-US" sz="675" dirty="0"/>
          </a:p>
        </p:txBody>
      </p:sp>
      <p:sp>
        <p:nvSpPr>
          <p:cNvPr id="40" name="Shape 37"/>
          <p:cNvSpPr/>
          <p:nvPr/>
        </p:nvSpPr>
        <p:spPr>
          <a:xfrm>
            <a:off x="4686300" y="971550"/>
            <a:ext cx="4000500" cy="5014913"/>
          </a:xfrm>
          <a:prstGeom prst="rect">
            <a:avLst/>
          </a:prstGeom>
          <a:solidFill>
            <a:srgbClr val="FFFFFF">
              <a:alpha val="10000"/>
            </a:srgbClr>
          </a:solidFill>
          <a:ln w="99">
            <a:solidFill>
              <a:srgbClr val="60A5FA">
                <a:alpha val="30000"/>
              </a:srgbClr>
            </a:solidFill>
            <a:prstDash val="solid"/>
          </a:ln>
        </p:spPr>
      </p:sp>
      <p:sp>
        <p:nvSpPr>
          <p:cNvPr id="41" name="Text 38"/>
          <p:cNvSpPr/>
          <p:nvPr/>
        </p:nvSpPr>
        <p:spPr>
          <a:xfrm>
            <a:off x="4857750" y="1143000"/>
            <a:ext cx="3729038" cy="228600"/>
          </a:xfrm>
          <a:prstGeom prst="rect">
            <a:avLst/>
          </a:prstGeom>
          <a:noFill/>
          <a:ln/>
        </p:spPr>
        <p:txBody>
          <a:bodyPr wrap="square" lIns="0" tIns="0" rIns="0" bIns="0" rtlCol="0" anchor="ctr">
            <a:spAutoFit/>
          </a:bodyPr>
          <a:lstStyle/>
          <a:p>
            <a:pPr indent="0" marL="0">
              <a:buNone/>
            </a:pPr>
            <a:r>
              <a:rPr lang="en-US" sz="1350" b="1" dirty="0">
                <a:solidFill>
                  <a:srgbClr val="BFDBFE"/>
                </a:solidFill>
                <a:latin typeface="Segoe UI" pitchFamily="34" charset="0"/>
                <a:ea typeface="Segoe UI" pitchFamily="34" charset="-122"/>
                <a:cs typeface="Segoe UI" pitchFamily="34" charset="-120"/>
              </a:rPr>
              <a:t>Recommended Settings</a:t>
            </a:r>
            <a:endParaRPr lang="en-US" sz="1350" dirty="0"/>
          </a:p>
        </p:txBody>
      </p:sp>
      <p:sp>
        <p:nvSpPr>
          <p:cNvPr id="42" name="Shape 39"/>
          <p:cNvSpPr/>
          <p:nvPr/>
        </p:nvSpPr>
        <p:spPr>
          <a:xfrm>
            <a:off x="4857750" y="1485900"/>
            <a:ext cx="3657600" cy="3057525"/>
          </a:xfrm>
          <a:prstGeom prst="rect">
            <a:avLst/>
          </a:prstGeom>
          <a:solidFill>
            <a:srgbClr val="1E3A8A">
              <a:alpha val="30000"/>
            </a:srgbClr>
          </a:solidFill>
          <a:ln/>
        </p:spPr>
      </p:sp>
      <p:sp>
        <p:nvSpPr>
          <p:cNvPr id="43" name="Text 40"/>
          <p:cNvSpPr/>
          <p:nvPr/>
        </p:nvSpPr>
        <p:spPr>
          <a:xfrm>
            <a:off x="4972050" y="1600200"/>
            <a:ext cx="3500438" cy="200025"/>
          </a:xfrm>
          <a:prstGeom prst="rect">
            <a:avLst/>
          </a:prstGeom>
          <a:noFill/>
          <a:ln/>
        </p:spPr>
        <p:txBody>
          <a:bodyPr wrap="square" lIns="0" tIns="0" rIns="0" bIns="0" rtlCol="0" anchor="ctr">
            <a:spAutoFit/>
          </a:bodyPr>
          <a:lstStyle/>
          <a:p>
            <a:pPr indent="0" marL="0">
              <a:buNone/>
            </a:pPr>
            <a:r>
              <a:rPr lang="en-US" sz="1125" b="1" dirty="0">
                <a:solidFill>
                  <a:srgbClr val="F1F5F9"/>
                </a:solidFill>
                <a:latin typeface="Segoe UI" pitchFamily="34" charset="0"/>
                <a:ea typeface="Segoe UI" pitchFamily="34" charset="-122"/>
                <a:cs typeface="Segoe UI" pitchFamily="34" charset="-120"/>
              </a:rPr>
              <a:t>Example settings.json</a:t>
            </a:r>
            <a:endParaRPr lang="en-US" sz="1125" dirty="0"/>
          </a:p>
        </p:txBody>
      </p:sp>
      <p:sp>
        <p:nvSpPr>
          <p:cNvPr id="44" name="Shape 41"/>
          <p:cNvSpPr/>
          <p:nvPr/>
        </p:nvSpPr>
        <p:spPr>
          <a:xfrm>
            <a:off x="4972050" y="1857375"/>
            <a:ext cx="3429000" cy="2571750"/>
          </a:xfrm>
          <a:prstGeom prst="rect">
            <a:avLst/>
          </a:prstGeom>
          <a:solidFill>
            <a:srgbClr val="111827">
              <a:alpha val="50000"/>
            </a:srgbClr>
          </a:solidFill>
          <a:ln/>
        </p:spPr>
      </p:sp>
      <p:sp>
        <p:nvSpPr>
          <p:cNvPr id="45" name="Text 42"/>
          <p:cNvSpPr/>
          <p:nvPr/>
        </p:nvSpPr>
        <p:spPr>
          <a:xfrm>
            <a:off x="5057775" y="1998464"/>
            <a:ext cx="122895" cy="96441"/>
          </a:xfrm>
          <a:prstGeom prst="rect">
            <a:avLst/>
          </a:prstGeom>
          <a:noFill/>
          <a:ln/>
        </p:spPr>
        <p:txBody>
          <a:bodyPr wrap="none" lIns="0" tIns="0" rIns="0" bIns="0" rtlCol="0" anchor="ctr">
            <a:spAutoFit/>
          </a:bodyPr>
          <a:lstStyle/>
          <a:p>
            <a:pPr indent="0" marL="0">
              <a:buNone/>
            </a:pPr>
            <a:r>
              <a:rPr lang="en-US" sz="675" dirty="0">
                <a:solidFill>
                  <a:srgbClr val="DBEAFE"/>
                </a:solidFill>
                <a:latin typeface="ui-monospace" pitchFamily="34" charset="0"/>
                <a:ea typeface="ui-monospace" pitchFamily="34" charset="-122"/>
                <a:cs typeface="ui-monospace" pitchFamily="34" charset="-120"/>
              </a:rPr>
              <a:t>{</a:t>
            </a:r>
            <a:endParaRPr lang="en-US" sz="675" dirty="0"/>
          </a:p>
        </p:txBody>
      </p:sp>
      <p:sp>
        <p:nvSpPr>
          <p:cNvPr id="46" name="Text 43"/>
          <p:cNvSpPr/>
          <p:nvPr/>
        </p:nvSpPr>
        <p:spPr>
          <a:xfrm>
            <a:off x="5057775" y="2169914"/>
            <a:ext cx="1614739" cy="96441"/>
          </a:xfrm>
          <a:prstGeom prst="rect">
            <a:avLst/>
          </a:prstGeom>
          <a:noFill/>
          <a:ln/>
        </p:spPr>
        <p:txBody>
          <a:bodyPr wrap="square" lIns="0" tIns="0" rIns="0" bIns="0" rtlCol="0" anchor="ctr">
            <a:spAutoFit/>
          </a:bodyPr>
          <a:lstStyle/>
          <a:p>
            <a:pPr indent="0" marL="0">
              <a:buNone/>
            </a:pPr>
            <a:r>
              <a:rPr lang="en-US" sz="675" dirty="0">
                <a:solidFill>
                  <a:srgbClr val="DBEAFE"/>
                </a:solidFill>
                <a:latin typeface="ui-monospace" pitchFamily="34" charset="0"/>
                <a:ea typeface="ui-monospace" pitchFamily="34" charset="-122"/>
                <a:cs typeface="ui-monospace" pitchFamily="34" charset="-120"/>
              </a:rPr>
              <a:t>"java.home": "/path/to/jdk",</a:t>
            </a:r>
            <a:endParaRPr lang="en-US" sz="675" dirty="0"/>
          </a:p>
        </p:txBody>
      </p:sp>
      <p:sp>
        <p:nvSpPr>
          <p:cNvPr id="47" name="Text 44"/>
          <p:cNvSpPr/>
          <p:nvPr/>
        </p:nvSpPr>
        <p:spPr>
          <a:xfrm>
            <a:off x="5057775" y="2341364"/>
            <a:ext cx="2026286" cy="96441"/>
          </a:xfrm>
          <a:prstGeom prst="rect">
            <a:avLst/>
          </a:prstGeom>
          <a:noFill/>
          <a:ln/>
        </p:spPr>
        <p:txBody>
          <a:bodyPr wrap="square" lIns="0" tIns="0" rIns="0" bIns="0" rtlCol="0" anchor="ctr">
            <a:spAutoFit/>
          </a:bodyPr>
          <a:lstStyle/>
          <a:p>
            <a:pPr indent="0" marL="0">
              <a:buNone/>
            </a:pPr>
            <a:r>
              <a:rPr lang="en-US" sz="675" dirty="0">
                <a:solidFill>
                  <a:srgbClr val="DBEAFE"/>
                </a:solidFill>
                <a:latin typeface="ui-monospace" pitchFamily="34" charset="0"/>
                <a:ea typeface="ui-monospace" pitchFamily="34" charset="-122"/>
                <a:cs typeface="ui-monospace" pitchFamily="34" charset="-120"/>
              </a:rPr>
              <a:t>"java.project.sourcePaths": ["src"],</a:t>
            </a:r>
            <a:endParaRPr lang="en-US" sz="675" dirty="0"/>
          </a:p>
        </p:txBody>
      </p:sp>
      <p:sp>
        <p:nvSpPr>
          <p:cNvPr id="48" name="Text 45"/>
          <p:cNvSpPr/>
          <p:nvPr/>
        </p:nvSpPr>
        <p:spPr>
          <a:xfrm>
            <a:off x="5057775" y="2512814"/>
            <a:ext cx="1871969" cy="96441"/>
          </a:xfrm>
          <a:prstGeom prst="rect">
            <a:avLst/>
          </a:prstGeom>
          <a:noFill/>
          <a:ln/>
        </p:spPr>
        <p:txBody>
          <a:bodyPr wrap="square" lIns="0" tIns="0" rIns="0" bIns="0" rtlCol="0" anchor="ctr">
            <a:spAutoFit/>
          </a:bodyPr>
          <a:lstStyle/>
          <a:p>
            <a:pPr indent="0" marL="0">
              <a:buNone/>
            </a:pPr>
            <a:r>
              <a:rPr lang="en-US" sz="675" dirty="0">
                <a:solidFill>
                  <a:srgbClr val="DBEAFE"/>
                </a:solidFill>
                <a:latin typeface="ui-monospace" pitchFamily="34" charset="0"/>
                <a:ea typeface="ui-monospace" pitchFamily="34" charset="-122"/>
                <a:cs typeface="ui-monospace" pitchFamily="34" charset="-120"/>
              </a:rPr>
              <a:t>"java.project.outputPath": "bin",</a:t>
            </a:r>
            <a:endParaRPr lang="en-US" sz="675" dirty="0"/>
          </a:p>
        </p:txBody>
      </p:sp>
      <p:sp>
        <p:nvSpPr>
          <p:cNvPr id="49" name="Text 46"/>
          <p:cNvSpPr/>
          <p:nvPr/>
        </p:nvSpPr>
        <p:spPr>
          <a:xfrm>
            <a:off x="5057775" y="2684264"/>
            <a:ext cx="2849380" cy="96441"/>
          </a:xfrm>
          <a:prstGeom prst="rect">
            <a:avLst/>
          </a:prstGeom>
          <a:noFill/>
          <a:ln/>
        </p:spPr>
        <p:txBody>
          <a:bodyPr wrap="square" lIns="0" tIns="0" rIns="0" bIns="0" rtlCol="0" anchor="ctr">
            <a:spAutoFit/>
          </a:bodyPr>
          <a:lstStyle/>
          <a:p>
            <a:pPr indent="0" marL="0">
              <a:buNone/>
            </a:pPr>
            <a:r>
              <a:rPr lang="en-US" sz="675" dirty="0">
                <a:solidFill>
                  <a:srgbClr val="DBEAFE"/>
                </a:solidFill>
                <a:latin typeface="ui-monospace" pitchFamily="34" charset="0"/>
                <a:ea typeface="ui-monospace" pitchFamily="34" charset="-122"/>
                <a:cs typeface="ui-monospace" pitchFamily="34" charset="-120"/>
              </a:rPr>
              <a:t>"java.format.settings.url": "eclipse-formatter.xml",</a:t>
            </a:r>
            <a:endParaRPr lang="en-US" sz="675" dirty="0"/>
          </a:p>
        </p:txBody>
      </p:sp>
      <p:sp>
        <p:nvSpPr>
          <p:cNvPr id="50" name="Text 47"/>
          <p:cNvSpPr/>
          <p:nvPr/>
        </p:nvSpPr>
        <p:spPr>
          <a:xfrm>
            <a:off x="5057775" y="2855714"/>
            <a:ext cx="2334946" cy="96441"/>
          </a:xfrm>
          <a:prstGeom prst="rect">
            <a:avLst/>
          </a:prstGeom>
          <a:noFill/>
          <a:ln/>
        </p:spPr>
        <p:txBody>
          <a:bodyPr wrap="square" lIns="0" tIns="0" rIns="0" bIns="0" rtlCol="0" anchor="ctr">
            <a:spAutoFit/>
          </a:bodyPr>
          <a:lstStyle/>
          <a:p>
            <a:pPr indent="0" marL="0">
              <a:buNone/>
            </a:pPr>
            <a:r>
              <a:rPr lang="en-US" sz="675" dirty="0">
                <a:solidFill>
                  <a:srgbClr val="DBEAFE"/>
                </a:solidFill>
                <a:latin typeface="ui-monospace" pitchFamily="34" charset="0"/>
                <a:ea typeface="ui-monospace" pitchFamily="34" charset="-122"/>
                <a:cs typeface="ui-monospace" pitchFamily="34" charset="-120"/>
              </a:rPr>
              <a:t>"java.format.settings.profile": "Eclipse",</a:t>
            </a:r>
            <a:endParaRPr lang="en-US" sz="675" dirty="0"/>
          </a:p>
        </p:txBody>
      </p:sp>
      <p:sp>
        <p:nvSpPr>
          <p:cNvPr id="51" name="Text 48"/>
          <p:cNvSpPr/>
          <p:nvPr/>
        </p:nvSpPr>
        <p:spPr>
          <a:xfrm>
            <a:off x="5057775" y="3027164"/>
            <a:ext cx="1614739" cy="96441"/>
          </a:xfrm>
          <a:prstGeom prst="rect">
            <a:avLst/>
          </a:prstGeom>
          <a:noFill/>
          <a:ln/>
        </p:spPr>
        <p:txBody>
          <a:bodyPr wrap="square" lIns="0" tIns="0" rIns="0" bIns="0" rtlCol="0" anchor="ctr">
            <a:spAutoFit/>
          </a:bodyPr>
          <a:lstStyle/>
          <a:p>
            <a:pPr indent="0" marL="0">
              <a:buNone/>
            </a:pPr>
            <a:r>
              <a:rPr lang="en-US" sz="675" dirty="0">
                <a:solidFill>
                  <a:srgbClr val="DBEAFE"/>
                </a:solidFill>
                <a:latin typeface="ui-monospace" pitchFamily="34" charset="0"/>
                <a:ea typeface="ui-monospace" pitchFamily="34" charset="-122"/>
                <a:cs typeface="ui-monospace" pitchFamily="34" charset="-120"/>
              </a:rPr>
              <a:t>"editor.formatOnSave": true,</a:t>
            </a:r>
            <a:endParaRPr lang="en-US" sz="675" dirty="0"/>
          </a:p>
        </p:txBody>
      </p:sp>
      <p:sp>
        <p:nvSpPr>
          <p:cNvPr id="52" name="Text 49"/>
          <p:cNvSpPr/>
          <p:nvPr/>
        </p:nvSpPr>
        <p:spPr>
          <a:xfrm>
            <a:off x="5057775" y="3198614"/>
            <a:ext cx="1820512" cy="96441"/>
          </a:xfrm>
          <a:prstGeom prst="rect">
            <a:avLst/>
          </a:prstGeom>
          <a:noFill/>
          <a:ln/>
        </p:spPr>
        <p:txBody>
          <a:bodyPr wrap="square" lIns="0" tIns="0" rIns="0" bIns="0" rtlCol="0" anchor="ctr">
            <a:spAutoFit/>
          </a:bodyPr>
          <a:lstStyle/>
          <a:p>
            <a:pPr indent="0" marL="0">
              <a:buNone/>
            </a:pPr>
            <a:r>
              <a:rPr lang="en-US" sz="675" dirty="0">
                <a:solidFill>
                  <a:srgbClr val="DBEAFE"/>
                </a:solidFill>
                <a:latin typeface="ui-monospace" pitchFamily="34" charset="0"/>
                <a:ea typeface="ui-monospace" pitchFamily="34" charset="-122"/>
                <a:cs typeface="ui-monospace" pitchFamily="34" charset="-120"/>
              </a:rPr>
              <a:t>"java.completion.importOrder": [</a:t>
            </a:r>
            <a:endParaRPr lang="en-US" sz="675" dirty="0"/>
          </a:p>
        </p:txBody>
      </p:sp>
      <p:sp>
        <p:nvSpPr>
          <p:cNvPr id="53" name="Text 50"/>
          <p:cNvSpPr/>
          <p:nvPr/>
        </p:nvSpPr>
        <p:spPr>
          <a:xfrm>
            <a:off x="5057775" y="3370064"/>
            <a:ext cx="637329" cy="96441"/>
          </a:xfrm>
          <a:prstGeom prst="rect">
            <a:avLst/>
          </a:prstGeom>
          <a:noFill/>
          <a:ln/>
        </p:spPr>
        <p:txBody>
          <a:bodyPr wrap="none" lIns="0" tIns="0" rIns="0" bIns="0" rtlCol="0" anchor="ctr">
            <a:spAutoFit/>
          </a:bodyPr>
          <a:lstStyle/>
          <a:p>
            <a:pPr indent="0" marL="0">
              <a:buNone/>
            </a:pPr>
            <a:r>
              <a:rPr lang="en-US" sz="675" dirty="0">
                <a:solidFill>
                  <a:srgbClr val="DBEAFE"/>
                </a:solidFill>
                <a:latin typeface="ui-monospace" pitchFamily="34" charset="0"/>
                <a:ea typeface="ui-monospace" pitchFamily="34" charset="-122"/>
                <a:cs typeface="ui-monospace" pitchFamily="34" charset="-120"/>
              </a:rPr>
              <a:t>"java",</a:t>
            </a:r>
            <a:endParaRPr lang="en-US" sz="675" dirty="0"/>
          </a:p>
        </p:txBody>
      </p:sp>
      <p:sp>
        <p:nvSpPr>
          <p:cNvPr id="54" name="Text 51"/>
          <p:cNvSpPr/>
          <p:nvPr/>
        </p:nvSpPr>
        <p:spPr>
          <a:xfrm>
            <a:off x="5057775" y="3541514"/>
            <a:ext cx="688758" cy="96441"/>
          </a:xfrm>
          <a:prstGeom prst="rect">
            <a:avLst/>
          </a:prstGeom>
          <a:noFill/>
          <a:ln/>
        </p:spPr>
        <p:txBody>
          <a:bodyPr wrap="none" lIns="0" tIns="0" rIns="0" bIns="0" rtlCol="0" anchor="ctr">
            <a:spAutoFit/>
          </a:bodyPr>
          <a:lstStyle/>
          <a:p>
            <a:pPr indent="0" marL="0">
              <a:buNone/>
            </a:pPr>
            <a:r>
              <a:rPr lang="en-US" sz="675" dirty="0">
                <a:solidFill>
                  <a:srgbClr val="DBEAFE"/>
                </a:solidFill>
                <a:latin typeface="ui-monospace" pitchFamily="34" charset="0"/>
                <a:ea typeface="ui-monospace" pitchFamily="34" charset="-122"/>
                <a:cs typeface="ui-monospace" pitchFamily="34" charset="-120"/>
              </a:rPr>
              <a:t>"javax",</a:t>
            </a:r>
            <a:endParaRPr lang="en-US" sz="675" dirty="0"/>
          </a:p>
        </p:txBody>
      </p:sp>
      <p:sp>
        <p:nvSpPr>
          <p:cNvPr id="55" name="Text 52"/>
          <p:cNvSpPr/>
          <p:nvPr/>
        </p:nvSpPr>
        <p:spPr>
          <a:xfrm>
            <a:off x="5057775" y="3712964"/>
            <a:ext cx="585871" cy="96441"/>
          </a:xfrm>
          <a:prstGeom prst="rect">
            <a:avLst/>
          </a:prstGeom>
          <a:noFill/>
          <a:ln/>
        </p:spPr>
        <p:txBody>
          <a:bodyPr wrap="none" lIns="0" tIns="0" rIns="0" bIns="0" rtlCol="0" anchor="ctr">
            <a:spAutoFit/>
          </a:bodyPr>
          <a:lstStyle/>
          <a:p>
            <a:pPr indent="0" marL="0">
              <a:buNone/>
            </a:pPr>
            <a:r>
              <a:rPr lang="en-US" sz="675" dirty="0">
                <a:solidFill>
                  <a:srgbClr val="DBEAFE"/>
                </a:solidFill>
                <a:latin typeface="ui-monospace" pitchFamily="34" charset="0"/>
                <a:ea typeface="ui-monospace" pitchFamily="34" charset="-122"/>
                <a:cs typeface="ui-monospace" pitchFamily="34" charset="-120"/>
              </a:rPr>
              <a:t>"com",</a:t>
            </a:r>
            <a:endParaRPr lang="en-US" sz="675" dirty="0"/>
          </a:p>
        </p:txBody>
      </p:sp>
      <p:sp>
        <p:nvSpPr>
          <p:cNvPr id="56" name="Text 53"/>
          <p:cNvSpPr/>
          <p:nvPr/>
        </p:nvSpPr>
        <p:spPr>
          <a:xfrm>
            <a:off x="5057775" y="3884414"/>
            <a:ext cx="534442" cy="96441"/>
          </a:xfrm>
          <a:prstGeom prst="rect">
            <a:avLst/>
          </a:prstGeom>
          <a:noFill/>
          <a:ln/>
        </p:spPr>
        <p:txBody>
          <a:bodyPr wrap="none" lIns="0" tIns="0" rIns="0" bIns="0" rtlCol="0" anchor="ctr">
            <a:spAutoFit/>
          </a:bodyPr>
          <a:lstStyle/>
          <a:p>
            <a:pPr indent="0" marL="0">
              <a:buNone/>
            </a:pPr>
            <a:r>
              <a:rPr lang="en-US" sz="675" dirty="0">
                <a:solidFill>
                  <a:srgbClr val="DBEAFE"/>
                </a:solidFill>
                <a:latin typeface="ui-monospace" pitchFamily="34" charset="0"/>
                <a:ea typeface="ui-monospace" pitchFamily="34" charset="-122"/>
                <a:cs typeface="ui-monospace" pitchFamily="34" charset="-120"/>
              </a:rPr>
              <a:t>"org"</a:t>
            </a:r>
            <a:endParaRPr lang="en-US" sz="675" dirty="0"/>
          </a:p>
        </p:txBody>
      </p:sp>
      <p:sp>
        <p:nvSpPr>
          <p:cNvPr id="57" name="Text 54"/>
          <p:cNvSpPr/>
          <p:nvPr/>
        </p:nvSpPr>
        <p:spPr>
          <a:xfrm>
            <a:off x="5057775" y="4055864"/>
            <a:ext cx="225782" cy="96441"/>
          </a:xfrm>
          <a:prstGeom prst="rect">
            <a:avLst/>
          </a:prstGeom>
          <a:noFill/>
          <a:ln/>
        </p:spPr>
        <p:txBody>
          <a:bodyPr wrap="none" lIns="0" tIns="0" rIns="0" bIns="0" rtlCol="0" anchor="ctr">
            <a:spAutoFit/>
          </a:bodyPr>
          <a:lstStyle/>
          <a:p>
            <a:pPr indent="0" marL="0">
              <a:buNone/>
            </a:pPr>
            <a:r>
              <a:rPr lang="en-US" sz="675" dirty="0">
                <a:solidFill>
                  <a:srgbClr val="DBEAFE"/>
                </a:solidFill>
                <a:latin typeface="ui-monospace" pitchFamily="34" charset="0"/>
                <a:ea typeface="ui-monospace" pitchFamily="34" charset="-122"/>
                <a:cs typeface="ui-monospace" pitchFamily="34" charset="-120"/>
              </a:rPr>
              <a:t>]</a:t>
            </a:r>
            <a:endParaRPr lang="en-US" sz="675" dirty="0"/>
          </a:p>
        </p:txBody>
      </p:sp>
      <p:sp>
        <p:nvSpPr>
          <p:cNvPr id="58" name="Text 55"/>
          <p:cNvSpPr/>
          <p:nvPr/>
        </p:nvSpPr>
        <p:spPr>
          <a:xfrm>
            <a:off x="5057775" y="4227314"/>
            <a:ext cx="122895" cy="96441"/>
          </a:xfrm>
          <a:prstGeom prst="rect">
            <a:avLst/>
          </a:prstGeom>
          <a:noFill/>
          <a:ln/>
        </p:spPr>
        <p:txBody>
          <a:bodyPr wrap="none" lIns="0" tIns="0" rIns="0" bIns="0" rtlCol="0" anchor="ctr">
            <a:spAutoFit/>
          </a:bodyPr>
          <a:lstStyle/>
          <a:p>
            <a:pPr indent="0" marL="0">
              <a:buNone/>
            </a:pPr>
            <a:r>
              <a:rPr lang="en-US" sz="675" dirty="0">
                <a:solidFill>
                  <a:srgbClr val="DBEAFE"/>
                </a:solidFill>
                <a:latin typeface="ui-monospace" pitchFamily="34" charset="0"/>
                <a:ea typeface="ui-monospace" pitchFamily="34" charset="-122"/>
                <a:cs typeface="ui-monospace" pitchFamily="34" charset="-120"/>
              </a:rPr>
              <a:t>}</a:t>
            </a:r>
            <a:endParaRPr lang="en-US" sz="675" dirty="0"/>
          </a:p>
        </p:txBody>
      </p:sp>
      <p:sp>
        <p:nvSpPr>
          <p:cNvPr id="59" name="Shape 56"/>
          <p:cNvSpPr/>
          <p:nvPr/>
        </p:nvSpPr>
        <p:spPr>
          <a:xfrm>
            <a:off x="4857750" y="4657725"/>
            <a:ext cx="3657600" cy="1143000"/>
          </a:xfrm>
          <a:prstGeom prst="rect">
            <a:avLst/>
          </a:prstGeom>
          <a:solidFill>
            <a:srgbClr val="1E3A8A">
              <a:alpha val="30000"/>
            </a:srgbClr>
          </a:solidFill>
          <a:ln/>
        </p:spPr>
      </p:sp>
      <p:sp>
        <p:nvSpPr>
          <p:cNvPr id="60" name="Text 57"/>
          <p:cNvSpPr/>
          <p:nvPr/>
        </p:nvSpPr>
        <p:spPr>
          <a:xfrm>
            <a:off x="4972050" y="4772025"/>
            <a:ext cx="3500438" cy="200025"/>
          </a:xfrm>
          <a:prstGeom prst="rect">
            <a:avLst/>
          </a:prstGeom>
          <a:noFill/>
          <a:ln/>
        </p:spPr>
        <p:txBody>
          <a:bodyPr wrap="square" lIns="0" tIns="0" rIns="0" bIns="0" rtlCol="0" anchor="ctr">
            <a:spAutoFit/>
          </a:bodyPr>
          <a:lstStyle/>
          <a:p>
            <a:pPr indent="0" marL="0">
              <a:buNone/>
            </a:pPr>
            <a:r>
              <a:rPr lang="en-US" sz="1125" b="1" dirty="0">
                <a:solidFill>
                  <a:srgbClr val="F1F5F9"/>
                </a:solidFill>
                <a:latin typeface="Segoe UI" pitchFamily="34" charset="0"/>
                <a:ea typeface="Segoe UI" pitchFamily="34" charset="-122"/>
                <a:cs typeface="Segoe UI" pitchFamily="34" charset="-120"/>
              </a:rPr>
              <a:t>Key Settings Explained</a:t>
            </a:r>
            <a:endParaRPr lang="en-US" sz="1125" dirty="0"/>
          </a:p>
        </p:txBody>
      </p:sp>
      <p:pic>
        <p:nvPicPr>
          <p:cNvPr id="61" name="Image 1" descr="preencoded.png">    </p:cNvPr>
          <p:cNvPicPr>
            <a:picLocks noChangeAspect="1"/>
          </p:cNvPicPr>
          <p:nvPr/>
        </p:nvPicPr>
        <p:blipFill>
          <a:blip r:embed="rId2"/>
          <a:stretch>
            <a:fillRect/>
          </a:stretch>
        </p:blipFill>
        <p:spPr>
          <a:xfrm>
            <a:off x="4972050" y="5057775"/>
            <a:ext cx="100013" cy="100013"/>
          </a:xfrm>
          <a:prstGeom prst="rect">
            <a:avLst/>
          </a:prstGeom>
        </p:spPr>
      </p:pic>
      <p:sp>
        <p:nvSpPr>
          <p:cNvPr id="62" name="Text 58"/>
          <p:cNvSpPr/>
          <p:nvPr/>
        </p:nvSpPr>
        <p:spPr>
          <a:xfrm>
            <a:off x="5129213" y="5043488"/>
            <a:ext cx="593936" cy="112514"/>
          </a:xfrm>
          <a:prstGeom prst="rect">
            <a:avLst/>
          </a:prstGeom>
          <a:noFill/>
          <a:ln/>
        </p:spPr>
        <p:txBody>
          <a:bodyPr wrap="none" lIns="0" tIns="0" rIns="0" bIns="0" rtlCol="0" anchor="ctr">
            <a:spAutoFit/>
          </a:bodyPr>
          <a:lstStyle/>
          <a:p>
            <a:pPr algn="l" indent="0" marL="0">
              <a:buNone/>
            </a:pPr>
            <a:r>
              <a:rPr lang="en-US" sz="788" b="1" dirty="0">
                <a:solidFill>
                  <a:srgbClr val="60A5FA"/>
                </a:solidFill>
                <a:latin typeface="Segoe UI" pitchFamily="34" charset="0"/>
                <a:ea typeface="Segoe UI" pitchFamily="34" charset="-122"/>
                <a:cs typeface="Segoe UI" pitchFamily="34" charset="-120"/>
              </a:rPr>
              <a:t>java.home:</a:t>
            </a:r>
            <a:endParaRPr lang="en-US" sz="788" dirty="0"/>
          </a:p>
        </p:txBody>
      </p:sp>
      <p:sp>
        <p:nvSpPr>
          <p:cNvPr id="63" name="Text 59"/>
          <p:cNvSpPr/>
          <p:nvPr/>
        </p:nvSpPr>
        <p:spPr>
          <a:xfrm>
            <a:off x="5651711" y="5043488"/>
            <a:ext cx="1133261" cy="112514"/>
          </a:xfrm>
          <a:prstGeom prst="rect">
            <a:avLst/>
          </a:prstGeom>
          <a:noFill/>
          <a:ln/>
        </p:spPr>
        <p:txBody>
          <a:bodyPr wrap="none" lIns="0" tIns="0" rIns="0" bIns="0" rtlCol="0" anchor="ctr">
            <a:spAutoFit/>
          </a:bodyPr>
          <a:lstStyle/>
          <a:p>
            <a:pPr algn="l" indent="0" marL="0">
              <a:buNone/>
            </a:pPr>
            <a:r>
              <a:rPr lang="en-US" sz="788" dirty="0">
                <a:solidFill>
                  <a:srgbClr val="F1F5F9"/>
                </a:solidFill>
                <a:latin typeface="Segoe UI" pitchFamily="34" charset="0"/>
                <a:ea typeface="Segoe UI" pitchFamily="34" charset="-122"/>
                <a:cs typeface="Segoe UI" pitchFamily="34" charset="-120"/>
              </a:rPr>
              <a:t>Path to JDK installation</a:t>
            </a:r>
            <a:endParaRPr lang="en-US" sz="788" dirty="0"/>
          </a:p>
        </p:txBody>
      </p:sp>
      <p:pic>
        <p:nvPicPr>
          <p:cNvPr id="64" name="Image 2" descr="preencoded.png">    </p:cNvPr>
          <p:cNvPicPr>
            <a:picLocks noChangeAspect="1"/>
          </p:cNvPicPr>
          <p:nvPr/>
        </p:nvPicPr>
        <p:blipFill>
          <a:blip r:embed="rId3"/>
          <a:stretch>
            <a:fillRect/>
          </a:stretch>
        </p:blipFill>
        <p:spPr>
          <a:xfrm>
            <a:off x="4972050" y="5229225"/>
            <a:ext cx="100013" cy="100013"/>
          </a:xfrm>
          <a:prstGeom prst="rect">
            <a:avLst/>
          </a:prstGeom>
        </p:spPr>
      </p:pic>
      <p:sp>
        <p:nvSpPr>
          <p:cNvPr id="65" name="Text 60"/>
          <p:cNvSpPr/>
          <p:nvPr/>
        </p:nvSpPr>
        <p:spPr>
          <a:xfrm>
            <a:off x="5129213" y="5214938"/>
            <a:ext cx="1288749" cy="112514"/>
          </a:xfrm>
          <a:prstGeom prst="rect">
            <a:avLst/>
          </a:prstGeom>
          <a:noFill/>
          <a:ln/>
        </p:spPr>
        <p:txBody>
          <a:bodyPr wrap="square" lIns="0" tIns="0" rIns="0" bIns="0" rtlCol="0" anchor="ctr">
            <a:spAutoFit/>
          </a:bodyPr>
          <a:lstStyle/>
          <a:p>
            <a:pPr algn="l" indent="0" marL="0">
              <a:buNone/>
            </a:pPr>
            <a:r>
              <a:rPr lang="en-US" sz="788" b="1" dirty="0">
                <a:solidFill>
                  <a:srgbClr val="60A5FA"/>
                </a:solidFill>
                <a:latin typeface="Segoe UI" pitchFamily="34" charset="0"/>
                <a:ea typeface="Segoe UI" pitchFamily="34" charset="-122"/>
                <a:cs typeface="Segoe UI" pitchFamily="34" charset="-120"/>
              </a:rPr>
              <a:t>java.project.sourcePaths:</a:t>
            </a:r>
            <a:endParaRPr lang="en-US" sz="788" dirty="0"/>
          </a:p>
        </p:txBody>
      </p:sp>
      <p:sp>
        <p:nvSpPr>
          <p:cNvPr id="66" name="Text 61"/>
          <p:cNvSpPr/>
          <p:nvPr/>
        </p:nvSpPr>
        <p:spPr>
          <a:xfrm>
            <a:off x="6346524" y="5214938"/>
            <a:ext cx="1149893" cy="112514"/>
          </a:xfrm>
          <a:prstGeom prst="rect">
            <a:avLst/>
          </a:prstGeom>
          <a:noFill/>
          <a:ln/>
        </p:spPr>
        <p:txBody>
          <a:bodyPr wrap="none" lIns="0" tIns="0" rIns="0" bIns="0" rtlCol="0" anchor="ctr">
            <a:spAutoFit/>
          </a:bodyPr>
          <a:lstStyle/>
          <a:p>
            <a:pPr algn="l" indent="0" marL="0">
              <a:buNone/>
            </a:pPr>
            <a:r>
              <a:rPr lang="en-US" sz="788" dirty="0">
                <a:solidFill>
                  <a:srgbClr val="F1F5F9"/>
                </a:solidFill>
                <a:latin typeface="Segoe UI" pitchFamily="34" charset="0"/>
                <a:ea typeface="Segoe UI" pitchFamily="34" charset="-122"/>
                <a:cs typeface="Segoe UI" pitchFamily="34" charset="-120"/>
              </a:rPr>
              <a:t>Source code directories</a:t>
            </a:r>
            <a:endParaRPr lang="en-US" sz="788" dirty="0"/>
          </a:p>
        </p:txBody>
      </p:sp>
      <p:pic>
        <p:nvPicPr>
          <p:cNvPr id="67" name="Image 3" descr="preencoded.png">    </p:cNvPr>
          <p:cNvPicPr>
            <a:picLocks noChangeAspect="1"/>
          </p:cNvPicPr>
          <p:nvPr/>
        </p:nvPicPr>
        <p:blipFill>
          <a:blip r:embed="rId4"/>
          <a:stretch>
            <a:fillRect/>
          </a:stretch>
        </p:blipFill>
        <p:spPr>
          <a:xfrm>
            <a:off x="4972050" y="5400675"/>
            <a:ext cx="100013" cy="100013"/>
          </a:xfrm>
          <a:prstGeom prst="rect">
            <a:avLst/>
          </a:prstGeom>
        </p:spPr>
      </p:pic>
      <p:sp>
        <p:nvSpPr>
          <p:cNvPr id="68" name="Text 62"/>
          <p:cNvSpPr/>
          <p:nvPr/>
        </p:nvSpPr>
        <p:spPr>
          <a:xfrm>
            <a:off x="5129213" y="5386388"/>
            <a:ext cx="1216112" cy="112514"/>
          </a:xfrm>
          <a:prstGeom prst="rect">
            <a:avLst/>
          </a:prstGeom>
          <a:noFill/>
          <a:ln/>
        </p:spPr>
        <p:txBody>
          <a:bodyPr wrap="none" lIns="0" tIns="0" rIns="0" bIns="0" rtlCol="0" anchor="ctr">
            <a:spAutoFit/>
          </a:bodyPr>
          <a:lstStyle/>
          <a:p>
            <a:pPr algn="l" indent="0" marL="0">
              <a:buNone/>
            </a:pPr>
            <a:r>
              <a:rPr lang="en-US" sz="788" b="1" dirty="0">
                <a:solidFill>
                  <a:srgbClr val="60A5FA"/>
                </a:solidFill>
                <a:latin typeface="Segoe UI" pitchFamily="34" charset="0"/>
                <a:ea typeface="Segoe UI" pitchFamily="34" charset="-122"/>
                <a:cs typeface="Segoe UI" pitchFamily="34" charset="-120"/>
              </a:rPr>
              <a:t>java.project.outputPath:</a:t>
            </a:r>
            <a:endParaRPr lang="en-US" sz="788" dirty="0"/>
          </a:p>
        </p:txBody>
      </p:sp>
      <p:sp>
        <p:nvSpPr>
          <p:cNvPr id="69" name="Text 63"/>
          <p:cNvSpPr/>
          <p:nvPr/>
        </p:nvSpPr>
        <p:spPr>
          <a:xfrm>
            <a:off x="6273887" y="5386388"/>
            <a:ext cx="1394259" cy="112514"/>
          </a:xfrm>
          <a:prstGeom prst="rect">
            <a:avLst/>
          </a:prstGeom>
          <a:noFill/>
          <a:ln/>
        </p:spPr>
        <p:txBody>
          <a:bodyPr wrap="square" lIns="0" tIns="0" rIns="0" bIns="0" rtlCol="0" anchor="ctr">
            <a:spAutoFit/>
          </a:bodyPr>
          <a:lstStyle/>
          <a:p>
            <a:pPr algn="l" indent="0" marL="0">
              <a:buNone/>
            </a:pPr>
            <a:r>
              <a:rPr lang="en-US" sz="788" dirty="0">
                <a:solidFill>
                  <a:srgbClr val="F1F5F9"/>
                </a:solidFill>
                <a:latin typeface="Segoe UI" pitchFamily="34" charset="0"/>
                <a:ea typeface="Segoe UI" pitchFamily="34" charset="-122"/>
                <a:cs typeface="Segoe UI" pitchFamily="34" charset="-120"/>
              </a:rPr>
              <a:t>Compiled class files directory</a:t>
            </a:r>
            <a:endParaRPr lang="en-US" sz="788" dirty="0"/>
          </a:p>
        </p:txBody>
      </p:sp>
      <p:pic>
        <p:nvPicPr>
          <p:cNvPr id="70" name="Image 4" descr="preencoded.png">    </p:cNvPr>
          <p:cNvPicPr>
            <a:picLocks noChangeAspect="1"/>
          </p:cNvPicPr>
          <p:nvPr/>
        </p:nvPicPr>
        <p:blipFill>
          <a:blip r:embed="rId5"/>
          <a:stretch>
            <a:fillRect/>
          </a:stretch>
        </p:blipFill>
        <p:spPr>
          <a:xfrm>
            <a:off x="4972050" y="5572125"/>
            <a:ext cx="100013" cy="100013"/>
          </a:xfrm>
          <a:prstGeom prst="rect">
            <a:avLst/>
          </a:prstGeom>
        </p:spPr>
      </p:pic>
      <p:sp>
        <p:nvSpPr>
          <p:cNvPr id="71" name="Text 64"/>
          <p:cNvSpPr/>
          <p:nvPr/>
        </p:nvSpPr>
        <p:spPr>
          <a:xfrm>
            <a:off x="5129213" y="5557838"/>
            <a:ext cx="1088473" cy="112514"/>
          </a:xfrm>
          <a:prstGeom prst="rect">
            <a:avLst/>
          </a:prstGeom>
          <a:noFill/>
          <a:ln/>
        </p:spPr>
        <p:txBody>
          <a:bodyPr wrap="none" lIns="0" tIns="0" rIns="0" bIns="0" rtlCol="0" anchor="ctr">
            <a:spAutoFit/>
          </a:bodyPr>
          <a:lstStyle/>
          <a:p>
            <a:pPr algn="l" indent="0" marL="0">
              <a:buNone/>
            </a:pPr>
            <a:r>
              <a:rPr lang="en-US" sz="788" b="1" dirty="0">
                <a:solidFill>
                  <a:srgbClr val="60A5FA"/>
                </a:solidFill>
                <a:latin typeface="Segoe UI" pitchFamily="34" charset="0"/>
                <a:ea typeface="Segoe UI" pitchFamily="34" charset="-122"/>
                <a:cs typeface="Segoe UI" pitchFamily="34" charset="-120"/>
              </a:rPr>
              <a:t>editor.formatOnSave:</a:t>
            </a:r>
            <a:endParaRPr lang="en-US" sz="788" dirty="0"/>
          </a:p>
        </p:txBody>
      </p:sp>
      <p:sp>
        <p:nvSpPr>
          <p:cNvPr id="72" name="Text 65"/>
          <p:cNvSpPr/>
          <p:nvPr/>
        </p:nvSpPr>
        <p:spPr>
          <a:xfrm>
            <a:off x="6146248" y="5557838"/>
            <a:ext cx="1244408" cy="112514"/>
          </a:xfrm>
          <a:prstGeom prst="rect">
            <a:avLst/>
          </a:prstGeom>
          <a:noFill/>
          <a:ln/>
        </p:spPr>
        <p:txBody>
          <a:bodyPr wrap="none" lIns="0" tIns="0" rIns="0" bIns="0" rtlCol="0" anchor="ctr">
            <a:spAutoFit/>
          </a:bodyPr>
          <a:lstStyle/>
          <a:p>
            <a:pPr algn="l" indent="0" marL="0">
              <a:buNone/>
            </a:pPr>
            <a:r>
              <a:rPr lang="en-US" sz="788" dirty="0">
                <a:solidFill>
                  <a:srgbClr val="F1F5F9"/>
                </a:solidFill>
                <a:latin typeface="Segoe UI" pitchFamily="34" charset="0"/>
                <a:ea typeface="Segoe UI" pitchFamily="34" charset="-122"/>
                <a:cs typeface="Segoe UI" pitchFamily="34" charset="-120"/>
              </a:rPr>
              <a:t>Format code when saving</a:t>
            </a:r>
            <a:endParaRPr lang="en-US" sz="788" dirty="0"/>
          </a:p>
        </p:txBody>
      </p:sp>
      <p:sp>
        <p:nvSpPr>
          <p:cNvPr id="73" name="Shape 66"/>
          <p:cNvSpPr/>
          <p:nvPr/>
        </p:nvSpPr>
        <p:spPr>
          <a:xfrm>
            <a:off x="4686300" y="6143625"/>
            <a:ext cx="4000500" cy="3557588"/>
          </a:xfrm>
          <a:prstGeom prst="rect">
            <a:avLst/>
          </a:prstGeom>
          <a:solidFill>
            <a:srgbClr val="FFFFFF">
              <a:alpha val="10000"/>
            </a:srgbClr>
          </a:solidFill>
          <a:ln w="99">
            <a:solidFill>
              <a:srgbClr val="60A5FA">
                <a:alpha val="30000"/>
              </a:srgbClr>
            </a:solidFill>
            <a:prstDash val="solid"/>
          </a:ln>
        </p:spPr>
      </p:sp>
      <p:sp>
        <p:nvSpPr>
          <p:cNvPr id="74" name="Text 67"/>
          <p:cNvSpPr/>
          <p:nvPr/>
        </p:nvSpPr>
        <p:spPr>
          <a:xfrm>
            <a:off x="4857750" y="6315075"/>
            <a:ext cx="3729038" cy="228600"/>
          </a:xfrm>
          <a:prstGeom prst="rect">
            <a:avLst/>
          </a:prstGeom>
          <a:noFill/>
          <a:ln/>
        </p:spPr>
        <p:txBody>
          <a:bodyPr wrap="square" lIns="0" tIns="0" rIns="0" bIns="0" rtlCol="0" anchor="ctr">
            <a:spAutoFit/>
          </a:bodyPr>
          <a:lstStyle/>
          <a:p>
            <a:pPr indent="0" marL="0">
              <a:buNone/>
            </a:pPr>
            <a:r>
              <a:rPr lang="en-US" sz="1350" b="1" dirty="0">
                <a:solidFill>
                  <a:srgbClr val="BFDBFE"/>
                </a:solidFill>
                <a:latin typeface="Segoe UI" pitchFamily="34" charset="0"/>
                <a:ea typeface="Segoe UI" pitchFamily="34" charset="-122"/>
                <a:cs typeface="Segoe UI" pitchFamily="34" charset="-120"/>
              </a:rPr>
              <a:t>Editor Preferences</a:t>
            </a:r>
            <a:endParaRPr lang="en-US" sz="1350" dirty="0"/>
          </a:p>
        </p:txBody>
      </p:sp>
      <p:sp>
        <p:nvSpPr>
          <p:cNvPr id="75" name="Shape 68"/>
          <p:cNvSpPr/>
          <p:nvPr/>
        </p:nvSpPr>
        <p:spPr>
          <a:xfrm>
            <a:off x="4857750" y="6657975"/>
            <a:ext cx="1771650" cy="1428750"/>
          </a:xfrm>
          <a:prstGeom prst="rect">
            <a:avLst/>
          </a:prstGeom>
          <a:solidFill>
            <a:srgbClr val="1E3A8A">
              <a:alpha val="30000"/>
            </a:srgbClr>
          </a:solidFill>
          <a:ln/>
        </p:spPr>
      </p:sp>
      <p:sp>
        <p:nvSpPr>
          <p:cNvPr id="76" name="Text 69"/>
          <p:cNvSpPr/>
          <p:nvPr/>
        </p:nvSpPr>
        <p:spPr>
          <a:xfrm>
            <a:off x="4972050" y="6772275"/>
            <a:ext cx="1614488" cy="200025"/>
          </a:xfrm>
          <a:prstGeom prst="rect">
            <a:avLst/>
          </a:prstGeom>
          <a:noFill/>
          <a:ln/>
        </p:spPr>
        <p:txBody>
          <a:bodyPr wrap="square" lIns="0" tIns="0" rIns="0" bIns="0" rtlCol="0" anchor="ctr">
            <a:spAutoFit/>
          </a:bodyPr>
          <a:lstStyle/>
          <a:p>
            <a:pPr indent="0" marL="0">
              <a:buNone/>
            </a:pPr>
            <a:r>
              <a:rPr lang="en-US" sz="1013" b="1" dirty="0">
                <a:solidFill>
                  <a:srgbClr val="F1F5F9"/>
                </a:solidFill>
                <a:latin typeface="Segoe UI" pitchFamily="34" charset="0"/>
                <a:ea typeface="Segoe UI" pitchFamily="34" charset="-122"/>
                <a:cs typeface="Segoe UI" pitchFamily="34" charset="-120"/>
              </a:rPr>
              <a:t>Font &amp; Theme</a:t>
            </a:r>
            <a:endParaRPr lang="en-US" sz="1013" dirty="0"/>
          </a:p>
        </p:txBody>
      </p:sp>
      <p:sp>
        <p:nvSpPr>
          <p:cNvPr id="77" name="Text 70"/>
          <p:cNvSpPr/>
          <p:nvPr/>
        </p:nvSpPr>
        <p:spPr>
          <a:xfrm>
            <a:off x="4972050" y="7029450"/>
            <a:ext cx="1614488" cy="114300"/>
          </a:xfrm>
          <a:prstGeom prst="rect">
            <a:avLst/>
          </a:prstGeom>
          <a:noFill/>
          <a:ln/>
        </p:spPr>
        <p:txBody>
          <a:bodyPr wrap="square" lIns="0" tIns="0" rIns="0" bIns="0" rtlCol="0" anchor="ctr">
            <a:spAutoFit/>
          </a:bodyPr>
          <a:lstStyle/>
          <a:p>
            <a:pPr indent="0" marL="0">
              <a:buNone/>
            </a:pPr>
            <a:r>
              <a:rPr lang="en-US" sz="675" dirty="0">
                <a:solidFill>
                  <a:srgbClr val="F1F5F9"/>
                </a:solidFill>
                <a:latin typeface="Segoe UI" pitchFamily="34" charset="0"/>
                <a:ea typeface="Segoe UI" pitchFamily="34" charset="-122"/>
                <a:cs typeface="Segoe UI" pitchFamily="34" charset="-120"/>
              </a:rPr>
              <a:t>Customize your coding environment:</a:t>
            </a:r>
            <a:endParaRPr lang="en-US" sz="675" dirty="0"/>
          </a:p>
        </p:txBody>
      </p:sp>
      <p:sp>
        <p:nvSpPr>
          <p:cNvPr id="78" name="Text 71"/>
          <p:cNvSpPr/>
          <p:nvPr/>
        </p:nvSpPr>
        <p:spPr>
          <a:xfrm>
            <a:off x="4972050" y="7200900"/>
            <a:ext cx="1614488" cy="114300"/>
          </a:xfrm>
          <a:prstGeom prst="rect">
            <a:avLst/>
          </a:prstGeom>
          <a:noFill/>
          <a:ln/>
        </p:spPr>
        <p:txBody>
          <a:bodyPr wrap="square" lIns="0" tIns="0" rIns="0" bIns="0" rtlCol="0" anchor="ctr">
            <a:spAutoFit/>
          </a:bodyPr>
          <a:lstStyle/>
          <a:p>
            <a:pPr algn="l" indent="0" marL="0">
              <a:buNone/>
            </a:pPr>
            <a:r>
              <a:rPr lang="en-US" sz="675" dirty="0">
                <a:solidFill>
                  <a:srgbClr val="F1F5F9"/>
                </a:solidFill>
                <a:latin typeface="Segoe UI" pitchFamily="34" charset="0"/>
                <a:ea typeface="Segoe UI" pitchFamily="34" charset="-122"/>
                <a:cs typeface="Segoe UI" pitchFamily="34" charset="-120"/>
              </a:rPr>
              <a:t>• File → Preferences → Settings</a:t>
            </a:r>
            <a:endParaRPr lang="en-US" sz="675" dirty="0"/>
          </a:p>
        </p:txBody>
      </p:sp>
      <p:sp>
        <p:nvSpPr>
          <p:cNvPr id="79" name="Text 72"/>
          <p:cNvSpPr/>
          <p:nvPr/>
        </p:nvSpPr>
        <p:spPr>
          <a:xfrm>
            <a:off x="4972050" y="7343775"/>
            <a:ext cx="1614488" cy="114300"/>
          </a:xfrm>
          <a:prstGeom prst="rect">
            <a:avLst/>
          </a:prstGeom>
          <a:noFill/>
          <a:ln/>
        </p:spPr>
        <p:txBody>
          <a:bodyPr wrap="square" lIns="0" tIns="0" rIns="0" bIns="0" rtlCol="0" anchor="ctr">
            <a:spAutoFit/>
          </a:bodyPr>
          <a:lstStyle/>
          <a:p>
            <a:pPr algn="l" indent="0" marL="0">
              <a:buNone/>
            </a:pPr>
            <a:r>
              <a:rPr lang="en-US" sz="675" dirty="0">
                <a:solidFill>
                  <a:srgbClr val="F1F5F9"/>
                </a:solidFill>
                <a:latin typeface="Segoe UI" pitchFamily="34" charset="0"/>
                <a:ea typeface="Segoe UI" pitchFamily="34" charset="-122"/>
                <a:cs typeface="Segoe UI" pitchFamily="34" charset="-120"/>
              </a:rPr>
              <a:t>• Search for "font" or "theme"</a:t>
            </a:r>
            <a:endParaRPr lang="en-US" sz="675" dirty="0"/>
          </a:p>
        </p:txBody>
      </p:sp>
      <p:sp>
        <p:nvSpPr>
          <p:cNvPr id="80" name="Text 73"/>
          <p:cNvSpPr/>
          <p:nvPr/>
        </p:nvSpPr>
        <p:spPr>
          <a:xfrm>
            <a:off x="4972050" y="7486650"/>
            <a:ext cx="1614488" cy="228600"/>
          </a:xfrm>
          <a:prstGeom prst="rect">
            <a:avLst/>
          </a:prstGeom>
          <a:noFill/>
          <a:ln/>
        </p:spPr>
        <p:txBody>
          <a:bodyPr wrap="square" lIns="0" tIns="0" rIns="0" bIns="0" rtlCol="0" anchor="ctr">
            <a:spAutoFit/>
          </a:bodyPr>
          <a:lstStyle/>
          <a:p>
            <a:pPr algn="l" indent="0" marL="0">
              <a:buNone/>
            </a:pPr>
            <a:r>
              <a:rPr lang="en-US" sz="675" dirty="0">
                <a:solidFill>
                  <a:srgbClr val="F1F5F9"/>
                </a:solidFill>
                <a:latin typeface="Segoe UI" pitchFamily="34" charset="0"/>
                <a:ea typeface="Segoe UI" pitchFamily="34" charset="-122"/>
                <a:cs typeface="Segoe UI" pitchFamily="34" charset="-120"/>
              </a:rPr>
              <a:t>• Recommended fonts: Fira Code, JetBrains Mono</a:t>
            </a:r>
            <a:endParaRPr lang="en-US" sz="675" dirty="0"/>
          </a:p>
        </p:txBody>
      </p:sp>
      <p:sp>
        <p:nvSpPr>
          <p:cNvPr id="81" name="Text 74"/>
          <p:cNvSpPr/>
          <p:nvPr/>
        </p:nvSpPr>
        <p:spPr>
          <a:xfrm>
            <a:off x="4972050" y="7743825"/>
            <a:ext cx="1614488" cy="228600"/>
          </a:xfrm>
          <a:prstGeom prst="rect">
            <a:avLst/>
          </a:prstGeom>
          <a:noFill/>
          <a:ln/>
        </p:spPr>
        <p:txBody>
          <a:bodyPr wrap="square" lIns="0" tIns="0" rIns="0" bIns="0" rtlCol="0" anchor="ctr">
            <a:spAutoFit/>
          </a:bodyPr>
          <a:lstStyle/>
          <a:p>
            <a:pPr algn="l" indent="0" marL="0">
              <a:buNone/>
            </a:pPr>
            <a:r>
              <a:rPr lang="en-US" sz="675" dirty="0">
                <a:solidFill>
                  <a:srgbClr val="F1F5F9"/>
                </a:solidFill>
                <a:latin typeface="Segoe UI" pitchFamily="34" charset="0"/>
                <a:ea typeface="Segoe UI" pitchFamily="34" charset="-122"/>
                <a:cs typeface="Segoe UI" pitchFamily="34" charset="-120"/>
              </a:rPr>
              <a:t>• Enable font ligatures for better readability</a:t>
            </a:r>
            <a:endParaRPr lang="en-US" sz="675" dirty="0"/>
          </a:p>
        </p:txBody>
      </p:sp>
      <p:sp>
        <p:nvSpPr>
          <p:cNvPr id="82" name="Shape 75"/>
          <p:cNvSpPr/>
          <p:nvPr/>
        </p:nvSpPr>
        <p:spPr>
          <a:xfrm>
            <a:off x="6743700" y="6657975"/>
            <a:ext cx="1771650" cy="1428750"/>
          </a:xfrm>
          <a:prstGeom prst="rect">
            <a:avLst/>
          </a:prstGeom>
          <a:solidFill>
            <a:srgbClr val="1E3A8A">
              <a:alpha val="30000"/>
            </a:srgbClr>
          </a:solidFill>
          <a:ln/>
        </p:spPr>
      </p:sp>
      <p:sp>
        <p:nvSpPr>
          <p:cNvPr id="83" name="Text 76"/>
          <p:cNvSpPr/>
          <p:nvPr/>
        </p:nvSpPr>
        <p:spPr>
          <a:xfrm>
            <a:off x="6858000" y="6772275"/>
            <a:ext cx="1614488" cy="200025"/>
          </a:xfrm>
          <a:prstGeom prst="rect">
            <a:avLst/>
          </a:prstGeom>
          <a:noFill/>
          <a:ln/>
        </p:spPr>
        <p:txBody>
          <a:bodyPr wrap="square" lIns="0" tIns="0" rIns="0" bIns="0" rtlCol="0" anchor="ctr">
            <a:spAutoFit/>
          </a:bodyPr>
          <a:lstStyle/>
          <a:p>
            <a:pPr indent="0" marL="0">
              <a:buNone/>
            </a:pPr>
            <a:r>
              <a:rPr lang="en-US" sz="1013" b="1" dirty="0">
                <a:solidFill>
                  <a:srgbClr val="F1F5F9"/>
                </a:solidFill>
                <a:latin typeface="Segoe UI" pitchFamily="34" charset="0"/>
                <a:ea typeface="Segoe UI" pitchFamily="34" charset="-122"/>
                <a:cs typeface="Segoe UI" pitchFamily="34" charset="-120"/>
              </a:rPr>
              <a:t>Code Formatting</a:t>
            </a:r>
            <a:endParaRPr lang="en-US" sz="1013" dirty="0"/>
          </a:p>
        </p:txBody>
      </p:sp>
      <p:sp>
        <p:nvSpPr>
          <p:cNvPr id="84" name="Text 77"/>
          <p:cNvSpPr/>
          <p:nvPr/>
        </p:nvSpPr>
        <p:spPr>
          <a:xfrm>
            <a:off x="6858000" y="7029450"/>
            <a:ext cx="1614488" cy="114300"/>
          </a:xfrm>
          <a:prstGeom prst="rect">
            <a:avLst/>
          </a:prstGeom>
          <a:noFill/>
          <a:ln/>
        </p:spPr>
        <p:txBody>
          <a:bodyPr wrap="square" lIns="0" tIns="0" rIns="0" bIns="0" rtlCol="0" anchor="ctr">
            <a:spAutoFit/>
          </a:bodyPr>
          <a:lstStyle/>
          <a:p>
            <a:pPr indent="0" marL="0">
              <a:buNone/>
            </a:pPr>
            <a:r>
              <a:rPr lang="en-US" sz="675" dirty="0">
                <a:solidFill>
                  <a:srgbClr val="F1F5F9"/>
                </a:solidFill>
                <a:latin typeface="Segoe UI" pitchFamily="34" charset="0"/>
                <a:ea typeface="Segoe UI" pitchFamily="34" charset="-122"/>
                <a:cs typeface="Segoe UI" pitchFamily="34" charset="-120"/>
              </a:rPr>
              <a:t>Set up automatic code formatting:</a:t>
            </a:r>
            <a:endParaRPr lang="en-US" sz="675" dirty="0"/>
          </a:p>
        </p:txBody>
      </p:sp>
      <p:sp>
        <p:nvSpPr>
          <p:cNvPr id="85" name="Text 78"/>
          <p:cNvSpPr/>
          <p:nvPr/>
        </p:nvSpPr>
        <p:spPr>
          <a:xfrm>
            <a:off x="6858000" y="7200900"/>
            <a:ext cx="1614488" cy="114300"/>
          </a:xfrm>
          <a:prstGeom prst="rect">
            <a:avLst/>
          </a:prstGeom>
          <a:noFill/>
          <a:ln/>
        </p:spPr>
        <p:txBody>
          <a:bodyPr wrap="square" lIns="0" tIns="0" rIns="0" bIns="0" rtlCol="0" anchor="ctr">
            <a:spAutoFit/>
          </a:bodyPr>
          <a:lstStyle/>
          <a:p>
            <a:pPr algn="l" indent="0" marL="0">
              <a:buNone/>
            </a:pPr>
            <a:r>
              <a:rPr lang="en-US" sz="675" dirty="0">
                <a:solidFill>
                  <a:srgbClr val="F1F5F9"/>
                </a:solidFill>
                <a:latin typeface="Segoe UI" pitchFamily="34" charset="0"/>
                <a:ea typeface="Segoe UI" pitchFamily="34" charset="-122"/>
                <a:cs typeface="Segoe UI" pitchFamily="34" charset="-120"/>
              </a:rPr>
              <a:t>• File → Preferences → Settings</a:t>
            </a:r>
            <a:endParaRPr lang="en-US" sz="675" dirty="0"/>
          </a:p>
        </p:txBody>
      </p:sp>
      <p:sp>
        <p:nvSpPr>
          <p:cNvPr id="86" name="Text 79"/>
          <p:cNvSpPr/>
          <p:nvPr/>
        </p:nvSpPr>
        <p:spPr>
          <a:xfrm>
            <a:off x="6858000" y="7343775"/>
            <a:ext cx="1614488" cy="114300"/>
          </a:xfrm>
          <a:prstGeom prst="rect">
            <a:avLst/>
          </a:prstGeom>
          <a:noFill/>
          <a:ln/>
        </p:spPr>
        <p:txBody>
          <a:bodyPr wrap="square" lIns="0" tIns="0" rIns="0" bIns="0" rtlCol="0" anchor="ctr">
            <a:spAutoFit/>
          </a:bodyPr>
          <a:lstStyle/>
          <a:p>
            <a:pPr algn="l" indent="0" marL="0">
              <a:buNone/>
            </a:pPr>
            <a:r>
              <a:rPr lang="en-US" sz="675" dirty="0">
                <a:solidFill>
                  <a:srgbClr val="F1F5F9"/>
                </a:solidFill>
                <a:latin typeface="Segoe UI" pitchFamily="34" charset="0"/>
                <a:ea typeface="Segoe UI" pitchFamily="34" charset="-122"/>
                <a:cs typeface="Segoe UI" pitchFamily="34" charset="-120"/>
              </a:rPr>
              <a:t>• Search for "format"</a:t>
            </a:r>
            <a:endParaRPr lang="en-US" sz="675" dirty="0"/>
          </a:p>
        </p:txBody>
      </p:sp>
      <p:sp>
        <p:nvSpPr>
          <p:cNvPr id="87" name="Text 80"/>
          <p:cNvSpPr/>
          <p:nvPr/>
        </p:nvSpPr>
        <p:spPr>
          <a:xfrm>
            <a:off x="6858000" y="7486650"/>
            <a:ext cx="1614488" cy="114300"/>
          </a:xfrm>
          <a:prstGeom prst="rect">
            <a:avLst/>
          </a:prstGeom>
          <a:noFill/>
          <a:ln/>
        </p:spPr>
        <p:txBody>
          <a:bodyPr wrap="square" lIns="0" tIns="0" rIns="0" bIns="0" rtlCol="0" anchor="ctr">
            <a:spAutoFit/>
          </a:bodyPr>
          <a:lstStyle/>
          <a:p>
            <a:pPr algn="l" indent="0" marL="0">
              <a:buNone/>
            </a:pPr>
            <a:r>
              <a:rPr lang="en-US" sz="675" dirty="0">
                <a:solidFill>
                  <a:srgbClr val="F1F5F9"/>
                </a:solidFill>
                <a:latin typeface="Segoe UI" pitchFamily="34" charset="0"/>
                <a:ea typeface="Segoe UI" pitchFamily="34" charset="-122"/>
                <a:cs typeface="Segoe UI" pitchFamily="34" charset="-120"/>
              </a:rPr>
              <a:t>• Enable "Editor: Format On Save"</a:t>
            </a:r>
            <a:endParaRPr lang="en-US" sz="675" dirty="0"/>
          </a:p>
        </p:txBody>
      </p:sp>
      <p:sp>
        <p:nvSpPr>
          <p:cNvPr id="88" name="Text 81"/>
          <p:cNvSpPr/>
          <p:nvPr/>
        </p:nvSpPr>
        <p:spPr>
          <a:xfrm>
            <a:off x="6858000" y="7629525"/>
            <a:ext cx="1614488" cy="114300"/>
          </a:xfrm>
          <a:prstGeom prst="rect">
            <a:avLst/>
          </a:prstGeom>
          <a:noFill/>
          <a:ln/>
        </p:spPr>
        <p:txBody>
          <a:bodyPr wrap="square" lIns="0" tIns="0" rIns="0" bIns="0" rtlCol="0" anchor="ctr">
            <a:spAutoFit/>
          </a:bodyPr>
          <a:lstStyle/>
          <a:p>
            <a:pPr algn="l" indent="0" marL="0">
              <a:buNone/>
            </a:pPr>
            <a:r>
              <a:rPr lang="en-US" sz="675" dirty="0">
                <a:solidFill>
                  <a:srgbClr val="F1F5F9"/>
                </a:solidFill>
                <a:latin typeface="Segoe UI" pitchFamily="34" charset="0"/>
                <a:ea typeface="Segoe UI" pitchFamily="34" charset="-122"/>
                <a:cs typeface="Segoe UI" pitchFamily="34" charset="-120"/>
              </a:rPr>
              <a:t>• Configure "Java › Format: Settings"</a:t>
            </a:r>
            <a:endParaRPr lang="en-US" sz="675" dirty="0"/>
          </a:p>
        </p:txBody>
      </p:sp>
      <p:sp>
        <p:nvSpPr>
          <p:cNvPr id="89" name="Shape 82"/>
          <p:cNvSpPr/>
          <p:nvPr/>
        </p:nvSpPr>
        <p:spPr>
          <a:xfrm>
            <a:off x="4857750" y="8201025"/>
            <a:ext cx="1771650" cy="1314450"/>
          </a:xfrm>
          <a:prstGeom prst="rect">
            <a:avLst/>
          </a:prstGeom>
          <a:solidFill>
            <a:srgbClr val="1E3A8A">
              <a:alpha val="30000"/>
            </a:srgbClr>
          </a:solidFill>
          <a:ln/>
        </p:spPr>
      </p:sp>
      <p:sp>
        <p:nvSpPr>
          <p:cNvPr id="90" name="Text 83"/>
          <p:cNvSpPr/>
          <p:nvPr/>
        </p:nvSpPr>
        <p:spPr>
          <a:xfrm>
            <a:off x="4972050" y="8315325"/>
            <a:ext cx="1614488" cy="200025"/>
          </a:xfrm>
          <a:prstGeom prst="rect">
            <a:avLst/>
          </a:prstGeom>
          <a:noFill/>
          <a:ln/>
        </p:spPr>
        <p:txBody>
          <a:bodyPr wrap="square" lIns="0" tIns="0" rIns="0" bIns="0" rtlCol="0" anchor="ctr">
            <a:spAutoFit/>
          </a:bodyPr>
          <a:lstStyle/>
          <a:p>
            <a:pPr indent="0" marL="0">
              <a:buNone/>
            </a:pPr>
            <a:r>
              <a:rPr lang="en-US" sz="1013" b="1" dirty="0">
                <a:solidFill>
                  <a:srgbClr val="F1F5F9"/>
                </a:solidFill>
                <a:latin typeface="Segoe UI" pitchFamily="34" charset="0"/>
                <a:ea typeface="Segoe UI" pitchFamily="34" charset="-122"/>
                <a:cs typeface="Segoe UI" pitchFamily="34" charset="-120"/>
              </a:rPr>
              <a:t>IntelliSense</a:t>
            </a:r>
            <a:endParaRPr lang="en-US" sz="1013" dirty="0"/>
          </a:p>
        </p:txBody>
      </p:sp>
      <p:sp>
        <p:nvSpPr>
          <p:cNvPr id="91" name="Text 84"/>
          <p:cNvSpPr/>
          <p:nvPr/>
        </p:nvSpPr>
        <p:spPr>
          <a:xfrm>
            <a:off x="4972050" y="8572500"/>
            <a:ext cx="1614488" cy="114300"/>
          </a:xfrm>
          <a:prstGeom prst="rect">
            <a:avLst/>
          </a:prstGeom>
          <a:noFill/>
          <a:ln/>
        </p:spPr>
        <p:txBody>
          <a:bodyPr wrap="square" lIns="0" tIns="0" rIns="0" bIns="0" rtlCol="0" anchor="ctr">
            <a:spAutoFit/>
          </a:bodyPr>
          <a:lstStyle/>
          <a:p>
            <a:pPr indent="0" marL="0">
              <a:buNone/>
            </a:pPr>
            <a:r>
              <a:rPr lang="en-US" sz="675" dirty="0">
                <a:solidFill>
                  <a:srgbClr val="F1F5F9"/>
                </a:solidFill>
                <a:latin typeface="Segoe UI" pitchFamily="34" charset="0"/>
                <a:ea typeface="Segoe UI" pitchFamily="34" charset="-122"/>
                <a:cs typeface="Segoe UI" pitchFamily="34" charset="-120"/>
              </a:rPr>
              <a:t>Customize code completion behavior:</a:t>
            </a:r>
            <a:endParaRPr lang="en-US" sz="675" dirty="0"/>
          </a:p>
        </p:txBody>
      </p:sp>
      <p:sp>
        <p:nvSpPr>
          <p:cNvPr id="92" name="Text 85"/>
          <p:cNvSpPr/>
          <p:nvPr/>
        </p:nvSpPr>
        <p:spPr>
          <a:xfrm>
            <a:off x="4972050" y="8743950"/>
            <a:ext cx="1614488" cy="114300"/>
          </a:xfrm>
          <a:prstGeom prst="rect">
            <a:avLst/>
          </a:prstGeom>
          <a:noFill/>
          <a:ln/>
        </p:spPr>
        <p:txBody>
          <a:bodyPr wrap="square" lIns="0" tIns="0" rIns="0" bIns="0" rtlCol="0" anchor="ctr">
            <a:spAutoFit/>
          </a:bodyPr>
          <a:lstStyle/>
          <a:p>
            <a:pPr algn="l" indent="0" marL="0">
              <a:buNone/>
            </a:pPr>
            <a:r>
              <a:rPr lang="en-US" sz="675" dirty="0">
                <a:solidFill>
                  <a:srgbClr val="F1F5F9"/>
                </a:solidFill>
                <a:latin typeface="Segoe UI" pitchFamily="34" charset="0"/>
                <a:ea typeface="Segoe UI" pitchFamily="34" charset="-122"/>
                <a:cs typeface="Segoe UI" pitchFamily="34" charset="-120"/>
              </a:rPr>
              <a:t>• File → Preferences → Settings</a:t>
            </a:r>
            <a:endParaRPr lang="en-US" sz="675" dirty="0"/>
          </a:p>
        </p:txBody>
      </p:sp>
      <p:sp>
        <p:nvSpPr>
          <p:cNvPr id="93" name="Text 86"/>
          <p:cNvSpPr/>
          <p:nvPr/>
        </p:nvSpPr>
        <p:spPr>
          <a:xfrm>
            <a:off x="4972050" y="8886825"/>
            <a:ext cx="1614488" cy="114300"/>
          </a:xfrm>
          <a:prstGeom prst="rect">
            <a:avLst/>
          </a:prstGeom>
          <a:noFill/>
          <a:ln/>
        </p:spPr>
        <p:txBody>
          <a:bodyPr wrap="square" lIns="0" tIns="0" rIns="0" bIns="0" rtlCol="0" anchor="ctr">
            <a:spAutoFit/>
          </a:bodyPr>
          <a:lstStyle/>
          <a:p>
            <a:pPr algn="l" indent="0" marL="0">
              <a:buNone/>
            </a:pPr>
            <a:r>
              <a:rPr lang="en-US" sz="675" dirty="0">
                <a:solidFill>
                  <a:srgbClr val="F1F5F9"/>
                </a:solidFill>
                <a:latin typeface="Segoe UI" pitchFamily="34" charset="0"/>
                <a:ea typeface="Segoe UI" pitchFamily="34" charset="-122"/>
                <a:cs typeface="Segoe UI" pitchFamily="34" charset="-120"/>
              </a:rPr>
              <a:t>• Search for "suggest"</a:t>
            </a:r>
            <a:endParaRPr lang="en-US" sz="675" dirty="0"/>
          </a:p>
        </p:txBody>
      </p:sp>
      <p:sp>
        <p:nvSpPr>
          <p:cNvPr id="94" name="Text 87"/>
          <p:cNvSpPr/>
          <p:nvPr/>
        </p:nvSpPr>
        <p:spPr>
          <a:xfrm>
            <a:off x="4972050" y="9029700"/>
            <a:ext cx="1614488" cy="114300"/>
          </a:xfrm>
          <a:prstGeom prst="rect">
            <a:avLst/>
          </a:prstGeom>
          <a:noFill/>
          <a:ln/>
        </p:spPr>
        <p:txBody>
          <a:bodyPr wrap="square" lIns="0" tIns="0" rIns="0" bIns="0" rtlCol="0" anchor="ctr">
            <a:spAutoFit/>
          </a:bodyPr>
          <a:lstStyle/>
          <a:p>
            <a:pPr algn="l" indent="0" marL="0">
              <a:buNone/>
            </a:pPr>
            <a:r>
              <a:rPr lang="en-US" sz="675" dirty="0">
                <a:solidFill>
                  <a:srgbClr val="F1F5F9"/>
                </a:solidFill>
                <a:latin typeface="Segoe UI" pitchFamily="34" charset="0"/>
                <a:ea typeface="Segoe UI" pitchFamily="34" charset="-122"/>
                <a:cs typeface="Segoe UI" pitchFamily="34" charset="-120"/>
              </a:rPr>
              <a:t>• Adjust "Editor: Quick Suggestions"</a:t>
            </a:r>
            <a:endParaRPr lang="en-US" sz="675" dirty="0"/>
          </a:p>
        </p:txBody>
      </p:sp>
      <p:sp>
        <p:nvSpPr>
          <p:cNvPr id="95" name="Text 88"/>
          <p:cNvSpPr/>
          <p:nvPr/>
        </p:nvSpPr>
        <p:spPr>
          <a:xfrm>
            <a:off x="4972050" y="9172575"/>
            <a:ext cx="1614488" cy="114300"/>
          </a:xfrm>
          <a:prstGeom prst="rect">
            <a:avLst/>
          </a:prstGeom>
          <a:noFill/>
          <a:ln/>
        </p:spPr>
        <p:txBody>
          <a:bodyPr wrap="square" lIns="0" tIns="0" rIns="0" bIns="0" rtlCol="0" anchor="ctr">
            <a:spAutoFit/>
          </a:bodyPr>
          <a:lstStyle/>
          <a:p>
            <a:pPr algn="l" indent="0" marL="0">
              <a:buNone/>
            </a:pPr>
            <a:r>
              <a:rPr lang="en-US" sz="675" dirty="0">
                <a:solidFill>
                  <a:srgbClr val="F1F5F9"/>
                </a:solidFill>
                <a:latin typeface="Segoe UI" pitchFamily="34" charset="0"/>
                <a:ea typeface="Segoe UI" pitchFamily="34" charset="-122"/>
                <a:cs typeface="Segoe UI" pitchFamily="34" charset="-120"/>
              </a:rPr>
              <a:t>• Configure "Editor: Suggest Selection"</a:t>
            </a:r>
            <a:endParaRPr lang="en-US" sz="675" dirty="0"/>
          </a:p>
        </p:txBody>
      </p:sp>
      <p:sp>
        <p:nvSpPr>
          <p:cNvPr id="96" name="Shape 89"/>
          <p:cNvSpPr/>
          <p:nvPr/>
        </p:nvSpPr>
        <p:spPr>
          <a:xfrm>
            <a:off x="6743700" y="8201025"/>
            <a:ext cx="1771650" cy="1314450"/>
          </a:xfrm>
          <a:prstGeom prst="rect">
            <a:avLst/>
          </a:prstGeom>
          <a:solidFill>
            <a:srgbClr val="1E3A8A">
              <a:alpha val="30000"/>
            </a:srgbClr>
          </a:solidFill>
          <a:ln/>
        </p:spPr>
      </p:sp>
      <p:sp>
        <p:nvSpPr>
          <p:cNvPr id="97" name="Text 90"/>
          <p:cNvSpPr/>
          <p:nvPr/>
        </p:nvSpPr>
        <p:spPr>
          <a:xfrm>
            <a:off x="6858000" y="8315325"/>
            <a:ext cx="1614488" cy="200025"/>
          </a:xfrm>
          <a:prstGeom prst="rect">
            <a:avLst/>
          </a:prstGeom>
          <a:noFill/>
          <a:ln/>
        </p:spPr>
        <p:txBody>
          <a:bodyPr wrap="square" lIns="0" tIns="0" rIns="0" bIns="0" rtlCol="0" anchor="ctr">
            <a:spAutoFit/>
          </a:bodyPr>
          <a:lstStyle/>
          <a:p>
            <a:pPr indent="0" marL="0">
              <a:buNone/>
            </a:pPr>
            <a:r>
              <a:rPr lang="en-US" sz="1013" b="1" dirty="0">
                <a:solidFill>
                  <a:srgbClr val="F1F5F9"/>
                </a:solidFill>
                <a:latin typeface="Segoe UI" pitchFamily="34" charset="0"/>
                <a:ea typeface="Segoe UI" pitchFamily="34" charset="-122"/>
                <a:cs typeface="Segoe UI" pitchFamily="34" charset="-120"/>
              </a:rPr>
              <a:t>Key Bindings</a:t>
            </a:r>
            <a:endParaRPr lang="en-US" sz="1013" dirty="0"/>
          </a:p>
        </p:txBody>
      </p:sp>
      <p:sp>
        <p:nvSpPr>
          <p:cNvPr id="98" name="Text 91"/>
          <p:cNvSpPr/>
          <p:nvPr/>
        </p:nvSpPr>
        <p:spPr>
          <a:xfrm>
            <a:off x="6858000" y="8572500"/>
            <a:ext cx="1614488" cy="114300"/>
          </a:xfrm>
          <a:prstGeom prst="rect">
            <a:avLst/>
          </a:prstGeom>
          <a:noFill/>
          <a:ln/>
        </p:spPr>
        <p:txBody>
          <a:bodyPr wrap="square" lIns="0" tIns="0" rIns="0" bIns="0" rtlCol="0" anchor="ctr">
            <a:spAutoFit/>
          </a:bodyPr>
          <a:lstStyle/>
          <a:p>
            <a:pPr indent="0" marL="0">
              <a:buNone/>
            </a:pPr>
            <a:r>
              <a:rPr lang="en-US" sz="675" dirty="0">
                <a:solidFill>
                  <a:srgbClr val="F1F5F9"/>
                </a:solidFill>
                <a:latin typeface="Segoe UI" pitchFamily="34" charset="0"/>
                <a:ea typeface="Segoe UI" pitchFamily="34" charset="-122"/>
                <a:cs typeface="Segoe UI" pitchFamily="34" charset="-120"/>
              </a:rPr>
              <a:t>Customize keyboard shortcuts:</a:t>
            </a:r>
            <a:endParaRPr lang="en-US" sz="675" dirty="0"/>
          </a:p>
        </p:txBody>
      </p:sp>
      <p:sp>
        <p:nvSpPr>
          <p:cNvPr id="99" name="Text 92"/>
          <p:cNvSpPr/>
          <p:nvPr/>
        </p:nvSpPr>
        <p:spPr>
          <a:xfrm>
            <a:off x="6858000" y="8743950"/>
            <a:ext cx="1614488" cy="228600"/>
          </a:xfrm>
          <a:prstGeom prst="rect">
            <a:avLst/>
          </a:prstGeom>
          <a:noFill/>
          <a:ln/>
        </p:spPr>
        <p:txBody>
          <a:bodyPr wrap="square" lIns="0" tIns="0" rIns="0" bIns="0" rtlCol="0" anchor="ctr">
            <a:spAutoFit/>
          </a:bodyPr>
          <a:lstStyle/>
          <a:p>
            <a:pPr algn="l" indent="0" marL="0">
              <a:buNone/>
            </a:pPr>
            <a:r>
              <a:rPr lang="en-US" sz="675" dirty="0">
                <a:solidFill>
                  <a:srgbClr val="F1F5F9"/>
                </a:solidFill>
                <a:latin typeface="Segoe UI" pitchFamily="34" charset="0"/>
                <a:ea typeface="Segoe UI" pitchFamily="34" charset="-122"/>
                <a:cs typeface="Segoe UI" pitchFamily="34" charset="-120"/>
              </a:rPr>
              <a:t>• File → Preferences → Keyboard Shortcuts</a:t>
            </a:r>
            <a:endParaRPr lang="en-US" sz="675" dirty="0"/>
          </a:p>
        </p:txBody>
      </p:sp>
      <p:sp>
        <p:nvSpPr>
          <p:cNvPr id="100" name="Text 93"/>
          <p:cNvSpPr/>
          <p:nvPr/>
        </p:nvSpPr>
        <p:spPr>
          <a:xfrm>
            <a:off x="6858000" y="9001125"/>
            <a:ext cx="1614488" cy="114300"/>
          </a:xfrm>
          <a:prstGeom prst="rect">
            <a:avLst/>
          </a:prstGeom>
          <a:noFill/>
          <a:ln/>
        </p:spPr>
        <p:txBody>
          <a:bodyPr wrap="square" lIns="0" tIns="0" rIns="0" bIns="0" rtlCol="0" anchor="ctr">
            <a:spAutoFit/>
          </a:bodyPr>
          <a:lstStyle/>
          <a:p>
            <a:pPr algn="l" indent="0" marL="0">
              <a:buNone/>
            </a:pPr>
            <a:r>
              <a:rPr lang="en-US" sz="675" dirty="0">
                <a:solidFill>
                  <a:srgbClr val="F1F5F9"/>
                </a:solidFill>
                <a:latin typeface="Segoe UI" pitchFamily="34" charset="0"/>
                <a:ea typeface="Segoe UI" pitchFamily="34" charset="-122"/>
                <a:cs typeface="Segoe UI" pitchFamily="34" charset="-120"/>
              </a:rPr>
              <a:t>• Search for Java-related commands</a:t>
            </a:r>
            <a:endParaRPr lang="en-US" sz="675" dirty="0"/>
          </a:p>
        </p:txBody>
      </p:sp>
      <p:sp>
        <p:nvSpPr>
          <p:cNvPr id="101" name="Text 94"/>
          <p:cNvSpPr/>
          <p:nvPr/>
        </p:nvSpPr>
        <p:spPr>
          <a:xfrm>
            <a:off x="6858000" y="9144000"/>
            <a:ext cx="1614488" cy="114300"/>
          </a:xfrm>
          <a:prstGeom prst="rect">
            <a:avLst/>
          </a:prstGeom>
          <a:noFill/>
          <a:ln/>
        </p:spPr>
        <p:txBody>
          <a:bodyPr wrap="square" lIns="0" tIns="0" rIns="0" bIns="0" rtlCol="0" anchor="ctr">
            <a:spAutoFit/>
          </a:bodyPr>
          <a:lstStyle/>
          <a:p>
            <a:pPr algn="l" indent="0" marL="0">
              <a:buNone/>
            </a:pPr>
            <a:r>
              <a:rPr lang="en-US" sz="675" dirty="0">
                <a:solidFill>
                  <a:srgbClr val="F1F5F9"/>
                </a:solidFill>
                <a:latin typeface="Segoe UI" pitchFamily="34" charset="0"/>
                <a:ea typeface="Segoe UI" pitchFamily="34" charset="-122"/>
                <a:cs typeface="Segoe UI" pitchFamily="34" charset="-120"/>
              </a:rPr>
              <a:t>• Click the pencil icon to edit shortcuts</a:t>
            </a:r>
            <a:endParaRPr lang="en-US" sz="675" dirty="0"/>
          </a:p>
        </p:txBody>
      </p:sp>
      <p:sp>
        <p:nvSpPr>
          <p:cNvPr id="102" name="Text 95"/>
          <p:cNvSpPr/>
          <p:nvPr/>
        </p:nvSpPr>
        <p:spPr>
          <a:xfrm>
            <a:off x="6858000" y="9286875"/>
            <a:ext cx="1614488" cy="114300"/>
          </a:xfrm>
          <a:prstGeom prst="rect">
            <a:avLst/>
          </a:prstGeom>
          <a:noFill/>
          <a:ln/>
        </p:spPr>
        <p:txBody>
          <a:bodyPr wrap="square" lIns="0" tIns="0" rIns="0" bIns="0" rtlCol="0" anchor="ctr">
            <a:spAutoFit/>
          </a:bodyPr>
          <a:lstStyle/>
          <a:p>
            <a:pPr algn="l" indent="0" marL="0">
              <a:buNone/>
            </a:pPr>
            <a:r>
              <a:rPr lang="en-US" sz="675" dirty="0">
                <a:solidFill>
                  <a:srgbClr val="F1F5F9"/>
                </a:solidFill>
                <a:latin typeface="Segoe UI" pitchFamily="34" charset="0"/>
                <a:ea typeface="Segoe UI" pitchFamily="34" charset="-122"/>
                <a:cs typeface="Segoe UI" pitchFamily="34" charset="-120"/>
              </a:rPr>
              <a:t>• Consider Eclipse or IntelliJ keymaps</a:t>
            </a:r>
            <a:endParaRPr lang="en-US" sz="675" dirty="0"/>
          </a:p>
        </p:txBody>
      </p:sp>
      <p:sp>
        <p:nvSpPr>
          <p:cNvPr id="103" name="Shape 96"/>
          <p:cNvSpPr/>
          <p:nvPr/>
        </p:nvSpPr>
        <p:spPr>
          <a:xfrm>
            <a:off x="4686300" y="9858375"/>
            <a:ext cx="4000500" cy="2614613"/>
          </a:xfrm>
          <a:prstGeom prst="rect">
            <a:avLst/>
          </a:prstGeom>
          <a:solidFill>
            <a:srgbClr val="FFFFFF">
              <a:alpha val="10000"/>
            </a:srgbClr>
          </a:solidFill>
          <a:ln w="99">
            <a:solidFill>
              <a:srgbClr val="60A5FA">
                <a:alpha val="30000"/>
              </a:srgbClr>
            </a:solidFill>
            <a:prstDash val="solid"/>
          </a:ln>
        </p:spPr>
      </p:sp>
      <p:sp>
        <p:nvSpPr>
          <p:cNvPr id="104" name="Text 97"/>
          <p:cNvSpPr/>
          <p:nvPr/>
        </p:nvSpPr>
        <p:spPr>
          <a:xfrm>
            <a:off x="4857750" y="10029825"/>
            <a:ext cx="3729038" cy="228600"/>
          </a:xfrm>
          <a:prstGeom prst="rect">
            <a:avLst/>
          </a:prstGeom>
          <a:noFill/>
          <a:ln/>
        </p:spPr>
        <p:txBody>
          <a:bodyPr wrap="square" lIns="0" tIns="0" rIns="0" bIns="0" rtlCol="0" anchor="ctr">
            <a:spAutoFit/>
          </a:bodyPr>
          <a:lstStyle/>
          <a:p>
            <a:pPr indent="0" marL="0">
              <a:buNone/>
            </a:pPr>
            <a:r>
              <a:rPr lang="en-US" sz="1350" b="1" dirty="0">
                <a:solidFill>
                  <a:srgbClr val="BFDBFE"/>
                </a:solidFill>
                <a:latin typeface="Segoe UI" pitchFamily="34" charset="0"/>
                <a:ea typeface="Segoe UI" pitchFamily="34" charset="-122"/>
                <a:cs typeface="Segoe UI" pitchFamily="34" charset="-120"/>
              </a:rPr>
              <a:t>Verifying Configuration</a:t>
            </a:r>
            <a:endParaRPr lang="en-US" sz="1350" dirty="0"/>
          </a:p>
        </p:txBody>
      </p:sp>
      <p:sp>
        <p:nvSpPr>
          <p:cNvPr id="105" name="Shape 98"/>
          <p:cNvSpPr/>
          <p:nvPr/>
        </p:nvSpPr>
        <p:spPr>
          <a:xfrm>
            <a:off x="4857750" y="10372725"/>
            <a:ext cx="3657600" cy="1143000"/>
          </a:xfrm>
          <a:prstGeom prst="rect">
            <a:avLst/>
          </a:prstGeom>
          <a:solidFill>
            <a:srgbClr val="1E3A8A">
              <a:alpha val="30000"/>
            </a:srgbClr>
          </a:solidFill>
          <a:ln/>
        </p:spPr>
      </p:sp>
      <p:sp>
        <p:nvSpPr>
          <p:cNvPr id="106" name="Text 99"/>
          <p:cNvSpPr/>
          <p:nvPr/>
        </p:nvSpPr>
        <p:spPr>
          <a:xfrm>
            <a:off x="4972050" y="10487025"/>
            <a:ext cx="3500438" cy="200025"/>
          </a:xfrm>
          <a:prstGeom prst="rect">
            <a:avLst/>
          </a:prstGeom>
          <a:noFill/>
          <a:ln/>
        </p:spPr>
        <p:txBody>
          <a:bodyPr wrap="square" lIns="0" tIns="0" rIns="0" bIns="0" rtlCol="0" anchor="ctr">
            <a:spAutoFit/>
          </a:bodyPr>
          <a:lstStyle/>
          <a:p>
            <a:pPr indent="0" marL="0">
              <a:buNone/>
            </a:pPr>
            <a:r>
              <a:rPr lang="en-US" sz="1125" b="1" dirty="0">
                <a:solidFill>
                  <a:srgbClr val="F1F5F9"/>
                </a:solidFill>
                <a:latin typeface="Segoe UI" pitchFamily="34" charset="0"/>
                <a:ea typeface="Segoe UI" pitchFamily="34" charset="-122"/>
                <a:cs typeface="Segoe UI" pitchFamily="34" charset="-120"/>
              </a:rPr>
              <a:t>Check Java Environment</a:t>
            </a:r>
            <a:endParaRPr lang="en-US" sz="1125" dirty="0"/>
          </a:p>
        </p:txBody>
      </p:sp>
      <p:sp>
        <p:nvSpPr>
          <p:cNvPr id="107" name="Text 100"/>
          <p:cNvSpPr/>
          <p:nvPr/>
        </p:nvSpPr>
        <p:spPr>
          <a:xfrm>
            <a:off x="5086350" y="10744200"/>
            <a:ext cx="3386138" cy="142875"/>
          </a:xfrm>
          <a:prstGeom prst="rect">
            <a:avLst/>
          </a:prstGeom>
          <a:noFill/>
          <a:ln/>
        </p:spPr>
        <p:txBody>
          <a:bodyPr wrap="square" lIns="0" tIns="0" rIns="0" bIns="0" rtlCol="0" anchor="ctr">
            <a:spAutoFit/>
          </a:bodyPr>
          <a:lstStyle/>
          <a:p>
            <a:pPr algn="l" indent="0" marL="0">
              <a:buNone/>
            </a:pPr>
            <a:r>
              <a:rPr lang="en-US" sz="788" dirty="0">
                <a:solidFill>
                  <a:srgbClr val="F1F5F9"/>
                </a:solidFill>
                <a:latin typeface="Segoe UI" pitchFamily="34" charset="0"/>
                <a:ea typeface="Segoe UI" pitchFamily="34" charset="-122"/>
                <a:cs typeface="Segoe UI" pitchFamily="34" charset="-120"/>
              </a:rPr>
              <a:t>Open Command Palette (Ctrl+Shift+P / Cmd+Shift+P)</a:t>
            </a:r>
            <a:endParaRPr lang="en-US" sz="788" dirty="0"/>
          </a:p>
        </p:txBody>
      </p:sp>
      <p:sp>
        <p:nvSpPr>
          <p:cNvPr id="108" name="Text 101"/>
          <p:cNvSpPr/>
          <p:nvPr/>
        </p:nvSpPr>
        <p:spPr>
          <a:xfrm>
            <a:off x="5086350" y="10915650"/>
            <a:ext cx="3386138" cy="142875"/>
          </a:xfrm>
          <a:prstGeom prst="rect">
            <a:avLst/>
          </a:prstGeom>
          <a:noFill/>
          <a:ln/>
        </p:spPr>
        <p:txBody>
          <a:bodyPr wrap="square" lIns="0" tIns="0" rIns="0" bIns="0" rtlCol="0" anchor="ctr">
            <a:spAutoFit/>
          </a:bodyPr>
          <a:lstStyle/>
          <a:p>
            <a:pPr algn="l" indent="0" marL="0">
              <a:buNone/>
            </a:pPr>
            <a:r>
              <a:rPr lang="en-US" sz="788" dirty="0">
                <a:solidFill>
                  <a:srgbClr val="F1F5F9"/>
                </a:solidFill>
                <a:latin typeface="Segoe UI" pitchFamily="34" charset="0"/>
                <a:ea typeface="Segoe UI" pitchFamily="34" charset="-122"/>
                <a:cs typeface="Segoe UI" pitchFamily="34" charset="-120"/>
              </a:rPr>
              <a:t>Type "Java: Configure Java Runtime"</a:t>
            </a:r>
            <a:endParaRPr lang="en-US" sz="788" dirty="0"/>
          </a:p>
        </p:txBody>
      </p:sp>
      <p:sp>
        <p:nvSpPr>
          <p:cNvPr id="109" name="Text 102"/>
          <p:cNvSpPr/>
          <p:nvPr/>
        </p:nvSpPr>
        <p:spPr>
          <a:xfrm>
            <a:off x="5086350" y="11087100"/>
            <a:ext cx="3386138" cy="142875"/>
          </a:xfrm>
          <a:prstGeom prst="rect">
            <a:avLst/>
          </a:prstGeom>
          <a:noFill/>
          <a:ln/>
        </p:spPr>
        <p:txBody>
          <a:bodyPr wrap="square" lIns="0" tIns="0" rIns="0" bIns="0" rtlCol="0" anchor="ctr">
            <a:spAutoFit/>
          </a:bodyPr>
          <a:lstStyle/>
          <a:p>
            <a:pPr algn="l" indent="0" marL="0">
              <a:buNone/>
            </a:pPr>
            <a:r>
              <a:rPr lang="en-US" sz="788" dirty="0">
                <a:solidFill>
                  <a:srgbClr val="F1F5F9"/>
                </a:solidFill>
                <a:latin typeface="Segoe UI" pitchFamily="34" charset="0"/>
                <a:ea typeface="Segoe UI" pitchFamily="34" charset="-122"/>
                <a:cs typeface="Segoe UI" pitchFamily="34" charset="-120"/>
              </a:rPr>
              <a:t>Verify that your JDK is listed and selected</a:t>
            </a:r>
            <a:endParaRPr lang="en-US" sz="788" dirty="0"/>
          </a:p>
        </p:txBody>
      </p:sp>
      <p:sp>
        <p:nvSpPr>
          <p:cNvPr id="110" name="Text 103"/>
          <p:cNvSpPr/>
          <p:nvPr/>
        </p:nvSpPr>
        <p:spPr>
          <a:xfrm>
            <a:off x="5086350" y="11258550"/>
            <a:ext cx="3386138" cy="142875"/>
          </a:xfrm>
          <a:prstGeom prst="rect">
            <a:avLst/>
          </a:prstGeom>
          <a:noFill/>
          <a:ln/>
        </p:spPr>
        <p:txBody>
          <a:bodyPr wrap="square" lIns="0" tIns="0" rIns="0" bIns="0" rtlCol="0" anchor="ctr">
            <a:spAutoFit/>
          </a:bodyPr>
          <a:lstStyle/>
          <a:p>
            <a:pPr algn="l" indent="0" marL="0">
              <a:buNone/>
            </a:pPr>
            <a:r>
              <a:rPr lang="en-US" sz="788" dirty="0">
                <a:solidFill>
                  <a:srgbClr val="F1F5F9"/>
                </a:solidFill>
                <a:latin typeface="Segoe UI" pitchFamily="34" charset="0"/>
                <a:ea typeface="Segoe UI" pitchFamily="34" charset="-122"/>
                <a:cs typeface="Segoe UI" pitchFamily="34" charset="-120"/>
              </a:rPr>
              <a:t>Check that the version matches what you installed</a:t>
            </a:r>
            <a:endParaRPr lang="en-US" sz="788" dirty="0"/>
          </a:p>
        </p:txBody>
      </p:sp>
      <p:sp>
        <p:nvSpPr>
          <p:cNvPr id="111" name="Shape 104"/>
          <p:cNvSpPr/>
          <p:nvPr/>
        </p:nvSpPr>
        <p:spPr>
          <a:xfrm>
            <a:off x="4857750" y="11630025"/>
            <a:ext cx="3657600" cy="657225"/>
          </a:xfrm>
          <a:prstGeom prst="rect">
            <a:avLst/>
          </a:prstGeom>
          <a:solidFill>
            <a:srgbClr val="78350F">
              <a:alpha val="20000"/>
            </a:srgbClr>
          </a:solidFill>
          <a:ln/>
        </p:spPr>
      </p:sp>
      <p:pic>
        <p:nvPicPr>
          <p:cNvPr id="112" name="Image 5" descr="preencoded.png">    </p:cNvPr>
          <p:cNvPicPr>
            <a:picLocks noChangeAspect="1"/>
          </p:cNvPicPr>
          <p:nvPr/>
        </p:nvPicPr>
        <p:blipFill>
          <a:blip r:embed="rId6"/>
          <a:stretch>
            <a:fillRect/>
          </a:stretch>
        </p:blipFill>
        <p:spPr>
          <a:xfrm>
            <a:off x="4972050" y="11872913"/>
            <a:ext cx="128588" cy="171450"/>
          </a:xfrm>
          <a:prstGeom prst="rect">
            <a:avLst/>
          </a:prstGeom>
        </p:spPr>
      </p:pic>
      <p:sp>
        <p:nvSpPr>
          <p:cNvPr id="113" name="Text 105"/>
          <p:cNvSpPr/>
          <p:nvPr/>
        </p:nvSpPr>
        <p:spPr>
          <a:xfrm>
            <a:off x="5214938" y="11744325"/>
            <a:ext cx="3257550" cy="428625"/>
          </a:xfrm>
          <a:prstGeom prst="rect">
            <a:avLst/>
          </a:prstGeom>
          <a:noFill/>
          <a:ln/>
        </p:spPr>
        <p:txBody>
          <a:bodyPr wrap="square" lIns="0" tIns="0" rIns="0" bIns="0" rtlCol="0" anchor="ctr">
            <a:spAutoFit/>
          </a:bodyPr>
          <a:lstStyle/>
          <a:p>
            <a:pPr indent="0" marL="0">
              <a:buNone/>
            </a:pPr>
            <a:r>
              <a:rPr lang="en-US" sz="788" dirty="0">
                <a:solidFill>
                  <a:srgbClr val="F1F5F9"/>
                </a:solidFill>
                <a:latin typeface="Segoe UI" pitchFamily="34" charset="0"/>
                <a:ea typeface="Segoe UI" pitchFamily="34" charset="-122"/>
                <a:cs typeface="Segoe UI" pitchFamily="34" charset="-120"/>
              </a:rPr>
              <a:t>If you see any warnings or errors in the "Problems" panel related to Java configuration, address them before proceeding to create your first Java project.</a:t>
            </a:r>
            <a:endParaRPr lang="en-US" sz="788" dirty="0"/>
          </a:p>
        </p:txBody>
      </p:sp>
      <p:sp>
        <p:nvSpPr>
          <p:cNvPr id="114" name="Shape 106"/>
          <p:cNvSpPr/>
          <p:nvPr/>
        </p:nvSpPr>
        <p:spPr>
          <a:xfrm>
            <a:off x="457200" y="12687300"/>
            <a:ext cx="8229600" cy="2271713"/>
          </a:xfrm>
          <a:prstGeom prst="rect">
            <a:avLst/>
          </a:prstGeom>
          <a:solidFill>
            <a:srgbClr val="FFFFFF">
              <a:alpha val="10000"/>
            </a:srgbClr>
          </a:solidFill>
          <a:ln w="99">
            <a:solidFill>
              <a:srgbClr val="60A5FA">
                <a:alpha val="30000"/>
              </a:srgbClr>
            </a:solidFill>
            <a:prstDash val="solid"/>
          </a:ln>
        </p:spPr>
      </p:sp>
      <p:sp>
        <p:nvSpPr>
          <p:cNvPr id="115" name="Text 107"/>
          <p:cNvSpPr/>
          <p:nvPr/>
        </p:nvSpPr>
        <p:spPr>
          <a:xfrm>
            <a:off x="628650" y="12858750"/>
            <a:ext cx="7958138" cy="228600"/>
          </a:xfrm>
          <a:prstGeom prst="rect">
            <a:avLst/>
          </a:prstGeom>
          <a:noFill/>
          <a:ln/>
        </p:spPr>
        <p:txBody>
          <a:bodyPr wrap="square" lIns="0" tIns="0" rIns="0" bIns="0" rtlCol="0" anchor="ctr">
            <a:spAutoFit/>
          </a:bodyPr>
          <a:lstStyle/>
          <a:p>
            <a:pPr indent="0" marL="0">
              <a:buNone/>
            </a:pPr>
            <a:r>
              <a:rPr lang="en-US" sz="1350" b="1" dirty="0">
                <a:solidFill>
                  <a:srgbClr val="BFDBFE"/>
                </a:solidFill>
                <a:latin typeface="Segoe UI" pitchFamily="34" charset="0"/>
                <a:ea typeface="Segoe UI" pitchFamily="34" charset="-122"/>
                <a:cs typeface="Segoe UI" pitchFamily="34" charset="-120"/>
              </a:rPr>
              <a:t>Troubleshooting Common Issues</a:t>
            </a:r>
            <a:endParaRPr lang="en-US" sz="1350" dirty="0"/>
          </a:p>
        </p:txBody>
      </p:sp>
      <p:sp>
        <p:nvSpPr>
          <p:cNvPr id="116" name="Shape 108"/>
          <p:cNvSpPr/>
          <p:nvPr/>
        </p:nvSpPr>
        <p:spPr>
          <a:xfrm>
            <a:off x="628650" y="13201650"/>
            <a:ext cx="2514600" cy="1000125"/>
          </a:xfrm>
          <a:prstGeom prst="rect">
            <a:avLst/>
          </a:prstGeom>
          <a:solidFill>
            <a:srgbClr val="1E3A8A">
              <a:alpha val="30000"/>
            </a:srgbClr>
          </a:solidFill>
          <a:ln/>
        </p:spPr>
      </p:sp>
      <p:sp>
        <p:nvSpPr>
          <p:cNvPr id="117" name="Text 109"/>
          <p:cNvSpPr/>
          <p:nvPr/>
        </p:nvSpPr>
        <p:spPr>
          <a:xfrm>
            <a:off x="742950" y="13315950"/>
            <a:ext cx="2357438" cy="200025"/>
          </a:xfrm>
          <a:prstGeom prst="rect">
            <a:avLst/>
          </a:prstGeom>
          <a:noFill/>
          <a:ln/>
        </p:spPr>
        <p:txBody>
          <a:bodyPr wrap="square" lIns="0" tIns="0" rIns="0" bIns="0" rtlCol="0" anchor="ctr">
            <a:spAutoFit/>
          </a:bodyPr>
          <a:lstStyle/>
          <a:p>
            <a:pPr indent="0" marL="0">
              <a:buNone/>
            </a:pPr>
            <a:r>
              <a:rPr lang="en-US" sz="1125" b="1" dirty="0">
                <a:solidFill>
                  <a:srgbClr val="F1F5F9"/>
                </a:solidFill>
                <a:latin typeface="Segoe UI" pitchFamily="34" charset="0"/>
                <a:ea typeface="Segoe UI" pitchFamily="34" charset="-122"/>
                <a:cs typeface="Segoe UI" pitchFamily="34" charset="-120"/>
              </a:rPr>
              <a:t>JDK Not Found</a:t>
            </a:r>
            <a:endParaRPr lang="en-US" sz="1125" dirty="0"/>
          </a:p>
        </p:txBody>
      </p:sp>
      <p:pic>
        <p:nvPicPr>
          <p:cNvPr id="118" name="Image 6" descr="preencoded.png">    </p:cNvPr>
          <p:cNvPicPr>
            <a:picLocks noChangeAspect="1"/>
          </p:cNvPicPr>
          <p:nvPr/>
        </p:nvPicPr>
        <p:blipFill>
          <a:blip r:embed="rId7"/>
          <a:stretch>
            <a:fillRect/>
          </a:stretch>
        </p:blipFill>
        <p:spPr>
          <a:xfrm>
            <a:off x="742950" y="13630275"/>
            <a:ext cx="100013" cy="100013"/>
          </a:xfrm>
          <a:prstGeom prst="rect">
            <a:avLst/>
          </a:prstGeom>
        </p:spPr>
      </p:pic>
      <p:sp>
        <p:nvSpPr>
          <p:cNvPr id="119" name="Text 110"/>
          <p:cNvSpPr/>
          <p:nvPr/>
        </p:nvSpPr>
        <p:spPr>
          <a:xfrm>
            <a:off x="900113" y="13601700"/>
            <a:ext cx="1811471" cy="142875"/>
          </a:xfrm>
          <a:prstGeom prst="rect">
            <a:avLst/>
          </a:prstGeom>
          <a:noFill/>
          <a:ln/>
        </p:spPr>
        <p:txBody>
          <a:bodyPr wrap="square" lIns="0" tIns="0" rIns="0" bIns="0" rtlCol="0" anchor="ctr">
            <a:spAutoFit/>
          </a:bodyPr>
          <a:lstStyle/>
          <a:p>
            <a:pPr algn="l" indent="0" marL="0">
              <a:buNone/>
            </a:pPr>
            <a:r>
              <a:rPr lang="en-US" sz="788" dirty="0">
                <a:solidFill>
                  <a:srgbClr val="F1F5F9"/>
                </a:solidFill>
                <a:latin typeface="Segoe UI" pitchFamily="34" charset="0"/>
                <a:ea typeface="Segoe UI" pitchFamily="34" charset="-122"/>
                <a:cs typeface="Segoe UI" pitchFamily="34" charset="-120"/>
              </a:rPr>
              <a:t>Manually set java.home in settings.json</a:t>
            </a:r>
            <a:endParaRPr lang="en-US" sz="788" dirty="0"/>
          </a:p>
        </p:txBody>
      </p:sp>
      <p:pic>
        <p:nvPicPr>
          <p:cNvPr id="120" name="Image 7" descr="preencoded.png">    </p:cNvPr>
          <p:cNvPicPr>
            <a:picLocks noChangeAspect="1"/>
          </p:cNvPicPr>
          <p:nvPr/>
        </p:nvPicPr>
        <p:blipFill>
          <a:blip r:embed="rId8"/>
          <a:stretch>
            <a:fillRect/>
          </a:stretch>
        </p:blipFill>
        <p:spPr>
          <a:xfrm>
            <a:off x="742950" y="13801725"/>
            <a:ext cx="100013" cy="100013"/>
          </a:xfrm>
          <a:prstGeom prst="rect">
            <a:avLst/>
          </a:prstGeom>
        </p:spPr>
      </p:pic>
      <p:sp>
        <p:nvSpPr>
          <p:cNvPr id="121" name="Text 111"/>
          <p:cNvSpPr/>
          <p:nvPr/>
        </p:nvSpPr>
        <p:spPr>
          <a:xfrm>
            <a:off x="900113" y="13773150"/>
            <a:ext cx="1896470" cy="142875"/>
          </a:xfrm>
          <a:prstGeom prst="rect">
            <a:avLst/>
          </a:prstGeom>
          <a:noFill/>
          <a:ln/>
        </p:spPr>
        <p:txBody>
          <a:bodyPr wrap="square" lIns="0" tIns="0" rIns="0" bIns="0" rtlCol="0" anchor="ctr">
            <a:spAutoFit/>
          </a:bodyPr>
          <a:lstStyle/>
          <a:p>
            <a:pPr algn="l" indent="0" marL="0">
              <a:buNone/>
            </a:pPr>
            <a:r>
              <a:rPr lang="en-US" sz="788" dirty="0">
                <a:solidFill>
                  <a:srgbClr val="F1F5F9"/>
                </a:solidFill>
                <a:latin typeface="Segoe UI" pitchFamily="34" charset="0"/>
                <a:ea typeface="Segoe UI" pitchFamily="34" charset="-122"/>
                <a:cs typeface="Segoe UI" pitchFamily="34" charset="-120"/>
              </a:rPr>
              <a:t>Verify JAVA_HOME environment variable</a:t>
            </a:r>
            <a:endParaRPr lang="en-US" sz="788" dirty="0"/>
          </a:p>
        </p:txBody>
      </p:sp>
      <p:pic>
        <p:nvPicPr>
          <p:cNvPr id="122" name="Image 8" descr="preencoded.png">    </p:cNvPr>
          <p:cNvPicPr>
            <a:picLocks noChangeAspect="1"/>
          </p:cNvPicPr>
          <p:nvPr/>
        </p:nvPicPr>
        <p:blipFill>
          <a:blip r:embed="rId9"/>
          <a:stretch>
            <a:fillRect/>
          </a:stretch>
        </p:blipFill>
        <p:spPr>
          <a:xfrm>
            <a:off x="742950" y="13973175"/>
            <a:ext cx="100013" cy="100013"/>
          </a:xfrm>
          <a:prstGeom prst="rect">
            <a:avLst/>
          </a:prstGeom>
        </p:spPr>
      </p:pic>
      <p:sp>
        <p:nvSpPr>
          <p:cNvPr id="123" name="Text 112"/>
          <p:cNvSpPr/>
          <p:nvPr/>
        </p:nvSpPr>
        <p:spPr>
          <a:xfrm>
            <a:off x="900113" y="13944600"/>
            <a:ext cx="1455706" cy="142875"/>
          </a:xfrm>
          <a:prstGeom prst="rect">
            <a:avLst/>
          </a:prstGeom>
          <a:noFill/>
          <a:ln/>
        </p:spPr>
        <p:txBody>
          <a:bodyPr wrap="square" lIns="0" tIns="0" rIns="0" bIns="0" rtlCol="0" anchor="ctr">
            <a:spAutoFit/>
          </a:bodyPr>
          <a:lstStyle/>
          <a:p>
            <a:pPr algn="l" indent="0" marL="0">
              <a:buNone/>
            </a:pPr>
            <a:r>
              <a:rPr lang="en-US" sz="788" dirty="0">
                <a:solidFill>
                  <a:srgbClr val="F1F5F9"/>
                </a:solidFill>
                <a:latin typeface="Segoe UI" pitchFamily="34" charset="0"/>
                <a:ea typeface="Segoe UI" pitchFamily="34" charset="-122"/>
                <a:cs typeface="Segoe UI" pitchFamily="34" charset="-120"/>
              </a:rPr>
              <a:t>Restart VS Code after changes</a:t>
            </a:r>
            <a:endParaRPr lang="en-US" sz="788" dirty="0"/>
          </a:p>
        </p:txBody>
      </p:sp>
      <p:sp>
        <p:nvSpPr>
          <p:cNvPr id="124" name="Shape 113"/>
          <p:cNvSpPr/>
          <p:nvPr/>
        </p:nvSpPr>
        <p:spPr>
          <a:xfrm>
            <a:off x="3314700" y="13201650"/>
            <a:ext cx="2514600" cy="1000125"/>
          </a:xfrm>
          <a:prstGeom prst="rect">
            <a:avLst/>
          </a:prstGeom>
          <a:solidFill>
            <a:srgbClr val="1E3A8A">
              <a:alpha val="30000"/>
            </a:srgbClr>
          </a:solidFill>
          <a:ln/>
        </p:spPr>
      </p:sp>
      <p:sp>
        <p:nvSpPr>
          <p:cNvPr id="125" name="Text 114"/>
          <p:cNvSpPr/>
          <p:nvPr/>
        </p:nvSpPr>
        <p:spPr>
          <a:xfrm>
            <a:off x="3429000" y="13315950"/>
            <a:ext cx="2357438" cy="200025"/>
          </a:xfrm>
          <a:prstGeom prst="rect">
            <a:avLst/>
          </a:prstGeom>
          <a:noFill/>
          <a:ln/>
        </p:spPr>
        <p:txBody>
          <a:bodyPr wrap="square" lIns="0" tIns="0" rIns="0" bIns="0" rtlCol="0" anchor="ctr">
            <a:spAutoFit/>
          </a:bodyPr>
          <a:lstStyle/>
          <a:p>
            <a:pPr indent="0" marL="0">
              <a:buNone/>
            </a:pPr>
            <a:r>
              <a:rPr lang="en-US" sz="1125" b="1" dirty="0">
                <a:solidFill>
                  <a:srgbClr val="F1F5F9"/>
                </a:solidFill>
                <a:latin typeface="Segoe UI" pitchFamily="34" charset="0"/>
                <a:ea typeface="Segoe UI" pitchFamily="34" charset="-122"/>
                <a:cs typeface="Segoe UI" pitchFamily="34" charset="-120"/>
              </a:rPr>
              <a:t>Extension Issues</a:t>
            </a:r>
            <a:endParaRPr lang="en-US" sz="1125" dirty="0"/>
          </a:p>
        </p:txBody>
      </p:sp>
      <p:pic>
        <p:nvPicPr>
          <p:cNvPr id="126" name="Image 9" descr="preencoded.png">    </p:cNvPr>
          <p:cNvPicPr>
            <a:picLocks noChangeAspect="1"/>
          </p:cNvPicPr>
          <p:nvPr/>
        </p:nvPicPr>
        <p:blipFill>
          <a:blip r:embed="rId10"/>
          <a:stretch>
            <a:fillRect/>
          </a:stretch>
        </p:blipFill>
        <p:spPr>
          <a:xfrm>
            <a:off x="3429000" y="13630275"/>
            <a:ext cx="100013" cy="100013"/>
          </a:xfrm>
          <a:prstGeom prst="rect">
            <a:avLst/>
          </a:prstGeom>
        </p:spPr>
      </p:pic>
      <p:sp>
        <p:nvSpPr>
          <p:cNvPr id="127" name="Text 115"/>
          <p:cNvSpPr/>
          <p:nvPr/>
        </p:nvSpPr>
        <p:spPr>
          <a:xfrm>
            <a:off x="3586163" y="13601700"/>
            <a:ext cx="1422304" cy="142875"/>
          </a:xfrm>
          <a:prstGeom prst="rect">
            <a:avLst/>
          </a:prstGeom>
          <a:noFill/>
          <a:ln/>
        </p:spPr>
        <p:txBody>
          <a:bodyPr wrap="square" lIns="0" tIns="0" rIns="0" bIns="0" rtlCol="0" anchor="ctr">
            <a:spAutoFit/>
          </a:bodyPr>
          <a:lstStyle/>
          <a:p>
            <a:pPr algn="l" indent="0" marL="0">
              <a:buNone/>
            </a:pPr>
            <a:r>
              <a:rPr lang="en-US" sz="788" dirty="0">
                <a:solidFill>
                  <a:srgbClr val="F1F5F9"/>
                </a:solidFill>
                <a:latin typeface="Segoe UI" pitchFamily="34" charset="0"/>
                <a:ea typeface="Segoe UI" pitchFamily="34" charset="-122"/>
                <a:cs typeface="Segoe UI" pitchFamily="34" charset="-120"/>
              </a:rPr>
              <a:t>Check extension requirements</a:t>
            </a:r>
            <a:endParaRPr lang="en-US" sz="788" dirty="0"/>
          </a:p>
        </p:txBody>
      </p:sp>
      <p:pic>
        <p:nvPicPr>
          <p:cNvPr id="128" name="Image 10" descr="preencoded.png">    </p:cNvPr>
          <p:cNvPicPr>
            <a:picLocks noChangeAspect="1"/>
          </p:cNvPicPr>
          <p:nvPr/>
        </p:nvPicPr>
        <p:blipFill>
          <a:blip r:embed="rId11"/>
          <a:stretch>
            <a:fillRect/>
          </a:stretch>
        </p:blipFill>
        <p:spPr>
          <a:xfrm>
            <a:off x="3429000" y="13801725"/>
            <a:ext cx="100013" cy="100013"/>
          </a:xfrm>
          <a:prstGeom prst="rect">
            <a:avLst/>
          </a:prstGeom>
        </p:spPr>
      </p:pic>
      <p:sp>
        <p:nvSpPr>
          <p:cNvPr id="129" name="Text 116"/>
          <p:cNvSpPr/>
          <p:nvPr/>
        </p:nvSpPr>
        <p:spPr>
          <a:xfrm>
            <a:off x="3586163" y="13773150"/>
            <a:ext cx="1555914" cy="142875"/>
          </a:xfrm>
          <a:prstGeom prst="rect">
            <a:avLst/>
          </a:prstGeom>
          <a:noFill/>
          <a:ln/>
        </p:spPr>
        <p:txBody>
          <a:bodyPr wrap="square" lIns="0" tIns="0" rIns="0" bIns="0" rtlCol="0" anchor="ctr">
            <a:spAutoFit/>
          </a:bodyPr>
          <a:lstStyle/>
          <a:p>
            <a:pPr algn="l" indent="0" marL="0">
              <a:buNone/>
            </a:pPr>
            <a:r>
              <a:rPr lang="en-US" sz="788" dirty="0">
                <a:solidFill>
                  <a:srgbClr val="F1F5F9"/>
                </a:solidFill>
                <a:latin typeface="Segoe UI" pitchFamily="34" charset="0"/>
                <a:ea typeface="Segoe UI" pitchFamily="34" charset="-122"/>
                <a:cs typeface="Segoe UI" pitchFamily="34" charset="-120"/>
              </a:rPr>
              <a:t>Disable and re-enable extensions</a:t>
            </a:r>
            <a:endParaRPr lang="en-US" sz="788" dirty="0"/>
          </a:p>
        </p:txBody>
      </p:sp>
      <p:pic>
        <p:nvPicPr>
          <p:cNvPr id="130" name="Image 11" descr="preencoded.png">    </p:cNvPr>
          <p:cNvPicPr>
            <a:picLocks noChangeAspect="1"/>
          </p:cNvPicPr>
          <p:nvPr/>
        </p:nvPicPr>
        <p:blipFill>
          <a:blip r:embed="rId12"/>
          <a:stretch>
            <a:fillRect/>
          </a:stretch>
        </p:blipFill>
        <p:spPr>
          <a:xfrm>
            <a:off x="3429000" y="13973175"/>
            <a:ext cx="100013" cy="100013"/>
          </a:xfrm>
          <a:prstGeom prst="rect">
            <a:avLst/>
          </a:prstGeom>
        </p:spPr>
      </p:pic>
      <p:sp>
        <p:nvSpPr>
          <p:cNvPr id="131" name="Text 117"/>
          <p:cNvSpPr/>
          <p:nvPr/>
        </p:nvSpPr>
        <p:spPr>
          <a:xfrm>
            <a:off x="3586163" y="13944600"/>
            <a:ext cx="1172161" cy="142875"/>
          </a:xfrm>
          <a:prstGeom prst="rect">
            <a:avLst/>
          </a:prstGeom>
          <a:noFill/>
          <a:ln/>
        </p:spPr>
        <p:txBody>
          <a:bodyPr wrap="none" lIns="0" tIns="0" rIns="0" bIns="0" rtlCol="0" anchor="ctr">
            <a:spAutoFit/>
          </a:bodyPr>
          <a:lstStyle/>
          <a:p>
            <a:pPr algn="l" indent="0" marL="0">
              <a:buNone/>
            </a:pPr>
            <a:r>
              <a:rPr lang="en-US" sz="788" dirty="0">
                <a:solidFill>
                  <a:srgbClr val="F1F5F9"/>
                </a:solidFill>
                <a:latin typeface="Segoe UI" pitchFamily="34" charset="0"/>
                <a:ea typeface="Segoe UI" pitchFamily="34" charset="-122"/>
                <a:cs typeface="Segoe UI" pitchFamily="34" charset="-120"/>
              </a:rPr>
              <a:t>Update to latest versions</a:t>
            </a:r>
            <a:endParaRPr lang="en-US" sz="788" dirty="0"/>
          </a:p>
        </p:txBody>
      </p:sp>
      <p:sp>
        <p:nvSpPr>
          <p:cNvPr id="132" name="Shape 118"/>
          <p:cNvSpPr/>
          <p:nvPr/>
        </p:nvSpPr>
        <p:spPr>
          <a:xfrm>
            <a:off x="6000750" y="13201650"/>
            <a:ext cx="2514600" cy="1000125"/>
          </a:xfrm>
          <a:prstGeom prst="rect">
            <a:avLst/>
          </a:prstGeom>
          <a:solidFill>
            <a:srgbClr val="1E3A8A">
              <a:alpha val="30000"/>
            </a:srgbClr>
          </a:solidFill>
          <a:ln/>
        </p:spPr>
      </p:sp>
      <p:sp>
        <p:nvSpPr>
          <p:cNvPr id="133" name="Text 119"/>
          <p:cNvSpPr/>
          <p:nvPr/>
        </p:nvSpPr>
        <p:spPr>
          <a:xfrm>
            <a:off x="6115050" y="13315950"/>
            <a:ext cx="2357438" cy="200025"/>
          </a:xfrm>
          <a:prstGeom prst="rect">
            <a:avLst/>
          </a:prstGeom>
          <a:noFill/>
          <a:ln/>
        </p:spPr>
        <p:txBody>
          <a:bodyPr wrap="square" lIns="0" tIns="0" rIns="0" bIns="0" rtlCol="0" anchor="ctr">
            <a:spAutoFit/>
          </a:bodyPr>
          <a:lstStyle/>
          <a:p>
            <a:pPr indent="0" marL="0">
              <a:buNone/>
            </a:pPr>
            <a:r>
              <a:rPr lang="en-US" sz="1125" b="1" dirty="0">
                <a:solidFill>
                  <a:srgbClr val="F1F5F9"/>
                </a:solidFill>
                <a:latin typeface="Segoe UI" pitchFamily="34" charset="0"/>
                <a:ea typeface="Segoe UI" pitchFamily="34" charset="-122"/>
                <a:cs typeface="Segoe UI" pitchFamily="34" charset="-120"/>
              </a:rPr>
              <a:t>Language Server</a:t>
            </a:r>
            <a:endParaRPr lang="en-US" sz="1125" dirty="0"/>
          </a:p>
        </p:txBody>
      </p:sp>
      <p:pic>
        <p:nvPicPr>
          <p:cNvPr id="134" name="Image 12" descr="preencoded.png">    </p:cNvPr>
          <p:cNvPicPr>
            <a:picLocks noChangeAspect="1"/>
          </p:cNvPicPr>
          <p:nvPr/>
        </p:nvPicPr>
        <p:blipFill>
          <a:blip r:embed="rId13"/>
          <a:stretch>
            <a:fillRect/>
          </a:stretch>
        </p:blipFill>
        <p:spPr>
          <a:xfrm>
            <a:off x="6115050" y="13630275"/>
            <a:ext cx="100013" cy="100013"/>
          </a:xfrm>
          <a:prstGeom prst="rect">
            <a:avLst/>
          </a:prstGeom>
        </p:spPr>
      </p:pic>
      <p:sp>
        <p:nvSpPr>
          <p:cNvPr id="135" name="Text 120"/>
          <p:cNvSpPr/>
          <p:nvPr/>
        </p:nvSpPr>
        <p:spPr>
          <a:xfrm>
            <a:off x="6272213" y="13601700"/>
            <a:ext cx="1427969" cy="142875"/>
          </a:xfrm>
          <a:prstGeom prst="rect">
            <a:avLst/>
          </a:prstGeom>
          <a:noFill/>
          <a:ln/>
        </p:spPr>
        <p:txBody>
          <a:bodyPr wrap="square" lIns="0" tIns="0" rIns="0" bIns="0" rtlCol="0" anchor="ctr">
            <a:spAutoFit/>
          </a:bodyPr>
          <a:lstStyle/>
          <a:p>
            <a:pPr algn="l" indent="0" marL="0">
              <a:buNone/>
            </a:pPr>
            <a:r>
              <a:rPr lang="en-US" sz="788" dirty="0">
                <a:solidFill>
                  <a:srgbClr val="F1F5F9"/>
                </a:solidFill>
                <a:latin typeface="Segoe UI" pitchFamily="34" charset="0"/>
                <a:ea typeface="Segoe UI" pitchFamily="34" charset="-122"/>
                <a:cs typeface="Segoe UI" pitchFamily="34" charset="-120"/>
              </a:rPr>
              <a:t>Restart Java Language Server</a:t>
            </a:r>
            <a:endParaRPr lang="en-US" sz="788" dirty="0"/>
          </a:p>
        </p:txBody>
      </p:sp>
      <p:pic>
        <p:nvPicPr>
          <p:cNvPr id="136" name="Image 13" descr="preencoded.png">    </p:cNvPr>
          <p:cNvPicPr>
            <a:picLocks noChangeAspect="1"/>
          </p:cNvPicPr>
          <p:nvPr/>
        </p:nvPicPr>
        <p:blipFill>
          <a:blip r:embed="rId14"/>
          <a:stretch>
            <a:fillRect/>
          </a:stretch>
        </p:blipFill>
        <p:spPr>
          <a:xfrm>
            <a:off x="6115050" y="13801725"/>
            <a:ext cx="100013" cy="100013"/>
          </a:xfrm>
          <a:prstGeom prst="rect">
            <a:avLst/>
          </a:prstGeom>
        </p:spPr>
      </p:pic>
      <p:sp>
        <p:nvSpPr>
          <p:cNvPr id="137" name="Text 121"/>
          <p:cNvSpPr/>
          <p:nvPr/>
        </p:nvSpPr>
        <p:spPr>
          <a:xfrm>
            <a:off x="6272213" y="13773150"/>
            <a:ext cx="1388901" cy="142875"/>
          </a:xfrm>
          <a:prstGeom prst="rect">
            <a:avLst/>
          </a:prstGeom>
          <a:noFill/>
          <a:ln/>
        </p:spPr>
        <p:txBody>
          <a:bodyPr wrap="square" lIns="0" tIns="0" rIns="0" bIns="0" rtlCol="0" anchor="ctr">
            <a:spAutoFit/>
          </a:bodyPr>
          <a:lstStyle/>
          <a:p>
            <a:pPr algn="l" indent="0" marL="0">
              <a:buNone/>
            </a:pPr>
            <a:r>
              <a:rPr lang="en-US" sz="788" dirty="0">
                <a:solidFill>
                  <a:srgbClr val="F1F5F9"/>
                </a:solidFill>
                <a:latin typeface="Segoe UI" pitchFamily="34" charset="0"/>
                <a:ea typeface="Segoe UI" pitchFamily="34" charset="-122"/>
                <a:cs typeface="Segoe UI" pitchFamily="34" charset="-120"/>
              </a:rPr>
              <a:t>Check Output panel for errors</a:t>
            </a:r>
            <a:endParaRPr lang="en-US" sz="788" dirty="0"/>
          </a:p>
        </p:txBody>
      </p:sp>
      <p:pic>
        <p:nvPicPr>
          <p:cNvPr id="138" name="Image 14" descr="preencoded.png">    </p:cNvPr>
          <p:cNvPicPr>
            <a:picLocks noChangeAspect="1"/>
          </p:cNvPicPr>
          <p:nvPr/>
        </p:nvPicPr>
        <p:blipFill>
          <a:blip r:embed="rId15"/>
          <a:stretch>
            <a:fillRect/>
          </a:stretch>
        </p:blipFill>
        <p:spPr>
          <a:xfrm>
            <a:off x="6115050" y="13973175"/>
            <a:ext cx="100013" cy="100013"/>
          </a:xfrm>
          <a:prstGeom prst="rect">
            <a:avLst/>
          </a:prstGeom>
        </p:spPr>
      </p:pic>
      <p:sp>
        <p:nvSpPr>
          <p:cNvPr id="139" name="Text 122"/>
          <p:cNvSpPr/>
          <p:nvPr/>
        </p:nvSpPr>
        <p:spPr>
          <a:xfrm>
            <a:off x="6272213" y="13944600"/>
            <a:ext cx="1133261" cy="142875"/>
          </a:xfrm>
          <a:prstGeom prst="rect">
            <a:avLst/>
          </a:prstGeom>
          <a:noFill/>
          <a:ln/>
        </p:spPr>
        <p:txBody>
          <a:bodyPr wrap="none" lIns="0" tIns="0" rIns="0" bIns="0" rtlCol="0" anchor="ctr">
            <a:spAutoFit/>
          </a:bodyPr>
          <a:lstStyle/>
          <a:p>
            <a:pPr algn="l" indent="0" marL="0">
              <a:buNone/>
            </a:pPr>
            <a:r>
              <a:rPr lang="en-US" sz="788" dirty="0">
                <a:solidFill>
                  <a:srgbClr val="F1F5F9"/>
                </a:solidFill>
                <a:latin typeface="Segoe UI" pitchFamily="34" charset="0"/>
                <a:ea typeface="Segoe UI" pitchFamily="34" charset="-122"/>
                <a:cs typeface="Segoe UI" pitchFamily="34" charset="-120"/>
              </a:rPr>
              <a:t>Clean workspace cache</a:t>
            </a:r>
            <a:endParaRPr lang="en-US" sz="788" dirty="0"/>
          </a:p>
        </p:txBody>
      </p:sp>
      <p:sp>
        <p:nvSpPr>
          <p:cNvPr id="140" name="Shape 123"/>
          <p:cNvSpPr/>
          <p:nvPr/>
        </p:nvSpPr>
        <p:spPr>
          <a:xfrm>
            <a:off x="628650" y="14373225"/>
            <a:ext cx="7886700" cy="400050"/>
          </a:xfrm>
          <a:prstGeom prst="rect">
            <a:avLst/>
          </a:prstGeom>
          <a:solidFill>
            <a:srgbClr val="1E3A8A">
              <a:alpha val="30000"/>
            </a:srgbClr>
          </a:solidFill>
          <a:ln/>
        </p:spPr>
      </p:sp>
      <p:pic>
        <p:nvPicPr>
          <p:cNvPr id="141" name="Image 15" descr="preencoded.png">    </p:cNvPr>
          <p:cNvPicPr>
            <a:picLocks noChangeAspect="1"/>
          </p:cNvPicPr>
          <p:nvPr/>
        </p:nvPicPr>
        <p:blipFill>
          <a:blip r:embed="rId16"/>
          <a:stretch>
            <a:fillRect/>
          </a:stretch>
        </p:blipFill>
        <p:spPr>
          <a:xfrm>
            <a:off x="742950" y="14487525"/>
            <a:ext cx="171450" cy="171450"/>
          </a:xfrm>
          <a:prstGeom prst="rect">
            <a:avLst/>
          </a:prstGeom>
        </p:spPr>
      </p:pic>
      <p:sp>
        <p:nvSpPr>
          <p:cNvPr id="142" name="Text 124"/>
          <p:cNvSpPr/>
          <p:nvPr/>
        </p:nvSpPr>
        <p:spPr>
          <a:xfrm>
            <a:off x="1028700" y="14487525"/>
            <a:ext cx="6357770" cy="171450"/>
          </a:xfrm>
          <a:prstGeom prst="rect">
            <a:avLst/>
          </a:prstGeom>
          <a:noFill/>
          <a:ln/>
        </p:spPr>
        <p:txBody>
          <a:bodyPr wrap="square" lIns="0" tIns="0" rIns="0" bIns="0" rtlCol="0" anchor="ctr">
            <a:spAutoFit/>
          </a:bodyPr>
          <a:lstStyle/>
          <a:p>
            <a:pPr indent="0" marL="0">
              <a:buNone/>
            </a:pPr>
            <a:r>
              <a:rPr lang="en-US" sz="900" dirty="0">
                <a:solidFill>
                  <a:srgbClr val="F1F5F9"/>
                </a:solidFill>
                <a:latin typeface="Segoe UI" pitchFamily="34" charset="0"/>
                <a:ea typeface="Segoe UI" pitchFamily="34" charset="-122"/>
                <a:cs typeface="Segoe UI" pitchFamily="34" charset="-120"/>
              </a:rPr>
              <a:t>Now that you have VS Code configured for Java development, you're ready to create your first Java project and start coding!</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14658975"/>
          </a:xfrm>
          <a:prstGeom prst="rect">
            <a:avLst/>
          </a:prstGeom>
        </p:spPr>
      </p:pic>
      <p:sp>
        <p:nvSpPr>
          <p:cNvPr id="3" name="Text 0"/>
          <p:cNvSpPr/>
          <p:nvPr/>
        </p:nvSpPr>
        <p:spPr>
          <a:xfrm>
            <a:off x="457200" y="455414"/>
            <a:ext cx="1400510" cy="287536"/>
          </a:xfrm>
          <a:prstGeom prst="rect">
            <a:avLst/>
          </a:prstGeom>
          <a:noFill/>
          <a:ln/>
        </p:spPr>
        <p:txBody>
          <a:bodyPr wrap="square" lIns="0" tIns="0" rIns="0" bIns="0" rtlCol="0" anchor="ctr">
            <a:spAutoFit/>
          </a:bodyPr>
          <a:lstStyle/>
          <a:p>
            <a:pPr indent="0" marL="0">
              <a:buNone/>
            </a:pPr>
            <a:r>
              <a:rPr lang="en-US" sz="2025" b="1" dirty="0">
                <a:solidFill>
                  <a:srgbClr val="F1F5F9"/>
                </a:solidFill>
                <a:latin typeface="Segoe UI" pitchFamily="34" charset="0"/>
                <a:ea typeface="Segoe UI" pitchFamily="34" charset="-122"/>
                <a:cs typeface="Segoe UI" pitchFamily="34" charset="-120"/>
              </a:rPr>
              <a:t>Creating a</a:t>
            </a:r>
            <a:endParaRPr lang="en-US" sz="2025" dirty="0"/>
          </a:p>
        </p:txBody>
      </p:sp>
      <p:sp>
        <p:nvSpPr>
          <p:cNvPr id="4" name="Text 1"/>
          <p:cNvSpPr/>
          <p:nvPr/>
        </p:nvSpPr>
        <p:spPr>
          <a:xfrm>
            <a:off x="1786272" y="455414"/>
            <a:ext cx="1586861" cy="287536"/>
          </a:xfrm>
          <a:prstGeom prst="rect">
            <a:avLst/>
          </a:prstGeom>
          <a:noFill/>
          <a:ln/>
        </p:spPr>
        <p:txBody>
          <a:bodyPr wrap="square" lIns="0" tIns="0" rIns="0" bIns="0" rtlCol="0" anchor="ctr">
            <a:spAutoFit/>
          </a:bodyPr>
          <a:lstStyle/>
          <a:p>
            <a:pPr indent="0" marL="0">
              <a:buNone/>
            </a:pPr>
            <a:r>
              <a:rPr lang="en-US" sz="2025" b="1" dirty="0">
                <a:solidFill>
                  <a:srgbClr val="60A5FA"/>
                </a:solidFill>
                <a:latin typeface="Segoe UI" pitchFamily="34" charset="0"/>
                <a:ea typeface="Segoe UI" pitchFamily="34" charset="-122"/>
                <a:cs typeface="Segoe UI" pitchFamily="34" charset="-120"/>
              </a:rPr>
              <a:t>Java Project</a:t>
            </a:r>
            <a:endParaRPr lang="en-US" sz="2025" dirty="0"/>
          </a:p>
        </p:txBody>
      </p:sp>
      <p:sp>
        <p:nvSpPr>
          <p:cNvPr id="5" name="Text 2"/>
          <p:cNvSpPr/>
          <p:nvPr/>
        </p:nvSpPr>
        <p:spPr>
          <a:xfrm>
            <a:off x="3301696" y="455414"/>
            <a:ext cx="1500355" cy="287536"/>
          </a:xfrm>
          <a:prstGeom prst="rect">
            <a:avLst/>
          </a:prstGeom>
          <a:noFill/>
          <a:ln/>
        </p:spPr>
        <p:txBody>
          <a:bodyPr wrap="square" lIns="0" tIns="0" rIns="0" bIns="0" rtlCol="0" anchor="ctr">
            <a:spAutoFit/>
          </a:bodyPr>
          <a:lstStyle/>
          <a:p>
            <a:pPr indent="0" marL="0">
              <a:buNone/>
            </a:pPr>
            <a:r>
              <a:rPr lang="en-US" sz="2025" b="1" dirty="0">
                <a:solidFill>
                  <a:srgbClr val="F1F5F9"/>
                </a:solidFill>
                <a:latin typeface="Segoe UI" pitchFamily="34" charset="0"/>
                <a:ea typeface="Segoe UI" pitchFamily="34" charset="-122"/>
                <a:cs typeface="Segoe UI" pitchFamily="34" charset="-120"/>
              </a:rPr>
              <a:t>in VS Code</a:t>
            </a:r>
            <a:endParaRPr lang="en-US" sz="2025" dirty="0"/>
          </a:p>
        </p:txBody>
      </p:sp>
      <p:sp>
        <p:nvSpPr>
          <p:cNvPr id="6" name="Shape 3"/>
          <p:cNvSpPr/>
          <p:nvPr/>
        </p:nvSpPr>
        <p:spPr>
          <a:xfrm>
            <a:off x="457200" y="971550"/>
            <a:ext cx="4000500" cy="3128963"/>
          </a:xfrm>
          <a:prstGeom prst="rect">
            <a:avLst/>
          </a:prstGeom>
          <a:solidFill>
            <a:srgbClr val="FFFFFF">
              <a:alpha val="10000"/>
            </a:srgbClr>
          </a:solidFill>
          <a:ln w="99">
            <a:solidFill>
              <a:srgbClr val="60A5FA">
                <a:alpha val="30000"/>
              </a:srgbClr>
            </a:solidFill>
            <a:prstDash val="solid"/>
          </a:ln>
        </p:spPr>
      </p:sp>
      <p:sp>
        <p:nvSpPr>
          <p:cNvPr id="7" name="Text 4"/>
          <p:cNvSpPr/>
          <p:nvPr/>
        </p:nvSpPr>
        <p:spPr>
          <a:xfrm>
            <a:off x="628650" y="1143000"/>
            <a:ext cx="3729038" cy="228600"/>
          </a:xfrm>
          <a:prstGeom prst="rect">
            <a:avLst/>
          </a:prstGeom>
          <a:noFill/>
          <a:ln/>
        </p:spPr>
        <p:txBody>
          <a:bodyPr wrap="square" lIns="0" tIns="0" rIns="0" bIns="0" rtlCol="0" anchor="ctr">
            <a:spAutoFit/>
          </a:bodyPr>
          <a:lstStyle/>
          <a:p>
            <a:pPr indent="0" marL="0">
              <a:buNone/>
            </a:pPr>
            <a:r>
              <a:rPr lang="en-US" sz="1350" b="1" dirty="0">
                <a:solidFill>
                  <a:srgbClr val="BFDBFE"/>
                </a:solidFill>
                <a:latin typeface="Segoe UI" pitchFamily="34" charset="0"/>
                <a:ea typeface="Segoe UI" pitchFamily="34" charset="-122"/>
                <a:cs typeface="Segoe UI" pitchFamily="34" charset="-120"/>
              </a:rPr>
              <a:t>Project Types in VS Code</a:t>
            </a:r>
            <a:endParaRPr lang="en-US" sz="1350" dirty="0"/>
          </a:p>
        </p:txBody>
      </p:sp>
      <p:sp>
        <p:nvSpPr>
          <p:cNvPr id="8" name="Shape 5"/>
          <p:cNvSpPr/>
          <p:nvPr/>
        </p:nvSpPr>
        <p:spPr>
          <a:xfrm>
            <a:off x="628650" y="1485900"/>
            <a:ext cx="3657600" cy="1057275"/>
          </a:xfrm>
          <a:prstGeom prst="rect">
            <a:avLst/>
          </a:prstGeom>
          <a:solidFill>
            <a:srgbClr val="1E3A8A">
              <a:alpha val="30000"/>
            </a:srgbClr>
          </a:solidFill>
          <a:ln/>
        </p:spPr>
      </p:sp>
      <p:sp>
        <p:nvSpPr>
          <p:cNvPr id="9" name="Text 6"/>
          <p:cNvSpPr/>
          <p:nvPr/>
        </p:nvSpPr>
        <p:spPr>
          <a:xfrm>
            <a:off x="742950" y="1600200"/>
            <a:ext cx="3500438" cy="200025"/>
          </a:xfrm>
          <a:prstGeom prst="rect">
            <a:avLst/>
          </a:prstGeom>
          <a:noFill/>
          <a:ln/>
        </p:spPr>
        <p:txBody>
          <a:bodyPr wrap="square" lIns="0" tIns="0" rIns="0" bIns="0" rtlCol="0" anchor="ctr">
            <a:spAutoFit/>
          </a:bodyPr>
          <a:lstStyle/>
          <a:p>
            <a:pPr indent="0" marL="0">
              <a:buNone/>
            </a:pPr>
            <a:r>
              <a:rPr lang="en-US" sz="1125" b="1" dirty="0">
                <a:solidFill>
                  <a:srgbClr val="F1F5F9"/>
                </a:solidFill>
                <a:latin typeface="Segoe UI" pitchFamily="34" charset="0"/>
                <a:ea typeface="Segoe UI" pitchFamily="34" charset="-122"/>
                <a:cs typeface="Segoe UI" pitchFamily="34" charset="-120"/>
              </a:rPr>
              <a:t>Simple Java Project</a:t>
            </a:r>
            <a:endParaRPr lang="en-US" sz="1125" dirty="0"/>
          </a:p>
        </p:txBody>
      </p:sp>
      <p:pic>
        <p:nvPicPr>
          <p:cNvPr id="10" name="Image 1" descr="preencoded.png">    </p:cNvPr>
          <p:cNvPicPr>
            <a:picLocks noChangeAspect="1"/>
          </p:cNvPicPr>
          <p:nvPr/>
        </p:nvPicPr>
        <p:blipFill>
          <a:blip r:embed="rId2"/>
          <a:stretch>
            <a:fillRect/>
          </a:stretch>
        </p:blipFill>
        <p:spPr>
          <a:xfrm>
            <a:off x="857250" y="1885950"/>
            <a:ext cx="114300" cy="114300"/>
          </a:xfrm>
          <a:prstGeom prst="rect">
            <a:avLst/>
          </a:prstGeom>
        </p:spPr>
      </p:pic>
      <p:sp>
        <p:nvSpPr>
          <p:cNvPr id="11" name="Text 7"/>
          <p:cNvSpPr/>
          <p:nvPr/>
        </p:nvSpPr>
        <p:spPr>
          <a:xfrm>
            <a:off x="1028700" y="1857375"/>
            <a:ext cx="1888238" cy="171450"/>
          </a:xfrm>
          <a:prstGeom prst="rect">
            <a:avLst/>
          </a:prstGeom>
          <a:noFill/>
          <a:ln/>
        </p:spPr>
        <p:txBody>
          <a:bodyPr wrap="square" lIns="0" tIns="0" rIns="0" bIns="0" rtlCol="0" anchor="ctr">
            <a:spAutoFit/>
          </a:bodyPr>
          <a:lstStyle/>
          <a:p>
            <a:pPr algn="l" indent="0" marL="0">
              <a:buNone/>
            </a:pPr>
            <a:r>
              <a:rPr lang="en-US" sz="900" dirty="0">
                <a:solidFill>
                  <a:srgbClr val="F1F5F9"/>
                </a:solidFill>
                <a:latin typeface="Segoe UI" pitchFamily="34" charset="0"/>
                <a:ea typeface="Segoe UI" pitchFamily="34" charset="-122"/>
                <a:cs typeface="Segoe UI" pitchFamily="34" charset="-120"/>
              </a:rPr>
              <a:t>Basic folder structure with Java files</a:t>
            </a:r>
            <a:endParaRPr lang="en-US" sz="900" dirty="0"/>
          </a:p>
        </p:txBody>
      </p:sp>
      <p:pic>
        <p:nvPicPr>
          <p:cNvPr id="12" name="Image 2" descr="preencoded.png">    </p:cNvPr>
          <p:cNvPicPr>
            <a:picLocks noChangeAspect="1"/>
          </p:cNvPicPr>
          <p:nvPr/>
        </p:nvPicPr>
        <p:blipFill>
          <a:blip r:embed="rId3"/>
          <a:stretch>
            <a:fillRect/>
          </a:stretch>
        </p:blipFill>
        <p:spPr>
          <a:xfrm>
            <a:off x="857250" y="2085975"/>
            <a:ext cx="114300" cy="114300"/>
          </a:xfrm>
          <a:prstGeom prst="rect">
            <a:avLst/>
          </a:prstGeom>
        </p:spPr>
      </p:pic>
      <p:sp>
        <p:nvSpPr>
          <p:cNvPr id="13" name="Text 8"/>
          <p:cNvSpPr/>
          <p:nvPr/>
        </p:nvSpPr>
        <p:spPr>
          <a:xfrm>
            <a:off x="1028700" y="2057400"/>
            <a:ext cx="2218860" cy="171450"/>
          </a:xfrm>
          <a:prstGeom prst="rect">
            <a:avLst/>
          </a:prstGeom>
          <a:noFill/>
          <a:ln/>
        </p:spPr>
        <p:txBody>
          <a:bodyPr wrap="square" lIns="0" tIns="0" rIns="0" bIns="0" rtlCol="0" anchor="ctr">
            <a:spAutoFit/>
          </a:bodyPr>
          <a:lstStyle/>
          <a:p>
            <a:pPr algn="l" indent="0" marL="0">
              <a:buNone/>
            </a:pPr>
            <a:r>
              <a:rPr lang="en-US" sz="900" dirty="0">
                <a:solidFill>
                  <a:srgbClr val="F1F5F9"/>
                </a:solidFill>
                <a:latin typeface="Segoe UI" pitchFamily="34" charset="0"/>
                <a:ea typeface="Segoe UI" pitchFamily="34" charset="-122"/>
                <a:cs typeface="Segoe UI" pitchFamily="34" charset="-120"/>
              </a:rPr>
              <a:t>Suitable for beginners and small programs</a:t>
            </a:r>
            <a:endParaRPr lang="en-US" sz="900" dirty="0"/>
          </a:p>
        </p:txBody>
      </p:sp>
      <p:pic>
        <p:nvPicPr>
          <p:cNvPr id="14" name="Image 3" descr="preencoded.png">    </p:cNvPr>
          <p:cNvPicPr>
            <a:picLocks noChangeAspect="1"/>
          </p:cNvPicPr>
          <p:nvPr/>
        </p:nvPicPr>
        <p:blipFill>
          <a:blip r:embed="rId4"/>
          <a:stretch>
            <a:fillRect/>
          </a:stretch>
        </p:blipFill>
        <p:spPr>
          <a:xfrm>
            <a:off x="857250" y="2286000"/>
            <a:ext cx="114300" cy="114300"/>
          </a:xfrm>
          <a:prstGeom prst="rect">
            <a:avLst/>
          </a:prstGeom>
        </p:spPr>
      </p:pic>
      <p:sp>
        <p:nvSpPr>
          <p:cNvPr id="15" name="Text 9"/>
          <p:cNvSpPr/>
          <p:nvPr/>
        </p:nvSpPr>
        <p:spPr>
          <a:xfrm>
            <a:off x="1028700" y="2257425"/>
            <a:ext cx="2040992" cy="171450"/>
          </a:xfrm>
          <a:prstGeom prst="rect">
            <a:avLst/>
          </a:prstGeom>
          <a:noFill/>
          <a:ln/>
        </p:spPr>
        <p:txBody>
          <a:bodyPr wrap="square" lIns="0" tIns="0" rIns="0" bIns="0" rtlCol="0" anchor="ctr">
            <a:spAutoFit/>
          </a:bodyPr>
          <a:lstStyle/>
          <a:p>
            <a:pPr algn="l" indent="0" marL="0">
              <a:buNone/>
            </a:pPr>
            <a:r>
              <a:rPr lang="en-US" sz="900" dirty="0">
                <a:solidFill>
                  <a:srgbClr val="F1F5F9"/>
                </a:solidFill>
                <a:latin typeface="Segoe UI" pitchFamily="34" charset="0"/>
                <a:ea typeface="Segoe UI" pitchFamily="34" charset="-122"/>
                <a:cs typeface="Segoe UI" pitchFamily="34" charset="-120"/>
              </a:rPr>
              <a:t>No build tools or complex configuration</a:t>
            </a:r>
            <a:endParaRPr lang="en-US" sz="900" dirty="0"/>
          </a:p>
        </p:txBody>
      </p:sp>
      <p:sp>
        <p:nvSpPr>
          <p:cNvPr id="16" name="Shape 10"/>
          <p:cNvSpPr/>
          <p:nvPr/>
        </p:nvSpPr>
        <p:spPr>
          <a:xfrm>
            <a:off x="628650" y="2657475"/>
            <a:ext cx="3657600" cy="1257300"/>
          </a:xfrm>
          <a:prstGeom prst="rect">
            <a:avLst/>
          </a:prstGeom>
          <a:solidFill>
            <a:srgbClr val="1E3A8A">
              <a:alpha val="30000"/>
            </a:srgbClr>
          </a:solidFill>
          <a:ln/>
        </p:spPr>
      </p:sp>
      <p:sp>
        <p:nvSpPr>
          <p:cNvPr id="17" name="Text 11"/>
          <p:cNvSpPr/>
          <p:nvPr/>
        </p:nvSpPr>
        <p:spPr>
          <a:xfrm>
            <a:off x="742950" y="2771775"/>
            <a:ext cx="3500438" cy="200025"/>
          </a:xfrm>
          <a:prstGeom prst="rect">
            <a:avLst/>
          </a:prstGeom>
          <a:noFill/>
          <a:ln/>
        </p:spPr>
        <p:txBody>
          <a:bodyPr wrap="square" lIns="0" tIns="0" rIns="0" bIns="0" rtlCol="0" anchor="ctr">
            <a:spAutoFit/>
          </a:bodyPr>
          <a:lstStyle/>
          <a:p>
            <a:pPr indent="0" marL="0">
              <a:buNone/>
            </a:pPr>
            <a:r>
              <a:rPr lang="en-US" sz="1125" b="1" dirty="0">
                <a:solidFill>
                  <a:srgbClr val="F1F5F9"/>
                </a:solidFill>
                <a:latin typeface="Segoe UI" pitchFamily="34" charset="0"/>
                <a:ea typeface="Segoe UI" pitchFamily="34" charset="-122"/>
                <a:cs typeface="Segoe UI" pitchFamily="34" charset="-120"/>
              </a:rPr>
              <a:t>Maven/Gradle Projects</a:t>
            </a:r>
            <a:endParaRPr lang="en-US" sz="1125" dirty="0"/>
          </a:p>
        </p:txBody>
      </p:sp>
      <p:pic>
        <p:nvPicPr>
          <p:cNvPr id="18" name="Image 4" descr="preencoded.png">    </p:cNvPr>
          <p:cNvPicPr>
            <a:picLocks noChangeAspect="1"/>
          </p:cNvPicPr>
          <p:nvPr/>
        </p:nvPicPr>
        <p:blipFill>
          <a:blip r:embed="rId5"/>
          <a:stretch>
            <a:fillRect/>
          </a:stretch>
        </p:blipFill>
        <p:spPr>
          <a:xfrm>
            <a:off x="857250" y="3057525"/>
            <a:ext cx="114300" cy="114300"/>
          </a:xfrm>
          <a:prstGeom prst="rect">
            <a:avLst/>
          </a:prstGeom>
        </p:spPr>
      </p:pic>
      <p:sp>
        <p:nvSpPr>
          <p:cNvPr id="19" name="Text 12"/>
          <p:cNvSpPr/>
          <p:nvPr/>
        </p:nvSpPr>
        <p:spPr>
          <a:xfrm>
            <a:off x="1028700" y="3028950"/>
            <a:ext cx="2498861" cy="171450"/>
          </a:xfrm>
          <a:prstGeom prst="rect">
            <a:avLst/>
          </a:prstGeom>
          <a:noFill/>
          <a:ln/>
        </p:spPr>
        <p:txBody>
          <a:bodyPr wrap="square" lIns="0" tIns="0" rIns="0" bIns="0" rtlCol="0" anchor="ctr">
            <a:spAutoFit/>
          </a:bodyPr>
          <a:lstStyle/>
          <a:p>
            <a:pPr algn="l" indent="0" marL="0">
              <a:buNone/>
            </a:pPr>
            <a:r>
              <a:rPr lang="en-US" sz="900" dirty="0">
                <a:solidFill>
                  <a:srgbClr val="F1F5F9"/>
                </a:solidFill>
                <a:latin typeface="Segoe UI" pitchFamily="34" charset="0"/>
                <a:ea typeface="Segoe UI" pitchFamily="34" charset="-122"/>
                <a:cs typeface="Segoe UI" pitchFamily="34" charset="-120"/>
              </a:rPr>
              <a:t>Build automation and dependency management</a:t>
            </a:r>
            <a:endParaRPr lang="en-US" sz="900" dirty="0"/>
          </a:p>
        </p:txBody>
      </p:sp>
      <p:pic>
        <p:nvPicPr>
          <p:cNvPr id="20" name="Image 5" descr="preencoded.png">    </p:cNvPr>
          <p:cNvPicPr>
            <a:picLocks noChangeAspect="1"/>
          </p:cNvPicPr>
          <p:nvPr/>
        </p:nvPicPr>
        <p:blipFill>
          <a:blip r:embed="rId6"/>
          <a:stretch>
            <a:fillRect/>
          </a:stretch>
        </p:blipFill>
        <p:spPr>
          <a:xfrm>
            <a:off x="857250" y="3257550"/>
            <a:ext cx="114300" cy="114300"/>
          </a:xfrm>
          <a:prstGeom prst="rect">
            <a:avLst/>
          </a:prstGeom>
        </p:spPr>
      </p:pic>
      <p:sp>
        <p:nvSpPr>
          <p:cNvPr id="21" name="Text 13"/>
          <p:cNvSpPr/>
          <p:nvPr/>
        </p:nvSpPr>
        <p:spPr>
          <a:xfrm>
            <a:off x="1028700" y="3228975"/>
            <a:ext cx="1386557" cy="171450"/>
          </a:xfrm>
          <a:prstGeom prst="rect">
            <a:avLst/>
          </a:prstGeom>
          <a:noFill/>
          <a:ln/>
        </p:spPr>
        <p:txBody>
          <a:bodyPr wrap="square" lIns="0" tIns="0" rIns="0" bIns="0" rtlCol="0" anchor="ctr">
            <a:spAutoFit/>
          </a:bodyPr>
          <a:lstStyle/>
          <a:p>
            <a:pPr algn="l" indent="0" marL="0">
              <a:buNone/>
            </a:pPr>
            <a:r>
              <a:rPr lang="en-US" sz="900" dirty="0">
                <a:solidFill>
                  <a:srgbClr val="F1F5F9"/>
                </a:solidFill>
                <a:latin typeface="Segoe UI" pitchFamily="34" charset="0"/>
                <a:ea typeface="Segoe UI" pitchFamily="34" charset="-122"/>
                <a:cs typeface="Segoe UI" pitchFamily="34" charset="-120"/>
              </a:rPr>
              <a:t>Standard project structure</a:t>
            </a:r>
            <a:endParaRPr lang="en-US" sz="900" dirty="0"/>
          </a:p>
        </p:txBody>
      </p:sp>
      <p:pic>
        <p:nvPicPr>
          <p:cNvPr id="22" name="Image 6" descr="preencoded.png">    </p:cNvPr>
          <p:cNvPicPr>
            <a:picLocks noChangeAspect="1"/>
          </p:cNvPicPr>
          <p:nvPr/>
        </p:nvPicPr>
        <p:blipFill>
          <a:blip r:embed="rId7"/>
          <a:stretch>
            <a:fillRect/>
          </a:stretch>
        </p:blipFill>
        <p:spPr>
          <a:xfrm>
            <a:off x="857250" y="3457575"/>
            <a:ext cx="114300" cy="114300"/>
          </a:xfrm>
          <a:prstGeom prst="rect">
            <a:avLst/>
          </a:prstGeom>
        </p:spPr>
      </p:pic>
      <p:sp>
        <p:nvSpPr>
          <p:cNvPr id="23" name="Text 14"/>
          <p:cNvSpPr/>
          <p:nvPr/>
        </p:nvSpPr>
        <p:spPr>
          <a:xfrm>
            <a:off x="1028700" y="3429000"/>
            <a:ext cx="1862956" cy="171450"/>
          </a:xfrm>
          <a:prstGeom prst="rect">
            <a:avLst/>
          </a:prstGeom>
          <a:noFill/>
          <a:ln/>
        </p:spPr>
        <p:txBody>
          <a:bodyPr wrap="square" lIns="0" tIns="0" rIns="0" bIns="0" rtlCol="0" anchor="ctr">
            <a:spAutoFit/>
          </a:bodyPr>
          <a:lstStyle/>
          <a:p>
            <a:pPr algn="l" indent="0" marL="0">
              <a:buNone/>
            </a:pPr>
            <a:r>
              <a:rPr lang="en-US" sz="900" dirty="0">
                <a:solidFill>
                  <a:srgbClr val="F1F5F9"/>
                </a:solidFill>
                <a:latin typeface="Segoe UI" pitchFamily="34" charset="0"/>
                <a:ea typeface="Segoe UI" pitchFamily="34" charset="-122"/>
                <a:cs typeface="Segoe UI" pitchFamily="34" charset="-120"/>
              </a:rPr>
              <a:t>Better for larger projects and teams</a:t>
            </a:r>
            <a:endParaRPr lang="en-US" sz="900" dirty="0"/>
          </a:p>
        </p:txBody>
      </p:sp>
      <p:sp>
        <p:nvSpPr>
          <p:cNvPr id="24" name="Text 15"/>
          <p:cNvSpPr/>
          <p:nvPr/>
        </p:nvSpPr>
        <p:spPr>
          <a:xfrm>
            <a:off x="742950" y="3657600"/>
            <a:ext cx="3500438" cy="142875"/>
          </a:xfrm>
          <a:prstGeom prst="rect">
            <a:avLst/>
          </a:prstGeom>
          <a:noFill/>
          <a:ln/>
        </p:spPr>
        <p:txBody>
          <a:bodyPr wrap="square" lIns="0" tIns="0" rIns="0" bIns="0" rtlCol="0" anchor="ctr">
            <a:spAutoFit/>
          </a:bodyPr>
          <a:lstStyle/>
          <a:p>
            <a:pPr indent="0" marL="0">
              <a:buNone/>
            </a:pPr>
            <a:r>
              <a:rPr lang="en-US" sz="788" i="1" dirty="0">
                <a:solidFill>
                  <a:srgbClr val="F1F5F9"/>
                </a:solidFill>
                <a:latin typeface="Segoe UI" pitchFamily="34" charset="0"/>
                <a:ea typeface="Segoe UI" pitchFamily="34" charset="-122"/>
                <a:cs typeface="Segoe UI" pitchFamily="34" charset="-120"/>
              </a:rPr>
              <a:t>For this tutorial, we'll focus on creating a simple Java project.</a:t>
            </a:r>
            <a:endParaRPr lang="en-US" sz="788" dirty="0"/>
          </a:p>
        </p:txBody>
      </p:sp>
      <p:sp>
        <p:nvSpPr>
          <p:cNvPr id="25" name="Shape 16"/>
          <p:cNvSpPr/>
          <p:nvPr/>
        </p:nvSpPr>
        <p:spPr>
          <a:xfrm>
            <a:off x="457200" y="4257675"/>
            <a:ext cx="4000500" cy="3929063"/>
          </a:xfrm>
          <a:prstGeom prst="rect">
            <a:avLst/>
          </a:prstGeom>
          <a:solidFill>
            <a:srgbClr val="FFFFFF">
              <a:alpha val="10000"/>
            </a:srgbClr>
          </a:solidFill>
          <a:ln w="99">
            <a:solidFill>
              <a:srgbClr val="60A5FA">
                <a:alpha val="30000"/>
              </a:srgbClr>
            </a:solidFill>
            <a:prstDash val="solid"/>
          </a:ln>
        </p:spPr>
      </p:sp>
      <p:sp>
        <p:nvSpPr>
          <p:cNvPr id="26" name="Text 17"/>
          <p:cNvSpPr/>
          <p:nvPr/>
        </p:nvSpPr>
        <p:spPr>
          <a:xfrm>
            <a:off x="628650" y="4429125"/>
            <a:ext cx="3729038" cy="228600"/>
          </a:xfrm>
          <a:prstGeom prst="rect">
            <a:avLst/>
          </a:prstGeom>
          <a:noFill/>
          <a:ln/>
        </p:spPr>
        <p:txBody>
          <a:bodyPr wrap="square" lIns="0" tIns="0" rIns="0" bIns="0" rtlCol="0" anchor="ctr">
            <a:spAutoFit/>
          </a:bodyPr>
          <a:lstStyle/>
          <a:p>
            <a:pPr indent="0" marL="0">
              <a:buNone/>
            </a:pPr>
            <a:r>
              <a:rPr lang="en-US" sz="1350" b="1" dirty="0">
                <a:solidFill>
                  <a:srgbClr val="BFDBFE"/>
                </a:solidFill>
                <a:latin typeface="Segoe UI" pitchFamily="34" charset="0"/>
                <a:ea typeface="Segoe UI" pitchFamily="34" charset="-122"/>
                <a:cs typeface="Segoe UI" pitchFamily="34" charset="-120"/>
              </a:rPr>
              <a:t>Creating a Simple Java Project</a:t>
            </a:r>
            <a:endParaRPr lang="en-US" sz="1350" dirty="0"/>
          </a:p>
        </p:txBody>
      </p:sp>
      <p:sp>
        <p:nvSpPr>
          <p:cNvPr id="27" name="Shape 18"/>
          <p:cNvSpPr/>
          <p:nvPr/>
        </p:nvSpPr>
        <p:spPr>
          <a:xfrm>
            <a:off x="628650" y="4772025"/>
            <a:ext cx="3657600" cy="1057275"/>
          </a:xfrm>
          <a:prstGeom prst="rect">
            <a:avLst/>
          </a:prstGeom>
          <a:solidFill>
            <a:srgbClr val="1E3A8A">
              <a:alpha val="30000"/>
            </a:srgbClr>
          </a:solidFill>
          <a:ln/>
        </p:spPr>
      </p:sp>
      <p:sp>
        <p:nvSpPr>
          <p:cNvPr id="28" name="Shape 19"/>
          <p:cNvSpPr/>
          <p:nvPr/>
        </p:nvSpPr>
        <p:spPr>
          <a:xfrm>
            <a:off x="628650" y="4772025"/>
            <a:ext cx="28575" cy="1057275"/>
          </a:xfrm>
          <a:prstGeom prst="rect">
            <a:avLst/>
          </a:prstGeom>
          <a:solidFill>
            <a:srgbClr val="60A5FA"/>
          </a:solidFill>
          <a:ln/>
        </p:spPr>
      </p:sp>
      <p:sp>
        <p:nvSpPr>
          <p:cNvPr id="29" name="Text 20"/>
          <p:cNvSpPr/>
          <p:nvPr/>
        </p:nvSpPr>
        <p:spPr>
          <a:xfrm>
            <a:off x="742950" y="4857750"/>
            <a:ext cx="3614738" cy="200025"/>
          </a:xfrm>
          <a:prstGeom prst="rect">
            <a:avLst/>
          </a:prstGeom>
          <a:noFill/>
          <a:ln/>
        </p:spPr>
        <p:txBody>
          <a:bodyPr wrap="square" lIns="0" tIns="0" rIns="0" bIns="0" rtlCol="0" anchor="ctr">
            <a:spAutoFit/>
          </a:bodyPr>
          <a:lstStyle/>
          <a:p>
            <a:pPr indent="0" marL="0">
              <a:buNone/>
            </a:pPr>
            <a:r>
              <a:rPr lang="en-US" sz="1125" b="1" dirty="0">
                <a:solidFill>
                  <a:srgbClr val="F1F5F9"/>
                </a:solidFill>
                <a:latin typeface="Segoe UI" pitchFamily="34" charset="0"/>
                <a:ea typeface="Segoe UI" pitchFamily="34" charset="-122"/>
                <a:cs typeface="Segoe UI" pitchFamily="34" charset="-120"/>
              </a:rPr>
              <a:t>Step 1: Create Project Folder</a:t>
            </a:r>
            <a:endParaRPr lang="en-US" sz="1125" dirty="0"/>
          </a:p>
        </p:txBody>
      </p:sp>
      <p:sp>
        <p:nvSpPr>
          <p:cNvPr id="30" name="Text 21"/>
          <p:cNvSpPr/>
          <p:nvPr/>
        </p:nvSpPr>
        <p:spPr>
          <a:xfrm>
            <a:off x="857250" y="5086350"/>
            <a:ext cx="3500438" cy="142875"/>
          </a:xfrm>
          <a:prstGeom prst="rect">
            <a:avLst/>
          </a:prstGeom>
          <a:noFill/>
          <a:ln/>
        </p:spPr>
        <p:txBody>
          <a:bodyPr wrap="square" lIns="0" tIns="0" rIns="0" bIns="0" rtlCol="0" anchor="ctr">
            <a:spAutoFit/>
          </a:bodyPr>
          <a:lstStyle/>
          <a:p>
            <a:pPr algn="l" indent="0" marL="0">
              <a:buNone/>
            </a:pPr>
            <a:r>
              <a:rPr lang="en-US" sz="788" dirty="0">
                <a:solidFill>
                  <a:srgbClr val="F1F5F9"/>
                </a:solidFill>
                <a:latin typeface="Segoe UI" pitchFamily="34" charset="0"/>
                <a:ea typeface="Segoe UI" pitchFamily="34" charset="-122"/>
                <a:cs typeface="Segoe UI" pitchFamily="34" charset="-120"/>
              </a:rPr>
              <a:t>Open VS Code</a:t>
            </a:r>
            <a:endParaRPr lang="en-US" sz="788" dirty="0"/>
          </a:p>
        </p:txBody>
      </p:sp>
      <p:sp>
        <p:nvSpPr>
          <p:cNvPr id="31" name="Text 22"/>
          <p:cNvSpPr/>
          <p:nvPr/>
        </p:nvSpPr>
        <p:spPr>
          <a:xfrm>
            <a:off x="857250" y="5257800"/>
            <a:ext cx="3500438" cy="142875"/>
          </a:xfrm>
          <a:prstGeom prst="rect">
            <a:avLst/>
          </a:prstGeom>
          <a:noFill/>
          <a:ln/>
        </p:spPr>
        <p:txBody>
          <a:bodyPr wrap="square" lIns="0" tIns="0" rIns="0" bIns="0" rtlCol="0" anchor="ctr">
            <a:spAutoFit/>
          </a:bodyPr>
          <a:lstStyle/>
          <a:p>
            <a:pPr algn="l" indent="0" marL="0">
              <a:buNone/>
            </a:pPr>
            <a:r>
              <a:rPr lang="en-US" sz="788" dirty="0">
                <a:solidFill>
                  <a:srgbClr val="F1F5F9"/>
                </a:solidFill>
                <a:latin typeface="Segoe UI" pitchFamily="34" charset="0"/>
                <a:ea typeface="Segoe UI" pitchFamily="34" charset="-122"/>
                <a:cs typeface="Segoe UI" pitchFamily="34" charset="-120"/>
              </a:rPr>
              <a:t>Go to File → Open Folder (or Ctrl+K Ctrl+O / Cmd+O)</a:t>
            </a:r>
            <a:endParaRPr lang="en-US" sz="788" dirty="0"/>
          </a:p>
        </p:txBody>
      </p:sp>
      <p:sp>
        <p:nvSpPr>
          <p:cNvPr id="32" name="Text 23"/>
          <p:cNvSpPr/>
          <p:nvPr/>
        </p:nvSpPr>
        <p:spPr>
          <a:xfrm>
            <a:off x="857250" y="5429250"/>
            <a:ext cx="3500438" cy="142875"/>
          </a:xfrm>
          <a:prstGeom prst="rect">
            <a:avLst/>
          </a:prstGeom>
          <a:noFill/>
          <a:ln/>
        </p:spPr>
        <p:txBody>
          <a:bodyPr wrap="square" lIns="0" tIns="0" rIns="0" bIns="0" rtlCol="0" anchor="ctr">
            <a:spAutoFit/>
          </a:bodyPr>
          <a:lstStyle/>
          <a:p>
            <a:pPr algn="l" indent="0" marL="0">
              <a:buNone/>
            </a:pPr>
            <a:r>
              <a:rPr lang="en-US" sz="788" dirty="0">
                <a:solidFill>
                  <a:srgbClr val="F1F5F9"/>
                </a:solidFill>
                <a:latin typeface="Segoe UI" pitchFamily="34" charset="0"/>
                <a:ea typeface="Segoe UI" pitchFamily="34" charset="-122"/>
                <a:cs typeface="Segoe UI" pitchFamily="34" charset="-120"/>
              </a:rPr>
              <a:t>Create a new folder for your project (e.g., "MyFirstJavaProject")</a:t>
            </a:r>
            <a:endParaRPr lang="en-US" sz="788" dirty="0"/>
          </a:p>
        </p:txBody>
      </p:sp>
      <p:sp>
        <p:nvSpPr>
          <p:cNvPr id="33" name="Text 24"/>
          <p:cNvSpPr/>
          <p:nvPr/>
        </p:nvSpPr>
        <p:spPr>
          <a:xfrm>
            <a:off x="857250" y="5600700"/>
            <a:ext cx="3500438" cy="142875"/>
          </a:xfrm>
          <a:prstGeom prst="rect">
            <a:avLst/>
          </a:prstGeom>
          <a:noFill/>
          <a:ln/>
        </p:spPr>
        <p:txBody>
          <a:bodyPr wrap="square" lIns="0" tIns="0" rIns="0" bIns="0" rtlCol="0" anchor="ctr">
            <a:spAutoFit/>
          </a:bodyPr>
          <a:lstStyle/>
          <a:p>
            <a:pPr algn="l" indent="0" marL="0">
              <a:buNone/>
            </a:pPr>
            <a:r>
              <a:rPr lang="en-US" sz="788" dirty="0">
                <a:solidFill>
                  <a:srgbClr val="F1F5F9"/>
                </a:solidFill>
                <a:latin typeface="Segoe UI" pitchFamily="34" charset="0"/>
                <a:ea typeface="Segoe UI" pitchFamily="34" charset="-122"/>
                <a:cs typeface="Segoe UI" pitchFamily="34" charset="-120"/>
              </a:rPr>
              <a:t>Select the folder and click "Open"</a:t>
            </a:r>
            <a:endParaRPr lang="en-US" sz="788" dirty="0"/>
          </a:p>
        </p:txBody>
      </p:sp>
      <p:sp>
        <p:nvSpPr>
          <p:cNvPr id="34" name="Shape 25"/>
          <p:cNvSpPr/>
          <p:nvPr/>
        </p:nvSpPr>
        <p:spPr>
          <a:xfrm>
            <a:off x="628650" y="5943600"/>
            <a:ext cx="3657600" cy="885825"/>
          </a:xfrm>
          <a:prstGeom prst="rect">
            <a:avLst/>
          </a:prstGeom>
          <a:solidFill>
            <a:srgbClr val="1E3A8A">
              <a:alpha val="30000"/>
            </a:srgbClr>
          </a:solidFill>
          <a:ln/>
        </p:spPr>
      </p:sp>
      <p:sp>
        <p:nvSpPr>
          <p:cNvPr id="35" name="Shape 26"/>
          <p:cNvSpPr/>
          <p:nvPr/>
        </p:nvSpPr>
        <p:spPr>
          <a:xfrm>
            <a:off x="628650" y="5943600"/>
            <a:ext cx="28575" cy="885825"/>
          </a:xfrm>
          <a:prstGeom prst="rect">
            <a:avLst/>
          </a:prstGeom>
          <a:solidFill>
            <a:srgbClr val="60A5FA"/>
          </a:solidFill>
          <a:ln/>
        </p:spPr>
      </p:sp>
      <p:sp>
        <p:nvSpPr>
          <p:cNvPr id="36" name="Text 27"/>
          <p:cNvSpPr/>
          <p:nvPr/>
        </p:nvSpPr>
        <p:spPr>
          <a:xfrm>
            <a:off x="742950" y="6029325"/>
            <a:ext cx="3614738" cy="200025"/>
          </a:xfrm>
          <a:prstGeom prst="rect">
            <a:avLst/>
          </a:prstGeom>
          <a:noFill/>
          <a:ln/>
        </p:spPr>
        <p:txBody>
          <a:bodyPr wrap="square" lIns="0" tIns="0" rIns="0" bIns="0" rtlCol="0" anchor="ctr">
            <a:spAutoFit/>
          </a:bodyPr>
          <a:lstStyle/>
          <a:p>
            <a:pPr indent="0" marL="0">
              <a:buNone/>
            </a:pPr>
            <a:r>
              <a:rPr lang="en-US" sz="1125" b="1" dirty="0">
                <a:solidFill>
                  <a:srgbClr val="F1F5F9"/>
                </a:solidFill>
                <a:latin typeface="Segoe UI" pitchFamily="34" charset="0"/>
                <a:ea typeface="Segoe UI" pitchFamily="34" charset="-122"/>
                <a:cs typeface="Segoe UI" pitchFamily="34" charset="-120"/>
              </a:rPr>
              <a:t>Step 2: Create Source Folder</a:t>
            </a:r>
            <a:endParaRPr lang="en-US" sz="1125" dirty="0"/>
          </a:p>
        </p:txBody>
      </p:sp>
      <p:sp>
        <p:nvSpPr>
          <p:cNvPr id="37" name="Text 28"/>
          <p:cNvSpPr/>
          <p:nvPr/>
        </p:nvSpPr>
        <p:spPr>
          <a:xfrm>
            <a:off x="857250" y="6257925"/>
            <a:ext cx="3500438" cy="142875"/>
          </a:xfrm>
          <a:prstGeom prst="rect">
            <a:avLst/>
          </a:prstGeom>
          <a:noFill/>
          <a:ln/>
        </p:spPr>
        <p:txBody>
          <a:bodyPr wrap="square" lIns="0" tIns="0" rIns="0" bIns="0" rtlCol="0" anchor="ctr">
            <a:spAutoFit/>
          </a:bodyPr>
          <a:lstStyle/>
          <a:p>
            <a:pPr algn="l" indent="0" marL="0">
              <a:buNone/>
            </a:pPr>
            <a:r>
              <a:rPr lang="en-US" sz="788" dirty="0">
                <a:solidFill>
                  <a:srgbClr val="F1F5F9"/>
                </a:solidFill>
                <a:latin typeface="Segoe UI" pitchFamily="34" charset="0"/>
                <a:ea typeface="Segoe UI" pitchFamily="34" charset="-122"/>
                <a:cs typeface="Segoe UI" pitchFamily="34" charset="-120"/>
              </a:rPr>
              <a:t>In the Explorer panel, right-click on your project folder</a:t>
            </a:r>
            <a:endParaRPr lang="en-US" sz="788" dirty="0"/>
          </a:p>
        </p:txBody>
      </p:sp>
      <p:sp>
        <p:nvSpPr>
          <p:cNvPr id="38" name="Text 29"/>
          <p:cNvSpPr/>
          <p:nvPr/>
        </p:nvSpPr>
        <p:spPr>
          <a:xfrm>
            <a:off x="857250" y="6429375"/>
            <a:ext cx="3500438" cy="142875"/>
          </a:xfrm>
          <a:prstGeom prst="rect">
            <a:avLst/>
          </a:prstGeom>
          <a:noFill/>
          <a:ln/>
        </p:spPr>
        <p:txBody>
          <a:bodyPr wrap="square" lIns="0" tIns="0" rIns="0" bIns="0" rtlCol="0" anchor="ctr">
            <a:spAutoFit/>
          </a:bodyPr>
          <a:lstStyle/>
          <a:p>
            <a:pPr algn="l" indent="0" marL="0">
              <a:buNone/>
            </a:pPr>
            <a:r>
              <a:rPr lang="en-US" sz="788" dirty="0">
                <a:solidFill>
                  <a:srgbClr val="F1F5F9"/>
                </a:solidFill>
                <a:latin typeface="Segoe UI" pitchFamily="34" charset="0"/>
                <a:ea typeface="Segoe UI" pitchFamily="34" charset="-122"/>
                <a:cs typeface="Segoe UI" pitchFamily="34" charset="-120"/>
              </a:rPr>
              <a:t>Select "New Folder"</a:t>
            </a:r>
            <a:endParaRPr lang="en-US" sz="788" dirty="0"/>
          </a:p>
        </p:txBody>
      </p:sp>
      <p:sp>
        <p:nvSpPr>
          <p:cNvPr id="39" name="Text 30"/>
          <p:cNvSpPr/>
          <p:nvPr/>
        </p:nvSpPr>
        <p:spPr>
          <a:xfrm>
            <a:off x="857250" y="6600825"/>
            <a:ext cx="3500438" cy="142875"/>
          </a:xfrm>
          <a:prstGeom prst="rect">
            <a:avLst/>
          </a:prstGeom>
          <a:noFill/>
          <a:ln/>
        </p:spPr>
        <p:txBody>
          <a:bodyPr wrap="square" lIns="0" tIns="0" rIns="0" bIns="0" rtlCol="0" anchor="ctr">
            <a:spAutoFit/>
          </a:bodyPr>
          <a:lstStyle/>
          <a:p>
            <a:pPr algn="l" indent="0" marL="0">
              <a:buNone/>
            </a:pPr>
            <a:r>
              <a:rPr lang="en-US" sz="788" dirty="0">
                <a:solidFill>
                  <a:srgbClr val="F1F5F9"/>
                </a:solidFill>
                <a:latin typeface="Segoe UI" pitchFamily="34" charset="0"/>
                <a:ea typeface="Segoe UI" pitchFamily="34" charset="-122"/>
                <a:cs typeface="Segoe UI" pitchFamily="34" charset="-120"/>
              </a:rPr>
              <a:t>Name it "src" (standard for source code)</a:t>
            </a:r>
            <a:endParaRPr lang="en-US" sz="788" dirty="0"/>
          </a:p>
        </p:txBody>
      </p:sp>
      <p:sp>
        <p:nvSpPr>
          <p:cNvPr id="40" name="Shape 31"/>
          <p:cNvSpPr/>
          <p:nvPr/>
        </p:nvSpPr>
        <p:spPr>
          <a:xfrm>
            <a:off x="628650" y="6943725"/>
            <a:ext cx="3657600" cy="1057275"/>
          </a:xfrm>
          <a:prstGeom prst="rect">
            <a:avLst/>
          </a:prstGeom>
          <a:solidFill>
            <a:srgbClr val="1E3A8A">
              <a:alpha val="30000"/>
            </a:srgbClr>
          </a:solidFill>
          <a:ln/>
        </p:spPr>
      </p:sp>
      <p:sp>
        <p:nvSpPr>
          <p:cNvPr id="41" name="Shape 32"/>
          <p:cNvSpPr/>
          <p:nvPr/>
        </p:nvSpPr>
        <p:spPr>
          <a:xfrm>
            <a:off x="628650" y="6943725"/>
            <a:ext cx="28575" cy="1057275"/>
          </a:xfrm>
          <a:prstGeom prst="rect">
            <a:avLst/>
          </a:prstGeom>
          <a:solidFill>
            <a:srgbClr val="60A5FA"/>
          </a:solidFill>
          <a:ln/>
        </p:spPr>
      </p:sp>
      <p:sp>
        <p:nvSpPr>
          <p:cNvPr id="42" name="Text 33"/>
          <p:cNvSpPr/>
          <p:nvPr/>
        </p:nvSpPr>
        <p:spPr>
          <a:xfrm>
            <a:off x="742950" y="7029450"/>
            <a:ext cx="3614738" cy="200025"/>
          </a:xfrm>
          <a:prstGeom prst="rect">
            <a:avLst/>
          </a:prstGeom>
          <a:noFill/>
          <a:ln/>
        </p:spPr>
        <p:txBody>
          <a:bodyPr wrap="square" lIns="0" tIns="0" rIns="0" bIns="0" rtlCol="0" anchor="ctr">
            <a:spAutoFit/>
          </a:bodyPr>
          <a:lstStyle/>
          <a:p>
            <a:pPr indent="0" marL="0">
              <a:buNone/>
            </a:pPr>
            <a:r>
              <a:rPr lang="en-US" sz="1125" b="1" dirty="0">
                <a:solidFill>
                  <a:srgbClr val="F1F5F9"/>
                </a:solidFill>
                <a:latin typeface="Segoe UI" pitchFamily="34" charset="0"/>
                <a:ea typeface="Segoe UI" pitchFamily="34" charset="-122"/>
                <a:cs typeface="Segoe UI" pitchFamily="34" charset="-120"/>
              </a:rPr>
              <a:t>Step 3: Create Package Structure (Optional)</a:t>
            </a:r>
            <a:endParaRPr lang="en-US" sz="1125" dirty="0"/>
          </a:p>
        </p:txBody>
      </p:sp>
      <p:sp>
        <p:nvSpPr>
          <p:cNvPr id="43" name="Text 34"/>
          <p:cNvSpPr/>
          <p:nvPr/>
        </p:nvSpPr>
        <p:spPr>
          <a:xfrm>
            <a:off x="857250" y="7258050"/>
            <a:ext cx="3500438" cy="142875"/>
          </a:xfrm>
          <a:prstGeom prst="rect">
            <a:avLst/>
          </a:prstGeom>
          <a:noFill/>
          <a:ln/>
        </p:spPr>
        <p:txBody>
          <a:bodyPr wrap="square" lIns="0" tIns="0" rIns="0" bIns="0" rtlCol="0" anchor="ctr">
            <a:spAutoFit/>
          </a:bodyPr>
          <a:lstStyle/>
          <a:p>
            <a:pPr algn="l" indent="0" marL="0">
              <a:buNone/>
            </a:pPr>
            <a:r>
              <a:rPr lang="en-US" sz="788" dirty="0">
                <a:solidFill>
                  <a:srgbClr val="F1F5F9"/>
                </a:solidFill>
                <a:latin typeface="Segoe UI" pitchFamily="34" charset="0"/>
                <a:ea typeface="Segoe UI" pitchFamily="34" charset="-122"/>
                <a:cs typeface="Segoe UI" pitchFamily="34" charset="-120"/>
              </a:rPr>
              <a:t>In the Explorer panel, right-click on the "src" folder</a:t>
            </a:r>
            <a:endParaRPr lang="en-US" sz="788" dirty="0"/>
          </a:p>
        </p:txBody>
      </p:sp>
      <p:sp>
        <p:nvSpPr>
          <p:cNvPr id="44" name="Text 35"/>
          <p:cNvSpPr/>
          <p:nvPr/>
        </p:nvSpPr>
        <p:spPr>
          <a:xfrm>
            <a:off x="857250" y="7429500"/>
            <a:ext cx="3500438" cy="142875"/>
          </a:xfrm>
          <a:prstGeom prst="rect">
            <a:avLst/>
          </a:prstGeom>
          <a:noFill/>
          <a:ln/>
        </p:spPr>
        <p:txBody>
          <a:bodyPr wrap="square" lIns="0" tIns="0" rIns="0" bIns="0" rtlCol="0" anchor="ctr">
            <a:spAutoFit/>
          </a:bodyPr>
          <a:lstStyle/>
          <a:p>
            <a:pPr algn="l" indent="0" marL="0">
              <a:buNone/>
            </a:pPr>
            <a:r>
              <a:rPr lang="en-US" sz="788" dirty="0">
                <a:solidFill>
                  <a:srgbClr val="F1F5F9"/>
                </a:solidFill>
                <a:latin typeface="Segoe UI" pitchFamily="34" charset="0"/>
                <a:ea typeface="Segoe UI" pitchFamily="34" charset="-122"/>
                <a:cs typeface="Segoe UI" pitchFamily="34" charset="-120"/>
              </a:rPr>
              <a:t>Select "New Folder"</a:t>
            </a:r>
            <a:endParaRPr lang="en-US" sz="788" dirty="0"/>
          </a:p>
        </p:txBody>
      </p:sp>
      <p:sp>
        <p:nvSpPr>
          <p:cNvPr id="45" name="Text 36"/>
          <p:cNvSpPr/>
          <p:nvPr/>
        </p:nvSpPr>
        <p:spPr>
          <a:xfrm>
            <a:off x="857250" y="7600950"/>
            <a:ext cx="3500438" cy="142875"/>
          </a:xfrm>
          <a:prstGeom prst="rect">
            <a:avLst/>
          </a:prstGeom>
          <a:noFill/>
          <a:ln/>
        </p:spPr>
        <p:txBody>
          <a:bodyPr wrap="square" lIns="0" tIns="0" rIns="0" bIns="0" rtlCol="0" anchor="ctr">
            <a:spAutoFit/>
          </a:bodyPr>
          <a:lstStyle/>
          <a:p>
            <a:pPr algn="l" indent="0" marL="0">
              <a:buNone/>
            </a:pPr>
            <a:r>
              <a:rPr lang="en-US" sz="788" dirty="0">
                <a:solidFill>
                  <a:srgbClr val="F1F5F9"/>
                </a:solidFill>
                <a:latin typeface="Segoe UI" pitchFamily="34" charset="0"/>
                <a:ea typeface="Segoe UI" pitchFamily="34" charset="-122"/>
                <a:cs typeface="Segoe UI" pitchFamily="34" charset="-120"/>
              </a:rPr>
              <a:t>Create a package path (e.g., "com/example/myapp")</a:t>
            </a:r>
            <a:endParaRPr lang="en-US" sz="788" dirty="0"/>
          </a:p>
        </p:txBody>
      </p:sp>
      <p:sp>
        <p:nvSpPr>
          <p:cNvPr id="46" name="Text 37"/>
          <p:cNvSpPr/>
          <p:nvPr/>
        </p:nvSpPr>
        <p:spPr>
          <a:xfrm>
            <a:off x="857250" y="7772400"/>
            <a:ext cx="3500438" cy="142875"/>
          </a:xfrm>
          <a:prstGeom prst="rect">
            <a:avLst/>
          </a:prstGeom>
          <a:noFill/>
          <a:ln/>
        </p:spPr>
        <p:txBody>
          <a:bodyPr wrap="square" lIns="0" tIns="0" rIns="0" bIns="0" rtlCol="0" anchor="ctr">
            <a:spAutoFit/>
          </a:bodyPr>
          <a:lstStyle/>
          <a:p>
            <a:pPr algn="l" indent="0" marL="0">
              <a:buNone/>
            </a:pPr>
            <a:r>
              <a:rPr lang="en-US" sz="788" dirty="0">
                <a:solidFill>
                  <a:srgbClr val="F1F5F9"/>
                </a:solidFill>
                <a:latin typeface="Segoe UI" pitchFamily="34" charset="0"/>
                <a:ea typeface="Segoe UI" pitchFamily="34" charset="-122"/>
                <a:cs typeface="Segoe UI" pitchFamily="34" charset="-120"/>
              </a:rPr>
              <a:t>Note: Packages use directory structure to organize code</a:t>
            </a:r>
            <a:endParaRPr lang="en-US" sz="788" dirty="0"/>
          </a:p>
        </p:txBody>
      </p:sp>
      <p:sp>
        <p:nvSpPr>
          <p:cNvPr id="47" name="Shape 38"/>
          <p:cNvSpPr/>
          <p:nvPr/>
        </p:nvSpPr>
        <p:spPr>
          <a:xfrm>
            <a:off x="4686300" y="971550"/>
            <a:ext cx="4000500" cy="3157538"/>
          </a:xfrm>
          <a:prstGeom prst="rect">
            <a:avLst/>
          </a:prstGeom>
          <a:solidFill>
            <a:srgbClr val="FFFFFF">
              <a:alpha val="10000"/>
            </a:srgbClr>
          </a:solidFill>
          <a:ln w="99">
            <a:solidFill>
              <a:srgbClr val="60A5FA">
                <a:alpha val="30000"/>
              </a:srgbClr>
            </a:solidFill>
            <a:prstDash val="solid"/>
          </a:ln>
        </p:spPr>
      </p:sp>
      <p:sp>
        <p:nvSpPr>
          <p:cNvPr id="48" name="Text 39"/>
          <p:cNvSpPr/>
          <p:nvPr/>
        </p:nvSpPr>
        <p:spPr>
          <a:xfrm>
            <a:off x="4857750" y="1143000"/>
            <a:ext cx="3729038" cy="228600"/>
          </a:xfrm>
          <a:prstGeom prst="rect">
            <a:avLst/>
          </a:prstGeom>
          <a:noFill/>
          <a:ln/>
        </p:spPr>
        <p:txBody>
          <a:bodyPr wrap="square" lIns="0" tIns="0" rIns="0" bIns="0" rtlCol="0" anchor="ctr">
            <a:spAutoFit/>
          </a:bodyPr>
          <a:lstStyle/>
          <a:p>
            <a:pPr indent="0" marL="0">
              <a:buNone/>
            </a:pPr>
            <a:r>
              <a:rPr lang="en-US" sz="1350" b="1" dirty="0">
                <a:solidFill>
                  <a:srgbClr val="BFDBFE"/>
                </a:solidFill>
                <a:latin typeface="Segoe UI" pitchFamily="34" charset="0"/>
                <a:ea typeface="Segoe UI" pitchFamily="34" charset="-122"/>
                <a:cs typeface="Segoe UI" pitchFamily="34" charset="-120"/>
              </a:rPr>
              <a:t>Using Project Creation Commands</a:t>
            </a:r>
            <a:endParaRPr lang="en-US" sz="1350" dirty="0"/>
          </a:p>
        </p:txBody>
      </p:sp>
      <p:sp>
        <p:nvSpPr>
          <p:cNvPr id="49" name="Shape 40"/>
          <p:cNvSpPr/>
          <p:nvPr/>
        </p:nvSpPr>
        <p:spPr>
          <a:xfrm>
            <a:off x="4857750" y="1485900"/>
            <a:ext cx="3657600" cy="1828800"/>
          </a:xfrm>
          <a:prstGeom prst="rect">
            <a:avLst/>
          </a:prstGeom>
          <a:solidFill>
            <a:srgbClr val="1E3A8A">
              <a:alpha val="30000"/>
            </a:srgbClr>
          </a:solidFill>
          <a:ln/>
        </p:spPr>
      </p:sp>
      <p:sp>
        <p:nvSpPr>
          <p:cNvPr id="50" name="Text 41"/>
          <p:cNvSpPr/>
          <p:nvPr/>
        </p:nvSpPr>
        <p:spPr>
          <a:xfrm>
            <a:off x="4972050" y="1600200"/>
            <a:ext cx="3500438" cy="200025"/>
          </a:xfrm>
          <a:prstGeom prst="rect">
            <a:avLst/>
          </a:prstGeom>
          <a:noFill/>
          <a:ln/>
        </p:spPr>
        <p:txBody>
          <a:bodyPr wrap="square" lIns="0" tIns="0" rIns="0" bIns="0" rtlCol="0" anchor="ctr">
            <a:spAutoFit/>
          </a:bodyPr>
          <a:lstStyle/>
          <a:p>
            <a:pPr indent="0" marL="0">
              <a:buNone/>
            </a:pPr>
            <a:r>
              <a:rPr lang="en-US" sz="1125" b="1" dirty="0">
                <a:solidFill>
                  <a:srgbClr val="F1F5F9"/>
                </a:solidFill>
                <a:latin typeface="Segoe UI" pitchFamily="34" charset="0"/>
                <a:ea typeface="Segoe UI" pitchFamily="34" charset="-122"/>
                <a:cs typeface="Segoe UI" pitchFamily="34" charset="-120"/>
              </a:rPr>
              <a:t>Java: Create Java Project</a:t>
            </a:r>
            <a:endParaRPr lang="en-US" sz="1125" dirty="0"/>
          </a:p>
        </p:txBody>
      </p:sp>
      <p:sp>
        <p:nvSpPr>
          <p:cNvPr id="51" name="Text 42"/>
          <p:cNvSpPr/>
          <p:nvPr/>
        </p:nvSpPr>
        <p:spPr>
          <a:xfrm>
            <a:off x="5086350" y="1857375"/>
            <a:ext cx="3386138" cy="142875"/>
          </a:xfrm>
          <a:prstGeom prst="rect">
            <a:avLst/>
          </a:prstGeom>
          <a:noFill/>
          <a:ln/>
        </p:spPr>
        <p:txBody>
          <a:bodyPr wrap="square" lIns="0" tIns="0" rIns="0" bIns="0" rtlCol="0" anchor="ctr">
            <a:spAutoFit/>
          </a:bodyPr>
          <a:lstStyle/>
          <a:p>
            <a:pPr algn="l" indent="0" marL="0">
              <a:buNone/>
            </a:pPr>
            <a:r>
              <a:rPr lang="en-US" sz="788" dirty="0">
                <a:solidFill>
                  <a:srgbClr val="F1F5F9"/>
                </a:solidFill>
                <a:latin typeface="Segoe UI" pitchFamily="34" charset="0"/>
                <a:ea typeface="Segoe UI" pitchFamily="34" charset="-122"/>
                <a:cs typeface="Segoe UI" pitchFamily="34" charset="-120"/>
              </a:rPr>
              <a:t>Open Command Palette (Ctrl+Shift+P / Cmd+Shift+P)</a:t>
            </a:r>
            <a:endParaRPr lang="en-US" sz="788" dirty="0"/>
          </a:p>
        </p:txBody>
      </p:sp>
      <p:sp>
        <p:nvSpPr>
          <p:cNvPr id="52" name="Text 43"/>
          <p:cNvSpPr/>
          <p:nvPr/>
        </p:nvSpPr>
        <p:spPr>
          <a:xfrm>
            <a:off x="5086350" y="2028825"/>
            <a:ext cx="3386138" cy="142875"/>
          </a:xfrm>
          <a:prstGeom prst="rect">
            <a:avLst/>
          </a:prstGeom>
          <a:noFill/>
          <a:ln/>
        </p:spPr>
        <p:txBody>
          <a:bodyPr wrap="square" lIns="0" tIns="0" rIns="0" bIns="0" rtlCol="0" anchor="ctr">
            <a:spAutoFit/>
          </a:bodyPr>
          <a:lstStyle/>
          <a:p>
            <a:pPr algn="l" indent="0" marL="0">
              <a:buNone/>
            </a:pPr>
            <a:r>
              <a:rPr lang="en-US" sz="788" dirty="0">
                <a:solidFill>
                  <a:srgbClr val="F1F5F9"/>
                </a:solidFill>
                <a:latin typeface="Segoe UI" pitchFamily="34" charset="0"/>
                <a:ea typeface="Segoe UI" pitchFamily="34" charset="-122"/>
                <a:cs typeface="Segoe UI" pitchFamily="34" charset="-120"/>
              </a:rPr>
              <a:t>Type "Java: Create Java Project"</a:t>
            </a:r>
            <a:endParaRPr lang="en-US" sz="788" dirty="0"/>
          </a:p>
        </p:txBody>
      </p:sp>
      <p:sp>
        <p:nvSpPr>
          <p:cNvPr id="53" name="Text 44"/>
          <p:cNvSpPr/>
          <p:nvPr/>
        </p:nvSpPr>
        <p:spPr>
          <a:xfrm>
            <a:off x="5197553" y="2214563"/>
            <a:ext cx="921990" cy="112514"/>
          </a:xfrm>
          <a:prstGeom prst="rect">
            <a:avLst/>
          </a:prstGeom>
          <a:noFill/>
          <a:ln/>
        </p:spPr>
        <p:txBody>
          <a:bodyPr wrap="none" lIns="0" tIns="0" rIns="0" bIns="0" rtlCol="0" anchor="ctr">
            <a:spAutoFit/>
          </a:bodyPr>
          <a:lstStyle/>
          <a:p>
            <a:pPr algn="l" indent="0" marL="0">
              <a:buNone/>
            </a:pPr>
            <a:r>
              <a:rPr lang="en-US" sz="788" dirty="0">
                <a:solidFill>
                  <a:srgbClr val="F1F5F9"/>
                </a:solidFill>
                <a:latin typeface="Segoe UI" pitchFamily="34" charset="0"/>
                <a:ea typeface="Segoe UI" pitchFamily="34" charset="-122"/>
                <a:cs typeface="Segoe UI" pitchFamily="34" charset="-120"/>
              </a:rPr>
              <a:t>Select project type:</a:t>
            </a:r>
            <a:endParaRPr lang="en-US" sz="788" dirty="0"/>
          </a:p>
        </p:txBody>
      </p:sp>
      <p:sp>
        <p:nvSpPr>
          <p:cNvPr id="54" name="Text 45"/>
          <p:cNvSpPr/>
          <p:nvPr/>
        </p:nvSpPr>
        <p:spPr>
          <a:xfrm>
            <a:off x="5257800" y="2371725"/>
            <a:ext cx="3214688" cy="142875"/>
          </a:xfrm>
          <a:prstGeom prst="rect">
            <a:avLst/>
          </a:prstGeom>
          <a:noFill/>
          <a:ln/>
        </p:spPr>
        <p:txBody>
          <a:bodyPr wrap="square" lIns="0" tIns="0" rIns="0" bIns="0" rtlCol="0" anchor="ctr">
            <a:spAutoFit/>
          </a:bodyPr>
          <a:lstStyle/>
          <a:p>
            <a:pPr algn="l" indent="0" marL="0">
              <a:buNone/>
            </a:pPr>
            <a:r>
              <a:rPr lang="en-US" sz="788" dirty="0">
                <a:solidFill>
                  <a:srgbClr val="F1F5F9"/>
                </a:solidFill>
                <a:latin typeface="Segoe UI" pitchFamily="34" charset="0"/>
                <a:ea typeface="Segoe UI" pitchFamily="34" charset="-122"/>
                <a:cs typeface="Segoe UI" pitchFamily="34" charset="-120"/>
              </a:rPr>
              <a:t>• No build tools</a:t>
            </a:r>
            <a:endParaRPr lang="en-US" sz="788" dirty="0"/>
          </a:p>
        </p:txBody>
      </p:sp>
      <p:sp>
        <p:nvSpPr>
          <p:cNvPr id="55" name="Text 46"/>
          <p:cNvSpPr/>
          <p:nvPr/>
        </p:nvSpPr>
        <p:spPr>
          <a:xfrm>
            <a:off x="5257800" y="2543175"/>
            <a:ext cx="3214688" cy="142875"/>
          </a:xfrm>
          <a:prstGeom prst="rect">
            <a:avLst/>
          </a:prstGeom>
          <a:noFill/>
          <a:ln/>
        </p:spPr>
        <p:txBody>
          <a:bodyPr wrap="square" lIns="0" tIns="0" rIns="0" bIns="0" rtlCol="0" anchor="ctr">
            <a:spAutoFit/>
          </a:bodyPr>
          <a:lstStyle/>
          <a:p>
            <a:pPr algn="l" indent="0" marL="0">
              <a:buNone/>
            </a:pPr>
            <a:r>
              <a:rPr lang="en-US" sz="788" dirty="0">
                <a:solidFill>
                  <a:srgbClr val="F1F5F9"/>
                </a:solidFill>
                <a:latin typeface="Segoe UI" pitchFamily="34" charset="0"/>
                <a:ea typeface="Segoe UI" pitchFamily="34" charset="-122"/>
                <a:cs typeface="Segoe UI" pitchFamily="34" charset="-120"/>
              </a:rPr>
              <a:t>• Maven</a:t>
            </a:r>
            <a:endParaRPr lang="en-US" sz="788" dirty="0"/>
          </a:p>
        </p:txBody>
      </p:sp>
      <p:sp>
        <p:nvSpPr>
          <p:cNvPr id="56" name="Text 47"/>
          <p:cNvSpPr/>
          <p:nvPr/>
        </p:nvSpPr>
        <p:spPr>
          <a:xfrm>
            <a:off x="5257800" y="2714625"/>
            <a:ext cx="3214688" cy="142875"/>
          </a:xfrm>
          <a:prstGeom prst="rect">
            <a:avLst/>
          </a:prstGeom>
          <a:noFill/>
          <a:ln/>
        </p:spPr>
        <p:txBody>
          <a:bodyPr wrap="square" lIns="0" tIns="0" rIns="0" bIns="0" rtlCol="0" anchor="ctr">
            <a:spAutoFit/>
          </a:bodyPr>
          <a:lstStyle/>
          <a:p>
            <a:pPr algn="l" indent="0" marL="0">
              <a:buNone/>
            </a:pPr>
            <a:r>
              <a:rPr lang="en-US" sz="788" dirty="0">
                <a:solidFill>
                  <a:srgbClr val="F1F5F9"/>
                </a:solidFill>
                <a:latin typeface="Segoe UI" pitchFamily="34" charset="0"/>
                <a:ea typeface="Segoe UI" pitchFamily="34" charset="-122"/>
                <a:cs typeface="Segoe UI" pitchFamily="34" charset="-120"/>
              </a:rPr>
              <a:t>• Gradle</a:t>
            </a:r>
            <a:endParaRPr lang="en-US" sz="788" dirty="0"/>
          </a:p>
        </p:txBody>
      </p:sp>
      <p:sp>
        <p:nvSpPr>
          <p:cNvPr id="57" name="Text 48"/>
          <p:cNvSpPr/>
          <p:nvPr/>
        </p:nvSpPr>
        <p:spPr>
          <a:xfrm>
            <a:off x="5257800" y="2886075"/>
            <a:ext cx="3214688" cy="142875"/>
          </a:xfrm>
          <a:prstGeom prst="rect">
            <a:avLst/>
          </a:prstGeom>
          <a:noFill/>
          <a:ln/>
        </p:spPr>
        <p:txBody>
          <a:bodyPr wrap="square" lIns="0" tIns="0" rIns="0" bIns="0" rtlCol="0" anchor="ctr">
            <a:spAutoFit/>
          </a:bodyPr>
          <a:lstStyle/>
          <a:p>
            <a:pPr algn="l" indent="0" marL="0">
              <a:buNone/>
            </a:pPr>
            <a:r>
              <a:rPr lang="en-US" sz="788" dirty="0">
                <a:solidFill>
                  <a:srgbClr val="F1F5F9"/>
                </a:solidFill>
                <a:latin typeface="Segoe UI" pitchFamily="34" charset="0"/>
                <a:ea typeface="Segoe UI" pitchFamily="34" charset="-122"/>
                <a:cs typeface="Segoe UI" pitchFamily="34" charset="-120"/>
              </a:rPr>
              <a:t>• Spring Boot</a:t>
            </a:r>
            <a:endParaRPr lang="en-US" sz="788" dirty="0"/>
          </a:p>
        </p:txBody>
      </p:sp>
      <p:sp>
        <p:nvSpPr>
          <p:cNvPr id="58" name="Text 49"/>
          <p:cNvSpPr/>
          <p:nvPr/>
        </p:nvSpPr>
        <p:spPr>
          <a:xfrm>
            <a:off x="5086350" y="3057525"/>
            <a:ext cx="3386138" cy="142875"/>
          </a:xfrm>
          <a:prstGeom prst="rect">
            <a:avLst/>
          </a:prstGeom>
          <a:noFill/>
          <a:ln/>
        </p:spPr>
        <p:txBody>
          <a:bodyPr wrap="square" lIns="0" tIns="0" rIns="0" bIns="0" rtlCol="0" anchor="ctr">
            <a:spAutoFit/>
          </a:bodyPr>
          <a:lstStyle/>
          <a:p>
            <a:pPr algn="l" indent="0" marL="0">
              <a:buNone/>
            </a:pPr>
            <a:r>
              <a:rPr lang="en-US" sz="788" dirty="0">
                <a:solidFill>
                  <a:srgbClr val="F1F5F9"/>
                </a:solidFill>
                <a:latin typeface="Segoe UI" pitchFamily="34" charset="0"/>
                <a:ea typeface="Segoe UI" pitchFamily="34" charset="-122"/>
                <a:cs typeface="Segoe UI" pitchFamily="34" charset="-120"/>
              </a:rPr>
              <a:t>Follow the prompts to complete project creation</a:t>
            </a:r>
            <a:endParaRPr lang="en-US" sz="788" dirty="0"/>
          </a:p>
        </p:txBody>
      </p:sp>
      <p:sp>
        <p:nvSpPr>
          <p:cNvPr id="59" name="Shape 50"/>
          <p:cNvSpPr/>
          <p:nvPr/>
        </p:nvSpPr>
        <p:spPr>
          <a:xfrm>
            <a:off x="4857750" y="3429000"/>
            <a:ext cx="3657600" cy="514350"/>
          </a:xfrm>
          <a:prstGeom prst="rect">
            <a:avLst/>
          </a:prstGeom>
          <a:solidFill>
            <a:srgbClr val="78350F">
              <a:alpha val="20000"/>
            </a:srgbClr>
          </a:solidFill>
          <a:ln/>
        </p:spPr>
      </p:sp>
      <p:pic>
        <p:nvPicPr>
          <p:cNvPr id="60" name="Image 7" descr="preencoded.png">    </p:cNvPr>
          <p:cNvPicPr>
            <a:picLocks noChangeAspect="1"/>
          </p:cNvPicPr>
          <p:nvPr/>
        </p:nvPicPr>
        <p:blipFill>
          <a:blip r:embed="rId8"/>
          <a:stretch>
            <a:fillRect/>
          </a:stretch>
        </p:blipFill>
        <p:spPr>
          <a:xfrm>
            <a:off x="4972050" y="3600450"/>
            <a:ext cx="128588" cy="171450"/>
          </a:xfrm>
          <a:prstGeom prst="rect">
            <a:avLst/>
          </a:prstGeom>
        </p:spPr>
      </p:pic>
      <p:sp>
        <p:nvSpPr>
          <p:cNvPr id="61" name="Text 51"/>
          <p:cNvSpPr/>
          <p:nvPr/>
        </p:nvSpPr>
        <p:spPr>
          <a:xfrm>
            <a:off x="5214938" y="3543300"/>
            <a:ext cx="3257550" cy="285750"/>
          </a:xfrm>
          <a:prstGeom prst="rect">
            <a:avLst/>
          </a:prstGeom>
          <a:noFill/>
          <a:ln/>
        </p:spPr>
        <p:txBody>
          <a:bodyPr wrap="square" lIns="0" tIns="0" rIns="0" bIns="0" rtlCol="0" anchor="ctr">
            <a:spAutoFit/>
          </a:bodyPr>
          <a:lstStyle/>
          <a:p>
            <a:pPr indent="0" marL="0">
              <a:buNone/>
            </a:pPr>
            <a:r>
              <a:rPr lang="en-US" sz="788" dirty="0">
                <a:solidFill>
                  <a:srgbClr val="F1F5F9"/>
                </a:solidFill>
                <a:latin typeface="Segoe UI" pitchFamily="34" charset="0"/>
                <a:ea typeface="Segoe UI" pitchFamily="34" charset="-122"/>
                <a:cs typeface="Segoe UI" pitchFamily="34" charset="-120"/>
              </a:rPr>
              <a:t>For beginners, select "No build tools" to create a simple Java project without the complexity of build systems.</a:t>
            </a:r>
            <a:endParaRPr lang="en-US" sz="788" dirty="0"/>
          </a:p>
        </p:txBody>
      </p:sp>
      <p:sp>
        <p:nvSpPr>
          <p:cNvPr id="62" name="Shape 52"/>
          <p:cNvSpPr/>
          <p:nvPr/>
        </p:nvSpPr>
        <p:spPr>
          <a:xfrm>
            <a:off x="4686300" y="4286250"/>
            <a:ext cx="4000500" cy="3671888"/>
          </a:xfrm>
          <a:prstGeom prst="rect">
            <a:avLst/>
          </a:prstGeom>
          <a:solidFill>
            <a:srgbClr val="FFFFFF">
              <a:alpha val="10000"/>
            </a:srgbClr>
          </a:solidFill>
          <a:ln w="99">
            <a:solidFill>
              <a:srgbClr val="60A5FA">
                <a:alpha val="30000"/>
              </a:srgbClr>
            </a:solidFill>
            <a:prstDash val="solid"/>
          </a:ln>
        </p:spPr>
      </p:sp>
      <p:sp>
        <p:nvSpPr>
          <p:cNvPr id="63" name="Text 53"/>
          <p:cNvSpPr/>
          <p:nvPr/>
        </p:nvSpPr>
        <p:spPr>
          <a:xfrm>
            <a:off x="4857750" y="4457700"/>
            <a:ext cx="3729038" cy="228600"/>
          </a:xfrm>
          <a:prstGeom prst="rect">
            <a:avLst/>
          </a:prstGeom>
          <a:noFill/>
          <a:ln/>
        </p:spPr>
        <p:txBody>
          <a:bodyPr wrap="square" lIns="0" tIns="0" rIns="0" bIns="0" rtlCol="0" anchor="ctr">
            <a:spAutoFit/>
          </a:bodyPr>
          <a:lstStyle/>
          <a:p>
            <a:pPr indent="0" marL="0">
              <a:buNone/>
            </a:pPr>
            <a:r>
              <a:rPr lang="en-US" sz="1350" b="1" dirty="0">
                <a:solidFill>
                  <a:srgbClr val="BFDBFE"/>
                </a:solidFill>
                <a:latin typeface="Segoe UI" pitchFamily="34" charset="0"/>
                <a:ea typeface="Segoe UI" pitchFamily="34" charset="-122"/>
                <a:cs typeface="Segoe UI" pitchFamily="34" charset="-120"/>
              </a:rPr>
              <a:t>Project Structure</a:t>
            </a:r>
            <a:endParaRPr lang="en-US" sz="1350" dirty="0"/>
          </a:p>
        </p:txBody>
      </p:sp>
      <p:sp>
        <p:nvSpPr>
          <p:cNvPr id="64" name="Shape 54"/>
          <p:cNvSpPr/>
          <p:nvPr/>
        </p:nvSpPr>
        <p:spPr>
          <a:xfrm>
            <a:off x="4857750" y="4800600"/>
            <a:ext cx="3657600" cy="2971800"/>
          </a:xfrm>
          <a:prstGeom prst="rect">
            <a:avLst/>
          </a:prstGeom>
          <a:solidFill>
            <a:srgbClr val="1E3A8A">
              <a:alpha val="30000"/>
            </a:srgbClr>
          </a:solidFill>
          <a:ln/>
        </p:spPr>
      </p:sp>
      <p:sp>
        <p:nvSpPr>
          <p:cNvPr id="65" name="Text 55"/>
          <p:cNvSpPr/>
          <p:nvPr/>
        </p:nvSpPr>
        <p:spPr>
          <a:xfrm>
            <a:off x="4972050" y="4914900"/>
            <a:ext cx="3500438" cy="200025"/>
          </a:xfrm>
          <a:prstGeom prst="rect">
            <a:avLst/>
          </a:prstGeom>
          <a:noFill/>
          <a:ln/>
        </p:spPr>
        <p:txBody>
          <a:bodyPr wrap="square" lIns="0" tIns="0" rIns="0" bIns="0" rtlCol="0" anchor="ctr">
            <a:spAutoFit/>
          </a:bodyPr>
          <a:lstStyle/>
          <a:p>
            <a:pPr indent="0" marL="0">
              <a:buNone/>
            </a:pPr>
            <a:r>
              <a:rPr lang="en-US" sz="1125" b="1" dirty="0">
                <a:solidFill>
                  <a:srgbClr val="F1F5F9"/>
                </a:solidFill>
                <a:latin typeface="Segoe UI" pitchFamily="34" charset="0"/>
                <a:ea typeface="Segoe UI" pitchFamily="34" charset="-122"/>
                <a:cs typeface="Segoe UI" pitchFamily="34" charset="-120"/>
              </a:rPr>
              <a:t>Recommended Structure</a:t>
            </a:r>
            <a:endParaRPr lang="en-US" sz="1125" dirty="0"/>
          </a:p>
        </p:txBody>
      </p:sp>
      <p:sp>
        <p:nvSpPr>
          <p:cNvPr id="66" name="Shape 56"/>
          <p:cNvSpPr/>
          <p:nvPr/>
        </p:nvSpPr>
        <p:spPr>
          <a:xfrm>
            <a:off x="4972050" y="5172075"/>
            <a:ext cx="3429000" cy="1885950"/>
          </a:xfrm>
          <a:prstGeom prst="rect">
            <a:avLst/>
          </a:prstGeom>
          <a:solidFill>
            <a:srgbClr val="111827">
              <a:alpha val="50000"/>
            </a:srgbClr>
          </a:solidFill>
          <a:ln/>
        </p:spPr>
      </p:sp>
      <p:sp>
        <p:nvSpPr>
          <p:cNvPr id="67" name="Text 57"/>
          <p:cNvSpPr/>
          <p:nvPr/>
        </p:nvSpPr>
        <p:spPr>
          <a:xfrm>
            <a:off x="5057775" y="5298877"/>
            <a:ext cx="1211786" cy="114300"/>
          </a:xfrm>
          <a:prstGeom prst="rect">
            <a:avLst/>
          </a:prstGeom>
          <a:noFill/>
          <a:ln/>
        </p:spPr>
        <p:txBody>
          <a:bodyPr wrap="none" lIns="0" tIns="0" rIns="0" bIns="0" rtlCol="0" anchor="ctr">
            <a:spAutoFit/>
          </a:bodyPr>
          <a:lstStyle/>
          <a:p>
            <a:pPr indent="0" marL="0">
              <a:buNone/>
            </a:pPr>
            <a:r>
              <a:rPr lang="en-US" sz="788" dirty="0">
                <a:solidFill>
                  <a:srgbClr val="DBEAFE"/>
                </a:solidFill>
                <a:latin typeface="Consolas" pitchFamily="34" charset="0"/>
                <a:ea typeface="Consolas" pitchFamily="34" charset="-122"/>
                <a:cs typeface="Consolas" pitchFamily="34" charset="-120"/>
              </a:rPr>
              <a:t>MyFirstJavaProject/</a:t>
            </a:r>
            <a:endParaRPr lang="en-US" sz="788" dirty="0"/>
          </a:p>
        </p:txBody>
      </p:sp>
      <p:sp>
        <p:nvSpPr>
          <p:cNvPr id="68" name="Text 58"/>
          <p:cNvSpPr/>
          <p:nvPr/>
        </p:nvSpPr>
        <p:spPr>
          <a:xfrm>
            <a:off x="5057775" y="5470327"/>
            <a:ext cx="551576" cy="114300"/>
          </a:xfrm>
          <a:prstGeom prst="rect">
            <a:avLst/>
          </a:prstGeom>
          <a:noFill/>
          <a:ln/>
        </p:spPr>
        <p:txBody>
          <a:bodyPr wrap="none" lIns="0" tIns="0" rIns="0" bIns="0" rtlCol="0" anchor="ctr">
            <a:spAutoFit/>
          </a:bodyPr>
          <a:lstStyle/>
          <a:p>
            <a:pPr indent="0" marL="0">
              <a:buNone/>
            </a:pPr>
            <a:r>
              <a:rPr lang="en-US" sz="788" dirty="0">
                <a:solidFill>
                  <a:srgbClr val="DBEAFE"/>
                </a:solidFill>
                <a:latin typeface="Consolas" pitchFamily="34" charset="0"/>
                <a:ea typeface="Consolas" pitchFamily="34" charset="-122"/>
                <a:cs typeface="Consolas" pitchFamily="34" charset="-120"/>
              </a:rPr>
              <a:t>├── src/</a:t>
            </a:r>
            <a:endParaRPr lang="en-US" sz="788" dirty="0"/>
          </a:p>
        </p:txBody>
      </p:sp>
      <p:sp>
        <p:nvSpPr>
          <p:cNvPr id="69" name="Text 59"/>
          <p:cNvSpPr/>
          <p:nvPr/>
        </p:nvSpPr>
        <p:spPr>
          <a:xfrm>
            <a:off x="5057775" y="5641777"/>
            <a:ext cx="671624" cy="114300"/>
          </a:xfrm>
          <a:prstGeom prst="rect">
            <a:avLst/>
          </a:prstGeom>
          <a:noFill/>
          <a:ln/>
        </p:spPr>
        <p:txBody>
          <a:bodyPr wrap="none" lIns="0" tIns="0" rIns="0" bIns="0" rtlCol="0" anchor="ctr">
            <a:spAutoFit/>
          </a:bodyPr>
          <a:lstStyle/>
          <a:p>
            <a:pPr indent="0" marL="0">
              <a:buNone/>
            </a:pPr>
            <a:r>
              <a:rPr lang="en-US" sz="788" dirty="0">
                <a:solidFill>
                  <a:srgbClr val="DBEAFE"/>
                </a:solidFill>
                <a:latin typeface="Consolas" pitchFamily="34" charset="0"/>
                <a:ea typeface="Consolas" pitchFamily="34" charset="-122"/>
                <a:cs typeface="Consolas" pitchFamily="34" charset="-120"/>
              </a:rPr>
              <a:t>│   └── com/</a:t>
            </a:r>
            <a:endParaRPr lang="en-US" sz="788" dirty="0"/>
          </a:p>
        </p:txBody>
      </p:sp>
      <p:sp>
        <p:nvSpPr>
          <p:cNvPr id="70" name="Text 60"/>
          <p:cNvSpPr/>
          <p:nvPr/>
        </p:nvSpPr>
        <p:spPr>
          <a:xfrm>
            <a:off x="5057775" y="5813227"/>
            <a:ext cx="911693" cy="114300"/>
          </a:xfrm>
          <a:prstGeom prst="rect">
            <a:avLst/>
          </a:prstGeom>
          <a:noFill/>
          <a:ln/>
        </p:spPr>
        <p:txBody>
          <a:bodyPr wrap="none" lIns="0" tIns="0" rIns="0" bIns="0" rtlCol="0" anchor="ctr">
            <a:spAutoFit/>
          </a:bodyPr>
          <a:lstStyle/>
          <a:p>
            <a:pPr indent="0" marL="0">
              <a:buNone/>
            </a:pPr>
            <a:r>
              <a:rPr lang="en-US" sz="788" dirty="0">
                <a:solidFill>
                  <a:srgbClr val="DBEAFE"/>
                </a:solidFill>
                <a:latin typeface="Consolas" pitchFamily="34" charset="0"/>
                <a:ea typeface="Consolas" pitchFamily="34" charset="-122"/>
                <a:cs typeface="Consolas" pitchFamily="34" charset="-120"/>
              </a:rPr>
              <a:t>│       └── example/</a:t>
            </a:r>
            <a:endParaRPr lang="en-US" sz="788" dirty="0"/>
          </a:p>
        </p:txBody>
      </p:sp>
      <p:sp>
        <p:nvSpPr>
          <p:cNvPr id="71" name="Text 61"/>
          <p:cNvSpPr/>
          <p:nvPr/>
        </p:nvSpPr>
        <p:spPr>
          <a:xfrm>
            <a:off x="5057775" y="5984677"/>
            <a:ext cx="791645" cy="114300"/>
          </a:xfrm>
          <a:prstGeom prst="rect">
            <a:avLst/>
          </a:prstGeom>
          <a:noFill/>
          <a:ln/>
        </p:spPr>
        <p:txBody>
          <a:bodyPr wrap="none" lIns="0" tIns="0" rIns="0" bIns="0" rtlCol="0" anchor="ctr">
            <a:spAutoFit/>
          </a:bodyPr>
          <a:lstStyle/>
          <a:p>
            <a:pPr indent="0" marL="0">
              <a:buNone/>
            </a:pPr>
            <a:r>
              <a:rPr lang="en-US" sz="788" dirty="0">
                <a:solidFill>
                  <a:srgbClr val="DBEAFE"/>
                </a:solidFill>
                <a:latin typeface="Consolas" pitchFamily="34" charset="0"/>
                <a:ea typeface="Consolas" pitchFamily="34" charset="-122"/>
                <a:cs typeface="Consolas" pitchFamily="34" charset="-120"/>
              </a:rPr>
              <a:t>│           └── myapp/</a:t>
            </a:r>
            <a:endParaRPr lang="en-US" sz="788" dirty="0"/>
          </a:p>
        </p:txBody>
      </p:sp>
      <p:sp>
        <p:nvSpPr>
          <p:cNvPr id="72" name="Text 62"/>
          <p:cNvSpPr/>
          <p:nvPr/>
        </p:nvSpPr>
        <p:spPr>
          <a:xfrm>
            <a:off x="5057775" y="6156127"/>
            <a:ext cx="971717" cy="114300"/>
          </a:xfrm>
          <a:prstGeom prst="rect">
            <a:avLst/>
          </a:prstGeom>
          <a:noFill/>
          <a:ln/>
        </p:spPr>
        <p:txBody>
          <a:bodyPr wrap="none" lIns="0" tIns="0" rIns="0" bIns="0" rtlCol="0" anchor="ctr">
            <a:spAutoFit/>
          </a:bodyPr>
          <a:lstStyle/>
          <a:p>
            <a:pPr indent="0" marL="0">
              <a:buNone/>
            </a:pPr>
            <a:r>
              <a:rPr lang="en-US" sz="788" dirty="0">
                <a:solidFill>
                  <a:srgbClr val="DBEAFE"/>
                </a:solidFill>
                <a:latin typeface="Consolas" pitchFamily="34" charset="0"/>
                <a:ea typeface="Consolas" pitchFamily="34" charset="-122"/>
                <a:cs typeface="Consolas" pitchFamily="34" charset="-120"/>
              </a:rPr>
              <a:t>│               └── Main.java</a:t>
            </a:r>
            <a:endParaRPr lang="en-US" sz="788" dirty="0"/>
          </a:p>
        </p:txBody>
      </p:sp>
      <p:sp>
        <p:nvSpPr>
          <p:cNvPr id="73" name="Text 63"/>
          <p:cNvSpPr/>
          <p:nvPr/>
        </p:nvSpPr>
        <p:spPr>
          <a:xfrm>
            <a:off x="5057775" y="6327577"/>
            <a:ext cx="551576" cy="114300"/>
          </a:xfrm>
          <a:prstGeom prst="rect">
            <a:avLst/>
          </a:prstGeom>
          <a:noFill/>
          <a:ln/>
        </p:spPr>
        <p:txBody>
          <a:bodyPr wrap="none" lIns="0" tIns="0" rIns="0" bIns="0" rtlCol="0" anchor="ctr">
            <a:spAutoFit/>
          </a:bodyPr>
          <a:lstStyle/>
          <a:p>
            <a:pPr indent="0" marL="0">
              <a:buNone/>
            </a:pPr>
            <a:r>
              <a:rPr lang="en-US" sz="788" dirty="0">
                <a:solidFill>
                  <a:srgbClr val="DBEAFE"/>
                </a:solidFill>
                <a:latin typeface="Consolas" pitchFamily="34" charset="0"/>
                <a:ea typeface="Consolas" pitchFamily="34" charset="-122"/>
                <a:cs typeface="Consolas" pitchFamily="34" charset="-120"/>
              </a:rPr>
              <a:t>├── bin/</a:t>
            </a:r>
            <a:endParaRPr lang="en-US" sz="788" dirty="0"/>
          </a:p>
        </p:txBody>
      </p:sp>
      <p:sp>
        <p:nvSpPr>
          <p:cNvPr id="74" name="Text 64"/>
          <p:cNvSpPr/>
          <p:nvPr/>
        </p:nvSpPr>
        <p:spPr>
          <a:xfrm>
            <a:off x="5057775" y="6499027"/>
            <a:ext cx="1811945" cy="114300"/>
          </a:xfrm>
          <a:prstGeom prst="rect">
            <a:avLst/>
          </a:prstGeom>
          <a:noFill/>
          <a:ln/>
        </p:spPr>
        <p:txBody>
          <a:bodyPr wrap="square" lIns="0" tIns="0" rIns="0" bIns="0" rtlCol="0" anchor="ctr">
            <a:spAutoFit/>
          </a:bodyPr>
          <a:lstStyle/>
          <a:p>
            <a:pPr indent="0" marL="0">
              <a:buNone/>
            </a:pPr>
            <a:r>
              <a:rPr lang="en-US" sz="788" dirty="0">
                <a:solidFill>
                  <a:srgbClr val="DBEAFE"/>
                </a:solidFill>
                <a:latin typeface="Consolas" pitchFamily="34" charset="0"/>
                <a:ea typeface="Consolas" pitchFamily="34" charset="-122"/>
                <a:cs typeface="Consolas" pitchFamily="34" charset="-120"/>
              </a:rPr>
              <a:t>│   └── (compiled .class files)</a:t>
            </a:r>
            <a:endParaRPr lang="en-US" sz="788" dirty="0"/>
          </a:p>
        </p:txBody>
      </p:sp>
      <p:sp>
        <p:nvSpPr>
          <p:cNvPr id="75" name="Text 65"/>
          <p:cNvSpPr/>
          <p:nvPr/>
        </p:nvSpPr>
        <p:spPr>
          <a:xfrm>
            <a:off x="5057775" y="6670477"/>
            <a:ext cx="551576" cy="114300"/>
          </a:xfrm>
          <a:prstGeom prst="rect">
            <a:avLst/>
          </a:prstGeom>
          <a:noFill/>
          <a:ln/>
        </p:spPr>
        <p:txBody>
          <a:bodyPr wrap="none" lIns="0" tIns="0" rIns="0" bIns="0" rtlCol="0" anchor="ctr">
            <a:spAutoFit/>
          </a:bodyPr>
          <a:lstStyle/>
          <a:p>
            <a:pPr indent="0" marL="0">
              <a:buNone/>
            </a:pPr>
            <a:r>
              <a:rPr lang="en-US" sz="788" dirty="0">
                <a:solidFill>
                  <a:srgbClr val="DBEAFE"/>
                </a:solidFill>
                <a:latin typeface="Consolas" pitchFamily="34" charset="0"/>
                <a:ea typeface="Consolas" pitchFamily="34" charset="-122"/>
                <a:cs typeface="Consolas" pitchFamily="34" charset="-120"/>
              </a:rPr>
              <a:t>└── lib/</a:t>
            </a:r>
            <a:endParaRPr lang="en-US" sz="788" dirty="0"/>
          </a:p>
        </p:txBody>
      </p:sp>
      <p:sp>
        <p:nvSpPr>
          <p:cNvPr id="76" name="Text 66"/>
          <p:cNvSpPr/>
          <p:nvPr/>
        </p:nvSpPr>
        <p:spPr>
          <a:xfrm>
            <a:off x="5057775" y="6841927"/>
            <a:ext cx="1511852" cy="114300"/>
          </a:xfrm>
          <a:prstGeom prst="rect">
            <a:avLst/>
          </a:prstGeom>
          <a:noFill/>
          <a:ln/>
        </p:spPr>
        <p:txBody>
          <a:bodyPr wrap="square" lIns="0" tIns="0" rIns="0" bIns="0" rtlCol="0" anchor="ctr">
            <a:spAutoFit/>
          </a:bodyPr>
          <a:lstStyle/>
          <a:p>
            <a:pPr indent="0" marL="0">
              <a:buNone/>
            </a:pPr>
            <a:r>
              <a:rPr lang="en-US" sz="788" dirty="0">
                <a:solidFill>
                  <a:srgbClr val="DBEAFE"/>
                </a:solidFill>
                <a:latin typeface="Consolas" pitchFamily="34" charset="0"/>
                <a:ea typeface="Consolas" pitchFamily="34" charset="-122"/>
                <a:cs typeface="Consolas" pitchFamily="34" charset="-120"/>
              </a:rPr>
              <a:t>└── (external libraries)</a:t>
            </a:r>
            <a:endParaRPr lang="en-US" sz="788" dirty="0"/>
          </a:p>
        </p:txBody>
      </p:sp>
      <p:pic>
        <p:nvPicPr>
          <p:cNvPr id="77" name="Image 8" descr="preencoded.png">    </p:cNvPr>
          <p:cNvPicPr>
            <a:picLocks noChangeAspect="1"/>
          </p:cNvPicPr>
          <p:nvPr/>
        </p:nvPicPr>
        <p:blipFill>
          <a:blip r:embed="rId9"/>
          <a:stretch>
            <a:fillRect/>
          </a:stretch>
        </p:blipFill>
        <p:spPr>
          <a:xfrm>
            <a:off x="4972050" y="7200900"/>
            <a:ext cx="100013" cy="100013"/>
          </a:xfrm>
          <a:prstGeom prst="rect">
            <a:avLst/>
          </a:prstGeom>
        </p:spPr>
      </p:pic>
      <p:sp>
        <p:nvSpPr>
          <p:cNvPr id="78" name="Text 67"/>
          <p:cNvSpPr/>
          <p:nvPr/>
        </p:nvSpPr>
        <p:spPr>
          <a:xfrm>
            <a:off x="5129213" y="7186613"/>
            <a:ext cx="249389" cy="112514"/>
          </a:xfrm>
          <a:prstGeom prst="rect">
            <a:avLst/>
          </a:prstGeom>
          <a:noFill/>
          <a:ln/>
        </p:spPr>
        <p:txBody>
          <a:bodyPr wrap="none" lIns="0" tIns="0" rIns="0" bIns="0" rtlCol="0" anchor="ctr">
            <a:spAutoFit/>
          </a:bodyPr>
          <a:lstStyle/>
          <a:p>
            <a:pPr algn="l" indent="0" marL="0">
              <a:buNone/>
            </a:pPr>
            <a:r>
              <a:rPr lang="en-US" sz="788" b="1" dirty="0">
                <a:solidFill>
                  <a:srgbClr val="60A5FA"/>
                </a:solidFill>
                <a:latin typeface="Segoe UI" pitchFamily="34" charset="0"/>
                <a:ea typeface="Segoe UI" pitchFamily="34" charset="-122"/>
                <a:cs typeface="Segoe UI" pitchFamily="34" charset="-120"/>
              </a:rPr>
              <a:t>src/</a:t>
            </a:r>
            <a:endParaRPr lang="en-US" sz="788" dirty="0"/>
          </a:p>
        </p:txBody>
      </p:sp>
      <p:sp>
        <p:nvSpPr>
          <p:cNvPr id="79" name="Text 68"/>
          <p:cNvSpPr/>
          <p:nvPr/>
        </p:nvSpPr>
        <p:spPr>
          <a:xfrm>
            <a:off x="5307164" y="7186613"/>
            <a:ext cx="1233162" cy="112514"/>
          </a:xfrm>
          <a:prstGeom prst="rect">
            <a:avLst/>
          </a:prstGeom>
          <a:noFill/>
          <a:ln/>
        </p:spPr>
        <p:txBody>
          <a:bodyPr wrap="none" lIns="0" tIns="0" rIns="0" bIns="0" rtlCol="0" anchor="ctr">
            <a:spAutoFit/>
          </a:bodyPr>
          <a:lstStyle/>
          <a:p>
            <a:pPr algn="l" indent="0" marL="0">
              <a:buNone/>
            </a:pPr>
            <a:r>
              <a:rPr lang="en-US" sz="788" dirty="0">
                <a:solidFill>
                  <a:srgbClr val="F1F5F9"/>
                </a:solidFill>
                <a:latin typeface="Segoe UI" pitchFamily="34" charset="0"/>
                <a:ea typeface="Segoe UI" pitchFamily="34" charset="-122"/>
                <a:cs typeface="Segoe UI" pitchFamily="34" charset="-120"/>
              </a:rPr>
              <a:t>- Source code files (.java)</a:t>
            </a:r>
            <a:endParaRPr lang="en-US" sz="788" dirty="0"/>
          </a:p>
        </p:txBody>
      </p:sp>
      <p:pic>
        <p:nvPicPr>
          <p:cNvPr id="80" name="Image 9" descr="preencoded.png">    </p:cNvPr>
          <p:cNvPicPr>
            <a:picLocks noChangeAspect="1"/>
          </p:cNvPicPr>
          <p:nvPr/>
        </p:nvPicPr>
        <p:blipFill>
          <a:blip r:embed="rId10"/>
          <a:stretch>
            <a:fillRect/>
          </a:stretch>
        </p:blipFill>
        <p:spPr>
          <a:xfrm>
            <a:off x="4972050" y="7372350"/>
            <a:ext cx="100013" cy="100013"/>
          </a:xfrm>
          <a:prstGeom prst="rect">
            <a:avLst/>
          </a:prstGeom>
        </p:spPr>
      </p:pic>
      <p:sp>
        <p:nvSpPr>
          <p:cNvPr id="81" name="Text 69"/>
          <p:cNvSpPr/>
          <p:nvPr/>
        </p:nvSpPr>
        <p:spPr>
          <a:xfrm>
            <a:off x="5129213" y="7358063"/>
            <a:ext cx="249194" cy="112514"/>
          </a:xfrm>
          <a:prstGeom prst="rect">
            <a:avLst/>
          </a:prstGeom>
          <a:noFill/>
          <a:ln/>
        </p:spPr>
        <p:txBody>
          <a:bodyPr wrap="none" lIns="0" tIns="0" rIns="0" bIns="0" rtlCol="0" anchor="ctr">
            <a:spAutoFit/>
          </a:bodyPr>
          <a:lstStyle/>
          <a:p>
            <a:pPr algn="l" indent="0" marL="0">
              <a:buNone/>
            </a:pPr>
            <a:r>
              <a:rPr lang="en-US" sz="788" b="1" dirty="0">
                <a:solidFill>
                  <a:srgbClr val="60A5FA"/>
                </a:solidFill>
                <a:latin typeface="Segoe UI" pitchFamily="34" charset="0"/>
                <a:ea typeface="Segoe UI" pitchFamily="34" charset="-122"/>
                <a:cs typeface="Segoe UI" pitchFamily="34" charset="-120"/>
              </a:rPr>
              <a:t>bin/</a:t>
            </a:r>
            <a:endParaRPr lang="en-US" sz="788" dirty="0"/>
          </a:p>
        </p:txBody>
      </p:sp>
      <p:sp>
        <p:nvSpPr>
          <p:cNvPr id="82" name="Text 70"/>
          <p:cNvSpPr/>
          <p:nvPr/>
        </p:nvSpPr>
        <p:spPr>
          <a:xfrm>
            <a:off x="5306969" y="7358063"/>
            <a:ext cx="1366521" cy="112514"/>
          </a:xfrm>
          <a:prstGeom prst="rect">
            <a:avLst/>
          </a:prstGeom>
          <a:noFill/>
          <a:ln/>
        </p:spPr>
        <p:txBody>
          <a:bodyPr wrap="square" lIns="0" tIns="0" rIns="0" bIns="0" rtlCol="0" anchor="ctr">
            <a:spAutoFit/>
          </a:bodyPr>
          <a:lstStyle/>
          <a:p>
            <a:pPr algn="l" indent="0" marL="0">
              <a:buNone/>
            </a:pPr>
            <a:r>
              <a:rPr lang="en-US" sz="788" dirty="0">
                <a:solidFill>
                  <a:srgbClr val="F1F5F9"/>
                </a:solidFill>
                <a:latin typeface="Segoe UI" pitchFamily="34" charset="0"/>
                <a:ea typeface="Segoe UI" pitchFamily="34" charset="-122"/>
                <a:cs typeface="Segoe UI" pitchFamily="34" charset="-120"/>
              </a:rPr>
              <a:t>- Compiled bytecode (.class)</a:t>
            </a:r>
            <a:endParaRPr lang="en-US" sz="788" dirty="0"/>
          </a:p>
        </p:txBody>
      </p:sp>
      <p:pic>
        <p:nvPicPr>
          <p:cNvPr id="83" name="Image 10" descr="preencoded.png">    </p:cNvPr>
          <p:cNvPicPr>
            <a:picLocks noChangeAspect="1"/>
          </p:cNvPicPr>
          <p:nvPr/>
        </p:nvPicPr>
        <p:blipFill>
          <a:blip r:embed="rId11"/>
          <a:stretch>
            <a:fillRect/>
          </a:stretch>
        </p:blipFill>
        <p:spPr>
          <a:xfrm>
            <a:off x="4972050" y="7543800"/>
            <a:ext cx="100013" cy="100013"/>
          </a:xfrm>
          <a:prstGeom prst="rect">
            <a:avLst/>
          </a:prstGeom>
        </p:spPr>
      </p:pic>
      <p:sp>
        <p:nvSpPr>
          <p:cNvPr id="84" name="Text 71"/>
          <p:cNvSpPr/>
          <p:nvPr/>
        </p:nvSpPr>
        <p:spPr>
          <a:xfrm>
            <a:off x="5129213" y="7529513"/>
            <a:ext cx="215903" cy="112514"/>
          </a:xfrm>
          <a:prstGeom prst="rect">
            <a:avLst/>
          </a:prstGeom>
          <a:noFill/>
          <a:ln/>
        </p:spPr>
        <p:txBody>
          <a:bodyPr wrap="none" lIns="0" tIns="0" rIns="0" bIns="0" rtlCol="0" anchor="ctr">
            <a:spAutoFit/>
          </a:bodyPr>
          <a:lstStyle/>
          <a:p>
            <a:pPr algn="l" indent="0" marL="0">
              <a:buNone/>
            </a:pPr>
            <a:r>
              <a:rPr lang="en-US" sz="788" b="1" dirty="0">
                <a:solidFill>
                  <a:srgbClr val="60A5FA"/>
                </a:solidFill>
                <a:latin typeface="Segoe UI" pitchFamily="34" charset="0"/>
                <a:ea typeface="Segoe UI" pitchFamily="34" charset="-122"/>
                <a:cs typeface="Segoe UI" pitchFamily="34" charset="-120"/>
              </a:rPr>
              <a:t>lib/</a:t>
            </a:r>
            <a:endParaRPr lang="en-US" sz="788" dirty="0"/>
          </a:p>
        </p:txBody>
      </p:sp>
      <p:sp>
        <p:nvSpPr>
          <p:cNvPr id="85" name="Text 72"/>
          <p:cNvSpPr/>
          <p:nvPr/>
        </p:nvSpPr>
        <p:spPr>
          <a:xfrm>
            <a:off x="5273678" y="7529513"/>
            <a:ext cx="1138479" cy="112514"/>
          </a:xfrm>
          <a:prstGeom prst="rect">
            <a:avLst/>
          </a:prstGeom>
          <a:noFill/>
          <a:ln/>
        </p:spPr>
        <p:txBody>
          <a:bodyPr wrap="none" lIns="0" tIns="0" rIns="0" bIns="0" rtlCol="0" anchor="ctr">
            <a:spAutoFit/>
          </a:bodyPr>
          <a:lstStyle/>
          <a:p>
            <a:pPr algn="l" indent="0" marL="0">
              <a:buNone/>
            </a:pPr>
            <a:r>
              <a:rPr lang="en-US" sz="788" dirty="0">
                <a:solidFill>
                  <a:srgbClr val="F1F5F9"/>
                </a:solidFill>
                <a:latin typeface="Segoe UI" pitchFamily="34" charset="0"/>
                <a:ea typeface="Segoe UI" pitchFamily="34" charset="-122"/>
                <a:cs typeface="Segoe UI" pitchFamily="34" charset="-120"/>
              </a:rPr>
              <a:t>- External libraries (.jar)</a:t>
            </a:r>
            <a:endParaRPr lang="en-US" sz="788" dirty="0"/>
          </a:p>
        </p:txBody>
      </p:sp>
      <p:sp>
        <p:nvSpPr>
          <p:cNvPr id="86" name="Shape 73"/>
          <p:cNvSpPr/>
          <p:nvPr/>
        </p:nvSpPr>
        <p:spPr>
          <a:xfrm>
            <a:off x="4686300" y="8115300"/>
            <a:ext cx="4000500" cy="3386138"/>
          </a:xfrm>
          <a:prstGeom prst="rect">
            <a:avLst/>
          </a:prstGeom>
          <a:solidFill>
            <a:srgbClr val="FFFFFF">
              <a:alpha val="10000"/>
            </a:srgbClr>
          </a:solidFill>
          <a:ln w="99">
            <a:solidFill>
              <a:srgbClr val="60A5FA">
                <a:alpha val="30000"/>
              </a:srgbClr>
            </a:solidFill>
            <a:prstDash val="solid"/>
          </a:ln>
        </p:spPr>
      </p:sp>
      <p:sp>
        <p:nvSpPr>
          <p:cNvPr id="87" name="Text 74"/>
          <p:cNvSpPr/>
          <p:nvPr/>
        </p:nvSpPr>
        <p:spPr>
          <a:xfrm>
            <a:off x="4857750" y="8286750"/>
            <a:ext cx="3729038" cy="228600"/>
          </a:xfrm>
          <a:prstGeom prst="rect">
            <a:avLst/>
          </a:prstGeom>
          <a:noFill/>
          <a:ln/>
        </p:spPr>
        <p:txBody>
          <a:bodyPr wrap="square" lIns="0" tIns="0" rIns="0" bIns="0" rtlCol="0" anchor="ctr">
            <a:spAutoFit/>
          </a:bodyPr>
          <a:lstStyle/>
          <a:p>
            <a:pPr indent="0" marL="0">
              <a:buNone/>
            </a:pPr>
            <a:r>
              <a:rPr lang="en-US" sz="1350" b="1" dirty="0">
                <a:solidFill>
                  <a:srgbClr val="BFDBFE"/>
                </a:solidFill>
                <a:latin typeface="Segoe UI" pitchFamily="34" charset="0"/>
                <a:ea typeface="Segoe UI" pitchFamily="34" charset="-122"/>
                <a:cs typeface="Segoe UI" pitchFamily="34" charset="-120"/>
              </a:rPr>
              <a:t>Project Settings</a:t>
            </a:r>
            <a:endParaRPr lang="en-US" sz="1350" dirty="0"/>
          </a:p>
        </p:txBody>
      </p:sp>
      <p:sp>
        <p:nvSpPr>
          <p:cNvPr id="88" name="Shape 75"/>
          <p:cNvSpPr/>
          <p:nvPr/>
        </p:nvSpPr>
        <p:spPr>
          <a:xfrm>
            <a:off x="4857750" y="8629650"/>
            <a:ext cx="3657600" cy="1200150"/>
          </a:xfrm>
          <a:prstGeom prst="rect">
            <a:avLst/>
          </a:prstGeom>
          <a:solidFill>
            <a:srgbClr val="1E3A8A">
              <a:alpha val="30000"/>
            </a:srgbClr>
          </a:solidFill>
          <a:ln/>
        </p:spPr>
      </p:sp>
      <p:sp>
        <p:nvSpPr>
          <p:cNvPr id="89" name="Text 76"/>
          <p:cNvSpPr/>
          <p:nvPr/>
        </p:nvSpPr>
        <p:spPr>
          <a:xfrm>
            <a:off x="4972050" y="8743950"/>
            <a:ext cx="3500438" cy="200025"/>
          </a:xfrm>
          <a:prstGeom prst="rect">
            <a:avLst/>
          </a:prstGeom>
          <a:noFill/>
          <a:ln/>
        </p:spPr>
        <p:txBody>
          <a:bodyPr wrap="square" lIns="0" tIns="0" rIns="0" bIns="0" rtlCol="0" anchor="ctr">
            <a:spAutoFit/>
          </a:bodyPr>
          <a:lstStyle/>
          <a:p>
            <a:pPr indent="0" marL="0">
              <a:buNone/>
            </a:pPr>
            <a:r>
              <a:rPr lang="en-US" sz="1125" b="1" dirty="0">
                <a:solidFill>
                  <a:srgbClr val="F1F5F9"/>
                </a:solidFill>
                <a:latin typeface="Segoe UI" pitchFamily="34" charset="0"/>
                <a:ea typeface="Segoe UI" pitchFamily="34" charset="-122"/>
                <a:cs typeface="Segoe UI" pitchFamily="34" charset="-120"/>
              </a:rPr>
              <a:t>Java Project Configuration</a:t>
            </a:r>
            <a:endParaRPr lang="en-US" sz="1125" dirty="0"/>
          </a:p>
        </p:txBody>
      </p:sp>
      <p:sp>
        <p:nvSpPr>
          <p:cNvPr id="90" name="Text 77"/>
          <p:cNvSpPr/>
          <p:nvPr/>
        </p:nvSpPr>
        <p:spPr>
          <a:xfrm>
            <a:off x="4972050" y="9001125"/>
            <a:ext cx="3500438" cy="171450"/>
          </a:xfrm>
          <a:prstGeom prst="rect">
            <a:avLst/>
          </a:prstGeom>
          <a:noFill/>
          <a:ln/>
        </p:spPr>
        <p:txBody>
          <a:bodyPr wrap="square" lIns="0" tIns="0" rIns="0" bIns="0" rtlCol="0" anchor="ctr">
            <a:spAutoFit/>
          </a:bodyPr>
          <a:lstStyle/>
          <a:p>
            <a:pPr indent="0" marL="0">
              <a:buNone/>
            </a:pPr>
            <a:r>
              <a:rPr lang="en-US" sz="900" dirty="0">
                <a:solidFill>
                  <a:srgbClr val="F1F5F9"/>
                </a:solidFill>
                <a:latin typeface="Segoe UI" pitchFamily="34" charset="0"/>
                <a:ea typeface="Segoe UI" pitchFamily="34" charset="-122"/>
                <a:cs typeface="Segoe UI" pitchFamily="34" charset="-120"/>
              </a:rPr>
              <a:t>VS Code creates a .vscode folder with configuration files:</a:t>
            </a:r>
            <a:endParaRPr lang="en-US" sz="900" dirty="0"/>
          </a:p>
        </p:txBody>
      </p:sp>
      <p:pic>
        <p:nvPicPr>
          <p:cNvPr id="91" name="Image 11" descr="preencoded.png">    </p:cNvPr>
          <p:cNvPicPr>
            <a:picLocks noChangeAspect="1"/>
          </p:cNvPicPr>
          <p:nvPr/>
        </p:nvPicPr>
        <p:blipFill>
          <a:blip r:embed="rId12"/>
          <a:stretch>
            <a:fillRect/>
          </a:stretch>
        </p:blipFill>
        <p:spPr>
          <a:xfrm>
            <a:off x="4972050" y="9258300"/>
            <a:ext cx="75009" cy="100013"/>
          </a:xfrm>
          <a:prstGeom prst="rect">
            <a:avLst/>
          </a:prstGeom>
        </p:spPr>
      </p:pic>
      <p:sp>
        <p:nvSpPr>
          <p:cNvPr id="92" name="Text 78"/>
          <p:cNvSpPr/>
          <p:nvPr/>
        </p:nvSpPr>
        <p:spPr>
          <a:xfrm>
            <a:off x="5104209" y="9244013"/>
            <a:ext cx="688284" cy="112514"/>
          </a:xfrm>
          <a:prstGeom prst="rect">
            <a:avLst/>
          </a:prstGeom>
          <a:noFill/>
          <a:ln/>
        </p:spPr>
        <p:txBody>
          <a:bodyPr wrap="none" lIns="0" tIns="0" rIns="0" bIns="0" rtlCol="0" anchor="ctr">
            <a:spAutoFit/>
          </a:bodyPr>
          <a:lstStyle/>
          <a:p>
            <a:pPr algn="l" indent="0" marL="0">
              <a:buNone/>
            </a:pPr>
            <a:r>
              <a:rPr lang="en-US" sz="788" b="1" dirty="0">
                <a:solidFill>
                  <a:srgbClr val="60A5FA"/>
                </a:solidFill>
                <a:latin typeface="Segoe UI" pitchFamily="34" charset="0"/>
                <a:ea typeface="Segoe UI" pitchFamily="34" charset="-122"/>
                <a:cs typeface="Segoe UI" pitchFamily="34" charset="-120"/>
              </a:rPr>
              <a:t>settings.json</a:t>
            </a:r>
            <a:endParaRPr lang="en-US" sz="788" dirty="0"/>
          </a:p>
        </p:txBody>
      </p:sp>
      <p:sp>
        <p:nvSpPr>
          <p:cNvPr id="93" name="Text 79"/>
          <p:cNvSpPr/>
          <p:nvPr/>
        </p:nvSpPr>
        <p:spPr>
          <a:xfrm>
            <a:off x="5721055" y="9244013"/>
            <a:ext cx="1210838" cy="112514"/>
          </a:xfrm>
          <a:prstGeom prst="rect">
            <a:avLst/>
          </a:prstGeom>
          <a:noFill/>
          <a:ln/>
        </p:spPr>
        <p:txBody>
          <a:bodyPr wrap="none" lIns="0" tIns="0" rIns="0" bIns="0" rtlCol="0" anchor="ctr">
            <a:spAutoFit/>
          </a:bodyPr>
          <a:lstStyle/>
          <a:p>
            <a:pPr algn="l" indent="0" marL="0">
              <a:buNone/>
            </a:pPr>
            <a:r>
              <a:rPr lang="en-US" sz="788" dirty="0">
                <a:solidFill>
                  <a:srgbClr val="F1F5F9"/>
                </a:solidFill>
                <a:latin typeface="Segoe UI" pitchFamily="34" charset="0"/>
                <a:ea typeface="Segoe UI" pitchFamily="34" charset="-122"/>
                <a:cs typeface="Segoe UI" pitchFamily="34" charset="-120"/>
              </a:rPr>
              <a:t>- Project-specific settings</a:t>
            </a:r>
            <a:endParaRPr lang="en-US" sz="788" dirty="0"/>
          </a:p>
        </p:txBody>
      </p:sp>
      <p:pic>
        <p:nvPicPr>
          <p:cNvPr id="94" name="Image 12" descr="preencoded.png">    </p:cNvPr>
          <p:cNvPicPr>
            <a:picLocks noChangeAspect="1"/>
          </p:cNvPicPr>
          <p:nvPr/>
        </p:nvPicPr>
        <p:blipFill>
          <a:blip r:embed="rId13"/>
          <a:stretch>
            <a:fillRect/>
          </a:stretch>
        </p:blipFill>
        <p:spPr>
          <a:xfrm>
            <a:off x="4972050" y="9429750"/>
            <a:ext cx="75009" cy="100013"/>
          </a:xfrm>
          <a:prstGeom prst="rect">
            <a:avLst/>
          </a:prstGeom>
        </p:spPr>
      </p:pic>
      <p:sp>
        <p:nvSpPr>
          <p:cNvPr id="95" name="Text 80"/>
          <p:cNvSpPr/>
          <p:nvPr/>
        </p:nvSpPr>
        <p:spPr>
          <a:xfrm>
            <a:off x="5104209" y="9415463"/>
            <a:ext cx="627143" cy="112514"/>
          </a:xfrm>
          <a:prstGeom prst="rect">
            <a:avLst/>
          </a:prstGeom>
          <a:noFill/>
          <a:ln/>
        </p:spPr>
        <p:txBody>
          <a:bodyPr wrap="none" lIns="0" tIns="0" rIns="0" bIns="0" rtlCol="0" anchor="ctr">
            <a:spAutoFit/>
          </a:bodyPr>
          <a:lstStyle/>
          <a:p>
            <a:pPr algn="l" indent="0" marL="0">
              <a:buNone/>
            </a:pPr>
            <a:r>
              <a:rPr lang="en-US" sz="788" b="1" dirty="0">
                <a:solidFill>
                  <a:srgbClr val="60A5FA"/>
                </a:solidFill>
                <a:latin typeface="Segoe UI" pitchFamily="34" charset="0"/>
                <a:ea typeface="Segoe UI" pitchFamily="34" charset="-122"/>
                <a:cs typeface="Segoe UI" pitchFamily="34" charset="-120"/>
              </a:rPr>
              <a:t>launch.json</a:t>
            </a:r>
            <a:endParaRPr lang="en-US" sz="788" dirty="0"/>
          </a:p>
        </p:txBody>
      </p:sp>
      <p:sp>
        <p:nvSpPr>
          <p:cNvPr id="96" name="Text 81"/>
          <p:cNvSpPr/>
          <p:nvPr/>
        </p:nvSpPr>
        <p:spPr>
          <a:xfrm>
            <a:off x="5659915" y="9415463"/>
            <a:ext cx="1055517" cy="112514"/>
          </a:xfrm>
          <a:prstGeom prst="rect">
            <a:avLst/>
          </a:prstGeom>
          <a:noFill/>
          <a:ln/>
        </p:spPr>
        <p:txBody>
          <a:bodyPr wrap="none" lIns="0" tIns="0" rIns="0" bIns="0" rtlCol="0" anchor="ctr">
            <a:spAutoFit/>
          </a:bodyPr>
          <a:lstStyle/>
          <a:p>
            <a:pPr algn="l" indent="0" marL="0">
              <a:buNone/>
            </a:pPr>
            <a:r>
              <a:rPr lang="en-US" sz="788" dirty="0">
                <a:solidFill>
                  <a:srgbClr val="F1F5F9"/>
                </a:solidFill>
                <a:latin typeface="Segoe UI" pitchFamily="34" charset="0"/>
                <a:ea typeface="Segoe UI" pitchFamily="34" charset="-122"/>
                <a:cs typeface="Segoe UI" pitchFamily="34" charset="-120"/>
              </a:rPr>
              <a:t>- Debug configuration</a:t>
            </a:r>
            <a:endParaRPr lang="en-US" sz="788" dirty="0"/>
          </a:p>
        </p:txBody>
      </p:sp>
      <p:pic>
        <p:nvPicPr>
          <p:cNvPr id="97" name="Image 13" descr="preencoded.png">    </p:cNvPr>
          <p:cNvPicPr>
            <a:picLocks noChangeAspect="1"/>
          </p:cNvPicPr>
          <p:nvPr/>
        </p:nvPicPr>
        <p:blipFill>
          <a:blip r:embed="rId14"/>
          <a:stretch>
            <a:fillRect/>
          </a:stretch>
        </p:blipFill>
        <p:spPr>
          <a:xfrm>
            <a:off x="4972050" y="9601200"/>
            <a:ext cx="75009" cy="100013"/>
          </a:xfrm>
          <a:prstGeom prst="rect">
            <a:avLst/>
          </a:prstGeom>
        </p:spPr>
      </p:pic>
      <p:sp>
        <p:nvSpPr>
          <p:cNvPr id="98" name="Text 82"/>
          <p:cNvSpPr/>
          <p:nvPr/>
        </p:nvSpPr>
        <p:spPr>
          <a:xfrm>
            <a:off x="5104209" y="9586913"/>
            <a:ext cx="560617" cy="112514"/>
          </a:xfrm>
          <a:prstGeom prst="rect">
            <a:avLst/>
          </a:prstGeom>
          <a:noFill/>
          <a:ln/>
        </p:spPr>
        <p:txBody>
          <a:bodyPr wrap="none" lIns="0" tIns="0" rIns="0" bIns="0" rtlCol="0" anchor="ctr">
            <a:spAutoFit/>
          </a:bodyPr>
          <a:lstStyle/>
          <a:p>
            <a:pPr algn="l" indent="0" marL="0">
              <a:buNone/>
            </a:pPr>
            <a:r>
              <a:rPr lang="en-US" sz="788" b="1" dirty="0">
                <a:solidFill>
                  <a:srgbClr val="60A5FA"/>
                </a:solidFill>
                <a:latin typeface="Segoe UI" pitchFamily="34" charset="0"/>
                <a:ea typeface="Segoe UI" pitchFamily="34" charset="-122"/>
                <a:cs typeface="Segoe UI" pitchFamily="34" charset="-120"/>
              </a:rPr>
              <a:t>tasks.json</a:t>
            </a:r>
            <a:endParaRPr lang="en-US" sz="788" dirty="0"/>
          </a:p>
        </p:txBody>
      </p:sp>
      <p:sp>
        <p:nvSpPr>
          <p:cNvPr id="99" name="Text 83"/>
          <p:cNvSpPr/>
          <p:nvPr/>
        </p:nvSpPr>
        <p:spPr>
          <a:xfrm>
            <a:off x="5593389" y="9586913"/>
            <a:ext cx="643942" cy="112514"/>
          </a:xfrm>
          <a:prstGeom prst="rect">
            <a:avLst/>
          </a:prstGeom>
          <a:noFill/>
          <a:ln/>
        </p:spPr>
        <p:txBody>
          <a:bodyPr wrap="none" lIns="0" tIns="0" rIns="0" bIns="0" rtlCol="0" anchor="ctr">
            <a:spAutoFit/>
          </a:bodyPr>
          <a:lstStyle/>
          <a:p>
            <a:pPr algn="l" indent="0" marL="0">
              <a:buNone/>
            </a:pPr>
            <a:r>
              <a:rPr lang="en-US" sz="788" dirty="0">
                <a:solidFill>
                  <a:srgbClr val="F1F5F9"/>
                </a:solidFill>
                <a:latin typeface="Segoe UI" pitchFamily="34" charset="0"/>
                <a:ea typeface="Segoe UI" pitchFamily="34" charset="-122"/>
                <a:cs typeface="Segoe UI" pitchFamily="34" charset="-120"/>
              </a:rPr>
              <a:t>- Build tasks</a:t>
            </a:r>
            <a:endParaRPr lang="en-US" sz="788" dirty="0"/>
          </a:p>
        </p:txBody>
      </p:sp>
      <p:sp>
        <p:nvSpPr>
          <p:cNvPr id="100" name="Shape 84"/>
          <p:cNvSpPr/>
          <p:nvPr/>
        </p:nvSpPr>
        <p:spPr>
          <a:xfrm>
            <a:off x="4857750" y="9944100"/>
            <a:ext cx="3657600" cy="1371600"/>
          </a:xfrm>
          <a:prstGeom prst="rect">
            <a:avLst/>
          </a:prstGeom>
          <a:solidFill>
            <a:srgbClr val="1E3A8A">
              <a:alpha val="30000"/>
            </a:srgbClr>
          </a:solidFill>
          <a:ln/>
        </p:spPr>
      </p:sp>
      <p:sp>
        <p:nvSpPr>
          <p:cNvPr id="101" name="Text 85"/>
          <p:cNvSpPr/>
          <p:nvPr/>
        </p:nvSpPr>
        <p:spPr>
          <a:xfrm>
            <a:off x="4972050" y="10058400"/>
            <a:ext cx="3500438" cy="200025"/>
          </a:xfrm>
          <a:prstGeom prst="rect">
            <a:avLst/>
          </a:prstGeom>
          <a:noFill/>
          <a:ln/>
        </p:spPr>
        <p:txBody>
          <a:bodyPr wrap="square" lIns="0" tIns="0" rIns="0" bIns="0" rtlCol="0" anchor="ctr">
            <a:spAutoFit/>
          </a:bodyPr>
          <a:lstStyle/>
          <a:p>
            <a:pPr indent="0" marL="0">
              <a:buNone/>
            </a:pPr>
            <a:r>
              <a:rPr lang="en-US" sz="1125" b="1" dirty="0">
                <a:solidFill>
                  <a:srgbClr val="F1F5F9"/>
                </a:solidFill>
                <a:latin typeface="Segoe UI" pitchFamily="34" charset="0"/>
                <a:ea typeface="Segoe UI" pitchFamily="34" charset="-122"/>
                <a:cs typeface="Segoe UI" pitchFamily="34" charset="-120"/>
              </a:rPr>
              <a:t>Classpath Configuration</a:t>
            </a:r>
            <a:endParaRPr lang="en-US" sz="1125" dirty="0"/>
          </a:p>
        </p:txBody>
      </p:sp>
      <p:sp>
        <p:nvSpPr>
          <p:cNvPr id="102" name="Text 86"/>
          <p:cNvSpPr/>
          <p:nvPr/>
        </p:nvSpPr>
        <p:spPr>
          <a:xfrm>
            <a:off x="4972050" y="10315575"/>
            <a:ext cx="3500438" cy="171450"/>
          </a:xfrm>
          <a:prstGeom prst="rect">
            <a:avLst/>
          </a:prstGeom>
          <a:noFill/>
          <a:ln/>
        </p:spPr>
        <p:txBody>
          <a:bodyPr wrap="square" lIns="0" tIns="0" rIns="0" bIns="0" rtlCol="0" anchor="ctr">
            <a:spAutoFit/>
          </a:bodyPr>
          <a:lstStyle/>
          <a:p>
            <a:pPr indent="0" marL="0">
              <a:buNone/>
            </a:pPr>
            <a:r>
              <a:rPr lang="en-US" sz="900" dirty="0">
                <a:solidFill>
                  <a:srgbClr val="F1F5F9"/>
                </a:solidFill>
                <a:latin typeface="Segoe UI" pitchFamily="34" charset="0"/>
                <a:ea typeface="Segoe UI" pitchFamily="34" charset="-122"/>
                <a:cs typeface="Segoe UI" pitchFamily="34" charset="-120"/>
              </a:rPr>
              <a:t>If you need to add external libraries:</a:t>
            </a:r>
            <a:endParaRPr lang="en-US" sz="900" dirty="0"/>
          </a:p>
        </p:txBody>
      </p:sp>
      <p:sp>
        <p:nvSpPr>
          <p:cNvPr id="103" name="Text 87"/>
          <p:cNvSpPr/>
          <p:nvPr/>
        </p:nvSpPr>
        <p:spPr>
          <a:xfrm>
            <a:off x="5086350" y="10544175"/>
            <a:ext cx="3386138" cy="142875"/>
          </a:xfrm>
          <a:prstGeom prst="rect">
            <a:avLst/>
          </a:prstGeom>
          <a:noFill/>
          <a:ln/>
        </p:spPr>
        <p:txBody>
          <a:bodyPr wrap="square" lIns="0" tIns="0" rIns="0" bIns="0" rtlCol="0" anchor="ctr">
            <a:spAutoFit/>
          </a:bodyPr>
          <a:lstStyle/>
          <a:p>
            <a:pPr algn="l" indent="0" marL="0">
              <a:buNone/>
            </a:pPr>
            <a:r>
              <a:rPr lang="en-US" sz="788" dirty="0">
                <a:solidFill>
                  <a:srgbClr val="F1F5F9"/>
                </a:solidFill>
                <a:latin typeface="Segoe UI" pitchFamily="34" charset="0"/>
                <a:ea typeface="Segoe UI" pitchFamily="34" charset="-122"/>
                <a:cs typeface="Segoe UI" pitchFamily="34" charset="-120"/>
              </a:rPr>
              <a:t>Create a "lib" folder in your project</a:t>
            </a:r>
            <a:endParaRPr lang="en-US" sz="788" dirty="0"/>
          </a:p>
        </p:txBody>
      </p:sp>
      <p:sp>
        <p:nvSpPr>
          <p:cNvPr id="104" name="Text 88"/>
          <p:cNvSpPr/>
          <p:nvPr/>
        </p:nvSpPr>
        <p:spPr>
          <a:xfrm>
            <a:off x="5086350" y="10715625"/>
            <a:ext cx="3386138" cy="142875"/>
          </a:xfrm>
          <a:prstGeom prst="rect">
            <a:avLst/>
          </a:prstGeom>
          <a:noFill/>
          <a:ln/>
        </p:spPr>
        <p:txBody>
          <a:bodyPr wrap="square" lIns="0" tIns="0" rIns="0" bIns="0" rtlCol="0" anchor="ctr">
            <a:spAutoFit/>
          </a:bodyPr>
          <a:lstStyle/>
          <a:p>
            <a:pPr algn="l" indent="0" marL="0">
              <a:buNone/>
            </a:pPr>
            <a:r>
              <a:rPr lang="en-US" sz="788" dirty="0">
                <a:solidFill>
                  <a:srgbClr val="F1F5F9"/>
                </a:solidFill>
                <a:latin typeface="Segoe UI" pitchFamily="34" charset="0"/>
                <a:ea typeface="Segoe UI" pitchFamily="34" charset="-122"/>
                <a:cs typeface="Segoe UI" pitchFamily="34" charset="-120"/>
              </a:rPr>
              <a:t>Add .jar files to the lib folder</a:t>
            </a:r>
            <a:endParaRPr lang="en-US" sz="788" dirty="0"/>
          </a:p>
        </p:txBody>
      </p:sp>
      <p:sp>
        <p:nvSpPr>
          <p:cNvPr id="105" name="Text 89"/>
          <p:cNvSpPr/>
          <p:nvPr/>
        </p:nvSpPr>
        <p:spPr>
          <a:xfrm>
            <a:off x="5086350" y="10887075"/>
            <a:ext cx="3386138" cy="142875"/>
          </a:xfrm>
          <a:prstGeom prst="rect">
            <a:avLst/>
          </a:prstGeom>
          <a:noFill/>
          <a:ln/>
        </p:spPr>
        <p:txBody>
          <a:bodyPr wrap="square" lIns="0" tIns="0" rIns="0" bIns="0" rtlCol="0" anchor="ctr">
            <a:spAutoFit/>
          </a:bodyPr>
          <a:lstStyle/>
          <a:p>
            <a:pPr algn="l" indent="0" marL="0">
              <a:buNone/>
            </a:pPr>
            <a:r>
              <a:rPr lang="en-US" sz="788" dirty="0">
                <a:solidFill>
                  <a:srgbClr val="F1F5F9"/>
                </a:solidFill>
                <a:latin typeface="Segoe UI" pitchFamily="34" charset="0"/>
                <a:ea typeface="Segoe UI" pitchFamily="34" charset="-122"/>
                <a:cs typeface="Segoe UI" pitchFamily="34" charset="-120"/>
              </a:rPr>
              <a:t>Right-click on the .jar file</a:t>
            </a:r>
            <a:endParaRPr lang="en-US" sz="788" dirty="0"/>
          </a:p>
        </p:txBody>
      </p:sp>
      <p:sp>
        <p:nvSpPr>
          <p:cNvPr id="106" name="Text 90"/>
          <p:cNvSpPr/>
          <p:nvPr/>
        </p:nvSpPr>
        <p:spPr>
          <a:xfrm>
            <a:off x="5086350" y="11058525"/>
            <a:ext cx="3386138" cy="142875"/>
          </a:xfrm>
          <a:prstGeom prst="rect">
            <a:avLst/>
          </a:prstGeom>
          <a:noFill/>
          <a:ln/>
        </p:spPr>
        <p:txBody>
          <a:bodyPr wrap="square" lIns="0" tIns="0" rIns="0" bIns="0" rtlCol="0" anchor="ctr">
            <a:spAutoFit/>
          </a:bodyPr>
          <a:lstStyle/>
          <a:p>
            <a:pPr algn="l" indent="0" marL="0">
              <a:buNone/>
            </a:pPr>
            <a:r>
              <a:rPr lang="en-US" sz="788" dirty="0">
                <a:solidFill>
                  <a:srgbClr val="F1F5F9"/>
                </a:solidFill>
                <a:latin typeface="Segoe UI" pitchFamily="34" charset="0"/>
                <a:ea typeface="Segoe UI" pitchFamily="34" charset="-122"/>
                <a:cs typeface="Segoe UI" pitchFamily="34" charset="-120"/>
              </a:rPr>
              <a:t>Select "Add to Java Project Classpath"</a:t>
            </a:r>
            <a:endParaRPr lang="en-US" sz="788" dirty="0"/>
          </a:p>
        </p:txBody>
      </p:sp>
      <p:sp>
        <p:nvSpPr>
          <p:cNvPr id="107" name="Shape 91"/>
          <p:cNvSpPr/>
          <p:nvPr/>
        </p:nvSpPr>
        <p:spPr>
          <a:xfrm>
            <a:off x="457200" y="11715750"/>
            <a:ext cx="8229600" cy="2443163"/>
          </a:xfrm>
          <a:prstGeom prst="rect">
            <a:avLst/>
          </a:prstGeom>
          <a:solidFill>
            <a:srgbClr val="FFFFFF">
              <a:alpha val="10000"/>
            </a:srgbClr>
          </a:solidFill>
          <a:ln w="99">
            <a:solidFill>
              <a:srgbClr val="60A5FA">
                <a:alpha val="30000"/>
              </a:srgbClr>
            </a:solidFill>
            <a:prstDash val="solid"/>
          </a:ln>
        </p:spPr>
      </p:sp>
      <p:sp>
        <p:nvSpPr>
          <p:cNvPr id="108" name="Text 92"/>
          <p:cNvSpPr/>
          <p:nvPr/>
        </p:nvSpPr>
        <p:spPr>
          <a:xfrm>
            <a:off x="628650" y="11887200"/>
            <a:ext cx="7958138" cy="228600"/>
          </a:xfrm>
          <a:prstGeom prst="rect">
            <a:avLst/>
          </a:prstGeom>
          <a:noFill/>
          <a:ln/>
        </p:spPr>
        <p:txBody>
          <a:bodyPr wrap="square" lIns="0" tIns="0" rIns="0" bIns="0" rtlCol="0" anchor="ctr">
            <a:spAutoFit/>
          </a:bodyPr>
          <a:lstStyle/>
          <a:p>
            <a:pPr indent="0" marL="0">
              <a:buNone/>
            </a:pPr>
            <a:r>
              <a:rPr lang="en-US" sz="1350" b="1" dirty="0">
                <a:solidFill>
                  <a:srgbClr val="BFDBFE"/>
                </a:solidFill>
                <a:latin typeface="Segoe UI" pitchFamily="34" charset="0"/>
                <a:ea typeface="Segoe UI" pitchFamily="34" charset="-122"/>
                <a:cs typeface="Segoe UI" pitchFamily="34" charset="-120"/>
              </a:rPr>
              <a:t>Project Explorer and Navigation</a:t>
            </a:r>
            <a:endParaRPr lang="en-US" sz="1350" dirty="0"/>
          </a:p>
        </p:txBody>
      </p:sp>
      <p:sp>
        <p:nvSpPr>
          <p:cNvPr id="109" name="Shape 93"/>
          <p:cNvSpPr/>
          <p:nvPr/>
        </p:nvSpPr>
        <p:spPr>
          <a:xfrm>
            <a:off x="628650" y="12230100"/>
            <a:ext cx="2514600" cy="1000125"/>
          </a:xfrm>
          <a:prstGeom prst="rect">
            <a:avLst/>
          </a:prstGeom>
          <a:solidFill>
            <a:srgbClr val="1E3A8A">
              <a:alpha val="30000"/>
            </a:srgbClr>
          </a:solidFill>
          <a:ln/>
        </p:spPr>
      </p:sp>
      <p:sp>
        <p:nvSpPr>
          <p:cNvPr id="110" name="Text 94"/>
          <p:cNvSpPr/>
          <p:nvPr/>
        </p:nvSpPr>
        <p:spPr>
          <a:xfrm>
            <a:off x="742950" y="12344400"/>
            <a:ext cx="2357438" cy="200025"/>
          </a:xfrm>
          <a:prstGeom prst="rect">
            <a:avLst/>
          </a:prstGeom>
          <a:noFill/>
          <a:ln/>
        </p:spPr>
        <p:txBody>
          <a:bodyPr wrap="square" lIns="0" tIns="0" rIns="0" bIns="0" rtlCol="0" anchor="ctr">
            <a:spAutoFit/>
          </a:bodyPr>
          <a:lstStyle/>
          <a:p>
            <a:pPr indent="0" marL="0">
              <a:buNone/>
            </a:pPr>
            <a:r>
              <a:rPr lang="en-US" sz="1125" b="1" dirty="0">
                <a:solidFill>
                  <a:srgbClr val="F1F5F9"/>
                </a:solidFill>
                <a:latin typeface="Segoe UI" pitchFamily="34" charset="0"/>
                <a:ea typeface="Segoe UI" pitchFamily="34" charset="-122"/>
                <a:cs typeface="Segoe UI" pitchFamily="34" charset="-120"/>
              </a:rPr>
              <a:t>Explorer View</a:t>
            </a:r>
            <a:endParaRPr lang="en-US" sz="1125" dirty="0"/>
          </a:p>
        </p:txBody>
      </p:sp>
      <p:pic>
        <p:nvPicPr>
          <p:cNvPr id="111" name="Image 14" descr="preencoded.png">    </p:cNvPr>
          <p:cNvPicPr>
            <a:picLocks noChangeAspect="1"/>
          </p:cNvPicPr>
          <p:nvPr/>
        </p:nvPicPr>
        <p:blipFill>
          <a:blip r:embed="rId15"/>
          <a:stretch>
            <a:fillRect/>
          </a:stretch>
        </p:blipFill>
        <p:spPr>
          <a:xfrm>
            <a:off x="742950" y="12658725"/>
            <a:ext cx="112514" cy="100013"/>
          </a:xfrm>
          <a:prstGeom prst="rect">
            <a:avLst/>
          </a:prstGeom>
        </p:spPr>
      </p:pic>
      <p:sp>
        <p:nvSpPr>
          <p:cNvPr id="112" name="Text 95"/>
          <p:cNvSpPr/>
          <p:nvPr/>
        </p:nvSpPr>
        <p:spPr>
          <a:xfrm>
            <a:off x="912614" y="12630150"/>
            <a:ext cx="1288638" cy="142875"/>
          </a:xfrm>
          <a:prstGeom prst="rect">
            <a:avLst/>
          </a:prstGeom>
          <a:noFill/>
          <a:ln/>
        </p:spPr>
        <p:txBody>
          <a:bodyPr wrap="square" lIns="0" tIns="0" rIns="0" bIns="0" rtlCol="0" anchor="ctr">
            <a:spAutoFit/>
          </a:bodyPr>
          <a:lstStyle/>
          <a:p>
            <a:pPr algn="l" indent="0" marL="0">
              <a:buNone/>
            </a:pPr>
            <a:r>
              <a:rPr lang="en-US" sz="788" dirty="0">
                <a:solidFill>
                  <a:srgbClr val="F1F5F9"/>
                </a:solidFill>
                <a:latin typeface="Segoe UI" pitchFamily="34" charset="0"/>
                <a:ea typeface="Segoe UI" pitchFamily="34" charset="-122"/>
                <a:cs typeface="Segoe UI" pitchFamily="34" charset="-120"/>
              </a:rPr>
              <a:t>Shows file system structure</a:t>
            </a:r>
            <a:endParaRPr lang="en-US" sz="788" dirty="0"/>
          </a:p>
        </p:txBody>
      </p:sp>
      <p:pic>
        <p:nvPicPr>
          <p:cNvPr id="113" name="Image 15" descr="preencoded.png">    </p:cNvPr>
          <p:cNvPicPr>
            <a:picLocks noChangeAspect="1"/>
          </p:cNvPicPr>
          <p:nvPr/>
        </p:nvPicPr>
        <p:blipFill>
          <a:blip r:embed="rId16"/>
          <a:stretch>
            <a:fillRect/>
          </a:stretch>
        </p:blipFill>
        <p:spPr>
          <a:xfrm>
            <a:off x="742950" y="12830175"/>
            <a:ext cx="112514" cy="100013"/>
          </a:xfrm>
          <a:prstGeom prst="rect">
            <a:avLst/>
          </a:prstGeom>
        </p:spPr>
      </p:pic>
      <p:sp>
        <p:nvSpPr>
          <p:cNvPr id="114" name="Text 96"/>
          <p:cNvSpPr/>
          <p:nvPr/>
        </p:nvSpPr>
        <p:spPr>
          <a:xfrm>
            <a:off x="912614" y="12801600"/>
            <a:ext cx="1300023" cy="142875"/>
          </a:xfrm>
          <a:prstGeom prst="rect">
            <a:avLst/>
          </a:prstGeom>
          <a:noFill/>
          <a:ln/>
        </p:spPr>
        <p:txBody>
          <a:bodyPr wrap="square" lIns="0" tIns="0" rIns="0" bIns="0" rtlCol="0" anchor="ctr">
            <a:spAutoFit/>
          </a:bodyPr>
          <a:lstStyle/>
          <a:p>
            <a:pPr algn="l" indent="0" marL="0">
              <a:buNone/>
            </a:pPr>
            <a:r>
              <a:rPr lang="en-US" sz="788" dirty="0">
                <a:solidFill>
                  <a:srgbClr val="F1F5F9"/>
                </a:solidFill>
                <a:latin typeface="Segoe UI" pitchFamily="34" charset="0"/>
                <a:ea typeface="Segoe UI" pitchFamily="34" charset="-122"/>
                <a:cs typeface="Segoe UI" pitchFamily="34" charset="-120"/>
              </a:rPr>
              <a:t>Create, rename, delete files</a:t>
            </a:r>
            <a:endParaRPr lang="en-US" sz="788" dirty="0"/>
          </a:p>
        </p:txBody>
      </p:sp>
      <p:pic>
        <p:nvPicPr>
          <p:cNvPr id="115" name="Image 16" descr="preencoded.png">    </p:cNvPr>
          <p:cNvPicPr>
            <a:picLocks noChangeAspect="1"/>
          </p:cNvPicPr>
          <p:nvPr/>
        </p:nvPicPr>
        <p:blipFill>
          <a:blip r:embed="rId17"/>
          <a:stretch>
            <a:fillRect/>
          </a:stretch>
        </p:blipFill>
        <p:spPr>
          <a:xfrm>
            <a:off x="742950" y="13001625"/>
            <a:ext cx="112514" cy="100013"/>
          </a:xfrm>
          <a:prstGeom prst="rect">
            <a:avLst/>
          </a:prstGeom>
        </p:spPr>
      </p:pic>
      <p:sp>
        <p:nvSpPr>
          <p:cNvPr id="116" name="Text 97"/>
          <p:cNvSpPr/>
          <p:nvPr/>
        </p:nvSpPr>
        <p:spPr>
          <a:xfrm>
            <a:off x="912614" y="12973050"/>
            <a:ext cx="1116490" cy="142875"/>
          </a:xfrm>
          <a:prstGeom prst="rect">
            <a:avLst/>
          </a:prstGeom>
          <a:noFill/>
          <a:ln/>
        </p:spPr>
        <p:txBody>
          <a:bodyPr wrap="none" lIns="0" tIns="0" rIns="0" bIns="0" rtlCol="0" anchor="ctr">
            <a:spAutoFit/>
          </a:bodyPr>
          <a:lstStyle/>
          <a:p>
            <a:pPr algn="l" indent="0" marL="0">
              <a:buNone/>
            </a:pPr>
            <a:r>
              <a:rPr lang="en-US" sz="788" dirty="0">
                <a:solidFill>
                  <a:srgbClr val="F1F5F9"/>
                </a:solidFill>
                <a:latin typeface="Segoe UI" pitchFamily="34" charset="0"/>
                <a:ea typeface="Segoe UI" pitchFamily="34" charset="-122"/>
                <a:cs typeface="Segoe UI" pitchFamily="34" charset="-120"/>
              </a:rPr>
              <a:t>Organize files in folders</a:t>
            </a:r>
            <a:endParaRPr lang="en-US" sz="788" dirty="0"/>
          </a:p>
        </p:txBody>
      </p:sp>
      <p:sp>
        <p:nvSpPr>
          <p:cNvPr id="117" name="Shape 98"/>
          <p:cNvSpPr/>
          <p:nvPr/>
        </p:nvSpPr>
        <p:spPr>
          <a:xfrm>
            <a:off x="3314700" y="12230100"/>
            <a:ext cx="2514600" cy="1000125"/>
          </a:xfrm>
          <a:prstGeom prst="rect">
            <a:avLst/>
          </a:prstGeom>
          <a:solidFill>
            <a:srgbClr val="1E3A8A">
              <a:alpha val="30000"/>
            </a:srgbClr>
          </a:solidFill>
          <a:ln/>
        </p:spPr>
      </p:sp>
      <p:sp>
        <p:nvSpPr>
          <p:cNvPr id="118" name="Text 99"/>
          <p:cNvSpPr/>
          <p:nvPr/>
        </p:nvSpPr>
        <p:spPr>
          <a:xfrm>
            <a:off x="3429000" y="12344400"/>
            <a:ext cx="2357438" cy="200025"/>
          </a:xfrm>
          <a:prstGeom prst="rect">
            <a:avLst/>
          </a:prstGeom>
          <a:noFill/>
          <a:ln/>
        </p:spPr>
        <p:txBody>
          <a:bodyPr wrap="square" lIns="0" tIns="0" rIns="0" bIns="0" rtlCol="0" anchor="ctr">
            <a:spAutoFit/>
          </a:bodyPr>
          <a:lstStyle/>
          <a:p>
            <a:pPr indent="0" marL="0">
              <a:buNone/>
            </a:pPr>
            <a:r>
              <a:rPr lang="en-US" sz="1125" b="1" dirty="0">
                <a:solidFill>
                  <a:srgbClr val="F1F5F9"/>
                </a:solidFill>
                <a:latin typeface="Segoe UI" pitchFamily="34" charset="0"/>
                <a:ea typeface="Segoe UI" pitchFamily="34" charset="-122"/>
                <a:cs typeface="Segoe UI" pitchFamily="34" charset="-120"/>
              </a:rPr>
              <a:t>Java Projects View</a:t>
            </a:r>
            <a:endParaRPr lang="en-US" sz="1125" dirty="0"/>
          </a:p>
        </p:txBody>
      </p:sp>
      <p:pic>
        <p:nvPicPr>
          <p:cNvPr id="119" name="Image 17" descr="preencoded.png">    </p:cNvPr>
          <p:cNvPicPr>
            <a:picLocks noChangeAspect="1"/>
          </p:cNvPicPr>
          <p:nvPr/>
        </p:nvPicPr>
        <p:blipFill>
          <a:blip r:embed="rId18"/>
          <a:stretch>
            <a:fillRect/>
          </a:stretch>
        </p:blipFill>
        <p:spPr>
          <a:xfrm>
            <a:off x="3429000" y="12658725"/>
            <a:ext cx="112514" cy="100013"/>
          </a:xfrm>
          <a:prstGeom prst="rect">
            <a:avLst/>
          </a:prstGeom>
        </p:spPr>
      </p:pic>
      <p:sp>
        <p:nvSpPr>
          <p:cNvPr id="120" name="Text 100"/>
          <p:cNvSpPr/>
          <p:nvPr/>
        </p:nvSpPr>
        <p:spPr>
          <a:xfrm>
            <a:off x="3598664" y="12630150"/>
            <a:ext cx="1427773" cy="142875"/>
          </a:xfrm>
          <a:prstGeom prst="rect">
            <a:avLst/>
          </a:prstGeom>
          <a:noFill/>
          <a:ln/>
        </p:spPr>
        <p:txBody>
          <a:bodyPr wrap="square" lIns="0" tIns="0" rIns="0" bIns="0" rtlCol="0" anchor="ctr">
            <a:spAutoFit/>
          </a:bodyPr>
          <a:lstStyle/>
          <a:p>
            <a:pPr algn="l" indent="0" marL="0">
              <a:buNone/>
            </a:pPr>
            <a:r>
              <a:rPr lang="en-US" sz="788" dirty="0">
                <a:solidFill>
                  <a:srgbClr val="F1F5F9"/>
                </a:solidFill>
                <a:latin typeface="Segoe UI" pitchFamily="34" charset="0"/>
                <a:ea typeface="Segoe UI" pitchFamily="34" charset="-122"/>
                <a:cs typeface="Segoe UI" pitchFamily="34" charset="-120"/>
              </a:rPr>
              <a:t>Shows logical project structure</a:t>
            </a:r>
            <a:endParaRPr lang="en-US" sz="788" dirty="0"/>
          </a:p>
        </p:txBody>
      </p:sp>
      <p:pic>
        <p:nvPicPr>
          <p:cNvPr id="121" name="Image 18" descr="preencoded.png">    </p:cNvPr>
          <p:cNvPicPr>
            <a:picLocks noChangeAspect="1"/>
          </p:cNvPicPr>
          <p:nvPr/>
        </p:nvPicPr>
        <p:blipFill>
          <a:blip r:embed="rId19"/>
          <a:stretch>
            <a:fillRect/>
          </a:stretch>
        </p:blipFill>
        <p:spPr>
          <a:xfrm>
            <a:off x="3429000" y="12830175"/>
            <a:ext cx="112514" cy="100013"/>
          </a:xfrm>
          <a:prstGeom prst="rect">
            <a:avLst/>
          </a:prstGeom>
        </p:spPr>
      </p:pic>
      <p:sp>
        <p:nvSpPr>
          <p:cNvPr id="122" name="Text 101"/>
          <p:cNvSpPr/>
          <p:nvPr/>
        </p:nvSpPr>
        <p:spPr>
          <a:xfrm>
            <a:off x="3598664" y="12801600"/>
            <a:ext cx="1116602" cy="142875"/>
          </a:xfrm>
          <a:prstGeom prst="rect">
            <a:avLst/>
          </a:prstGeom>
          <a:noFill/>
          <a:ln/>
        </p:spPr>
        <p:txBody>
          <a:bodyPr wrap="none" lIns="0" tIns="0" rIns="0" bIns="0" rtlCol="0" anchor="ctr">
            <a:spAutoFit/>
          </a:bodyPr>
          <a:lstStyle/>
          <a:p>
            <a:pPr algn="l" indent="0" marL="0">
              <a:buNone/>
            </a:pPr>
            <a:r>
              <a:rPr lang="en-US" sz="788" dirty="0">
                <a:solidFill>
                  <a:srgbClr val="F1F5F9"/>
                </a:solidFill>
                <a:latin typeface="Segoe UI" pitchFamily="34" charset="0"/>
                <a:ea typeface="Segoe UI" pitchFamily="34" charset="-122"/>
                <a:cs typeface="Segoe UI" pitchFamily="34" charset="-120"/>
              </a:rPr>
              <a:t>Organizes by packages</a:t>
            </a:r>
            <a:endParaRPr lang="en-US" sz="788" dirty="0"/>
          </a:p>
        </p:txBody>
      </p:sp>
      <p:pic>
        <p:nvPicPr>
          <p:cNvPr id="123" name="Image 19" descr="preencoded.png">    </p:cNvPr>
          <p:cNvPicPr>
            <a:picLocks noChangeAspect="1"/>
          </p:cNvPicPr>
          <p:nvPr/>
        </p:nvPicPr>
        <p:blipFill>
          <a:blip r:embed="rId20"/>
          <a:stretch>
            <a:fillRect/>
          </a:stretch>
        </p:blipFill>
        <p:spPr>
          <a:xfrm>
            <a:off x="3429000" y="13001625"/>
            <a:ext cx="112514" cy="100013"/>
          </a:xfrm>
          <a:prstGeom prst="rect">
            <a:avLst/>
          </a:prstGeom>
        </p:spPr>
      </p:pic>
      <p:sp>
        <p:nvSpPr>
          <p:cNvPr id="124" name="Text 102"/>
          <p:cNvSpPr/>
          <p:nvPr/>
        </p:nvSpPr>
        <p:spPr>
          <a:xfrm>
            <a:off x="3598664" y="12973050"/>
            <a:ext cx="1022254" cy="142875"/>
          </a:xfrm>
          <a:prstGeom prst="rect">
            <a:avLst/>
          </a:prstGeom>
          <a:noFill/>
          <a:ln/>
        </p:spPr>
        <p:txBody>
          <a:bodyPr wrap="none" lIns="0" tIns="0" rIns="0" bIns="0" rtlCol="0" anchor="ctr">
            <a:spAutoFit/>
          </a:bodyPr>
          <a:lstStyle/>
          <a:p>
            <a:pPr algn="l" indent="0" marL="0">
              <a:buNone/>
            </a:pPr>
            <a:r>
              <a:rPr lang="en-US" sz="788" dirty="0">
                <a:solidFill>
                  <a:srgbClr val="F1F5F9"/>
                </a:solidFill>
                <a:latin typeface="Segoe UI" pitchFamily="34" charset="0"/>
                <a:ea typeface="Segoe UI" pitchFamily="34" charset="-122"/>
                <a:cs typeface="Segoe UI" pitchFamily="34" charset="-120"/>
              </a:rPr>
              <a:t>Shows dependencies</a:t>
            </a:r>
            <a:endParaRPr lang="en-US" sz="788" dirty="0"/>
          </a:p>
        </p:txBody>
      </p:sp>
      <p:sp>
        <p:nvSpPr>
          <p:cNvPr id="125" name="Shape 103"/>
          <p:cNvSpPr/>
          <p:nvPr/>
        </p:nvSpPr>
        <p:spPr>
          <a:xfrm>
            <a:off x="6000750" y="12230100"/>
            <a:ext cx="2514600" cy="1000125"/>
          </a:xfrm>
          <a:prstGeom prst="rect">
            <a:avLst/>
          </a:prstGeom>
          <a:solidFill>
            <a:srgbClr val="1E3A8A">
              <a:alpha val="30000"/>
            </a:srgbClr>
          </a:solidFill>
          <a:ln/>
        </p:spPr>
      </p:sp>
      <p:sp>
        <p:nvSpPr>
          <p:cNvPr id="126" name="Text 104"/>
          <p:cNvSpPr/>
          <p:nvPr/>
        </p:nvSpPr>
        <p:spPr>
          <a:xfrm>
            <a:off x="6115050" y="12344400"/>
            <a:ext cx="2357438" cy="200025"/>
          </a:xfrm>
          <a:prstGeom prst="rect">
            <a:avLst/>
          </a:prstGeom>
          <a:noFill/>
          <a:ln/>
        </p:spPr>
        <p:txBody>
          <a:bodyPr wrap="square" lIns="0" tIns="0" rIns="0" bIns="0" rtlCol="0" anchor="ctr">
            <a:spAutoFit/>
          </a:bodyPr>
          <a:lstStyle/>
          <a:p>
            <a:pPr indent="0" marL="0">
              <a:buNone/>
            </a:pPr>
            <a:r>
              <a:rPr lang="en-US" sz="1125" b="1" dirty="0">
                <a:solidFill>
                  <a:srgbClr val="F1F5F9"/>
                </a:solidFill>
                <a:latin typeface="Segoe UI" pitchFamily="34" charset="0"/>
                <a:ea typeface="Segoe UI" pitchFamily="34" charset="-122"/>
                <a:cs typeface="Segoe UI" pitchFamily="34" charset="-120"/>
              </a:rPr>
              <a:t>Outline View</a:t>
            </a:r>
            <a:endParaRPr lang="en-US" sz="1125" dirty="0"/>
          </a:p>
        </p:txBody>
      </p:sp>
      <p:pic>
        <p:nvPicPr>
          <p:cNvPr id="127" name="Image 20" descr="preencoded.png">    </p:cNvPr>
          <p:cNvPicPr>
            <a:picLocks noChangeAspect="1"/>
          </p:cNvPicPr>
          <p:nvPr/>
        </p:nvPicPr>
        <p:blipFill>
          <a:blip r:embed="rId21"/>
          <a:stretch>
            <a:fillRect/>
          </a:stretch>
        </p:blipFill>
        <p:spPr>
          <a:xfrm>
            <a:off x="6115050" y="12658725"/>
            <a:ext cx="112514" cy="100013"/>
          </a:xfrm>
          <a:prstGeom prst="rect">
            <a:avLst/>
          </a:prstGeom>
        </p:spPr>
      </p:pic>
      <p:sp>
        <p:nvSpPr>
          <p:cNvPr id="128" name="Text 105"/>
          <p:cNvSpPr/>
          <p:nvPr/>
        </p:nvSpPr>
        <p:spPr>
          <a:xfrm>
            <a:off x="6284714" y="12630150"/>
            <a:ext cx="1394371" cy="142875"/>
          </a:xfrm>
          <a:prstGeom prst="rect">
            <a:avLst/>
          </a:prstGeom>
          <a:noFill/>
          <a:ln/>
        </p:spPr>
        <p:txBody>
          <a:bodyPr wrap="square" lIns="0" tIns="0" rIns="0" bIns="0" rtlCol="0" anchor="ctr">
            <a:spAutoFit/>
          </a:bodyPr>
          <a:lstStyle/>
          <a:p>
            <a:pPr algn="l" indent="0" marL="0">
              <a:buNone/>
            </a:pPr>
            <a:r>
              <a:rPr lang="en-US" sz="788" dirty="0">
                <a:solidFill>
                  <a:srgbClr val="F1F5F9"/>
                </a:solidFill>
                <a:latin typeface="Segoe UI" pitchFamily="34" charset="0"/>
                <a:ea typeface="Segoe UI" pitchFamily="34" charset="-122"/>
                <a:cs typeface="Segoe UI" pitchFamily="34" charset="-120"/>
              </a:rPr>
              <a:t>Shows structure of current file</a:t>
            </a:r>
            <a:endParaRPr lang="en-US" sz="788" dirty="0"/>
          </a:p>
        </p:txBody>
      </p:sp>
      <p:pic>
        <p:nvPicPr>
          <p:cNvPr id="129" name="Image 21" descr="preencoded.png">    </p:cNvPr>
          <p:cNvPicPr>
            <a:picLocks noChangeAspect="1"/>
          </p:cNvPicPr>
          <p:nvPr/>
        </p:nvPicPr>
        <p:blipFill>
          <a:blip r:embed="rId22"/>
          <a:stretch>
            <a:fillRect/>
          </a:stretch>
        </p:blipFill>
        <p:spPr>
          <a:xfrm>
            <a:off x="6115050" y="12830175"/>
            <a:ext cx="112514" cy="100013"/>
          </a:xfrm>
          <a:prstGeom prst="rect">
            <a:avLst/>
          </a:prstGeom>
        </p:spPr>
      </p:pic>
      <p:sp>
        <p:nvSpPr>
          <p:cNvPr id="130" name="Text 106"/>
          <p:cNvSpPr/>
          <p:nvPr/>
        </p:nvSpPr>
        <p:spPr>
          <a:xfrm>
            <a:off x="6284714" y="12801600"/>
            <a:ext cx="1366577" cy="142875"/>
          </a:xfrm>
          <a:prstGeom prst="rect">
            <a:avLst/>
          </a:prstGeom>
          <a:noFill/>
          <a:ln/>
        </p:spPr>
        <p:txBody>
          <a:bodyPr wrap="square" lIns="0" tIns="0" rIns="0" bIns="0" rtlCol="0" anchor="ctr">
            <a:spAutoFit/>
          </a:bodyPr>
          <a:lstStyle/>
          <a:p>
            <a:pPr algn="l" indent="0" marL="0">
              <a:buNone/>
            </a:pPr>
            <a:r>
              <a:rPr lang="en-US" sz="788" dirty="0">
                <a:solidFill>
                  <a:srgbClr val="F1F5F9"/>
                </a:solidFill>
                <a:latin typeface="Segoe UI" pitchFamily="34" charset="0"/>
                <a:ea typeface="Segoe UI" pitchFamily="34" charset="-122"/>
                <a:cs typeface="Segoe UI" pitchFamily="34" charset="-120"/>
              </a:rPr>
              <a:t>Lists classes, methods, fields</a:t>
            </a:r>
            <a:endParaRPr lang="en-US" sz="788" dirty="0"/>
          </a:p>
        </p:txBody>
      </p:sp>
      <p:pic>
        <p:nvPicPr>
          <p:cNvPr id="131" name="Image 22" descr="preencoded.png">    </p:cNvPr>
          <p:cNvPicPr>
            <a:picLocks noChangeAspect="1"/>
          </p:cNvPicPr>
          <p:nvPr/>
        </p:nvPicPr>
        <p:blipFill>
          <a:blip r:embed="rId23"/>
          <a:stretch>
            <a:fillRect/>
          </a:stretch>
        </p:blipFill>
        <p:spPr>
          <a:xfrm>
            <a:off x="6115050" y="13001625"/>
            <a:ext cx="112514" cy="100013"/>
          </a:xfrm>
          <a:prstGeom prst="rect">
            <a:avLst/>
          </a:prstGeom>
        </p:spPr>
      </p:pic>
      <p:sp>
        <p:nvSpPr>
          <p:cNvPr id="132" name="Text 107"/>
          <p:cNvSpPr/>
          <p:nvPr/>
        </p:nvSpPr>
        <p:spPr>
          <a:xfrm>
            <a:off x="6284714" y="12973050"/>
            <a:ext cx="1249961" cy="142875"/>
          </a:xfrm>
          <a:prstGeom prst="rect">
            <a:avLst/>
          </a:prstGeom>
          <a:noFill/>
          <a:ln/>
        </p:spPr>
        <p:txBody>
          <a:bodyPr wrap="none" lIns="0" tIns="0" rIns="0" bIns="0" rtlCol="0" anchor="ctr">
            <a:spAutoFit/>
          </a:bodyPr>
          <a:lstStyle/>
          <a:p>
            <a:pPr algn="l" indent="0" marL="0">
              <a:buNone/>
            </a:pPr>
            <a:r>
              <a:rPr lang="en-US" sz="788" dirty="0">
                <a:solidFill>
                  <a:srgbClr val="F1F5F9"/>
                </a:solidFill>
                <a:latin typeface="Segoe UI" pitchFamily="34" charset="0"/>
                <a:ea typeface="Segoe UI" pitchFamily="34" charset="-122"/>
                <a:cs typeface="Segoe UI" pitchFamily="34" charset="-120"/>
              </a:rPr>
              <a:t>Quick navigation within file</a:t>
            </a:r>
            <a:endParaRPr lang="en-US" sz="788" dirty="0"/>
          </a:p>
        </p:txBody>
      </p:sp>
      <p:sp>
        <p:nvSpPr>
          <p:cNvPr id="133" name="Shape 108"/>
          <p:cNvSpPr/>
          <p:nvPr/>
        </p:nvSpPr>
        <p:spPr>
          <a:xfrm>
            <a:off x="628650" y="13401675"/>
            <a:ext cx="7886700" cy="571500"/>
          </a:xfrm>
          <a:prstGeom prst="rect">
            <a:avLst/>
          </a:prstGeom>
          <a:solidFill>
            <a:srgbClr val="1E3A8A">
              <a:alpha val="30000"/>
            </a:srgbClr>
          </a:solidFill>
          <a:ln/>
        </p:spPr>
      </p:sp>
      <p:pic>
        <p:nvPicPr>
          <p:cNvPr id="134" name="Image 23" descr="preencoded.png">    </p:cNvPr>
          <p:cNvPicPr>
            <a:picLocks noChangeAspect="1"/>
          </p:cNvPicPr>
          <p:nvPr/>
        </p:nvPicPr>
        <p:blipFill>
          <a:blip r:embed="rId24"/>
          <a:stretch>
            <a:fillRect/>
          </a:stretch>
        </p:blipFill>
        <p:spPr>
          <a:xfrm>
            <a:off x="742950" y="13601700"/>
            <a:ext cx="171450" cy="171450"/>
          </a:xfrm>
          <a:prstGeom prst="rect">
            <a:avLst/>
          </a:prstGeom>
        </p:spPr>
      </p:pic>
      <p:sp>
        <p:nvSpPr>
          <p:cNvPr id="135" name="Text 109"/>
          <p:cNvSpPr/>
          <p:nvPr/>
        </p:nvSpPr>
        <p:spPr>
          <a:xfrm>
            <a:off x="1028700" y="13515975"/>
            <a:ext cx="7443788" cy="342900"/>
          </a:xfrm>
          <a:prstGeom prst="rect">
            <a:avLst/>
          </a:prstGeom>
          <a:noFill/>
          <a:ln/>
        </p:spPr>
        <p:txBody>
          <a:bodyPr wrap="square" lIns="0" tIns="0" rIns="0" bIns="0" rtlCol="0" anchor="ctr">
            <a:spAutoFit/>
          </a:bodyPr>
          <a:lstStyle/>
          <a:p>
            <a:pPr indent="0" marL="0">
              <a:buNone/>
            </a:pPr>
            <a:r>
              <a:rPr lang="en-US" sz="900" dirty="0">
                <a:solidFill>
                  <a:srgbClr val="F1F5F9"/>
                </a:solidFill>
                <a:latin typeface="Segoe UI" pitchFamily="34" charset="0"/>
                <a:ea typeface="Segoe UI" pitchFamily="34" charset="-122"/>
                <a:cs typeface="Segoe UI" pitchFamily="34" charset="-120"/>
              </a:rPr>
              <a:t>Now that you've created a Java project structure, you're ready to write your first Java program! In the next slide, we'll create a simple "Hello World" application.</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14373225"/>
          </a:xfrm>
          <a:prstGeom prst="rect">
            <a:avLst/>
          </a:prstGeom>
        </p:spPr>
      </p:pic>
      <p:sp>
        <p:nvSpPr>
          <p:cNvPr id="3" name="Text 0"/>
          <p:cNvSpPr/>
          <p:nvPr/>
        </p:nvSpPr>
        <p:spPr>
          <a:xfrm>
            <a:off x="457200" y="455414"/>
            <a:ext cx="3196605" cy="287536"/>
          </a:xfrm>
          <a:prstGeom prst="rect">
            <a:avLst/>
          </a:prstGeom>
          <a:noFill/>
          <a:ln/>
        </p:spPr>
        <p:txBody>
          <a:bodyPr wrap="square" lIns="0" tIns="0" rIns="0" bIns="0" rtlCol="0" anchor="ctr">
            <a:spAutoFit/>
          </a:bodyPr>
          <a:lstStyle/>
          <a:p>
            <a:pPr indent="0" marL="0">
              <a:buNone/>
            </a:pPr>
            <a:r>
              <a:rPr lang="en-US" sz="2025" b="1" dirty="0">
                <a:solidFill>
                  <a:srgbClr val="F1F5F9"/>
                </a:solidFill>
                <a:latin typeface="Segoe UI" pitchFamily="34" charset="0"/>
                <a:ea typeface="Segoe UI" pitchFamily="34" charset="-122"/>
                <a:cs typeface="Segoe UI" pitchFamily="34" charset="-120"/>
              </a:rPr>
              <a:t>Your First Java Program:</a:t>
            </a:r>
            <a:endParaRPr lang="en-US" sz="2025" dirty="0"/>
          </a:p>
        </p:txBody>
      </p:sp>
      <p:sp>
        <p:nvSpPr>
          <p:cNvPr id="4" name="Text 1"/>
          <p:cNvSpPr/>
          <p:nvPr/>
        </p:nvSpPr>
        <p:spPr>
          <a:xfrm>
            <a:off x="3582367" y="455414"/>
            <a:ext cx="1495444" cy="287536"/>
          </a:xfrm>
          <a:prstGeom prst="rect">
            <a:avLst/>
          </a:prstGeom>
          <a:noFill/>
          <a:ln/>
        </p:spPr>
        <p:txBody>
          <a:bodyPr wrap="square" lIns="0" tIns="0" rIns="0" bIns="0" rtlCol="0" anchor="ctr">
            <a:spAutoFit/>
          </a:bodyPr>
          <a:lstStyle/>
          <a:p>
            <a:pPr indent="0" marL="0">
              <a:buNone/>
            </a:pPr>
            <a:r>
              <a:rPr lang="en-US" sz="2025" b="1" dirty="0">
                <a:solidFill>
                  <a:srgbClr val="60A5FA"/>
                </a:solidFill>
                <a:latin typeface="Segoe UI" pitchFamily="34" charset="0"/>
                <a:ea typeface="Segoe UI" pitchFamily="34" charset="-122"/>
                <a:cs typeface="Segoe UI" pitchFamily="34" charset="-120"/>
              </a:rPr>
              <a:t>Hello World</a:t>
            </a:r>
            <a:endParaRPr lang="en-US" sz="2025" dirty="0"/>
          </a:p>
        </p:txBody>
      </p:sp>
      <p:sp>
        <p:nvSpPr>
          <p:cNvPr id="5" name="Shape 2"/>
          <p:cNvSpPr/>
          <p:nvPr/>
        </p:nvSpPr>
        <p:spPr>
          <a:xfrm>
            <a:off x="457200" y="971550"/>
            <a:ext cx="4000500" cy="3529013"/>
          </a:xfrm>
          <a:prstGeom prst="rect">
            <a:avLst/>
          </a:prstGeom>
          <a:solidFill>
            <a:srgbClr val="FFFFFF">
              <a:alpha val="10000"/>
            </a:srgbClr>
          </a:solidFill>
          <a:ln w="99">
            <a:solidFill>
              <a:srgbClr val="60A5FA">
                <a:alpha val="30000"/>
              </a:srgbClr>
            </a:solidFill>
            <a:prstDash val="solid"/>
          </a:ln>
        </p:spPr>
      </p:sp>
      <p:sp>
        <p:nvSpPr>
          <p:cNvPr id="6" name="Text 3"/>
          <p:cNvSpPr/>
          <p:nvPr/>
        </p:nvSpPr>
        <p:spPr>
          <a:xfrm>
            <a:off x="628650" y="1143000"/>
            <a:ext cx="3729038" cy="228600"/>
          </a:xfrm>
          <a:prstGeom prst="rect">
            <a:avLst/>
          </a:prstGeom>
          <a:noFill/>
          <a:ln/>
        </p:spPr>
        <p:txBody>
          <a:bodyPr wrap="square" lIns="0" tIns="0" rIns="0" bIns="0" rtlCol="0" anchor="ctr">
            <a:spAutoFit/>
          </a:bodyPr>
          <a:lstStyle/>
          <a:p>
            <a:pPr indent="0" marL="0">
              <a:buNone/>
            </a:pPr>
            <a:r>
              <a:rPr lang="en-US" sz="1350" b="1" dirty="0">
                <a:solidFill>
                  <a:srgbClr val="BFDBFE"/>
                </a:solidFill>
                <a:latin typeface="Segoe UI" pitchFamily="34" charset="0"/>
                <a:ea typeface="Segoe UI" pitchFamily="34" charset="-122"/>
                <a:cs typeface="Segoe UI" pitchFamily="34" charset="-120"/>
              </a:rPr>
              <a:t>Creating Your First Java File</a:t>
            </a:r>
            <a:endParaRPr lang="en-US" sz="1350" dirty="0"/>
          </a:p>
        </p:txBody>
      </p:sp>
      <p:sp>
        <p:nvSpPr>
          <p:cNvPr id="7" name="Shape 4"/>
          <p:cNvSpPr/>
          <p:nvPr/>
        </p:nvSpPr>
        <p:spPr>
          <a:xfrm>
            <a:off x="628650" y="1485900"/>
            <a:ext cx="3657600" cy="1057275"/>
          </a:xfrm>
          <a:prstGeom prst="rect">
            <a:avLst/>
          </a:prstGeom>
          <a:solidFill>
            <a:srgbClr val="1E3A8A">
              <a:alpha val="30000"/>
            </a:srgbClr>
          </a:solidFill>
          <a:ln/>
        </p:spPr>
      </p:sp>
      <p:sp>
        <p:nvSpPr>
          <p:cNvPr id="8" name="Shape 5"/>
          <p:cNvSpPr/>
          <p:nvPr/>
        </p:nvSpPr>
        <p:spPr>
          <a:xfrm>
            <a:off x="628650" y="1485900"/>
            <a:ext cx="28575" cy="1057275"/>
          </a:xfrm>
          <a:prstGeom prst="rect">
            <a:avLst/>
          </a:prstGeom>
          <a:solidFill>
            <a:srgbClr val="60A5FA"/>
          </a:solidFill>
          <a:ln/>
        </p:spPr>
      </p:sp>
      <p:sp>
        <p:nvSpPr>
          <p:cNvPr id="9" name="Text 6"/>
          <p:cNvSpPr/>
          <p:nvPr/>
        </p:nvSpPr>
        <p:spPr>
          <a:xfrm>
            <a:off x="742950" y="1571625"/>
            <a:ext cx="3614738" cy="200025"/>
          </a:xfrm>
          <a:prstGeom prst="rect">
            <a:avLst/>
          </a:prstGeom>
          <a:noFill/>
          <a:ln/>
        </p:spPr>
        <p:txBody>
          <a:bodyPr wrap="square" lIns="0" tIns="0" rIns="0" bIns="0" rtlCol="0" anchor="ctr">
            <a:spAutoFit/>
          </a:bodyPr>
          <a:lstStyle/>
          <a:p>
            <a:pPr indent="0" marL="0">
              <a:buNone/>
            </a:pPr>
            <a:r>
              <a:rPr lang="en-US" sz="1125" b="1" dirty="0">
                <a:solidFill>
                  <a:srgbClr val="F1F5F9"/>
                </a:solidFill>
                <a:latin typeface="Segoe UI" pitchFamily="34" charset="0"/>
                <a:ea typeface="Segoe UI" pitchFamily="34" charset="-122"/>
                <a:cs typeface="Segoe UI" pitchFamily="34" charset="-120"/>
              </a:rPr>
              <a:t>Step 1: Create a Java File</a:t>
            </a:r>
            <a:endParaRPr lang="en-US" sz="1125" dirty="0"/>
          </a:p>
        </p:txBody>
      </p:sp>
      <p:sp>
        <p:nvSpPr>
          <p:cNvPr id="10" name="Text 7"/>
          <p:cNvSpPr/>
          <p:nvPr/>
        </p:nvSpPr>
        <p:spPr>
          <a:xfrm>
            <a:off x="857250" y="1800225"/>
            <a:ext cx="3500438" cy="142875"/>
          </a:xfrm>
          <a:prstGeom prst="rect">
            <a:avLst/>
          </a:prstGeom>
          <a:noFill/>
          <a:ln/>
        </p:spPr>
        <p:txBody>
          <a:bodyPr wrap="square" lIns="0" tIns="0" rIns="0" bIns="0" rtlCol="0" anchor="ctr">
            <a:spAutoFit/>
          </a:bodyPr>
          <a:lstStyle/>
          <a:p>
            <a:pPr algn="l" indent="0" marL="0">
              <a:buNone/>
            </a:pPr>
            <a:r>
              <a:rPr lang="en-US" sz="788" dirty="0">
                <a:solidFill>
                  <a:srgbClr val="F1F5F9"/>
                </a:solidFill>
                <a:latin typeface="Segoe UI" pitchFamily="34" charset="0"/>
                <a:ea typeface="Segoe UI" pitchFamily="34" charset="-122"/>
                <a:cs typeface="Segoe UI" pitchFamily="34" charset="-120"/>
              </a:rPr>
              <a:t>Right-click on your source folder (src)</a:t>
            </a:r>
            <a:endParaRPr lang="en-US" sz="788" dirty="0"/>
          </a:p>
        </p:txBody>
      </p:sp>
      <p:sp>
        <p:nvSpPr>
          <p:cNvPr id="11" name="Text 8"/>
          <p:cNvSpPr/>
          <p:nvPr/>
        </p:nvSpPr>
        <p:spPr>
          <a:xfrm>
            <a:off x="857250" y="1971675"/>
            <a:ext cx="3500438" cy="142875"/>
          </a:xfrm>
          <a:prstGeom prst="rect">
            <a:avLst/>
          </a:prstGeom>
          <a:noFill/>
          <a:ln/>
        </p:spPr>
        <p:txBody>
          <a:bodyPr wrap="square" lIns="0" tIns="0" rIns="0" bIns="0" rtlCol="0" anchor="ctr">
            <a:spAutoFit/>
          </a:bodyPr>
          <a:lstStyle/>
          <a:p>
            <a:pPr algn="l" indent="0" marL="0">
              <a:buNone/>
            </a:pPr>
            <a:r>
              <a:rPr lang="en-US" sz="788" dirty="0">
                <a:solidFill>
                  <a:srgbClr val="F1F5F9"/>
                </a:solidFill>
                <a:latin typeface="Segoe UI" pitchFamily="34" charset="0"/>
                <a:ea typeface="Segoe UI" pitchFamily="34" charset="-122"/>
                <a:cs typeface="Segoe UI" pitchFamily="34" charset="-120"/>
              </a:rPr>
              <a:t>Select "New File"</a:t>
            </a:r>
            <a:endParaRPr lang="en-US" sz="788" dirty="0"/>
          </a:p>
        </p:txBody>
      </p:sp>
      <p:sp>
        <p:nvSpPr>
          <p:cNvPr id="12" name="Text 9"/>
          <p:cNvSpPr/>
          <p:nvPr/>
        </p:nvSpPr>
        <p:spPr>
          <a:xfrm>
            <a:off x="857250" y="2143125"/>
            <a:ext cx="3500438" cy="142875"/>
          </a:xfrm>
          <a:prstGeom prst="rect">
            <a:avLst/>
          </a:prstGeom>
          <a:noFill/>
          <a:ln/>
        </p:spPr>
        <p:txBody>
          <a:bodyPr wrap="square" lIns="0" tIns="0" rIns="0" bIns="0" rtlCol="0" anchor="ctr">
            <a:spAutoFit/>
          </a:bodyPr>
          <a:lstStyle/>
          <a:p>
            <a:pPr algn="l" indent="0" marL="0">
              <a:buNone/>
            </a:pPr>
            <a:r>
              <a:rPr lang="en-US" sz="788" dirty="0">
                <a:solidFill>
                  <a:srgbClr val="F1F5F9"/>
                </a:solidFill>
                <a:latin typeface="Segoe UI" pitchFamily="34" charset="0"/>
                <a:ea typeface="Segoe UI" pitchFamily="34" charset="-122"/>
                <a:cs typeface="Segoe UI" pitchFamily="34" charset="-120"/>
              </a:rPr>
              <a:t>Name it "HelloWorld.java"</a:t>
            </a:r>
            <a:endParaRPr lang="en-US" sz="788" dirty="0"/>
          </a:p>
        </p:txBody>
      </p:sp>
      <p:sp>
        <p:nvSpPr>
          <p:cNvPr id="13" name="Text 10"/>
          <p:cNvSpPr/>
          <p:nvPr/>
        </p:nvSpPr>
        <p:spPr>
          <a:xfrm>
            <a:off x="857250" y="2314575"/>
            <a:ext cx="3500438" cy="142875"/>
          </a:xfrm>
          <a:prstGeom prst="rect">
            <a:avLst/>
          </a:prstGeom>
          <a:noFill/>
          <a:ln/>
        </p:spPr>
        <p:txBody>
          <a:bodyPr wrap="square" lIns="0" tIns="0" rIns="0" bIns="0" rtlCol="0" anchor="ctr">
            <a:spAutoFit/>
          </a:bodyPr>
          <a:lstStyle/>
          <a:p>
            <a:pPr algn="l" indent="0" marL="0">
              <a:buNone/>
            </a:pPr>
            <a:r>
              <a:rPr lang="en-US" sz="788" dirty="0">
                <a:solidFill>
                  <a:srgbClr val="F1F5F9"/>
                </a:solidFill>
                <a:latin typeface="Segoe UI" pitchFamily="34" charset="0"/>
                <a:ea typeface="Segoe UI" pitchFamily="34" charset="-122"/>
                <a:cs typeface="Segoe UI" pitchFamily="34" charset="-120"/>
              </a:rPr>
              <a:t>Note: Java class files must end with .java extension</a:t>
            </a:r>
            <a:endParaRPr lang="en-US" sz="788" dirty="0"/>
          </a:p>
        </p:txBody>
      </p:sp>
      <p:sp>
        <p:nvSpPr>
          <p:cNvPr id="14" name="Shape 11"/>
          <p:cNvSpPr/>
          <p:nvPr/>
        </p:nvSpPr>
        <p:spPr>
          <a:xfrm>
            <a:off x="628650" y="2657475"/>
            <a:ext cx="3657600" cy="885825"/>
          </a:xfrm>
          <a:prstGeom prst="rect">
            <a:avLst/>
          </a:prstGeom>
          <a:solidFill>
            <a:srgbClr val="1E3A8A">
              <a:alpha val="30000"/>
            </a:srgbClr>
          </a:solidFill>
          <a:ln/>
        </p:spPr>
      </p:sp>
      <p:sp>
        <p:nvSpPr>
          <p:cNvPr id="15" name="Shape 12"/>
          <p:cNvSpPr/>
          <p:nvPr/>
        </p:nvSpPr>
        <p:spPr>
          <a:xfrm>
            <a:off x="628650" y="2657475"/>
            <a:ext cx="28575" cy="885825"/>
          </a:xfrm>
          <a:prstGeom prst="rect">
            <a:avLst/>
          </a:prstGeom>
          <a:solidFill>
            <a:srgbClr val="60A5FA"/>
          </a:solidFill>
          <a:ln/>
        </p:spPr>
      </p:sp>
      <p:sp>
        <p:nvSpPr>
          <p:cNvPr id="16" name="Text 13"/>
          <p:cNvSpPr/>
          <p:nvPr/>
        </p:nvSpPr>
        <p:spPr>
          <a:xfrm>
            <a:off x="742950" y="2743200"/>
            <a:ext cx="3614738" cy="200025"/>
          </a:xfrm>
          <a:prstGeom prst="rect">
            <a:avLst/>
          </a:prstGeom>
          <a:noFill/>
          <a:ln/>
        </p:spPr>
        <p:txBody>
          <a:bodyPr wrap="square" lIns="0" tIns="0" rIns="0" bIns="0" rtlCol="0" anchor="ctr">
            <a:spAutoFit/>
          </a:bodyPr>
          <a:lstStyle/>
          <a:p>
            <a:pPr indent="0" marL="0">
              <a:buNone/>
            </a:pPr>
            <a:r>
              <a:rPr lang="en-US" sz="1125" b="1" dirty="0">
                <a:solidFill>
                  <a:srgbClr val="F1F5F9"/>
                </a:solidFill>
                <a:latin typeface="Segoe UI" pitchFamily="34" charset="0"/>
                <a:ea typeface="Segoe UI" pitchFamily="34" charset="-122"/>
                <a:cs typeface="Segoe UI" pitchFamily="34" charset="-120"/>
              </a:rPr>
              <a:t>Step 2: Using Package Structure (Optional)</a:t>
            </a:r>
            <a:endParaRPr lang="en-US" sz="1125" dirty="0"/>
          </a:p>
        </p:txBody>
      </p:sp>
      <p:sp>
        <p:nvSpPr>
          <p:cNvPr id="17" name="Text 14"/>
          <p:cNvSpPr/>
          <p:nvPr/>
        </p:nvSpPr>
        <p:spPr>
          <a:xfrm>
            <a:off x="857250" y="2971800"/>
            <a:ext cx="3500438" cy="142875"/>
          </a:xfrm>
          <a:prstGeom prst="rect">
            <a:avLst/>
          </a:prstGeom>
          <a:noFill/>
          <a:ln/>
        </p:spPr>
        <p:txBody>
          <a:bodyPr wrap="square" lIns="0" tIns="0" rIns="0" bIns="0" rtlCol="0" anchor="ctr">
            <a:spAutoFit/>
          </a:bodyPr>
          <a:lstStyle/>
          <a:p>
            <a:pPr algn="l" indent="0" marL="0">
              <a:buNone/>
            </a:pPr>
            <a:r>
              <a:rPr lang="en-US" sz="788" dirty="0">
                <a:solidFill>
                  <a:srgbClr val="F1F5F9"/>
                </a:solidFill>
                <a:latin typeface="Segoe UI" pitchFamily="34" charset="0"/>
                <a:ea typeface="Segoe UI" pitchFamily="34" charset="-122"/>
                <a:cs typeface="Segoe UI" pitchFamily="34" charset="-120"/>
              </a:rPr>
              <a:t>If using packages, create file in the appropriate folder</a:t>
            </a:r>
            <a:endParaRPr lang="en-US" sz="788" dirty="0"/>
          </a:p>
        </p:txBody>
      </p:sp>
      <p:sp>
        <p:nvSpPr>
          <p:cNvPr id="18" name="Text 15"/>
          <p:cNvSpPr/>
          <p:nvPr/>
        </p:nvSpPr>
        <p:spPr>
          <a:xfrm>
            <a:off x="857250" y="3143250"/>
            <a:ext cx="3500438" cy="142875"/>
          </a:xfrm>
          <a:prstGeom prst="rect">
            <a:avLst/>
          </a:prstGeom>
          <a:noFill/>
          <a:ln/>
        </p:spPr>
        <p:txBody>
          <a:bodyPr wrap="square" lIns="0" tIns="0" rIns="0" bIns="0" rtlCol="0" anchor="ctr">
            <a:spAutoFit/>
          </a:bodyPr>
          <a:lstStyle/>
          <a:p>
            <a:pPr algn="l" indent="0" marL="0">
              <a:buNone/>
            </a:pPr>
            <a:r>
              <a:rPr lang="en-US" sz="788" dirty="0">
                <a:solidFill>
                  <a:srgbClr val="F1F5F9"/>
                </a:solidFill>
                <a:latin typeface="Segoe UI" pitchFamily="34" charset="0"/>
                <a:ea typeface="Segoe UI" pitchFamily="34" charset="-122"/>
                <a:cs typeface="Segoe UI" pitchFamily="34" charset="-120"/>
              </a:rPr>
              <a:t>Example: src/com/example/myapp/HelloWorld.java</a:t>
            </a:r>
            <a:endParaRPr lang="en-US" sz="788" dirty="0"/>
          </a:p>
        </p:txBody>
      </p:sp>
      <p:sp>
        <p:nvSpPr>
          <p:cNvPr id="19" name="Text 16"/>
          <p:cNvSpPr/>
          <p:nvPr/>
        </p:nvSpPr>
        <p:spPr>
          <a:xfrm>
            <a:off x="857250" y="3314700"/>
            <a:ext cx="3500438" cy="142875"/>
          </a:xfrm>
          <a:prstGeom prst="rect">
            <a:avLst/>
          </a:prstGeom>
          <a:noFill/>
          <a:ln/>
        </p:spPr>
        <p:txBody>
          <a:bodyPr wrap="square" lIns="0" tIns="0" rIns="0" bIns="0" rtlCol="0" anchor="ctr">
            <a:spAutoFit/>
          </a:bodyPr>
          <a:lstStyle/>
          <a:p>
            <a:pPr algn="l" indent="0" marL="0">
              <a:buNone/>
            </a:pPr>
            <a:r>
              <a:rPr lang="en-US" sz="788" dirty="0">
                <a:solidFill>
                  <a:srgbClr val="F1F5F9"/>
                </a:solidFill>
                <a:latin typeface="Segoe UI" pitchFamily="34" charset="0"/>
                <a:ea typeface="Segoe UI" pitchFamily="34" charset="-122"/>
                <a:cs typeface="Segoe UI" pitchFamily="34" charset="-120"/>
              </a:rPr>
              <a:t>Add package declaration at the top of your file</a:t>
            </a:r>
            <a:endParaRPr lang="en-US" sz="788" dirty="0"/>
          </a:p>
        </p:txBody>
      </p:sp>
      <p:sp>
        <p:nvSpPr>
          <p:cNvPr id="20" name="Shape 17"/>
          <p:cNvSpPr/>
          <p:nvPr/>
        </p:nvSpPr>
        <p:spPr>
          <a:xfrm>
            <a:off x="628650" y="3657600"/>
            <a:ext cx="3657600" cy="657225"/>
          </a:xfrm>
          <a:prstGeom prst="rect">
            <a:avLst/>
          </a:prstGeom>
          <a:solidFill>
            <a:srgbClr val="78350F">
              <a:alpha val="20000"/>
            </a:srgbClr>
          </a:solidFill>
          <a:ln/>
        </p:spPr>
      </p:sp>
      <p:pic>
        <p:nvPicPr>
          <p:cNvPr id="21" name="Image 1" descr="preencoded.png">    </p:cNvPr>
          <p:cNvPicPr>
            <a:picLocks noChangeAspect="1"/>
          </p:cNvPicPr>
          <p:nvPr/>
        </p:nvPicPr>
        <p:blipFill>
          <a:blip r:embed="rId2"/>
          <a:stretch>
            <a:fillRect/>
          </a:stretch>
        </p:blipFill>
        <p:spPr>
          <a:xfrm>
            <a:off x="742950" y="3900488"/>
            <a:ext cx="128588" cy="171450"/>
          </a:xfrm>
          <a:prstGeom prst="rect">
            <a:avLst/>
          </a:prstGeom>
        </p:spPr>
      </p:pic>
      <p:sp>
        <p:nvSpPr>
          <p:cNvPr id="22" name="Text 18"/>
          <p:cNvSpPr/>
          <p:nvPr/>
        </p:nvSpPr>
        <p:spPr>
          <a:xfrm>
            <a:off x="985838" y="3771900"/>
            <a:ext cx="3257550" cy="428625"/>
          </a:xfrm>
          <a:prstGeom prst="rect">
            <a:avLst/>
          </a:prstGeom>
          <a:noFill/>
          <a:ln/>
        </p:spPr>
        <p:txBody>
          <a:bodyPr wrap="square" lIns="0" tIns="0" rIns="0" bIns="0" rtlCol="0" anchor="ctr">
            <a:spAutoFit/>
          </a:bodyPr>
          <a:lstStyle/>
          <a:p>
            <a:pPr indent="0" marL="0">
              <a:buNone/>
            </a:pPr>
            <a:r>
              <a:rPr lang="en-US" sz="788" dirty="0">
                <a:solidFill>
                  <a:srgbClr val="F1F5F9"/>
                </a:solidFill>
                <a:latin typeface="Segoe UI" pitchFamily="34" charset="0"/>
                <a:ea typeface="Segoe UI" pitchFamily="34" charset="-122"/>
                <a:cs typeface="Segoe UI" pitchFamily="34" charset="-120"/>
              </a:rPr>
              <a:t>In Java, the filename must match the class name exactly, including case. For a class named "HelloWorld", the file must be named "HelloWorld.java".</a:t>
            </a:r>
            <a:endParaRPr lang="en-US" sz="788" dirty="0"/>
          </a:p>
        </p:txBody>
      </p:sp>
      <p:sp>
        <p:nvSpPr>
          <p:cNvPr id="23" name="Shape 19"/>
          <p:cNvSpPr/>
          <p:nvPr/>
        </p:nvSpPr>
        <p:spPr>
          <a:xfrm>
            <a:off x="457200" y="4657725"/>
            <a:ext cx="4000500" cy="3914775"/>
          </a:xfrm>
          <a:prstGeom prst="rect">
            <a:avLst/>
          </a:prstGeom>
          <a:solidFill>
            <a:srgbClr val="FFFFFF">
              <a:alpha val="10000"/>
            </a:srgbClr>
          </a:solidFill>
          <a:ln w="99">
            <a:solidFill>
              <a:srgbClr val="60A5FA">
                <a:alpha val="30000"/>
              </a:srgbClr>
            </a:solidFill>
            <a:prstDash val="solid"/>
          </a:ln>
        </p:spPr>
      </p:sp>
      <p:sp>
        <p:nvSpPr>
          <p:cNvPr id="24" name="Text 20"/>
          <p:cNvSpPr/>
          <p:nvPr/>
        </p:nvSpPr>
        <p:spPr>
          <a:xfrm>
            <a:off x="628650" y="4829175"/>
            <a:ext cx="3729038" cy="228600"/>
          </a:xfrm>
          <a:prstGeom prst="rect">
            <a:avLst/>
          </a:prstGeom>
          <a:noFill/>
          <a:ln/>
        </p:spPr>
        <p:txBody>
          <a:bodyPr wrap="square" lIns="0" tIns="0" rIns="0" bIns="0" rtlCol="0" anchor="ctr">
            <a:spAutoFit/>
          </a:bodyPr>
          <a:lstStyle/>
          <a:p>
            <a:pPr indent="0" marL="0">
              <a:buNone/>
            </a:pPr>
            <a:r>
              <a:rPr lang="en-US" sz="1350" b="1" dirty="0">
                <a:solidFill>
                  <a:srgbClr val="BFDBFE"/>
                </a:solidFill>
                <a:latin typeface="Segoe UI" pitchFamily="34" charset="0"/>
                <a:ea typeface="Segoe UI" pitchFamily="34" charset="-122"/>
                <a:cs typeface="Segoe UI" pitchFamily="34" charset="-120"/>
              </a:rPr>
              <a:t>The Hello World Program</a:t>
            </a:r>
            <a:endParaRPr lang="en-US" sz="1350" dirty="0"/>
          </a:p>
        </p:txBody>
      </p:sp>
      <p:sp>
        <p:nvSpPr>
          <p:cNvPr id="25" name="Shape 21"/>
          <p:cNvSpPr/>
          <p:nvPr/>
        </p:nvSpPr>
        <p:spPr>
          <a:xfrm>
            <a:off x="628650" y="5172075"/>
            <a:ext cx="3657600" cy="1957388"/>
          </a:xfrm>
          <a:prstGeom prst="rect">
            <a:avLst/>
          </a:prstGeom>
          <a:solidFill>
            <a:srgbClr val="1E293B">
              <a:alpha val="80000"/>
            </a:srgbClr>
          </a:solidFill>
          <a:ln w="99">
            <a:solidFill>
              <a:srgbClr val="60A5FA">
                <a:alpha val="30000"/>
              </a:srgbClr>
            </a:solidFill>
            <a:prstDash val="solid"/>
          </a:ln>
        </p:spPr>
      </p:sp>
      <p:sp>
        <p:nvSpPr>
          <p:cNvPr id="26" name="Text 22"/>
          <p:cNvSpPr/>
          <p:nvPr/>
        </p:nvSpPr>
        <p:spPr>
          <a:xfrm>
            <a:off x="742950" y="5300663"/>
            <a:ext cx="2712197" cy="1685925"/>
          </a:xfrm>
          <a:prstGeom prst="rect">
            <a:avLst/>
          </a:prstGeom>
          <a:noFill/>
          <a:ln/>
        </p:spPr>
        <p:txBody>
          <a:bodyPr wrap="square" lIns="0" tIns="0" rIns="0" bIns="0" rtlCol="0" anchor="ctr">
            <a:spAutoFit/>
          </a:bodyPr>
          <a:lstStyle/>
          <a:p>
            <a:pPr indent="0" marL="0">
              <a:buNone/>
            </a:pPr>
            <a:r>
              <a:rPr lang="en-US" sz="788" dirty="0">
                <a:solidFill>
                  <a:srgbClr val="DBEAFE"/>
                </a:solidFill>
                <a:latin typeface="Consolas" pitchFamily="34" charset="0"/>
                <a:ea typeface="Consolas" pitchFamily="34" charset="-122"/>
                <a:cs typeface="Consolas" pitchFamily="34" charset="-120"/>
              </a:rPr>
              <a:t>// If using a package</a:t>
            </a:r>
            <a:endParaRPr lang="en-US" sz="788" dirty="0"/>
          </a:p>
          <a:p>
            <a:pPr indent="0" marL="0">
              <a:buNone/>
            </a:pPr>
            <a:r>
              <a:rPr lang="en-US" sz="788" dirty="0">
                <a:solidFill>
                  <a:srgbClr val="DBEAFE"/>
                </a:solidFill>
                <a:latin typeface="Consolas" pitchFamily="34" charset="0"/>
                <a:ea typeface="Consolas" pitchFamily="34" charset="-122"/>
                <a:cs typeface="Consolas" pitchFamily="34" charset="-120"/>
              </a:rPr>
              <a:t>package com.example.myapp;</a:t>
            </a:r>
            <a:endParaRPr lang="en-US" sz="788" dirty="0"/>
          </a:p>
          <a:p>
            <a:pPr indent="0" marL="0">
              <a:buNone/>
            </a:pPr>
            <a:endParaRPr lang="en-US" sz="788" dirty="0"/>
          </a:p>
          <a:p>
            <a:pPr indent="0" marL="0">
              <a:buNone/>
            </a:pPr>
            <a:r>
              <a:rPr lang="en-US" sz="788" dirty="0">
                <a:solidFill>
                  <a:srgbClr val="DBEAFE"/>
                </a:solidFill>
                <a:latin typeface="Consolas" pitchFamily="34" charset="0"/>
                <a:ea typeface="Consolas" pitchFamily="34" charset="-122"/>
                <a:cs typeface="Consolas" pitchFamily="34" charset="-120"/>
              </a:rPr>
              <a:t>/**</a:t>
            </a:r>
            <a:endParaRPr lang="en-US" sz="788" dirty="0"/>
          </a:p>
          <a:p>
            <a:pPr indent="0" marL="0">
              <a:buNone/>
            </a:pPr>
            <a:r>
              <a:rPr lang="en-US" sz="788" dirty="0">
                <a:solidFill>
                  <a:srgbClr val="DBEAFE"/>
                </a:solidFill>
                <a:latin typeface="Consolas" pitchFamily="34" charset="0"/>
                <a:ea typeface="Consolas" pitchFamily="34" charset="-122"/>
                <a:cs typeface="Consolas" pitchFamily="34" charset="-120"/>
              </a:rPr>
              <a:t> * A simple Hello World program</a:t>
            </a:r>
            <a:endParaRPr lang="en-US" sz="788" dirty="0"/>
          </a:p>
          <a:p>
            <a:pPr indent="0" marL="0">
              <a:buNone/>
            </a:pPr>
            <a:r>
              <a:rPr lang="en-US" sz="788" dirty="0">
                <a:solidFill>
                  <a:srgbClr val="DBEAFE"/>
                </a:solidFill>
                <a:latin typeface="Consolas" pitchFamily="34" charset="0"/>
                <a:ea typeface="Consolas" pitchFamily="34" charset="-122"/>
                <a:cs typeface="Consolas" pitchFamily="34" charset="-120"/>
              </a:rPr>
              <a:t> */</a:t>
            </a:r>
            <a:endParaRPr lang="en-US" sz="788" dirty="0"/>
          </a:p>
          <a:p>
            <a:pPr indent="0" marL="0">
              <a:buNone/>
            </a:pPr>
            <a:r>
              <a:rPr lang="en-US" sz="788" dirty="0">
                <a:solidFill>
                  <a:srgbClr val="DBEAFE"/>
                </a:solidFill>
                <a:latin typeface="Consolas" pitchFamily="34" charset="0"/>
                <a:ea typeface="Consolas" pitchFamily="34" charset="-122"/>
                <a:cs typeface="Consolas" pitchFamily="34" charset="-120"/>
              </a:rPr>
              <a:t>public class HelloWorld {</a:t>
            </a:r>
            <a:endParaRPr lang="en-US" sz="788" dirty="0"/>
          </a:p>
          <a:p>
            <a:pPr indent="0" marL="0">
              <a:buNone/>
            </a:pPr>
            <a:r>
              <a:rPr lang="en-US" sz="788" dirty="0">
                <a:solidFill>
                  <a:srgbClr val="DBEAFE"/>
                </a:solidFill>
                <a:latin typeface="Consolas" pitchFamily="34" charset="0"/>
                <a:ea typeface="Consolas" pitchFamily="34" charset="-122"/>
                <a:cs typeface="Consolas" pitchFamily="34" charset="-120"/>
              </a:rPr>
              <a:t>    public static void main(String[] args) {</a:t>
            </a:r>
            <a:endParaRPr lang="en-US" sz="788" dirty="0"/>
          </a:p>
          <a:p>
            <a:pPr indent="0" marL="0">
              <a:buNone/>
            </a:pPr>
            <a:r>
              <a:rPr lang="en-US" sz="788" dirty="0">
                <a:solidFill>
                  <a:srgbClr val="DBEAFE"/>
                </a:solidFill>
                <a:latin typeface="Consolas" pitchFamily="34" charset="0"/>
                <a:ea typeface="Consolas" pitchFamily="34" charset="-122"/>
                <a:cs typeface="Consolas" pitchFamily="34" charset="-120"/>
              </a:rPr>
              <a:t>        // Print a message to the console</a:t>
            </a:r>
            <a:endParaRPr lang="en-US" sz="788" dirty="0"/>
          </a:p>
          <a:p>
            <a:pPr indent="0" marL="0">
              <a:buNone/>
            </a:pPr>
            <a:r>
              <a:rPr lang="en-US" sz="788" dirty="0">
                <a:solidFill>
                  <a:srgbClr val="DBEAFE"/>
                </a:solidFill>
                <a:latin typeface="Consolas" pitchFamily="34" charset="0"/>
                <a:ea typeface="Consolas" pitchFamily="34" charset="-122"/>
                <a:cs typeface="Consolas" pitchFamily="34" charset="-120"/>
              </a:rPr>
              <a:t>        System.out.println("Hello, World!");</a:t>
            </a:r>
            <a:endParaRPr lang="en-US" sz="788" dirty="0"/>
          </a:p>
          <a:p>
            <a:pPr indent="0" marL="0">
              <a:buNone/>
            </a:pPr>
            <a:r>
              <a:rPr lang="en-US" sz="788" dirty="0">
                <a:solidFill>
                  <a:srgbClr val="DBEAFE"/>
                </a:solidFill>
                <a:latin typeface="Consolas" pitchFamily="34" charset="0"/>
                <a:ea typeface="Consolas" pitchFamily="34" charset="-122"/>
                <a:cs typeface="Consolas" pitchFamily="34" charset="-120"/>
              </a:rPr>
              <a:t>    }</a:t>
            </a:r>
            <a:endParaRPr lang="en-US" sz="788" dirty="0"/>
          </a:p>
          <a:p>
            <a:pPr indent="0" marL="0">
              <a:buNone/>
            </a:pPr>
            <a:r>
              <a:rPr lang="en-US" sz="788" dirty="0">
                <a:solidFill>
                  <a:srgbClr val="DBEAFE"/>
                </a:solidFill>
                <a:latin typeface="Consolas" pitchFamily="34" charset="0"/>
                <a:ea typeface="Consolas" pitchFamily="34" charset="-122"/>
                <a:cs typeface="Consolas" pitchFamily="34" charset="-120"/>
              </a:rPr>
              <a:t>}</a:t>
            </a:r>
            <a:endParaRPr lang="en-US" sz="788" dirty="0"/>
          </a:p>
        </p:txBody>
      </p:sp>
      <p:sp>
        <p:nvSpPr>
          <p:cNvPr id="27" name="Shape 23"/>
          <p:cNvSpPr/>
          <p:nvPr/>
        </p:nvSpPr>
        <p:spPr>
          <a:xfrm>
            <a:off x="628650" y="7229475"/>
            <a:ext cx="3657600" cy="1143000"/>
          </a:xfrm>
          <a:prstGeom prst="rect">
            <a:avLst/>
          </a:prstGeom>
          <a:solidFill>
            <a:srgbClr val="1E3A8A">
              <a:alpha val="30000"/>
            </a:srgbClr>
          </a:solidFill>
          <a:ln/>
        </p:spPr>
      </p:sp>
      <p:sp>
        <p:nvSpPr>
          <p:cNvPr id="28" name="Text 24"/>
          <p:cNvSpPr/>
          <p:nvPr/>
        </p:nvSpPr>
        <p:spPr>
          <a:xfrm>
            <a:off x="742950" y="7343775"/>
            <a:ext cx="3500438" cy="200025"/>
          </a:xfrm>
          <a:prstGeom prst="rect">
            <a:avLst/>
          </a:prstGeom>
          <a:noFill/>
          <a:ln/>
        </p:spPr>
        <p:txBody>
          <a:bodyPr wrap="square" lIns="0" tIns="0" rIns="0" bIns="0" rtlCol="0" anchor="ctr">
            <a:spAutoFit/>
          </a:bodyPr>
          <a:lstStyle/>
          <a:p>
            <a:pPr indent="0" marL="0">
              <a:buNone/>
            </a:pPr>
            <a:r>
              <a:rPr lang="en-US" sz="1125" b="1" dirty="0">
                <a:solidFill>
                  <a:srgbClr val="F1F5F9"/>
                </a:solidFill>
                <a:latin typeface="Segoe UI" pitchFamily="34" charset="0"/>
                <a:ea typeface="Segoe UI" pitchFamily="34" charset="-122"/>
                <a:cs typeface="Segoe UI" pitchFamily="34" charset="-120"/>
              </a:rPr>
              <a:t>Code Explanation</a:t>
            </a:r>
            <a:endParaRPr lang="en-US" sz="1125" dirty="0"/>
          </a:p>
        </p:txBody>
      </p:sp>
      <p:pic>
        <p:nvPicPr>
          <p:cNvPr id="29" name="Image 2" descr="preencoded.png">    </p:cNvPr>
          <p:cNvPicPr>
            <a:picLocks noChangeAspect="1"/>
          </p:cNvPicPr>
          <p:nvPr/>
        </p:nvPicPr>
        <p:blipFill>
          <a:blip r:embed="rId3"/>
          <a:stretch>
            <a:fillRect/>
          </a:stretch>
        </p:blipFill>
        <p:spPr>
          <a:xfrm>
            <a:off x="742950" y="7629525"/>
            <a:ext cx="100013" cy="100013"/>
          </a:xfrm>
          <a:prstGeom prst="rect">
            <a:avLst/>
          </a:prstGeom>
        </p:spPr>
      </p:pic>
      <p:sp>
        <p:nvSpPr>
          <p:cNvPr id="30" name="Text 25"/>
          <p:cNvSpPr/>
          <p:nvPr/>
        </p:nvSpPr>
        <p:spPr>
          <a:xfrm>
            <a:off x="900113" y="7615238"/>
            <a:ext cx="1066400" cy="112514"/>
          </a:xfrm>
          <a:prstGeom prst="rect">
            <a:avLst/>
          </a:prstGeom>
          <a:noFill/>
          <a:ln/>
        </p:spPr>
        <p:txBody>
          <a:bodyPr wrap="none" lIns="0" tIns="0" rIns="0" bIns="0" rtlCol="0" anchor="ctr">
            <a:spAutoFit/>
          </a:bodyPr>
          <a:lstStyle/>
          <a:p>
            <a:pPr algn="l" indent="0" marL="0">
              <a:buNone/>
            </a:pPr>
            <a:r>
              <a:rPr lang="en-US" sz="788" b="1" dirty="0">
                <a:solidFill>
                  <a:srgbClr val="60A5FA"/>
                </a:solidFill>
                <a:latin typeface="Segoe UI" pitchFamily="34" charset="0"/>
                <a:ea typeface="Segoe UI" pitchFamily="34" charset="-122"/>
                <a:cs typeface="Segoe UI" pitchFamily="34" charset="-120"/>
              </a:rPr>
              <a:t>package declaration:</a:t>
            </a:r>
            <a:endParaRPr lang="en-US" sz="788" dirty="0"/>
          </a:p>
        </p:txBody>
      </p:sp>
      <p:sp>
        <p:nvSpPr>
          <p:cNvPr id="31" name="Text 26"/>
          <p:cNvSpPr/>
          <p:nvPr/>
        </p:nvSpPr>
        <p:spPr>
          <a:xfrm>
            <a:off x="1895075" y="7615238"/>
            <a:ext cx="2006166" cy="112514"/>
          </a:xfrm>
          <a:prstGeom prst="rect">
            <a:avLst/>
          </a:prstGeom>
          <a:noFill/>
          <a:ln/>
        </p:spPr>
        <p:txBody>
          <a:bodyPr wrap="square" lIns="0" tIns="0" rIns="0" bIns="0" rtlCol="0" anchor="ctr">
            <a:spAutoFit/>
          </a:bodyPr>
          <a:lstStyle/>
          <a:p>
            <a:pPr algn="l" indent="0" marL="0">
              <a:buNone/>
            </a:pPr>
            <a:r>
              <a:rPr lang="en-US" sz="788" dirty="0">
                <a:solidFill>
                  <a:srgbClr val="F1F5F9"/>
                </a:solidFill>
                <a:latin typeface="Segoe UI" pitchFamily="34" charset="0"/>
                <a:ea typeface="Segoe UI" pitchFamily="34" charset="-122"/>
                <a:cs typeface="Segoe UI" pitchFamily="34" charset="-120"/>
              </a:rPr>
              <a:t>Specifies the package this class belongs to</a:t>
            </a:r>
            <a:endParaRPr lang="en-US" sz="788" dirty="0"/>
          </a:p>
        </p:txBody>
      </p:sp>
      <p:pic>
        <p:nvPicPr>
          <p:cNvPr id="32" name="Image 3" descr="preencoded.png">    </p:cNvPr>
          <p:cNvPicPr>
            <a:picLocks noChangeAspect="1"/>
          </p:cNvPicPr>
          <p:nvPr/>
        </p:nvPicPr>
        <p:blipFill>
          <a:blip r:embed="rId4"/>
          <a:stretch>
            <a:fillRect/>
          </a:stretch>
        </p:blipFill>
        <p:spPr>
          <a:xfrm>
            <a:off x="742950" y="7800975"/>
            <a:ext cx="100013" cy="100013"/>
          </a:xfrm>
          <a:prstGeom prst="rect">
            <a:avLst/>
          </a:prstGeom>
        </p:spPr>
      </p:pic>
      <p:sp>
        <p:nvSpPr>
          <p:cNvPr id="33" name="Text 27"/>
          <p:cNvSpPr/>
          <p:nvPr/>
        </p:nvSpPr>
        <p:spPr>
          <a:xfrm>
            <a:off x="900113" y="7786688"/>
            <a:ext cx="916381" cy="112514"/>
          </a:xfrm>
          <a:prstGeom prst="rect">
            <a:avLst/>
          </a:prstGeom>
          <a:noFill/>
          <a:ln/>
        </p:spPr>
        <p:txBody>
          <a:bodyPr wrap="none" lIns="0" tIns="0" rIns="0" bIns="0" rtlCol="0" anchor="ctr">
            <a:spAutoFit/>
          </a:bodyPr>
          <a:lstStyle/>
          <a:p>
            <a:pPr algn="l" indent="0" marL="0">
              <a:buNone/>
            </a:pPr>
            <a:r>
              <a:rPr lang="en-US" sz="788" b="1" dirty="0">
                <a:solidFill>
                  <a:srgbClr val="60A5FA"/>
                </a:solidFill>
                <a:latin typeface="Segoe UI" pitchFamily="34" charset="0"/>
                <a:ea typeface="Segoe UI" pitchFamily="34" charset="-122"/>
                <a:cs typeface="Segoe UI" pitchFamily="34" charset="-120"/>
              </a:rPr>
              <a:t>class declaration:</a:t>
            </a:r>
            <a:endParaRPr lang="en-US" sz="788" dirty="0"/>
          </a:p>
        </p:txBody>
      </p:sp>
      <p:sp>
        <p:nvSpPr>
          <p:cNvPr id="34" name="Text 28"/>
          <p:cNvSpPr/>
          <p:nvPr/>
        </p:nvSpPr>
        <p:spPr>
          <a:xfrm>
            <a:off x="1745056" y="7786688"/>
            <a:ext cx="1626040" cy="112514"/>
          </a:xfrm>
          <a:prstGeom prst="rect">
            <a:avLst/>
          </a:prstGeom>
          <a:noFill/>
          <a:ln/>
        </p:spPr>
        <p:txBody>
          <a:bodyPr wrap="square" lIns="0" tIns="0" rIns="0" bIns="0" rtlCol="0" anchor="ctr">
            <a:spAutoFit/>
          </a:bodyPr>
          <a:lstStyle/>
          <a:p>
            <a:pPr algn="l" indent="0" marL="0">
              <a:buNone/>
            </a:pPr>
            <a:r>
              <a:rPr lang="en-US" sz="788" dirty="0">
                <a:solidFill>
                  <a:srgbClr val="F1F5F9"/>
                </a:solidFill>
                <a:latin typeface="Segoe UI" pitchFamily="34" charset="0"/>
                <a:ea typeface="Segoe UI" pitchFamily="34" charset="-122"/>
                <a:cs typeface="Segoe UI" pitchFamily="34" charset="-120"/>
              </a:rPr>
              <a:t>Defines a class named HelloWorld</a:t>
            </a:r>
            <a:endParaRPr lang="en-US" sz="788" dirty="0"/>
          </a:p>
        </p:txBody>
      </p:sp>
      <p:pic>
        <p:nvPicPr>
          <p:cNvPr id="35" name="Image 4" descr="preencoded.png">    </p:cNvPr>
          <p:cNvPicPr>
            <a:picLocks noChangeAspect="1"/>
          </p:cNvPicPr>
          <p:nvPr/>
        </p:nvPicPr>
        <p:blipFill>
          <a:blip r:embed="rId5"/>
          <a:stretch>
            <a:fillRect/>
          </a:stretch>
        </p:blipFill>
        <p:spPr>
          <a:xfrm>
            <a:off x="742950" y="7972425"/>
            <a:ext cx="100013" cy="100013"/>
          </a:xfrm>
          <a:prstGeom prst="rect">
            <a:avLst/>
          </a:prstGeom>
        </p:spPr>
      </p:pic>
      <p:sp>
        <p:nvSpPr>
          <p:cNvPr id="36" name="Text 29"/>
          <p:cNvSpPr/>
          <p:nvPr/>
        </p:nvSpPr>
        <p:spPr>
          <a:xfrm>
            <a:off x="900113" y="7958138"/>
            <a:ext cx="727100" cy="112514"/>
          </a:xfrm>
          <a:prstGeom prst="rect">
            <a:avLst/>
          </a:prstGeom>
          <a:noFill/>
          <a:ln/>
        </p:spPr>
        <p:txBody>
          <a:bodyPr wrap="none" lIns="0" tIns="0" rIns="0" bIns="0" rtlCol="0" anchor="ctr">
            <a:spAutoFit/>
          </a:bodyPr>
          <a:lstStyle/>
          <a:p>
            <a:pPr algn="l" indent="0" marL="0">
              <a:buNone/>
            </a:pPr>
            <a:r>
              <a:rPr lang="en-US" sz="788" b="1" dirty="0">
                <a:solidFill>
                  <a:srgbClr val="60A5FA"/>
                </a:solidFill>
                <a:latin typeface="Segoe UI" pitchFamily="34" charset="0"/>
                <a:ea typeface="Segoe UI" pitchFamily="34" charset="-122"/>
                <a:cs typeface="Segoe UI" pitchFamily="34" charset="-120"/>
              </a:rPr>
              <a:t>main method:</a:t>
            </a:r>
            <a:endParaRPr lang="en-US" sz="788" dirty="0"/>
          </a:p>
        </p:txBody>
      </p:sp>
      <p:sp>
        <p:nvSpPr>
          <p:cNvPr id="37" name="Text 30"/>
          <p:cNvSpPr/>
          <p:nvPr/>
        </p:nvSpPr>
        <p:spPr>
          <a:xfrm>
            <a:off x="1555775" y="7958138"/>
            <a:ext cx="1516847" cy="112514"/>
          </a:xfrm>
          <a:prstGeom prst="rect">
            <a:avLst/>
          </a:prstGeom>
          <a:noFill/>
          <a:ln/>
        </p:spPr>
        <p:txBody>
          <a:bodyPr wrap="square" lIns="0" tIns="0" rIns="0" bIns="0" rtlCol="0" anchor="ctr">
            <a:spAutoFit/>
          </a:bodyPr>
          <a:lstStyle/>
          <a:p>
            <a:pPr algn="l" indent="0" marL="0">
              <a:buNone/>
            </a:pPr>
            <a:r>
              <a:rPr lang="en-US" sz="788" dirty="0">
                <a:solidFill>
                  <a:srgbClr val="F1F5F9"/>
                </a:solidFill>
                <a:latin typeface="Segoe UI" pitchFamily="34" charset="0"/>
                <a:ea typeface="Segoe UI" pitchFamily="34" charset="-122"/>
                <a:cs typeface="Segoe UI" pitchFamily="34" charset="-120"/>
              </a:rPr>
              <a:t>Entry point for Java applications</a:t>
            </a:r>
            <a:endParaRPr lang="en-US" sz="788" dirty="0"/>
          </a:p>
        </p:txBody>
      </p:sp>
      <p:pic>
        <p:nvPicPr>
          <p:cNvPr id="38" name="Image 5" descr="preencoded.png">    </p:cNvPr>
          <p:cNvPicPr>
            <a:picLocks noChangeAspect="1"/>
          </p:cNvPicPr>
          <p:nvPr/>
        </p:nvPicPr>
        <p:blipFill>
          <a:blip r:embed="rId6"/>
          <a:stretch>
            <a:fillRect/>
          </a:stretch>
        </p:blipFill>
        <p:spPr>
          <a:xfrm>
            <a:off x="742950" y="8143875"/>
            <a:ext cx="100013" cy="100013"/>
          </a:xfrm>
          <a:prstGeom prst="rect">
            <a:avLst/>
          </a:prstGeom>
        </p:spPr>
      </p:pic>
      <p:sp>
        <p:nvSpPr>
          <p:cNvPr id="39" name="Text 31"/>
          <p:cNvSpPr/>
          <p:nvPr/>
        </p:nvSpPr>
        <p:spPr>
          <a:xfrm>
            <a:off x="900113" y="8129588"/>
            <a:ext cx="1049294" cy="112514"/>
          </a:xfrm>
          <a:prstGeom prst="rect">
            <a:avLst/>
          </a:prstGeom>
          <a:noFill/>
          <a:ln/>
        </p:spPr>
        <p:txBody>
          <a:bodyPr wrap="none" lIns="0" tIns="0" rIns="0" bIns="0" rtlCol="0" anchor="ctr">
            <a:spAutoFit/>
          </a:bodyPr>
          <a:lstStyle/>
          <a:p>
            <a:pPr algn="l" indent="0" marL="0">
              <a:buNone/>
            </a:pPr>
            <a:r>
              <a:rPr lang="en-US" sz="788" b="1" dirty="0">
                <a:solidFill>
                  <a:srgbClr val="60A5FA"/>
                </a:solidFill>
                <a:latin typeface="Segoe UI" pitchFamily="34" charset="0"/>
                <a:ea typeface="Segoe UI" pitchFamily="34" charset="-122"/>
                <a:cs typeface="Segoe UI" pitchFamily="34" charset="-120"/>
              </a:rPr>
              <a:t>System.out.println():</a:t>
            </a:r>
            <a:endParaRPr lang="en-US" sz="788" dirty="0"/>
          </a:p>
        </p:txBody>
      </p:sp>
      <p:sp>
        <p:nvSpPr>
          <p:cNvPr id="40" name="Text 32"/>
          <p:cNvSpPr/>
          <p:nvPr/>
        </p:nvSpPr>
        <p:spPr>
          <a:xfrm>
            <a:off x="1877969" y="8129588"/>
            <a:ext cx="1194402" cy="112514"/>
          </a:xfrm>
          <a:prstGeom prst="rect">
            <a:avLst/>
          </a:prstGeom>
          <a:noFill/>
          <a:ln/>
        </p:spPr>
        <p:txBody>
          <a:bodyPr wrap="none" lIns="0" tIns="0" rIns="0" bIns="0" rtlCol="0" anchor="ctr">
            <a:spAutoFit/>
          </a:bodyPr>
          <a:lstStyle/>
          <a:p>
            <a:pPr algn="l" indent="0" marL="0">
              <a:buNone/>
            </a:pPr>
            <a:r>
              <a:rPr lang="en-US" sz="788" dirty="0">
                <a:solidFill>
                  <a:srgbClr val="F1F5F9"/>
                </a:solidFill>
                <a:latin typeface="Segoe UI" pitchFamily="34" charset="0"/>
                <a:ea typeface="Segoe UI" pitchFamily="34" charset="-122"/>
                <a:cs typeface="Segoe UI" pitchFamily="34" charset="-120"/>
              </a:rPr>
              <a:t>Prints text to the console</a:t>
            </a:r>
            <a:endParaRPr lang="en-US" sz="788" dirty="0"/>
          </a:p>
        </p:txBody>
      </p:sp>
      <p:sp>
        <p:nvSpPr>
          <p:cNvPr id="41" name="Shape 33"/>
          <p:cNvSpPr/>
          <p:nvPr/>
        </p:nvSpPr>
        <p:spPr>
          <a:xfrm>
            <a:off x="4686300" y="971550"/>
            <a:ext cx="4000500" cy="3214688"/>
          </a:xfrm>
          <a:prstGeom prst="rect">
            <a:avLst/>
          </a:prstGeom>
          <a:solidFill>
            <a:srgbClr val="FFFFFF">
              <a:alpha val="10000"/>
            </a:srgbClr>
          </a:solidFill>
          <a:ln w="99">
            <a:solidFill>
              <a:srgbClr val="60A5FA">
                <a:alpha val="30000"/>
              </a:srgbClr>
            </a:solidFill>
            <a:prstDash val="solid"/>
          </a:ln>
        </p:spPr>
      </p:sp>
      <p:sp>
        <p:nvSpPr>
          <p:cNvPr id="42" name="Text 34"/>
          <p:cNvSpPr/>
          <p:nvPr/>
        </p:nvSpPr>
        <p:spPr>
          <a:xfrm>
            <a:off x="4857750" y="1143000"/>
            <a:ext cx="3729038" cy="228600"/>
          </a:xfrm>
          <a:prstGeom prst="rect">
            <a:avLst/>
          </a:prstGeom>
          <a:noFill/>
          <a:ln/>
        </p:spPr>
        <p:txBody>
          <a:bodyPr wrap="square" lIns="0" tIns="0" rIns="0" bIns="0" rtlCol="0" anchor="ctr">
            <a:spAutoFit/>
          </a:bodyPr>
          <a:lstStyle/>
          <a:p>
            <a:pPr indent="0" marL="0">
              <a:buNone/>
            </a:pPr>
            <a:r>
              <a:rPr lang="en-US" sz="1350" b="1" dirty="0">
                <a:solidFill>
                  <a:srgbClr val="BFDBFE"/>
                </a:solidFill>
                <a:latin typeface="Segoe UI" pitchFamily="34" charset="0"/>
                <a:ea typeface="Segoe UI" pitchFamily="34" charset="-122"/>
                <a:cs typeface="Segoe UI" pitchFamily="34" charset="-120"/>
              </a:rPr>
              <a:t>VS Code Features While Coding</a:t>
            </a:r>
            <a:endParaRPr lang="en-US" sz="1350" dirty="0"/>
          </a:p>
        </p:txBody>
      </p:sp>
      <p:sp>
        <p:nvSpPr>
          <p:cNvPr id="43" name="Shape 35"/>
          <p:cNvSpPr/>
          <p:nvPr/>
        </p:nvSpPr>
        <p:spPr>
          <a:xfrm>
            <a:off x="4857750" y="1485900"/>
            <a:ext cx="1771650" cy="1200150"/>
          </a:xfrm>
          <a:prstGeom prst="rect">
            <a:avLst/>
          </a:prstGeom>
          <a:solidFill>
            <a:srgbClr val="1E3A8A">
              <a:alpha val="30000"/>
            </a:srgbClr>
          </a:solidFill>
          <a:ln/>
        </p:spPr>
      </p:sp>
      <p:sp>
        <p:nvSpPr>
          <p:cNvPr id="44" name="Text 36"/>
          <p:cNvSpPr/>
          <p:nvPr/>
        </p:nvSpPr>
        <p:spPr>
          <a:xfrm>
            <a:off x="4972050" y="1600200"/>
            <a:ext cx="1614488" cy="200025"/>
          </a:xfrm>
          <a:prstGeom prst="rect">
            <a:avLst/>
          </a:prstGeom>
          <a:noFill/>
          <a:ln/>
        </p:spPr>
        <p:txBody>
          <a:bodyPr wrap="square" lIns="0" tIns="0" rIns="0" bIns="0" rtlCol="0" anchor="ctr">
            <a:spAutoFit/>
          </a:bodyPr>
          <a:lstStyle/>
          <a:p>
            <a:pPr indent="0" marL="0">
              <a:buNone/>
            </a:pPr>
            <a:r>
              <a:rPr lang="en-US" sz="1013" b="1" dirty="0">
                <a:solidFill>
                  <a:srgbClr val="F1F5F9"/>
                </a:solidFill>
                <a:latin typeface="Segoe UI" pitchFamily="34" charset="0"/>
                <a:ea typeface="Segoe UI" pitchFamily="34" charset="-122"/>
                <a:cs typeface="Segoe UI" pitchFamily="34" charset="-120"/>
              </a:rPr>
              <a:t>Code Completion</a:t>
            </a:r>
            <a:endParaRPr lang="en-US" sz="1013" dirty="0"/>
          </a:p>
        </p:txBody>
      </p:sp>
      <p:sp>
        <p:nvSpPr>
          <p:cNvPr id="45" name="Text 37"/>
          <p:cNvSpPr/>
          <p:nvPr/>
        </p:nvSpPr>
        <p:spPr>
          <a:xfrm>
            <a:off x="4972050" y="1857375"/>
            <a:ext cx="1614488" cy="114300"/>
          </a:xfrm>
          <a:prstGeom prst="rect">
            <a:avLst/>
          </a:prstGeom>
          <a:noFill/>
          <a:ln/>
        </p:spPr>
        <p:txBody>
          <a:bodyPr wrap="square" lIns="0" tIns="0" rIns="0" bIns="0" rtlCol="0" anchor="ctr">
            <a:spAutoFit/>
          </a:bodyPr>
          <a:lstStyle/>
          <a:p>
            <a:pPr indent="0" marL="0">
              <a:buNone/>
            </a:pPr>
            <a:r>
              <a:rPr lang="en-US" sz="675" dirty="0">
                <a:solidFill>
                  <a:srgbClr val="F1F5F9"/>
                </a:solidFill>
                <a:latin typeface="Segoe UI" pitchFamily="34" charset="0"/>
                <a:ea typeface="Segoe UI" pitchFamily="34" charset="-122"/>
                <a:cs typeface="Segoe UI" pitchFamily="34" charset="-120"/>
              </a:rPr>
              <a:t>IntelliSense suggests:</a:t>
            </a:r>
            <a:endParaRPr lang="en-US" sz="675" dirty="0"/>
          </a:p>
        </p:txBody>
      </p:sp>
      <p:sp>
        <p:nvSpPr>
          <p:cNvPr id="46" name="Text 38"/>
          <p:cNvSpPr/>
          <p:nvPr/>
        </p:nvSpPr>
        <p:spPr>
          <a:xfrm>
            <a:off x="4972050" y="2028825"/>
            <a:ext cx="1614488" cy="114300"/>
          </a:xfrm>
          <a:prstGeom prst="rect">
            <a:avLst/>
          </a:prstGeom>
          <a:noFill/>
          <a:ln/>
        </p:spPr>
        <p:txBody>
          <a:bodyPr wrap="square" lIns="0" tIns="0" rIns="0" bIns="0" rtlCol="0" anchor="ctr">
            <a:spAutoFit/>
          </a:bodyPr>
          <a:lstStyle/>
          <a:p>
            <a:pPr algn="l" indent="0" marL="0">
              <a:buNone/>
            </a:pPr>
            <a:r>
              <a:rPr lang="en-US" sz="675" dirty="0">
                <a:solidFill>
                  <a:srgbClr val="F1F5F9"/>
                </a:solidFill>
                <a:latin typeface="Segoe UI" pitchFamily="34" charset="0"/>
                <a:ea typeface="Segoe UI" pitchFamily="34" charset="-122"/>
                <a:cs typeface="Segoe UI" pitchFamily="34" charset="-120"/>
              </a:rPr>
              <a:t>• Classes and interfaces</a:t>
            </a:r>
            <a:endParaRPr lang="en-US" sz="675" dirty="0"/>
          </a:p>
        </p:txBody>
      </p:sp>
      <p:sp>
        <p:nvSpPr>
          <p:cNvPr id="47" name="Text 39"/>
          <p:cNvSpPr/>
          <p:nvPr/>
        </p:nvSpPr>
        <p:spPr>
          <a:xfrm>
            <a:off x="4972050" y="2171700"/>
            <a:ext cx="1614488" cy="114300"/>
          </a:xfrm>
          <a:prstGeom prst="rect">
            <a:avLst/>
          </a:prstGeom>
          <a:noFill/>
          <a:ln/>
        </p:spPr>
        <p:txBody>
          <a:bodyPr wrap="square" lIns="0" tIns="0" rIns="0" bIns="0" rtlCol="0" anchor="ctr">
            <a:spAutoFit/>
          </a:bodyPr>
          <a:lstStyle/>
          <a:p>
            <a:pPr algn="l" indent="0" marL="0">
              <a:buNone/>
            </a:pPr>
            <a:r>
              <a:rPr lang="en-US" sz="675" dirty="0">
                <a:solidFill>
                  <a:srgbClr val="F1F5F9"/>
                </a:solidFill>
                <a:latin typeface="Segoe UI" pitchFamily="34" charset="0"/>
                <a:ea typeface="Segoe UI" pitchFamily="34" charset="-122"/>
                <a:cs typeface="Segoe UI" pitchFamily="34" charset="-120"/>
              </a:rPr>
              <a:t>• Methods and fields</a:t>
            </a:r>
            <a:endParaRPr lang="en-US" sz="675" dirty="0"/>
          </a:p>
        </p:txBody>
      </p:sp>
      <p:sp>
        <p:nvSpPr>
          <p:cNvPr id="48" name="Text 40"/>
          <p:cNvSpPr/>
          <p:nvPr/>
        </p:nvSpPr>
        <p:spPr>
          <a:xfrm>
            <a:off x="4972050" y="2314575"/>
            <a:ext cx="1614488" cy="114300"/>
          </a:xfrm>
          <a:prstGeom prst="rect">
            <a:avLst/>
          </a:prstGeom>
          <a:noFill/>
          <a:ln/>
        </p:spPr>
        <p:txBody>
          <a:bodyPr wrap="square" lIns="0" tIns="0" rIns="0" bIns="0" rtlCol="0" anchor="ctr">
            <a:spAutoFit/>
          </a:bodyPr>
          <a:lstStyle/>
          <a:p>
            <a:pPr algn="l" indent="0" marL="0">
              <a:buNone/>
            </a:pPr>
            <a:r>
              <a:rPr lang="en-US" sz="675" dirty="0">
                <a:solidFill>
                  <a:srgbClr val="F1F5F9"/>
                </a:solidFill>
                <a:latin typeface="Segoe UI" pitchFamily="34" charset="0"/>
                <a:ea typeface="Segoe UI" pitchFamily="34" charset="-122"/>
                <a:cs typeface="Segoe UI" pitchFamily="34" charset="-120"/>
              </a:rPr>
              <a:t>• Variables and keywords</a:t>
            </a:r>
            <a:endParaRPr lang="en-US" sz="675" dirty="0"/>
          </a:p>
        </p:txBody>
      </p:sp>
      <p:sp>
        <p:nvSpPr>
          <p:cNvPr id="49" name="Text 41"/>
          <p:cNvSpPr/>
          <p:nvPr/>
        </p:nvSpPr>
        <p:spPr>
          <a:xfrm>
            <a:off x="4972050" y="2457450"/>
            <a:ext cx="1614488" cy="114300"/>
          </a:xfrm>
          <a:prstGeom prst="rect">
            <a:avLst/>
          </a:prstGeom>
          <a:noFill/>
          <a:ln/>
        </p:spPr>
        <p:txBody>
          <a:bodyPr wrap="square" lIns="0" tIns="0" rIns="0" bIns="0" rtlCol="0" anchor="ctr">
            <a:spAutoFit/>
          </a:bodyPr>
          <a:lstStyle/>
          <a:p>
            <a:pPr algn="l" indent="0" marL="0">
              <a:buNone/>
            </a:pPr>
            <a:r>
              <a:rPr lang="en-US" sz="675" dirty="0">
                <a:solidFill>
                  <a:srgbClr val="F1F5F9"/>
                </a:solidFill>
                <a:latin typeface="Segoe UI" pitchFamily="34" charset="0"/>
                <a:ea typeface="Segoe UI" pitchFamily="34" charset="-122"/>
                <a:cs typeface="Segoe UI" pitchFamily="34" charset="-120"/>
              </a:rPr>
              <a:t>• Trigger with Ctrl+Space</a:t>
            </a:r>
            <a:endParaRPr lang="en-US" sz="675" dirty="0"/>
          </a:p>
        </p:txBody>
      </p:sp>
      <p:sp>
        <p:nvSpPr>
          <p:cNvPr id="50" name="Shape 42"/>
          <p:cNvSpPr/>
          <p:nvPr/>
        </p:nvSpPr>
        <p:spPr>
          <a:xfrm>
            <a:off x="6743700" y="1485900"/>
            <a:ext cx="1771650" cy="1200150"/>
          </a:xfrm>
          <a:prstGeom prst="rect">
            <a:avLst/>
          </a:prstGeom>
          <a:solidFill>
            <a:srgbClr val="1E3A8A">
              <a:alpha val="30000"/>
            </a:srgbClr>
          </a:solidFill>
          <a:ln/>
        </p:spPr>
      </p:sp>
      <p:sp>
        <p:nvSpPr>
          <p:cNvPr id="51" name="Text 43"/>
          <p:cNvSpPr/>
          <p:nvPr/>
        </p:nvSpPr>
        <p:spPr>
          <a:xfrm>
            <a:off x="6858000" y="1600200"/>
            <a:ext cx="1614488" cy="200025"/>
          </a:xfrm>
          <a:prstGeom prst="rect">
            <a:avLst/>
          </a:prstGeom>
          <a:noFill/>
          <a:ln/>
        </p:spPr>
        <p:txBody>
          <a:bodyPr wrap="square" lIns="0" tIns="0" rIns="0" bIns="0" rtlCol="0" anchor="ctr">
            <a:spAutoFit/>
          </a:bodyPr>
          <a:lstStyle/>
          <a:p>
            <a:pPr indent="0" marL="0">
              <a:buNone/>
            </a:pPr>
            <a:r>
              <a:rPr lang="en-US" sz="1013" b="1" dirty="0">
                <a:solidFill>
                  <a:srgbClr val="F1F5F9"/>
                </a:solidFill>
                <a:latin typeface="Segoe UI" pitchFamily="34" charset="0"/>
                <a:ea typeface="Segoe UI" pitchFamily="34" charset="-122"/>
                <a:cs typeface="Segoe UI" pitchFamily="34" charset="-120"/>
              </a:rPr>
              <a:t>Code Snippets</a:t>
            </a:r>
            <a:endParaRPr lang="en-US" sz="1013" dirty="0"/>
          </a:p>
        </p:txBody>
      </p:sp>
      <p:sp>
        <p:nvSpPr>
          <p:cNvPr id="52" name="Text 44"/>
          <p:cNvSpPr/>
          <p:nvPr/>
        </p:nvSpPr>
        <p:spPr>
          <a:xfrm>
            <a:off x="6858000" y="1857375"/>
            <a:ext cx="1614488" cy="114300"/>
          </a:xfrm>
          <a:prstGeom prst="rect">
            <a:avLst/>
          </a:prstGeom>
          <a:noFill/>
          <a:ln/>
        </p:spPr>
        <p:txBody>
          <a:bodyPr wrap="square" lIns="0" tIns="0" rIns="0" bIns="0" rtlCol="0" anchor="ctr">
            <a:spAutoFit/>
          </a:bodyPr>
          <a:lstStyle/>
          <a:p>
            <a:pPr indent="0" marL="0">
              <a:buNone/>
            </a:pPr>
            <a:r>
              <a:rPr lang="en-US" sz="675" dirty="0">
                <a:solidFill>
                  <a:srgbClr val="F1F5F9"/>
                </a:solidFill>
                <a:latin typeface="Segoe UI" pitchFamily="34" charset="0"/>
                <a:ea typeface="Segoe UI" pitchFamily="34" charset="-122"/>
                <a:cs typeface="Segoe UI" pitchFamily="34" charset="-120"/>
              </a:rPr>
              <a:t>Quick templates for common code:</a:t>
            </a:r>
            <a:endParaRPr lang="en-US" sz="675" dirty="0"/>
          </a:p>
        </p:txBody>
      </p:sp>
      <p:sp>
        <p:nvSpPr>
          <p:cNvPr id="53" name="Text 45"/>
          <p:cNvSpPr/>
          <p:nvPr/>
        </p:nvSpPr>
        <p:spPr>
          <a:xfrm>
            <a:off x="6858000" y="2028825"/>
            <a:ext cx="1614488" cy="114300"/>
          </a:xfrm>
          <a:prstGeom prst="rect">
            <a:avLst/>
          </a:prstGeom>
          <a:noFill/>
          <a:ln/>
        </p:spPr>
        <p:txBody>
          <a:bodyPr wrap="square" lIns="0" tIns="0" rIns="0" bIns="0" rtlCol="0" anchor="ctr">
            <a:spAutoFit/>
          </a:bodyPr>
          <a:lstStyle/>
          <a:p>
            <a:pPr algn="l" indent="0" marL="0">
              <a:buNone/>
            </a:pPr>
            <a:r>
              <a:rPr lang="en-US" sz="675" dirty="0">
                <a:solidFill>
                  <a:srgbClr val="F1F5F9"/>
                </a:solidFill>
                <a:latin typeface="Segoe UI" pitchFamily="34" charset="0"/>
                <a:ea typeface="Segoe UI" pitchFamily="34" charset="-122"/>
                <a:cs typeface="Segoe UI" pitchFamily="34" charset="-120"/>
              </a:rPr>
              <a:t>• Type "sysout" → System.out.println()</a:t>
            </a:r>
            <a:endParaRPr lang="en-US" sz="675" dirty="0"/>
          </a:p>
        </p:txBody>
      </p:sp>
      <p:sp>
        <p:nvSpPr>
          <p:cNvPr id="54" name="Text 46"/>
          <p:cNvSpPr/>
          <p:nvPr/>
        </p:nvSpPr>
        <p:spPr>
          <a:xfrm>
            <a:off x="6858000" y="2171700"/>
            <a:ext cx="1614488" cy="114300"/>
          </a:xfrm>
          <a:prstGeom prst="rect">
            <a:avLst/>
          </a:prstGeom>
          <a:noFill/>
          <a:ln/>
        </p:spPr>
        <p:txBody>
          <a:bodyPr wrap="square" lIns="0" tIns="0" rIns="0" bIns="0" rtlCol="0" anchor="ctr">
            <a:spAutoFit/>
          </a:bodyPr>
          <a:lstStyle/>
          <a:p>
            <a:pPr algn="l" indent="0" marL="0">
              <a:buNone/>
            </a:pPr>
            <a:r>
              <a:rPr lang="en-US" sz="675" dirty="0">
                <a:solidFill>
                  <a:srgbClr val="F1F5F9"/>
                </a:solidFill>
                <a:latin typeface="Segoe UI" pitchFamily="34" charset="0"/>
                <a:ea typeface="Segoe UI" pitchFamily="34" charset="-122"/>
                <a:cs typeface="Segoe UI" pitchFamily="34" charset="-120"/>
              </a:rPr>
              <a:t>• Type "main" → main method</a:t>
            </a:r>
            <a:endParaRPr lang="en-US" sz="675" dirty="0"/>
          </a:p>
        </p:txBody>
      </p:sp>
      <p:sp>
        <p:nvSpPr>
          <p:cNvPr id="55" name="Text 47"/>
          <p:cNvSpPr/>
          <p:nvPr/>
        </p:nvSpPr>
        <p:spPr>
          <a:xfrm>
            <a:off x="6858000" y="2314575"/>
            <a:ext cx="1614488" cy="114300"/>
          </a:xfrm>
          <a:prstGeom prst="rect">
            <a:avLst/>
          </a:prstGeom>
          <a:noFill/>
          <a:ln/>
        </p:spPr>
        <p:txBody>
          <a:bodyPr wrap="square" lIns="0" tIns="0" rIns="0" bIns="0" rtlCol="0" anchor="ctr">
            <a:spAutoFit/>
          </a:bodyPr>
          <a:lstStyle/>
          <a:p>
            <a:pPr algn="l" indent="0" marL="0">
              <a:buNone/>
            </a:pPr>
            <a:r>
              <a:rPr lang="en-US" sz="675" dirty="0">
                <a:solidFill>
                  <a:srgbClr val="F1F5F9"/>
                </a:solidFill>
                <a:latin typeface="Segoe UI" pitchFamily="34" charset="0"/>
                <a:ea typeface="Segoe UI" pitchFamily="34" charset="-122"/>
                <a:cs typeface="Segoe UI" pitchFamily="34" charset="-120"/>
              </a:rPr>
              <a:t>• Type "class" → class definition</a:t>
            </a:r>
            <a:endParaRPr lang="en-US" sz="675" dirty="0"/>
          </a:p>
        </p:txBody>
      </p:sp>
      <p:sp>
        <p:nvSpPr>
          <p:cNvPr id="56" name="Text 48"/>
          <p:cNvSpPr/>
          <p:nvPr/>
        </p:nvSpPr>
        <p:spPr>
          <a:xfrm>
            <a:off x="6858000" y="2457450"/>
            <a:ext cx="1614488" cy="114300"/>
          </a:xfrm>
          <a:prstGeom prst="rect">
            <a:avLst/>
          </a:prstGeom>
          <a:noFill/>
          <a:ln/>
        </p:spPr>
        <p:txBody>
          <a:bodyPr wrap="square" lIns="0" tIns="0" rIns="0" bIns="0" rtlCol="0" anchor="ctr">
            <a:spAutoFit/>
          </a:bodyPr>
          <a:lstStyle/>
          <a:p>
            <a:pPr algn="l" indent="0" marL="0">
              <a:buNone/>
            </a:pPr>
            <a:r>
              <a:rPr lang="en-US" sz="675" dirty="0">
                <a:solidFill>
                  <a:srgbClr val="F1F5F9"/>
                </a:solidFill>
                <a:latin typeface="Segoe UI" pitchFamily="34" charset="0"/>
                <a:ea typeface="Segoe UI" pitchFamily="34" charset="-122"/>
                <a:cs typeface="Segoe UI" pitchFamily="34" charset="-120"/>
              </a:rPr>
              <a:t>• Type "for" → for loop</a:t>
            </a:r>
            <a:endParaRPr lang="en-US" sz="675" dirty="0"/>
          </a:p>
        </p:txBody>
      </p:sp>
      <p:sp>
        <p:nvSpPr>
          <p:cNvPr id="57" name="Shape 49"/>
          <p:cNvSpPr/>
          <p:nvPr/>
        </p:nvSpPr>
        <p:spPr>
          <a:xfrm>
            <a:off x="4857750" y="2800350"/>
            <a:ext cx="1771650" cy="1200150"/>
          </a:xfrm>
          <a:prstGeom prst="rect">
            <a:avLst/>
          </a:prstGeom>
          <a:solidFill>
            <a:srgbClr val="1E3A8A">
              <a:alpha val="30000"/>
            </a:srgbClr>
          </a:solidFill>
          <a:ln/>
        </p:spPr>
      </p:sp>
      <p:sp>
        <p:nvSpPr>
          <p:cNvPr id="58" name="Text 50"/>
          <p:cNvSpPr/>
          <p:nvPr/>
        </p:nvSpPr>
        <p:spPr>
          <a:xfrm>
            <a:off x="4972050" y="2914650"/>
            <a:ext cx="1614488" cy="200025"/>
          </a:xfrm>
          <a:prstGeom prst="rect">
            <a:avLst/>
          </a:prstGeom>
          <a:noFill/>
          <a:ln/>
        </p:spPr>
        <p:txBody>
          <a:bodyPr wrap="square" lIns="0" tIns="0" rIns="0" bIns="0" rtlCol="0" anchor="ctr">
            <a:spAutoFit/>
          </a:bodyPr>
          <a:lstStyle/>
          <a:p>
            <a:pPr indent="0" marL="0">
              <a:buNone/>
            </a:pPr>
            <a:r>
              <a:rPr lang="en-US" sz="1013" b="1" dirty="0">
                <a:solidFill>
                  <a:srgbClr val="F1F5F9"/>
                </a:solidFill>
                <a:latin typeface="Segoe UI" pitchFamily="34" charset="0"/>
                <a:ea typeface="Segoe UI" pitchFamily="34" charset="-122"/>
                <a:cs typeface="Segoe UI" pitchFamily="34" charset="-120"/>
              </a:rPr>
              <a:t>Error Detection</a:t>
            </a:r>
            <a:endParaRPr lang="en-US" sz="1013" dirty="0"/>
          </a:p>
        </p:txBody>
      </p:sp>
      <p:sp>
        <p:nvSpPr>
          <p:cNvPr id="59" name="Text 51"/>
          <p:cNvSpPr/>
          <p:nvPr/>
        </p:nvSpPr>
        <p:spPr>
          <a:xfrm>
            <a:off x="4972050" y="3171825"/>
            <a:ext cx="1614488" cy="114300"/>
          </a:xfrm>
          <a:prstGeom prst="rect">
            <a:avLst/>
          </a:prstGeom>
          <a:noFill/>
          <a:ln/>
        </p:spPr>
        <p:txBody>
          <a:bodyPr wrap="square" lIns="0" tIns="0" rIns="0" bIns="0" rtlCol="0" anchor="ctr">
            <a:spAutoFit/>
          </a:bodyPr>
          <a:lstStyle/>
          <a:p>
            <a:pPr indent="0" marL="0">
              <a:buNone/>
            </a:pPr>
            <a:r>
              <a:rPr lang="en-US" sz="675" dirty="0">
                <a:solidFill>
                  <a:srgbClr val="F1F5F9"/>
                </a:solidFill>
                <a:latin typeface="Segoe UI" pitchFamily="34" charset="0"/>
                <a:ea typeface="Segoe UI" pitchFamily="34" charset="-122"/>
                <a:cs typeface="Segoe UI" pitchFamily="34" charset="-120"/>
              </a:rPr>
              <a:t>Real-time error highlighting:</a:t>
            </a:r>
            <a:endParaRPr lang="en-US" sz="675" dirty="0"/>
          </a:p>
        </p:txBody>
      </p:sp>
      <p:sp>
        <p:nvSpPr>
          <p:cNvPr id="60" name="Text 52"/>
          <p:cNvSpPr/>
          <p:nvPr/>
        </p:nvSpPr>
        <p:spPr>
          <a:xfrm>
            <a:off x="4972050" y="3343275"/>
            <a:ext cx="1614488" cy="114300"/>
          </a:xfrm>
          <a:prstGeom prst="rect">
            <a:avLst/>
          </a:prstGeom>
          <a:noFill/>
          <a:ln/>
        </p:spPr>
        <p:txBody>
          <a:bodyPr wrap="square" lIns="0" tIns="0" rIns="0" bIns="0" rtlCol="0" anchor="ctr">
            <a:spAutoFit/>
          </a:bodyPr>
          <a:lstStyle/>
          <a:p>
            <a:pPr algn="l" indent="0" marL="0">
              <a:buNone/>
            </a:pPr>
            <a:r>
              <a:rPr lang="en-US" sz="675" dirty="0">
                <a:solidFill>
                  <a:srgbClr val="F1F5F9"/>
                </a:solidFill>
                <a:latin typeface="Segoe UI" pitchFamily="34" charset="0"/>
                <a:ea typeface="Segoe UI" pitchFamily="34" charset="-122"/>
                <a:cs typeface="Segoe UI" pitchFamily="34" charset="-120"/>
              </a:rPr>
              <a:t>• Syntax errors</a:t>
            </a:r>
            <a:endParaRPr lang="en-US" sz="675" dirty="0"/>
          </a:p>
        </p:txBody>
      </p:sp>
      <p:sp>
        <p:nvSpPr>
          <p:cNvPr id="61" name="Text 53"/>
          <p:cNvSpPr/>
          <p:nvPr/>
        </p:nvSpPr>
        <p:spPr>
          <a:xfrm>
            <a:off x="4972050" y="3486150"/>
            <a:ext cx="1614488" cy="114300"/>
          </a:xfrm>
          <a:prstGeom prst="rect">
            <a:avLst/>
          </a:prstGeom>
          <a:noFill/>
          <a:ln/>
        </p:spPr>
        <p:txBody>
          <a:bodyPr wrap="square" lIns="0" tIns="0" rIns="0" bIns="0" rtlCol="0" anchor="ctr">
            <a:spAutoFit/>
          </a:bodyPr>
          <a:lstStyle/>
          <a:p>
            <a:pPr algn="l" indent="0" marL="0">
              <a:buNone/>
            </a:pPr>
            <a:r>
              <a:rPr lang="en-US" sz="675" dirty="0">
                <a:solidFill>
                  <a:srgbClr val="F1F5F9"/>
                </a:solidFill>
                <a:latin typeface="Segoe UI" pitchFamily="34" charset="0"/>
                <a:ea typeface="Segoe UI" pitchFamily="34" charset="-122"/>
                <a:cs typeface="Segoe UI" pitchFamily="34" charset="-120"/>
              </a:rPr>
              <a:t>• Type mismatches</a:t>
            </a:r>
            <a:endParaRPr lang="en-US" sz="675" dirty="0"/>
          </a:p>
        </p:txBody>
      </p:sp>
      <p:sp>
        <p:nvSpPr>
          <p:cNvPr id="62" name="Text 54"/>
          <p:cNvSpPr/>
          <p:nvPr/>
        </p:nvSpPr>
        <p:spPr>
          <a:xfrm>
            <a:off x="4972050" y="3629025"/>
            <a:ext cx="1614488" cy="114300"/>
          </a:xfrm>
          <a:prstGeom prst="rect">
            <a:avLst/>
          </a:prstGeom>
          <a:noFill/>
          <a:ln/>
        </p:spPr>
        <p:txBody>
          <a:bodyPr wrap="square" lIns="0" tIns="0" rIns="0" bIns="0" rtlCol="0" anchor="ctr">
            <a:spAutoFit/>
          </a:bodyPr>
          <a:lstStyle/>
          <a:p>
            <a:pPr algn="l" indent="0" marL="0">
              <a:buNone/>
            </a:pPr>
            <a:r>
              <a:rPr lang="en-US" sz="675" dirty="0">
                <a:solidFill>
                  <a:srgbClr val="F1F5F9"/>
                </a:solidFill>
                <a:latin typeface="Segoe UI" pitchFamily="34" charset="0"/>
                <a:ea typeface="Segoe UI" pitchFamily="34" charset="-122"/>
                <a:cs typeface="Segoe UI" pitchFamily="34" charset="-120"/>
              </a:rPr>
              <a:t>• Undefined variables</a:t>
            </a:r>
            <a:endParaRPr lang="en-US" sz="675" dirty="0"/>
          </a:p>
        </p:txBody>
      </p:sp>
      <p:sp>
        <p:nvSpPr>
          <p:cNvPr id="63" name="Text 55"/>
          <p:cNvSpPr/>
          <p:nvPr/>
        </p:nvSpPr>
        <p:spPr>
          <a:xfrm>
            <a:off x="4972050" y="3771900"/>
            <a:ext cx="1614488" cy="114300"/>
          </a:xfrm>
          <a:prstGeom prst="rect">
            <a:avLst/>
          </a:prstGeom>
          <a:noFill/>
          <a:ln/>
        </p:spPr>
        <p:txBody>
          <a:bodyPr wrap="square" lIns="0" tIns="0" rIns="0" bIns="0" rtlCol="0" anchor="ctr">
            <a:spAutoFit/>
          </a:bodyPr>
          <a:lstStyle/>
          <a:p>
            <a:pPr algn="l" indent="0" marL="0">
              <a:buNone/>
            </a:pPr>
            <a:r>
              <a:rPr lang="en-US" sz="675" dirty="0">
                <a:solidFill>
                  <a:srgbClr val="F1F5F9"/>
                </a:solidFill>
                <a:latin typeface="Segoe UI" pitchFamily="34" charset="0"/>
                <a:ea typeface="Segoe UI" pitchFamily="34" charset="-122"/>
                <a:cs typeface="Segoe UI" pitchFamily="34" charset="-120"/>
              </a:rPr>
              <a:t>• Hover over errors for details</a:t>
            </a:r>
            <a:endParaRPr lang="en-US" sz="675" dirty="0"/>
          </a:p>
        </p:txBody>
      </p:sp>
      <p:sp>
        <p:nvSpPr>
          <p:cNvPr id="64" name="Shape 56"/>
          <p:cNvSpPr/>
          <p:nvPr/>
        </p:nvSpPr>
        <p:spPr>
          <a:xfrm>
            <a:off x="6743700" y="2800350"/>
            <a:ext cx="1771650" cy="1200150"/>
          </a:xfrm>
          <a:prstGeom prst="rect">
            <a:avLst/>
          </a:prstGeom>
          <a:solidFill>
            <a:srgbClr val="1E3A8A">
              <a:alpha val="30000"/>
            </a:srgbClr>
          </a:solidFill>
          <a:ln/>
        </p:spPr>
      </p:sp>
      <p:sp>
        <p:nvSpPr>
          <p:cNvPr id="65" name="Text 57"/>
          <p:cNvSpPr/>
          <p:nvPr/>
        </p:nvSpPr>
        <p:spPr>
          <a:xfrm>
            <a:off x="6858000" y="2914650"/>
            <a:ext cx="1614488" cy="200025"/>
          </a:xfrm>
          <a:prstGeom prst="rect">
            <a:avLst/>
          </a:prstGeom>
          <a:noFill/>
          <a:ln/>
        </p:spPr>
        <p:txBody>
          <a:bodyPr wrap="square" lIns="0" tIns="0" rIns="0" bIns="0" rtlCol="0" anchor="ctr">
            <a:spAutoFit/>
          </a:bodyPr>
          <a:lstStyle/>
          <a:p>
            <a:pPr indent="0" marL="0">
              <a:buNone/>
            </a:pPr>
            <a:r>
              <a:rPr lang="en-US" sz="1013" b="1" dirty="0">
                <a:solidFill>
                  <a:srgbClr val="F1F5F9"/>
                </a:solidFill>
                <a:latin typeface="Segoe UI" pitchFamily="34" charset="0"/>
                <a:ea typeface="Segoe UI" pitchFamily="34" charset="-122"/>
                <a:cs typeface="Segoe UI" pitchFamily="34" charset="-120"/>
              </a:rPr>
              <a:t>Code Actions</a:t>
            </a:r>
            <a:endParaRPr lang="en-US" sz="1013" dirty="0"/>
          </a:p>
        </p:txBody>
      </p:sp>
      <p:sp>
        <p:nvSpPr>
          <p:cNvPr id="66" name="Text 58"/>
          <p:cNvSpPr/>
          <p:nvPr/>
        </p:nvSpPr>
        <p:spPr>
          <a:xfrm>
            <a:off x="6858000" y="3171825"/>
            <a:ext cx="1614488" cy="114300"/>
          </a:xfrm>
          <a:prstGeom prst="rect">
            <a:avLst/>
          </a:prstGeom>
          <a:noFill/>
          <a:ln/>
        </p:spPr>
        <p:txBody>
          <a:bodyPr wrap="square" lIns="0" tIns="0" rIns="0" bIns="0" rtlCol="0" anchor="ctr">
            <a:spAutoFit/>
          </a:bodyPr>
          <a:lstStyle/>
          <a:p>
            <a:pPr indent="0" marL="0">
              <a:buNone/>
            </a:pPr>
            <a:r>
              <a:rPr lang="en-US" sz="675" dirty="0">
                <a:solidFill>
                  <a:srgbClr val="F1F5F9"/>
                </a:solidFill>
                <a:latin typeface="Segoe UI" pitchFamily="34" charset="0"/>
                <a:ea typeface="Segoe UI" pitchFamily="34" charset="-122"/>
                <a:cs typeface="Segoe UI" pitchFamily="34" charset="-120"/>
              </a:rPr>
              <a:t>Quick fixes and refactoring:</a:t>
            </a:r>
            <a:endParaRPr lang="en-US" sz="675" dirty="0"/>
          </a:p>
        </p:txBody>
      </p:sp>
      <p:sp>
        <p:nvSpPr>
          <p:cNvPr id="67" name="Text 59"/>
          <p:cNvSpPr/>
          <p:nvPr/>
        </p:nvSpPr>
        <p:spPr>
          <a:xfrm>
            <a:off x="6858000" y="3343275"/>
            <a:ext cx="1614488" cy="114300"/>
          </a:xfrm>
          <a:prstGeom prst="rect">
            <a:avLst/>
          </a:prstGeom>
          <a:noFill/>
          <a:ln/>
        </p:spPr>
        <p:txBody>
          <a:bodyPr wrap="square" lIns="0" tIns="0" rIns="0" bIns="0" rtlCol="0" anchor="ctr">
            <a:spAutoFit/>
          </a:bodyPr>
          <a:lstStyle/>
          <a:p>
            <a:pPr algn="l" indent="0" marL="0">
              <a:buNone/>
            </a:pPr>
            <a:r>
              <a:rPr lang="en-US" sz="675" dirty="0">
                <a:solidFill>
                  <a:srgbClr val="F1F5F9"/>
                </a:solidFill>
                <a:latin typeface="Segoe UI" pitchFamily="34" charset="0"/>
                <a:ea typeface="Segoe UI" pitchFamily="34" charset="-122"/>
                <a:cs typeface="Segoe UI" pitchFamily="34" charset="-120"/>
              </a:rPr>
              <a:t>• Click on lightbulb icon</a:t>
            </a:r>
            <a:endParaRPr lang="en-US" sz="675" dirty="0"/>
          </a:p>
        </p:txBody>
      </p:sp>
      <p:sp>
        <p:nvSpPr>
          <p:cNvPr id="68" name="Text 60"/>
          <p:cNvSpPr/>
          <p:nvPr/>
        </p:nvSpPr>
        <p:spPr>
          <a:xfrm>
            <a:off x="6858000" y="3486150"/>
            <a:ext cx="1614488" cy="114300"/>
          </a:xfrm>
          <a:prstGeom prst="rect">
            <a:avLst/>
          </a:prstGeom>
          <a:noFill/>
          <a:ln/>
        </p:spPr>
        <p:txBody>
          <a:bodyPr wrap="square" lIns="0" tIns="0" rIns="0" bIns="0" rtlCol="0" anchor="ctr">
            <a:spAutoFit/>
          </a:bodyPr>
          <a:lstStyle/>
          <a:p>
            <a:pPr algn="l" indent="0" marL="0">
              <a:buNone/>
            </a:pPr>
            <a:r>
              <a:rPr lang="en-US" sz="675" dirty="0">
                <a:solidFill>
                  <a:srgbClr val="F1F5F9"/>
                </a:solidFill>
                <a:latin typeface="Segoe UI" pitchFamily="34" charset="0"/>
                <a:ea typeface="Segoe UI" pitchFamily="34" charset="-122"/>
                <a:cs typeface="Segoe UI" pitchFamily="34" charset="-120"/>
              </a:rPr>
              <a:t>• Or use Ctrl+. / Cmd+.</a:t>
            </a:r>
            <a:endParaRPr lang="en-US" sz="675" dirty="0"/>
          </a:p>
        </p:txBody>
      </p:sp>
      <p:sp>
        <p:nvSpPr>
          <p:cNvPr id="69" name="Text 61"/>
          <p:cNvSpPr/>
          <p:nvPr/>
        </p:nvSpPr>
        <p:spPr>
          <a:xfrm>
            <a:off x="6858000" y="3629025"/>
            <a:ext cx="1614488" cy="114300"/>
          </a:xfrm>
          <a:prstGeom prst="rect">
            <a:avLst/>
          </a:prstGeom>
          <a:noFill/>
          <a:ln/>
        </p:spPr>
        <p:txBody>
          <a:bodyPr wrap="square" lIns="0" tIns="0" rIns="0" bIns="0" rtlCol="0" anchor="ctr">
            <a:spAutoFit/>
          </a:bodyPr>
          <a:lstStyle/>
          <a:p>
            <a:pPr algn="l" indent="0" marL="0">
              <a:buNone/>
            </a:pPr>
            <a:r>
              <a:rPr lang="en-US" sz="675" dirty="0">
                <a:solidFill>
                  <a:srgbClr val="F1F5F9"/>
                </a:solidFill>
                <a:latin typeface="Segoe UI" pitchFamily="34" charset="0"/>
                <a:ea typeface="Segoe UI" pitchFamily="34" charset="-122"/>
                <a:cs typeface="Segoe UI" pitchFamily="34" charset="-120"/>
              </a:rPr>
              <a:t>• Import missing classes</a:t>
            </a:r>
            <a:endParaRPr lang="en-US" sz="675" dirty="0"/>
          </a:p>
        </p:txBody>
      </p:sp>
      <p:sp>
        <p:nvSpPr>
          <p:cNvPr id="70" name="Text 62"/>
          <p:cNvSpPr/>
          <p:nvPr/>
        </p:nvSpPr>
        <p:spPr>
          <a:xfrm>
            <a:off x="6858000" y="3771900"/>
            <a:ext cx="1614488" cy="114300"/>
          </a:xfrm>
          <a:prstGeom prst="rect">
            <a:avLst/>
          </a:prstGeom>
          <a:noFill/>
          <a:ln/>
        </p:spPr>
        <p:txBody>
          <a:bodyPr wrap="square" lIns="0" tIns="0" rIns="0" bIns="0" rtlCol="0" anchor="ctr">
            <a:spAutoFit/>
          </a:bodyPr>
          <a:lstStyle/>
          <a:p>
            <a:pPr algn="l" indent="0" marL="0">
              <a:buNone/>
            </a:pPr>
            <a:r>
              <a:rPr lang="en-US" sz="675" dirty="0">
                <a:solidFill>
                  <a:srgbClr val="F1F5F9"/>
                </a:solidFill>
                <a:latin typeface="Segoe UI" pitchFamily="34" charset="0"/>
                <a:ea typeface="Segoe UI" pitchFamily="34" charset="-122"/>
                <a:cs typeface="Segoe UI" pitchFamily="34" charset="-120"/>
              </a:rPr>
              <a:t>• Fix common errors</a:t>
            </a:r>
            <a:endParaRPr lang="en-US" sz="675" dirty="0"/>
          </a:p>
        </p:txBody>
      </p:sp>
      <p:sp>
        <p:nvSpPr>
          <p:cNvPr id="71" name="Shape 63"/>
          <p:cNvSpPr/>
          <p:nvPr/>
        </p:nvSpPr>
        <p:spPr>
          <a:xfrm>
            <a:off x="4686300" y="4343400"/>
            <a:ext cx="4000500" cy="2800350"/>
          </a:xfrm>
          <a:prstGeom prst="rect">
            <a:avLst/>
          </a:prstGeom>
          <a:solidFill>
            <a:srgbClr val="FFFFFF">
              <a:alpha val="10000"/>
            </a:srgbClr>
          </a:solidFill>
          <a:ln w="99">
            <a:solidFill>
              <a:srgbClr val="60A5FA">
                <a:alpha val="30000"/>
              </a:srgbClr>
            </a:solidFill>
            <a:prstDash val="solid"/>
          </a:ln>
        </p:spPr>
      </p:sp>
      <p:sp>
        <p:nvSpPr>
          <p:cNvPr id="72" name="Text 64"/>
          <p:cNvSpPr/>
          <p:nvPr/>
        </p:nvSpPr>
        <p:spPr>
          <a:xfrm>
            <a:off x="4857750" y="4514850"/>
            <a:ext cx="3729038" cy="228600"/>
          </a:xfrm>
          <a:prstGeom prst="rect">
            <a:avLst/>
          </a:prstGeom>
          <a:noFill/>
          <a:ln/>
        </p:spPr>
        <p:txBody>
          <a:bodyPr wrap="square" lIns="0" tIns="0" rIns="0" bIns="0" rtlCol="0" anchor="ctr">
            <a:spAutoFit/>
          </a:bodyPr>
          <a:lstStyle/>
          <a:p>
            <a:pPr indent="0" marL="0">
              <a:buNone/>
            </a:pPr>
            <a:r>
              <a:rPr lang="en-US" sz="1350" b="1" dirty="0">
                <a:solidFill>
                  <a:srgbClr val="BFDBFE"/>
                </a:solidFill>
                <a:latin typeface="Segoe UI" pitchFamily="34" charset="0"/>
                <a:ea typeface="Segoe UI" pitchFamily="34" charset="-122"/>
                <a:cs typeface="Segoe UI" pitchFamily="34" charset="-120"/>
              </a:rPr>
              <a:t>Understanding the Main Method</a:t>
            </a:r>
            <a:endParaRPr lang="en-US" sz="1350" dirty="0"/>
          </a:p>
        </p:txBody>
      </p:sp>
      <p:sp>
        <p:nvSpPr>
          <p:cNvPr id="73" name="Shape 65"/>
          <p:cNvSpPr/>
          <p:nvPr/>
        </p:nvSpPr>
        <p:spPr>
          <a:xfrm>
            <a:off x="4857750" y="4857750"/>
            <a:ext cx="3657600" cy="671513"/>
          </a:xfrm>
          <a:prstGeom prst="rect">
            <a:avLst/>
          </a:prstGeom>
          <a:solidFill>
            <a:srgbClr val="1E293B">
              <a:alpha val="80000"/>
            </a:srgbClr>
          </a:solidFill>
          <a:ln w="99">
            <a:solidFill>
              <a:srgbClr val="60A5FA">
                <a:alpha val="30000"/>
              </a:srgbClr>
            </a:solidFill>
            <a:prstDash val="solid"/>
          </a:ln>
        </p:spPr>
      </p:sp>
      <p:sp>
        <p:nvSpPr>
          <p:cNvPr id="74" name="Text 66"/>
          <p:cNvSpPr/>
          <p:nvPr/>
        </p:nvSpPr>
        <p:spPr>
          <a:xfrm>
            <a:off x="4972050" y="4986338"/>
            <a:ext cx="2472128" cy="400050"/>
          </a:xfrm>
          <a:prstGeom prst="rect">
            <a:avLst/>
          </a:prstGeom>
          <a:noFill/>
          <a:ln/>
        </p:spPr>
        <p:txBody>
          <a:bodyPr wrap="square" lIns="0" tIns="0" rIns="0" bIns="0" rtlCol="0" anchor="ctr">
            <a:spAutoFit/>
          </a:bodyPr>
          <a:lstStyle/>
          <a:p>
            <a:pPr indent="0" marL="0">
              <a:buNone/>
            </a:pPr>
            <a:r>
              <a:rPr lang="en-US" sz="788" dirty="0">
                <a:solidFill>
                  <a:srgbClr val="DBEAFE"/>
                </a:solidFill>
                <a:latin typeface="Consolas" pitchFamily="34" charset="0"/>
                <a:ea typeface="Consolas" pitchFamily="34" charset="-122"/>
                <a:cs typeface="Consolas" pitchFamily="34" charset="-120"/>
              </a:rPr>
              <a:t>public static void main(String[] args) {</a:t>
            </a:r>
            <a:endParaRPr lang="en-US" sz="788" dirty="0"/>
          </a:p>
          <a:p>
            <a:pPr indent="0" marL="0">
              <a:buNone/>
            </a:pPr>
            <a:r>
              <a:rPr lang="en-US" sz="788" dirty="0">
                <a:solidFill>
                  <a:srgbClr val="DBEAFE"/>
                </a:solidFill>
                <a:latin typeface="Consolas" pitchFamily="34" charset="0"/>
                <a:ea typeface="Consolas" pitchFamily="34" charset="-122"/>
                <a:cs typeface="Consolas" pitchFamily="34" charset="-120"/>
              </a:rPr>
              <a:t>    // Code goes here</a:t>
            </a:r>
            <a:endParaRPr lang="en-US" sz="788" dirty="0"/>
          </a:p>
          <a:p>
            <a:pPr indent="0" marL="0">
              <a:buNone/>
            </a:pPr>
            <a:r>
              <a:rPr lang="en-US" sz="788" dirty="0">
                <a:solidFill>
                  <a:srgbClr val="DBEAFE"/>
                </a:solidFill>
                <a:latin typeface="Consolas" pitchFamily="34" charset="0"/>
                <a:ea typeface="Consolas" pitchFamily="34" charset="-122"/>
                <a:cs typeface="Consolas" pitchFamily="34" charset="-120"/>
              </a:rPr>
              <a:t>}</a:t>
            </a:r>
            <a:endParaRPr lang="en-US" sz="788" dirty="0"/>
          </a:p>
        </p:txBody>
      </p:sp>
      <p:sp>
        <p:nvSpPr>
          <p:cNvPr id="75" name="Shape 67"/>
          <p:cNvSpPr/>
          <p:nvPr/>
        </p:nvSpPr>
        <p:spPr>
          <a:xfrm>
            <a:off x="4857750" y="5629275"/>
            <a:ext cx="3657600" cy="1314450"/>
          </a:xfrm>
          <a:prstGeom prst="rect">
            <a:avLst/>
          </a:prstGeom>
          <a:solidFill>
            <a:srgbClr val="1E3A8A">
              <a:alpha val="30000"/>
            </a:srgbClr>
          </a:solidFill>
          <a:ln/>
        </p:spPr>
      </p:sp>
      <p:sp>
        <p:nvSpPr>
          <p:cNvPr id="76" name="Text 68"/>
          <p:cNvSpPr/>
          <p:nvPr/>
        </p:nvSpPr>
        <p:spPr>
          <a:xfrm>
            <a:off x="4972050" y="5743575"/>
            <a:ext cx="3500438" cy="200025"/>
          </a:xfrm>
          <a:prstGeom prst="rect">
            <a:avLst/>
          </a:prstGeom>
          <a:noFill/>
          <a:ln/>
        </p:spPr>
        <p:txBody>
          <a:bodyPr wrap="square" lIns="0" tIns="0" rIns="0" bIns="0" rtlCol="0" anchor="ctr">
            <a:spAutoFit/>
          </a:bodyPr>
          <a:lstStyle/>
          <a:p>
            <a:pPr indent="0" marL="0">
              <a:buNone/>
            </a:pPr>
            <a:r>
              <a:rPr lang="en-US" sz="1125" b="1" dirty="0">
                <a:solidFill>
                  <a:srgbClr val="F1F5F9"/>
                </a:solidFill>
                <a:latin typeface="Segoe UI" pitchFamily="34" charset="0"/>
                <a:ea typeface="Segoe UI" pitchFamily="34" charset="-122"/>
                <a:cs typeface="Segoe UI" pitchFamily="34" charset="-120"/>
              </a:rPr>
              <a:t>Main Method Breakdown</a:t>
            </a:r>
            <a:endParaRPr lang="en-US" sz="1125" dirty="0"/>
          </a:p>
        </p:txBody>
      </p:sp>
      <p:pic>
        <p:nvPicPr>
          <p:cNvPr id="77" name="Image 6" descr="preencoded.png">    </p:cNvPr>
          <p:cNvPicPr>
            <a:picLocks noChangeAspect="1"/>
          </p:cNvPicPr>
          <p:nvPr/>
        </p:nvPicPr>
        <p:blipFill>
          <a:blip r:embed="rId7"/>
          <a:stretch>
            <a:fillRect/>
          </a:stretch>
        </p:blipFill>
        <p:spPr>
          <a:xfrm>
            <a:off x="4972050" y="6029325"/>
            <a:ext cx="100013" cy="100013"/>
          </a:xfrm>
          <a:prstGeom prst="rect">
            <a:avLst/>
          </a:prstGeom>
        </p:spPr>
      </p:pic>
      <p:sp>
        <p:nvSpPr>
          <p:cNvPr id="78" name="Text 69"/>
          <p:cNvSpPr/>
          <p:nvPr/>
        </p:nvSpPr>
        <p:spPr>
          <a:xfrm>
            <a:off x="5129213" y="6015038"/>
            <a:ext cx="399213" cy="112514"/>
          </a:xfrm>
          <a:prstGeom prst="rect">
            <a:avLst/>
          </a:prstGeom>
          <a:noFill/>
          <a:ln/>
        </p:spPr>
        <p:txBody>
          <a:bodyPr wrap="none" lIns="0" tIns="0" rIns="0" bIns="0" rtlCol="0" anchor="ctr">
            <a:spAutoFit/>
          </a:bodyPr>
          <a:lstStyle/>
          <a:p>
            <a:pPr algn="l" indent="0" marL="0">
              <a:buNone/>
            </a:pPr>
            <a:r>
              <a:rPr lang="en-US" sz="788" b="1" dirty="0">
                <a:solidFill>
                  <a:srgbClr val="60A5FA"/>
                </a:solidFill>
                <a:latin typeface="Segoe UI" pitchFamily="34" charset="0"/>
                <a:ea typeface="Segoe UI" pitchFamily="34" charset="-122"/>
                <a:cs typeface="Segoe UI" pitchFamily="34" charset="-120"/>
              </a:rPr>
              <a:t>public:</a:t>
            </a:r>
            <a:endParaRPr lang="en-US" sz="788" dirty="0"/>
          </a:p>
        </p:txBody>
      </p:sp>
      <p:sp>
        <p:nvSpPr>
          <p:cNvPr id="79" name="Text 70"/>
          <p:cNvSpPr/>
          <p:nvPr/>
        </p:nvSpPr>
        <p:spPr>
          <a:xfrm>
            <a:off x="5456988" y="6015038"/>
            <a:ext cx="1261011" cy="112514"/>
          </a:xfrm>
          <a:prstGeom prst="rect">
            <a:avLst/>
          </a:prstGeom>
          <a:noFill/>
          <a:ln/>
        </p:spPr>
        <p:txBody>
          <a:bodyPr wrap="none" lIns="0" tIns="0" rIns="0" bIns="0" rtlCol="0" anchor="ctr">
            <a:spAutoFit/>
          </a:bodyPr>
          <a:lstStyle/>
          <a:p>
            <a:pPr algn="l" indent="0" marL="0">
              <a:buNone/>
            </a:pPr>
            <a:r>
              <a:rPr lang="en-US" sz="788" dirty="0">
                <a:solidFill>
                  <a:srgbClr val="F1F5F9"/>
                </a:solidFill>
                <a:latin typeface="Segoe UI" pitchFamily="34" charset="0"/>
                <a:ea typeface="Segoe UI" pitchFamily="34" charset="-122"/>
                <a:cs typeface="Segoe UI" pitchFamily="34" charset="-120"/>
              </a:rPr>
              <a:t>Accessible from anywhere</a:t>
            </a:r>
            <a:endParaRPr lang="en-US" sz="788" dirty="0"/>
          </a:p>
        </p:txBody>
      </p:sp>
      <p:pic>
        <p:nvPicPr>
          <p:cNvPr id="80" name="Image 7" descr="preencoded.png">    </p:cNvPr>
          <p:cNvPicPr>
            <a:picLocks noChangeAspect="1"/>
          </p:cNvPicPr>
          <p:nvPr/>
        </p:nvPicPr>
        <p:blipFill>
          <a:blip r:embed="rId8"/>
          <a:stretch>
            <a:fillRect/>
          </a:stretch>
        </p:blipFill>
        <p:spPr>
          <a:xfrm>
            <a:off x="4972050" y="6200775"/>
            <a:ext cx="100013" cy="100013"/>
          </a:xfrm>
          <a:prstGeom prst="rect">
            <a:avLst/>
          </a:prstGeom>
        </p:spPr>
      </p:pic>
      <p:sp>
        <p:nvSpPr>
          <p:cNvPr id="81" name="Text 71"/>
          <p:cNvSpPr/>
          <p:nvPr/>
        </p:nvSpPr>
        <p:spPr>
          <a:xfrm>
            <a:off x="5129213" y="6186488"/>
            <a:ext cx="366006" cy="112514"/>
          </a:xfrm>
          <a:prstGeom prst="rect">
            <a:avLst/>
          </a:prstGeom>
          <a:noFill/>
          <a:ln/>
        </p:spPr>
        <p:txBody>
          <a:bodyPr wrap="none" lIns="0" tIns="0" rIns="0" bIns="0" rtlCol="0" anchor="ctr">
            <a:spAutoFit/>
          </a:bodyPr>
          <a:lstStyle/>
          <a:p>
            <a:pPr algn="l" indent="0" marL="0">
              <a:buNone/>
            </a:pPr>
            <a:r>
              <a:rPr lang="en-US" sz="788" b="1" dirty="0">
                <a:solidFill>
                  <a:srgbClr val="60A5FA"/>
                </a:solidFill>
                <a:latin typeface="Segoe UI" pitchFamily="34" charset="0"/>
                <a:ea typeface="Segoe UI" pitchFamily="34" charset="-122"/>
                <a:cs typeface="Segoe UI" pitchFamily="34" charset="-120"/>
              </a:rPr>
              <a:t>static:</a:t>
            </a:r>
            <a:endParaRPr lang="en-US" sz="788" dirty="0"/>
          </a:p>
        </p:txBody>
      </p:sp>
      <p:sp>
        <p:nvSpPr>
          <p:cNvPr id="82" name="Text 72"/>
          <p:cNvSpPr/>
          <p:nvPr/>
        </p:nvSpPr>
        <p:spPr>
          <a:xfrm>
            <a:off x="5423781" y="6186488"/>
            <a:ext cx="1872807" cy="112514"/>
          </a:xfrm>
          <a:prstGeom prst="rect">
            <a:avLst/>
          </a:prstGeom>
          <a:noFill/>
          <a:ln/>
        </p:spPr>
        <p:txBody>
          <a:bodyPr wrap="square" lIns="0" tIns="0" rIns="0" bIns="0" rtlCol="0" anchor="ctr">
            <a:spAutoFit/>
          </a:bodyPr>
          <a:lstStyle/>
          <a:p>
            <a:pPr algn="l" indent="0" marL="0">
              <a:buNone/>
            </a:pPr>
            <a:r>
              <a:rPr lang="en-US" sz="788" dirty="0">
                <a:solidFill>
                  <a:srgbClr val="F1F5F9"/>
                </a:solidFill>
                <a:latin typeface="Segoe UI" pitchFamily="34" charset="0"/>
                <a:ea typeface="Segoe UI" pitchFamily="34" charset="-122"/>
                <a:cs typeface="Segoe UI" pitchFamily="34" charset="-120"/>
              </a:rPr>
              <a:t>Can be called without creating an object</a:t>
            </a:r>
            <a:endParaRPr lang="en-US" sz="788" dirty="0"/>
          </a:p>
        </p:txBody>
      </p:sp>
      <p:pic>
        <p:nvPicPr>
          <p:cNvPr id="83" name="Image 8" descr="preencoded.png">    </p:cNvPr>
          <p:cNvPicPr>
            <a:picLocks noChangeAspect="1"/>
          </p:cNvPicPr>
          <p:nvPr/>
        </p:nvPicPr>
        <p:blipFill>
          <a:blip r:embed="rId9"/>
          <a:stretch>
            <a:fillRect/>
          </a:stretch>
        </p:blipFill>
        <p:spPr>
          <a:xfrm>
            <a:off x="4972050" y="6372225"/>
            <a:ext cx="100013" cy="100013"/>
          </a:xfrm>
          <a:prstGeom prst="rect">
            <a:avLst/>
          </a:prstGeom>
        </p:spPr>
      </p:pic>
      <p:sp>
        <p:nvSpPr>
          <p:cNvPr id="84" name="Text 73"/>
          <p:cNvSpPr/>
          <p:nvPr/>
        </p:nvSpPr>
        <p:spPr>
          <a:xfrm>
            <a:off x="5129213" y="6357938"/>
            <a:ext cx="310335" cy="112514"/>
          </a:xfrm>
          <a:prstGeom prst="rect">
            <a:avLst/>
          </a:prstGeom>
          <a:noFill/>
          <a:ln/>
        </p:spPr>
        <p:txBody>
          <a:bodyPr wrap="none" lIns="0" tIns="0" rIns="0" bIns="0" rtlCol="0" anchor="ctr">
            <a:spAutoFit/>
          </a:bodyPr>
          <a:lstStyle/>
          <a:p>
            <a:pPr algn="l" indent="0" marL="0">
              <a:buNone/>
            </a:pPr>
            <a:r>
              <a:rPr lang="en-US" sz="788" b="1" dirty="0">
                <a:solidFill>
                  <a:srgbClr val="60A5FA"/>
                </a:solidFill>
                <a:latin typeface="Segoe UI" pitchFamily="34" charset="0"/>
                <a:ea typeface="Segoe UI" pitchFamily="34" charset="-122"/>
                <a:cs typeface="Segoe UI" pitchFamily="34" charset="-120"/>
              </a:rPr>
              <a:t>void:</a:t>
            </a:r>
            <a:endParaRPr lang="en-US" sz="788" dirty="0"/>
          </a:p>
        </p:txBody>
      </p:sp>
      <p:sp>
        <p:nvSpPr>
          <p:cNvPr id="85" name="Text 74"/>
          <p:cNvSpPr/>
          <p:nvPr/>
        </p:nvSpPr>
        <p:spPr>
          <a:xfrm>
            <a:off x="5368110" y="6357938"/>
            <a:ext cx="1244491" cy="112514"/>
          </a:xfrm>
          <a:prstGeom prst="rect">
            <a:avLst/>
          </a:prstGeom>
          <a:noFill/>
          <a:ln/>
        </p:spPr>
        <p:txBody>
          <a:bodyPr wrap="none" lIns="0" tIns="0" rIns="0" bIns="0" rtlCol="0" anchor="ctr">
            <a:spAutoFit/>
          </a:bodyPr>
          <a:lstStyle/>
          <a:p>
            <a:pPr algn="l" indent="0" marL="0">
              <a:buNone/>
            </a:pPr>
            <a:r>
              <a:rPr lang="en-US" sz="788" dirty="0">
                <a:solidFill>
                  <a:srgbClr val="F1F5F9"/>
                </a:solidFill>
                <a:latin typeface="Segoe UI" pitchFamily="34" charset="0"/>
                <a:ea typeface="Segoe UI" pitchFamily="34" charset="-122"/>
                <a:cs typeface="Segoe UI" pitchFamily="34" charset="-120"/>
              </a:rPr>
              <a:t>Does not return any value</a:t>
            </a:r>
            <a:endParaRPr lang="en-US" sz="788" dirty="0"/>
          </a:p>
        </p:txBody>
      </p:sp>
      <p:pic>
        <p:nvPicPr>
          <p:cNvPr id="86" name="Image 9" descr="preencoded.png">    </p:cNvPr>
          <p:cNvPicPr>
            <a:picLocks noChangeAspect="1"/>
          </p:cNvPicPr>
          <p:nvPr/>
        </p:nvPicPr>
        <p:blipFill>
          <a:blip r:embed="rId10"/>
          <a:stretch>
            <a:fillRect/>
          </a:stretch>
        </p:blipFill>
        <p:spPr>
          <a:xfrm>
            <a:off x="4972050" y="6543675"/>
            <a:ext cx="100013" cy="100013"/>
          </a:xfrm>
          <a:prstGeom prst="rect">
            <a:avLst/>
          </a:prstGeom>
        </p:spPr>
      </p:pic>
      <p:sp>
        <p:nvSpPr>
          <p:cNvPr id="87" name="Text 75"/>
          <p:cNvSpPr/>
          <p:nvPr/>
        </p:nvSpPr>
        <p:spPr>
          <a:xfrm>
            <a:off x="5129213" y="6529388"/>
            <a:ext cx="338184" cy="112514"/>
          </a:xfrm>
          <a:prstGeom prst="rect">
            <a:avLst/>
          </a:prstGeom>
          <a:noFill/>
          <a:ln/>
        </p:spPr>
        <p:txBody>
          <a:bodyPr wrap="none" lIns="0" tIns="0" rIns="0" bIns="0" rtlCol="0" anchor="ctr">
            <a:spAutoFit/>
          </a:bodyPr>
          <a:lstStyle/>
          <a:p>
            <a:pPr algn="l" indent="0" marL="0">
              <a:buNone/>
            </a:pPr>
            <a:r>
              <a:rPr lang="en-US" sz="788" b="1" dirty="0">
                <a:solidFill>
                  <a:srgbClr val="60A5FA"/>
                </a:solidFill>
                <a:latin typeface="Segoe UI" pitchFamily="34" charset="0"/>
                <a:ea typeface="Segoe UI" pitchFamily="34" charset="-122"/>
                <a:cs typeface="Segoe UI" pitchFamily="34" charset="-120"/>
              </a:rPr>
              <a:t>main:</a:t>
            </a:r>
            <a:endParaRPr lang="en-US" sz="788" dirty="0"/>
          </a:p>
        </p:txBody>
      </p:sp>
      <p:sp>
        <p:nvSpPr>
          <p:cNvPr id="88" name="Text 76"/>
          <p:cNvSpPr/>
          <p:nvPr/>
        </p:nvSpPr>
        <p:spPr>
          <a:xfrm>
            <a:off x="5395959" y="6529388"/>
            <a:ext cx="1944886" cy="112514"/>
          </a:xfrm>
          <a:prstGeom prst="rect">
            <a:avLst/>
          </a:prstGeom>
          <a:noFill/>
          <a:ln/>
        </p:spPr>
        <p:txBody>
          <a:bodyPr wrap="square" lIns="0" tIns="0" rIns="0" bIns="0" rtlCol="0" anchor="ctr">
            <a:spAutoFit/>
          </a:bodyPr>
          <a:lstStyle/>
          <a:p>
            <a:pPr algn="l" indent="0" marL="0">
              <a:buNone/>
            </a:pPr>
            <a:r>
              <a:rPr lang="en-US" sz="788" dirty="0">
                <a:solidFill>
                  <a:srgbClr val="F1F5F9"/>
                </a:solidFill>
                <a:latin typeface="Segoe UI" pitchFamily="34" charset="0"/>
                <a:ea typeface="Segoe UI" pitchFamily="34" charset="-122"/>
                <a:cs typeface="Segoe UI" pitchFamily="34" charset="-120"/>
              </a:rPr>
              <a:t>Special method name recognized by JVM</a:t>
            </a:r>
            <a:endParaRPr lang="en-US" sz="788" dirty="0"/>
          </a:p>
        </p:txBody>
      </p:sp>
      <p:pic>
        <p:nvPicPr>
          <p:cNvPr id="89" name="Image 10" descr="preencoded.png">    </p:cNvPr>
          <p:cNvPicPr>
            <a:picLocks noChangeAspect="1"/>
          </p:cNvPicPr>
          <p:nvPr/>
        </p:nvPicPr>
        <p:blipFill>
          <a:blip r:embed="rId11"/>
          <a:stretch>
            <a:fillRect/>
          </a:stretch>
        </p:blipFill>
        <p:spPr>
          <a:xfrm>
            <a:off x="4972050" y="6715125"/>
            <a:ext cx="100013" cy="100013"/>
          </a:xfrm>
          <a:prstGeom prst="rect">
            <a:avLst/>
          </a:prstGeom>
        </p:spPr>
      </p:pic>
      <p:sp>
        <p:nvSpPr>
          <p:cNvPr id="90" name="Text 77"/>
          <p:cNvSpPr/>
          <p:nvPr/>
        </p:nvSpPr>
        <p:spPr>
          <a:xfrm>
            <a:off x="5129213" y="6700838"/>
            <a:ext cx="699306" cy="112514"/>
          </a:xfrm>
          <a:prstGeom prst="rect">
            <a:avLst/>
          </a:prstGeom>
          <a:noFill/>
          <a:ln/>
        </p:spPr>
        <p:txBody>
          <a:bodyPr wrap="none" lIns="0" tIns="0" rIns="0" bIns="0" rtlCol="0" anchor="ctr">
            <a:spAutoFit/>
          </a:bodyPr>
          <a:lstStyle/>
          <a:p>
            <a:pPr algn="l" indent="0" marL="0">
              <a:buNone/>
            </a:pPr>
            <a:r>
              <a:rPr lang="en-US" sz="788" b="1" dirty="0">
                <a:solidFill>
                  <a:srgbClr val="60A5FA"/>
                </a:solidFill>
                <a:latin typeface="Segoe UI" pitchFamily="34" charset="0"/>
                <a:ea typeface="Segoe UI" pitchFamily="34" charset="-122"/>
                <a:cs typeface="Segoe UI" pitchFamily="34" charset="-120"/>
              </a:rPr>
              <a:t>String[] args:</a:t>
            </a:r>
            <a:endParaRPr lang="en-US" sz="788" dirty="0"/>
          </a:p>
        </p:txBody>
      </p:sp>
      <p:sp>
        <p:nvSpPr>
          <p:cNvPr id="91" name="Text 78"/>
          <p:cNvSpPr/>
          <p:nvPr/>
        </p:nvSpPr>
        <p:spPr>
          <a:xfrm>
            <a:off x="5757081" y="6700838"/>
            <a:ext cx="1249877" cy="112514"/>
          </a:xfrm>
          <a:prstGeom prst="rect">
            <a:avLst/>
          </a:prstGeom>
          <a:noFill/>
          <a:ln/>
        </p:spPr>
        <p:txBody>
          <a:bodyPr wrap="none" lIns="0" tIns="0" rIns="0" bIns="0" rtlCol="0" anchor="ctr">
            <a:spAutoFit/>
          </a:bodyPr>
          <a:lstStyle/>
          <a:p>
            <a:pPr algn="l" indent="0" marL="0">
              <a:buNone/>
            </a:pPr>
            <a:r>
              <a:rPr lang="en-US" sz="788" dirty="0">
                <a:solidFill>
                  <a:srgbClr val="F1F5F9"/>
                </a:solidFill>
                <a:latin typeface="Segoe UI" pitchFamily="34" charset="0"/>
                <a:ea typeface="Segoe UI" pitchFamily="34" charset="-122"/>
                <a:cs typeface="Segoe UI" pitchFamily="34" charset="-120"/>
              </a:rPr>
              <a:t>Command-line arguments</a:t>
            </a:r>
            <a:endParaRPr lang="en-US" sz="788" dirty="0"/>
          </a:p>
        </p:txBody>
      </p:sp>
      <p:sp>
        <p:nvSpPr>
          <p:cNvPr id="92" name="Shape 79"/>
          <p:cNvSpPr/>
          <p:nvPr/>
        </p:nvSpPr>
        <p:spPr>
          <a:xfrm>
            <a:off x="4686300" y="7286625"/>
            <a:ext cx="4000500" cy="3328988"/>
          </a:xfrm>
          <a:prstGeom prst="rect">
            <a:avLst/>
          </a:prstGeom>
          <a:solidFill>
            <a:srgbClr val="FFFFFF">
              <a:alpha val="10000"/>
            </a:srgbClr>
          </a:solidFill>
          <a:ln w="99">
            <a:solidFill>
              <a:srgbClr val="60A5FA">
                <a:alpha val="30000"/>
              </a:srgbClr>
            </a:solidFill>
            <a:prstDash val="solid"/>
          </a:ln>
        </p:spPr>
      </p:sp>
      <p:sp>
        <p:nvSpPr>
          <p:cNvPr id="93" name="Text 80"/>
          <p:cNvSpPr/>
          <p:nvPr/>
        </p:nvSpPr>
        <p:spPr>
          <a:xfrm>
            <a:off x="4857750" y="7458075"/>
            <a:ext cx="3729038" cy="228600"/>
          </a:xfrm>
          <a:prstGeom prst="rect">
            <a:avLst/>
          </a:prstGeom>
          <a:noFill/>
          <a:ln/>
        </p:spPr>
        <p:txBody>
          <a:bodyPr wrap="square" lIns="0" tIns="0" rIns="0" bIns="0" rtlCol="0" anchor="ctr">
            <a:spAutoFit/>
          </a:bodyPr>
          <a:lstStyle/>
          <a:p>
            <a:pPr indent="0" marL="0">
              <a:buNone/>
            </a:pPr>
            <a:r>
              <a:rPr lang="en-US" sz="1350" b="1" dirty="0">
                <a:solidFill>
                  <a:srgbClr val="BFDBFE"/>
                </a:solidFill>
                <a:latin typeface="Segoe UI" pitchFamily="34" charset="0"/>
                <a:ea typeface="Segoe UI" pitchFamily="34" charset="-122"/>
                <a:cs typeface="Segoe UI" pitchFamily="34" charset="-120"/>
              </a:rPr>
              <a:t>Output Methods</a:t>
            </a:r>
            <a:endParaRPr lang="en-US" sz="1350" dirty="0"/>
          </a:p>
        </p:txBody>
      </p:sp>
      <p:sp>
        <p:nvSpPr>
          <p:cNvPr id="94" name="Shape 81"/>
          <p:cNvSpPr/>
          <p:nvPr/>
        </p:nvSpPr>
        <p:spPr>
          <a:xfrm>
            <a:off x="4857750" y="7800975"/>
            <a:ext cx="3657600" cy="2000250"/>
          </a:xfrm>
          <a:prstGeom prst="rect">
            <a:avLst/>
          </a:prstGeom>
          <a:solidFill>
            <a:srgbClr val="1E3A8A">
              <a:alpha val="30000"/>
            </a:srgbClr>
          </a:solidFill>
          <a:ln/>
        </p:spPr>
      </p:sp>
      <p:sp>
        <p:nvSpPr>
          <p:cNvPr id="95" name="Text 82"/>
          <p:cNvSpPr/>
          <p:nvPr/>
        </p:nvSpPr>
        <p:spPr>
          <a:xfrm>
            <a:off x="4972050" y="7915275"/>
            <a:ext cx="3500438" cy="200025"/>
          </a:xfrm>
          <a:prstGeom prst="rect">
            <a:avLst/>
          </a:prstGeom>
          <a:noFill/>
          <a:ln/>
        </p:spPr>
        <p:txBody>
          <a:bodyPr wrap="square" lIns="0" tIns="0" rIns="0" bIns="0" rtlCol="0" anchor="ctr">
            <a:spAutoFit/>
          </a:bodyPr>
          <a:lstStyle/>
          <a:p>
            <a:pPr indent="0" marL="0">
              <a:buNone/>
            </a:pPr>
            <a:r>
              <a:rPr lang="en-US" sz="1125" b="1" dirty="0">
                <a:solidFill>
                  <a:srgbClr val="F1F5F9"/>
                </a:solidFill>
                <a:latin typeface="Segoe UI" pitchFamily="34" charset="0"/>
                <a:ea typeface="Segoe UI" pitchFamily="34" charset="-122"/>
                <a:cs typeface="Segoe UI" pitchFamily="34" charset="-120"/>
              </a:rPr>
              <a:t>System.out Methods</a:t>
            </a:r>
            <a:endParaRPr lang="en-US" sz="1125" dirty="0"/>
          </a:p>
        </p:txBody>
      </p:sp>
      <p:sp>
        <p:nvSpPr>
          <p:cNvPr id="96" name="Text 83"/>
          <p:cNvSpPr/>
          <p:nvPr/>
        </p:nvSpPr>
        <p:spPr>
          <a:xfrm>
            <a:off x="4972050" y="8172450"/>
            <a:ext cx="1728788" cy="142875"/>
          </a:xfrm>
          <a:prstGeom prst="rect">
            <a:avLst/>
          </a:prstGeom>
          <a:noFill/>
          <a:ln/>
        </p:spPr>
        <p:txBody>
          <a:bodyPr wrap="square" lIns="0" tIns="0" rIns="0" bIns="0" rtlCol="0" anchor="ctr">
            <a:spAutoFit/>
          </a:bodyPr>
          <a:lstStyle/>
          <a:p>
            <a:pPr indent="0" marL="0">
              <a:buNone/>
            </a:pPr>
            <a:r>
              <a:rPr lang="en-US" sz="788" b="1" dirty="0">
                <a:solidFill>
                  <a:srgbClr val="F1F5F9"/>
                </a:solidFill>
                <a:latin typeface="Segoe UI" pitchFamily="34" charset="0"/>
                <a:ea typeface="Segoe UI" pitchFamily="34" charset="-122"/>
                <a:cs typeface="Segoe UI" pitchFamily="34" charset="-120"/>
              </a:rPr>
              <a:t>println()</a:t>
            </a:r>
            <a:endParaRPr lang="en-US" sz="788" dirty="0"/>
          </a:p>
        </p:txBody>
      </p:sp>
      <p:sp>
        <p:nvSpPr>
          <p:cNvPr id="97" name="Text 84"/>
          <p:cNvSpPr/>
          <p:nvPr/>
        </p:nvSpPr>
        <p:spPr>
          <a:xfrm>
            <a:off x="4972050" y="8343900"/>
            <a:ext cx="1728788" cy="114300"/>
          </a:xfrm>
          <a:prstGeom prst="rect">
            <a:avLst/>
          </a:prstGeom>
          <a:noFill/>
          <a:ln/>
        </p:spPr>
        <p:txBody>
          <a:bodyPr wrap="square" lIns="0" tIns="0" rIns="0" bIns="0" rtlCol="0" anchor="ctr">
            <a:spAutoFit/>
          </a:bodyPr>
          <a:lstStyle/>
          <a:p>
            <a:pPr indent="0" marL="0">
              <a:buNone/>
            </a:pPr>
            <a:r>
              <a:rPr lang="en-US" sz="675" dirty="0">
                <a:solidFill>
                  <a:srgbClr val="F1F5F9"/>
                </a:solidFill>
                <a:latin typeface="Segoe UI" pitchFamily="34" charset="0"/>
                <a:ea typeface="Segoe UI" pitchFamily="34" charset="-122"/>
                <a:cs typeface="Segoe UI" pitchFamily="34" charset="-120"/>
              </a:rPr>
              <a:t>Prints text and adds a new line</a:t>
            </a:r>
            <a:endParaRPr lang="en-US" sz="675" dirty="0"/>
          </a:p>
        </p:txBody>
      </p:sp>
      <p:sp>
        <p:nvSpPr>
          <p:cNvPr id="98" name="Shape 85"/>
          <p:cNvSpPr/>
          <p:nvPr/>
        </p:nvSpPr>
        <p:spPr>
          <a:xfrm>
            <a:off x="4972050" y="8486775"/>
            <a:ext cx="1657350" cy="300038"/>
          </a:xfrm>
          <a:prstGeom prst="rect">
            <a:avLst/>
          </a:prstGeom>
          <a:solidFill>
            <a:srgbClr val="1E293B">
              <a:alpha val="80000"/>
            </a:srgbClr>
          </a:solidFill>
          <a:ln w="99">
            <a:solidFill>
              <a:srgbClr val="60A5FA">
                <a:alpha val="30000"/>
              </a:srgbClr>
            </a:solidFill>
            <a:prstDash val="solid"/>
          </a:ln>
        </p:spPr>
      </p:sp>
      <p:sp>
        <p:nvSpPr>
          <p:cNvPr id="99" name="Text 86"/>
          <p:cNvSpPr/>
          <p:nvPr/>
        </p:nvSpPr>
        <p:spPr>
          <a:xfrm>
            <a:off x="5029200" y="8599289"/>
            <a:ext cx="1563309" cy="96441"/>
          </a:xfrm>
          <a:prstGeom prst="rect">
            <a:avLst/>
          </a:prstGeom>
          <a:noFill/>
          <a:ln/>
        </p:spPr>
        <p:txBody>
          <a:bodyPr wrap="square" lIns="0" tIns="0" rIns="0" bIns="0" rtlCol="0" anchor="ctr">
            <a:spAutoFit/>
          </a:bodyPr>
          <a:lstStyle/>
          <a:p>
            <a:pPr indent="0" marL="0">
              <a:buNone/>
            </a:pPr>
            <a:r>
              <a:rPr lang="en-US" sz="675" dirty="0">
                <a:solidFill>
                  <a:srgbClr val="DBEAFE"/>
                </a:solidFill>
                <a:latin typeface="Consolas" pitchFamily="34" charset="0"/>
                <a:ea typeface="Consolas" pitchFamily="34" charset="-122"/>
                <a:cs typeface="Consolas" pitchFamily="34" charset="-120"/>
              </a:rPr>
              <a:t>System.out.println("Hello!");</a:t>
            </a:r>
            <a:endParaRPr lang="en-US" sz="675" dirty="0"/>
          </a:p>
        </p:txBody>
      </p:sp>
      <p:sp>
        <p:nvSpPr>
          <p:cNvPr id="100" name="Text 87"/>
          <p:cNvSpPr/>
          <p:nvPr/>
        </p:nvSpPr>
        <p:spPr>
          <a:xfrm>
            <a:off x="6743700" y="8172450"/>
            <a:ext cx="1728788" cy="142875"/>
          </a:xfrm>
          <a:prstGeom prst="rect">
            <a:avLst/>
          </a:prstGeom>
          <a:noFill/>
          <a:ln/>
        </p:spPr>
        <p:txBody>
          <a:bodyPr wrap="square" lIns="0" tIns="0" rIns="0" bIns="0" rtlCol="0" anchor="ctr">
            <a:spAutoFit/>
          </a:bodyPr>
          <a:lstStyle/>
          <a:p>
            <a:pPr indent="0" marL="0">
              <a:buNone/>
            </a:pPr>
            <a:r>
              <a:rPr lang="en-US" sz="788" b="1" dirty="0">
                <a:solidFill>
                  <a:srgbClr val="F1F5F9"/>
                </a:solidFill>
                <a:latin typeface="Segoe UI" pitchFamily="34" charset="0"/>
                <a:ea typeface="Segoe UI" pitchFamily="34" charset="-122"/>
                <a:cs typeface="Segoe UI" pitchFamily="34" charset="-120"/>
              </a:rPr>
              <a:t>print()</a:t>
            </a:r>
            <a:endParaRPr lang="en-US" sz="788" dirty="0"/>
          </a:p>
        </p:txBody>
      </p:sp>
      <p:sp>
        <p:nvSpPr>
          <p:cNvPr id="101" name="Text 88"/>
          <p:cNvSpPr/>
          <p:nvPr/>
        </p:nvSpPr>
        <p:spPr>
          <a:xfrm>
            <a:off x="6743700" y="8343900"/>
            <a:ext cx="1728788" cy="114300"/>
          </a:xfrm>
          <a:prstGeom prst="rect">
            <a:avLst/>
          </a:prstGeom>
          <a:noFill/>
          <a:ln/>
        </p:spPr>
        <p:txBody>
          <a:bodyPr wrap="square" lIns="0" tIns="0" rIns="0" bIns="0" rtlCol="0" anchor="ctr">
            <a:spAutoFit/>
          </a:bodyPr>
          <a:lstStyle/>
          <a:p>
            <a:pPr indent="0" marL="0">
              <a:buNone/>
            </a:pPr>
            <a:r>
              <a:rPr lang="en-US" sz="675" dirty="0">
                <a:solidFill>
                  <a:srgbClr val="F1F5F9"/>
                </a:solidFill>
                <a:latin typeface="Segoe UI" pitchFamily="34" charset="0"/>
                <a:ea typeface="Segoe UI" pitchFamily="34" charset="-122"/>
                <a:cs typeface="Segoe UI" pitchFamily="34" charset="-120"/>
              </a:rPr>
              <a:t>Prints text without a new line</a:t>
            </a:r>
            <a:endParaRPr lang="en-US" sz="675" dirty="0"/>
          </a:p>
        </p:txBody>
      </p:sp>
      <p:sp>
        <p:nvSpPr>
          <p:cNvPr id="102" name="Shape 89"/>
          <p:cNvSpPr/>
          <p:nvPr/>
        </p:nvSpPr>
        <p:spPr>
          <a:xfrm>
            <a:off x="6743700" y="8486775"/>
            <a:ext cx="1657350" cy="300038"/>
          </a:xfrm>
          <a:prstGeom prst="rect">
            <a:avLst/>
          </a:prstGeom>
          <a:solidFill>
            <a:srgbClr val="1E293B">
              <a:alpha val="80000"/>
            </a:srgbClr>
          </a:solidFill>
          <a:ln w="99">
            <a:solidFill>
              <a:srgbClr val="60A5FA">
                <a:alpha val="30000"/>
              </a:srgbClr>
            </a:solidFill>
            <a:prstDash val="solid"/>
          </a:ln>
        </p:spPr>
      </p:sp>
      <p:sp>
        <p:nvSpPr>
          <p:cNvPr id="103" name="Text 90"/>
          <p:cNvSpPr/>
          <p:nvPr/>
        </p:nvSpPr>
        <p:spPr>
          <a:xfrm>
            <a:off x="6800850" y="8599289"/>
            <a:ext cx="1460422" cy="96441"/>
          </a:xfrm>
          <a:prstGeom prst="rect">
            <a:avLst/>
          </a:prstGeom>
          <a:noFill/>
          <a:ln/>
        </p:spPr>
        <p:txBody>
          <a:bodyPr wrap="square" lIns="0" tIns="0" rIns="0" bIns="0" rtlCol="0" anchor="ctr">
            <a:spAutoFit/>
          </a:bodyPr>
          <a:lstStyle/>
          <a:p>
            <a:pPr indent="0" marL="0">
              <a:buNone/>
            </a:pPr>
            <a:r>
              <a:rPr lang="en-US" sz="675" dirty="0">
                <a:solidFill>
                  <a:srgbClr val="DBEAFE"/>
                </a:solidFill>
                <a:latin typeface="Consolas" pitchFamily="34" charset="0"/>
                <a:ea typeface="Consolas" pitchFamily="34" charset="-122"/>
                <a:cs typeface="Consolas" pitchFamily="34" charset="-120"/>
              </a:rPr>
              <a:t>System.out.print("Hello ");</a:t>
            </a:r>
            <a:endParaRPr lang="en-US" sz="675" dirty="0"/>
          </a:p>
        </p:txBody>
      </p:sp>
      <p:sp>
        <p:nvSpPr>
          <p:cNvPr id="104" name="Text 91"/>
          <p:cNvSpPr/>
          <p:nvPr/>
        </p:nvSpPr>
        <p:spPr>
          <a:xfrm>
            <a:off x="4972050" y="8886825"/>
            <a:ext cx="1728788" cy="142875"/>
          </a:xfrm>
          <a:prstGeom prst="rect">
            <a:avLst/>
          </a:prstGeom>
          <a:noFill/>
          <a:ln/>
        </p:spPr>
        <p:txBody>
          <a:bodyPr wrap="square" lIns="0" tIns="0" rIns="0" bIns="0" rtlCol="0" anchor="ctr">
            <a:spAutoFit/>
          </a:bodyPr>
          <a:lstStyle/>
          <a:p>
            <a:pPr indent="0" marL="0">
              <a:buNone/>
            </a:pPr>
            <a:r>
              <a:rPr lang="en-US" sz="788" b="1" dirty="0">
                <a:solidFill>
                  <a:srgbClr val="F1F5F9"/>
                </a:solidFill>
                <a:latin typeface="Segoe UI" pitchFamily="34" charset="0"/>
                <a:ea typeface="Segoe UI" pitchFamily="34" charset="-122"/>
                <a:cs typeface="Segoe UI" pitchFamily="34" charset="-120"/>
              </a:rPr>
              <a:t>printf()</a:t>
            </a:r>
            <a:endParaRPr lang="en-US" sz="788" dirty="0"/>
          </a:p>
        </p:txBody>
      </p:sp>
      <p:sp>
        <p:nvSpPr>
          <p:cNvPr id="105" name="Text 92"/>
          <p:cNvSpPr/>
          <p:nvPr/>
        </p:nvSpPr>
        <p:spPr>
          <a:xfrm>
            <a:off x="4972050" y="9058275"/>
            <a:ext cx="1728788" cy="114300"/>
          </a:xfrm>
          <a:prstGeom prst="rect">
            <a:avLst/>
          </a:prstGeom>
          <a:noFill/>
          <a:ln/>
        </p:spPr>
        <p:txBody>
          <a:bodyPr wrap="square" lIns="0" tIns="0" rIns="0" bIns="0" rtlCol="0" anchor="ctr">
            <a:spAutoFit/>
          </a:bodyPr>
          <a:lstStyle/>
          <a:p>
            <a:pPr indent="0" marL="0">
              <a:buNone/>
            </a:pPr>
            <a:r>
              <a:rPr lang="en-US" sz="675" dirty="0">
                <a:solidFill>
                  <a:srgbClr val="F1F5F9"/>
                </a:solidFill>
                <a:latin typeface="Segoe UI" pitchFamily="34" charset="0"/>
                <a:ea typeface="Segoe UI" pitchFamily="34" charset="-122"/>
                <a:cs typeface="Segoe UI" pitchFamily="34" charset="-120"/>
              </a:rPr>
              <a:t>Formatted output</a:t>
            </a:r>
            <a:endParaRPr lang="en-US" sz="675" dirty="0"/>
          </a:p>
        </p:txBody>
      </p:sp>
      <p:sp>
        <p:nvSpPr>
          <p:cNvPr id="106" name="Shape 93"/>
          <p:cNvSpPr/>
          <p:nvPr/>
        </p:nvSpPr>
        <p:spPr>
          <a:xfrm>
            <a:off x="4972050" y="9201150"/>
            <a:ext cx="1657350" cy="471488"/>
          </a:xfrm>
          <a:prstGeom prst="rect">
            <a:avLst/>
          </a:prstGeom>
          <a:solidFill>
            <a:srgbClr val="1E293B">
              <a:alpha val="80000"/>
            </a:srgbClr>
          </a:solidFill>
          <a:ln w="99">
            <a:solidFill>
              <a:srgbClr val="60A5FA">
                <a:alpha val="30000"/>
              </a:srgbClr>
            </a:solidFill>
            <a:prstDash val="solid"/>
          </a:ln>
        </p:spPr>
      </p:sp>
      <p:sp>
        <p:nvSpPr>
          <p:cNvPr id="107" name="Text 94"/>
          <p:cNvSpPr/>
          <p:nvPr/>
        </p:nvSpPr>
        <p:spPr>
          <a:xfrm>
            <a:off x="5029200" y="9313664"/>
            <a:ext cx="1408965" cy="267891"/>
          </a:xfrm>
          <a:prstGeom prst="rect">
            <a:avLst/>
          </a:prstGeom>
          <a:noFill/>
          <a:ln/>
        </p:spPr>
        <p:txBody>
          <a:bodyPr wrap="square" lIns="0" tIns="0" rIns="0" bIns="0" rtlCol="0" anchor="ctr">
            <a:spAutoFit/>
          </a:bodyPr>
          <a:lstStyle/>
          <a:p>
            <a:pPr indent="0" marL="0">
              <a:buNone/>
            </a:pPr>
            <a:r>
              <a:rPr lang="en-US" sz="675" dirty="0">
                <a:solidFill>
                  <a:srgbClr val="DBEAFE"/>
                </a:solidFill>
                <a:latin typeface="Consolas" pitchFamily="34" charset="0"/>
                <a:ea typeface="Consolas" pitchFamily="34" charset="-122"/>
                <a:cs typeface="Consolas" pitchFamily="34" charset="-120"/>
              </a:rPr>
              <a:t>System.out.printf("Number: %d", 5);</a:t>
            </a:r>
            <a:endParaRPr lang="en-US" sz="675" dirty="0"/>
          </a:p>
        </p:txBody>
      </p:sp>
      <p:sp>
        <p:nvSpPr>
          <p:cNvPr id="108" name="Text 95"/>
          <p:cNvSpPr/>
          <p:nvPr/>
        </p:nvSpPr>
        <p:spPr>
          <a:xfrm>
            <a:off x="6743700" y="8886825"/>
            <a:ext cx="1728788" cy="142875"/>
          </a:xfrm>
          <a:prstGeom prst="rect">
            <a:avLst/>
          </a:prstGeom>
          <a:noFill/>
          <a:ln/>
        </p:spPr>
        <p:txBody>
          <a:bodyPr wrap="square" lIns="0" tIns="0" rIns="0" bIns="0" rtlCol="0" anchor="ctr">
            <a:spAutoFit/>
          </a:bodyPr>
          <a:lstStyle/>
          <a:p>
            <a:pPr indent="0" marL="0">
              <a:buNone/>
            </a:pPr>
            <a:r>
              <a:rPr lang="en-US" sz="788" b="1" dirty="0">
                <a:solidFill>
                  <a:srgbClr val="F1F5F9"/>
                </a:solidFill>
                <a:latin typeface="Segoe UI" pitchFamily="34" charset="0"/>
                <a:ea typeface="Segoe UI" pitchFamily="34" charset="-122"/>
                <a:cs typeface="Segoe UI" pitchFamily="34" charset="-120"/>
              </a:rPr>
              <a:t>format()</a:t>
            </a:r>
            <a:endParaRPr lang="en-US" sz="788" dirty="0"/>
          </a:p>
        </p:txBody>
      </p:sp>
      <p:sp>
        <p:nvSpPr>
          <p:cNvPr id="109" name="Text 96"/>
          <p:cNvSpPr/>
          <p:nvPr/>
        </p:nvSpPr>
        <p:spPr>
          <a:xfrm>
            <a:off x="6743700" y="9058275"/>
            <a:ext cx="1728788" cy="114300"/>
          </a:xfrm>
          <a:prstGeom prst="rect">
            <a:avLst/>
          </a:prstGeom>
          <a:noFill/>
          <a:ln/>
        </p:spPr>
        <p:txBody>
          <a:bodyPr wrap="square" lIns="0" tIns="0" rIns="0" bIns="0" rtlCol="0" anchor="ctr">
            <a:spAutoFit/>
          </a:bodyPr>
          <a:lstStyle/>
          <a:p>
            <a:pPr indent="0" marL="0">
              <a:buNone/>
            </a:pPr>
            <a:r>
              <a:rPr lang="en-US" sz="675" dirty="0">
                <a:solidFill>
                  <a:srgbClr val="F1F5F9"/>
                </a:solidFill>
                <a:latin typeface="Segoe UI" pitchFamily="34" charset="0"/>
                <a:ea typeface="Segoe UI" pitchFamily="34" charset="-122"/>
                <a:cs typeface="Segoe UI" pitchFamily="34" charset="-120"/>
              </a:rPr>
              <a:t>Returns formatted string</a:t>
            </a:r>
            <a:endParaRPr lang="en-US" sz="675" dirty="0"/>
          </a:p>
        </p:txBody>
      </p:sp>
      <p:sp>
        <p:nvSpPr>
          <p:cNvPr id="110" name="Shape 97"/>
          <p:cNvSpPr/>
          <p:nvPr/>
        </p:nvSpPr>
        <p:spPr>
          <a:xfrm>
            <a:off x="6743700" y="9201150"/>
            <a:ext cx="1657350" cy="471488"/>
          </a:xfrm>
          <a:prstGeom prst="rect">
            <a:avLst/>
          </a:prstGeom>
          <a:solidFill>
            <a:srgbClr val="1E293B">
              <a:alpha val="80000"/>
            </a:srgbClr>
          </a:solidFill>
          <a:ln w="99">
            <a:solidFill>
              <a:srgbClr val="60A5FA">
                <a:alpha val="30000"/>
              </a:srgbClr>
            </a:solidFill>
            <a:prstDash val="solid"/>
          </a:ln>
        </p:spPr>
      </p:sp>
      <p:sp>
        <p:nvSpPr>
          <p:cNvPr id="111" name="Text 98"/>
          <p:cNvSpPr/>
          <p:nvPr/>
        </p:nvSpPr>
        <p:spPr>
          <a:xfrm>
            <a:off x="6800850" y="9313664"/>
            <a:ext cx="1357536" cy="267891"/>
          </a:xfrm>
          <a:prstGeom prst="rect">
            <a:avLst/>
          </a:prstGeom>
          <a:noFill/>
          <a:ln/>
        </p:spPr>
        <p:txBody>
          <a:bodyPr wrap="square" lIns="0" tIns="0" rIns="0" bIns="0" rtlCol="0" anchor="ctr">
            <a:spAutoFit/>
          </a:bodyPr>
          <a:lstStyle/>
          <a:p>
            <a:pPr indent="0" marL="0">
              <a:buNone/>
            </a:pPr>
            <a:r>
              <a:rPr lang="en-US" sz="675" dirty="0">
                <a:solidFill>
                  <a:srgbClr val="DBEAFE"/>
                </a:solidFill>
                <a:latin typeface="Consolas" pitchFamily="34" charset="0"/>
                <a:ea typeface="Consolas" pitchFamily="34" charset="-122"/>
                <a:cs typeface="Consolas" pitchFamily="34" charset="-120"/>
              </a:rPr>
              <a:t>String.format("Pi: %.2f", 3.14159);</a:t>
            </a:r>
            <a:endParaRPr lang="en-US" sz="675" dirty="0"/>
          </a:p>
        </p:txBody>
      </p:sp>
      <p:sp>
        <p:nvSpPr>
          <p:cNvPr id="112" name="Shape 99"/>
          <p:cNvSpPr/>
          <p:nvPr/>
        </p:nvSpPr>
        <p:spPr>
          <a:xfrm>
            <a:off x="4857750" y="9886950"/>
            <a:ext cx="3657600" cy="514350"/>
          </a:xfrm>
          <a:prstGeom prst="rect">
            <a:avLst/>
          </a:prstGeom>
          <a:solidFill>
            <a:srgbClr val="78350F">
              <a:alpha val="20000"/>
            </a:srgbClr>
          </a:solidFill>
          <a:ln/>
        </p:spPr>
      </p:sp>
      <p:pic>
        <p:nvPicPr>
          <p:cNvPr id="113" name="Image 11" descr="preencoded.png">    </p:cNvPr>
          <p:cNvPicPr>
            <a:picLocks noChangeAspect="1"/>
          </p:cNvPicPr>
          <p:nvPr/>
        </p:nvPicPr>
        <p:blipFill>
          <a:blip r:embed="rId12"/>
          <a:stretch>
            <a:fillRect/>
          </a:stretch>
        </p:blipFill>
        <p:spPr>
          <a:xfrm>
            <a:off x="4972050" y="10058400"/>
            <a:ext cx="128588" cy="171450"/>
          </a:xfrm>
          <a:prstGeom prst="rect">
            <a:avLst/>
          </a:prstGeom>
        </p:spPr>
      </p:pic>
      <p:sp>
        <p:nvSpPr>
          <p:cNvPr id="114" name="Text 100"/>
          <p:cNvSpPr/>
          <p:nvPr/>
        </p:nvSpPr>
        <p:spPr>
          <a:xfrm>
            <a:off x="5214938" y="10015538"/>
            <a:ext cx="2980785" cy="112514"/>
          </a:xfrm>
          <a:prstGeom prst="rect">
            <a:avLst/>
          </a:prstGeom>
          <a:noFill/>
          <a:ln/>
        </p:spPr>
        <p:txBody>
          <a:bodyPr wrap="square" lIns="0" tIns="0" rIns="0" bIns="0" rtlCol="0" anchor="ctr">
            <a:spAutoFit/>
          </a:bodyPr>
          <a:lstStyle/>
          <a:p>
            <a:pPr indent="0" marL="0">
              <a:buNone/>
            </a:pPr>
            <a:r>
              <a:rPr lang="en-US" sz="788" dirty="0">
                <a:solidFill>
                  <a:srgbClr val="F1F5F9"/>
                </a:solidFill>
                <a:latin typeface="Segoe UI" pitchFamily="34" charset="0"/>
                <a:ea typeface="Segoe UI" pitchFamily="34" charset="-122"/>
                <a:cs typeface="Segoe UI" pitchFamily="34" charset="-120"/>
              </a:rPr>
              <a:t>You can print variables by including them in your print statements:</a:t>
            </a:r>
            <a:endParaRPr lang="en-US" sz="788" dirty="0"/>
          </a:p>
        </p:txBody>
      </p:sp>
      <p:sp>
        <p:nvSpPr>
          <p:cNvPr id="115" name="Text 101"/>
          <p:cNvSpPr/>
          <p:nvPr/>
        </p:nvSpPr>
        <p:spPr>
          <a:xfrm>
            <a:off x="5214938" y="10179844"/>
            <a:ext cx="2283516" cy="96441"/>
          </a:xfrm>
          <a:prstGeom prst="rect">
            <a:avLst/>
          </a:prstGeom>
          <a:noFill/>
          <a:ln/>
        </p:spPr>
        <p:txBody>
          <a:bodyPr wrap="square" lIns="0" tIns="0" rIns="0" bIns="0" rtlCol="0" anchor="ctr">
            <a:spAutoFit/>
          </a:bodyPr>
          <a:lstStyle/>
          <a:p>
            <a:pPr indent="0" marL="0">
              <a:buNone/>
            </a:pPr>
            <a:r>
              <a:rPr lang="en-US" sz="675" dirty="0">
                <a:solidFill>
                  <a:srgbClr val="DBEAFE"/>
                </a:solidFill>
                <a:latin typeface="Consolas" pitchFamily="34" charset="0"/>
                <a:ea typeface="Consolas" pitchFamily="34" charset="-122"/>
                <a:cs typeface="Consolas" pitchFamily="34" charset="-120"/>
              </a:rPr>
              <a:t>System.out.println("Value: " + myVariable);</a:t>
            </a:r>
            <a:endParaRPr lang="en-US" sz="675" dirty="0"/>
          </a:p>
        </p:txBody>
      </p:sp>
      <p:sp>
        <p:nvSpPr>
          <p:cNvPr id="116" name="Shape 102"/>
          <p:cNvSpPr/>
          <p:nvPr/>
        </p:nvSpPr>
        <p:spPr>
          <a:xfrm>
            <a:off x="457200" y="10801350"/>
            <a:ext cx="8229600" cy="3028950"/>
          </a:xfrm>
          <a:prstGeom prst="rect">
            <a:avLst/>
          </a:prstGeom>
          <a:solidFill>
            <a:srgbClr val="FFFFFF">
              <a:alpha val="10000"/>
            </a:srgbClr>
          </a:solidFill>
          <a:ln w="99">
            <a:solidFill>
              <a:srgbClr val="60A5FA">
                <a:alpha val="30000"/>
              </a:srgbClr>
            </a:solidFill>
            <a:prstDash val="solid"/>
          </a:ln>
        </p:spPr>
      </p:sp>
      <p:sp>
        <p:nvSpPr>
          <p:cNvPr id="117" name="Text 103"/>
          <p:cNvSpPr/>
          <p:nvPr/>
        </p:nvSpPr>
        <p:spPr>
          <a:xfrm>
            <a:off x="628650" y="10972800"/>
            <a:ext cx="7958138" cy="228600"/>
          </a:xfrm>
          <a:prstGeom prst="rect">
            <a:avLst/>
          </a:prstGeom>
          <a:noFill/>
          <a:ln/>
        </p:spPr>
        <p:txBody>
          <a:bodyPr wrap="square" lIns="0" tIns="0" rIns="0" bIns="0" rtlCol="0" anchor="ctr">
            <a:spAutoFit/>
          </a:bodyPr>
          <a:lstStyle/>
          <a:p>
            <a:pPr indent="0" marL="0">
              <a:buNone/>
            </a:pPr>
            <a:r>
              <a:rPr lang="en-US" sz="1350" b="1" dirty="0">
                <a:solidFill>
                  <a:srgbClr val="BFDBFE"/>
                </a:solidFill>
                <a:latin typeface="Segoe UI" pitchFamily="34" charset="0"/>
                <a:ea typeface="Segoe UI" pitchFamily="34" charset="-122"/>
                <a:cs typeface="Segoe UI" pitchFamily="34" charset="-120"/>
              </a:rPr>
              <a:t>Try It Yourself</a:t>
            </a:r>
            <a:endParaRPr lang="en-US" sz="1350" dirty="0"/>
          </a:p>
        </p:txBody>
      </p:sp>
      <p:sp>
        <p:nvSpPr>
          <p:cNvPr id="118" name="Shape 104"/>
          <p:cNvSpPr/>
          <p:nvPr/>
        </p:nvSpPr>
        <p:spPr>
          <a:xfrm>
            <a:off x="628650" y="11315700"/>
            <a:ext cx="2514600" cy="1757363"/>
          </a:xfrm>
          <a:prstGeom prst="rect">
            <a:avLst/>
          </a:prstGeom>
          <a:solidFill>
            <a:srgbClr val="1E3A8A">
              <a:alpha val="30000"/>
            </a:srgbClr>
          </a:solidFill>
          <a:ln/>
        </p:spPr>
      </p:sp>
      <p:sp>
        <p:nvSpPr>
          <p:cNvPr id="119" name="Text 105"/>
          <p:cNvSpPr/>
          <p:nvPr/>
        </p:nvSpPr>
        <p:spPr>
          <a:xfrm>
            <a:off x="742950" y="11430000"/>
            <a:ext cx="2357438" cy="200025"/>
          </a:xfrm>
          <a:prstGeom prst="rect">
            <a:avLst/>
          </a:prstGeom>
          <a:noFill/>
          <a:ln/>
        </p:spPr>
        <p:txBody>
          <a:bodyPr wrap="square" lIns="0" tIns="0" rIns="0" bIns="0" rtlCol="0" anchor="ctr">
            <a:spAutoFit/>
          </a:bodyPr>
          <a:lstStyle/>
          <a:p>
            <a:pPr algn="ctr" indent="0" marL="0">
              <a:buNone/>
            </a:pPr>
            <a:r>
              <a:rPr lang="en-US" sz="1125" b="1" dirty="0">
                <a:solidFill>
                  <a:srgbClr val="F1F5F9"/>
                </a:solidFill>
                <a:latin typeface="Segoe UI" pitchFamily="34" charset="0"/>
                <a:ea typeface="Segoe UI" pitchFamily="34" charset="-122"/>
                <a:cs typeface="Segoe UI" pitchFamily="34" charset="-120"/>
              </a:rPr>
              <a:t>Challenge 1</a:t>
            </a:r>
            <a:endParaRPr lang="en-US" sz="1125" dirty="0"/>
          </a:p>
        </p:txBody>
      </p:sp>
      <p:sp>
        <p:nvSpPr>
          <p:cNvPr id="120" name="Text 106"/>
          <p:cNvSpPr/>
          <p:nvPr/>
        </p:nvSpPr>
        <p:spPr>
          <a:xfrm>
            <a:off x="742950" y="11715750"/>
            <a:ext cx="2357438" cy="142875"/>
          </a:xfrm>
          <a:prstGeom prst="rect">
            <a:avLst/>
          </a:prstGeom>
          <a:noFill/>
          <a:ln/>
        </p:spPr>
        <p:txBody>
          <a:bodyPr wrap="square" lIns="0" tIns="0" rIns="0" bIns="0" rtlCol="0" anchor="ctr">
            <a:spAutoFit/>
          </a:bodyPr>
          <a:lstStyle/>
          <a:p>
            <a:pPr indent="0" marL="0">
              <a:buNone/>
            </a:pPr>
            <a:r>
              <a:rPr lang="en-US" sz="788" dirty="0">
                <a:solidFill>
                  <a:srgbClr val="F1F5F9"/>
                </a:solidFill>
                <a:latin typeface="Segoe UI" pitchFamily="34" charset="0"/>
                <a:ea typeface="Segoe UI" pitchFamily="34" charset="-122"/>
                <a:cs typeface="Segoe UI" pitchFamily="34" charset="-120"/>
              </a:rPr>
              <a:t>Modify the Hello World program to print your name:</a:t>
            </a:r>
            <a:endParaRPr lang="en-US" sz="788" dirty="0"/>
          </a:p>
        </p:txBody>
      </p:sp>
      <p:sp>
        <p:nvSpPr>
          <p:cNvPr id="121" name="Shape 107"/>
          <p:cNvSpPr/>
          <p:nvPr/>
        </p:nvSpPr>
        <p:spPr>
          <a:xfrm>
            <a:off x="742950" y="11915775"/>
            <a:ext cx="2286000" cy="528638"/>
          </a:xfrm>
          <a:prstGeom prst="rect">
            <a:avLst/>
          </a:prstGeom>
          <a:solidFill>
            <a:srgbClr val="1E293B">
              <a:alpha val="80000"/>
            </a:srgbClr>
          </a:solidFill>
          <a:ln w="99">
            <a:solidFill>
              <a:srgbClr val="60A5FA">
                <a:alpha val="30000"/>
              </a:srgbClr>
            </a:solidFill>
            <a:prstDash val="solid"/>
          </a:ln>
        </p:spPr>
      </p:sp>
      <p:sp>
        <p:nvSpPr>
          <p:cNvPr id="122" name="Text 108"/>
          <p:cNvSpPr/>
          <p:nvPr/>
        </p:nvSpPr>
        <p:spPr>
          <a:xfrm>
            <a:off x="828675" y="12056864"/>
            <a:ext cx="1717625" cy="267891"/>
          </a:xfrm>
          <a:prstGeom prst="rect">
            <a:avLst/>
          </a:prstGeom>
          <a:noFill/>
          <a:ln/>
        </p:spPr>
        <p:txBody>
          <a:bodyPr wrap="square" lIns="0" tIns="0" rIns="0" bIns="0" rtlCol="0" anchor="ctr">
            <a:spAutoFit/>
          </a:bodyPr>
          <a:lstStyle/>
          <a:p>
            <a:pPr indent="0" marL="0">
              <a:buNone/>
            </a:pPr>
            <a:r>
              <a:rPr lang="en-US" sz="675" dirty="0">
                <a:solidFill>
                  <a:srgbClr val="DBEAFE"/>
                </a:solidFill>
                <a:latin typeface="Consolas" pitchFamily="34" charset="0"/>
                <a:ea typeface="Consolas" pitchFamily="34" charset="-122"/>
                <a:cs typeface="Consolas" pitchFamily="34" charset="-120"/>
              </a:rPr>
              <a:t>System.out.println("Hello, [Your Name]!");</a:t>
            </a:r>
            <a:endParaRPr lang="en-US" sz="675" dirty="0"/>
          </a:p>
        </p:txBody>
      </p:sp>
      <p:sp>
        <p:nvSpPr>
          <p:cNvPr id="123" name="Shape 109"/>
          <p:cNvSpPr/>
          <p:nvPr/>
        </p:nvSpPr>
        <p:spPr>
          <a:xfrm>
            <a:off x="3314700" y="11315700"/>
            <a:ext cx="2514600" cy="1757363"/>
          </a:xfrm>
          <a:prstGeom prst="rect">
            <a:avLst/>
          </a:prstGeom>
          <a:solidFill>
            <a:srgbClr val="1E3A8A">
              <a:alpha val="30000"/>
            </a:srgbClr>
          </a:solidFill>
          <a:ln/>
        </p:spPr>
      </p:sp>
      <p:sp>
        <p:nvSpPr>
          <p:cNvPr id="124" name="Text 110"/>
          <p:cNvSpPr/>
          <p:nvPr/>
        </p:nvSpPr>
        <p:spPr>
          <a:xfrm>
            <a:off x="3429000" y="11430000"/>
            <a:ext cx="2357438" cy="200025"/>
          </a:xfrm>
          <a:prstGeom prst="rect">
            <a:avLst/>
          </a:prstGeom>
          <a:noFill/>
          <a:ln/>
        </p:spPr>
        <p:txBody>
          <a:bodyPr wrap="square" lIns="0" tIns="0" rIns="0" bIns="0" rtlCol="0" anchor="ctr">
            <a:spAutoFit/>
          </a:bodyPr>
          <a:lstStyle/>
          <a:p>
            <a:pPr algn="ctr" indent="0" marL="0">
              <a:buNone/>
            </a:pPr>
            <a:r>
              <a:rPr lang="en-US" sz="1125" b="1" dirty="0">
                <a:solidFill>
                  <a:srgbClr val="F1F5F9"/>
                </a:solidFill>
                <a:latin typeface="Segoe UI" pitchFamily="34" charset="0"/>
                <a:ea typeface="Segoe UI" pitchFamily="34" charset="-122"/>
                <a:cs typeface="Segoe UI" pitchFamily="34" charset="-120"/>
              </a:rPr>
              <a:t>Challenge 2</a:t>
            </a:r>
            <a:endParaRPr lang="en-US" sz="1125" dirty="0"/>
          </a:p>
        </p:txBody>
      </p:sp>
      <p:sp>
        <p:nvSpPr>
          <p:cNvPr id="125" name="Text 111"/>
          <p:cNvSpPr/>
          <p:nvPr/>
        </p:nvSpPr>
        <p:spPr>
          <a:xfrm>
            <a:off x="3429000" y="11715750"/>
            <a:ext cx="2357438" cy="142875"/>
          </a:xfrm>
          <a:prstGeom prst="rect">
            <a:avLst/>
          </a:prstGeom>
          <a:noFill/>
          <a:ln/>
        </p:spPr>
        <p:txBody>
          <a:bodyPr wrap="square" lIns="0" tIns="0" rIns="0" bIns="0" rtlCol="0" anchor="ctr">
            <a:spAutoFit/>
          </a:bodyPr>
          <a:lstStyle/>
          <a:p>
            <a:pPr indent="0" marL="0">
              <a:buNone/>
            </a:pPr>
            <a:r>
              <a:rPr lang="en-US" sz="788" dirty="0">
                <a:solidFill>
                  <a:srgbClr val="F1F5F9"/>
                </a:solidFill>
                <a:latin typeface="Segoe UI" pitchFamily="34" charset="0"/>
                <a:ea typeface="Segoe UI" pitchFamily="34" charset="-122"/>
                <a:cs typeface="Segoe UI" pitchFamily="34" charset="-120"/>
              </a:rPr>
              <a:t>Print multiple lines of text:</a:t>
            </a:r>
            <a:endParaRPr lang="en-US" sz="788" dirty="0"/>
          </a:p>
        </p:txBody>
      </p:sp>
      <p:sp>
        <p:nvSpPr>
          <p:cNvPr id="126" name="Shape 112"/>
          <p:cNvSpPr/>
          <p:nvPr/>
        </p:nvSpPr>
        <p:spPr>
          <a:xfrm>
            <a:off x="3429000" y="11915775"/>
            <a:ext cx="2286000" cy="700088"/>
          </a:xfrm>
          <a:prstGeom prst="rect">
            <a:avLst/>
          </a:prstGeom>
          <a:solidFill>
            <a:srgbClr val="1E293B">
              <a:alpha val="80000"/>
            </a:srgbClr>
          </a:solidFill>
          <a:ln w="99">
            <a:solidFill>
              <a:srgbClr val="60A5FA">
                <a:alpha val="30000"/>
              </a:srgbClr>
            </a:solidFill>
            <a:prstDash val="solid"/>
          </a:ln>
        </p:spPr>
      </p:sp>
      <p:sp>
        <p:nvSpPr>
          <p:cNvPr id="127" name="Text 113"/>
          <p:cNvSpPr/>
          <p:nvPr/>
        </p:nvSpPr>
        <p:spPr>
          <a:xfrm>
            <a:off x="3514725" y="12056864"/>
            <a:ext cx="1563309" cy="96441"/>
          </a:xfrm>
          <a:prstGeom prst="rect">
            <a:avLst/>
          </a:prstGeom>
          <a:noFill/>
          <a:ln/>
        </p:spPr>
        <p:txBody>
          <a:bodyPr wrap="square" lIns="0" tIns="0" rIns="0" bIns="0" rtlCol="0" anchor="ctr">
            <a:spAutoFit/>
          </a:bodyPr>
          <a:lstStyle/>
          <a:p>
            <a:pPr indent="0" marL="0">
              <a:buNone/>
            </a:pPr>
            <a:r>
              <a:rPr lang="en-US" sz="675" dirty="0">
                <a:solidFill>
                  <a:srgbClr val="DBEAFE"/>
                </a:solidFill>
                <a:latin typeface="Consolas" pitchFamily="34" charset="0"/>
                <a:ea typeface="Consolas" pitchFamily="34" charset="-122"/>
                <a:cs typeface="Consolas" pitchFamily="34" charset="-120"/>
              </a:rPr>
              <a:t>System.out.println("Line 1");</a:t>
            </a:r>
            <a:endParaRPr lang="en-US" sz="675" dirty="0"/>
          </a:p>
        </p:txBody>
      </p:sp>
      <p:sp>
        <p:nvSpPr>
          <p:cNvPr id="128" name="Text 114"/>
          <p:cNvSpPr/>
          <p:nvPr/>
        </p:nvSpPr>
        <p:spPr>
          <a:xfrm>
            <a:off x="3514725" y="12228314"/>
            <a:ext cx="1563309" cy="96441"/>
          </a:xfrm>
          <a:prstGeom prst="rect">
            <a:avLst/>
          </a:prstGeom>
          <a:noFill/>
          <a:ln/>
        </p:spPr>
        <p:txBody>
          <a:bodyPr wrap="square" lIns="0" tIns="0" rIns="0" bIns="0" rtlCol="0" anchor="ctr">
            <a:spAutoFit/>
          </a:bodyPr>
          <a:lstStyle/>
          <a:p>
            <a:pPr indent="0" marL="0">
              <a:buNone/>
            </a:pPr>
            <a:r>
              <a:rPr lang="en-US" sz="675" dirty="0">
                <a:solidFill>
                  <a:srgbClr val="DBEAFE"/>
                </a:solidFill>
                <a:latin typeface="Consolas" pitchFamily="34" charset="0"/>
                <a:ea typeface="Consolas" pitchFamily="34" charset="-122"/>
                <a:cs typeface="Consolas" pitchFamily="34" charset="-120"/>
              </a:rPr>
              <a:t>System.out.println("Line 2");</a:t>
            </a:r>
            <a:endParaRPr lang="en-US" sz="675" dirty="0"/>
          </a:p>
        </p:txBody>
      </p:sp>
      <p:sp>
        <p:nvSpPr>
          <p:cNvPr id="129" name="Text 115"/>
          <p:cNvSpPr/>
          <p:nvPr/>
        </p:nvSpPr>
        <p:spPr>
          <a:xfrm>
            <a:off x="3514725" y="12399764"/>
            <a:ext cx="1563309" cy="96441"/>
          </a:xfrm>
          <a:prstGeom prst="rect">
            <a:avLst/>
          </a:prstGeom>
          <a:noFill/>
          <a:ln/>
        </p:spPr>
        <p:txBody>
          <a:bodyPr wrap="square" lIns="0" tIns="0" rIns="0" bIns="0" rtlCol="0" anchor="ctr">
            <a:spAutoFit/>
          </a:bodyPr>
          <a:lstStyle/>
          <a:p>
            <a:pPr indent="0" marL="0">
              <a:buNone/>
            </a:pPr>
            <a:r>
              <a:rPr lang="en-US" sz="675" dirty="0">
                <a:solidFill>
                  <a:srgbClr val="DBEAFE"/>
                </a:solidFill>
                <a:latin typeface="Consolas" pitchFamily="34" charset="0"/>
                <a:ea typeface="Consolas" pitchFamily="34" charset="-122"/>
                <a:cs typeface="Consolas" pitchFamily="34" charset="-120"/>
              </a:rPr>
              <a:t>System.out.println("Line 3");</a:t>
            </a:r>
            <a:endParaRPr lang="en-US" sz="675" dirty="0"/>
          </a:p>
        </p:txBody>
      </p:sp>
      <p:sp>
        <p:nvSpPr>
          <p:cNvPr id="130" name="Shape 116"/>
          <p:cNvSpPr/>
          <p:nvPr/>
        </p:nvSpPr>
        <p:spPr>
          <a:xfrm>
            <a:off x="6000750" y="11315700"/>
            <a:ext cx="2514600" cy="1757363"/>
          </a:xfrm>
          <a:prstGeom prst="rect">
            <a:avLst/>
          </a:prstGeom>
          <a:solidFill>
            <a:srgbClr val="1E3A8A">
              <a:alpha val="30000"/>
            </a:srgbClr>
          </a:solidFill>
          <a:ln/>
        </p:spPr>
      </p:sp>
      <p:sp>
        <p:nvSpPr>
          <p:cNvPr id="131" name="Text 117"/>
          <p:cNvSpPr/>
          <p:nvPr/>
        </p:nvSpPr>
        <p:spPr>
          <a:xfrm>
            <a:off x="6115050" y="11430000"/>
            <a:ext cx="2357438" cy="200025"/>
          </a:xfrm>
          <a:prstGeom prst="rect">
            <a:avLst/>
          </a:prstGeom>
          <a:noFill/>
          <a:ln/>
        </p:spPr>
        <p:txBody>
          <a:bodyPr wrap="square" lIns="0" tIns="0" rIns="0" bIns="0" rtlCol="0" anchor="ctr">
            <a:spAutoFit/>
          </a:bodyPr>
          <a:lstStyle/>
          <a:p>
            <a:pPr algn="ctr" indent="0" marL="0">
              <a:buNone/>
            </a:pPr>
            <a:r>
              <a:rPr lang="en-US" sz="1125" b="1" dirty="0">
                <a:solidFill>
                  <a:srgbClr val="F1F5F9"/>
                </a:solidFill>
                <a:latin typeface="Segoe UI" pitchFamily="34" charset="0"/>
                <a:ea typeface="Segoe UI" pitchFamily="34" charset="-122"/>
                <a:cs typeface="Segoe UI" pitchFamily="34" charset="-120"/>
              </a:rPr>
              <a:t>Challenge 3</a:t>
            </a:r>
            <a:endParaRPr lang="en-US" sz="1125" dirty="0"/>
          </a:p>
        </p:txBody>
      </p:sp>
      <p:sp>
        <p:nvSpPr>
          <p:cNvPr id="132" name="Text 118"/>
          <p:cNvSpPr/>
          <p:nvPr/>
        </p:nvSpPr>
        <p:spPr>
          <a:xfrm>
            <a:off x="6115050" y="11715750"/>
            <a:ext cx="2357438" cy="142875"/>
          </a:xfrm>
          <a:prstGeom prst="rect">
            <a:avLst/>
          </a:prstGeom>
          <a:noFill/>
          <a:ln/>
        </p:spPr>
        <p:txBody>
          <a:bodyPr wrap="square" lIns="0" tIns="0" rIns="0" bIns="0" rtlCol="0" anchor="ctr">
            <a:spAutoFit/>
          </a:bodyPr>
          <a:lstStyle/>
          <a:p>
            <a:pPr indent="0" marL="0">
              <a:buNone/>
            </a:pPr>
            <a:r>
              <a:rPr lang="en-US" sz="788" dirty="0">
                <a:solidFill>
                  <a:srgbClr val="F1F5F9"/>
                </a:solidFill>
                <a:latin typeface="Segoe UI" pitchFamily="34" charset="0"/>
                <a:ea typeface="Segoe UI" pitchFamily="34" charset="-122"/>
                <a:cs typeface="Segoe UI" pitchFamily="34" charset="-120"/>
              </a:rPr>
              <a:t>Print a simple pattern:</a:t>
            </a:r>
            <a:endParaRPr lang="en-US" sz="788" dirty="0"/>
          </a:p>
        </p:txBody>
      </p:sp>
      <p:sp>
        <p:nvSpPr>
          <p:cNvPr id="133" name="Shape 119"/>
          <p:cNvSpPr/>
          <p:nvPr/>
        </p:nvSpPr>
        <p:spPr>
          <a:xfrm>
            <a:off x="6115050" y="11915775"/>
            <a:ext cx="2286000" cy="1042988"/>
          </a:xfrm>
          <a:prstGeom prst="rect">
            <a:avLst/>
          </a:prstGeom>
          <a:solidFill>
            <a:srgbClr val="1E293B">
              <a:alpha val="80000"/>
            </a:srgbClr>
          </a:solidFill>
          <a:ln w="99">
            <a:solidFill>
              <a:srgbClr val="60A5FA">
                <a:alpha val="30000"/>
              </a:srgbClr>
            </a:solidFill>
            <a:prstDash val="solid"/>
          </a:ln>
        </p:spPr>
      </p:sp>
      <p:sp>
        <p:nvSpPr>
          <p:cNvPr id="134" name="Text 120"/>
          <p:cNvSpPr/>
          <p:nvPr/>
        </p:nvSpPr>
        <p:spPr>
          <a:xfrm>
            <a:off x="6200775" y="12056864"/>
            <a:ext cx="1306078" cy="96441"/>
          </a:xfrm>
          <a:prstGeom prst="rect">
            <a:avLst/>
          </a:prstGeom>
          <a:noFill/>
          <a:ln/>
        </p:spPr>
        <p:txBody>
          <a:bodyPr wrap="square" lIns="0" tIns="0" rIns="0" bIns="0" rtlCol="0" anchor="ctr">
            <a:spAutoFit/>
          </a:bodyPr>
          <a:lstStyle/>
          <a:p>
            <a:pPr indent="0" marL="0">
              <a:buNone/>
            </a:pPr>
            <a:r>
              <a:rPr lang="en-US" sz="675" dirty="0">
                <a:solidFill>
                  <a:srgbClr val="DBEAFE"/>
                </a:solidFill>
                <a:latin typeface="Consolas" pitchFamily="34" charset="0"/>
                <a:ea typeface="Consolas" pitchFamily="34" charset="-122"/>
                <a:cs typeface="Consolas" pitchFamily="34" charset="-120"/>
              </a:rPr>
              <a:t>System.out.println("*");</a:t>
            </a:r>
            <a:endParaRPr lang="en-US" sz="675" dirty="0"/>
          </a:p>
        </p:txBody>
      </p:sp>
      <p:sp>
        <p:nvSpPr>
          <p:cNvPr id="135" name="Text 121"/>
          <p:cNvSpPr/>
          <p:nvPr/>
        </p:nvSpPr>
        <p:spPr>
          <a:xfrm>
            <a:off x="6200775" y="12228314"/>
            <a:ext cx="1357536" cy="96441"/>
          </a:xfrm>
          <a:prstGeom prst="rect">
            <a:avLst/>
          </a:prstGeom>
          <a:noFill/>
          <a:ln/>
        </p:spPr>
        <p:txBody>
          <a:bodyPr wrap="square" lIns="0" tIns="0" rIns="0" bIns="0" rtlCol="0" anchor="ctr">
            <a:spAutoFit/>
          </a:bodyPr>
          <a:lstStyle/>
          <a:p>
            <a:pPr indent="0" marL="0">
              <a:buNone/>
            </a:pPr>
            <a:r>
              <a:rPr lang="en-US" sz="675" dirty="0">
                <a:solidFill>
                  <a:srgbClr val="DBEAFE"/>
                </a:solidFill>
                <a:latin typeface="Consolas" pitchFamily="34" charset="0"/>
                <a:ea typeface="Consolas" pitchFamily="34" charset="-122"/>
                <a:cs typeface="Consolas" pitchFamily="34" charset="-120"/>
              </a:rPr>
              <a:t>System.out.println("**");</a:t>
            </a:r>
            <a:endParaRPr lang="en-US" sz="675" dirty="0"/>
          </a:p>
        </p:txBody>
      </p:sp>
      <p:sp>
        <p:nvSpPr>
          <p:cNvPr id="136" name="Text 122"/>
          <p:cNvSpPr/>
          <p:nvPr/>
        </p:nvSpPr>
        <p:spPr>
          <a:xfrm>
            <a:off x="6200775" y="12399764"/>
            <a:ext cx="1408965" cy="96441"/>
          </a:xfrm>
          <a:prstGeom prst="rect">
            <a:avLst/>
          </a:prstGeom>
          <a:noFill/>
          <a:ln/>
        </p:spPr>
        <p:txBody>
          <a:bodyPr wrap="square" lIns="0" tIns="0" rIns="0" bIns="0" rtlCol="0" anchor="ctr">
            <a:spAutoFit/>
          </a:bodyPr>
          <a:lstStyle/>
          <a:p>
            <a:pPr indent="0" marL="0">
              <a:buNone/>
            </a:pPr>
            <a:r>
              <a:rPr lang="en-US" sz="675" dirty="0">
                <a:solidFill>
                  <a:srgbClr val="DBEAFE"/>
                </a:solidFill>
                <a:latin typeface="Consolas" pitchFamily="34" charset="0"/>
                <a:ea typeface="Consolas" pitchFamily="34" charset="-122"/>
                <a:cs typeface="Consolas" pitchFamily="34" charset="-120"/>
              </a:rPr>
              <a:t>System.out.println("***");</a:t>
            </a:r>
            <a:endParaRPr lang="en-US" sz="675" dirty="0"/>
          </a:p>
        </p:txBody>
      </p:sp>
      <p:sp>
        <p:nvSpPr>
          <p:cNvPr id="137" name="Text 123"/>
          <p:cNvSpPr/>
          <p:nvPr/>
        </p:nvSpPr>
        <p:spPr>
          <a:xfrm>
            <a:off x="6200775" y="12571214"/>
            <a:ext cx="1460422" cy="96441"/>
          </a:xfrm>
          <a:prstGeom prst="rect">
            <a:avLst/>
          </a:prstGeom>
          <a:noFill/>
          <a:ln/>
        </p:spPr>
        <p:txBody>
          <a:bodyPr wrap="square" lIns="0" tIns="0" rIns="0" bIns="0" rtlCol="0" anchor="ctr">
            <a:spAutoFit/>
          </a:bodyPr>
          <a:lstStyle/>
          <a:p>
            <a:pPr indent="0" marL="0">
              <a:buNone/>
            </a:pPr>
            <a:r>
              <a:rPr lang="en-US" sz="675" dirty="0">
                <a:solidFill>
                  <a:srgbClr val="DBEAFE"/>
                </a:solidFill>
                <a:latin typeface="Consolas" pitchFamily="34" charset="0"/>
                <a:ea typeface="Consolas" pitchFamily="34" charset="-122"/>
                <a:cs typeface="Consolas" pitchFamily="34" charset="-120"/>
              </a:rPr>
              <a:t>System.out.println("****");</a:t>
            </a:r>
            <a:endParaRPr lang="en-US" sz="675" dirty="0"/>
          </a:p>
        </p:txBody>
      </p:sp>
      <p:sp>
        <p:nvSpPr>
          <p:cNvPr id="138" name="Text 124"/>
          <p:cNvSpPr/>
          <p:nvPr/>
        </p:nvSpPr>
        <p:spPr>
          <a:xfrm>
            <a:off x="6200775" y="12742664"/>
            <a:ext cx="1511852" cy="96441"/>
          </a:xfrm>
          <a:prstGeom prst="rect">
            <a:avLst/>
          </a:prstGeom>
          <a:noFill/>
          <a:ln/>
        </p:spPr>
        <p:txBody>
          <a:bodyPr wrap="square" lIns="0" tIns="0" rIns="0" bIns="0" rtlCol="0" anchor="ctr">
            <a:spAutoFit/>
          </a:bodyPr>
          <a:lstStyle/>
          <a:p>
            <a:pPr indent="0" marL="0">
              <a:buNone/>
            </a:pPr>
            <a:r>
              <a:rPr lang="en-US" sz="675" dirty="0">
                <a:solidFill>
                  <a:srgbClr val="DBEAFE"/>
                </a:solidFill>
                <a:latin typeface="Consolas" pitchFamily="34" charset="0"/>
                <a:ea typeface="Consolas" pitchFamily="34" charset="-122"/>
                <a:cs typeface="Consolas" pitchFamily="34" charset="-120"/>
              </a:rPr>
              <a:t>System.out.println("*****");</a:t>
            </a:r>
            <a:endParaRPr lang="en-US" sz="675" dirty="0"/>
          </a:p>
        </p:txBody>
      </p:sp>
      <p:sp>
        <p:nvSpPr>
          <p:cNvPr id="139" name="Shape 125"/>
          <p:cNvSpPr/>
          <p:nvPr/>
        </p:nvSpPr>
        <p:spPr>
          <a:xfrm>
            <a:off x="628650" y="13230225"/>
            <a:ext cx="7886700" cy="400050"/>
          </a:xfrm>
          <a:prstGeom prst="rect">
            <a:avLst/>
          </a:prstGeom>
          <a:solidFill>
            <a:srgbClr val="1E3A8A">
              <a:alpha val="30000"/>
            </a:srgbClr>
          </a:solidFill>
          <a:ln/>
        </p:spPr>
      </p:sp>
      <p:pic>
        <p:nvPicPr>
          <p:cNvPr id="140" name="Image 12" descr="preencoded.png">    </p:cNvPr>
          <p:cNvPicPr>
            <a:picLocks noChangeAspect="1"/>
          </p:cNvPicPr>
          <p:nvPr/>
        </p:nvPicPr>
        <p:blipFill>
          <a:blip r:embed="rId13"/>
          <a:stretch>
            <a:fillRect/>
          </a:stretch>
        </p:blipFill>
        <p:spPr>
          <a:xfrm>
            <a:off x="742950" y="13344525"/>
            <a:ext cx="171450" cy="171450"/>
          </a:xfrm>
          <a:prstGeom prst="rect">
            <a:avLst/>
          </a:prstGeom>
        </p:spPr>
      </p:pic>
      <p:sp>
        <p:nvSpPr>
          <p:cNvPr id="141" name="Text 126"/>
          <p:cNvSpPr/>
          <p:nvPr/>
        </p:nvSpPr>
        <p:spPr>
          <a:xfrm>
            <a:off x="1028700" y="13344525"/>
            <a:ext cx="7287741" cy="171450"/>
          </a:xfrm>
          <a:prstGeom prst="rect">
            <a:avLst/>
          </a:prstGeom>
          <a:noFill/>
          <a:ln/>
        </p:spPr>
        <p:txBody>
          <a:bodyPr wrap="square" lIns="0" tIns="0" rIns="0" bIns="0" rtlCol="0" anchor="ctr">
            <a:spAutoFit/>
          </a:bodyPr>
          <a:lstStyle/>
          <a:p>
            <a:pPr indent="0" marL="0">
              <a:buNone/>
            </a:pPr>
            <a:r>
              <a:rPr lang="en-US" sz="900" dirty="0">
                <a:solidFill>
                  <a:srgbClr val="F1F5F9"/>
                </a:solidFill>
                <a:latin typeface="Segoe UI" pitchFamily="34" charset="0"/>
                <a:ea typeface="Segoe UI" pitchFamily="34" charset="-122"/>
                <a:cs typeface="Segoe UI" pitchFamily="34" charset="-120"/>
              </a:rPr>
              <a:t>Now that you've created your first Java program, let's learn more about the basic structure of Java programs and how to compile and run them.</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16359188"/>
          </a:xfrm>
          <a:prstGeom prst="rect">
            <a:avLst/>
          </a:prstGeom>
        </p:spPr>
      </p:pic>
      <p:sp>
        <p:nvSpPr>
          <p:cNvPr id="3" name="Text 0"/>
          <p:cNvSpPr/>
          <p:nvPr/>
        </p:nvSpPr>
        <p:spPr>
          <a:xfrm>
            <a:off x="457200" y="455414"/>
            <a:ext cx="2572503" cy="287536"/>
          </a:xfrm>
          <a:prstGeom prst="rect">
            <a:avLst/>
          </a:prstGeom>
          <a:noFill/>
          <a:ln/>
        </p:spPr>
        <p:txBody>
          <a:bodyPr wrap="square" lIns="0" tIns="0" rIns="0" bIns="0" rtlCol="0" anchor="ctr">
            <a:spAutoFit/>
          </a:bodyPr>
          <a:lstStyle/>
          <a:p>
            <a:pPr indent="0" marL="0">
              <a:buNone/>
            </a:pPr>
            <a:r>
              <a:rPr lang="en-US" sz="2025" b="1" dirty="0">
                <a:solidFill>
                  <a:srgbClr val="F1F5F9"/>
                </a:solidFill>
                <a:latin typeface="Segoe UI" pitchFamily="34" charset="0"/>
                <a:ea typeface="Segoe UI" pitchFamily="34" charset="-122"/>
                <a:cs typeface="Segoe UI" pitchFamily="34" charset="-120"/>
              </a:rPr>
              <a:t>Basic Structure of a</a:t>
            </a:r>
            <a:endParaRPr lang="en-US" sz="2025" dirty="0"/>
          </a:p>
        </p:txBody>
      </p:sp>
      <p:sp>
        <p:nvSpPr>
          <p:cNvPr id="4" name="Text 1"/>
          <p:cNvSpPr/>
          <p:nvPr/>
        </p:nvSpPr>
        <p:spPr>
          <a:xfrm>
            <a:off x="2958266" y="455414"/>
            <a:ext cx="1772599" cy="287536"/>
          </a:xfrm>
          <a:prstGeom prst="rect">
            <a:avLst/>
          </a:prstGeom>
          <a:noFill/>
          <a:ln/>
        </p:spPr>
        <p:txBody>
          <a:bodyPr wrap="square" lIns="0" tIns="0" rIns="0" bIns="0" rtlCol="0" anchor="ctr">
            <a:spAutoFit/>
          </a:bodyPr>
          <a:lstStyle/>
          <a:p>
            <a:pPr indent="0" marL="0">
              <a:buNone/>
            </a:pPr>
            <a:r>
              <a:rPr lang="en-US" sz="2025" b="1" dirty="0">
                <a:solidFill>
                  <a:srgbClr val="60A5FA"/>
                </a:solidFill>
                <a:latin typeface="Segoe UI" pitchFamily="34" charset="0"/>
                <a:ea typeface="Segoe UI" pitchFamily="34" charset="-122"/>
                <a:cs typeface="Segoe UI" pitchFamily="34" charset="-120"/>
              </a:rPr>
              <a:t>Java Program</a:t>
            </a:r>
            <a:endParaRPr lang="en-US" sz="2025" dirty="0"/>
          </a:p>
        </p:txBody>
      </p:sp>
      <p:sp>
        <p:nvSpPr>
          <p:cNvPr id="5" name="Shape 2"/>
          <p:cNvSpPr/>
          <p:nvPr/>
        </p:nvSpPr>
        <p:spPr>
          <a:xfrm>
            <a:off x="457200" y="971550"/>
            <a:ext cx="4000500" cy="6772275"/>
          </a:xfrm>
          <a:prstGeom prst="rect">
            <a:avLst/>
          </a:prstGeom>
          <a:solidFill>
            <a:srgbClr val="FFFFFF">
              <a:alpha val="10000"/>
            </a:srgbClr>
          </a:solidFill>
          <a:ln w="99">
            <a:solidFill>
              <a:srgbClr val="60A5FA">
                <a:alpha val="30000"/>
              </a:srgbClr>
            </a:solidFill>
            <a:prstDash val="solid"/>
          </a:ln>
        </p:spPr>
      </p:sp>
      <p:sp>
        <p:nvSpPr>
          <p:cNvPr id="6" name="Text 3"/>
          <p:cNvSpPr/>
          <p:nvPr/>
        </p:nvSpPr>
        <p:spPr>
          <a:xfrm>
            <a:off x="628650" y="1143000"/>
            <a:ext cx="3729038" cy="228600"/>
          </a:xfrm>
          <a:prstGeom prst="rect">
            <a:avLst/>
          </a:prstGeom>
          <a:noFill/>
          <a:ln/>
        </p:spPr>
        <p:txBody>
          <a:bodyPr wrap="square" lIns="0" tIns="0" rIns="0" bIns="0" rtlCol="0" anchor="ctr">
            <a:spAutoFit/>
          </a:bodyPr>
          <a:lstStyle/>
          <a:p>
            <a:pPr indent="0" marL="0">
              <a:buNone/>
            </a:pPr>
            <a:r>
              <a:rPr lang="en-US" sz="1350" b="1" dirty="0">
                <a:solidFill>
                  <a:srgbClr val="BFDBFE"/>
                </a:solidFill>
                <a:latin typeface="Segoe UI" pitchFamily="34" charset="0"/>
                <a:ea typeface="Segoe UI" pitchFamily="34" charset="-122"/>
                <a:cs typeface="Segoe UI" pitchFamily="34" charset="-120"/>
              </a:rPr>
              <a:t>Java Program Components</a:t>
            </a:r>
            <a:endParaRPr lang="en-US" sz="1350" dirty="0"/>
          </a:p>
        </p:txBody>
      </p:sp>
      <p:sp>
        <p:nvSpPr>
          <p:cNvPr id="7" name="Shape 4"/>
          <p:cNvSpPr/>
          <p:nvPr/>
        </p:nvSpPr>
        <p:spPr>
          <a:xfrm>
            <a:off x="628650" y="1485900"/>
            <a:ext cx="3657600" cy="5957888"/>
          </a:xfrm>
          <a:prstGeom prst="rect">
            <a:avLst/>
          </a:prstGeom>
          <a:solidFill>
            <a:srgbClr val="1E293B">
              <a:alpha val="80000"/>
            </a:srgbClr>
          </a:solidFill>
          <a:ln w="99">
            <a:solidFill>
              <a:srgbClr val="60A5FA">
                <a:alpha val="30000"/>
              </a:srgbClr>
            </a:solidFill>
            <a:prstDash val="solid"/>
          </a:ln>
        </p:spPr>
      </p:sp>
      <p:sp>
        <p:nvSpPr>
          <p:cNvPr id="8" name="Text 5"/>
          <p:cNvSpPr/>
          <p:nvPr/>
        </p:nvSpPr>
        <p:spPr>
          <a:xfrm>
            <a:off x="742950" y="1614488"/>
            <a:ext cx="2712197" cy="5686425"/>
          </a:xfrm>
          <a:prstGeom prst="rect">
            <a:avLst/>
          </a:prstGeom>
          <a:noFill/>
          <a:ln/>
        </p:spPr>
        <p:txBody>
          <a:bodyPr wrap="square" lIns="0" tIns="0" rIns="0" bIns="0" rtlCol="0" anchor="ctr">
            <a:spAutoFit/>
          </a:bodyPr>
          <a:lstStyle/>
          <a:p>
            <a:pPr indent="0" marL="0">
              <a:buNone/>
            </a:pPr>
            <a:r>
              <a:rPr lang="en-US" sz="788" dirty="0">
                <a:solidFill>
                  <a:srgbClr val="DBEAFE"/>
                </a:solidFill>
                <a:latin typeface="Consolas" pitchFamily="34" charset="0"/>
                <a:ea typeface="Consolas" pitchFamily="34" charset="-122"/>
                <a:cs typeface="Consolas" pitchFamily="34" charset="-120"/>
              </a:rPr>
              <a:t>// Package declaration</a:t>
            </a:r>
            <a:endParaRPr lang="en-US" sz="788" dirty="0"/>
          </a:p>
          <a:p>
            <a:pPr indent="0" marL="0">
              <a:buNone/>
            </a:pPr>
            <a:r>
              <a:rPr lang="en-US" sz="788" dirty="0">
                <a:solidFill>
                  <a:srgbClr val="DBEAFE"/>
                </a:solidFill>
                <a:latin typeface="Consolas" pitchFamily="34" charset="0"/>
                <a:ea typeface="Consolas" pitchFamily="34" charset="-122"/>
                <a:cs typeface="Consolas" pitchFamily="34" charset="-120"/>
              </a:rPr>
              <a:t>package com.example.myapp;</a:t>
            </a:r>
            <a:endParaRPr lang="en-US" sz="788" dirty="0"/>
          </a:p>
          <a:p>
            <a:pPr indent="0" marL="0">
              <a:buNone/>
            </a:pPr>
            <a:endParaRPr lang="en-US" sz="788" dirty="0"/>
          </a:p>
          <a:p>
            <a:pPr indent="0" marL="0">
              <a:buNone/>
            </a:pPr>
            <a:r>
              <a:rPr lang="en-US" sz="788" dirty="0">
                <a:solidFill>
                  <a:srgbClr val="DBEAFE"/>
                </a:solidFill>
                <a:latin typeface="Consolas" pitchFamily="34" charset="0"/>
                <a:ea typeface="Consolas" pitchFamily="34" charset="-122"/>
                <a:cs typeface="Consolas" pitchFamily="34" charset="-120"/>
              </a:rPr>
              <a:t>// Import statements</a:t>
            </a:r>
            <a:endParaRPr lang="en-US" sz="788" dirty="0"/>
          </a:p>
          <a:p>
            <a:pPr indent="0" marL="0">
              <a:buNone/>
            </a:pPr>
            <a:r>
              <a:rPr lang="en-US" sz="788" dirty="0">
                <a:solidFill>
                  <a:srgbClr val="DBEAFE"/>
                </a:solidFill>
                <a:latin typeface="Consolas" pitchFamily="34" charset="0"/>
                <a:ea typeface="Consolas" pitchFamily="34" charset="-122"/>
                <a:cs typeface="Consolas" pitchFamily="34" charset="-120"/>
              </a:rPr>
              <a:t>import java.util.Scanner;</a:t>
            </a:r>
            <a:endParaRPr lang="en-US" sz="788" dirty="0"/>
          </a:p>
          <a:p>
            <a:pPr indent="0" marL="0">
              <a:buNone/>
            </a:pPr>
            <a:r>
              <a:rPr lang="en-US" sz="788" dirty="0">
                <a:solidFill>
                  <a:srgbClr val="DBEAFE"/>
                </a:solidFill>
                <a:latin typeface="Consolas" pitchFamily="34" charset="0"/>
                <a:ea typeface="Consolas" pitchFamily="34" charset="-122"/>
                <a:cs typeface="Consolas" pitchFamily="34" charset="-120"/>
              </a:rPr>
              <a:t>import java.util.ArrayList;</a:t>
            </a:r>
            <a:endParaRPr lang="en-US" sz="788" dirty="0"/>
          </a:p>
          <a:p>
            <a:pPr indent="0" marL="0">
              <a:buNone/>
            </a:pPr>
            <a:endParaRPr lang="en-US" sz="788" dirty="0"/>
          </a:p>
          <a:p>
            <a:pPr indent="0" marL="0">
              <a:buNone/>
            </a:pPr>
            <a:r>
              <a:rPr lang="en-US" sz="788" dirty="0">
                <a:solidFill>
                  <a:srgbClr val="DBEAFE"/>
                </a:solidFill>
                <a:latin typeface="Consolas" pitchFamily="34" charset="0"/>
                <a:ea typeface="Consolas" pitchFamily="34" charset="-122"/>
                <a:cs typeface="Consolas" pitchFamily="34" charset="-120"/>
              </a:rPr>
              <a:t>/**</a:t>
            </a:r>
            <a:endParaRPr lang="en-US" sz="788" dirty="0"/>
          </a:p>
          <a:p>
            <a:pPr indent="0" marL="0">
              <a:buNone/>
            </a:pPr>
            <a:r>
              <a:rPr lang="en-US" sz="788" dirty="0">
                <a:solidFill>
                  <a:srgbClr val="DBEAFE"/>
                </a:solidFill>
                <a:latin typeface="Consolas" pitchFamily="34" charset="0"/>
                <a:ea typeface="Consolas" pitchFamily="34" charset="-122"/>
                <a:cs typeface="Consolas" pitchFamily="34" charset="-120"/>
              </a:rPr>
              <a:t> * Class documentation comment</a:t>
            </a:r>
            <a:endParaRPr lang="en-US" sz="788" dirty="0"/>
          </a:p>
          <a:p>
            <a:pPr indent="0" marL="0">
              <a:buNone/>
            </a:pPr>
            <a:r>
              <a:rPr lang="en-US" sz="788" dirty="0">
                <a:solidFill>
                  <a:srgbClr val="DBEAFE"/>
                </a:solidFill>
                <a:latin typeface="Consolas" pitchFamily="34" charset="0"/>
                <a:ea typeface="Consolas" pitchFamily="34" charset="-122"/>
                <a:cs typeface="Consolas" pitchFamily="34" charset="-120"/>
              </a:rPr>
              <a:t> */</a:t>
            </a:r>
            <a:endParaRPr lang="en-US" sz="788" dirty="0"/>
          </a:p>
          <a:p>
            <a:pPr indent="0" marL="0">
              <a:buNone/>
            </a:pPr>
            <a:r>
              <a:rPr lang="en-US" sz="788" dirty="0">
                <a:solidFill>
                  <a:srgbClr val="DBEAFE"/>
                </a:solidFill>
                <a:latin typeface="Consolas" pitchFamily="34" charset="0"/>
                <a:ea typeface="Consolas" pitchFamily="34" charset="-122"/>
                <a:cs typeface="Consolas" pitchFamily="34" charset="-120"/>
              </a:rPr>
              <a:t>public class MyProgram {</a:t>
            </a:r>
            <a:endParaRPr lang="en-US" sz="788" dirty="0"/>
          </a:p>
          <a:p>
            <a:pPr indent="0" marL="0">
              <a:buNone/>
            </a:pPr>
            <a:r>
              <a:rPr lang="en-US" sz="788" dirty="0">
                <a:solidFill>
                  <a:srgbClr val="DBEAFE"/>
                </a:solidFill>
                <a:latin typeface="Consolas" pitchFamily="34" charset="0"/>
                <a:ea typeface="Consolas" pitchFamily="34" charset="-122"/>
                <a:cs typeface="Consolas" pitchFamily="34" charset="-120"/>
              </a:rPr>
              <a:t>    // Fields (class variables)</a:t>
            </a:r>
            <a:endParaRPr lang="en-US" sz="788" dirty="0"/>
          </a:p>
          <a:p>
            <a:pPr indent="0" marL="0">
              <a:buNone/>
            </a:pPr>
            <a:r>
              <a:rPr lang="en-US" sz="788" dirty="0">
                <a:solidFill>
                  <a:srgbClr val="DBEAFE"/>
                </a:solidFill>
                <a:latin typeface="Consolas" pitchFamily="34" charset="0"/>
                <a:ea typeface="Consolas" pitchFamily="34" charset="-122"/>
                <a:cs typeface="Consolas" pitchFamily="34" charset="-120"/>
              </a:rPr>
              <a:t>    private int count;</a:t>
            </a:r>
            <a:endParaRPr lang="en-US" sz="788" dirty="0"/>
          </a:p>
          <a:p>
            <a:pPr indent="0" marL="0">
              <a:buNone/>
            </a:pPr>
            <a:r>
              <a:rPr lang="en-US" sz="788" dirty="0">
                <a:solidFill>
                  <a:srgbClr val="DBEAFE"/>
                </a:solidFill>
                <a:latin typeface="Consolas" pitchFamily="34" charset="0"/>
                <a:ea typeface="Consolas" pitchFamily="34" charset="-122"/>
                <a:cs typeface="Consolas" pitchFamily="34" charset="-120"/>
              </a:rPr>
              <a:t>    public static final double PI = 3.14159;</a:t>
            </a:r>
            <a:endParaRPr lang="en-US" sz="788" dirty="0"/>
          </a:p>
          <a:p>
            <a:pPr indent="0" marL="0">
              <a:buNone/>
            </a:pPr>
            <a:r>
              <a:rPr lang="en-US" sz="788" dirty="0">
                <a:solidFill>
                  <a:srgbClr val="DBEAFE"/>
                </a:solidFill>
                <a:latin typeface="Consolas" pitchFamily="34" charset="0"/>
                <a:ea typeface="Consolas" pitchFamily="34" charset="-122"/>
                <a:cs typeface="Consolas" pitchFamily="34" charset="-120"/>
              </a:rPr>
              <a:t>    </a:t>
            </a:r>
            <a:endParaRPr lang="en-US" sz="788" dirty="0"/>
          </a:p>
          <a:p>
            <a:pPr indent="0" marL="0">
              <a:buNone/>
            </a:pPr>
            <a:r>
              <a:rPr lang="en-US" sz="788" dirty="0">
                <a:solidFill>
                  <a:srgbClr val="DBEAFE"/>
                </a:solidFill>
                <a:latin typeface="Consolas" pitchFamily="34" charset="0"/>
                <a:ea typeface="Consolas" pitchFamily="34" charset="-122"/>
                <a:cs typeface="Consolas" pitchFamily="34" charset="-120"/>
              </a:rPr>
              <a:t>    // Constructor</a:t>
            </a:r>
            <a:endParaRPr lang="en-US" sz="788" dirty="0"/>
          </a:p>
          <a:p>
            <a:pPr indent="0" marL="0">
              <a:buNone/>
            </a:pPr>
            <a:r>
              <a:rPr lang="en-US" sz="788" dirty="0">
                <a:solidFill>
                  <a:srgbClr val="DBEAFE"/>
                </a:solidFill>
                <a:latin typeface="Consolas" pitchFamily="34" charset="0"/>
                <a:ea typeface="Consolas" pitchFamily="34" charset="-122"/>
                <a:cs typeface="Consolas" pitchFamily="34" charset="-120"/>
              </a:rPr>
              <a:t>    public MyProgram() {</a:t>
            </a:r>
            <a:endParaRPr lang="en-US" sz="788" dirty="0"/>
          </a:p>
          <a:p>
            <a:pPr indent="0" marL="0">
              <a:buNone/>
            </a:pPr>
            <a:r>
              <a:rPr lang="en-US" sz="788" dirty="0">
                <a:solidFill>
                  <a:srgbClr val="DBEAFE"/>
                </a:solidFill>
                <a:latin typeface="Consolas" pitchFamily="34" charset="0"/>
                <a:ea typeface="Consolas" pitchFamily="34" charset="-122"/>
                <a:cs typeface="Consolas" pitchFamily="34" charset="-120"/>
              </a:rPr>
              <a:t>        count = 0;</a:t>
            </a:r>
            <a:endParaRPr lang="en-US" sz="788" dirty="0"/>
          </a:p>
          <a:p>
            <a:pPr indent="0" marL="0">
              <a:buNone/>
            </a:pPr>
            <a:r>
              <a:rPr lang="en-US" sz="788" dirty="0">
                <a:solidFill>
                  <a:srgbClr val="DBEAFE"/>
                </a:solidFill>
                <a:latin typeface="Consolas" pitchFamily="34" charset="0"/>
                <a:ea typeface="Consolas" pitchFamily="34" charset="-122"/>
                <a:cs typeface="Consolas" pitchFamily="34" charset="-120"/>
              </a:rPr>
              <a:t>    }</a:t>
            </a:r>
            <a:endParaRPr lang="en-US" sz="788" dirty="0"/>
          </a:p>
          <a:p>
            <a:pPr indent="0" marL="0">
              <a:buNone/>
            </a:pPr>
            <a:r>
              <a:rPr lang="en-US" sz="788" dirty="0">
                <a:solidFill>
                  <a:srgbClr val="DBEAFE"/>
                </a:solidFill>
                <a:latin typeface="Consolas" pitchFamily="34" charset="0"/>
                <a:ea typeface="Consolas" pitchFamily="34" charset="-122"/>
                <a:cs typeface="Consolas" pitchFamily="34" charset="-120"/>
              </a:rPr>
              <a:t>    </a:t>
            </a:r>
            <a:endParaRPr lang="en-US" sz="788" dirty="0"/>
          </a:p>
          <a:p>
            <a:pPr indent="0" marL="0">
              <a:buNone/>
            </a:pPr>
            <a:r>
              <a:rPr lang="en-US" sz="788" dirty="0">
                <a:solidFill>
                  <a:srgbClr val="DBEAFE"/>
                </a:solidFill>
                <a:latin typeface="Consolas" pitchFamily="34" charset="0"/>
                <a:ea typeface="Consolas" pitchFamily="34" charset="-122"/>
                <a:cs typeface="Consolas" pitchFamily="34" charset="-120"/>
              </a:rPr>
              <a:t>    // Methods</a:t>
            </a:r>
            <a:endParaRPr lang="en-US" sz="788" dirty="0"/>
          </a:p>
          <a:p>
            <a:pPr indent="0" marL="0">
              <a:buNone/>
            </a:pPr>
            <a:r>
              <a:rPr lang="en-US" sz="788" dirty="0">
                <a:solidFill>
                  <a:srgbClr val="DBEAFE"/>
                </a:solidFill>
                <a:latin typeface="Consolas" pitchFamily="34" charset="0"/>
                <a:ea typeface="Consolas" pitchFamily="34" charset="-122"/>
                <a:cs typeface="Consolas" pitchFamily="34" charset="-120"/>
              </a:rPr>
              <a:t>    public void incrementCount() {</a:t>
            </a:r>
            <a:endParaRPr lang="en-US" sz="788" dirty="0"/>
          </a:p>
          <a:p>
            <a:pPr indent="0" marL="0">
              <a:buNone/>
            </a:pPr>
            <a:r>
              <a:rPr lang="en-US" sz="788" dirty="0">
                <a:solidFill>
                  <a:srgbClr val="DBEAFE"/>
                </a:solidFill>
                <a:latin typeface="Consolas" pitchFamily="34" charset="0"/>
                <a:ea typeface="Consolas" pitchFamily="34" charset="-122"/>
                <a:cs typeface="Consolas" pitchFamily="34" charset="-120"/>
              </a:rPr>
              <a:t>        count++;</a:t>
            </a:r>
            <a:endParaRPr lang="en-US" sz="788" dirty="0"/>
          </a:p>
          <a:p>
            <a:pPr indent="0" marL="0">
              <a:buNone/>
            </a:pPr>
            <a:r>
              <a:rPr lang="en-US" sz="788" dirty="0">
                <a:solidFill>
                  <a:srgbClr val="DBEAFE"/>
                </a:solidFill>
                <a:latin typeface="Consolas" pitchFamily="34" charset="0"/>
                <a:ea typeface="Consolas" pitchFamily="34" charset="-122"/>
                <a:cs typeface="Consolas" pitchFamily="34" charset="-120"/>
              </a:rPr>
              <a:t>    }</a:t>
            </a:r>
            <a:endParaRPr lang="en-US" sz="788" dirty="0"/>
          </a:p>
          <a:p>
            <a:pPr indent="0" marL="0">
              <a:buNone/>
            </a:pPr>
            <a:r>
              <a:rPr lang="en-US" sz="788" dirty="0">
                <a:solidFill>
                  <a:srgbClr val="DBEAFE"/>
                </a:solidFill>
                <a:latin typeface="Consolas" pitchFamily="34" charset="0"/>
                <a:ea typeface="Consolas" pitchFamily="34" charset="-122"/>
                <a:cs typeface="Consolas" pitchFamily="34" charset="-120"/>
              </a:rPr>
              <a:t>    </a:t>
            </a:r>
            <a:endParaRPr lang="en-US" sz="788" dirty="0"/>
          </a:p>
          <a:p>
            <a:pPr indent="0" marL="0">
              <a:buNone/>
            </a:pPr>
            <a:r>
              <a:rPr lang="en-US" sz="788" dirty="0">
                <a:solidFill>
                  <a:srgbClr val="DBEAFE"/>
                </a:solidFill>
                <a:latin typeface="Consolas" pitchFamily="34" charset="0"/>
                <a:ea typeface="Consolas" pitchFamily="34" charset="-122"/>
                <a:cs typeface="Consolas" pitchFamily="34" charset="-120"/>
              </a:rPr>
              <a:t>    // Main method</a:t>
            </a:r>
            <a:endParaRPr lang="en-US" sz="788" dirty="0"/>
          </a:p>
          <a:p>
            <a:pPr indent="0" marL="0">
              <a:buNone/>
            </a:pPr>
            <a:r>
              <a:rPr lang="en-US" sz="788" dirty="0">
                <a:solidFill>
                  <a:srgbClr val="DBEAFE"/>
                </a:solidFill>
                <a:latin typeface="Consolas" pitchFamily="34" charset="0"/>
                <a:ea typeface="Consolas" pitchFamily="34" charset="-122"/>
                <a:cs typeface="Consolas" pitchFamily="34" charset="-120"/>
              </a:rPr>
              <a:t>    public static void main(String[] args) {</a:t>
            </a:r>
            <a:endParaRPr lang="en-US" sz="788" dirty="0"/>
          </a:p>
          <a:p>
            <a:pPr indent="0" marL="0">
              <a:buNone/>
            </a:pPr>
            <a:r>
              <a:rPr lang="en-US" sz="788" dirty="0">
                <a:solidFill>
                  <a:srgbClr val="DBEAFE"/>
                </a:solidFill>
                <a:latin typeface="Consolas" pitchFamily="34" charset="0"/>
                <a:ea typeface="Consolas" pitchFamily="34" charset="-122"/>
                <a:cs typeface="Consolas" pitchFamily="34" charset="-120"/>
              </a:rPr>
              <a:t>        // Local variables</a:t>
            </a:r>
            <a:endParaRPr lang="en-US" sz="788" dirty="0"/>
          </a:p>
          <a:p>
            <a:pPr indent="0" marL="0">
              <a:buNone/>
            </a:pPr>
            <a:r>
              <a:rPr lang="en-US" sz="788" dirty="0">
                <a:solidFill>
                  <a:srgbClr val="DBEAFE"/>
                </a:solidFill>
                <a:latin typeface="Consolas" pitchFamily="34" charset="0"/>
                <a:ea typeface="Consolas" pitchFamily="34" charset="-122"/>
                <a:cs typeface="Consolas" pitchFamily="34" charset="-120"/>
              </a:rPr>
              <a:t>        int x = 10;</a:t>
            </a:r>
            <a:endParaRPr lang="en-US" sz="788" dirty="0"/>
          </a:p>
          <a:p>
            <a:pPr indent="0" marL="0">
              <a:buNone/>
            </a:pPr>
            <a:r>
              <a:rPr lang="en-US" sz="788" dirty="0">
                <a:solidFill>
                  <a:srgbClr val="DBEAFE"/>
                </a:solidFill>
                <a:latin typeface="Consolas" pitchFamily="34" charset="0"/>
                <a:ea typeface="Consolas" pitchFamily="34" charset="-122"/>
                <a:cs typeface="Consolas" pitchFamily="34" charset="-120"/>
              </a:rPr>
              <a:t>        </a:t>
            </a:r>
            <a:endParaRPr lang="en-US" sz="788" dirty="0"/>
          </a:p>
          <a:p>
            <a:pPr indent="0" marL="0">
              <a:buNone/>
            </a:pPr>
            <a:r>
              <a:rPr lang="en-US" sz="788" dirty="0">
                <a:solidFill>
                  <a:srgbClr val="DBEAFE"/>
                </a:solidFill>
                <a:latin typeface="Consolas" pitchFamily="34" charset="0"/>
                <a:ea typeface="Consolas" pitchFamily="34" charset="-122"/>
                <a:cs typeface="Consolas" pitchFamily="34" charset="-120"/>
              </a:rPr>
              <a:t>        // Create object</a:t>
            </a:r>
            <a:endParaRPr lang="en-US" sz="788" dirty="0"/>
          </a:p>
          <a:p>
            <a:pPr indent="0" marL="0">
              <a:buNone/>
            </a:pPr>
            <a:r>
              <a:rPr lang="en-US" sz="788" dirty="0">
                <a:solidFill>
                  <a:srgbClr val="DBEAFE"/>
                </a:solidFill>
                <a:latin typeface="Consolas" pitchFamily="34" charset="0"/>
                <a:ea typeface="Consolas" pitchFamily="34" charset="-122"/>
                <a:cs typeface="Consolas" pitchFamily="34" charset="-120"/>
              </a:rPr>
              <a:t>        MyProgram program = new MyProgram();</a:t>
            </a:r>
            <a:endParaRPr lang="en-US" sz="788" dirty="0"/>
          </a:p>
          <a:p>
            <a:pPr indent="0" marL="0">
              <a:buNone/>
            </a:pPr>
            <a:r>
              <a:rPr lang="en-US" sz="788" dirty="0">
                <a:solidFill>
                  <a:srgbClr val="DBEAFE"/>
                </a:solidFill>
                <a:latin typeface="Consolas" pitchFamily="34" charset="0"/>
                <a:ea typeface="Consolas" pitchFamily="34" charset="-122"/>
                <a:cs typeface="Consolas" pitchFamily="34" charset="-120"/>
              </a:rPr>
              <a:t>        </a:t>
            </a:r>
            <a:endParaRPr lang="en-US" sz="788" dirty="0"/>
          </a:p>
          <a:p>
            <a:pPr indent="0" marL="0">
              <a:buNone/>
            </a:pPr>
            <a:r>
              <a:rPr lang="en-US" sz="788" dirty="0">
                <a:solidFill>
                  <a:srgbClr val="DBEAFE"/>
                </a:solidFill>
                <a:latin typeface="Consolas" pitchFamily="34" charset="0"/>
                <a:ea typeface="Consolas" pitchFamily="34" charset="-122"/>
                <a:cs typeface="Consolas" pitchFamily="34" charset="-120"/>
              </a:rPr>
              <a:t>        // Method calls</a:t>
            </a:r>
            <a:endParaRPr lang="en-US" sz="788" dirty="0"/>
          </a:p>
          <a:p>
            <a:pPr indent="0" marL="0">
              <a:buNone/>
            </a:pPr>
            <a:r>
              <a:rPr lang="en-US" sz="788" dirty="0">
                <a:solidFill>
                  <a:srgbClr val="DBEAFE"/>
                </a:solidFill>
                <a:latin typeface="Consolas" pitchFamily="34" charset="0"/>
                <a:ea typeface="Consolas" pitchFamily="34" charset="-122"/>
                <a:cs typeface="Consolas" pitchFamily="34" charset="-120"/>
              </a:rPr>
              <a:t>        program.incrementCount();</a:t>
            </a:r>
            <a:endParaRPr lang="en-US" sz="788" dirty="0"/>
          </a:p>
          <a:p>
            <a:pPr indent="0" marL="0">
              <a:buNone/>
            </a:pPr>
            <a:r>
              <a:rPr lang="en-US" sz="788" dirty="0">
                <a:solidFill>
                  <a:srgbClr val="DBEAFE"/>
                </a:solidFill>
                <a:latin typeface="Consolas" pitchFamily="34" charset="0"/>
                <a:ea typeface="Consolas" pitchFamily="34" charset="-122"/>
                <a:cs typeface="Consolas" pitchFamily="34" charset="-120"/>
              </a:rPr>
              <a:t>        </a:t>
            </a:r>
            <a:endParaRPr lang="en-US" sz="788" dirty="0"/>
          </a:p>
          <a:p>
            <a:pPr indent="0" marL="0">
              <a:buNone/>
            </a:pPr>
            <a:r>
              <a:rPr lang="en-US" sz="788" dirty="0">
                <a:solidFill>
                  <a:srgbClr val="DBEAFE"/>
                </a:solidFill>
                <a:latin typeface="Consolas" pitchFamily="34" charset="0"/>
                <a:ea typeface="Consolas" pitchFamily="34" charset="-122"/>
                <a:cs typeface="Consolas" pitchFamily="34" charset="-120"/>
              </a:rPr>
              <a:t>        // Output</a:t>
            </a:r>
            <a:endParaRPr lang="en-US" sz="788" dirty="0"/>
          </a:p>
          <a:p>
            <a:pPr indent="0" marL="0">
              <a:buNone/>
            </a:pPr>
            <a:r>
              <a:rPr lang="en-US" sz="788" dirty="0">
                <a:solidFill>
                  <a:srgbClr val="DBEAFE"/>
                </a:solidFill>
                <a:latin typeface="Consolas" pitchFamily="34" charset="0"/>
                <a:ea typeface="Consolas" pitchFamily="34" charset="-122"/>
                <a:cs typeface="Consolas" pitchFamily="34" charset="-120"/>
              </a:rPr>
              <a:t>        System.out.println("Hello, World!");</a:t>
            </a:r>
            <a:endParaRPr lang="en-US" sz="788" dirty="0"/>
          </a:p>
          <a:p>
            <a:pPr indent="0" marL="0">
              <a:buNone/>
            </a:pPr>
            <a:r>
              <a:rPr lang="en-US" sz="788" dirty="0">
                <a:solidFill>
                  <a:srgbClr val="DBEAFE"/>
                </a:solidFill>
                <a:latin typeface="Consolas" pitchFamily="34" charset="0"/>
                <a:ea typeface="Consolas" pitchFamily="34" charset="-122"/>
                <a:cs typeface="Consolas" pitchFamily="34" charset="-120"/>
              </a:rPr>
              <a:t>    }</a:t>
            </a:r>
            <a:endParaRPr lang="en-US" sz="788" dirty="0"/>
          </a:p>
          <a:p>
            <a:pPr indent="0" marL="0">
              <a:buNone/>
            </a:pPr>
            <a:r>
              <a:rPr lang="en-US" sz="788" dirty="0">
                <a:solidFill>
                  <a:srgbClr val="DBEAFE"/>
                </a:solidFill>
                <a:latin typeface="Consolas" pitchFamily="34" charset="0"/>
                <a:ea typeface="Consolas" pitchFamily="34" charset="-122"/>
                <a:cs typeface="Consolas" pitchFamily="34" charset="-120"/>
              </a:rPr>
              <a:t>}</a:t>
            </a:r>
            <a:endParaRPr lang="en-US" sz="788" dirty="0"/>
          </a:p>
        </p:txBody>
      </p:sp>
      <p:sp>
        <p:nvSpPr>
          <p:cNvPr id="9" name="Shape 6"/>
          <p:cNvSpPr/>
          <p:nvPr/>
        </p:nvSpPr>
        <p:spPr>
          <a:xfrm>
            <a:off x="457200" y="7886700"/>
            <a:ext cx="4000500" cy="4529138"/>
          </a:xfrm>
          <a:prstGeom prst="rect">
            <a:avLst/>
          </a:prstGeom>
          <a:solidFill>
            <a:srgbClr val="FFFFFF">
              <a:alpha val="10000"/>
            </a:srgbClr>
          </a:solidFill>
          <a:ln w="99">
            <a:solidFill>
              <a:srgbClr val="60A5FA">
                <a:alpha val="30000"/>
              </a:srgbClr>
            </a:solidFill>
            <a:prstDash val="solid"/>
          </a:ln>
        </p:spPr>
      </p:sp>
      <p:sp>
        <p:nvSpPr>
          <p:cNvPr id="10" name="Text 7"/>
          <p:cNvSpPr/>
          <p:nvPr/>
        </p:nvSpPr>
        <p:spPr>
          <a:xfrm>
            <a:off x="628650" y="8058150"/>
            <a:ext cx="3729038" cy="228600"/>
          </a:xfrm>
          <a:prstGeom prst="rect">
            <a:avLst/>
          </a:prstGeom>
          <a:noFill/>
          <a:ln/>
        </p:spPr>
        <p:txBody>
          <a:bodyPr wrap="square" lIns="0" tIns="0" rIns="0" bIns="0" rtlCol="0" anchor="ctr">
            <a:spAutoFit/>
          </a:bodyPr>
          <a:lstStyle/>
          <a:p>
            <a:pPr indent="0" marL="0">
              <a:buNone/>
            </a:pPr>
            <a:r>
              <a:rPr lang="en-US" sz="1350" b="1" dirty="0">
                <a:solidFill>
                  <a:srgbClr val="BFDBFE"/>
                </a:solidFill>
                <a:latin typeface="Segoe UI" pitchFamily="34" charset="0"/>
                <a:ea typeface="Segoe UI" pitchFamily="34" charset="-122"/>
                <a:cs typeface="Segoe UI" pitchFamily="34" charset="-120"/>
              </a:rPr>
              <a:t>Key Components Explained</a:t>
            </a:r>
            <a:endParaRPr lang="en-US" sz="1350" dirty="0"/>
          </a:p>
        </p:txBody>
      </p:sp>
      <p:sp>
        <p:nvSpPr>
          <p:cNvPr id="11" name="Shape 8"/>
          <p:cNvSpPr/>
          <p:nvPr/>
        </p:nvSpPr>
        <p:spPr>
          <a:xfrm>
            <a:off x="628650" y="8401050"/>
            <a:ext cx="3657600" cy="871538"/>
          </a:xfrm>
          <a:prstGeom prst="rect">
            <a:avLst/>
          </a:prstGeom>
          <a:solidFill>
            <a:srgbClr val="1E3A8A">
              <a:alpha val="30000"/>
            </a:srgbClr>
          </a:solidFill>
          <a:ln/>
        </p:spPr>
      </p:sp>
      <p:sp>
        <p:nvSpPr>
          <p:cNvPr id="12" name="Shape 9"/>
          <p:cNvSpPr/>
          <p:nvPr/>
        </p:nvSpPr>
        <p:spPr>
          <a:xfrm>
            <a:off x="628650" y="8401050"/>
            <a:ext cx="28575" cy="871538"/>
          </a:xfrm>
          <a:prstGeom prst="rect">
            <a:avLst/>
          </a:prstGeom>
          <a:solidFill>
            <a:srgbClr val="60A5FA"/>
          </a:solidFill>
          <a:ln/>
        </p:spPr>
      </p:sp>
      <p:sp>
        <p:nvSpPr>
          <p:cNvPr id="13" name="Text 10"/>
          <p:cNvSpPr/>
          <p:nvPr/>
        </p:nvSpPr>
        <p:spPr>
          <a:xfrm>
            <a:off x="742950" y="8486775"/>
            <a:ext cx="3614738" cy="200025"/>
          </a:xfrm>
          <a:prstGeom prst="rect">
            <a:avLst/>
          </a:prstGeom>
          <a:noFill/>
          <a:ln/>
        </p:spPr>
        <p:txBody>
          <a:bodyPr wrap="square" lIns="0" tIns="0" rIns="0" bIns="0" rtlCol="0" anchor="ctr">
            <a:spAutoFit/>
          </a:bodyPr>
          <a:lstStyle/>
          <a:p>
            <a:pPr indent="0" marL="0">
              <a:buNone/>
            </a:pPr>
            <a:r>
              <a:rPr lang="en-US" sz="1125" b="1" dirty="0">
                <a:solidFill>
                  <a:srgbClr val="F1F5F9"/>
                </a:solidFill>
                <a:latin typeface="Segoe UI" pitchFamily="34" charset="0"/>
                <a:ea typeface="Segoe UI" pitchFamily="34" charset="-122"/>
                <a:cs typeface="Segoe UI" pitchFamily="34" charset="-120"/>
              </a:rPr>
              <a:t>Package Declaration</a:t>
            </a:r>
            <a:endParaRPr lang="en-US" sz="1125" dirty="0"/>
          </a:p>
        </p:txBody>
      </p:sp>
      <p:sp>
        <p:nvSpPr>
          <p:cNvPr id="14" name="Text 11"/>
          <p:cNvSpPr/>
          <p:nvPr/>
        </p:nvSpPr>
        <p:spPr>
          <a:xfrm>
            <a:off x="742950" y="8715375"/>
            <a:ext cx="3614738" cy="142875"/>
          </a:xfrm>
          <a:prstGeom prst="rect">
            <a:avLst/>
          </a:prstGeom>
          <a:noFill/>
          <a:ln/>
        </p:spPr>
        <p:txBody>
          <a:bodyPr wrap="square" lIns="0" tIns="0" rIns="0" bIns="0" rtlCol="0" anchor="ctr">
            <a:spAutoFit/>
          </a:bodyPr>
          <a:lstStyle/>
          <a:p>
            <a:pPr indent="0" marL="0">
              <a:buNone/>
            </a:pPr>
            <a:r>
              <a:rPr lang="en-US" sz="788" dirty="0">
                <a:solidFill>
                  <a:srgbClr val="F1F5F9"/>
                </a:solidFill>
                <a:latin typeface="Segoe UI" pitchFamily="34" charset="0"/>
                <a:ea typeface="Segoe UI" pitchFamily="34" charset="-122"/>
                <a:cs typeface="Segoe UI" pitchFamily="34" charset="-120"/>
              </a:rPr>
              <a:t>Organizes classes into namespaces to avoid naming conflicts</a:t>
            </a:r>
            <a:endParaRPr lang="en-US" sz="788" dirty="0"/>
          </a:p>
        </p:txBody>
      </p:sp>
      <p:sp>
        <p:nvSpPr>
          <p:cNvPr id="15" name="Shape 12"/>
          <p:cNvSpPr/>
          <p:nvPr/>
        </p:nvSpPr>
        <p:spPr>
          <a:xfrm>
            <a:off x="742950" y="8886825"/>
            <a:ext cx="3543300" cy="300038"/>
          </a:xfrm>
          <a:prstGeom prst="rect">
            <a:avLst/>
          </a:prstGeom>
          <a:solidFill>
            <a:srgbClr val="1E293B">
              <a:alpha val="80000"/>
            </a:srgbClr>
          </a:solidFill>
          <a:ln w="99">
            <a:solidFill>
              <a:srgbClr val="60A5FA">
                <a:alpha val="30000"/>
              </a:srgbClr>
            </a:solidFill>
            <a:prstDash val="solid"/>
          </a:ln>
        </p:spPr>
      </p:sp>
      <p:sp>
        <p:nvSpPr>
          <p:cNvPr id="16" name="Text 13"/>
          <p:cNvSpPr/>
          <p:nvPr/>
        </p:nvSpPr>
        <p:spPr>
          <a:xfrm>
            <a:off x="800100" y="8999339"/>
            <a:ext cx="1408965" cy="96441"/>
          </a:xfrm>
          <a:prstGeom prst="rect">
            <a:avLst/>
          </a:prstGeom>
          <a:noFill/>
          <a:ln/>
        </p:spPr>
        <p:txBody>
          <a:bodyPr wrap="square" lIns="0" tIns="0" rIns="0" bIns="0" rtlCol="0" anchor="ctr">
            <a:spAutoFit/>
          </a:bodyPr>
          <a:lstStyle/>
          <a:p>
            <a:pPr indent="0" marL="0">
              <a:buNone/>
            </a:pPr>
            <a:r>
              <a:rPr lang="en-US" sz="675" dirty="0">
                <a:solidFill>
                  <a:srgbClr val="DBEAFE"/>
                </a:solidFill>
                <a:latin typeface="Consolas" pitchFamily="34" charset="0"/>
                <a:ea typeface="Consolas" pitchFamily="34" charset="-122"/>
                <a:cs typeface="Consolas" pitchFamily="34" charset="-120"/>
              </a:rPr>
              <a:t>package com.example.myapp;</a:t>
            </a:r>
            <a:endParaRPr lang="en-US" sz="675" dirty="0"/>
          </a:p>
        </p:txBody>
      </p:sp>
      <p:sp>
        <p:nvSpPr>
          <p:cNvPr id="17" name="Shape 14"/>
          <p:cNvSpPr/>
          <p:nvPr/>
        </p:nvSpPr>
        <p:spPr>
          <a:xfrm>
            <a:off x="628650" y="9372600"/>
            <a:ext cx="3657600" cy="871538"/>
          </a:xfrm>
          <a:prstGeom prst="rect">
            <a:avLst/>
          </a:prstGeom>
          <a:solidFill>
            <a:srgbClr val="1E3A8A">
              <a:alpha val="30000"/>
            </a:srgbClr>
          </a:solidFill>
          <a:ln/>
        </p:spPr>
      </p:sp>
      <p:sp>
        <p:nvSpPr>
          <p:cNvPr id="18" name="Shape 15"/>
          <p:cNvSpPr/>
          <p:nvPr/>
        </p:nvSpPr>
        <p:spPr>
          <a:xfrm>
            <a:off x="628650" y="9372600"/>
            <a:ext cx="28575" cy="871538"/>
          </a:xfrm>
          <a:prstGeom prst="rect">
            <a:avLst/>
          </a:prstGeom>
          <a:solidFill>
            <a:srgbClr val="60A5FA"/>
          </a:solidFill>
          <a:ln/>
        </p:spPr>
      </p:sp>
      <p:sp>
        <p:nvSpPr>
          <p:cNvPr id="19" name="Text 16"/>
          <p:cNvSpPr/>
          <p:nvPr/>
        </p:nvSpPr>
        <p:spPr>
          <a:xfrm>
            <a:off x="742950" y="9458325"/>
            <a:ext cx="3614738" cy="200025"/>
          </a:xfrm>
          <a:prstGeom prst="rect">
            <a:avLst/>
          </a:prstGeom>
          <a:noFill/>
          <a:ln/>
        </p:spPr>
        <p:txBody>
          <a:bodyPr wrap="square" lIns="0" tIns="0" rIns="0" bIns="0" rtlCol="0" anchor="ctr">
            <a:spAutoFit/>
          </a:bodyPr>
          <a:lstStyle/>
          <a:p>
            <a:pPr indent="0" marL="0">
              <a:buNone/>
            </a:pPr>
            <a:r>
              <a:rPr lang="en-US" sz="1125" b="1" dirty="0">
                <a:solidFill>
                  <a:srgbClr val="F1F5F9"/>
                </a:solidFill>
                <a:latin typeface="Segoe UI" pitchFamily="34" charset="0"/>
                <a:ea typeface="Segoe UI" pitchFamily="34" charset="-122"/>
                <a:cs typeface="Segoe UI" pitchFamily="34" charset="-120"/>
              </a:rPr>
              <a:t>Import Statements</a:t>
            </a:r>
            <a:endParaRPr lang="en-US" sz="1125" dirty="0"/>
          </a:p>
        </p:txBody>
      </p:sp>
      <p:sp>
        <p:nvSpPr>
          <p:cNvPr id="20" name="Text 17"/>
          <p:cNvSpPr/>
          <p:nvPr/>
        </p:nvSpPr>
        <p:spPr>
          <a:xfrm>
            <a:off x="742950" y="9686925"/>
            <a:ext cx="3614738" cy="142875"/>
          </a:xfrm>
          <a:prstGeom prst="rect">
            <a:avLst/>
          </a:prstGeom>
          <a:noFill/>
          <a:ln/>
        </p:spPr>
        <p:txBody>
          <a:bodyPr wrap="square" lIns="0" tIns="0" rIns="0" bIns="0" rtlCol="0" anchor="ctr">
            <a:spAutoFit/>
          </a:bodyPr>
          <a:lstStyle/>
          <a:p>
            <a:pPr indent="0" marL="0">
              <a:buNone/>
            </a:pPr>
            <a:r>
              <a:rPr lang="en-US" sz="788" dirty="0">
                <a:solidFill>
                  <a:srgbClr val="F1F5F9"/>
                </a:solidFill>
                <a:latin typeface="Segoe UI" pitchFamily="34" charset="0"/>
                <a:ea typeface="Segoe UI" pitchFamily="34" charset="-122"/>
                <a:cs typeface="Segoe UI" pitchFamily="34" charset="-120"/>
              </a:rPr>
              <a:t>Include classes from other packages</a:t>
            </a:r>
            <a:endParaRPr lang="en-US" sz="788" dirty="0"/>
          </a:p>
        </p:txBody>
      </p:sp>
      <p:sp>
        <p:nvSpPr>
          <p:cNvPr id="21" name="Shape 18"/>
          <p:cNvSpPr/>
          <p:nvPr/>
        </p:nvSpPr>
        <p:spPr>
          <a:xfrm>
            <a:off x="742950" y="9858375"/>
            <a:ext cx="3543300" cy="300038"/>
          </a:xfrm>
          <a:prstGeom prst="rect">
            <a:avLst/>
          </a:prstGeom>
          <a:solidFill>
            <a:srgbClr val="1E293B">
              <a:alpha val="80000"/>
            </a:srgbClr>
          </a:solidFill>
          <a:ln w="99">
            <a:solidFill>
              <a:srgbClr val="60A5FA">
                <a:alpha val="30000"/>
              </a:srgbClr>
            </a:solidFill>
            <a:prstDash val="solid"/>
          </a:ln>
        </p:spPr>
      </p:sp>
      <p:sp>
        <p:nvSpPr>
          <p:cNvPr id="22" name="Text 19"/>
          <p:cNvSpPr/>
          <p:nvPr/>
        </p:nvSpPr>
        <p:spPr>
          <a:xfrm>
            <a:off x="800100" y="9970889"/>
            <a:ext cx="1357536" cy="96441"/>
          </a:xfrm>
          <a:prstGeom prst="rect">
            <a:avLst/>
          </a:prstGeom>
          <a:noFill/>
          <a:ln/>
        </p:spPr>
        <p:txBody>
          <a:bodyPr wrap="square" lIns="0" tIns="0" rIns="0" bIns="0" rtlCol="0" anchor="ctr">
            <a:spAutoFit/>
          </a:bodyPr>
          <a:lstStyle/>
          <a:p>
            <a:pPr indent="0" marL="0">
              <a:buNone/>
            </a:pPr>
            <a:r>
              <a:rPr lang="en-US" sz="675" dirty="0">
                <a:solidFill>
                  <a:srgbClr val="DBEAFE"/>
                </a:solidFill>
                <a:latin typeface="Consolas" pitchFamily="34" charset="0"/>
                <a:ea typeface="Consolas" pitchFamily="34" charset="-122"/>
                <a:cs typeface="Consolas" pitchFamily="34" charset="-120"/>
              </a:rPr>
              <a:t>import java.util.Scanner;</a:t>
            </a:r>
            <a:endParaRPr lang="en-US" sz="675" dirty="0"/>
          </a:p>
        </p:txBody>
      </p:sp>
      <p:sp>
        <p:nvSpPr>
          <p:cNvPr id="23" name="Shape 20"/>
          <p:cNvSpPr/>
          <p:nvPr/>
        </p:nvSpPr>
        <p:spPr>
          <a:xfrm>
            <a:off x="628650" y="10344150"/>
            <a:ext cx="3657600" cy="871538"/>
          </a:xfrm>
          <a:prstGeom prst="rect">
            <a:avLst/>
          </a:prstGeom>
          <a:solidFill>
            <a:srgbClr val="1E3A8A">
              <a:alpha val="30000"/>
            </a:srgbClr>
          </a:solidFill>
          <a:ln/>
        </p:spPr>
      </p:sp>
      <p:sp>
        <p:nvSpPr>
          <p:cNvPr id="24" name="Shape 21"/>
          <p:cNvSpPr/>
          <p:nvPr/>
        </p:nvSpPr>
        <p:spPr>
          <a:xfrm>
            <a:off x="628650" y="10344150"/>
            <a:ext cx="28575" cy="871538"/>
          </a:xfrm>
          <a:prstGeom prst="rect">
            <a:avLst/>
          </a:prstGeom>
          <a:solidFill>
            <a:srgbClr val="60A5FA"/>
          </a:solidFill>
          <a:ln/>
        </p:spPr>
      </p:sp>
      <p:sp>
        <p:nvSpPr>
          <p:cNvPr id="25" name="Text 22"/>
          <p:cNvSpPr/>
          <p:nvPr/>
        </p:nvSpPr>
        <p:spPr>
          <a:xfrm>
            <a:off x="742950" y="10429875"/>
            <a:ext cx="3614738" cy="200025"/>
          </a:xfrm>
          <a:prstGeom prst="rect">
            <a:avLst/>
          </a:prstGeom>
          <a:noFill/>
          <a:ln/>
        </p:spPr>
        <p:txBody>
          <a:bodyPr wrap="square" lIns="0" tIns="0" rIns="0" bIns="0" rtlCol="0" anchor="ctr">
            <a:spAutoFit/>
          </a:bodyPr>
          <a:lstStyle/>
          <a:p>
            <a:pPr indent="0" marL="0">
              <a:buNone/>
            </a:pPr>
            <a:r>
              <a:rPr lang="en-US" sz="1125" b="1" dirty="0">
                <a:solidFill>
                  <a:srgbClr val="F1F5F9"/>
                </a:solidFill>
                <a:latin typeface="Segoe UI" pitchFamily="34" charset="0"/>
                <a:ea typeface="Segoe UI" pitchFamily="34" charset="-122"/>
                <a:cs typeface="Segoe UI" pitchFamily="34" charset="-120"/>
              </a:rPr>
              <a:t>Class Declaration</a:t>
            </a:r>
            <a:endParaRPr lang="en-US" sz="1125" dirty="0"/>
          </a:p>
        </p:txBody>
      </p:sp>
      <p:sp>
        <p:nvSpPr>
          <p:cNvPr id="26" name="Text 23"/>
          <p:cNvSpPr/>
          <p:nvPr/>
        </p:nvSpPr>
        <p:spPr>
          <a:xfrm>
            <a:off x="742950" y="10658475"/>
            <a:ext cx="3614738" cy="142875"/>
          </a:xfrm>
          <a:prstGeom prst="rect">
            <a:avLst/>
          </a:prstGeom>
          <a:noFill/>
          <a:ln/>
        </p:spPr>
        <p:txBody>
          <a:bodyPr wrap="square" lIns="0" tIns="0" rIns="0" bIns="0" rtlCol="0" anchor="ctr">
            <a:spAutoFit/>
          </a:bodyPr>
          <a:lstStyle/>
          <a:p>
            <a:pPr indent="0" marL="0">
              <a:buNone/>
            </a:pPr>
            <a:r>
              <a:rPr lang="en-US" sz="788" dirty="0">
                <a:solidFill>
                  <a:srgbClr val="F1F5F9"/>
                </a:solidFill>
                <a:latin typeface="Segoe UI" pitchFamily="34" charset="0"/>
                <a:ea typeface="Segoe UI" pitchFamily="34" charset="-122"/>
                <a:cs typeface="Segoe UI" pitchFamily="34" charset="-120"/>
              </a:rPr>
              <a:t>Blueprint for creating objects</a:t>
            </a:r>
            <a:endParaRPr lang="en-US" sz="788" dirty="0"/>
          </a:p>
        </p:txBody>
      </p:sp>
      <p:sp>
        <p:nvSpPr>
          <p:cNvPr id="27" name="Shape 24"/>
          <p:cNvSpPr/>
          <p:nvPr/>
        </p:nvSpPr>
        <p:spPr>
          <a:xfrm>
            <a:off x="742950" y="10829925"/>
            <a:ext cx="3543300" cy="300038"/>
          </a:xfrm>
          <a:prstGeom prst="rect">
            <a:avLst/>
          </a:prstGeom>
          <a:solidFill>
            <a:srgbClr val="1E293B">
              <a:alpha val="80000"/>
            </a:srgbClr>
          </a:solidFill>
          <a:ln w="99">
            <a:solidFill>
              <a:srgbClr val="60A5FA">
                <a:alpha val="30000"/>
              </a:srgbClr>
            </a:solidFill>
            <a:prstDash val="solid"/>
          </a:ln>
        </p:spPr>
      </p:sp>
      <p:sp>
        <p:nvSpPr>
          <p:cNvPr id="28" name="Text 25"/>
          <p:cNvSpPr/>
          <p:nvPr/>
        </p:nvSpPr>
        <p:spPr>
          <a:xfrm>
            <a:off x="800100" y="10942439"/>
            <a:ext cx="1614739" cy="96441"/>
          </a:xfrm>
          <a:prstGeom prst="rect">
            <a:avLst/>
          </a:prstGeom>
          <a:noFill/>
          <a:ln/>
        </p:spPr>
        <p:txBody>
          <a:bodyPr wrap="square" lIns="0" tIns="0" rIns="0" bIns="0" rtlCol="0" anchor="ctr">
            <a:spAutoFit/>
          </a:bodyPr>
          <a:lstStyle/>
          <a:p>
            <a:pPr indent="0" marL="0">
              <a:buNone/>
            </a:pPr>
            <a:r>
              <a:rPr lang="en-US" sz="675" dirty="0">
                <a:solidFill>
                  <a:srgbClr val="DBEAFE"/>
                </a:solidFill>
                <a:latin typeface="Consolas" pitchFamily="34" charset="0"/>
                <a:ea typeface="Consolas" pitchFamily="34" charset="-122"/>
                <a:cs typeface="Consolas" pitchFamily="34" charset="-120"/>
              </a:rPr>
              <a:t>public class MyProgram { ... }</a:t>
            </a:r>
            <a:endParaRPr lang="en-US" sz="675" dirty="0"/>
          </a:p>
        </p:txBody>
      </p:sp>
      <p:sp>
        <p:nvSpPr>
          <p:cNvPr id="29" name="Shape 26"/>
          <p:cNvSpPr/>
          <p:nvPr/>
        </p:nvSpPr>
        <p:spPr>
          <a:xfrm>
            <a:off x="628650" y="11315700"/>
            <a:ext cx="3657600" cy="871538"/>
          </a:xfrm>
          <a:prstGeom prst="rect">
            <a:avLst/>
          </a:prstGeom>
          <a:solidFill>
            <a:srgbClr val="1E3A8A">
              <a:alpha val="30000"/>
            </a:srgbClr>
          </a:solidFill>
          <a:ln/>
        </p:spPr>
      </p:sp>
      <p:sp>
        <p:nvSpPr>
          <p:cNvPr id="30" name="Shape 27"/>
          <p:cNvSpPr/>
          <p:nvPr/>
        </p:nvSpPr>
        <p:spPr>
          <a:xfrm>
            <a:off x="628650" y="11315700"/>
            <a:ext cx="28575" cy="871538"/>
          </a:xfrm>
          <a:prstGeom prst="rect">
            <a:avLst/>
          </a:prstGeom>
          <a:solidFill>
            <a:srgbClr val="60A5FA"/>
          </a:solidFill>
          <a:ln/>
        </p:spPr>
      </p:sp>
      <p:sp>
        <p:nvSpPr>
          <p:cNvPr id="31" name="Text 28"/>
          <p:cNvSpPr/>
          <p:nvPr/>
        </p:nvSpPr>
        <p:spPr>
          <a:xfrm>
            <a:off x="742950" y="11401425"/>
            <a:ext cx="3614738" cy="200025"/>
          </a:xfrm>
          <a:prstGeom prst="rect">
            <a:avLst/>
          </a:prstGeom>
          <a:noFill/>
          <a:ln/>
        </p:spPr>
        <p:txBody>
          <a:bodyPr wrap="square" lIns="0" tIns="0" rIns="0" bIns="0" rtlCol="0" anchor="ctr">
            <a:spAutoFit/>
          </a:bodyPr>
          <a:lstStyle/>
          <a:p>
            <a:pPr indent="0" marL="0">
              <a:buNone/>
            </a:pPr>
            <a:r>
              <a:rPr lang="en-US" sz="1125" b="1" dirty="0">
                <a:solidFill>
                  <a:srgbClr val="F1F5F9"/>
                </a:solidFill>
                <a:latin typeface="Segoe UI" pitchFamily="34" charset="0"/>
                <a:ea typeface="Segoe UI" pitchFamily="34" charset="-122"/>
                <a:cs typeface="Segoe UI" pitchFamily="34" charset="-120"/>
              </a:rPr>
              <a:t>Main Method</a:t>
            </a:r>
            <a:endParaRPr lang="en-US" sz="1125" dirty="0"/>
          </a:p>
        </p:txBody>
      </p:sp>
      <p:sp>
        <p:nvSpPr>
          <p:cNvPr id="32" name="Text 29"/>
          <p:cNvSpPr/>
          <p:nvPr/>
        </p:nvSpPr>
        <p:spPr>
          <a:xfrm>
            <a:off x="742950" y="11630025"/>
            <a:ext cx="3614738" cy="142875"/>
          </a:xfrm>
          <a:prstGeom prst="rect">
            <a:avLst/>
          </a:prstGeom>
          <a:noFill/>
          <a:ln/>
        </p:spPr>
        <p:txBody>
          <a:bodyPr wrap="square" lIns="0" tIns="0" rIns="0" bIns="0" rtlCol="0" anchor="ctr">
            <a:spAutoFit/>
          </a:bodyPr>
          <a:lstStyle/>
          <a:p>
            <a:pPr indent="0" marL="0">
              <a:buNone/>
            </a:pPr>
            <a:r>
              <a:rPr lang="en-US" sz="788" dirty="0">
                <a:solidFill>
                  <a:srgbClr val="F1F5F9"/>
                </a:solidFill>
                <a:latin typeface="Segoe UI" pitchFamily="34" charset="0"/>
                <a:ea typeface="Segoe UI" pitchFamily="34" charset="-122"/>
                <a:cs typeface="Segoe UI" pitchFamily="34" charset="-120"/>
              </a:rPr>
              <a:t>Entry point for Java applications</a:t>
            </a:r>
            <a:endParaRPr lang="en-US" sz="788" dirty="0"/>
          </a:p>
        </p:txBody>
      </p:sp>
      <p:sp>
        <p:nvSpPr>
          <p:cNvPr id="33" name="Shape 30"/>
          <p:cNvSpPr/>
          <p:nvPr/>
        </p:nvSpPr>
        <p:spPr>
          <a:xfrm>
            <a:off x="742950" y="11801475"/>
            <a:ext cx="3543300" cy="300038"/>
          </a:xfrm>
          <a:prstGeom prst="rect">
            <a:avLst/>
          </a:prstGeom>
          <a:solidFill>
            <a:srgbClr val="1E293B">
              <a:alpha val="80000"/>
            </a:srgbClr>
          </a:solidFill>
          <a:ln w="99">
            <a:solidFill>
              <a:srgbClr val="60A5FA">
                <a:alpha val="30000"/>
              </a:srgbClr>
            </a:solidFill>
            <a:prstDash val="solid"/>
          </a:ln>
        </p:spPr>
      </p:sp>
      <p:sp>
        <p:nvSpPr>
          <p:cNvPr id="34" name="Text 31"/>
          <p:cNvSpPr/>
          <p:nvPr/>
        </p:nvSpPr>
        <p:spPr>
          <a:xfrm>
            <a:off x="800100" y="11913989"/>
            <a:ext cx="2437833" cy="96441"/>
          </a:xfrm>
          <a:prstGeom prst="rect">
            <a:avLst/>
          </a:prstGeom>
          <a:noFill/>
          <a:ln/>
        </p:spPr>
        <p:txBody>
          <a:bodyPr wrap="square" lIns="0" tIns="0" rIns="0" bIns="0" rtlCol="0" anchor="ctr">
            <a:spAutoFit/>
          </a:bodyPr>
          <a:lstStyle/>
          <a:p>
            <a:pPr indent="0" marL="0">
              <a:buNone/>
            </a:pPr>
            <a:r>
              <a:rPr lang="en-US" sz="675" dirty="0">
                <a:solidFill>
                  <a:srgbClr val="DBEAFE"/>
                </a:solidFill>
                <a:latin typeface="Consolas" pitchFamily="34" charset="0"/>
                <a:ea typeface="Consolas" pitchFamily="34" charset="-122"/>
                <a:cs typeface="Consolas" pitchFamily="34" charset="-120"/>
              </a:rPr>
              <a:t>public static void main(String[] args) { ... }</a:t>
            </a:r>
            <a:endParaRPr lang="en-US" sz="675" dirty="0"/>
          </a:p>
        </p:txBody>
      </p:sp>
      <p:sp>
        <p:nvSpPr>
          <p:cNvPr id="35" name="Shape 32"/>
          <p:cNvSpPr/>
          <p:nvPr/>
        </p:nvSpPr>
        <p:spPr>
          <a:xfrm>
            <a:off x="4686300" y="971550"/>
            <a:ext cx="4000500" cy="5114925"/>
          </a:xfrm>
          <a:prstGeom prst="rect">
            <a:avLst/>
          </a:prstGeom>
          <a:solidFill>
            <a:srgbClr val="FFFFFF">
              <a:alpha val="10000"/>
            </a:srgbClr>
          </a:solidFill>
          <a:ln w="99">
            <a:solidFill>
              <a:srgbClr val="60A5FA">
                <a:alpha val="30000"/>
              </a:srgbClr>
            </a:solidFill>
            <a:prstDash val="solid"/>
          </a:ln>
        </p:spPr>
      </p:sp>
      <p:sp>
        <p:nvSpPr>
          <p:cNvPr id="36" name="Text 33"/>
          <p:cNvSpPr/>
          <p:nvPr/>
        </p:nvSpPr>
        <p:spPr>
          <a:xfrm>
            <a:off x="4857750" y="1143000"/>
            <a:ext cx="3729038" cy="228600"/>
          </a:xfrm>
          <a:prstGeom prst="rect">
            <a:avLst/>
          </a:prstGeom>
          <a:noFill/>
          <a:ln/>
        </p:spPr>
        <p:txBody>
          <a:bodyPr wrap="square" lIns="0" tIns="0" rIns="0" bIns="0" rtlCol="0" anchor="ctr">
            <a:spAutoFit/>
          </a:bodyPr>
          <a:lstStyle/>
          <a:p>
            <a:pPr indent="0" marL="0">
              <a:buNone/>
            </a:pPr>
            <a:r>
              <a:rPr lang="en-US" sz="1350" b="1" dirty="0">
                <a:solidFill>
                  <a:srgbClr val="BFDBFE"/>
                </a:solidFill>
                <a:latin typeface="Segoe UI" pitchFamily="34" charset="0"/>
                <a:ea typeface="Segoe UI" pitchFamily="34" charset="-122"/>
                <a:cs typeface="Segoe UI" pitchFamily="34" charset="-120"/>
              </a:rPr>
              <a:t>Class Components</a:t>
            </a:r>
            <a:endParaRPr lang="en-US" sz="1350" dirty="0"/>
          </a:p>
        </p:txBody>
      </p:sp>
      <p:sp>
        <p:nvSpPr>
          <p:cNvPr id="37" name="Shape 34"/>
          <p:cNvSpPr/>
          <p:nvPr/>
        </p:nvSpPr>
        <p:spPr>
          <a:xfrm>
            <a:off x="4857750" y="1485900"/>
            <a:ext cx="3657600" cy="1357313"/>
          </a:xfrm>
          <a:prstGeom prst="rect">
            <a:avLst/>
          </a:prstGeom>
          <a:solidFill>
            <a:srgbClr val="1E3A8A">
              <a:alpha val="30000"/>
            </a:srgbClr>
          </a:solidFill>
          <a:ln/>
        </p:spPr>
      </p:sp>
      <p:sp>
        <p:nvSpPr>
          <p:cNvPr id="38" name="Shape 35"/>
          <p:cNvSpPr/>
          <p:nvPr/>
        </p:nvSpPr>
        <p:spPr>
          <a:xfrm>
            <a:off x="4857750" y="1485900"/>
            <a:ext cx="28575" cy="1357313"/>
          </a:xfrm>
          <a:prstGeom prst="rect">
            <a:avLst/>
          </a:prstGeom>
          <a:solidFill>
            <a:srgbClr val="60A5FA"/>
          </a:solidFill>
          <a:ln/>
        </p:spPr>
      </p:sp>
      <p:sp>
        <p:nvSpPr>
          <p:cNvPr id="39" name="Text 36"/>
          <p:cNvSpPr/>
          <p:nvPr/>
        </p:nvSpPr>
        <p:spPr>
          <a:xfrm>
            <a:off x="4972050" y="1571625"/>
            <a:ext cx="3614738" cy="200025"/>
          </a:xfrm>
          <a:prstGeom prst="rect">
            <a:avLst/>
          </a:prstGeom>
          <a:noFill/>
          <a:ln/>
        </p:spPr>
        <p:txBody>
          <a:bodyPr wrap="square" lIns="0" tIns="0" rIns="0" bIns="0" rtlCol="0" anchor="ctr">
            <a:spAutoFit/>
          </a:bodyPr>
          <a:lstStyle/>
          <a:p>
            <a:pPr indent="0" marL="0">
              <a:buNone/>
            </a:pPr>
            <a:r>
              <a:rPr lang="en-US" sz="1125" b="1" dirty="0">
                <a:solidFill>
                  <a:srgbClr val="F1F5F9"/>
                </a:solidFill>
                <a:latin typeface="Segoe UI" pitchFamily="34" charset="0"/>
                <a:ea typeface="Segoe UI" pitchFamily="34" charset="-122"/>
                <a:cs typeface="Segoe UI" pitchFamily="34" charset="-120"/>
              </a:rPr>
              <a:t>Fields (Variables)</a:t>
            </a:r>
            <a:endParaRPr lang="en-US" sz="1125" dirty="0"/>
          </a:p>
        </p:txBody>
      </p:sp>
      <p:sp>
        <p:nvSpPr>
          <p:cNvPr id="40" name="Text 37"/>
          <p:cNvSpPr/>
          <p:nvPr/>
        </p:nvSpPr>
        <p:spPr>
          <a:xfrm>
            <a:off x="4972050" y="1800225"/>
            <a:ext cx="3614738" cy="142875"/>
          </a:xfrm>
          <a:prstGeom prst="rect">
            <a:avLst/>
          </a:prstGeom>
          <a:noFill/>
          <a:ln/>
        </p:spPr>
        <p:txBody>
          <a:bodyPr wrap="square" lIns="0" tIns="0" rIns="0" bIns="0" rtlCol="0" anchor="ctr">
            <a:spAutoFit/>
          </a:bodyPr>
          <a:lstStyle/>
          <a:p>
            <a:pPr indent="0" marL="0">
              <a:buNone/>
            </a:pPr>
            <a:r>
              <a:rPr lang="en-US" sz="788" dirty="0">
                <a:solidFill>
                  <a:srgbClr val="F1F5F9"/>
                </a:solidFill>
                <a:latin typeface="Segoe UI" pitchFamily="34" charset="0"/>
                <a:ea typeface="Segoe UI" pitchFamily="34" charset="-122"/>
                <a:cs typeface="Segoe UI" pitchFamily="34" charset="-120"/>
              </a:rPr>
              <a:t>Store data within a class</a:t>
            </a:r>
            <a:endParaRPr lang="en-US" sz="788" dirty="0"/>
          </a:p>
        </p:txBody>
      </p:sp>
      <p:sp>
        <p:nvSpPr>
          <p:cNvPr id="41" name="Shape 38"/>
          <p:cNvSpPr/>
          <p:nvPr/>
        </p:nvSpPr>
        <p:spPr>
          <a:xfrm>
            <a:off x="4972050" y="2000250"/>
            <a:ext cx="3543300" cy="471488"/>
          </a:xfrm>
          <a:prstGeom prst="rect">
            <a:avLst/>
          </a:prstGeom>
          <a:solidFill>
            <a:srgbClr val="1E293B">
              <a:alpha val="80000"/>
            </a:srgbClr>
          </a:solidFill>
          <a:ln w="99">
            <a:solidFill>
              <a:srgbClr val="60A5FA">
                <a:alpha val="30000"/>
              </a:srgbClr>
            </a:solidFill>
            <a:prstDash val="solid"/>
          </a:ln>
        </p:spPr>
      </p:sp>
      <p:sp>
        <p:nvSpPr>
          <p:cNvPr id="42" name="Text 39"/>
          <p:cNvSpPr/>
          <p:nvPr/>
        </p:nvSpPr>
        <p:spPr>
          <a:xfrm>
            <a:off x="5029200" y="2112764"/>
            <a:ext cx="997418" cy="96441"/>
          </a:xfrm>
          <a:prstGeom prst="rect">
            <a:avLst/>
          </a:prstGeom>
          <a:noFill/>
          <a:ln/>
        </p:spPr>
        <p:txBody>
          <a:bodyPr wrap="none" lIns="0" tIns="0" rIns="0" bIns="0" rtlCol="0" anchor="ctr">
            <a:spAutoFit/>
          </a:bodyPr>
          <a:lstStyle/>
          <a:p>
            <a:pPr indent="0" marL="0">
              <a:buNone/>
            </a:pPr>
            <a:r>
              <a:rPr lang="en-US" sz="675" dirty="0">
                <a:solidFill>
                  <a:srgbClr val="DBEAFE"/>
                </a:solidFill>
                <a:latin typeface="Consolas" pitchFamily="34" charset="0"/>
                <a:ea typeface="Consolas" pitchFamily="34" charset="-122"/>
                <a:cs typeface="Consolas" pitchFamily="34" charset="-120"/>
              </a:rPr>
              <a:t>private int count;</a:t>
            </a:r>
            <a:endParaRPr lang="en-US" sz="675" dirty="0"/>
          </a:p>
        </p:txBody>
      </p:sp>
      <p:sp>
        <p:nvSpPr>
          <p:cNvPr id="43" name="Text 40"/>
          <p:cNvSpPr/>
          <p:nvPr/>
        </p:nvSpPr>
        <p:spPr>
          <a:xfrm>
            <a:off x="5029200" y="2284214"/>
            <a:ext cx="2129172" cy="96441"/>
          </a:xfrm>
          <a:prstGeom prst="rect">
            <a:avLst/>
          </a:prstGeom>
          <a:noFill/>
          <a:ln/>
        </p:spPr>
        <p:txBody>
          <a:bodyPr wrap="square" lIns="0" tIns="0" rIns="0" bIns="0" rtlCol="0" anchor="ctr">
            <a:spAutoFit/>
          </a:bodyPr>
          <a:lstStyle/>
          <a:p>
            <a:pPr indent="0" marL="0">
              <a:buNone/>
            </a:pPr>
            <a:r>
              <a:rPr lang="en-US" sz="675" dirty="0">
                <a:solidFill>
                  <a:srgbClr val="DBEAFE"/>
                </a:solidFill>
                <a:latin typeface="Consolas" pitchFamily="34" charset="0"/>
                <a:ea typeface="Consolas" pitchFamily="34" charset="-122"/>
                <a:cs typeface="Consolas" pitchFamily="34" charset="-120"/>
              </a:rPr>
              <a:t>public static final double PI = 3.14159;</a:t>
            </a:r>
            <a:endParaRPr lang="en-US" sz="675" dirty="0"/>
          </a:p>
        </p:txBody>
      </p:sp>
      <p:sp>
        <p:nvSpPr>
          <p:cNvPr id="44" name="Text 41"/>
          <p:cNvSpPr/>
          <p:nvPr/>
        </p:nvSpPr>
        <p:spPr>
          <a:xfrm>
            <a:off x="4972050" y="2523530"/>
            <a:ext cx="809951" cy="94655"/>
          </a:xfrm>
          <a:prstGeom prst="rect">
            <a:avLst/>
          </a:prstGeom>
          <a:noFill/>
          <a:ln/>
        </p:spPr>
        <p:txBody>
          <a:bodyPr wrap="none" lIns="0" tIns="0" rIns="0" bIns="0" rtlCol="0" anchor="ctr">
            <a:spAutoFit/>
          </a:bodyPr>
          <a:lstStyle/>
          <a:p>
            <a:pPr indent="0" marL="0">
              <a:buNone/>
            </a:pPr>
            <a:r>
              <a:rPr lang="en-US" sz="675" b="1" dirty="0">
                <a:solidFill>
                  <a:srgbClr val="60A5FA"/>
                </a:solidFill>
                <a:latin typeface="Segoe UI" pitchFamily="34" charset="0"/>
                <a:ea typeface="Segoe UI" pitchFamily="34" charset="-122"/>
                <a:cs typeface="Segoe UI" pitchFamily="34" charset="-120"/>
              </a:rPr>
              <a:t>Access modifiers:</a:t>
            </a:r>
            <a:endParaRPr lang="en-US" sz="675" dirty="0"/>
          </a:p>
        </p:txBody>
      </p:sp>
      <p:sp>
        <p:nvSpPr>
          <p:cNvPr id="45" name="Text 42"/>
          <p:cNvSpPr/>
          <p:nvPr/>
        </p:nvSpPr>
        <p:spPr>
          <a:xfrm>
            <a:off x="5710563" y="2523530"/>
            <a:ext cx="1334263" cy="94655"/>
          </a:xfrm>
          <a:prstGeom prst="rect">
            <a:avLst/>
          </a:prstGeom>
          <a:noFill/>
          <a:ln/>
        </p:spPr>
        <p:txBody>
          <a:bodyPr wrap="square" lIns="0" tIns="0" rIns="0" bIns="0" rtlCol="0" anchor="ctr">
            <a:spAutoFit/>
          </a:bodyPr>
          <a:lstStyle/>
          <a:p>
            <a:pPr indent="0" marL="0">
              <a:buNone/>
            </a:pPr>
            <a:r>
              <a:rPr lang="en-US" sz="675" dirty="0">
                <a:solidFill>
                  <a:srgbClr val="F1F5F9"/>
                </a:solidFill>
                <a:latin typeface="Segoe UI" pitchFamily="34" charset="0"/>
                <a:ea typeface="Segoe UI" pitchFamily="34" charset="-122"/>
                <a:cs typeface="Segoe UI" pitchFamily="34" charset="-120"/>
              </a:rPr>
              <a:t>private, public, protected, default</a:t>
            </a:r>
            <a:endParaRPr lang="en-US" sz="675" dirty="0"/>
          </a:p>
        </p:txBody>
      </p:sp>
      <p:sp>
        <p:nvSpPr>
          <p:cNvPr id="46" name="Text 43"/>
          <p:cNvSpPr/>
          <p:nvPr/>
        </p:nvSpPr>
        <p:spPr>
          <a:xfrm>
            <a:off x="4972050" y="2637830"/>
            <a:ext cx="990888" cy="94655"/>
          </a:xfrm>
          <a:prstGeom prst="rect">
            <a:avLst/>
          </a:prstGeom>
          <a:noFill/>
          <a:ln/>
        </p:spPr>
        <p:txBody>
          <a:bodyPr wrap="none" lIns="0" tIns="0" rIns="0" bIns="0" rtlCol="0" anchor="ctr">
            <a:spAutoFit/>
          </a:bodyPr>
          <a:lstStyle/>
          <a:p>
            <a:pPr indent="0" marL="0">
              <a:buNone/>
            </a:pPr>
            <a:r>
              <a:rPr lang="en-US" sz="675" b="1" dirty="0">
                <a:solidFill>
                  <a:srgbClr val="60A5FA"/>
                </a:solidFill>
                <a:latin typeface="Segoe UI" pitchFamily="34" charset="0"/>
                <a:ea typeface="Segoe UI" pitchFamily="34" charset="-122"/>
                <a:cs typeface="Segoe UI" pitchFamily="34" charset="-120"/>
              </a:rPr>
              <a:t>Non-access modifiers:</a:t>
            </a:r>
            <a:endParaRPr lang="en-US" sz="675" dirty="0"/>
          </a:p>
        </p:txBody>
      </p:sp>
      <p:sp>
        <p:nvSpPr>
          <p:cNvPr id="47" name="Text 44"/>
          <p:cNvSpPr/>
          <p:nvPr/>
        </p:nvSpPr>
        <p:spPr>
          <a:xfrm>
            <a:off x="5891501" y="2637830"/>
            <a:ext cx="1038606" cy="94655"/>
          </a:xfrm>
          <a:prstGeom prst="rect">
            <a:avLst/>
          </a:prstGeom>
          <a:noFill/>
          <a:ln/>
        </p:spPr>
        <p:txBody>
          <a:bodyPr wrap="none" lIns="0" tIns="0" rIns="0" bIns="0" rtlCol="0" anchor="ctr">
            <a:spAutoFit/>
          </a:bodyPr>
          <a:lstStyle/>
          <a:p>
            <a:pPr indent="0" marL="0">
              <a:buNone/>
            </a:pPr>
            <a:r>
              <a:rPr lang="en-US" sz="675" dirty="0">
                <a:solidFill>
                  <a:srgbClr val="F1F5F9"/>
                </a:solidFill>
                <a:latin typeface="Segoe UI" pitchFamily="34" charset="0"/>
                <a:ea typeface="Segoe UI" pitchFamily="34" charset="-122"/>
                <a:cs typeface="Segoe UI" pitchFamily="34" charset="-120"/>
              </a:rPr>
              <a:t>static, final, abstract, etc.</a:t>
            </a:r>
            <a:endParaRPr lang="en-US" sz="675" dirty="0"/>
          </a:p>
        </p:txBody>
      </p:sp>
      <p:sp>
        <p:nvSpPr>
          <p:cNvPr id="48" name="Shape 45"/>
          <p:cNvSpPr/>
          <p:nvPr/>
        </p:nvSpPr>
        <p:spPr>
          <a:xfrm>
            <a:off x="4857750" y="2943225"/>
            <a:ext cx="3657600" cy="1414463"/>
          </a:xfrm>
          <a:prstGeom prst="rect">
            <a:avLst/>
          </a:prstGeom>
          <a:solidFill>
            <a:srgbClr val="1E3A8A">
              <a:alpha val="30000"/>
            </a:srgbClr>
          </a:solidFill>
          <a:ln/>
        </p:spPr>
      </p:sp>
      <p:sp>
        <p:nvSpPr>
          <p:cNvPr id="49" name="Shape 46"/>
          <p:cNvSpPr/>
          <p:nvPr/>
        </p:nvSpPr>
        <p:spPr>
          <a:xfrm>
            <a:off x="4857750" y="2943225"/>
            <a:ext cx="28575" cy="1414463"/>
          </a:xfrm>
          <a:prstGeom prst="rect">
            <a:avLst/>
          </a:prstGeom>
          <a:solidFill>
            <a:srgbClr val="60A5FA"/>
          </a:solidFill>
          <a:ln/>
        </p:spPr>
      </p:sp>
      <p:sp>
        <p:nvSpPr>
          <p:cNvPr id="50" name="Text 47"/>
          <p:cNvSpPr/>
          <p:nvPr/>
        </p:nvSpPr>
        <p:spPr>
          <a:xfrm>
            <a:off x="4972050" y="3028950"/>
            <a:ext cx="3614738" cy="200025"/>
          </a:xfrm>
          <a:prstGeom prst="rect">
            <a:avLst/>
          </a:prstGeom>
          <a:noFill/>
          <a:ln/>
        </p:spPr>
        <p:txBody>
          <a:bodyPr wrap="square" lIns="0" tIns="0" rIns="0" bIns="0" rtlCol="0" anchor="ctr">
            <a:spAutoFit/>
          </a:bodyPr>
          <a:lstStyle/>
          <a:p>
            <a:pPr indent="0" marL="0">
              <a:buNone/>
            </a:pPr>
            <a:r>
              <a:rPr lang="en-US" sz="1125" b="1" dirty="0">
                <a:solidFill>
                  <a:srgbClr val="F1F5F9"/>
                </a:solidFill>
                <a:latin typeface="Segoe UI" pitchFamily="34" charset="0"/>
                <a:ea typeface="Segoe UI" pitchFamily="34" charset="-122"/>
                <a:cs typeface="Segoe UI" pitchFamily="34" charset="-120"/>
              </a:rPr>
              <a:t>Constructors</a:t>
            </a:r>
            <a:endParaRPr lang="en-US" sz="1125" dirty="0"/>
          </a:p>
        </p:txBody>
      </p:sp>
      <p:sp>
        <p:nvSpPr>
          <p:cNvPr id="51" name="Text 48"/>
          <p:cNvSpPr/>
          <p:nvPr/>
        </p:nvSpPr>
        <p:spPr>
          <a:xfrm>
            <a:off x="4972050" y="3257550"/>
            <a:ext cx="3614738" cy="142875"/>
          </a:xfrm>
          <a:prstGeom prst="rect">
            <a:avLst/>
          </a:prstGeom>
          <a:noFill/>
          <a:ln/>
        </p:spPr>
        <p:txBody>
          <a:bodyPr wrap="square" lIns="0" tIns="0" rIns="0" bIns="0" rtlCol="0" anchor="ctr">
            <a:spAutoFit/>
          </a:bodyPr>
          <a:lstStyle/>
          <a:p>
            <a:pPr indent="0" marL="0">
              <a:buNone/>
            </a:pPr>
            <a:r>
              <a:rPr lang="en-US" sz="788" dirty="0">
                <a:solidFill>
                  <a:srgbClr val="F1F5F9"/>
                </a:solidFill>
                <a:latin typeface="Segoe UI" pitchFamily="34" charset="0"/>
                <a:ea typeface="Segoe UI" pitchFamily="34" charset="-122"/>
                <a:cs typeface="Segoe UI" pitchFamily="34" charset="-120"/>
              </a:rPr>
              <a:t>Special methods that initialize objects</a:t>
            </a:r>
            <a:endParaRPr lang="en-US" sz="788" dirty="0"/>
          </a:p>
        </p:txBody>
      </p:sp>
      <p:sp>
        <p:nvSpPr>
          <p:cNvPr id="52" name="Shape 49"/>
          <p:cNvSpPr/>
          <p:nvPr/>
        </p:nvSpPr>
        <p:spPr>
          <a:xfrm>
            <a:off x="4972050" y="3457575"/>
            <a:ext cx="3543300" cy="642938"/>
          </a:xfrm>
          <a:prstGeom prst="rect">
            <a:avLst/>
          </a:prstGeom>
          <a:solidFill>
            <a:srgbClr val="1E293B">
              <a:alpha val="80000"/>
            </a:srgbClr>
          </a:solidFill>
          <a:ln w="99">
            <a:solidFill>
              <a:srgbClr val="60A5FA">
                <a:alpha val="30000"/>
              </a:srgbClr>
            </a:solidFill>
            <a:prstDash val="solid"/>
          </a:ln>
        </p:spPr>
      </p:sp>
      <p:sp>
        <p:nvSpPr>
          <p:cNvPr id="53" name="Text 50"/>
          <p:cNvSpPr/>
          <p:nvPr/>
        </p:nvSpPr>
        <p:spPr>
          <a:xfrm>
            <a:off x="5029200" y="3570089"/>
            <a:ext cx="1100305" cy="96441"/>
          </a:xfrm>
          <a:prstGeom prst="rect">
            <a:avLst/>
          </a:prstGeom>
          <a:noFill/>
          <a:ln/>
        </p:spPr>
        <p:txBody>
          <a:bodyPr wrap="none" lIns="0" tIns="0" rIns="0" bIns="0" rtlCol="0" anchor="ctr">
            <a:spAutoFit/>
          </a:bodyPr>
          <a:lstStyle/>
          <a:p>
            <a:pPr indent="0" marL="0">
              <a:buNone/>
            </a:pPr>
            <a:r>
              <a:rPr lang="en-US" sz="675" dirty="0">
                <a:solidFill>
                  <a:srgbClr val="DBEAFE"/>
                </a:solidFill>
                <a:latin typeface="Consolas" pitchFamily="34" charset="0"/>
                <a:ea typeface="Consolas" pitchFamily="34" charset="-122"/>
                <a:cs typeface="Consolas" pitchFamily="34" charset="-120"/>
              </a:rPr>
              <a:t>public MyProgram() {</a:t>
            </a:r>
            <a:endParaRPr lang="en-US" sz="675" dirty="0"/>
          </a:p>
        </p:txBody>
      </p:sp>
      <p:sp>
        <p:nvSpPr>
          <p:cNvPr id="54" name="Text 51"/>
          <p:cNvSpPr/>
          <p:nvPr/>
        </p:nvSpPr>
        <p:spPr>
          <a:xfrm>
            <a:off x="5029200" y="3741539"/>
            <a:ext cx="585871" cy="96441"/>
          </a:xfrm>
          <a:prstGeom prst="rect">
            <a:avLst/>
          </a:prstGeom>
          <a:noFill/>
          <a:ln/>
        </p:spPr>
        <p:txBody>
          <a:bodyPr wrap="none" lIns="0" tIns="0" rIns="0" bIns="0" rtlCol="0" anchor="ctr">
            <a:spAutoFit/>
          </a:bodyPr>
          <a:lstStyle/>
          <a:p>
            <a:pPr indent="0" marL="0">
              <a:buNone/>
            </a:pPr>
            <a:r>
              <a:rPr lang="en-US" sz="675" dirty="0">
                <a:solidFill>
                  <a:srgbClr val="DBEAFE"/>
                </a:solidFill>
                <a:latin typeface="Consolas" pitchFamily="34" charset="0"/>
                <a:ea typeface="Consolas" pitchFamily="34" charset="-122"/>
                <a:cs typeface="Consolas" pitchFamily="34" charset="-120"/>
              </a:rPr>
              <a:t>count = 0;</a:t>
            </a:r>
            <a:endParaRPr lang="en-US" sz="675" dirty="0"/>
          </a:p>
        </p:txBody>
      </p:sp>
      <p:sp>
        <p:nvSpPr>
          <p:cNvPr id="55" name="Text 52"/>
          <p:cNvSpPr/>
          <p:nvPr/>
        </p:nvSpPr>
        <p:spPr>
          <a:xfrm>
            <a:off x="5029200" y="3912989"/>
            <a:ext cx="122895" cy="96441"/>
          </a:xfrm>
          <a:prstGeom prst="rect">
            <a:avLst/>
          </a:prstGeom>
          <a:noFill/>
          <a:ln/>
        </p:spPr>
        <p:txBody>
          <a:bodyPr wrap="none" lIns="0" tIns="0" rIns="0" bIns="0" rtlCol="0" anchor="ctr">
            <a:spAutoFit/>
          </a:bodyPr>
          <a:lstStyle/>
          <a:p>
            <a:pPr indent="0" marL="0">
              <a:buNone/>
            </a:pPr>
            <a:r>
              <a:rPr lang="en-US" sz="675" dirty="0">
                <a:solidFill>
                  <a:srgbClr val="DBEAFE"/>
                </a:solidFill>
                <a:latin typeface="Consolas" pitchFamily="34" charset="0"/>
                <a:ea typeface="Consolas" pitchFamily="34" charset="-122"/>
                <a:cs typeface="Consolas" pitchFamily="34" charset="-120"/>
              </a:rPr>
              <a:t>}</a:t>
            </a:r>
            <a:endParaRPr lang="en-US" sz="675" dirty="0"/>
          </a:p>
        </p:txBody>
      </p:sp>
      <p:sp>
        <p:nvSpPr>
          <p:cNvPr id="56" name="Text 53"/>
          <p:cNvSpPr/>
          <p:nvPr/>
        </p:nvSpPr>
        <p:spPr>
          <a:xfrm>
            <a:off x="4972050" y="4152305"/>
            <a:ext cx="719454" cy="94655"/>
          </a:xfrm>
          <a:prstGeom prst="rect">
            <a:avLst/>
          </a:prstGeom>
          <a:noFill/>
          <a:ln/>
        </p:spPr>
        <p:txBody>
          <a:bodyPr wrap="none" lIns="0" tIns="0" rIns="0" bIns="0" rtlCol="0" anchor="ctr">
            <a:spAutoFit/>
          </a:bodyPr>
          <a:lstStyle/>
          <a:p>
            <a:pPr indent="0" marL="0">
              <a:buNone/>
            </a:pPr>
            <a:r>
              <a:rPr lang="en-US" sz="675" b="1" dirty="0">
                <a:solidFill>
                  <a:srgbClr val="60A5FA"/>
                </a:solidFill>
                <a:latin typeface="Segoe UI" pitchFamily="34" charset="0"/>
                <a:ea typeface="Segoe UI" pitchFamily="34" charset="-122"/>
                <a:cs typeface="Segoe UI" pitchFamily="34" charset="-120"/>
              </a:rPr>
              <a:t>Characteristics:</a:t>
            </a:r>
            <a:endParaRPr lang="en-US" sz="675" dirty="0"/>
          </a:p>
        </p:txBody>
      </p:sp>
      <p:sp>
        <p:nvSpPr>
          <p:cNvPr id="57" name="Text 54"/>
          <p:cNvSpPr/>
          <p:nvPr/>
        </p:nvSpPr>
        <p:spPr>
          <a:xfrm>
            <a:off x="5620066" y="4152305"/>
            <a:ext cx="1467538" cy="94655"/>
          </a:xfrm>
          <a:prstGeom prst="rect">
            <a:avLst/>
          </a:prstGeom>
          <a:noFill/>
          <a:ln/>
        </p:spPr>
        <p:txBody>
          <a:bodyPr wrap="square" lIns="0" tIns="0" rIns="0" bIns="0" rtlCol="0" anchor="ctr">
            <a:spAutoFit/>
          </a:bodyPr>
          <a:lstStyle/>
          <a:p>
            <a:pPr indent="0" marL="0">
              <a:buNone/>
            </a:pPr>
            <a:r>
              <a:rPr lang="en-US" sz="675" dirty="0">
                <a:solidFill>
                  <a:srgbClr val="F1F5F9"/>
                </a:solidFill>
                <a:latin typeface="Segoe UI" pitchFamily="34" charset="0"/>
                <a:ea typeface="Segoe UI" pitchFamily="34" charset="-122"/>
                <a:cs typeface="Segoe UI" pitchFamily="34" charset="-120"/>
              </a:rPr>
              <a:t>Same name as class, no return type</a:t>
            </a:r>
            <a:endParaRPr lang="en-US" sz="675" dirty="0"/>
          </a:p>
        </p:txBody>
      </p:sp>
      <p:sp>
        <p:nvSpPr>
          <p:cNvPr id="58" name="Shape 55"/>
          <p:cNvSpPr/>
          <p:nvPr/>
        </p:nvSpPr>
        <p:spPr>
          <a:xfrm>
            <a:off x="4857750" y="4457700"/>
            <a:ext cx="3657600" cy="1414463"/>
          </a:xfrm>
          <a:prstGeom prst="rect">
            <a:avLst/>
          </a:prstGeom>
          <a:solidFill>
            <a:srgbClr val="1E3A8A">
              <a:alpha val="30000"/>
            </a:srgbClr>
          </a:solidFill>
          <a:ln/>
        </p:spPr>
      </p:sp>
      <p:sp>
        <p:nvSpPr>
          <p:cNvPr id="59" name="Shape 56"/>
          <p:cNvSpPr/>
          <p:nvPr/>
        </p:nvSpPr>
        <p:spPr>
          <a:xfrm>
            <a:off x="4857750" y="4457700"/>
            <a:ext cx="28575" cy="1414463"/>
          </a:xfrm>
          <a:prstGeom prst="rect">
            <a:avLst/>
          </a:prstGeom>
          <a:solidFill>
            <a:srgbClr val="60A5FA"/>
          </a:solidFill>
          <a:ln/>
        </p:spPr>
      </p:sp>
      <p:sp>
        <p:nvSpPr>
          <p:cNvPr id="60" name="Text 57"/>
          <p:cNvSpPr/>
          <p:nvPr/>
        </p:nvSpPr>
        <p:spPr>
          <a:xfrm>
            <a:off x="4972050" y="4543425"/>
            <a:ext cx="3614738" cy="200025"/>
          </a:xfrm>
          <a:prstGeom prst="rect">
            <a:avLst/>
          </a:prstGeom>
          <a:noFill/>
          <a:ln/>
        </p:spPr>
        <p:txBody>
          <a:bodyPr wrap="square" lIns="0" tIns="0" rIns="0" bIns="0" rtlCol="0" anchor="ctr">
            <a:spAutoFit/>
          </a:bodyPr>
          <a:lstStyle/>
          <a:p>
            <a:pPr indent="0" marL="0">
              <a:buNone/>
            </a:pPr>
            <a:r>
              <a:rPr lang="en-US" sz="1125" b="1" dirty="0">
                <a:solidFill>
                  <a:srgbClr val="F1F5F9"/>
                </a:solidFill>
                <a:latin typeface="Segoe UI" pitchFamily="34" charset="0"/>
                <a:ea typeface="Segoe UI" pitchFamily="34" charset="-122"/>
                <a:cs typeface="Segoe UI" pitchFamily="34" charset="-120"/>
              </a:rPr>
              <a:t>Methods</a:t>
            </a:r>
            <a:endParaRPr lang="en-US" sz="1125" dirty="0"/>
          </a:p>
        </p:txBody>
      </p:sp>
      <p:sp>
        <p:nvSpPr>
          <p:cNvPr id="61" name="Text 58"/>
          <p:cNvSpPr/>
          <p:nvPr/>
        </p:nvSpPr>
        <p:spPr>
          <a:xfrm>
            <a:off x="4972050" y="4772025"/>
            <a:ext cx="3614738" cy="142875"/>
          </a:xfrm>
          <a:prstGeom prst="rect">
            <a:avLst/>
          </a:prstGeom>
          <a:noFill/>
          <a:ln/>
        </p:spPr>
        <p:txBody>
          <a:bodyPr wrap="square" lIns="0" tIns="0" rIns="0" bIns="0" rtlCol="0" anchor="ctr">
            <a:spAutoFit/>
          </a:bodyPr>
          <a:lstStyle/>
          <a:p>
            <a:pPr indent="0" marL="0">
              <a:buNone/>
            </a:pPr>
            <a:r>
              <a:rPr lang="en-US" sz="788" dirty="0">
                <a:solidFill>
                  <a:srgbClr val="F1F5F9"/>
                </a:solidFill>
                <a:latin typeface="Segoe UI" pitchFamily="34" charset="0"/>
                <a:ea typeface="Segoe UI" pitchFamily="34" charset="-122"/>
                <a:cs typeface="Segoe UI" pitchFamily="34" charset="-120"/>
              </a:rPr>
              <a:t>Define behavior of objects</a:t>
            </a:r>
            <a:endParaRPr lang="en-US" sz="788" dirty="0"/>
          </a:p>
        </p:txBody>
      </p:sp>
      <p:sp>
        <p:nvSpPr>
          <p:cNvPr id="62" name="Shape 59"/>
          <p:cNvSpPr/>
          <p:nvPr/>
        </p:nvSpPr>
        <p:spPr>
          <a:xfrm>
            <a:off x="4972050" y="4972050"/>
            <a:ext cx="3543300" cy="642938"/>
          </a:xfrm>
          <a:prstGeom prst="rect">
            <a:avLst/>
          </a:prstGeom>
          <a:solidFill>
            <a:srgbClr val="1E293B">
              <a:alpha val="80000"/>
            </a:srgbClr>
          </a:solidFill>
          <a:ln w="99">
            <a:solidFill>
              <a:srgbClr val="60A5FA">
                <a:alpha val="30000"/>
              </a:srgbClr>
            </a:solidFill>
            <a:prstDash val="solid"/>
          </a:ln>
        </p:spPr>
      </p:sp>
      <p:sp>
        <p:nvSpPr>
          <p:cNvPr id="63" name="Text 60"/>
          <p:cNvSpPr/>
          <p:nvPr/>
        </p:nvSpPr>
        <p:spPr>
          <a:xfrm>
            <a:off x="5029200" y="5084564"/>
            <a:ext cx="1614739" cy="96441"/>
          </a:xfrm>
          <a:prstGeom prst="rect">
            <a:avLst/>
          </a:prstGeom>
          <a:noFill/>
          <a:ln/>
        </p:spPr>
        <p:txBody>
          <a:bodyPr wrap="square" lIns="0" tIns="0" rIns="0" bIns="0" rtlCol="0" anchor="ctr">
            <a:spAutoFit/>
          </a:bodyPr>
          <a:lstStyle/>
          <a:p>
            <a:pPr indent="0" marL="0">
              <a:buNone/>
            </a:pPr>
            <a:r>
              <a:rPr lang="en-US" sz="675" dirty="0">
                <a:solidFill>
                  <a:srgbClr val="DBEAFE"/>
                </a:solidFill>
                <a:latin typeface="Consolas" pitchFamily="34" charset="0"/>
                <a:ea typeface="Consolas" pitchFamily="34" charset="-122"/>
                <a:cs typeface="Consolas" pitchFamily="34" charset="-120"/>
              </a:rPr>
              <a:t>public void incrementCount() {</a:t>
            </a:r>
            <a:endParaRPr lang="en-US" sz="675" dirty="0"/>
          </a:p>
        </p:txBody>
      </p:sp>
      <p:sp>
        <p:nvSpPr>
          <p:cNvPr id="64" name="Text 61"/>
          <p:cNvSpPr/>
          <p:nvPr/>
        </p:nvSpPr>
        <p:spPr>
          <a:xfrm>
            <a:off x="5029200" y="5256014"/>
            <a:ext cx="482984" cy="96441"/>
          </a:xfrm>
          <a:prstGeom prst="rect">
            <a:avLst/>
          </a:prstGeom>
          <a:noFill/>
          <a:ln/>
        </p:spPr>
        <p:txBody>
          <a:bodyPr wrap="none" lIns="0" tIns="0" rIns="0" bIns="0" rtlCol="0" anchor="ctr">
            <a:spAutoFit/>
          </a:bodyPr>
          <a:lstStyle/>
          <a:p>
            <a:pPr indent="0" marL="0">
              <a:buNone/>
            </a:pPr>
            <a:r>
              <a:rPr lang="en-US" sz="675" dirty="0">
                <a:solidFill>
                  <a:srgbClr val="DBEAFE"/>
                </a:solidFill>
                <a:latin typeface="Consolas" pitchFamily="34" charset="0"/>
                <a:ea typeface="Consolas" pitchFamily="34" charset="-122"/>
                <a:cs typeface="Consolas" pitchFamily="34" charset="-120"/>
              </a:rPr>
              <a:t>count++;</a:t>
            </a:r>
            <a:endParaRPr lang="en-US" sz="675" dirty="0"/>
          </a:p>
        </p:txBody>
      </p:sp>
      <p:sp>
        <p:nvSpPr>
          <p:cNvPr id="65" name="Text 62"/>
          <p:cNvSpPr/>
          <p:nvPr/>
        </p:nvSpPr>
        <p:spPr>
          <a:xfrm>
            <a:off x="5029200" y="5427464"/>
            <a:ext cx="122895" cy="96441"/>
          </a:xfrm>
          <a:prstGeom prst="rect">
            <a:avLst/>
          </a:prstGeom>
          <a:noFill/>
          <a:ln/>
        </p:spPr>
        <p:txBody>
          <a:bodyPr wrap="none" lIns="0" tIns="0" rIns="0" bIns="0" rtlCol="0" anchor="ctr">
            <a:spAutoFit/>
          </a:bodyPr>
          <a:lstStyle/>
          <a:p>
            <a:pPr indent="0" marL="0">
              <a:buNone/>
            </a:pPr>
            <a:r>
              <a:rPr lang="en-US" sz="675" dirty="0">
                <a:solidFill>
                  <a:srgbClr val="DBEAFE"/>
                </a:solidFill>
                <a:latin typeface="Consolas" pitchFamily="34" charset="0"/>
                <a:ea typeface="Consolas" pitchFamily="34" charset="-122"/>
                <a:cs typeface="Consolas" pitchFamily="34" charset="-120"/>
              </a:rPr>
              <a:t>}</a:t>
            </a:r>
            <a:endParaRPr lang="en-US" sz="675" dirty="0"/>
          </a:p>
        </p:txBody>
      </p:sp>
      <p:sp>
        <p:nvSpPr>
          <p:cNvPr id="66" name="Text 63"/>
          <p:cNvSpPr/>
          <p:nvPr/>
        </p:nvSpPr>
        <p:spPr>
          <a:xfrm>
            <a:off x="4972050" y="5666780"/>
            <a:ext cx="623850" cy="94655"/>
          </a:xfrm>
          <a:prstGeom prst="rect">
            <a:avLst/>
          </a:prstGeom>
          <a:noFill/>
          <a:ln/>
        </p:spPr>
        <p:txBody>
          <a:bodyPr wrap="none" lIns="0" tIns="0" rIns="0" bIns="0" rtlCol="0" anchor="ctr">
            <a:spAutoFit/>
          </a:bodyPr>
          <a:lstStyle/>
          <a:p>
            <a:pPr indent="0" marL="0">
              <a:buNone/>
            </a:pPr>
            <a:r>
              <a:rPr lang="en-US" sz="675" b="1" dirty="0">
                <a:solidFill>
                  <a:srgbClr val="60A5FA"/>
                </a:solidFill>
                <a:latin typeface="Segoe UI" pitchFamily="34" charset="0"/>
                <a:ea typeface="Segoe UI" pitchFamily="34" charset="-122"/>
                <a:cs typeface="Segoe UI" pitchFamily="34" charset="-120"/>
              </a:rPr>
              <a:t>Components:</a:t>
            </a:r>
            <a:endParaRPr lang="en-US" sz="675" dirty="0"/>
          </a:p>
        </p:txBody>
      </p:sp>
      <p:sp>
        <p:nvSpPr>
          <p:cNvPr id="67" name="Text 64"/>
          <p:cNvSpPr/>
          <p:nvPr/>
        </p:nvSpPr>
        <p:spPr>
          <a:xfrm>
            <a:off x="5524463" y="5666780"/>
            <a:ext cx="2125042" cy="94655"/>
          </a:xfrm>
          <a:prstGeom prst="rect">
            <a:avLst/>
          </a:prstGeom>
          <a:noFill/>
          <a:ln/>
        </p:spPr>
        <p:txBody>
          <a:bodyPr wrap="square" lIns="0" tIns="0" rIns="0" bIns="0" rtlCol="0" anchor="ctr">
            <a:spAutoFit/>
          </a:bodyPr>
          <a:lstStyle/>
          <a:p>
            <a:pPr indent="0" marL="0">
              <a:buNone/>
            </a:pPr>
            <a:r>
              <a:rPr lang="en-US" sz="675" dirty="0">
                <a:solidFill>
                  <a:srgbClr val="F1F5F9"/>
                </a:solidFill>
                <a:latin typeface="Segoe UI" pitchFamily="34" charset="0"/>
                <a:ea typeface="Segoe UI" pitchFamily="34" charset="-122"/>
                <a:cs typeface="Segoe UI" pitchFamily="34" charset="-120"/>
              </a:rPr>
              <a:t>Access modifier, return type, name, parameters, body</a:t>
            </a:r>
            <a:endParaRPr lang="en-US" sz="675" dirty="0"/>
          </a:p>
        </p:txBody>
      </p:sp>
      <p:sp>
        <p:nvSpPr>
          <p:cNvPr id="68" name="Shape 65"/>
          <p:cNvSpPr/>
          <p:nvPr/>
        </p:nvSpPr>
        <p:spPr>
          <a:xfrm>
            <a:off x="4686300" y="6200775"/>
            <a:ext cx="4000500" cy="3186113"/>
          </a:xfrm>
          <a:prstGeom prst="rect">
            <a:avLst/>
          </a:prstGeom>
          <a:solidFill>
            <a:srgbClr val="FFFFFF">
              <a:alpha val="10000"/>
            </a:srgbClr>
          </a:solidFill>
          <a:ln w="99">
            <a:solidFill>
              <a:srgbClr val="60A5FA">
                <a:alpha val="30000"/>
              </a:srgbClr>
            </a:solidFill>
            <a:prstDash val="solid"/>
          </a:ln>
        </p:spPr>
      </p:sp>
      <p:sp>
        <p:nvSpPr>
          <p:cNvPr id="69" name="Text 66"/>
          <p:cNvSpPr/>
          <p:nvPr/>
        </p:nvSpPr>
        <p:spPr>
          <a:xfrm>
            <a:off x="4857750" y="6372225"/>
            <a:ext cx="3729038" cy="228600"/>
          </a:xfrm>
          <a:prstGeom prst="rect">
            <a:avLst/>
          </a:prstGeom>
          <a:noFill/>
          <a:ln/>
        </p:spPr>
        <p:txBody>
          <a:bodyPr wrap="square" lIns="0" tIns="0" rIns="0" bIns="0" rtlCol="0" anchor="ctr">
            <a:spAutoFit/>
          </a:bodyPr>
          <a:lstStyle/>
          <a:p>
            <a:pPr indent="0" marL="0">
              <a:buNone/>
            </a:pPr>
            <a:r>
              <a:rPr lang="en-US" sz="1350" b="1" dirty="0">
                <a:solidFill>
                  <a:srgbClr val="BFDBFE"/>
                </a:solidFill>
                <a:latin typeface="Segoe UI" pitchFamily="34" charset="0"/>
                <a:ea typeface="Segoe UI" pitchFamily="34" charset="-122"/>
                <a:cs typeface="Segoe UI" pitchFamily="34" charset="-120"/>
              </a:rPr>
              <a:t>Java Naming Conventions</a:t>
            </a:r>
            <a:endParaRPr lang="en-US" sz="1350" dirty="0"/>
          </a:p>
        </p:txBody>
      </p:sp>
      <p:sp>
        <p:nvSpPr>
          <p:cNvPr id="70" name="Shape 67"/>
          <p:cNvSpPr/>
          <p:nvPr/>
        </p:nvSpPr>
        <p:spPr>
          <a:xfrm>
            <a:off x="4857750" y="6715125"/>
            <a:ext cx="1771650" cy="1257300"/>
          </a:xfrm>
          <a:prstGeom prst="rect">
            <a:avLst/>
          </a:prstGeom>
          <a:solidFill>
            <a:srgbClr val="1E3A8A">
              <a:alpha val="30000"/>
            </a:srgbClr>
          </a:solidFill>
          <a:ln/>
        </p:spPr>
      </p:sp>
      <p:sp>
        <p:nvSpPr>
          <p:cNvPr id="71" name="Text 68"/>
          <p:cNvSpPr/>
          <p:nvPr/>
        </p:nvSpPr>
        <p:spPr>
          <a:xfrm>
            <a:off x="4972050" y="6829425"/>
            <a:ext cx="1614488" cy="200025"/>
          </a:xfrm>
          <a:prstGeom prst="rect">
            <a:avLst/>
          </a:prstGeom>
          <a:noFill/>
          <a:ln/>
        </p:spPr>
        <p:txBody>
          <a:bodyPr wrap="square" lIns="0" tIns="0" rIns="0" bIns="0" rtlCol="0" anchor="ctr">
            <a:spAutoFit/>
          </a:bodyPr>
          <a:lstStyle/>
          <a:p>
            <a:pPr indent="0" marL="0">
              <a:buNone/>
            </a:pPr>
            <a:r>
              <a:rPr lang="en-US" sz="1013" b="1" dirty="0">
                <a:solidFill>
                  <a:srgbClr val="F1F5F9"/>
                </a:solidFill>
                <a:latin typeface="Segoe UI" pitchFamily="34" charset="0"/>
                <a:ea typeface="Segoe UI" pitchFamily="34" charset="-122"/>
                <a:cs typeface="Segoe UI" pitchFamily="34" charset="-120"/>
              </a:rPr>
              <a:t>Classes</a:t>
            </a:r>
            <a:endParaRPr lang="en-US" sz="1013" dirty="0"/>
          </a:p>
        </p:txBody>
      </p:sp>
      <p:pic>
        <p:nvPicPr>
          <p:cNvPr id="72" name="Image 1" descr="preencoded.png">    </p:cNvPr>
          <p:cNvPicPr>
            <a:picLocks noChangeAspect="1"/>
          </p:cNvPicPr>
          <p:nvPr/>
        </p:nvPicPr>
        <p:blipFill>
          <a:blip r:embed="rId2"/>
          <a:stretch>
            <a:fillRect/>
          </a:stretch>
        </p:blipFill>
        <p:spPr>
          <a:xfrm>
            <a:off x="4972050" y="7115175"/>
            <a:ext cx="100013" cy="100013"/>
          </a:xfrm>
          <a:prstGeom prst="rect">
            <a:avLst/>
          </a:prstGeom>
        </p:spPr>
      </p:pic>
      <p:sp>
        <p:nvSpPr>
          <p:cNvPr id="73" name="Text 69"/>
          <p:cNvSpPr/>
          <p:nvPr/>
        </p:nvSpPr>
        <p:spPr>
          <a:xfrm>
            <a:off x="5129213" y="7086600"/>
            <a:ext cx="1457325" cy="285750"/>
          </a:xfrm>
          <a:prstGeom prst="rect">
            <a:avLst/>
          </a:prstGeom>
          <a:noFill/>
          <a:ln/>
        </p:spPr>
        <p:txBody>
          <a:bodyPr wrap="square" lIns="0" tIns="0" rIns="0" bIns="0" rtlCol="0" anchor="ctr">
            <a:spAutoFit/>
          </a:bodyPr>
          <a:lstStyle/>
          <a:p>
            <a:pPr algn="l" indent="0" marL="0">
              <a:buNone/>
            </a:pPr>
            <a:r>
              <a:rPr lang="en-US" sz="788" dirty="0">
                <a:solidFill>
                  <a:srgbClr val="F1F5F9"/>
                </a:solidFill>
                <a:latin typeface="Segoe UI" pitchFamily="34" charset="0"/>
                <a:ea typeface="Segoe UI" pitchFamily="34" charset="-122"/>
                <a:cs typeface="Segoe UI" pitchFamily="34" charset="-120"/>
              </a:rPr>
              <a:t>PascalCase (UpperCamelCase)</a:t>
            </a:r>
            <a:endParaRPr lang="en-US" sz="788" dirty="0"/>
          </a:p>
        </p:txBody>
      </p:sp>
      <p:pic>
        <p:nvPicPr>
          <p:cNvPr id="74" name="Image 2" descr="preencoded.png">    </p:cNvPr>
          <p:cNvPicPr>
            <a:picLocks noChangeAspect="1"/>
          </p:cNvPicPr>
          <p:nvPr/>
        </p:nvPicPr>
        <p:blipFill>
          <a:blip r:embed="rId3"/>
          <a:stretch>
            <a:fillRect/>
          </a:stretch>
        </p:blipFill>
        <p:spPr>
          <a:xfrm>
            <a:off x="4972050" y="7429500"/>
            <a:ext cx="100013" cy="100013"/>
          </a:xfrm>
          <a:prstGeom prst="rect">
            <a:avLst/>
          </a:prstGeom>
        </p:spPr>
      </p:pic>
      <p:sp>
        <p:nvSpPr>
          <p:cNvPr id="75" name="Text 70"/>
          <p:cNvSpPr/>
          <p:nvPr/>
        </p:nvSpPr>
        <p:spPr>
          <a:xfrm>
            <a:off x="5129213" y="7400925"/>
            <a:ext cx="1111132" cy="142875"/>
          </a:xfrm>
          <a:prstGeom prst="rect">
            <a:avLst/>
          </a:prstGeom>
          <a:noFill/>
          <a:ln/>
        </p:spPr>
        <p:txBody>
          <a:bodyPr wrap="none" lIns="0" tIns="0" rIns="0" bIns="0" rtlCol="0" anchor="ctr">
            <a:spAutoFit/>
          </a:bodyPr>
          <a:lstStyle/>
          <a:p>
            <a:pPr algn="l" indent="0" marL="0">
              <a:buNone/>
            </a:pPr>
            <a:r>
              <a:rPr lang="en-US" sz="788" dirty="0">
                <a:solidFill>
                  <a:srgbClr val="F1F5F9"/>
                </a:solidFill>
                <a:latin typeface="Segoe UI" pitchFamily="34" charset="0"/>
                <a:ea typeface="Segoe UI" pitchFamily="34" charset="-122"/>
                <a:cs typeface="Segoe UI" pitchFamily="34" charset="-120"/>
              </a:rPr>
              <a:t>Nouns or noun phrases</a:t>
            </a:r>
            <a:endParaRPr lang="en-US" sz="788" dirty="0"/>
          </a:p>
        </p:txBody>
      </p:sp>
      <p:pic>
        <p:nvPicPr>
          <p:cNvPr id="76" name="Image 3" descr="preencoded.png">    </p:cNvPr>
          <p:cNvPicPr>
            <a:picLocks noChangeAspect="1"/>
          </p:cNvPicPr>
          <p:nvPr/>
        </p:nvPicPr>
        <p:blipFill>
          <a:blip r:embed="rId4"/>
          <a:stretch>
            <a:fillRect/>
          </a:stretch>
        </p:blipFill>
        <p:spPr>
          <a:xfrm>
            <a:off x="4972050" y="7600950"/>
            <a:ext cx="100013" cy="100013"/>
          </a:xfrm>
          <a:prstGeom prst="rect">
            <a:avLst/>
          </a:prstGeom>
        </p:spPr>
      </p:pic>
      <p:sp>
        <p:nvSpPr>
          <p:cNvPr id="77" name="Text 71"/>
          <p:cNvSpPr/>
          <p:nvPr/>
        </p:nvSpPr>
        <p:spPr>
          <a:xfrm>
            <a:off x="5129213" y="7586663"/>
            <a:ext cx="566142" cy="112514"/>
          </a:xfrm>
          <a:prstGeom prst="rect">
            <a:avLst/>
          </a:prstGeom>
          <a:noFill/>
          <a:ln/>
        </p:spPr>
        <p:txBody>
          <a:bodyPr wrap="none" lIns="0" tIns="0" rIns="0" bIns="0" rtlCol="0" anchor="ctr">
            <a:spAutoFit/>
          </a:bodyPr>
          <a:lstStyle/>
          <a:p>
            <a:pPr algn="l" indent="0" marL="0">
              <a:buNone/>
            </a:pPr>
            <a:r>
              <a:rPr lang="en-US" sz="788" dirty="0">
                <a:solidFill>
                  <a:srgbClr val="F1F5F9"/>
                </a:solidFill>
                <a:latin typeface="Segoe UI" pitchFamily="34" charset="0"/>
                <a:ea typeface="Segoe UI" pitchFamily="34" charset="-122"/>
                <a:cs typeface="Segoe UI" pitchFamily="34" charset="-120"/>
              </a:rPr>
              <a:t>Examples:</a:t>
            </a:r>
            <a:endParaRPr lang="en-US" sz="788" dirty="0"/>
          </a:p>
        </p:txBody>
      </p:sp>
      <p:sp>
        <p:nvSpPr>
          <p:cNvPr id="78" name="Text 72"/>
          <p:cNvSpPr/>
          <p:nvPr/>
        </p:nvSpPr>
        <p:spPr>
          <a:xfrm>
            <a:off x="5623917" y="7608094"/>
            <a:ext cx="431555" cy="96441"/>
          </a:xfrm>
          <a:prstGeom prst="rect">
            <a:avLst/>
          </a:prstGeom>
          <a:noFill/>
          <a:ln/>
        </p:spPr>
        <p:txBody>
          <a:bodyPr wrap="none" lIns="0" tIns="0" rIns="0" bIns="0" rtlCol="0" anchor="ctr">
            <a:spAutoFit/>
          </a:bodyPr>
          <a:lstStyle/>
          <a:p>
            <a:pPr algn="l" indent="0" marL="0">
              <a:buNone/>
            </a:pPr>
            <a:r>
              <a:rPr lang="en-US" sz="675" dirty="0">
                <a:solidFill>
                  <a:srgbClr val="DBEAFE"/>
                </a:solidFill>
                <a:latin typeface="Consolas" pitchFamily="34" charset="0"/>
                <a:ea typeface="Consolas" pitchFamily="34" charset="-122"/>
                <a:cs typeface="Consolas" pitchFamily="34" charset="-120"/>
              </a:rPr>
              <a:t>Student</a:t>
            </a:r>
            <a:endParaRPr lang="en-US" sz="675" dirty="0"/>
          </a:p>
        </p:txBody>
      </p:sp>
      <p:sp>
        <p:nvSpPr>
          <p:cNvPr id="79" name="Text 73"/>
          <p:cNvSpPr/>
          <p:nvPr/>
        </p:nvSpPr>
        <p:spPr>
          <a:xfrm>
            <a:off x="5984035" y="7586663"/>
            <a:ext cx="99231" cy="112514"/>
          </a:xfrm>
          <a:prstGeom prst="rect">
            <a:avLst/>
          </a:prstGeom>
          <a:noFill/>
          <a:ln/>
        </p:spPr>
        <p:txBody>
          <a:bodyPr wrap="none" lIns="0" tIns="0" rIns="0" bIns="0" rtlCol="0" anchor="ctr">
            <a:spAutoFit/>
          </a:bodyPr>
          <a:lstStyle/>
          <a:p>
            <a:pPr algn="l" indent="0" marL="0">
              <a:buNone/>
            </a:pPr>
            <a:r>
              <a:rPr lang="en-US" sz="788" dirty="0">
                <a:solidFill>
                  <a:srgbClr val="F1F5F9"/>
                </a:solidFill>
                <a:latin typeface="Segoe UI" pitchFamily="34" charset="0"/>
                <a:ea typeface="Segoe UI" pitchFamily="34" charset="-122"/>
                <a:cs typeface="Segoe UI" pitchFamily="34" charset="-120"/>
              </a:rPr>
              <a:t>,</a:t>
            </a:r>
            <a:endParaRPr lang="en-US" sz="788" dirty="0"/>
          </a:p>
        </p:txBody>
      </p:sp>
      <p:sp>
        <p:nvSpPr>
          <p:cNvPr id="80" name="Text 74"/>
          <p:cNvSpPr/>
          <p:nvPr/>
        </p:nvSpPr>
        <p:spPr>
          <a:xfrm>
            <a:off x="5129213" y="7750969"/>
            <a:ext cx="637329" cy="96441"/>
          </a:xfrm>
          <a:prstGeom prst="rect">
            <a:avLst/>
          </a:prstGeom>
          <a:noFill/>
          <a:ln/>
        </p:spPr>
        <p:txBody>
          <a:bodyPr wrap="none" lIns="0" tIns="0" rIns="0" bIns="0" rtlCol="0" anchor="ctr">
            <a:spAutoFit/>
          </a:bodyPr>
          <a:lstStyle/>
          <a:p>
            <a:pPr algn="l" indent="0" marL="0">
              <a:buNone/>
            </a:pPr>
            <a:r>
              <a:rPr lang="en-US" sz="675" dirty="0">
                <a:solidFill>
                  <a:srgbClr val="DBEAFE"/>
                </a:solidFill>
                <a:latin typeface="Consolas" pitchFamily="34" charset="0"/>
                <a:ea typeface="Consolas" pitchFamily="34" charset="-122"/>
                <a:cs typeface="Consolas" pitchFamily="34" charset="-120"/>
              </a:rPr>
              <a:t>BankAccount</a:t>
            </a:r>
            <a:endParaRPr lang="en-US" sz="675" dirty="0"/>
          </a:p>
        </p:txBody>
      </p:sp>
      <p:sp>
        <p:nvSpPr>
          <p:cNvPr id="81" name="Shape 75"/>
          <p:cNvSpPr/>
          <p:nvPr/>
        </p:nvSpPr>
        <p:spPr>
          <a:xfrm>
            <a:off x="6743700" y="6715125"/>
            <a:ext cx="1771650" cy="1257300"/>
          </a:xfrm>
          <a:prstGeom prst="rect">
            <a:avLst/>
          </a:prstGeom>
          <a:solidFill>
            <a:srgbClr val="1E3A8A">
              <a:alpha val="30000"/>
            </a:srgbClr>
          </a:solidFill>
          <a:ln/>
        </p:spPr>
      </p:sp>
      <p:sp>
        <p:nvSpPr>
          <p:cNvPr id="82" name="Text 76"/>
          <p:cNvSpPr/>
          <p:nvPr/>
        </p:nvSpPr>
        <p:spPr>
          <a:xfrm>
            <a:off x="6858000" y="6829425"/>
            <a:ext cx="1614488" cy="200025"/>
          </a:xfrm>
          <a:prstGeom prst="rect">
            <a:avLst/>
          </a:prstGeom>
          <a:noFill/>
          <a:ln/>
        </p:spPr>
        <p:txBody>
          <a:bodyPr wrap="square" lIns="0" tIns="0" rIns="0" bIns="0" rtlCol="0" anchor="ctr">
            <a:spAutoFit/>
          </a:bodyPr>
          <a:lstStyle/>
          <a:p>
            <a:pPr indent="0" marL="0">
              <a:buNone/>
            </a:pPr>
            <a:r>
              <a:rPr lang="en-US" sz="1013" b="1" dirty="0">
                <a:solidFill>
                  <a:srgbClr val="F1F5F9"/>
                </a:solidFill>
                <a:latin typeface="Segoe UI" pitchFamily="34" charset="0"/>
                <a:ea typeface="Segoe UI" pitchFamily="34" charset="-122"/>
                <a:cs typeface="Segoe UI" pitchFamily="34" charset="-120"/>
              </a:rPr>
              <a:t>Methods</a:t>
            </a:r>
            <a:endParaRPr lang="en-US" sz="1013" dirty="0"/>
          </a:p>
        </p:txBody>
      </p:sp>
      <p:pic>
        <p:nvPicPr>
          <p:cNvPr id="83" name="Image 4" descr="preencoded.png">    </p:cNvPr>
          <p:cNvPicPr>
            <a:picLocks noChangeAspect="1"/>
          </p:cNvPicPr>
          <p:nvPr/>
        </p:nvPicPr>
        <p:blipFill>
          <a:blip r:embed="rId5"/>
          <a:stretch>
            <a:fillRect/>
          </a:stretch>
        </p:blipFill>
        <p:spPr>
          <a:xfrm>
            <a:off x="6858000" y="7115175"/>
            <a:ext cx="100013" cy="100013"/>
          </a:xfrm>
          <a:prstGeom prst="rect">
            <a:avLst/>
          </a:prstGeom>
        </p:spPr>
      </p:pic>
      <p:sp>
        <p:nvSpPr>
          <p:cNvPr id="84" name="Text 77"/>
          <p:cNvSpPr/>
          <p:nvPr/>
        </p:nvSpPr>
        <p:spPr>
          <a:xfrm>
            <a:off x="7015163" y="7086600"/>
            <a:ext cx="571695" cy="142875"/>
          </a:xfrm>
          <a:prstGeom prst="rect">
            <a:avLst/>
          </a:prstGeom>
          <a:noFill/>
          <a:ln/>
        </p:spPr>
        <p:txBody>
          <a:bodyPr wrap="none" lIns="0" tIns="0" rIns="0" bIns="0" rtlCol="0" anchor="ctr">
            <a:spAutoFit/>
          </a:bodyPr>
          <a:lstStyle/>
          <a:p>
            <a:pPr algn="l" indent="0" marL="0">
              <a:buNone/>
            </a:pPr>
            <a:r>
              <a:rPr lang="en-US" sz="788" dirty="0">
                <a:solidFill>
                  <a:srgbClr val="F1F5F9"/>
                </a:solidFill>
                <a:latin typeface="Segoe UI" pitchFamily="34" charset="0"/>
                <a:ea typeface="Segoe UI" pitchFamily="34" charset="-122"/>
                <a:cs typeface="Segoe UI" pitchFamily="34" charset="-120"/>
              </a:rPr>
              <a:t>camelCase</a:t>
            </a:r>
            <a:endParaRPr lang="en-US" sz="788" dirty="0"/>
          </a:p>
        </p:txBody>
      </p:sp>
      <p:pic>
        <p:nvPicPr>
          <p:cNvPr id="85" name="Image 5" descr="preencoded.png">    </p:cNvPr>
          <p:cNvPicPr>
            <a:picLocks noChangeAspect="1"/>
          </p:cNvPicPr>
          <p:nvPr/>
        </p:nvPicPr>
        <p:blipFill>
          <a:blip r:embed="rId6"/>
          <a:stretch>
            <a:fillRect/>
          </a:stretch>
        </p:blipFill>
        <p:spPr>
          <a:xfrm>
            <a:off x="6858000" y="7286625"/>
            <a:ext cx="100013" cy="100013"/>
          </a:xfrm>
          <a:prstGeom prst="rect">
            <a:avLst/>
          </a:prstGeom>
        </p:spPr>
      </p:pic>
      <p:sp>
        <p:nvSpPr>
          <p:cNvPr id="86" name="Text 78"/>
          <p:cNvSpPr/>
          <p:nvPr/>
        </p:nvSpPr>
        <p:spPr>
          <a:xfrm>
            <a:off x="7015163" y="7258050"/>
            <a:ext cx="1049852" cy="142875"/>
          </a:xfrm>
          <a:prstGeom prst="rect">
            <a:avLst/>
          </a:prstGeom>
          <a:noFill/>
          <a:ln/>
        </p:spPr>
        <p:txBody>
          <a:bodyPr wrap="none" lIns="0" tIns="0" rIns="0" bIns="0" rtlCol="0" anchor="ctr">
            <a:spAutoFit/>
          </a:bodyPr>
          <a:lstStyle/>
          <a:p>
            <a:pPr algn="l" indent="0" marL="0">
              <a:buNone/>
            </a:pPr>
            <a:r>
              <a:rPr lang="en-US" sz="788" dirty="0">
                <a:solidFill>
                  <a:srgbClr val="F1F5F9"/>
                </a:solidFill>
                <a:latin typeface="Segoe UI" pitchFamily="34" charset="0"/>
                <a:ea typeface="Segoe UI" pitchFamily="34" charset="-122"/>
                <a:cs typeface="Segoe UI" pitchFamily="34" charset="-120"/>
              </a:rPr>
              <a:t>Verbs or verb phrases</a:t>
            </a:r>
            <a:endParaRPr lang="en-US" sz="788" dirty="0"/>
          </a:p>
        </p:txBody>
      </p:sp>
      <p:pic>
        <p:nvPicPr>
          <p:cNvPr id="87" name="Image 6" descr="preencoded.png">    </p:cNvPr>
          <p:cNvPicPr>
            <a:picLocks noChangeAspect="1"/>
          </p:cNvPicPr>
          <p:nvPr/>
        </p:nvPicPr>
        <p:blipFill>
          <a:blip r:embed="rId7"/>
          <a:stretch>
            <a:fillRect/>
          </a:stretch>
        </p:blipFill>
        <p:spPr>
          <a:xfrm>
            <a:off x="6858000" y="7458075"/>
            <a:ext cx="100013" cy="100013"/>
          </a:xfrm>
          <a:prstGeom prst="rect">
            <a:avLst/>
          </a:prstGeom>
        </p:spPr>
      </p:pic>
      <p:sp>
        <p:nvSpPr>
          <p:cNvPr id="88" name="Text 79"/>
          <p:cNvSpPr/>
          <p:nvPr/>
        </p:nvSpPr>
        <p:spPr>
          <a:xfrm>
            <a:off x="7015163" y="7443788"/>
            <a:ext cx="566142" cy="112514"/>
          </a:xfrm>
          <a:prstGeom prst="rect">
            <a:avLst/>
          </a:prstGeom>
          <a:noFill/>
          <a:ln/>
        </p:spPr>
        <p:txBody>
          <a:bodyPr wrap="none" lIns="0" tIns="0" rIns="0" bIns="0" rtlCol="0" anchor="ctr">
            <a:spAutoFit/>
          </a:bodyPr>
          <a:lstStyle/>
          <a:p>
            <a:pPr algn="l" indent="0" marL="0">
              <a:buNone/>
            </a:pPr>
            <a:r>
              <a:rPr lang="en-US" sz="788" dirty="0">
                <a:solidFill>
                  <a:srgbClr val="F1F5F9"/>
                </a:solidFill>
                <a:latin typeface="Segoe UI" pitchFamily="34" charset="0"/>
                <a:ea typeface="Segoe UI" pitchFamily="34" charset="-122"/>
                <a:cs typeface="Segoe UI" pitchFamily="34" charset="-120"/>
              </a:rPr>
              <a:t>Examples:</a:t>
            </a:r>
            <a:endParaRPr lang="en-US" sz="788" dirty="0"/>
          </a:p>
        </p:txBody>
      </p:sp>
      <p:sp>
        <p:nvSpPr>
          <p:cNvPr id="89" name="Text 80"/>
          <p:cNvSpPr/>
          <p:nvPr/>
        </p:nvSpPr>
        <p:spPr>
          <a:xfrm>
            <a:off x="7509867" y="7465219"/>
            <a:ext cx="894531" cy="96441"/>
          </a:xfrm>
          <a:prstGeom prst="rect">
            <a:avLst/>
          </a:prstGeom>
          <a:noFill/>
          <a:ln/>
        </p:spPr>
        <p:txBody>
          <a:bodyPr wrap="none" lIns="0" tIns="0" rIns="0" bIns="0" rtlCol="0" anchor="ctr">
            <a:spAutoFit/>
          </a:bodyPr>
          <a:lstStyle/>
          <a:p>
            <a:pPr algn="l" indent="0" marL="0">
              <a:buNone/>
            </a:pPr>
            <a:r>
              <a:rPr lang="en-US" sz="675" dirty="0">
                <a:solidFill>
                  <a:srgbClr val="DBEAFE"/>
                </a:solidFill>
                <a:latin typeface="Consolas" pitchFamily="34" charset="0"/>
                <a:ea typeface="Consolas" pitchFamily="34" charset="-122"/>
                <a:cs typeface="Consolas" pitchFamily="34" charset="-120"/>
              </a:rPr>
              <a:t>calculateTotal()</a:t>
            </a:r>
            <a:endParaRPr lang="en-US" sz="675" dirty="0"/>
          </a:p>
        </p:txBody>
      </p:sp>
      <p:sp>
        <p:nvSpPr>
          <p:cNvPr id="90" name="Text 81"/>
          <p:cNvSpPr/>
          <p:nvPr/>
        </p:nvSpPr>
        <p:spPr>
          <a:xfrm>
            <a:off x="8332961" y="7443788"/>
            <a:ext cx="99231" cy="112514"/>
          </a:xfrm>
          <a:prstGeom prst="rect">
            <a:avLst/>
          </a:prstGeom>
          <a:noFill/>
          <a:ln/>
        </p:spPr>
        <p:txBody>
          <a:bodyPr wrap="none" lIns="0" tIns="0" rIns="0" bIns="0" rtlCol="0" anchor="ctr">
            <a:spAutoFit/>
          </a:bodyPr>
          <a:lstStyle/>
          <a:p>
            <a:pPr algn="l" indent="0" marL="0">
              <a:buNone/>
            </a:pPr>
            <a:r>
              <a:rPr lang="en-US" sz="788" dirty="0">
                <a:solidFill>
                  <a:srgbClr val="F1F5F9"/>
                </a:solidFill>
                <a:latin typeface="Segoe UI" pitchFamily="34" charset="0"/>
                <a:ea typeface="Segoe UI" pitchFamily="34" charset="-122"/>
                <a:cs typeface="Segoe UI" pitchFamily="34" charset="-120"/>
              </a:rPr>
              <a:t>,</a:t>
            </a:r>
            <a:endParaRPr lang="en-US" sz="788" dirty="0"/>
          </a:p>
        </p:txBody>
      </p:sp>
      <p:sp>
        <p:nvSpPr>
          <p:cNvPr id="91" name="Text 82"/>
          <p:cNvSpPr/>
          <p:nvPr/>
        </p:nvSpPr>
        <p:spPr>
          <a:xfrm>
            <a:off x="7015163" y="7608094"/>
            <a:ext cx="534442" cy="96441"/>
          </a:xfrm>
          <a:prstGeom prst="rect">
            <a:avLst/>
          </a:prstGeom>
          <a:noFill/>
          <a:ln/>
        </p:spPr>
        <p:txBody>
          <a:bodyPr wrap="none" lIns="0" tIns="0" rIns="0" bIns="0" rtlCol="0" anchor="ctr">
            <a:spAutoFit/>
          </a:bodyPr>
          <a:lstStyle/>
          <a:p>
            <a:pPr algn="l" indent="0" marL="0">
              <a:buNone/>
            </a:pPr>
            <a:r>
              <a:rPr lang="en-US" sz="675" dirty="0">
                <a:solidFill>
                  <a:srgbClr val="DBEAFE"/>
                </a:solidFill>
                <a:latin typeface="Consolas" pitchFamily="34" charset="0"/>
                <a:ea typeface="Consolas" pitchFamily="34" charset="-122"/>
                <a:cs typeface="Consolas" pitchFamily="34" charset="-120"/>
              </a:rPr>
              <a:t>getName()</a:t>
            </a:r>
            <a:endParaRPr lang="en-US" sz="675" dirty="0"/>
          </a:p>
        </p:txBody>
      </p:sp>
      <p:sp>
        <p:nvSpPr>
          <p:cNvPr id="92" name="Shape 83"/>
          <p:cNvSpPr/>
          <p:nvPr/>
        </p:nvSpPr>
        <p:spPr>
          <a:xfrm>
            <a:off x="4857750" y="8086725"/>
            <a:ext cx="1771650" cy="1114425"/>
          </a:xfrm>
          <a:prstGeom prst="rect">
            <a:avLst/>
          </a:prstGeom>
          <a:solidFill>
            <a:srgbClr val="1E3A8A">
              <a:alpha val="30000"/>
            </a:srgbClr>
          </a:solidFill>
          <a:ln/>
        </p:spPr>
      </p:sp>
      <p:sp>
        <p:nvSpPr>
          <p:cNvPr id="93" name="Text 84"/>
          <p:cNvSpPr/>
          <p:nvPr/>
        </p:nvSpPr>
        <p:spPr>
          <a:xfrm>
            <a:off x="4972050" y="8201025"/>
            <a:ext cx="1614488" cy="200025"/>
          </a:xfrm>
          <a:prstGeom prst="rect">
            <a:avLst/>
          </a:prstGeom>
          <a:noFill/>
          <a:ln/>
        </p:spPr>
        <p:txBody>
          <a:bodyPr wrap="square" lIns="0" tIns="0" rIns="0" bIns="0" rtlCol="0" anchor="ctr">
            <a:spAutoFit/>
          </a:bodyPr>
          <a:lstStyle/>
          <a:p>
            <a:pPr indent="0" marL="0">
              <a:buNone/>
            </a:pPr>
            <a:r>
              <a:rPr lang="en-US" sz="1013" b="1" dirty="0">
                <a:solidFill>
                  <a:srgbClr val="F1F5F9"/>
                </a:solidFill>
                <a:latin typeface="Segoe UI" pitchFamily="34" charset="0"/>
                <a:ea typeface="Segoe UI" pitchFamily="34" charset="-122"/>
                <a:cs typeface="Segoe UI" pitchFamily="34" charset="-120"/>
              </a:rPr>
              <a:t>Variables</a:t>
            </a:r>
            <a:endParaRPr lang="en-US" sz="1013" dirty="0"/>
          </a:p>
        </p:txBody>
      </p:sp>
      <p:pic>
        <p:nvPicPr>
          <p:cNvPr id="94" name="Image 7" descr="preencoded.png">    </p:cNvPr>
          <p:cNvPicPr>
            <a:picLocks noChangeAspect="1"/>
          </p:cNvPicPr>
          <p:nvPr/>
        </p:nvPicPr>
        <p:blipFill>
          <a:blip r:embed="rId8"/>
          <a:stretch>
            <a:fillRect/>
          </a:stretch>
        </p:blipFill>
        <p:spPr>
          <a:xfrm>
            <a:off x="4972050" y="8486775"/>
            <a:ext cx="100013" cy="100013"/>
          </a:xfrm>
          <a:prstGeom prst="rect">
            <a:avLst/>
          </a:prstGeom>
        </p:spPr>
      </p:pic>
      <p:sp>
        <p:nvSpPr>
          <p:cNvPr id="95" name="Text 85"/>
          <p:cNvSpPr/>
          <p:nvPr/>
        </p:nvSpPr>
        <p:spPr>
          <a:xfrm>
            <a:off x="5129213" y="8458200"/>
            <a:ext cx="571695" cy="142875"/>
          </a:xfrm>
          <a:prstGeom prst="rect">
            <a:avLst/>
          </a:prstGeom>
          <a:noFill/>
          <a:ln/>
        </p:spPr>
        <p:txBody>
          <a:bodyPr wrap="none" lIns="0" tIns="0" rIns="0" bIns="0" rtlCol="0" anchor="ctr">
            <a:spAutoFit/>
          </a:bodyPr>
          <a:lstStyle/>
          <a:p>
            <a:pPr algn="l" indent="0" marL="0">
              <a:buNone/>
            </a:pPr>
            <a:r>
              <a:rPr lang="en-US" sz="788" dirty="0">
                <a:solidFill>
                  <a:srgbClr val="F1F5F9"/>
                </a:solidFill>
                <a:latin typeface="Segoe UI" pitchFamily="34" charset="0"/>
                <a:ea typeface="Segoe UI" pitchFamily="34" charset="-122"/>
                <a:cs typeface="Segoe UI" pitchFamily="34" charset="-120"/>
              </a:rPr>
              <a:t>camelCase</a:t>
            </a:r>
            <a:endParaRPr lang="en-US" sz="788" dirty="0"/>
          </a:p>
        </p:txBody>
      </p:sp>
      <p:pic>
        <p:nvPicPr>
          <p:cNvPr id="96" name="Image 8" descr="preencoded.png">    </p:cNvPr>
          <p:cNvPicPr>
            <a:picLocks noChangeAspect="1"/>
          </p:cNvPicPr>
          <p:nvPr/>
        </p:nvPicPr>
        <p:blipFill>
          <a:blip r:embed="rId9"/>
          <a:stretch>
            <a:fillRect/>
          </a:stretch>
        </p:blipFill>
        <p:spPr>
          <a:xfrm>
            <a:off x="4972050" y="8658225"/>
            <a:ext cx="100013" cy="100013"/>
          </a:xfrm>
          <a:prstGeom prst="rect">
            <a:avLst/>
          </a:prstGeom>
        </p:spPr>
      </p:pic>
      <p:sp>
        <p:nvSpPr>
          <p:cNvPr id="97" name="Text 86"/>
          <p:cNvSpPr/>
          <p:nvPr/>
        </p:nvSpPr>
        <p:spPr>
          <a:xfrm>
            <a:off x="5129213" y="8629650"/>
            <a:ext cx="888699" cy="142875"/>
          </a:xfrm>
          <a:prstGeom prst="rect">
            <a:avLst/>
          </a:prstGeom>
          <a:noFill/>
          <a:ln/>
        </p:spPr>
        <p:txBody>
          <a:bodyPr wrap="none" lIns="0" tIns="0" rIns="0" bIns="0" rtlCol="0" anchor="ctr">
            <a:spAutoFit/>
          </a:bodyPr>
          <a:lstStyle/>
          <a:p>
            <a:pPr algn="l" indent="0" marL="0">
              <a:buNone/>
            </a:pPr>
            <a:r>
              <a:rPr lang="en-US" sz="788" dirty="0">
                <a:solidFill>
                  <a:srgbClr val="F1F5F9"/>
                </a:solidFill>
                <a:latin typeface="Segoe UI" pitchFamily="34" charset="0"/>
                <a:ea typeface="Segoe UI" pitchFamily="34" charset="-122"/>
                <a:cs typeface="Segoe UI" pitchFamily="34" charset="-120"/>
              </a:rPr>
              <a:t>Meaningful names</a:t>
            </a:r>
            <a:endParaRPr lang="en-US" sz="788" dirty="0"/>
          </a:p>
        </p:txBody>
      </p:sp>
      <p:pic>
        <p:nvPicPr>
          <p:cNvPr id="98" name="Image 9" descr="preencoded.png">    </p:cNvPr>
          <p:cNvPicPr>
            <a:picLocks noChangeAspect="1"/>
          </p:cNvPicPr>
          <p:nvPr/>
        </p:nvPicPr>
        <p:blipFill>
          <a:blip r:embed="rId10"/>
          <a:stretch>
            <a:fillRect/>
          </a:stretch>
        </p:blipFill>
        <p:spPr>
          <a:xfrm>
            <a:off x="4972050" y="8829675"/>
            <a:ext cx="100013" cy="100013"/>
          </a:xfrm>
          <a:prstGeom prst="rect">
            <a:avLst/>
          </a:prstGeom>
        </p:spPr>
      </p:pic>
      <p:sp>
        <p:nvSpPr>
          <p:cNvPr id="99" name="Text 87"/>
          <p:cNvSpPr/>
          <p:nvPr/>
        </p:nvSpPr>
        <p:spPr>
          <a:xfrm>
            <a:off x="5129213" y="8815388"/>
            <a:ext cx="566142" cy="112514"/>
          </a:xfrm>
          <a:prstGeom prst="rect">
            <a:avLst/>
          </a:prstGeom>
          <a:noFill/>
          <a:ln/>
        </p:spPr>
        <p:txBody>
          <a:bodyPr wrap="none" lIns="0" tIns="0" rIns="0" bIns="0" rtlCol="0" anchor="ctr">
            <a:spAutoFit/>
          </a:bodyPr>
          <a:lstStyle/>
          <a:p>
            <a:pPr algn="l" indent="0" marL="0">
              <a:buNone/>
            </a:pPr>
            <a:r>
              <a:rPr lang="en-US" sz="788" dirty="0">
                <a:solidFill>
                  <a:srgbClr val="F1F5F9"/>
                </a:solidFill>
                <a:latin typeface="Segoe UI" pitchFamily="34" charset="0"/>
                <a:ea typeface="Segoe UI" pitchFamily="34" charset="-122"/>
                <a:cs typeface="Segoe UI" pitchFamily="34" charset="-120"/>
              </a:rPr>
              <a:t>Examples:</a:t>
            </a:r>
            <a:endParaRPr lang="en-US" sz="788" dirty="0"/>
          </a:p>
        </p:txBody>
      </p:sp>
      <p:sp>
        <p:nvSpPr>
          <p:cNvPr id="100" name="Text 88"/>
          <p:cNvSpPr/>
          <p:nvPr/>
        </p:nvSpPr>
        <p:spPr>
          <a:xfrm>
            <a:off x="5623917" y="8836819"/>
            <a:ext cx="534442" cy="96441"/>
          </a:xfrm>
          <a:prstGeom prst="rect">
            <a:avLst/>
          </a:prstGeom>
          <a:noFill/>
          <a:ln/>
        </p:spPr>
        <p:txBody>
          <a:bodyPr wrap="none" lIns="0" tIns="0" rIns="0" bIns="0" rtlCol="0" anchor="ctr">
            <a:spAutoFit/>
          </a:bodyPr>
          <a:lstStyle/>
          <a:p>
            <a:pPr algn="l" indent="0" marL="0">
              <a:buNone/>
            </a:pPr>
            <a:r>
              <a:rPr lang="en-US" sz="675" dirty="0">
                <a:solidFill>
                  <a:srgbClr val="DBEAFE"/>
                </a:solidFill>
                <a:latin typeface="Consolas" pitchFamily="34" charset="0"/>
                <a:ea typeface="Consolas" pitchFamily="34" charset="-122"/>
                <a:cs typeface="Consolas" pitchFamily="34" charset="-120"/>
              </a:rPr>
              <a:t>firstName</a:t>
            </a:r>
            <a:endParaRPr lang="en-US" sz="675" dirty="0"/>
          </a:p>
        </p:txBody>
      </p:sp>
      <p:sp>
        <p:nvSpPr>
          <p:cNvPr id="101" name="Text 89"/>
          <p:cNvSpPr/>
          <p:nvPr/>
        </p:nvSpPr>
        <p:spPr>
          <a:xfrm>
            <a:off x="6086921" y="8815388"/>
            <a:ext cx="99231" cy="112514"/>
          </a:xfrm>
          <a:prstGeom prst="rect">
            <a:avLst/>
          </a:prstGeom>
          <a:noFill/>
          <a:ln/>
        </p:spPr>
        <p:txBody>
          <a:bodyPr wrap="none" lIns="0" tIns="0" rIns="0" bIns="0" rtlCol="0" anchor="ctr">
            <a:spAutoFit/>
          </a:bodyPr>
          <a:lstStyle/>
          <a:p>
            <a:pPr algn="l" indent="0" marL="0">
              <a:buNone/>
            </a:pPr>
            <a:r>
              <a:rPr lang="en-US" sz="788" dirty="0">
                <a:solidFill>
                  <a:srgbClr val="F1F5F9"/>
                </a:solidFill>
                <a:latin typeface="Segoe UI" pitchFamily="34" charset="0"/>
                <a:ea typeface="Segoe UI" pitchFamily="34" charset="-122"/>
                <a:cs typeface="Segoe UI" pitchFamily="34" charset="-120"/>
              </a:rPr>
              <a:t>,</a:t>
            </a:r>
            <a:endParaRPr lang="en-US" sz="788" dirty="0"/>
          </a:p>
        </p:txBody>
      </p:sp>
      <p:sp>
        <p:nvSpPr>
          <p:cNvPr id="102" name="Text 90"/>
          <p:cNvSpPr/>
          <p:nvPr/>
        </p:nvSpPr>
        <p:spPr>
          <a:xfrm>
            <a:off x="5129213" y="8979694"/>
            <a:ext cx="637329" cy="96441"/>
          </a:xfrm>
          <a:prstGeom prst="rect">
            <a:avLst/>
          </a:prstGeom>
          <a:noFill/>
          <a:ln/>
        </p:spPr>
        <p:txBody>
          <a:bodyPr wrap="none" lIns="0" tIns="0" rIns="0" bIns="0" rtlCol="0" anchor="ctr">
            <a:spAutoFit/>
          </a:bodyPr>
          <a:lstStyle/>
          <a:p>
            <a:pPr algn="l" indent="0" marL="0">
              <a:buNone/>
            </a:pPr>
            <a:r>
              <a:rPr lang="en-US" sz="675" dirty="0">
                <a:solidFill>
                  <a:srgbClr val="DBEAFE"/>
                </a:solidFill>
                <a:latin typeface="Consolas" pitchFamily="34" charset="0"/>
                <a:ea typeface="Consolas" pitchFamily="34" charset="-122"/>
                <a:cs typeface="Consolas" pitchFamily="34" charset="-120"/>
              </a:rPr>
              <a:t>totalAmount</a:t>
            </a:r>
            <a:endParaRPr lang="en-US" sz="675" dirty="0"/>
          </a:p>
        </p:txBody>
      </p:sp>
      <p:sp>
        <p:nvSpPr>
          <p:cNvPr id="103" name="Shape 91"/>
          <p:cNvSpPr/>
          <p:nvPr/>
        </p:nvSpPr>
        <p:spPr>
          <a:xfrm>
            <a:off x="6743700" y="8086725"/>
            <a:ext cx="1771650" cy="1114425"/>
          </a:xfrm>
          <a:prstGeom prst="rect">
            <a:avLst/>
          </a:prstGeom>
          <a:solidFill>
            <a:srgbClr val="1E3A8A">
              <a:alpha val="30000"/>
            </a:srgbClr>
          </a:solidFill>
          <a:ln/>
        </p:spPr>
      </p:sp>
      <p:sp>
        <p:nvSpPr>
          <p:cNvPr id="104" name="Text 92"/>
          <p:cNvSpPr/>
          <p:nvPr/>
        </p:nvSpPr>
        <p:spPr>
          <a:xfrm>
            <a:off x="6858000" y="8201025"/>
            <a:ext cx="1614488" cy="200025"/>
          </a:xfrm>
          <a:prstGeom prst="rect">
            <a:avLst/>
          </a:prstGeom>
          <a:noFill/>
          <a:ln/>
        </p:spPr>
        <p:txBody>
          <a:bodyPr wrap="square" lIns="0" tIns="0" rIns="0" bIns="0" rtlCol="0" anchor="ctr">
            <a:spAutoFit/>
          </a:bodyPr>
          <a:lstStyle/>
          <a:p>
            <a:pPr indent="0" marL="0">
              <a:buNone/>
            </a:pPr>
            <a:r>
              <a:rPr lang="en-US" sz="1013" b="1" dirty="0">
                <a:solidFill>
                  <a:srgbClr val="F1F5F9"/>
                </a:solidFill>
                <a:latin typeface="Segoe UI" pitchFamily="34" charset="0"/>
                <a:ea typeface="Segoe UI" pitchFamily="34" charset="-122"/>
                <a:cs typeface="Segoe UI" pitchFamily="34" charset="-120"/>
              </a:rPr>
              <a:t>Constants</a:t>
            </a:r>
            <a:endParaRPr lang="en-US" sz="1013" dirty="0"/>
          </a:p>
        </p:txBody>
      </p:sp>
      <p:pic>
        <p:nvPicPr>
          <p:cNvPr id="105" name="Image 10" descr="preencoded.png">    </p:cNvPr>
          <p:cNvPicPr>
            <a:picLocks noChangeAspect="1"/>
          </p:cNvPicPr>
          <p:nvPr/>
        </p:nvPicPr>
        <p:blipFill>
          <a:blip r:embed="rId11"/>
          <a:stretch>
            <a:fillRect/>
          </a:stretch>
        </p:blipFill>
        <p:spPr>
          <a:xfrm>
            <a:off x="6858000" y="8486775"/>
            <a:ext cx="100013" cy="100013"/>
          </a:xfrm>
          <a:prstGeom prst="rect">
            <a:avLst/>
          </a:prstGeom>
        </p:spPr>
      </p:pic>
      <p:sp>
        <p:nvSpPr>
          <p:cNvPr id="106" name="Text 93"/>
          <p:cNvSpPr/>
          <p:nvPr/>
        </p:nvSpPr>
        <p:spPr>
          <a:xfrm>
            <a:off x="7015163" y="8458200"/>
            <a:ext cx="1138675" cy="142875"/>
          </a:xfrm>
          <a:prstGeom prst="rect">
            <a:avLst/>
          </a:prstGeom>
          <a:noFill/>
          <a:ln/>
        </p:spPr>
        <p:txBody>
          <a:bodyPr wrap="none" lIns="0" tIns="0" rIns="0" bIns="0" rtlCol="0" anchor="ctr">
            <a:spAutoFit/>
          </a:bodyPr>
          <a:lstStyle/>
          <a:p>
            <a:pPr algn="l" indent="0" marL="0">
              <a:buNone/>
            </a:pPr>
            <a:r>
              <a:rPr lang="en-US" sz="788" dirty="0">
                <a:solidFill>
                  <a:srgbClr val="F1F5F9"/>
                </a:solidFill>
                <a:latin typeface="Segoe UI" pitchFamily="34" charset="0"/>
                <a:ea typeface="Segoe UI" pitchFamily="34" charset="-122"/>
                <a:cs typeface="Segoe UI" pitchFamily="34" charset="-120"/>
              </a:rPr>
              <a:t>UPPER_SNAKE_CASE</a:t>
            </a:r>
            <a:endParaRPr lang="en-US" sz="788" dirty="0"/>
          </a:p>
        </p:txBody>
      </p:sp>
      <p:pic>
        <p:nvPicPr>
          <p:cNvPr id="107" name="Image 11" descr="preencoded.png">    </p:cNvPr>
          <p:cNvPicPr>
            <a:picLocks noChangeAspect="1"/>
          </p:cNvPicPr>
          <p:nvPr/>
        </p:nvPicPr>
        <p:blipFill>
          <a:blip r:embed="rId12"/>
          <a:stretch>
            <a:fillRect/>
          </a:stretch>
        </p:blipFill>
        <p:spPr>
          <a:xfrm>
            <a:off x="6858000" y="8658225"/>
            <a:ext cx="100013" cy="100013"/>
          </a:xfrm>
          <a:prstGeom prst="rect">
            <a:avLst/>
          </a:prstGeom>
        </p:spPr>
      </p:pic>
      <p:sp>
        <p:nvSpPr>
          <p:cNvPr id="108" name="Text 94"/>
          <p:cNvSpPr/>
          <p:nvPr/>
        </p:nvSpPr>
        <p:spPr>
          <a:xfrm>
            <a:off x="7015163" y="8629650"/>
            <a:ext cx="1457325" cy="285750"/>
          </a:xfrm>
          <a:prstGeom prst="rect">
            <a:avLst/>
          </a:prstGeom>
          <a:noFill/>
          <a:ln/>
        </p:spPr>
        <p:txBody>
          <a:bodyPr wrap="square" lIns="0" tIns="0" rIns="0" bIns="0" rtlCol="0" anchor="ctr">
            <a:spAutoFit/>
          </a:bodyPr>
          <a:lstStyle/>
          <a:p>
            <a:pPr algn="l" indent="0" marL="0">
              <a:buNone/>
            </a:pPr>
            <a:r>
              <a:rPr lang="en-US" sz="788" dirty="0">
                <a:solidFill>
                  <a:srgbClr val="F1F5F9"/>
                </a:solidFill>
                <a:latin typeface="Segoe UI" pitchFamily="34" charset="0"/>
                <a:ea typeface="Segoe UI" pitchFamily="34" charset="-122"/>
                <a:cs typeface="Segoe UI" pitchFamily="34" charset="-120"/>
              </a:rPr>
              <a:t>All uppercase with underscores</a:t>
            </a:r>
            <a:endParaRPr lang="en-US" sz="788" dirty="0"/>
          </a:p>
        </p:txBody>
      </p:sp>
      <p:pic>
        <p:nvPicPr>
          <p:cNvPr id="109" name="Image 12" descr="preencoded.png">    </p:cNvPr>
          <p:cNvPicPr>
            <a:picLocks noChangeAspect="1"/>
          </p:cNvPicPr>
          <p:nvPr/>
        </p:nvPicPr>
        <p:blipFill>
          <a:blip r:embed="rId13"/>
          <a:stretch>
            <a:fillRect/>
          </a:stretch>
        </p:blipFill>
        <p:spPr>
          <a:xfrm>
            <a:off x="6858000" y="8972550"/>
            <a:ext cx="100013" cy="100013"/>
          </a:xfrm>
          <a:prstGeom prst="rect">
            <a:avLst/>
          </a:prstGeom>
        </p:spPr>
      </p:pic>
      <p:sp>
        <p:nvSpPr>
          <p:cNvPr id="110" name="Text 95"/>
          <p:cNvSpPr/>
          <p:nvPr/>
        </p:nvSpPr>
        <p:spPr>
          <a:xfrm>
            <a:off x="7015163" y="8958263"/>
            <a:ext cx="566142" cy="112514"/>
          </a:xfrm>
          <a:prstGeom prst="rect">
            <a:avLst/>
          </a:prstGeom>
          <a:noFill/>
          <a:ln/>
        </p:spPr>
        <p:txBody>
          <a:bodyPr wrap="none" lIns="0" tIns="0" rIns="0" bIns="0" rtlCol="0" anchor="ctr">
            <a:spAutoFit/>
          </a:bodyPr>
          <a:lstStyle/>
          <a:p>
            <a:pPr algn="l" indent="0" marL="0">
              <a:buNone/>
            </a:pPr>
            <a:r>
              <a:rPr lang="en-US" sz="788" dirty="0">
                <a:solidFill>
                  <a:srgbClr val="F1F5F9"/>
                </a:solidFill>
                <a:latin typeface="Segoe UI" pitchFamily="34" charset="0"/>
                <a:ea typeface="Segoe UI" pitchFamily="34" charset="-122"/>
                <a:cs typeface="Segoe UI" pitchFamily="34" charset="-120"/>
              </a:rPr>
              <a:t>Examples:</a:t>
            </a:r>
            <a:endParaRPr lang="en-US" sz="788" dirty="0"/>
          </a:p>
        </p:txBody>
      </p:sp>
      <p:sp>
        <p:nvSpPr>
          <p:cNvPr id="111" name="Text 96"/>
          <p:cNvSpPr/>
          <p:nvPr/>
        </p:nvSpPr>
        <p:spPr>
          <a:xfrm>
            <a:off x="7509867" y="8979694"/>
            <a:ext cx="482984" cy="96441"/>
          </a:xfrm>
          <a:prstGeom prst="rect">
            <a:avLst/>
          </a:prstGeom>
          <a:noFill/>
          <a:ln/>
        </p:spPr>
        <p:txBody>
          <a:bodyPr wrap="none" lIns="0" tIns="0" rIns="0" bIns="0" rtlCol="0" anchor="ctr">
            <a:spAutoFit/>
          </a:bodyPr>
          <a:lstStyle/>
          <a:p>
            <a:pPr algn="l" indent="0" marL="0">
              <a:buNone/>
            </a:pPr>
            <a:r>
              <a:rPr lang="en-US" sz="675" dirty="0">
                <a:solidFill>
                  <a:srgbClr val="DBEAFE"/>
                </a:solidFill>
                <a:latin typeface="Consolas" pitchFamily="34" charset="0"/>
                <a:ea typeface="Consolas" pitchFamily="34" charset="-122"/>
                <a:cs typeface="Consolas" pitchFamily="34" charset="-120"/>
              </a:rPr>
              <a:t>MAX_SIZE</a:t>
            </a:r>
            <a:endParaRPr lang="en-US" sz="675" dirty="0"/>
          </a:p>
        </p:txBody>
      </p:sp>
      <p:sp>
        <p:nvSpPr>
          <p:cNvPr id="112" name="Text 97"/>
          <p:cNvSpPr/>
          <p:nvPr/>
        </p:nvSpPr>
        <p:spPr>
          <a:xfrm>
            <a:off x="7921414" y="8958263"/>
            <a:ext cx="127025" cy="112514"/>
          </a:xfrm>
          <a:prstGeom prst="rect">
            <a:avLst/>
          </a:prstGeom>
          <a:noFill/>
          <a:ln/>
        </p:spPr>
        <p:txBody>
          <a:bodyPr wrap="none" lIns="0" tIns="0" rIns="0" bIns="0" rtlCol="0" anchor="ctr">
            <a:spAutoFit/>
          </a:bodyPr>
          <a:lstStyle/>
          <a:p>
            <a:pPr algn="l" indent="0" marL="0">
              <a:buNone/>
            </a:pPr>
            <a:r>
              <a:rPr lang="en-US" sz="788" dirty="0">
                <a:solidFill>
                  <a:srgbClr val="F1F5F9"/>
                </a:solidFill>
                <a:latin typeface="Segoe UI" pitchFamily="34" charset="0"/>
                <a:ea typeface="Segoe UI" pitchFamily="34" charset="-122"/>
                <a:cs typeface="Segoe UI" pitchFamily="34" charset="-120"/>
              </a:rPr>
              <a:t>,</a:t>
            </a:r>
            <a:endParaRPr lang="en-US" sz="788" dirty="0"/>
          </a:p>
        </p:txBody>
      </p:sp>
      <p:sp>
        <p:nvSpPr>
          <p:cNvPr id="113" name="Text 98"/>
          <p:cNvSpPr/>
          <p:nvPr/>
        </p:nvSpPr>
        <p:spPr>
          <a:xfrm>
            <a:off x="7977001" y="8979694"/>
            <a:ext cx="174324" cy="96441"/>
          </a:xfrm>
          <a:prstGeom prst="rect">
            <a:avLst/>
          </a:prstGeom>
          <a:noFill/>
          <a:ln/>
        </p:spPr>
        <p:txBody>
          <a:bodyPr wrap="none" lIns="0" tIns="0" rIns="0" bIns="0" rtlCol="0" anchor="ctr">
            <a:spAutoFit/>
          </a:bodyPr>
          <a:lstStyle/>
          <a:p>
            <a:pPr algn="l" indent="0" marL="0">
              <a:buNone/>
            </a:pPr>
            <a:r>
              <a:rPr lang="en-US" sz="675" dirty="0">
                <a:solidFill>
                  <a:srgbClr val="DBEAFE"/>
                </a:solidFill>
                <a:latin typeface="Consolas" pitchFamily="34" charset="0"/>
                <a:ea typeface="Consolas" pitchFamily="34" charset="-122"/>
                <a:cs typeface="Consolas" pitchFamily="34" charset="-120"/>
              </a:rPr>
              <a:t>PI</a:t>
            </a:r>
            <a:endParaRPr lang="en-US" sz="675" dirty="0"/>
          </a:p>
        </p:txBody>
      </p:sp>
      <p:sp>
        <p:nvSpPr>
          <p:cNvPr id="114" name="Shape 99"/>
          <p:cNvSpPr/>
          <p:nvPr/>
        </p:nvSpPr>
        <p:spPr>
          <a:xfrm>
            <a:off x="457200" y="12573000"/>
            <a:ext cx="8229600" cy="3228975"/>
          </a:xfrm>
          <a:prstGeom prst="rect">
            <a:avLst/>
          </a:prstGeom>
          <a:solidFill>
            <a:srgbClr val="FFFFFF">
              <a:alpha val="10000"/>
            </a:srgbClr>
          </a:solidFill>
          <a:ln w="99">
            <a:solidFill>
              <a:srgbClr val="60A5FA">
                <a:alpha val="30000"/>
              </a:srgbClr>
            </a:solidFill>
            <a:prstDash val="solid"/>
          </a:ln>
        </p:spPr>
      </p:sp>
      <p:sp>
        <p:nvSpPr>
          <p:cNvPr id="115" name="Text 100"/>
          <p:cNvSpPr/>
          <p:nvPr/>
        </p:nvSpPr>
        <p:spPr>
          <a:xfrm>
            <a:off x="628650" y="12744450"/>
            <a:ext cx="7958138" cy="228600"/>
          </a:xfrm>
          <a:prstGeom prst="rect">
            <a:avLst/>
          </a:prstGeom>
          <a:noFill/>
          <a:ln/>
        </p:spPr>
        <p:txBody>
          <a:bodyPr wrap="square" lIns="0" tIns="0" rIns="0" bIns="0" rtlCol="0" anchor="ctr">
            <a:spAutoFit/>
          </a:bodyPr>
          <a:lstStyle/>
          <a:p>
            <a:pPr indent="0" marL="0">
              <a:buNone/>
            </a:pPr>
            <a:r>
              <a:rPr lang="en-US" sz="1350" b="1" dirty="0">
                <a:solidFill>
                  <a:srgbClr val="BFDBFE"/>
                </a:solidFill>
                <a:latin typeface="Segoe UI" pitchFamily="34" charset="0"/>
                <a:ea typeface="Segoe UI" pitchFamily="34" charset="-122"/>
                <a:cs typeface="Segoe UI" pitchFamily="34" charset="-120"/>
              </a:rPr>
              <a:t>Java Comments</a:t>
            </a:r>
            <a:endParaRPr lang="en-US" sz="1350" dirty="0"/>
          </a:p>
        </p:txBody>
      </p:sp>
      <p:sp>
        <p:nvSpPr>
          <p:cNvPr id="116" name="Shape 101"/>
          <p:cNvSpPr/>
          <p:nvPr/>
        </p:nvSpPr>
        <p:spPr>
          <a:xfrm>
            <a:off x="628650" y="13087350"/>
            <a:ext cx="2514600" cy="1785938"/>
          </a:xfrm>
          <a:prstGeom prst="rect">
            <a:avLst/>
          </a:prstGeom>
          <a:solidFill>
            <a:srgbClr val="1E3A8A">
              <a:alpha val="30000"/>
            </a:srgbClr>
          </a:solidFill>
          <a:ln/>
        </p:spPr>
      </p:sp>
      <p:sp>
        <p:nvSpPr>
          <p:cNvPr id="117" name="Text 102"/>
          <p:cNvSpPr/>
          <p:nvPr/>
        </p:nvSpPr>
        <p:spPr>
          <a:xfrm>
            <a:off x="742950" y="13201650"/>
            <a:ext cx="2357438" cy="200025"/>
          </a:xfrm>
          <a:prstGeom prst="rect">
            <a:avLst/>
          </a:prstGeom>
          <a:noFill/>
          <a:ln/>
        </p:spPr>
        <p:txBody>
          <a:bodyPr wrap="square" lIns="0" tIns="0" rIns="0" bIns="0" rtlCol="0" anchor="ctr">
            <a:spAutoFit/>
          </a:bodyPr>
          <a:lstStyle/>
          <a:p>
            <a:pPr indent="0" marL="0">
              <a:buNone/>
            </a:pPr>
            <a:r>
              <a:rPr lang="en-US" sz="1125" b="1" dirty="0">
                <a:solidFill>
                  <a:srgbClr val="F1F5F9"/>
                </a:solidFill>
                <a:latin typeface="Segoe UI" pitchFamily="34" charset="0"/>
                <a:ea typeface="Segoe UI" pitchFamily="34" charset="-122"/>
                <a:cs typeface="Segoe UI" pitchFamily="34" charset="-120"/>
              </a:rPr>
              <a:t>Single-line Comments</a:t>
            </a:r>
            <a:endParaRPr lang="en-US" sz="1125" dirty="0"/>
          </a:p>
        </p:txBody>
      </p:sp>
      <p:sp>
        <p:nvSpPr>
          <p:cNvPr id="118" name="Shape 103"/>
          <p:cNvSpPr/>
          <p:nvPr/>
        </p:nvSpPr>
        <p:spPr>
          <a:xfrm>
            <a:off x="742950" y="13487400"/>
            <a:ext cx="2286000" cy="528638"/>
          </a:xfrm>
          <a:prstGeom prst="rect">
            <a:avLst/>
          </a:prstGeom>
          <a:solidFill>
            <a:srgbClr val="1E293B">
              <a:alpha val="80000"/>
            </a:srgbClr>
          </a:solidFill>
          <a:ln w="99">
            <a:solidFill>
              <a:srgbClr val="60A5FA">
                <a:alpha val="30000"/>
              </a:srgbClr>
            </a:solidFill>
            <a:prstDash val="solid"/>
          </a:ln>
        </p:spPr>
      </p:sp>
      <p:sp>
        <p:nvSpPr>
          <p:cNvPr id="119" name="Text 104"/>
          <p:cNvSpPr/>
          <p:nvPr/>
        </p:nvSpPr>
        <p:spPr>
          <a:xfrm>
            <a:off x="828675" y="13628489"/>
            <a:ext cx="1717625" cy="96441"/>
          </a:xfrm>
          <a:prstGeom prst="rect">
            <a:avLst/>
          </a:prstGeom>
          <a:noFill/>
          <a:ln/>
        </p:spPr>
        <p:txBody>
          <a:bodyPr wrap="square" lIns="0" tIns="0" rIns="0" bIns="0" rtlCol="0" anchor="ctr">
            <a:spAutoFit/>
          </a:bodyPr>
          <a:lstStyle/>
          <a:p>
            <a:pPr indent="0" marL="0">
              <a:buNone/>
            </a:pPr>
            <a:r>
              <a:rPr lang="en-US" sz="675" dirty="0">
                <a:solidFill>
                  <a:srgbClr val="DBEAFE"/>
                </a:solidFill>
                <a:latin typeface="Consolas" pitchFamily="34" charset="0"/>
                <a:ea typeface="Consolas" pitchFamily="34" charset="-122"/>
                <a:cs typeface="Consolas" pitchFamily="34" charset="-120"/>
              </a:rPr>
              <a:t>// This is a single-line comment</a:t>
            </a:r>
            <a:endParaRPr lang="en-US" sz="675" dirty="0"/>
          </a:p>
        </p:txBody>
      </p:sp>
      <p:sp>
        <p:nvSpPr>
          <p:cNvPr id="120" name="Text 105"/>
          <p:cNvSpPr/>
          <p:nvPr/>
        </p:nvSpPr>
        <p:spPr>
          <a:xfrm>
            <a:off x="828675" y="13799939"/>
            <a:ext cx="1769083" cy="96441"/>
          </a:xfrm>
          <a:prstGeom prst="rect">
            <a:avLst/>
          </a:prstGeom>
          <a:noFill/>
          <a:ln/>
        </p:spPr>
        <p:txBody>
          <a:bodyPr wrap="square" lIns="0" tIns="0" rIns="0" bIns="0" rtlCol="0" anchor="ctr">
            <a:spAutoFit/>
          </a:bodyPr>
          <a:lstStyle/>
          <a:p>
            <a:pPr indent="0" marL="0">
              <a:buNone/>
            </a:pPr>
            <a:r>
              <a:rPr lang="en-US" sz="675" dirty="0">
                <a:solidFill>
                  <a:srgbClr val="DBEAFE"/>
                </a:solidFill>
                <a:latin typeface="Consolas" pitchFamily="34" charset="0"/>
                <a:ea typeface="Consolas" pitchFamily="34" charset="-122"/>
                <a:cs typeface="Consolas" pitchFamily="34" charset="-120"/>
              </a:rPr>
              <a:t>int x = 10; // Comment after code</a:t>
            </a:r>
            <a:endParaRPr lang="en-US" sz="675" dirty="0"/>
          </a:p>
        </p:txBody>
      </p:sp>
      <p:sp>
        <p:nvSpPr>
          <p:cNvPr id="121" name="Text 106"/>
          <p:cNvSpPr/>
          <p:nvPr/>
        </p:nvSpPr>
        <p:spPr>
          <a:xfrm>
            <a:off x="742950" y="14087475"/>
            <a:ext cx="2357438" cy="142875"/>
          </a:xfrm>
          <a:prstGeom prst="rect">
            <a:avLst/>
          </a:prstGeom>
          <a:noFill/>
          <a:ln/>
        </p:spPr>
        <p:txBody>
          <a:bodyPr wrap="square" lIns="0" tIns="0" rIns="0" bIns="0" rtlCol="0" anchor="ctr">
            <a:spAutoFit/>
          </a:bodyPr>
          <a:lstStyle/>
          <a:p>
            <a:pPr indent="0" marL="0">
              <a:buNone/>
            </a:pPr>
            <a:r>
              <a:rPr lang="en-US" sz="788" dirty="0">
                <a:solidFill>
                  <a:srgbClr val="F1F5F9"/>
                </a:solidFill>
                <a:latin typeface="Segoe UI" pitchFamily="34" charset="0"/>
                <a:ea typeface="Segoe UI" pitchFamily="34" charset="-122"/>
                <a:cs typeface="Segoe UI" pitchFamily="34" charset="-120"/>
              </a:rPr>
              <a:t>Used for brief explanations or notes</a:t>
            </a:r>
            <a:endParaRPr lang="en-US" sz="788" dirty="0"/>
          </a:p>
        </p:txBody>
      </p:sp>
      <p:sp>
        <p:nvSpPr>
          <p:cNvPr id="122" name="Shape 107"/>
          <p:cNvSpPr/>
          <p:nvPr/>
        </p:nvSpPr>
        <p:spPr>
          <a:xfrm>
            <a:off x="3314700" y="13087350"/>
            <a:ext cx="2514600" cy="1785938"/>
          </a:xfrm>
          <a:prstGeom prst="rect">
            <a:avLst/>
          </a:prstGeom>
          <a:solidFill>
            <a:srgbClr val="1E3A8A">
              <a:alpha val="30000"/>
            </a:srgbClr>
          </a:solidFill>
          <a:ln/>
        </p:spPr>
      </p:sp>
      <p:sp>
        <p:nvSpPr>
          <p:cNvPr id="123" name="Text 108"/>
          <p:cNvSpPr/>
          <p:nvPr/>
        </p:nvSpPr>
        <p:spPr>
          <a:xfrm>
            <a:off x="3429000" y="13201650"/>
            <a:ext cx="2357438" cy="200025"/>
          </a:xfrm>
          <a:prstGeom prst="rect">
            <a:avLst/>
          </a:prstGeom>
          <a:noFill/>
          <a:ln/>
        </p:spPr>
        <p:txBody>
          <a:bodyPr wrap="square" lIns="0" tIns="0" rIns="0" bIns="0" rtlCol="0" anchor="ctr">
            <a:spAutoFit/>
          </a:bodyPr>
          <a:lstStyle/>
          <a:p>
            <a:pPr indent="0" marL="0">
              <a:buNone/>
            </a:pPr>
            <a:r>
              <a:rPr lang="en-US" sz="1125" b="1" dirty="0">
                <a:solidFill>
                  <a:srgbClr val="F1F5F9"/>
                </a:solidFill>
                <a:latin typeface="Segoe UI" pitchFamily="34" charset="0"/>
                <a:ea typeface="Segoe UI" pitchFamily="34" charset="-122"/>
                <a:cs typeface="Segoe UI" pitchFamily="34" charset="-120"/>
              </a:rPr>
              <a:t>Multi-line Comments</a:t>
            </a:r>
            <a:endParaRPr lang="en-US" sz="1125" dirty="0"/>
          </a:p>
        </p:txBody>
      </p:sp>
      <p:sp>
        <p:nvSpPr>
          <p:cNvPr id="124" name="Shape 109"/>
          <p:cNvSpPr/>
          <p:nvPr/>
        </p:nvSpPr>
        <p:spPr>
          <a:xfrm>
            <a:off x="3429000" y="13487400"/>
            <a:ext cx="2286000" cy="871538"/>
          </a:xfrm>
          <a:prstGeom prst="rect">
            <a:avLst/>
          </a:prstGeom>
          <a:solidFill>
            <a:srgbClr val="1E293B">
              <a:alpha val="80000"/>
            </a:srgbClr>
          </a:solidFill>
          <a:ln w="99">
            <a:solidFill>
              <a:srgbClr val="60A5FA">
                <a:alpha val="30000"/>
              </a:srgbClr>
            </a:solidFill>
            <a:prstDash val="solid"/>
          </a:ln>
        </p:spPr>
      </p:sp>
      <p:sp>
        <p:nvSpPr>
          <p:cNvPr id="125" name="Text 110"/>
          <p:cNvSpPr/>
          <p:nvPr/>
        </p:nvSpPr>
        <p:spPr>
          <a:xfrm>
            <a:off x="3514725" y="13628489"/>
            <a:ext cx="1666196" cy="96441"/>
          </a:xfrm>
          <a:prstGeom prst="rect">
            <a:avLst/>
          </a:prstGeom>
          <a:noFill/>
          <a:ln/>
        </p:spPr>
        <p:txBody>
          <a:bodyPr wrap="square" lIns="0" tIns="0" rIns="0" bIns="0" rtlCol="0" anchor="ctr">
            <a:spAutoFit/>
          </a:bodyPr>
          <a:lstStyle/>
          <a:p>
            <a:pPr indent="0" marL="0">
              <a:buNone/>
            </a:pPr>
            <a:r>
              <a:rPr lang="en-US" sz="675" dirty="0">
                <a:solidFill>
                  <a:srgbClr val="DBEAFE"/>
                </a:solidFill>
                <a:latin typeface="Consolas" pitchFamily="34" charset="0"/>
                <a:ea typeface="Consolas" pitchFamily="34" charset="-122"/>
                <a:cs typeface="Consolas" pitchFamily="34" charset="-120"/>
              </a:rPr>
              <a:t>/* This is a multi-line comment</a:t>
            </a:r>
            <a:endParaRPr lang="en-US" sz="675" dirty="0"/>
          </a:p>
        </p:txBody>
      </p:sp>
      <p:sp>
        <p:nvSpPr>
          <p:cNvPr id="126" name="Text 111"/>
          <p:cNvSpPr/>
          <p:nvPr/>
        </p:nvSpPr>
        <p:spPr>
          <a:xfrm>
            <a:off x="3514725" y="13799939"/>
            <a:ext cx="1511852" cy="96441"/>
          </a:xfrm>
          <a:prstGeom prst="rect">
            <a:avLst/>
          </a:prstGeom>
          <a:noFill/>
          <a:ln/>
        </p:spPr>
        <p:txBody>
          <a:bodyPr wrap="square" lIns="0" tIns="0" rIns="0" bIns="0" rtlCol="0" anchor="ctr">
            <a:spAutoFit/>
          </a:bodyPr>
          <a:lstStyle/>
          <a:p>
            <a:pPr indent="0" marL="0">
              <a:buNone/>
            </a:pPr>
            <a:r>
              <a:rPr lang="en-US" sz="675" dirty="0">
                <a:solidFill>
                  <a:srgbClr val="DBEAFE"/>
                </a:solidFill>
                <a:latin typeface="Consolas" pitchFamily="34" charset="0"/>
                <a:ea typeface="Consolas" pitchFamily="34" charset="-122"/>
                <a:cs typeface="Consolas" pitchFamily="34" charset="-120"/>
              </a:rPr>
              <a:t>* It can span multiple lines</a:t>
            </a:r>
            <a:endParaRPr lang="en-US" sz="675" dirty="0"/>
          </a:p>
        </p:txBody>
      </p:sp>
      <p:sp>
        <p:nvSpPr>
          <p:cNvPr id="127" name="Text 112"/>
          <p:cNvSpPr/>
          <p:nvPr/>
        </p:nvSpPr>
        <p:spPr>
          <a:xfrm>
            <a:off x="3514725" y="13971389"/>
            <a:ext cx="1717625" cy="96441"/>
          </a:xfrm>
          <a:prstGeom prst="rect">
            <a:avLst/>
          </a:prstGeom>
          <a:noFill/>
          <a:ln/>
        </p:spPr>
        <p:txBody>
          <a:bodyPr wrap="square" lIns="0" tIns="0" rIns="0" bIns="0" rtlCol="0" anchor="ctr">
            <a:spAutoFit/>
          </a:bodyPr>
          <a:lstStyle/>
          <a:p>
            <a:pPr indent="0" marL="0">
              <a:buNone/>
            </a:pPr>
            <a:r>
              <a:rPr lang="en-US" sz="675" dirty="0">
                <a:solidFill>
                  <a:srgbClr val="DBEAFE"/>
                </a:solidFill>
                <a:latin typeface="Consolas" pitchFamily="34" charset="0"/>
                <a:ea typeface="Consolas" pitchFamily="34" charset="-122"/>
                <a:cs typeface="Consolas" pitchFamily="34" charset="-120"/>
              </a:rPr>
              <a:t>* Use it for longer explanations</a:t>
            </a:r>
            <a:endParaRPr lang="en-US" sz="675" dirty="0"/>
          </a:p>
        </p:txBody>
      </p:sp>
      <p:sp>
        <p:nvSpPr>
          <p:cNvPr id="128" name="Text 113"/>
          <p:cNvSpPr/>
          <p:nvPr/>
        </p:nvSpPr>
        <p:spPr>
          <a:xfrm>
            <a:off x="3514725" y="14142839"/>
            <a:ext cx="174324" cy="96441"/>
          </a:xfrm>
          <a:prstGeom prst="rect">
            <a:avLst/>
          </a:prstGeom>
          <a:noFill/>
          <a:ln/>
        </p:spPr>
        <p:txBody>
          <a:bodyPr wrap="none" lIns="0" tIns="0" rIns="0" bIns="0" rtlCol="0" anchor="ctr">
            <a:spAutoFit/>
          </a:bodyPr>
          <a:lstStyle/>
          <a:p>
            <a:pPr indent="0" marL="0">
              <a:buNone/>
            </a:pPr>
            <a:r>
              <a:rPr lang="en-US" sz="675" dirty="0">
                <a:solidFill>
                  <a:srgbClr val="DBEAFE"/>
                </a:solidFill>
                <a:latin typeface="Consolas" pitchFamily="34" charset="0"/>
                <a:ea typeface="Consolas" pitchFamily="34" charset="-122"/>
                <a:cs typeface="Consolas" pitchFamily="34" charset="-120"/>
              </a:rPr>
              <a:t>*/</a:t>
            </a:r>
            <a:endParaRPr lang="en-US" sz="675" dirty="0"/>
          </a:p>
        </p:txBody>
      </p:sp>
      <p:sp>
        <p:nvSpPr>
          <p:cNvPr id="129" name="Text 114"/>
          <p:cNvSpPr/>
          <p:nvPr/>
        </p:nvSpPr>
        <p:spPr>
          <a:xfrm>
            <a:off x="3429000" y="14430375"/>
            <a:ext cx="2357438" cy="142875"/>
          </a:xfrm>
          <a:prstGeom prst="rect">
            <a:avLst/>
          </a:prstGeom>
          <a:noFill/>
          <a:ln/>
        </p:spPr>
        <p:txBody>
          <a:bodyPr wrap="square" lIns="0" tIns="0" rIns="0" bIns="0" rtlCol="0" anchor="ctr">
            <a:spAutoFit/>
          </a:bodyPr>
          <a:lstStyle/>
          <a:p>
            <a:pPr indent="0" marL="0">
              <a:buNone/>
            </a:pPr>
            <a:r>
              <a:rPr lang="en-US" sz="788" dirty="0">
                <a:solidFill>
                  <a:srgbClr val="F1F5F9"/>
                </a:solidFill>
                <a:latin typeface="Segoe UI" pitchFamily="34" charset="0"/>
                <a:ea typeface="Segoe UI" pitchFamily="34" charset="-122"/>
                <a:cs typeface="Segoe UI" pitchFamily="34" charset="-120"/>
              </a:rPr>
              <a:t>Used for longer explanations</a:t>
            </a:r>
            <a:endParaRPr lang="en-US" sz="788" dirty="0"/>
          </a:p>
        </p:txBody>
      </p:sp>
      <p:sp>
        <p:nvSpPr>
          <p:cNvPr id="130" name="Shape 115"/>
          <p:cNvSpPr/>
          <p:nvPr/>
        </p:nvSpPr>
        <p:spPr>
          <a:xfrm>
            <a:off x="6000750" y="13087350"/>
            <a:ext cx="2514600" cy="1785938"/>
          </a:xfrm>
          <a:prstGeom prst="rect">
            <a:avLst/>
          </a:prstGeom>
          <a:solidFill>
            <a:srgbClr val="1E3A8A">
              <a:alpha val="30000"/>
            </a:srgbClr>
          </a:solidFill>
          <a:ln/>
        </p:spPr>
      </p:sp>
      <p:sp>
        <p:nvSpPr>
          <p:cNvPr id="131" name="Text 116"/>
          <p:cNvSpPr/>
          <p:nvPr/>
        </p:nvSpPr>
        <p:spPr>
          <a:xfrm>
            <a:off x="6115050" y="13201650"/>
            <a:ext cx="2357438" cy="200025"/>
          </a:xfrm>
          <a:prstGeom prst="rect">
            <a:avLst/>
          </a:prstGeom>
          <a:noFill/>
          <a:ln/>
        </p:spPr>
        <p:txBody>
          <a:bodyPr wrap="square" lIns="0" tIns="0" rIns="0" bIns="0" rtlCol="0" anchor="ctr">
            <a:spAutoFit/>
          </a:bodyPr>
          <a:lstStyle/>
          <a:p>
            <a:pPr indent="0" marL="0">
              <a:buNone/>
            </a:pPr>
            <a:r>
              <a:rPr lang="en-US" sz="1125" b="1" dirty="0">
                <a:solidFill>
                  <a:srgbClr val="F1F5F9"/>
                </a:solidFill>
                <a:latin typeface="Segoe UI" pitchFamily="34" charset="0"/>
                <a:ea typeface="Segoe UI" pitchFamily="34" charset="-122"/>
                <a:cs typeface="Segoe UI" pitchFamily="34" charset="-120"/>
              </a:rPr>
              <a:t>Javadoc Comments</a:t>
            </a:r>
            <a:endParaRPr lang="en-US" sz="1125" dirty="0"/>
          </a:p>
        </p:txBody>
      </p:sp>
      <p:sp>
        <p:nvSpPr>
          <p:cNvPr id="132" name="Shape 117"/>
          <p:cNvSpPr/>
          <p:nvPr/>
        </p:nvSpPr>
        <p:spPr>
          <a:xfrm>
            <a:off x="6115050" y="13487400"/>
            <a:ext cx="2286000" cy="1042988"/>
          </a:xfrm>
          <a:prstGeom prst="rect">
            <a:avLst/>
          </a:prstGeom>
          <a:solidFill>
            <a:srgbClr val="1E293B">
              <a:alpha val="80000"/>
            </a:srgbClr>
          </a:solidFill>
          <a:ln w="99">
            <a:solidFill>
              <a:srgbClr val="60A5FA">
                <a:alpha val="30000"/>
              </a:srgbClr>
            </a:solidFill>
            <a:prstDash val="solid"/>
          </a:ln>
        </p:spPr>
      </p:sp>
      <p:sp>
        <p:nvSpPr>
          <p:cNvPr id="133" name="Text 118"/>
          <p:cNvSpPr/>
          <p:nvPr/>
        </p:nvSpPr>
        <p:spPr>
          <a:xfrm>
            <a:off x="6200775" y="13628489"/>
            <a:ext cx="225782" cy="96441"/>
          </a:xfrm>
          <a:prstGeom prst="rect">
            <a:avLst/>
          </a:prstGeom>
          <a:noFill/>
          <a:ln/>
        </p:spPr>
        <p:txBody>
          <a:bodyPr wrap="none" lIns="0" tIns="0" rIns="0" bIns="0" rtlCol="0" anchor="ctr">
            <a:spAutoFit/>
          </a:bodyPr>
          <a:lstStyle/>
          <a:p>
            <a:pPr indent="0" marL="0">
              <a:buNone/>
            </a:pPr>
            <a:r>
              <a:rPr lang="en-US" sz="675" dirty="0">
                <a:solidFill>
                  <a:srgbClr val="DBEAFE"/>
                </a:solidFill>
                <a:latin typeface="Consolas" pitchFamily="34" charset="0"/>
                <a:ea typeface="Consolas" pitchFamily="34" charset="-122"/>
                <a:cs typeface="Consolas" pitchFamily="34" charset="-120"/>
              </a:rPr>
              <a:t>/**</a:t>
            </a:r>
            <a:endParaRPr lang="en-US" sz="675" dirty="0"/>
          </a:p>
        </p:txBody>
      </p:sp>
      <p:sp>
        <p:nvSpPr>
          <p:cNvPr id="134" name="Text 119"/>
          <p:cNvSpPr/>
          <p:nvPr/>
        </p:nvSpPr>
        <p:spPr>
          <a:xfrm>
            <a:off x="6200775" y="13799939"/>
            <a:ext cx="1460422" cy="96441"/>
          </a:xfrm>
          <a:prstGeom prst="rect">
            <a:avLst/>
          </a:prstGeom>
          <a:noFill/>
          <a:ln/>
        </p:spPr>
        <p:txBody>
          <a:bodyPr wrap="square" lIns="0" tIns="0" rIns="0" bIns="0" rtlCol="0" anchor="ctr">
            <a:spAutoFit/>
          </a:bodyPr>
          <a:lstStyle/>
          <a:p>
            <a:pPr indent="0" marL="0">
              <a:buNone/>
            </a:pPr>
            <a:r>
              <a:rPr lang="en-US" sz="675" dirty="0">
                <a:solidFill>
                  <a:srgbClr val="DBEAFE"/>
                </a:solidFill>
                <a:latin typeface="Consolas" pitchFamily="34" charset="0"/>
                <a:ea typeface="Consolas" pitchFamily="34" charset="-122"/>
                <a:cs typeface="Consolas" pitchFamily="34" charset="-120"/>
              </a:rPr>
              <a:t>* This is a Javadoc comment</a:t>
            </a:r>
            <a:endParaRPr lang="en-US" sz="675" dirty="0"/>
          </a:p>
        </p:txBody>
      </p:sp>
      <p:sp>
        <p:nvSpPr>
          <p:cNvPr id="135" name="Text 120"/>
          <p:cNvSpPr/>
          <p:nvPr/>
        </p:nvSpPr>
        <p:spPr>
          <a:xfrm>
            <a:off x="6200775" y="13971389"/>
            <a:ext cx="1666196" cy="96441"/>
          </a:xfrm>
          <a:prstGeom prst="rect">
            <a:avLst/>
          </a:prstGeom>
          <a:noFill/>
          <a:ln/>
        </p:spPr>
        <p:txBody>
          <a:bodyPr wrap="square" lIns="0" tIns="0" rIns="0" bIns="0" rtlCol="0" anchor="ctr">
            <a:spAutoFit/>
          </a:bodyPr>
          <a:lstStyle/>
          <a:p>
            <a:pPr indent="0" marL="0">
              <a:buNone/>
            </a:pPr>
            <a:r>
              <a:rPr lang="en-US" sz="675" dirty="0">
                <a:solidFill>
                  <a:srgbClr val="DBEAFE"/>
                </a:solidFill>
                <a:latin typeface="Consolas" pitchFamily="34" charset="0"/>
                <a:ea typeface="Consolas" pitchFamily="34" charset="-122"/>
                <a:cs typeface="Consolas" pitchFamily="34" charset="-120"/>
              </a:rPr>
              <a:t>* @param name The person's name</a:t>
            </a:r>
            <a:endParaRPr lang="en-US" sz="675" dirty="0"/>
          </a:p>
        </p:txBody>
      </p:sp>
      <p:sp>
        <p:nvSpPr>
          <p:cNvPr id="136" name="Text 121"/>
          <p:cNvSpPr/>
          <p:nvPr/>
        </p:nvSpPr>
        <p:spPr>
          <a:xfrm>
            <a:off x="6200775" y="14142839"/>
            <a:ext cx="1511852" cy="96441"/>
          </a:xfrm>
          <a:prstGeom prst="rect">
            <a:avLst/>
          </a:prstGeom>
          <a:noFill/>
          <a:ln/>
        </p:spPr>
        <p:txBody>
          <a:bodyPr wrap="square" lIns="0" tIns="0" rIns="0" bIns="0" rtlCol="0" anchor="ctr">
            <a:spAutoFit/>
          </a:bodyPr>
          <a:lstStyle/>
          <a:p>
            <a:pPr indent="0" marL="0">
              <a:buNone/>
            </a:pPr>
            <a:r>
              <a:rPr lang="en-US" sz="675" dirty="0">
                <a:solidFill>
                  <a:srgbClr val="DBEAFE"/>
                </a:solidFill>
                <a:latin typeface="Consolas" pitchFamily="34" charset="0"/>
                <a:ea typeface="Consolas" pitchFamily="34" charset="-122"/>
                <a:cs typeface="Consolas" pitchFamily="34" charset="-120"/>
              </a:rPr>
              <a:t>* @return A greeting message</a:t>
            </a:r>
            <a:endParaRPr lang="en-US" sz="675" dirty="0"/>
          </a:p>
        </p:txBody>
      </p:sp>
      <p:sp>
        <p:nvSpPr>
          <p:cNvPr id="137" name="Text 122"/>
          <p:cNvSpPr/>
          <p:nvPr/>
        </p:nvSpPr>
        <p:spPr>
          <a:xfrm>
            <a:off x="6200775" y="14314289"/>
            <a:ext cx="174324" cy="96441"/>
          </a:xfrm>
          <a:prstGeom prst="rect">
            <a:avLst/>
          </a:prstGeom>
          <a:noFill/>
          <a:ln/>
        </p:spPr>
        <p:txBody>
          <a:bodyPr wrap="none" lIns="0" tIns="0" rIns="0" bIns="0" rtlCol="0" anchor="ctr">
            <a:spAutoFit/>
          </a:bodyPr>
          <a:lstStyle/>
          <a:p>
            <a:pPr indent="0" marL="0">
              <a:buNone/>
            </a:pPr>
            <a:r>
              <a:rPr lang="en-US" sz="675" dirty="0">
                <a:solidFill>
                  <a:srgbClr val="DBEAFE"/>
                </a:solidFill>
                <a:latin typeface="Consolas" pitchFamily="34" charset="0"/>
                <a:ea typeface="Consolas" pitchFamily="34" charset="-122"/>
                <a:cs typeface="Consolas" pitchFamily="34" charset="-120"/>
              </a:rPr>
              <a:t>*/</a:t>
            </a:r>
            <a:endParaRPr lang="en-US" sz="675" dirty="0"/>
          </a:p>
        </p:txBody>
      </p:sp>
      <p:sp>
        <p:nvSpPr>
          <p:cNvPr id="138" name="Text 123"/>
          <p:cNvSpPr/>
          <p:nvPr/>
        </p:nvSpPr>
        <p:spPr>
          <a:xfrm>
            <a:off x="6115050" y="14601825"/>
            <a:ext cx="2357438" cy="142875"/>
          </a:xfrm>
          <a:prstGeom prst="rect">
            <a:avLst/>
          </a:prstGeom>
          <a:noFill/>
          <a:ln/>
        </p:spPr>
        <p:txBody>
          <a:bodyPr wrap="square" lIns="0" tIns="0" rIns="0" bIns="0" rtlCol="0" anchor="ctr">
            <a:spAutoFit/>
          </a:bodyPr>
          <a:lstStyle/>
          <a:p>
            <a:pPr indent="0" marL="0">
              <a:buNone/>
            </a:pPr>
            <a:r>
              <a:rPr lang="en-US" sz="788" dirty="0">
                <a:solidFill>
                  <a:srgbClr val="F1F5F9"/>
                </a:solidFill>
                <a:latin typeface="Segoe UI" pitchFamily="34" charset="0"/>
                <a:ea typeface="Segoe UI" pitchFamily="34" charset="-122"/>
                <a:cs typeface="Segoe UI" pitchFamily="34" charset="-120"/>
              </a:rPr>
              <a:t>Used for API documentation</a:t>
            </a:r>
            <a:endParaRPr lang="en-US" sz="788" dirty="0"/>
          </a:p>
        </p:txBody>
      </p:sp>
      <p:sp>
        <p:nvSpPr>
          <p:cNvPr id="139" name="Shape 124"/>
          <p:cNvSpPr/>
          <p:nvPr/>
        </p:nvSpPr>
        <p:spPr>
          <a:xfrm>
            <a:off x="628650" y="15030450"/>
            <a:ext cx="7886700" cy="571500"/>
          </a:xfrm>
          <a:prstGeom prst="rect">
            <a:avLst/>
          </a:prstGeom>
          <a:solidFill>
            <a:srgbClr val="1E3A8A">
              <a:alpha val="30000"/>
            </a:srgbClr>
          </a:solidFill>
          <a:ln/>
        </p:spPr>
      </p:sp>
      <p:pic>
        <p:nvPicPr>
          <p:cNvPr id="140" name="Image 13" descr="preencoded.png">    </p:cNvPr>
          <p:cNvPicPr>
            <a:picLocks noChangeAspect="1"/>
          </p:cNvPicPr>
          <p:nvPr/>
        </p:nvPicPr>
        <p:blipFill>
          <a:blip r:embed="rId14"/>
          <a:stretch>
            <a:fillRect/>
          </a:stretch>
        </p:blipFill>
        <p:spPr>
          <a:xfrm>
            <a:off x="742950" y="15230475"/>
            <a:ext cx="171450" cy="171450"/>
          </a:xfrm>
          <a:prstGeom prst="rect">
            <a:avLst/>
          </a:prstGeom>
        </p:spPr>
      </p:pic>
      <p:sp>
        <p:nvSpPr>
          <p:cNvPr id="141" name="Text 125"/>
          <p:cNvSpPr/>
          <p:nvPr/>
        </p:nvSpPr>
        <p:spPr>
          <a:xfrm>
            <a:off x="1028700" y="15144750"/>
            <a:ext cx="7443788" cy="342900"/>
          </a:xfrm>
          <a:prstGeom prst="rect">
            <a:avLst/>
          </a:prstGeom>
          <a:noFill/>
          <a:ln/>
        </p:spPr>
        <p:txBody>
          <a:bodyPr wrap="square" lIns="0" tIns="0" rIns="0" bIns="0" rtlCol="0" anchor="ctr">
            <a:spAutoFit/>
          </a:bodyPr>
          <a:lstStyle/>
          <a:p>
            <a:pPr indent="0" marL="0">
              <a:buNone/>
            </a:pPr>
            <a:r>
              <a:rPr lang="en-US" sz="900" dirty="0">
                <a:solidFill>
                  <a:srgbClr val="F1F5F9"/>
                </a:solidFill>
                <a:latin typeface="Segoe UI" pitchFamily="34" charset="0"/>
                <a:ea typeface="Segoe UI" pitchFamily="34" charset="-122"/>
                <a:cs typeface="Segoe UI" pitchFamily="34" charset="-120"/>
              </a:rPr>
              <a:t>Understanding the basic structure of Java programs is essential for writing clean, maintainable code. As you continue learning Java, you'll become more familiar with these components and how they work together.</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18345150"/>
          </a:xfrm>
          <a:prstGeom prst="rect">
            <a:avLst/>
          </a:prstGeom>
        </p:spPr>
      </p:pic>
      <p:sp>
        <p:nvSpPr>
          <p:cNvPr id="3" name="Text 0"/>
          <p:cNvSpPr/>
          <p:nvPr/>
        </p:nvSpPr>
        <p:spPr>
          <a:xfrm>
            <a:off x="457200" y="455414"/>
            <a:ext cx="3042763" cy="287536"/>
          </a:xfrm>
          <a:prstGeom prst="rect">
            <a:avLst/>
          </a:prstGeom>
          <a:noFill/>
          <a:ln/>
        </p:spPr>
        <p:txBody>
          <a:bodyPr wrap="square" lIns="0" tIns="0" rIns="0" bIns="0" rtlCol="0" anchor="ctr">
            <a:spAutoFit/>
          </a:bodyPr>
          <a:lstStyle/>
          <a:p>
            <a:pPr indent="0" marL="0">
              <a:buNone/>
            </a:pPr>
            <a:r>
              <a:rPr lang="en-US" sz="2025" b="1" dirty="0">
                <a:solidFill>
                  <a:srgbClr val="F1F5F9"/>
                </a:solidFill>
                <a:latin typeface="Segoe UI" pitchFamily="34" charset="0"/>
                <a:ea typeface="Segoe UI" pitchFamily="34" charset="-122"/>
                <a:cs typeface="Segoe UI" pitchFamily="34" charset="-120"/>
              </a:rPr>
              <a:t>Compiling and Running</a:t>
            </a:r>
            <a:endParaRPr lang="en-US" sz="2025" dirty="0"/>
          </a:p>
        </p:txBody>
      </p:sp>
      <p:sp>
        <p:nvSpPr>
          <p:cNvPr id="4" name="Text 1"/>
          <p:cNvSpPr/>
          <p:nvPr/>
        </p:nvSpPr>
        <p:spPr>
          <a:xfrm>
            <a:off x="3428526" y="455414"/>
            <a:ext cx="1915613" cy="287536"/>
          </a:xfrm>
          <a:prstGeom prst="rect">
            <a:avLst/>
          </a:prstGeom>
          <a:noFill/>
          <a:ln/>
        </p:spPr>
        <p:txBody>
          <a:bodyPr wrap="square" lIns="0" tIns="0" rIns="0" bIns="0" rtlCol="0" anchor="ctr">
            <a:spAutoFit/>
          </a:bodyPr>
          <a:lstStyle/>
          <a:p>
            <a:pPr indent="0" marL="0">
              <a:buNone/>
            </a:pPr>
            <a:r>
              <a:rPr lang="en-US" sz="2025" b="1" dirty="0">
                <a:solidFill>
                  <a:srgbClr val="60A5FA"/>
                </a:solidFill>
                <a:latin typeface="Segoe UI" pitchFamily="34" charset="0"/>
                <a:ea typeface="Segoe UI" pitchFamily="34" charset="-122"/>
                <a:cs typeface="Segoe UI" pitchFamily="34" charset="-120"/>
              </a:rPr>
              <a:t>Java Programs</a:t>
            </a:r>
            <a:endParaRPr lang="en-US" sz="2025" dirty="0"/>
          </a:p>
        </p:txBody>
      </p:sp>
      <p:sp>
        <p:nvSpPr>
          <p:cNvPr id="5" name="Shape 2"/>
          <p:cNvSpPr/>
          <p:nvPr/>
        </p:nvSpPr>
        <p:spPr>
          <a:xfrm>
            <a:off x="457200" y="971550"/>
            <a:ext cx="4000500" cy="3357563"/>
          </a:xfrm>
          <a:prstGeom prst="rect">
            <a:avLst/>
          </a:prstGeom>
          <a:solidFill>
            <a:srgbClr val="FFFFFF">
              <a:alpha val="10000"/>
            </a:srgbClr>
          </a:solidFill>
          <a:ln w="99">
            <a:solidFill>
              <a:srgbClr val="60A5FA">
                <a:alpha val="30000"/>
              </a:srgbClr>
            </a:solidFill>
            <a:prstDash val="solid"/>
          </a:ln>
        </p:spPr>
      </p:sp>
      <p:sp>
        <p:nvSpPr>
          <p:cNvPr id="6" name="Text 3"/>
          <p:cNvSpPr/>
          <p:nvPr/>
        </p:nvSpPr>
        <p:spPr>
          <a:xfrm>
            <a:off x="628650" y="1143000"/>
            <a:ext cx="3729038" cy="228600"/>
          </a:xfrm>
          <a:prstGeom prst="rect">
            <a:avLst/>
          </a:prstGeom>
          <a:noFill/>
          <a:ln/>
        </p:spPr>
        <p:txBody>
          <a:bodyPr wrap="square" lIns="0" tIns="0" rIns="0" bIns="0" rtlCol="0" anchor="ctr">
            <a:spAutoFit/>
          </a:bodyPr>
          <a:lstStyle/>
          <a:p>
            <a:pPr indent="0" marL="0">
              <a:buNone/>
            </a:pPr>
            <a:r>
              <a:rPr lang="en-US" sz="1350" b="1" dirty="0">
                <a:solidFill>
                  <a:srgbClr val="BFDBFE"/>
                </a:solidFill>
                <a:latin typeface="Segoe UI" pitchFamily="34" charset="0"/>
                <a:ea typeface="Segoe UI" pitchFamily="34" charset="-122"/>
                <a:cs typeface="Segoe UI" pitchFamily="34" charset="-120"/>
              </a:rPr>
              <a:t>The Java Compilation Process</a:t>
            </a:r>
            <a:endParaRPr lang="en-US" sz="1350" dirty="0"/>
          </a:p>
        </p:txBody>
      </p:sp>
      <p:sp>
        <p:nvSpPr>
          <p:cNvPr id="7" name="Shape 4"/>
          <p:cNvSpPr/>
          <p:nvPr/>
        </p:nvSpPr>
        <p:spPr>
          <a:xfrm>
            <a:off x="628650" y="1485900"/>
            <a:ext cx="3657600" cy="1400175"/>
          </a:xfrm>
          <a:prstGeom prst="rect">
            <a:avLst/>
          </a:prstGeom>
          <a:solidFill>
            <a:srgbClr val="1E3A8A">
              <a:alpha val="30000"/>
            </a:srgbClr>
          </a:solidFill>
          <a:ln/>
        </p:spPr>
      </p:sp>
      <p:sp>
        <p:nvSpPr>
          <p:cNvPr id="8" name="Text 5"/>
          <p:cNvSpPr/>
          <p:nvPr/>
        </p:nvSpPr>
        <p:spPr>
          <a:xfrm>
            <a:off x="742950" y="1600200"/>
            <a:ext cx="3500438" cy="200025"/>
          </a:xfrm>
          <a:prstGeom prst="rect">
            <a:avLst/>
          </a:prstGeom>
          <a:noFill/>
          <a:ln/>
        </p:spPr>
        <p:txBody>
          <a:bodyPr wrap="square" lIns="0" tIns="0" rIns="0" bIns="0" rtlCol="0" anchor="ctr">
            <a:spAutoFit/>
          </a:bodyPr>
          <a:lstStyle/>
          <a:p>
            <a:pPr indent="0" marL="0">
              <a:buNone/>
            </a:pPr>
            <a:r>
              <a:rPr lang="en-US" sz="1125" b="1" dirty="0">
                <a:solidFill>
                  <a:srgbClr val="F1F5F9"/>
                </a:solidFill>
                <a:latin typeface="Segoe UI" pitchFamily="34" charset="0"/>
                <a:ea typeface="Segoe UI" pitchFamily="34" charset="-122"/>
                <a:cs typeface="Segoe UI" pitchFamily="34" charset="-120"/>
              </a:rPr>
              <a:t>From Source Code to Execution</a:t>
            </a:r>
            <a:endParaRPr lang="en-US" sz="1125" dirty="0"/>
          </a:p>
        </p:txBody>
      </p:sp>
      <p:sp>
        <p:nvSpPr>
          <p:cNvPr id="9" name="Shape 6"/>
          <p:cNvSpPr/>
          <p:nvPr/>
        </p:nvSpPr>
        <p:spPr>
          <a:xfrm>
            <a:off x="721156" y="1857375"/>
            <a:ext cx="598736" cy="742950"/>
          </a:xfrm>
          <a:prstGeom prst="rect">
            <a:avLst/>
          </a:prstGeom>
          <a:solidFill>
            <a:srgbClr val="1E40AF">
              <a:alpha val="50000"/>
            </a:srgbClr>
          </a:solidFill>
          <a:ln/>
        </p:spPr>
      </p:sp>
      <p:sp>
        <p:nvSpPr>
          <p:cNvPr id="10" name="Text 7"/>
          <p:cNvSpPr/>
          <p:nvPr/>
        </p:nvSpPr>
        <p:spPr>
          <a:xfrm>
            <a:off x="806881" y="1943100"/>
            <a:ext cx="498723" cy="342900"/>
          </a:xfrm>
          <a:prstGeom prst="rect">
            <a:avLst/>
          </a:prstGeom>
          <a:noFill/>
          <a:ln/>
        </p:spPr>
        <p:txBody>
          <a:bodyPr wrap="none" lIns="0" tIns="0" rIns="0" bIns="0" rtlCol="0" anchor="ctr">
            <a:spAutoFit/>
          </a:bodyPr>
          <a:lstStyle/>
          <a:p>
            <a:pPr algn="ctr" indent="0" marL="0">
              <a:buNone/>
            </a:pPr>
            <a:r>
              <a:rPr lang="en-US" sz="900" b="1" dirty="0">
                <a:solidFill>
                  <a:srgbClr val="F1F5F9"/>
                </a:solidFill>
                <a:latin typeface="Segoe UI" pitchFamily="34" charset="0"/>
                <a:ea typeface="Segoe UI" pitchFamily="34" charset="-122"/>
                <a:cs typeface="Segoe UI" pitchFamily="34" charset="-120"/>
              </a:rPr>
              <a:t>.java file</a:t>
            </a:r>
            <a:endParaRPr lang="en-US" sz="900" dirty="0"/>
          </a:p>
        </p:txBody>
      </p:sp>
      <p:sp>
        <p:nvSpPr>
          <p:cNvPr id="11" name="Text 8"/>
          <p:cNvSpPr/>
          <p:nvPr/>
        </p:nvSpPr>
        <p:spPr>
          <a:xfrm>
            <a:off x="806881" y="2286000"/>
            <a:ext cx="498723" cy="228600"/>
          </a:xfrm>
          <a:prstGeom prst="rect">
            <a:avLst/>
          </a:prstGeom>
          <a:noFill/>
          <a:ln/>
        </p:spPr>
        <p:txBody>
          <a:bodyPr wrap="none" lIns="0" tIns="0" rIns="0" bIns="0" rtlCol="0" anchor="ctr">
            <a:spAutoFit/>
          </a:bodyPr>
          <a:lstStyle/>
          <a:p>
            <a:pPr algn="ctr" indent="0" marL="0">
              <a:buNone/>
            </a:pPr>
            <a:r>
              <a:rPr lang="en-US" sz="675" dirty="0">
                <a:solidFill>
                  <a:srgbClr val="F1F5F9"/>
                </a:solidFill>
                <a:latin typeface="Segoe UI" pitchFamily="34" charset="0"/>
                <a:ea typeface="Segoe UI" pitchFamily="34" charset="-122"/>
                <a:cs typeface="Segoe UI" pitchFamily="34" charset="-120"/>
              </a:rPr>
              <a:t>Source Code</a:t>
            </a:r>
            <a:endParaRPr lang="en-US" sz="675" dirty="0"/>
          </a:p>
        </p:txBody>
      </p:sp>
      <p:sp>
        <p:nvSpPr>
          <p:cNvPr id="12" name="Text 9"/>
          <p:cNvSpPr/>
          <p:nvPr/>
        </p:nvSpPr>
        <p:spPr>
          <a:xfrm>
            <a:off x="721156" y="2657475"/>
            <a:ext cx="670173" cy="114300"/>
          </a:xfrm>
          <a:prstGeom prst="rect">
            <a:avLst/>
          </a:prstGeom>
          <a:noFill/>
          <a:ln/>
        </p:spPr>
        <p:txBody>
          <a:bodyPr wrap="none" lIns="0" tIns="0" rIns="0" bIns="0" rtlCol="0" anchor="ctr">
            <a:spAutoFit/>
          </a:bodyPr>
          <a:lstStyle/>
          <a:p>
            <a:pPr algn="ctr" indent="0" marL="0">
              <a:buNone/>
            </a:pPr>
            <a:r>
              <a:rPr lang="en-US" sz="675" dirty="0">
                <a:solidFill>
                  <a:srgbClr val="F1F5F9"/>
                </a:solidFill>
                <a:latin typeface="Segoe UI" pitchFamily="34" charset="0"/>
                <a:ea typeface="Segoe UI" pitchFamily="34" charset="-122"/>
                <a:cs typeface="Segoe UI" pitchFamily="34" charset="-120"/>
              </a:rPr>
              <a:t>HelloWorld.java</a:t>
            </a:r>
            <a:endParaRPr lang="en-US" sz="675" dirty="0"/>
          </a:p>
        </p:txBody>
      </p:sp>
      <p:pic>
        <p:nvPicPr>
          <p:cNvPr id="13" name="Image 1" descr="preencoded.png">    </p:cNvPr>
          <p:cNvPicPr>
            <a:picLocks noChangeAspect="1"/>
          </p:cNvPicPr>
          <p:nvPr/>
        </p:nvPicPr>
        <p:blipFill>
          <a:blip r:embed="rId2"/>
          <a:stretch>
            <a:fillRect/>
          </a:stretch>
        </p:blipFill>
        <p:spPr>
          <a:xfrm>
            <a:off x="1491342" y="2253853"/>
            <a:ext cx="100013" cy="114300"/>
          </a:xfrm>
          <a:prstGeom prst="rect">
            <a:avLst/>
          </a:prstGeom>
        </p:spPr>
      </p:pic>
      <p:sp>
        <p:nvSpPr>
          <p:cNvPr id="14" name="Shape 10"/>
          <p:cNvSpPr/>
          <p:nvPr/>
        </p:nvSpPr>
        <p:spPr>
          <a:xfrm>
            <a:off x="1762804" y="1943100"/>
            <a:ext cx="514434" cy="457200"/>
          </a:xfrm>
          <a:prstGeom prst="rect">
            <a:avLst/>
          </a:prstGeom>
          <a:solidFill>
            <a:srgbClr val="1E40AF">
              <a:alpha val="50000"/>
            </a:srgbClr>
          </a:solidFill>
          <a:ln/>
        </p:spPr>
      </p:sp>
      <p:sp>
        <p:nvSpPr>
          <p:cNvPr id="15" name="Text 11"/>
          <p:cNvSpPr/>
          <p:nvPr/>
        </p:nvSpPr>
        <p:spPr>
          <a:xfrm>
            <a:off x="1848529" y="2028825"/>
            <a:ext cx="414421" cy="171450"/>
          </a:xfrm>
          <a:prstGeom prst="rect">
            <a:avLst/>
          </a:prstGeom>
          <a:noFill/>
          <a:ln/>
        </p:spPr>
        <p:txBody>
          <a:bodyPr wrap="none" lIns="0" tIns="0" rIns="0" bIns="0" rtlCol="0" anchor="ctr">
            <a:spAutoFit/>
          </a:bodyPr>
          <a:lstStyle/>
          <a:p>
            <a:pPr algn="ctr" indent="0" marL="0">
              <a:buNone/>
            </a:pPr>
            <a:r>
              <a:rPr lang="en-US" sz="900" b="1" dirty="0">
                <a:solidFill>
                  <a:srgbClr val="F1F5F9"/>
                </a:solidFill>
                <a:latin typeface="Segoe UI" pitchFamily="34" charset="0"/>
                <a:ea typeface="Segoe UI" pitchFamily="34" charset="-122"/>
                <a:cs typeface="Segoe UI" pitchFamily="34" charset="-120"/>
              </a:rPr>
              <a:t>javac</a:t>
            </a:r>
            <a:endParaRPr lang="en-US" sz="900" dirty="0"/>
          </a:p>
        </p:txBody>
      </p:sp>
      <p:sp>
        <p:nvSpPr>
          <p:cNvPr id="16" name="Text 12"/>
          <p:cNvSpPr/>
          <p:nvPr/>
        </p:nvSpPr>
        <p:spPr>
          <a:xfrm>
            <a:off x="1848529" y="2200275"/>
            <a:ext cx="414421" cy="114300"/>
          </a:xfrm>
          <a:prstGeom prst="rect">
            <a:avLst/>
          </a:prstGeom>
          <a:noFill/>
          <a:ln/>
        </p:spPr>
        <p:txBody>
          <a:bodyPr wrap="none" lIns="0" tIns="0" rIns="0" bIns="0" rtlCol="0" anchor="ctr">
            <a:spAutoFit/>
          </a:bodyPr>
          <a:lstStyle/>
          <a:p>
            <a:pPr algn="ctr" indent="0" marL="0">
              <a:buNone/>
            </a:pPr>
            <a:r>
              <a:rPr lang="en-US" sz="675" dirty="0">
                <a:solidFill>
                  <a:srgbClr val="F1F5F9"/>
                </a:solidFill>
                <a:latin typeface="Segoe UI" pitchFamily="34" charset="0"/>
                <a:ea typeface="Segoe UI" pitchFamily="34" charset="-122"/>
                <a:cs typeface="Segoe UI" pitchFamily="34" charset="-120"/>
              </a:rPr>
              <a:t>Compiler</a:t>
            </a:r>
            <a:endParaRPr lang="en-US" sz="675" dirty="0"/>
          </a:p>
        </p:txBody>
      </p:sp>
      <p:sp>
        <p:nvSpPr>
          <p:cNvPr id="17" name="Text 13"/>
          <p:cNvSpPr/>
          <p:nvPr/>
        </p:nvSpPr>
        <p:spPr>
          <a:xfrm>
            <a:off x="1762804" y="2457450"/>
            <a:ext cx="585871" cy="228600"/>
          </a:xfrm>
          <a:prstGeom prst="rect">
            <a:avLst/>
          </a:prstGeom>
          <a:noFill/>
          <a:ln/>
        </p:spPr>
        <p:txBody>
          <a:bodyPr wrap="none" lIns="0" tIns="0" rIns="0" bIns="0" rtlCol="0" anchor="ctr">
            <a:spAutoFit/>
          </a:bodyPr>
          <a:lstStyle/>
          <a:p>
            <a:pPr algn="ctr" indent="0" marL="0">
              <a:buNone/>
            </a:pPr>
            <a:r>
              <a:rPr lang="en-US" sz="675" dirty="0">
                <a:solidFill>
                  <a:srgbClr val="F1F5F9"/>
                </a:solidFill>
                <a:latin typeface="Segoe UI" pitchFamily="34" charset="0"/>
                <a:ea typeface="Segoe UI" pitchFamily="34" charset="-122"/>
                <a:cs typeface="Segoe UI" pitchFamily="34" charset="-120"/>
              </a:rPr>
              <a:t>Compiles source code</a:t>
            </a:r>
            <a:endParaRPr lang="en-US" sz="675" dirty="0"/>
          </a:p>
        </p:txBody>
      </p:sp>
      <p:pic>
        <p:nvPicPr>
          <p:cNvPr id="18" name="Image 2" descr="preencoded.png">    </p:cNvPr>
          <p:cNvPicPr>
            <a:picLocks noChangeAspect="1"/>
          </p:cNvPicPr>
          <p:nvPr/>
        </p:nvPicPr>
        <p:blipFill>
          <a:blip r:embed="rId3"/>
          <a:stretch>
            <a:fillRect/>
          </a:stretch>
        </p:blipFill>
        <p:spPr>
          <a:xfrm>
            <a:off x="2448688" y="2253853"/>
            <a:ext cx="100013" cy="114300"/>
          </a:xfrm>
          <a:prstGeom prst="rect">
            <a:avLst/>
          </a:prstGeom>
        </p:spPr>
      </p:pic>
      <p:sp>
        <p:nvSpPr>
          <p:cNvPr id="19" name="Shape 14"/>
          <p:cNvSpPr/>
          <p:nvPr/>
        </p:nvSpPr>
        <p:spPr>
          <a:xfrm>
            <a:off x="2720150" y="1914525"/>
            <a:ext cx="636798" cy="628650"/>
          </a:xfrm>
          <a:prstGeom prst="rect">
            <a:avLst/>
          </a:prstGeom>
          <a:solidFill>
            <a:srgbClr val="1E40AF">
              <a:alpha val="50000"/>
            </a:srgbClr>
          </a:solidFill>
          <a:ln/>
        </p:spPr>
      </p:sp>
      <p:sp>
        <p:nvSpPr>
          <p:cNvPr id="20" name="Text 15"/>
          <p:cNvSpPr/>
          <p:nvPr/>
        </p:nvSpPr>
        <p:spPr>
          <a:xfrm>
            <a:off x="2805875" y="2000250"/>
            <a:ext cx="536786" cy="342900"/>
          </a:xfrm>
          <a:prstGeom prst="rect">
            <a:avLst/>
          </a:prstGeom>
          <a:noFill/>
          <a:ln/>
        </p:spPr>
        <p:txBody>
          <a:bodyPr wrap="none" lIns="0" tIns="0" rIns="0" bIns="0" rtlCol="0" anchor="ctr">
            <a:spAutoFit/>
          </a:bodyPr>
          <a:lstStyle/>
          <a:p>
            <a:pPr algn="ctr" indent="0" marL="0">
              <a:buNone/>
            </a:pPr>
            <a:r>
              <a:rPr lang="en-US" sz="900" b="1" dirty="0">
                <a:solidFill>
                  <a:srgbClr val="F1F5F9"/>
                </a:solidFill>
                <a:latin typeface="Segoe UI" pitchFamily="34" charset="0"/>
                <a:ea typeface="Segoe UI" pitchFamily="34" charset="-122"/>
                <a:cs typeface="Segoe UI" pitchFamily="34" charset="-120"/>
              </a:rPr>
              <a:t>.class file</a:t>
            </a:r>
            <a:endParaRPr lang="en-US" sz="900" dirty="0"/>
          </a:p>
        </p:txBody>
      </p:sp>
      <p:sp>
        <p:nvSpPr>
          <p:cNvPr id="21" name="Text 16"/>
          <p:cNvSpPr/>
          <p:nvPr/>
        </p:nvSpPr>
        <p:spPr>
          <a:xfrm>
            <a:off x="2805875" y="2343150"/>
            <a:ext cx="536786" cy="114300"/>
          </a:xfrm>
          <a:prstGeom prst="rect">
            <a:avLst/>
          </a:prstGeom>
          <a:noFill/>
          <a:ln/>
        </p:spPr>
        <p:txBody>
          <a:bodyPr wrap="none" lIns="0" tIns="0" rIns="0" bIns="0" rtlCol="0" anchor="ctr">
            <a:spAutoFit/>
          </a:bodyPr>
          <a:lstStyle/>
          <a:p>
            <a:pPr algn="ctr" indent="0" marL="0">
              <a:buNone/>
            </a:pPr>
            <a:r>
              <a:rPr lang="en-US" sz="675" dirty="0">
                <a:solidFill>
                  <a:srgbClr val="F1F5F9"/>
                </a:solidFill>
                <a:latin typeface="Segoe UI" pitchFamily="34" charset="0"/>
                <a:ea typeface="Segoe UI" pitchFamily="34" charset="-122"/>
                <a:cs typeface="Segoe UI" pitchFamily="34" charset="-120"/>
              </a:rPr>
              <a:t>Bytecode</a:t>
            </a:r>
            <a:endParaRPr lang="en-US" sz="675" dirty="0"/>
          </a:p>
        </p:txBody>
      </p:sp>
      <p:sp>
        <p:nvSpPr>
          <p:cNvPr id="22" name="Text 17"/>
          <p:cNvSpPr/>
          <p:nvPr/>
        </p:nvSpPr>
        <p:spPr>
          <a:xfrm>
            <a:off x="2720150" y="2600325"/>
            <a:ext cx="708236" cy="114300"/>
          </a:xfrm>
          <a:prstGeom prst="rect">
            <a:avLst/>
          </a:prstGeom>
          <a:noFill/>
          <a:ln/>
        </p:spPr>
        <p:txBody>
          <a:bodyPr wrap="none" lIns="0" tIns="0" rIns="0" bIns="0" rtlCol="0" anchor="ctr">
            <a:spAutoFit/>
          </a:bodyPr>
          <a:lstStyle/>
          <a:p>
            <a:pPr algn="ctr" indent="0" marL="0">
              <a:buNone/>
            </a:pPr>
            <a:r>
              <a:rPr lang="en-US" sz="675" dirty="0">
                <a:solidFill>
                  <a:srgbClr val="F1F5F9"/>
                </a:solidFill>
                <a:latin typeface="Segoe UI" pitchFamily="34" charset="0"/>
                <a:ea typeface="Segoe UI" pitchFamily="34" charset="-122"/>
                <a:cs typeface="Segoe UI" pitchFamily="34" charset="-120"/>
              </a:rPr>
              <a:t>HelloWorld.class</a:t>
            </a:r>
            <a:endParaRPr lang="en-US" sz="675" dirty="0"/>
          </a:p>
        </p:txBody>
      </p:sp>
      <p:pic>
        <p:nvPicPr>
          <p:cNvPr id="23" name="Image 3" descr="preencoded.png">    </p:cNvPr>
          <p:cNvPicPr>
            <a:picLocks noChangeAspect="1"/>
          </p:cNvPicPr>
          <p:nvPr/>
        </p:nvPicPr>
        <p:blipFill>
          <a:blip r:embed="rId4"/>
          <a:stretch>
            <a:fillRect/>
          </a:stretch>
        </p:blipFill>
        <p:spPr>
          <a:xfrm>
            <a:off x="3528399" y="2253853"/>
            <a:ext cx="100013" cy="114300"/>
          </a:xfrm>
          <a:prstGeom prst="rect">
            <a:avLst/>
          </a:prstGeom>
        </p:spPr>
      </p:pic>
      <p:sp>
        <p:nvSpPr>
          <p:cNvPr id="24" name="Shape 18"/>
          <p:cNvSpPr/>
          <p:nvPr/>
        </p:nvSpPr>
        <p:spPr>
          <a:xfrm>
            <a:off x="3799861" y="1943100"/>
            <a:ext cx="393911" cy="457200"/>
          </a:xfrm>
          <a:prstGeom prst="rect">
            <a:avLst/>
          </a:prstGeom>
          <a:solidFill>
            <a:srgbClr val="1E40AF">
              <a:alpha val="50000"/>
            </a:srgbClr>
          </a:solidFill>
          <a:ln/>
        </p:spPr>
      </p:sp>
      <p:sp>
        <p:nvSpPr>
          <p:cNvPr id="25" name="Text 19"/>
          <p:cNvSpPr/>
          <p:nvPr/>
        </p:nvSpPr>
        <p:spPr>
          <a:xfrm>
            <a:off x="3885586" y="2028825"/>
            <a:ext cx="293898" cy="171450"/>
          </a:xfrm>
          <a:prstGeom prst="rect">
            <a:avLst/>
          </a:prstGeom>
          <a:noFill/>
          <a:ln/>
        </p:spPr>
        <p:txBody>
          <a:bodyPr wrap="none" lIns="0" tIns="0" rIns="0" bIns="0" rtlCol="0" anchor="ctr">
            <a:spAutoFit/>
          </a:bodyPr>
          <a:lstStyle/>
          <a:p>
            <a:pPr algn="ctr" indent="0" marL="0">
              <a:buNone/>
            </a:pPr>
            <a:r>
              <a:rPr lang="en-US" sz="900" b="1" dirty="0">
                <a:solidFill>
                  <a:srgbClr val="F1F5F9"/>
                </a:solidFill>
                <a:latin typeface="Segoe UI" pitchFamily="34" charset="0"/>
                <a:ea typeface="Segoe UI" pitchFamily="34" charset="-122"/>
                <a:cs typeface="Segoe UI" pitchFamily="34" charset="-120"/>
              </a:rPr>
              <a:t>java</a:t>
            </a:r>
            <a:endParaRPr lang="en-US" sz="900" dirty="0"/>
          </a:p>
        </p:txBody>
      </p:sp>
      <p:sp>
        <p:nvSpPr>
          <p:cNvPr id="26" name="Text 20"/>
          <p:cNvSpPr/>
          <p:nvPr/>
        </p:nvSpPr>
        <p:spPr>
          <a:xfrm>
            <a:off x="3885586" y="2200275"/>
            <a:ext cx="293898" cy="114300"/>
          </a:xfrm>
          <a:prstGeom prst="rect">
            <a:avLst/>
          </a:prstGeom>
          <a:noFill/>
          <a:ln/>
        </p:spPr>
        <p:txBody>
          <a:bodyPr wrap="none" lIns="0" tIns="0" rIns="0" bIns="0" rtlCol="0" anchor="ctr">
            <a:spAutoFit/>
          </a:bodyPr>
          <a:lstStyle/>
          <a:p>
            <a:pPr algn="ctr" indent="0" marL="0">
              <a:buNone/>
            </a:pPr>
            <a:r>
              <a:rPr lang="en-US" sz="675" dirty="0">
                <a:solidFill>
                  <a:srgbClr val="F1F5F9"/>
                </a:solidFill>
                <a:latin typeface="Segoe UI" pitchFamily="34" charset="0"/>
                <a:ea typeface="Segoe UI" pitchFamily="34" charset="-122"/>
                <a:cs typeface="Segoe UI" pitchFamily="34" charset="-120"/>
              </a:rPr>
              <a:t>JVM</a:t>
            </a:r>
            <a:endParaRPr lang="en-US" sz="675" dirty="0"/>
          </a:p>
        </p:txBody>
      </p:sp>
      <p:sp>
        <p:nvSpPr>
          <p:cNvPr id="27" name="Text 21"/>
          <p:cNvSpPr/>
          <p:nvPr/>
        </p:nvSpPr>
        <p:spPr>
          <a:xfrm>
            <a:off x="3799861" y="2457450"/>
            <a:ext cx="465348" cy="228600"/>
          </a:xfrm>
          <a:prstGeom prst="rect">
            <a:avLst/>
          </a:prstGeom>
          <a:noFill/>
          <a:ln/>
        </p:spPr>
        <p:txBody>
          <a:bodyPr wrap="none" lIns="0" tIns="0" rIns="0" bIns="0" rtlCol="0" anchor="ctr">
            <a:spAutoFit/>
          </a:bodyPr>
          <a:lstStyle/>
          <a:p>
            <a:pPr algn="ctr" indent="0" marL="0">
              <a:buNone/>
            </a:pPr>
            <a:r>
              <a:rPr lang="en-US" sz="675" dirty="0">
                <a:solidFill>
                  <a:srgbClr val="F1F5F9"/>
                </a:solidFill>
                <a:latin typeface="Segoe UI" pitchFamily="34" charset="0"/>
                <a:ea typeface="Segoe UI" pitchFamily="34" charset="-122"/>
                <a:cs typeface="Segoe UI" pitchFamily="34" charset="-120"/>
              </a:rPr>
              <a:t>Executes bytecode</a:t>
            </a:r>
            <a:endParaRPr lang="en-US" sz="675" dirty="0"/>
          </a:p>
        </p:txBody>
      </p:sp>
      <p:sp>
        <p:nvSpPr>
          <p:cNvPr id="28" name="Shape 22"/>
          <p:cNvSpPr/>
          <p:nvPr/>
        </p:nvSpPr>
        <p:spPr>
          <a:xfrm>
            <a:off x="628650" y="3000375"/>
            <a:ext cx="3657600" cy="1143000"/>
          </a:xfrm>
          <a:prstGeom prst="rect">
            <a:avLst/>
          </a:prstGeom>
          <a:solidFill>
            <a:srgbClr val="1E3A8A">
              <a:alpha val="30000"/>
            </a:srgbClr>
          </a:solidFill>
          <a:ln/>
        </p:spPr>
      </p:sp>
      <p:sp>
        <p:nvSpPr>
          <p:cNvPr id="29" name="Text 23"/>
          <p:cNvSpPr/>
          <p:nvPr/>
        </p:nvSpPr>
        <p:spPr>
          <a:xfrm>
            <a:off x="742950" y="3114675"/>
            <a:ext cx="3500438" cy="200025"/>
          </a:xfrm>
          <a:prstGeom prst="rect">
            <a:avLst/>
          </a:prstGeom>
          <a:noFill/>
          <a:ln/>
        </p:spPr>
        <p:txBody>
          <a:bodyPr wrap="square" lIns="0" tIns="0" rIns="0" bIns="0" rtlCol="0" anchor="ctr">
            <a:spAutoFit/>
          </a:bodyPr>
          <a:lstStyle/>
          <a:p>
            <a:pPr indent="0" marL="0">
              <a:buNone/>
            </a:pPr>
            <a:r>
              <a:rPr lang="en-US" sz="1125" b="1" dirty="0">
                <a:solidFill>
                  <a:srgbClr val="F1F5F9"/>
                </a:solidFill>
                <a:latin typeface="Segoe UI" pitchFamily="34" charset="0"/>
                <a:ea typeface="Segoe UI" pitchFamily="34" charset="-122"/>
                <a:cs typeface="Segoe UI" pitchFamily="34" charset="-120"/>
              </a:rPr>
              <a:t>Why Compilation?</a:t>
            </a:r>
            <a:endParaRPr lang="en-US" sz="1125" dirty="0"/>
          </a:p>
        </p:txBody>
      </p:sp>
      <p:pic>
        <p:nvPicPr>
          <p:cNvPr id="30" name="Image 4" descr="preencoded.png">    </p:cNvPr>
          <p:cNvPicPr>
            <a:picLocks noChangeAspect="1"/>
          </p:cNvPicPr>
          <p:nvPr/>
        </p:nvPicPr>
        <p:blipFill>
          <a:blip r:embed="rId5"/>
          <a:stretch>
            <a:fillRect/>
          </a:stretch>
        </p:blipFill>
        <p:spPr>
          <a:xfrm>
            <a:off x="742950" y="3400425"/>
            <a:ext cx="100013" cy="100013"/>
          </a:xfrm>
          <a:prstGeom prst="rect">
            <a:avLst/>
          </a:prstGeom>
        </p:spPr>
      </p:pic>
      <p:sp>
        <p:nvSpPr>
          <p:cNvPr id="31" name="Text 24"/>
          <p:cNvSpPr/>
          <p:nvPr/>
        </p:nvSpPr>
        <p:spPr>
          <a:xfrm>
            <a:off x="900113" y="3371850"/>
            <a:ext cx="2817735" cy="142875"/>
          </a:xfrm>
          <a:prstGeom prst="rect">
            <a:avLst/>
          </a:prstGeom>
          <a:noFill/>
          <a:ln/>
        </p:spPr>
        <p:txBody>
          <a:bodyPr wrap="square" lIns="0" tIns="0" rIns="0" bIns="0" rtlCol="0" anchor="ctr">
            <a:spAutoFit/>
          </a:bodyPr>
          <a:lstStyle/>
          <a:p>
            <a:pPr algn="l" indent="0" marL="0">
              <a:buNone/>
            </a:pPr>
            <a:r>
              <a:rPr lang="en-US" sz="788" dirty="0">
                <a:solidFill>
                  <a:srgbClr val="F1F5F9"/>
                </a:solidFill>
                <a:latin typeface="Segoe UI" pitchFamily="34" charset="0"/>
                <a:ea typeface="Segoe UI" pitchFamily="34" charset="-122"/>
                <a:cs typeface="Segoe UI" pitchFamily="34" charset="-120"/>
              </a:rPr>
              <a:t>Converts human-readable code to machine-executable format</a:t>
            </a:r>
            <a:endParaRPr lang="en-US" sz="788" dirty="0"/>
          </a:p>
        </p:txBody>
      </p:sp>
      <p:pic>
        <p:nvPicPr>
          <p:cNvPr id="32" name="Image 5" descr="preencoded.png">    </p:cNvPr>
          <p:cNvPicPr>
            <a:picLocks noChangeAspect="1"/>
          </p:cNvPicPr>
          <p:nvPr/>
        </p:nvPicPr>
        <p:blipFill>
          <a:blip r:embed="rId6"/>
          <a:stretch>
            <a:fillRect/>
          </a:stretch>
        </p:blipFill>
        <p:spPr>
          <a:xfrm>
            <a:off x="742950" y="3571875"/>
            <a:ext cx="100013" cy="100013"/>
          </a:xfrm>
          <a:prstGeom prst="rect">
            <a:avLst/>
          </a:prstGeom>
        </p:spPr>
      </p:pic>
      <p:sp>
        <p:nvSpPr>
          <p:cNvPr id="33" name="Text 25"/>
          <p:cNvSpPr/>
          <p:nvPr/>
        </p:nvSpPr>
        <p:spPr>
          <a:xfrm>
            <a:off x="900113" y="3543300"/>
            <a:ext cx="1861310" cy="142875"/>
          </a:xfrm>
          <a:prstGeom prst="rect">
            <a:avLst/>
          </a:prstGeom>
          <a:noFill/>
          <a:ln/>
        </p:spPr>
        <p:txBody>
          <a:bodyPr wrap="square" lIns="0" tIns="0" rIns="0" bIns="0" rtlCol="0" anchor="ctr">
            <a:spAutoFit/>
          </a:bodyPr>
          <a:lstStyle/>
          <a:p>
            <a:pPr algn="l" indent="0" marL="0">
              <a:buNone/>
            </a:pPr>
            <a:r>
              <a:rPr lang="en-US" sz="788" dirty="0">
                <a:solidFill>
                  <a:srgbClr val="F1F5F9"/>
                </a:solidFill>
                <a:latin typeface="Segoe UI" pitchFamily="34" charset="0"/>
                <a:ea typeface="Segoe UI" pitchFamily="34" charset="-122"/>
                <a:cs typeface="Segoe UI" pitchFamily="34" charset="-120"/>
              </a:rPr>
              <a:t>Checks for syntax errors and type safety</a:t>
            </a:r>
            <a:endParaRPr lang="en-US" sz="788" dirty="0"/>
          </a:p>
        </p:txBody>
      </p:sp>
      <p:pic>
        <p:nvPicPr>
          <p:cNvPr id="34" name="Image 6" descr="preencoded.png">    </p:cNvPr>
          <p:cNvPicPr>
            <a:picLocks noChangeAspect="1"/>
          </p:cNvPicPr>
          <p:nvPr/>
        </p:nvPicPr>
        <p:blipFill>
          <a:blip r:embed="rId7"/>
          <a:stretch>
            <a:fillRect/>
          </a:stretch>
        </p:blipFill>
        <p:spPr>
          <a:xfrm>
            <a:off x="742950" y="3743325"/>
            <a:ext cx="100013" cy="100013"/>
          </a:xfrm>
          <a:prstGeom prst="rect">
            <a:avLst/>
          </a:prstGeom>
        </p:spPr>
      </p:pic>
      <p:sp>
        <p:nvSpPr>
          <p:cNvPr id="35" name="Text 26"/>
          <p:cNvSpPr/>
          <p:nvPr/>
        </p:nvSpPr>
        <p:spPr>
          <a:xfrm>
            <a:off x="900113" y="3714750"/>
            <a:ext cx="2860235" cy="142875"/>
          </a:xfrm>
          <a:prstGeom prst="rect">
            <a:avLst/>
          </a:prstGeom>
          <a:noFill/>
          <a:ln/>
        </p:spPr>
        <p:txBody>
          <a:bodyPr wrap="square" lIns="0" tIns="0" rIns="0" bIns="0" rtlCol="0" anchor="ctr">
            <a:spAutoFit/>
          </a:bodyPr>
          <a:lstStyle/>
          <a:p>
            <a:pPr algn="l" indent="0" marL="0">
              <a:buNone/>
            </a:pPr>
            <a:r>
              <a:rPr lang="en-US" sz="788" dirty="0">
                <a:solidFill>
                  <a:srgbClr val="F1F5F9"/>
                </a:solidFill>
                <a:latin typeface="Segoe UI" pitchFamily="34" charset="0"/>
                <a:ea typeface="Segoe UI" pitchFamily="34" charset="-122"/>
                <a:cs typeface="Segoe UI" pitchFamily="34" charset="-120"/>
              </a:rPr>
              <a:t>Bytecode is platform-independent (Write Once, Run Anywhere)</a:t>
            </a:r>
            <a:endParaRPr lang="en-US" sz="788" dirty="0"/>
          </a:p>
        </p:txBody>
      </p:sp>
      <p:pic>
        <p:nvPicPr>
          <p:cNvPr id="36" name="Image 7" descr="preencoded.png">    </p:cNvPr>
          <p:cNvPicPr>
            <a:picLocks noChangeAspect="1"/>
          </p:cNvPicPr>
          <p:nvPr/>
        </p:nvPicPr>
        <p:blipFill>
          <a:blip r:embed="rId8"/>
          <a:stretch>
            <a:fillRect/>
          </a:stretch>
        </p:blipFill>
        <p:spPr>
          <a:xfrm>
            <a:off x="742950" y="3914775"/>
            <a:ext cx="100013" cy="100013"/>
          </a:xfrm>
          <a:prstGeom prst="rect">
            <a:avLst/>
          </a:prstGeom>
        </p:spPr>
      </p:pic>
      <p:sp>
        <p:nvSpPr>
          <p:cNvPr id="37" name="Text 27"/>
          <p:cNvSpPr/>
          <p:nvPr/>
        </p:nvSpPr>
        <p:spPr>
          <a:xfrm>
            <a:off x="900113" y="3886200"/>
            <a:ext cx="2611794" cy="142875"/>
          </a:xfrm>
          <a:prstGeom prst="rect">
            <a:avLst/>
          </a:prstGeom>
          <a:noFill/>
          <a:ln/>
        </p:spPr>
        <p:txBody>
          <a:bodyPr wrap="square" lIns="0" tIns="0" rIns="0" bIns="0" rtlCol="0" anchor="ctr">
            <a:spAutoFit/>
          </a:bodyPr>
          <a:lstStyle/>
          <a:p>
            <a:pPr algn="l" indent="0" marL="0">
              <a:buNone/>
            </a:pPr>
            <a:r>
              <a:rPr lang="en-US" sz="788" dirty="0">
                <a:solidFill>
                  <a:srgbClr val="F1F5F9"/>
                </a:solidFill>
                <a:latin typeface="Segoe UI" pitchFamily="34" charset="0"/>
                <a:ea typeface="Segoe UI" pitchFamily="34" charset="-122"/>
                <a:cs typeface="Segoe UI" pitchFamily="34" charset="-120"/>
              </a:rPr>
              <a:t>JVM interprets bytecode for the specific operating system</a:t>
            </a:r>
            <a:endParaRPr lang="en-US" sz="788" dirty="0"/>
          </a:p>
        </p:txBody>
      </p:sp>
      <p:sp>
        <p:nvSpPr>
          <p:cNvPr id="38" name="Shape 28"/>
          <p:cNvSpPr/>
          <p:nvPr/>
        </p:nvSpPr>
        <p:spPr>
          <a:xfrm>
            <a:off x="457200" y="4486275"/>
            <a:ext cx="4000500" cy="3557588"/>
          </a:xfrm>
          <a:prstGeom prst="rect">
            <a:avLst/>
          </a:prstGeom>
          <a:solidFill>
            <a:srgbClr val="FFFFFF">
              <a:alpha val="10000"/>
            </a:srgbClr>
          </a:solidFill>
          <a:ln w="99">
            <a:solidFill>
              <a:srgbClr val="60A5FA">
                <a:alpha val="30000"/>
              </a:srgbClr>
            </a:solidFill>
            <a:prstDash val="solid"/>
          </a:ln>
        </p:spPr>
      </p:sp>
      <p:sp>
        <p:nvSpPr>
          <p:cNvPr id="39" name="Text 29"/>
          <p:cNvSpPr/>
          <p:nvPr/>
        </p:nvSpPr>
        <p:spPr>
          <a:xfrm>
            <a:off x="628650" y="4657725"/>
            <a:ext cx="3729038" cy="228600"/>
          </a:xfrm>
          <a:prstGeom prst="rect">
            <a:avLst/>
          </a:prstGeom>
          <a:noFill/>
          <a:ln/>
        </p:spPr>
        <p:txBody>
          <a:bodyPr wrap="square" lIns="0" tIns="0" rIns="0" bIns="0" rtlCol="0" anchor="ctr">
            <a:spAutoFit/>
          </a:bodyPr>
          <a:lstStyle/>
          <a:p>
            <a:pPr indent="0" marL="0">
              <a:buNone/>
            </a:pPr>
            <a:r>
              <a:rPr lang="en-US" sz="1350" b="1" dirty="0">
                <a:solidFill>
                  <a:srgbClr val="BFDBFE"/>
                </a:solidFill>
                <a:latin typeface="Segoe UI" pitchFamily="34" charset="0"/>
                <a:ea typeface="Segoe UI" pitchFamily="34" charset="-122"/>
                <a:cs typeface="Segoe UI" pitchFamily="34" charset="-120"/>
              </a:rPr>
              <a:t>Compiling in VS Code</a:t>
            </a:r>
            <a:endParaRPr lang="en-US" sz="1350" dirty="0"/>
          </a:p>
        </p:txBody>
      </p:sp>
      <p:sp>
        <p:nvSpPr>
          <p:cNvPr id="40" name="Shape 30"/>
          <p:cNvSpPr/>
          <p:nvPr/>
        </p:nvSpPr>
        <p:spPr>
          <a:xfrm>
            <a:off x="628650" y="5000625"/>
            <a:ext cx="3657600" cy="1057275"/>
          </a:xfrm>
          <a:prstGeom prst="rect">
            <a:avLst/>
          </a:prstGeom>
          <a:solidFill>
            <a:srgbClr val="1E3A8A">
              <a:alpha val="30000"/>
            </a:srgbClr>
          </a:solidFill>
          <a:ln/>
        </p:spPr>
      </p:sp>
      <p:sp>
        <p:nvSpPr>
          <p:cNvPr id="41" name="Shape 31"/>
          <p:cNvSpPr/>
          <p:nvPr/>
        </p:nvSpPr>
        <p:spPr>
          <a:xfrm>
            <a:off x="628650" y="5000625"/>
            <a:ext cx="28575" cy="1057275"/>
          </a:xfrm>
          <a:prstGeom prst="rect">
            <a:avLst/>
          </a:prstGeom>
          <a:solidFill>
            <a:srgbClr val="60A5FA"/>
          </a:solidFill>
          <a:ln/>
        </p:spPr>
      </p:sp>
      <p:sp>
        <p:nvSpPr>
          <p:cNvPr id="42" name="Text 32"/>
          <p:cNvSpPr/>
          <p:nvPr/>
        </p:nvSpPr>
        <p:spPr>
          <a:xfrm>
            <a:off x="742950" y="5086350"/>
            <a:ext cx="3614738" cy="200025"/>
          </a:xfrm>
          <a:prstGeom prst="rect">
            <a:avLst/>
          </a:prstGeom>
          <a:noFill/>
          <a:ln/>
        </p:spPr>
        <p:txBody>
          <a:bodyPr wrap="square" lIns="0" tIns="0" rIns="0" bIns="0" rtlCol="0" anchor="ctr">
            <a:spAutoFit/>
          </a:bodyPr>
          <a:lstStyle/>
          <a:p>
            <a:pPr indent="0" marL="0">
              <a:buNone/>
            </a:pPr>
            <a:r>
              <a:rPr lang="en-US" sz="1125" b="1" dirty="0">
                <a:solidFill>
                  <a:srgbClr val="F1F5F9"/>
                </a:solidFill>
                <a:latin typeface="Segoe UI" pitchFamily="34" charset="0"/>
                <a:ea typeface="Segoe UI" pitchFamily="34" charset="-122"/>
                <a:cs typeface="Segoe UI" pitchFamily="34" charset="-120"/>
              </a:rPr>
              <a:t>Method 1: Using VS Code Java Extension</a:t>
            </a:r>
            <a:endParaRPr lang="en-US" sz="1125" dirty="0"/>
          </a:p>
        </p:txBody>
      </p:sp>
      <p:sp>
        <p:nvSpPr>
          <p:cNvPr id="43" name="Text 33"/>
          <p:cNvSpPr/>
          <p:nvPr/>
        </p:nvSpPr>
        <p:spPr>
          <a:xfrm>
            <a:off x="857250" y="5314950"/>
            <a:ext cx="3500438" cy="142875"/>
          </a:xfrm>
          <a:prstGeom prst="rect">
            <a:avLst/>
          </a:prstGeom>
          <a:noFill/>
          <a:ln/>
        </p:spPr>
        <p:txBody>
          <a:bodyPr wrap="square" lIns="0" tIns="0" rIns="0" bIns="0" rtlCol="0" anchor="ctr">
            <a:spAutoFit/>
          </a:bodyPr>
          <a:lstStyle/>
          <a:p>
            <a:pPr algn="l" indent="0" marL="0">
              <a:buNone/>
            </a:pPr>
            <a:r>
              <a:rPr lang="en-US" sz="788" dirty="0">
                <a:solidFill>
                  <a:srgbClr val="F1F5F9"/>
                </a:solidFill>
                <a:latin typeface="Segoe UI" pitchFamily="34" charset="0"/>
                <a:ea typeface="Segoe UI" pitchFamily="34" charset="-122"/>
                <a:cs typeface="Segoe UI" pitchFamily="34" charset="-120"/>
              </a:rPr>
              <a:t>Open your Java file in VS Code</a:t>
            </a:r>
            <a:endParaRPr lang="en-US" sz="788" dirty="0"/>
          </a:p>
        </p:txBody>
      </p:sp>
      <p:sp>
        <p:nvSpPr>
          <p:cNvPr id="44" name="Text 34"/>
          <p:cNvSpPr/>
          <p:nvPr/>
        </p:nvSpPr>
        <p:spPr>
          <a:xfrm>
            <a:off x="857250" y="5486400"/>
            <a:ext cx="3500438" cy="142875"/>
          </a:xfrm>
          <a:prstGeom prst="rect">
            <a:avLst/>
          </a:prstGeom>
          <a:noFill/>
          <a:ln/>
        </p:spPr>
        <p:txBody>
          <a:bodyPr wrap="square" lIns="0" tIns="0" rIns="0" bIns="0" rtlCol="0" anchor="ctr">
            <a:spAutoFit/>
          </a:bodyPr>
          <a:lstStyle/>
          <a:p>
            <a:pPr algn="l" indent="0" marL="0">
              <a:buNone/>
            </a:pPr>
            <a:r>
              <a:rPr lang="en-US" sz="788" dirty="0">
                <a:solidFill>
                  <a:srgbClr val="F1F5F9"/>
                </a:solidFill>
                <a:latin typeface="Segoe UI" pitchFamily="34" charset="0"/>
                <a:ea typeface="Segoe UI" pitchFamily="34" charset="-122"/>
                <a:cs typeface="Segoe UI" pitchFamily="34" charset="-120"/>
              </a:rPr>
              <a:t>Click the "Run" button above the main method</a:t>
            </a:r>
            <a:endParaRPr lang="en-US" sz="788" dirty="0"/>
          </a:p>
        </p:txBody>
      </p:sp>
      <p:sp>
        <p:nvSpPr>
          <p:cNvPr id="45" name="Text 35"/>
          <p:cNvSpPr/>
          <p:nvPr/>
        </p:nvSpPr>
        <p:spPr>
          <a:xfrm>
            <a:off x="857250" y="5657850"/>
            <a:ext cx="3500438" cy="142875"/>
          </a:xfrm>
          <a:prstGeom prst="rect">
            <a:avLst/>
          </a:prstGeom>
          <a:noFill/>
          <a:ln/>
        </p:spPr>
        <p:txBody>
          <a:bodyPr wrap="square" lIns="0" tIns="0" rIns="0" bIns="0" rtlCol="0" anchor="ctr">
            <a:spAutoFit/>
          </a:bodyPr>
          <a:lstStyle/>
          <a:p>
            <a:pPr algn="l" indent="0" marL="0">
              <a:buNone/>
            </a:pPr>
            <a:r>
              <a:rPr lang="en-US" sz="788" dirty="0">
                <a:solidFill>
                  <a:srgbClr val="F1F5F9"/>
                </a:solidFill>
                <a:latin typeface="Segoe UI" pitchFamily="34" charset="0"/>
                <a:ea typeface="Segoe UI" pitchFamily="34" charset="-122"/>
                <a:cs typeface="Segoe UI" pitchFamily="34" charset="-120"/>
              </a:rPr>
              <a:t>Or right-click in the editor and select "Run Java"</a:t>
            </a:r>
            <a:endParaRPr lang="en-US" sz="788" dirty="0"/>
          </a:p>
        </p:txBody>
      </p:sp>
      <p:sp>
        <p:nvSpPr>
          <p:cNvPr id="46" name="Text 36"/>
          <p:cNvSpPr/>
          <p:nvPr/>
        </p:nvSpPr>
        <p:spPr>
          <a:xfrm>
            <a:off x="857250" y="5829300"/>
            <a:ext cx="3500438" cy="142875"/>
          </a:xfrm>
          <a:prstGeom prst="rect">
            <a:avLst/>
          </a:prstGeom>
          <a:noFill/>
          <a:ln/>
        </p:spPr>
        <p:txBody>
          <a:bodyPr wrap="square" lIns="0" tIns="0" rIns="0" bIns="0" rtlCol="0" anchor="ctr">
            <a:spAutoFit/>
          </a:bodyPr>
          <a:lstStyle/>
          <a:p>
            <a:pPr algn="l" indent="0" marL="0">
              <a:buNone/>
            </a:pPr>
            <a:r>
              <a:rPr lang="en-US" sz="788" dirty="0">
                <a:solidFill>
                  <a:srgbClr val="F1F5F9"/>
                </a:solidFill>
                <a:latin typeface="Segoe UI" pitchFamily="34" charset="0"/>
                <a:ea typeface="Segoe UI" pitchFamily="34" charset="-122"/>
                <a:cs typeface="Segoe UI" pitchFamily="34" charset="-120"/>
              </a:rPr>
              <a:t>VS Code will automatically compile and run your program</a:t>
            </a:r>
            <a:endParaRPr lang="en-US" sz="788" dirty="0"/>
          </a:p>
        </p:txBody>
      </p:sp>
      <p:sp>
        <p:nvSpPr>
          <p:cNvPr id="47" name="Shape 37"/>
          <p:cNvSpPr/>
          <p:nvPr/>
        </p:nvSpPr>
        <p:spPr>
          <a:xfrm>
            <a:off x="628650" y="6172200"/>
            <a:ext cx="3657600" cy="1057275"/>
          </a:xfrm>
          <a:prstGeom prst="rect">
            <a:avLst/>
          </a:prstGeom>
          <a:solidFill>
            <a:srgbClr val="1E3A8A">
              <a:alpha val="30000"/>
            </a:srgbClr>
          </a:solidFill>
          <a:ln/>
        </p:spPr>
      </p:sp>
      <p:sp>
        <p:nvSpPr>
          <p:cNvPr id="48" name="Shape 38"/>
          <p:cNvSpPr/>
          <p:nvPr/>
        </p:nvSpPr>
        <p:spPr>
          <a:xfrm>
            <a:off x="628650" y="6172200"/>
            <a:ext cx="28575" cy="1057275"/>
          </a:xfrm>
          <a:prstGeom prst="rect">
            <a:avLst/>
          </a:prstGeom>
          <a:solidFill>
            <a:srgbClr val="60A5FA"/>
          </a:solidFill>
          <a:ln/>
        </p:spPr>
      </p:sp>
      <p:sp>
        <p:nvSpPr>
          <p:cNvPr id="49" name="Text 39"/>
          <p:cNvSpPr/>
          <p:nvPr/>
        </p:nvSpPr>
        <p:spPr>
          <a:xfrm>
            <a:off x="742950" y="6257925"/>
            <a:ext cx="3614738" cy="200025"/>
          </a:xfrm>
          <a:prstGeom prst="rect">
            <a:avLst/>
          </a:prstGeom>
          <a:noFill/>
          <a:ln/>
        </p:spPr>
        <p:txBody>
          <a:bodyPr wrap="square" lIns="0" tIns="0" rIns="0" bIns="0" rtlCol="0" anchor="ctr">
            <a:spAutoFit/>
          </a:bodyPr>
          <a:lstStyle/>
          <a:p>
            <a:pPr indent="0" marL="0">
              <a:buNone/>
            </a:pPr>
            <a:r>
              <a:rPr lang="en-US" sz="1125" b="1" dirty="0">
                <a:solidFill>
                  <a:srgbClr val="F1F5F9"/>
                </a:solidFill>
                <a:latin typeface="Segoe UI" pitchFamily="34" charset="0"/>
                <a:ea typeface="Segoe UI" pitchFamily="34" charset="-122"/>
                <a:cs typeface="Segoe UI" pitchFamily="34" charset="-120"/>
              </a:rPr>
              <a:t>Method 2: Using Terminal in VS Code</a:t>
            </a:r>
            <a:endParaRPr lang="en-US" sz="1125" dirty="0"/>
          </a:p>
        </p:txBody>
      </p:sp>
      <p:sp>
        <p:nvSpPr>
          <p:cNvPr id="50" name="Text 40"/>
          <p:cNvSpPr/>
          <p:nvPr/>
        </p:nvSpPr>
        <p:spPr>
          <a:xfrm>
            <a:off x="857250" y="6486525"/>
            <a:ext cx="3500438" cy="142875"/>
          </a:xfrm>
          <a:prstGeom prst="rect">
            <a:avLst/>
          </a:prstGeom>
          <a:noFill/>
          <a:ln/>
        </p:spPr>
        <p:txBody>
          <a:bodyPr wrap="square" lIns="0" tIns="0" rIns="0" bIns="0" rtlCol="0" anchor="ctr">
            <a:spAutoFit/>
          </a:bodyPr>
          <a:lstStyle/>
          <a:p>
            <a:pPr algn="l" indent="0" marL="0">
              <a:buNone/>
            </a:pPr>
            <a:r>
              <a:rPr lang="en-US" sz="788" dirty="0">
                <a:solidFill>
                  <a:srgbClr val="F1F5F9"/>
                </a:solidFill>
                <a:latin typeface="Segoe UI" pitchFamily="34" charset="0"/>
                <a:ea typeface="Segoe UI" pitchFamily="34" charset="-122"/>
                <a:cs typeface="Segoe UI" pitchFamily="34" charset="-120"/>
              </a:rPr>
              <a:t>Open the integrated terminal (View → Terminal)</a:t>
            </a:r>
            <a:endParaRPr lang="en-US" sz="788" dirty="0"/>
          </a:p>
        </p:txBody>
      </p:sp>
      <p:sp>
        <p:nvSpPr>
          <p:cNvPr id="51" name="Text 41"/>
          <p:cNvSpPr/>
          <p:nvPr/>
        </p:nvSpPr>
        <p:spPr>
          <a:xfrm>
            <a:off x="857250" y="6657975"/>
            <a:ext cx="3500438" cy="142875"/>
          </a:xfrm>
          <a:prstGeom prst="rect">
            <a:avLst/>
          </a:prstGeom>
          <a:noFill/>
          <a:ln/>
        </p:spPr>
        <p:txBody>
          <a:bodyPr wrap="square" lIns="0" tIns="0" rIns="0" bIns="0" rtlCol="0" anchor="ctr">
            <a:spAutoFit/>
          </a:bodyPr>
          <a:lstStyle/>
          <a:p>
            <a:pPr algn="l" indent="0" marL="0">
              <a:buNone/>
            </a:pPr>
            <a:r>
              <a:rPr lang="en-US" sz="788" dirty="0">
                <a:solidFill>
                  <a:srgbClr val="F1F5F9"/>
                </a:solidFill>
                <a:latin typeface="Segoe UI" pitchFamily="34" charset="0"/>
                <a:ea typeface="Segoe UI" pitchFamily="34" charset="-122"/>
                <a:cs typeface="Segoe UI" pitchFamily="34" charset="-120"/>
              </a:rPr>
              <a:t>Navigate to your project directory</a:t>
            </a:r>
            <a:endParaRPr lang="en-US" sz="788" dirty="0"/>
          </a:p>
        </p:txBody>
      </p:sp>
      <p:sp>
        <p:nvSpPr>
          <p:cNvPr id="52" name="Text 42"/>
          <p:cNvSpPr/>
          <p:nvPr/>
        </p:nvSpPr>
        <p:spPr>
          <a:xfrm>
            <a:off x="968453" y="6843713"/>
            <a:ext cx="699501" cy="112514"/>
          </a:xfrm>
          <a:prstGeom prst="rect">
            <a:avLst/>
          </a:prstGeom>
          <a:noFill/>
          <a:ln/>
        </p:spPr>
        <p:txBody>
          <a:bodyPr wrap="none" lIns="0" tIns="0" rIns="0" bIns="0" rtlCol="0" anchor="ctr">
            <a:spAutoFit/>
          </a:bodyPr>
          <a:lstStyle/>
          <a:p>
            <a:pPr algn="l" indent="0" marL="0">
              <a:buNone/>
            </a:pPr>
            <a:r>
              <a:rPr lang="en-US" sz="788" dirty="0">
                <a:solidFill>
                  <a:srgbClr val="F1F5F9"/>
                </a:solidFill>
                <a:latin typeface="Segoe UI" pitchFamily="34" charset="0"/>
                <a:ea typeface="Segoe UI" pitchFamily="34" charset="-122"/>
                <a:cs typeface="Segoe UI" pitchFamily="34" charset="-120"/>
              </a:rPr>
              <a:t>Compile with:</a:t>
            </a:r>
            <a:endParaRPr lang="en-US" sz="788" dirty="0"/>
          </a:p>
        </p:txBody>
      </p:sp>
      <p:sp>
        <p:nvSpPr>
          <p:cNvPr id="53" name="Text 43"/>
          <p:cNvSpPr/>
          <p:nvPr/>
        </p:nvSpPr>
        <p:spPr>
          <a:xfrm>
            <a:off x="1596517" y="6865144"/>
            <a:ext cx="1151762" cy="96441"/>
          </a:xfrm>
          <a:prstGeom prst="rect">
            <a:avLst/>
          </a:prstGeom>
          <a:noFill/>
          <a:ln/>
        </p:spPr>
        <p:txBody>
          <a:bodyPr wrap="none" lIns="0" tIns="0" rIns="0" bIns="0" rtlCol="0" anchor="ctr">
            <a:spAutoFit/>
          </a:bodyPr>
          <a:lstStyle/>
          <a:p>
            <a:pPr algn="l" indent="0" marL="0">
              <a:buNone/>
            </a:pPr>
            <a:r>
              <a:rPr lang="en-US" sz="675" dirty="0">
                <a:solidFill>
                  <a:srgbClr val="DBEAFE"/>
                </a:solidFill>
                <a:latin typeface="Consolas" pitchFamily="34" charset="0"/>
                <a:ea typeface="Consolas" pitchFamily="34" charset="-122"/>
                <a:cs typeface="Consolas" pitchFamily="34" charset="-120"/>
              </a:rPr>
              <a:t>javac HelloWorld.java</a:t>
            </a:r>
            <a:endParaRPr lang="en-US" sz="675" dirty="0"/>
          </a:p>
        </p:txBody>
      </p:sp>
      <p:sp>
        <p:nvSpPr>
          <p:cNvPr id="54" name="Text 44"/>
          <p:cNvSpPr/>
          <p:nvPr/>
        </p:nvSpPr>
        <p:spPr>
          <a:xfrm>
            <a:off x="968453" y="7015163"/>
            <a:ext cx="516136" cy="112514"/>
          </a:xfrm>
          <a:prstGeom prst="rect">
            <a:avLst/>
          </a:prstGeom>
          <a:noFill/>
          <a:ln/>
        </p:spPr>
        <p:txBody>
          <a:bodyPr wrap="none" lIns="0" tIns="0" rIns="0" bIns="0" rtlCol="0" anchor="ctr">
            <a:spAutoFit/>
          </a:bodyPr>
          <a:lstStyle/>
          <a:p>
            <a:pPr algn="l" indent="0" marL="0">
              <a:buNone/>
            </a:pPr>
            <a:r>
              <a:rPr lang="en-US" sz="788" dirty="0">
                <a:solidFill>
                  <a:srgbClr val="F1F5F9"/>
                </a:solidFill>
                <a:latin typeface="Segoe UI" pitchFamily="34" charset="0"/>
                <a:ea typeface="Segoe UI" pitchFamily="34" charset="-122"/>
                <a:cs typeface="Segoe UI" pitchFamily="34" charset="-120"/>
              </a:rPr>
              <a:t>Run with:</a:t>
            </a:r>
            <a:endParaRPr lang="en-US" sz="788" dirty="0"/>
          </a:p>
        </p:txBody>
      </p:sp>
      <p:sp>
        <p:nvSpPr>
          <p:cNvPr id="55" name="Text 45"/>
          <p:cNvSpPr/>
          <p:nvPr/>
        </p:nvSpPr>
        <p:spPr>
          <a:xfrm>
            <a:off x="1413151" y="7036594"/>
            <a:ext cx="843102" cy="96441"/>
          </a:xfrm>
          <a:prstGeom prst="rect">
            <a:avLst/>
          </a:prstGeom>
          <a:noFill/>
          <a:ln/>
        </p:spPr>
        <p:txBody>
          <a:bodyPr wrap="none" lIns="0" tIns="0" rIns="0" bIns="0" rtlCol="0" anchor="ctr">
            <a:spAutoFit/>
          </a:bodyPr>
          <a:lstStyle/>
          <a:p>
            <a:pPr algn="l" indent="0" marL="0">
              <a:buNone/>
            </a:pPr>
            <a:r>
              <a:rPr lang="en-US" sz="675" dirty="0">
                <a:solidFill>
                  <a:srgbClr val="DBEAFE"/>
                </a:solidFill>
                <a:latin typeface="Consolas" pitchFamily="34" charset="0"/>
                <a:ea typeface="Consolas" pitchFamily="34" charset="-122"/>
                <a:cs typeface="Consolas" pitchFamily="34" charset="-120"/>
              </a:rPr>
              <a:t>java HelloWorld</a:t>
            </a:r>
            <a:endParaRPr lang="en-US" sz="675" dirty="0"/>
          </a:p>
        </p:txBody>
      </p:sp>
      <p:sp>
        <p:nvSpPr>
          <p:cNvPr id="56" name="Shape 46"/>
          <p:cNvSpPr/>
          <p:nvPr/>
        </p:nvSpPr>
        <p:spPr>
          <a:xfrm>
            <a:off x="628650" y="7343775"/>
            <a:ext cx="3657600" cy="514350"/>
          </a:xfrm>
          <a:prstGeom prst="rect">
            <a:avLst/>
          </a:prstGeom>
          <a:solidFill>
            <a:srgbClr val="78350F">
              <a:alpha val="20000"/>
            </a:srgbClr>
          </a:solidFill>
          <a:ln/>
        </p:spPr>
      </p:sp>
      <p:pic>
        <p:nvPicPr>
          <p:cNvPr id="57" name="Image 8" descr="preencoded.png">    </p:cNvPr>
          <p:cNvPicPr>
            <a:picLocks noChangeAspect="1"/>
          </p:cNvPicPr>
          <p:nvPr/>
        </p:nvPicPr>
        <p:blipFill>
          <a:blip r:embed="rId9"/>
          <a:stretch>
            <a:fillRect/>
          </a:stretch>
        </p:blipFill>
        <p:spPr>
          <a:xfrm>
            <a:off x="742950" y="7515225"/>
            <a:ext cx="128588" cy="171450"/>
          </a:xfrm>
          <a:prstGeom prst="rect">
            <a:avLst/>
          </a:prstGeom>
        </p:spPr>
      </p:pic>
      <p:sp>
        <p:nvSpPr>
          <p:cNvPr id="58" name="Text 47"/>
          <p:cNvSpPr/>
          <p:nvPr/>
        </p:nvSpPr>
        <p:spPr>
          <a:xfrm>
            <a:off x="985838" y="7458075"/>
            <a:ext cx="3257550" cy="285750"/>
          </a:xfrm>
          <a:prstGeom prst="rect">
            <a:avLst/>
          </a:prstGeom>
          <a:noFill/>
          <a:ln/>
        </p:spPr>
        <p:txBody>
          <a:bodyPr wrap="square" lIns="0" tIns="0" rIns="0" bIns="0" rtlCol="0" anchor="ctr">
            <a:spAutoFit/>
          </a:bodyPr>
          <a:lstStyle/>
          <a:p>
            <a:pPr indent="0" marL="0">
              <a:buNone/>
            </a:pPr>
            <a:r>
              <a:rPr lang="en-US" sz="788" dirty="0">
                <a:solidFill>
                  <a:srgbClr val="F1F5F9"/>
                </a:solidFill>
                <a:latin typeface="Segoe UI" pitchFamily="34" charset="0"/>
                <a:ea typeface="Segoe UI" pitchFamily="34" charset="-122"/>
                <a:cs typeface="Segoe UI" pitchFamily="34" charset="-120"/>
              </a:rPr>
              <a:t>When using packages, you need to compile and run from the root directory of your project, not from inside the package directory.</a:t>
            </a:r>
            <a:endParaRPr lang="en-US" sz="788" dirty="0"/>
          </a:p>
        </p:txBody>
      </p:sp>
      <p:sp>
        <p:nvSpPr>
          <p:cNvPr id="59" name="Shape 48"/>
          <p:cNvSpPr/>
          <p:nvPr/>
        </p:nvSpPr>
        <p:spPr>
          <a:xfrm>
            <a:off x="4686300" y="971550"/>
            <a:ext cx="4000500" cy="6315075"/>
          </a:xfrm>
          <a:prstGeom prst="rect">
            <a:avLst/>
          </a:prstGeom>
          <a:solidFill>
            <a:srgbClr val="FFFFFF">
              <a:alpha val="10000"/>
            </a:srgbClr>
          </a:solidFill>
          <a:ln w="99">
            <a:solidFill>
              <a:srgbClr val="60A5FA">
                <a:alpha val="30000"/>
              </a:srgbClr>
            </a:solidFill>
            <a:prstDash val="solid"/>
          </a:ln>
        </p:spPr>
      </p:sp>
      <p:sp>
        <p:nvSpPr>
          <p:cNvPr id="60" name="Text 49"/>
          <p:cNvSpPr/>
          <p:nvPr/>
        </p:nvSpPr>
        <p:spPr>
          <a:xfrm>
            <a:off x="4857750" y="1143000"/>
            <a:ext cx="3729038" cy="228600"/>
          </a:xfrm>
          <a:prstGeom prst="rect">
            <a:avLst/>
          </a:prstGeom>
          <a:noFill/>
          <a:ln/>
        </p:spPr>
        <p:txBody>
          <a:bodyPr wrap="square" lIns="0" tIns="0" rIns="0" bIns="0" rtlCol="0" anchor="ctr">
            <a:spAutoFit/>
          </a:bodyPr>
          <a:lstStyle/>
          <a:p>
            <a:pPr indent="0" marL="0">
              <a:buNone/>
            </a:pPr>
            <a:r>
              <a:rPr lang="en-US" sz="1350" b="1" dirty="0">
                <a:solidFill>
                  <a:srgbClr val="BFDBFE"/>
                </a:solidFill>
                <a:latin typeface="Segoe UI" pitchFamily="34" charset="0"/>
                <a:ea typeface="Segoe UI" pitchFamily="34" charset="-122"/>
                <a:cs typeface="Segoe UI" pitchFamily="34" charset="-120"/>
              </a:rPr>
              <a:t>Running Java Programs</a:t>
            </a:r>
            <a:endParaRPr lang="en-US" sz="1350" dirty="0"/>
          </a:p>
        </p:txBody>
      </p:sp>
      <p:sp>
        <p:nvSpPr>
          <p:cNvPr id="61" name="Shape 50"/>
          <p:cNvSpPr/>
          <p:nvPr/>
        </p:nvSpPr>
        <p:spPr>
          <a:xfrm>
            <a:off x="4857750" y="1485900"/>
            <a:ext cx="3657600" cy="1728788"/>
          </a:xfrm>
          <a:prstGeom prst="rect">
            <a:avLst/>
          </a:prstGeom>
          <a:solidFill>
            <a:srgbClr val="1E3A8A">
              <a:alpha val="30000"/>
            </a:srgbClr>
          </a:solidFill>
          <a:ln/>
        </p:spPr>
      </p:sp>
      <p:sp>
        <p:nvSpPr>
          <p:cNvPr id="62" name="Text 51"/>
          <p:cNvSpPr/>
          <p:nvPr/>
        </p:nvSpPr>
        <p:spPr>
          <a:xfrm>
            <a:off x="4972050" y="1600200"/>
            <a:ext cx="3500438" cy="200025"/>
          </a:xfrm>
          <a:prstGeom prst="rect">
            <a:avLst/>
          </a:prstGeom>
          <a:noFill/>
          <a:ln/>
        </p:spPr>
        <p:txBody>
          <a:bodyPr wrap="square" lIns="0" tIns="0" rIns="0" bIns="0" rtlCol="0" anchor="ctr">
            <a:spAutoFit/>
          </a:bodyPr>
          <a:lstStyle/>
          <a:p>
            <a:pPr indent="0" marL="0">
              <a:buNone/>
            </a:pPr>
            <a:r>
              <a:rPr lang="en-US" sz="1125" b="1" dirty="0">
                <a:solidFill>
                  <a:srgbClr val="F1F5F9"/>
                </a:solidFill>
                <a:latin typeface="Segoe UI" pitchFamily="34" charset="0"/>
                <a:ea typeface="Segoe UI" pitchFamily="34" charset="-122"/>
                <a:cs typeface="Segoe UI" pitchFamily="34" charset="-120"/>
              </a:rPr>
              <a:t>Running Without Packages</a:t>
            </a:r>
            <a:endParaRPr lang="en-US" sz="1125" dirty="0"/>
          </a:p>
        </p:txBody>
      </p:sp>
      <p:sp>
        <p:nvSpPr>
          <p:cNvPr id="63" name="Shape 52"/>
          <p:cNvSpPr/>
          <p:nvPr/>
        </p:nvSpPr>
        <p:spPr>
          <a:xfrm>
            <a:off x="4972050" y="1857375"/>
            <a:ext cx="3429000" cy="1042988"/>
          </a:xfrm>
          <a:prstGeom prst="rect">
            <a:avLst/>
          </a:prstGeom>
          <a:solidFill>
            <a:srgbClr val="1E293B">
              <a:alpha val="80000"/>
            </a:srgbClr>
          </a:solidFill>
          <a:ln w="99">
            <a:solidFill>
              <a:srgbClr val="60A5FA">
                <a:alpha val="30000"/>
              </a:srgbClr>
            </a:solidFill>
            <a:prstDash val="solid"/>
          </a:ln>
        </p:spPr>
      </p:sp>
      <p:sp>
        <p:nvSpPr>
          <p:cNvPr id="64" name="Text 53"/>
          <p:cNvSpPr/>
          <p:nvPr/>
        </p:nvSpPr>
        <p:spPr>
          <a:xfrm>
            <a:off x="5057775" y="1998464"/>
            <a:ext cx="534442" cy="96441"/>
          </a:xfrm>
          <a:prstGeom prst="rect">
            <a:avLst/>
          </a:prstGeom>
          <a:noFill/>
          <a:ln/>
        </p:spPr>
        <p:txBody>
          <a:bodyPr wrap="none" lIns="0" tIns="0" rIns="0" bIns="0" rtlCol="0" anchor="ctr">
            <a:spAutoFit/>
          </a:bodyPr>
          <a:lstStyle/>
          <a:p>
            <a:pPr indent="0" marL="0">
              <a:buNone/>
            </a:pPr>
            <a:r>
              <a:rPr lang="en-US" sz="675" dirty="0">
                <a:solidFill>
                  <a:srgbClr val="DBEAFE"/>
                </a:solidFill>
                <a:latin typeface="Consolas" pitchFamily="34" charset="0"/>
                <a:ea typeface="Consolas" pitchFamily="34" charset="-122"/>
                <a:cs typeface="Consolas" pitchFamily="34" charset="-120"/>
              </a:rPr>
              <a:t># Compile</a:t>
            </a:r>
            <a:endParaRPr lang="en-US" sz="675" dirty="0"/>
          </a:p>
        </p:txBody>
      </p:sp>
      <p:sp>
        <p:nvSpPr>
          <p:cNvPr id="65" name="Text 54"/>
          <p:cNvSpPr/>
          <p:nvPr/>
        </p:nvSpPr>
        <p:spPr>
          <a:xfrm>
            <a:off x="5057775" y="2169914"/>
            <a:ext cx="1151762" cy="96441"/>
          </a:xfrm>
          <a:prstGeom prst="rect">
            <a:avLst/>
          </a:prstGeom>
          <a:noFill/>
          <a:ln/>
        </p:spPr>
        <p:txBody>
          <a:bodyPr wrap="none" lIns="0" tIns="0" rIns="0" bIns="0" rtlCol="0" anchor="ctr">
            <a:spAutoFit/>
          </a:bodyPr>
          <a:lstStyle/>
          <a:p>
            <a:pPr indent="0" marL="0">
              <a:buNone/>
            </a:pPr>
            <a:r>
              <a:rPr lang="en-US" sz="675" dirty="0">
                <a:solidFill>
                  <a:srgbClr val="DBEAFE"/>
                </a:solidFill>
                <a:latin typeface="Consolas" pitchFamily="34" charset="0"/>
                <a:ea typeface="Consolas" pitchFamily="34" charset="-122"/>
                <a:cs typeface="Consolas" pitchFamily="34" charset="-120"/>
              </a:rPr>
              <a:t>javac HelloWorld.java</a:t>
            </a:r>
            <a:endParaRPr lang="en-US" sz="675" dirty="0"/>
          </a:p>
        </p:txBody>
      </p:sp>
      <p:sp>
        <p:nvSpPr>
          <p:cNvPr id="66" name="Text 55"/>
          <p:cNvSpPr/>
          <p:nvPr/>
        </p:nvSpPr>
        <p:spPr>
          <a:xfrm>
            <a:off x="5057775" y="2512814"/>
            <a:ext cx="328668" cy="96441"/>
          </a:xfrm>
          <a:prstGeom prst="rect">
            <a:avLst/>
          </a:prstGeom>
          <a:noFill/>
          <a:ln/>
        </p:spPr>
        <p:txBody>
          <a:bodyPr wrap="none" lIns="0" tIns="0" rIns="0" bIns="0" rtlCol="0" anchor="ctr">
            <a:spAutoFit/>
          </a:bodyPr>
          <a:lstStyle/>
          <a:p>
            <a:pPr indent="0" marL="0">
              <a:buNone/>
            </a:pPr>
            <a:r>
              <a:rPr lang="en-US" sz="675" dirty="0">
                <a:solidFill>
                  <a:srgbClr val="DBEAFE"/>
                </a:solidFill>
                <a:latin typeface="Consolas" pitchFamily="34" charset="0"/>
                <a:ea typeface="Consolas" pitchFamily="34" charset="-122"/>
                <a:cs typeface="Consolas" pitchFamily="34" charset="-120"/>
              </a:rPr>
              <a:t># Run</a:t>
            </a:r>
            <a:endParaRPr lang="en-US" sz="675" dirty="0"/>
          </a:p>
        </p:txBody>
      </p:sp>
      <p:sp>
        <p:nvSpPr>
          <p:cNvPr id="67" name="Text 56"/>
          <p:cNvSpPr/>
          <p:nvPr/>
        </p:nvSpPr>
        <p:spPr>
          <a:xfrm>
            <a:off x="5057775" y="2684264"/>
            <a:ext cx="843102" cy="96441"/>
          </a:xfrm>
          <a:prstGeom prst="rect">
            <a:avLst/>
          </a:prstGeom>
          <a:noFill/>
          <a:ln/>
        </p:spPr>
        <p:txBody>
          <a:bodyPr wrap="none" lIns="0" tIns="0" rIns="0" bIns="0" rtlCol="0" anchor="ctr">
            <a:spAutoFit/>
          </a:bodyPr>
          <a:lstStyle/>
          <a:p>
            <a:pPr indent="0" marL="0">
              <a:buNone/>
            </a:pPr>
            <a:r>
              <a:rPr lang="en-US" sz="675" dirty="0">
                <a:solidFill>
                  <a:srgbClr val="DBEAFE"/>
                </a:solidFill>
                <a:latin typeface="Consolas" pitchFamily="34" charset="0"/>
                <a:ea typeface="Consolas" pitchFamily="34" charset="-122"/>
                <a:cs typeface="Consolas" pitchFamily="34" charset="-120"/>
              </a:rPr>
              <a:t>java HelloWorld</a:t>
            </a:r>
            <a:endParaRPr lang="en-US" sz="675" dirty="0"/>
          </a:p>
        </p:txBody>
      </p:sp>
      <p:sp>
        <p:nvSpPr>
          <p:cNvPr id="68" name="Text 57"/>
          <p:cNvSpPr/>
          <p:nvPr/>
        </p:nvSpPr>
        <p:spPr>
          <a:xfrm>
            <a:off x="4972050" y="2943225"/>
            <a:ext cx="3500438" cy="142875"/>
          </a:xfrm>
          <a:prstGeom prst="rect">
            <a:avLst/>
          </a:prstGeom>
          <a:noFill/>
          <a:ln/>
        </p:spPr>
        <p:txBody>
          <a:bodyPr wrap="square" lIns="0" tIns="0" rIns="0" bIns="0" rtlCol="0" anchor="ctr">
            <a:spAutoFit/>
          </a:bodyPr>
          <a:lstStyle/>
          <a:p>
            <a:pPr indent="0" marL="0">
              <a:buNone/>
            </a:pPr>
            <a:r>
              <a:rPr lang="en-US" sz="788" dirty="0">
                <a:solidFill>
                  <a:srgbClr val="F1F5F9"/>
                </a:solidFill>
                <a:latin typeface="Segoe UI" pitchFamily="34" charset="0"/>
                <a:ea typeface="Segoe UI" pitchFamily="34" charset="-122"/>
                <a:cs typeface="Segoe UI" pitchFamily="34" charset="-120"/>
              </a:rPr>
              <a:t>Note: Do not include the .class extension when running</a:t>
            </a:r>
            <a:endParaRPr lang="en-US" sz="788" dirty="0"/>
          </a:p>
        </p:txBody>
      </p:sp>
      <p:sp>
        <p:nvSpPr>
          <p:cNvPr id="69" name="Shape 58"/>
          <p:cNvSpPr/>
          <p:nvPr/>
        </p:nvSpPr>
        <p:spPr>
          <a:xfrm>
            <a:off x="4857750" y="3314700"/>
            <a:ext cx="3657600" cy="1728788"/>
          </a:xfrm>
          <a:prstGeom prst="rect">
            <a:avLst/>
          </a:prstGeom>
          <a:solidFill>
            <a:srgbClr val="1E3A8A">
              <a:alpha val="30000"/>
            </a:srgbClr>
          </a:solidFill>
          <a:ln/>
        </p:spPr>
      </p:sp>
      <p:sp>
        <p:nvSpPr>
          <p:cNvPr id="70" name="Text 59"/>
          <p:cNvSpPr/>
          <p:nvPr/>
        </p:nvSpPr>
        <p:spPr>
          <a:xfrm>
            <a:off x="4972050" y="3429000"/>
            <a:ext cx="3500438" cy="200025"/>
          </a:xfrm>
          <a:prstGeom prst="rect">
            <a:avLst/>
          </a:prstGeom>
          <a:noFill/>
          <a:ln/>
        </p:spPr>
        <p:txBody>
          <a:bodyPr wrap="square" lIns="0" tIns="0" rIns="0" bIns="0" rtlCol="0" anchor="ctr">
            <a:spAutoFit/>
          </a:bodyPr>
          <a:lstStyle/>
          <a:p>
            <a:pPr indent="0" marL="0">
              <a:buNone/>
            </a:pPr>
            <a:r>
              <a:rPr lang="en-US" sz="1125" b="1" dirty="0">
                <a:solidFill>
                  <a:srgbClr val="F1F5F9"/>
                </a:solidFill>
                <a:latin typeface="Segoe UI" pitchFamily="34" charset="0"/>
                <a:ea typeface="Segoe UI" pitchFamily="34" charset="-122"/>
                <a:cs typeface="Segoe UI" pitchFamily="34" charset="-120"/>
              </a:rPr>
              <a:t>Running With Packages</a:t>
            </a:r>
            <a:endParaRPr lang="en-US" sz="1125" dirty="0"/>
          </a:p>
        </p:txBody>
      </p:sp>
      <p:sp>
        <p:nvSpPr>
          <p:cNvPr id="71" name="Shape 60"/>
          <p:cNvSpPr/>
          <p:nvPr/>
        </p:nvSpPr>
        <p:spPr>
          <a:xfrm>
            <a:off x="4972050" y="3686175"/>
            <a:ext cx="3429000" cy="1042988"/>
          </a:xfrm>
          <a:prstGeom prst="rect">
            <a:avLst/>
          </a:prstGeom>
          <a:solidFill>
            <a:srgbClr val="1E293B">
              <a:alpha val="80000"/>
            </a:srgbClr>
          </a:solidFill>
          <a:ln w="99">
            <a:solidFill>
              <a:srgbClr val="60A5FA">
                <a:alpha val="30000"/>
              </a:srgbClr>
            </a:solidFill>
            <a:prstDash val="solid"/>
          </a:ln>
        </p:spPr>
      </p:sp>
      <p:sp>
        <p:nvSpPr>
          <p:cNvPr id="72" name="Text 61"/>
          <p:cNvSpPr/>
          <p:nvPr/>
        </p:nvSpPr>
        <p:spPr>
          <a:xfrm>
            <a:off x="5057775" y="3827264"/>
            <a:ext cx="1460422" cy="96441"/>
          </a:xfrm>
          <a:prstGeom prst="rect">
            <a:avLst/>
          </a:prstGeom>
          <a:noFill/>
          <a:ln/>
        </p:spPr>
        <p:txBody>
          <a:bodyPr wrap="square" lIns="0" tIns="0" rIns="0" bIns="0" rtlCol="0" anchor="ctr">
            <a:spAutoFit/>
          </a:bodyPr>
          <a:lstStyle/>
          <a:p>
            <a:pPr indent="0" marL="0">
              <a:buNone/>
            </a:pPr>
            <a:r>
              <a:rPr lang="en-US" sz="675" dirty="0">
                <a:solidFill>
                  <a:srgbClr val="DBEAFE"/>
                </a:solidFill>
                <a:latin typeface="Consolas" pitchFamily="34" charset="0"/>
                <a:ea typeface="Consolas" pitchFamily="34" charset="-122"/>
                <a:cs typeface="Consolas" pitchFamily="34" charset="-120"/>
              </a:rPr>
              <a:t># Compile from project root</a:t>
            </a:r>
            <a:endParaRPr lang="en-US" sz="675" dirty="0"/>
          </a:p>
        </p:txBody>
      </p:sp>
      <p:sp>
        <p:nvSpPr>
          <p:cNvPr id="73" name="Text 62"/>
          <p:cNvSpPr/>
          <p:nvPr/>
        </p:nvSpPr>
        <p:spPr>
          <a:xfrm>
            <a:off x="5057775" y="3998714"/>
            <a:ext cx="2077743" cy="96441"/>
          </a:xfrm>
          <a:prstGeom prst="rect">
            <a:avLst/>
          </a:prstGeom>
          <a:noFill/>
          <a:ln/>
        </p:spPr>
        <p:txBody>
          <a:bodyPr wrap="square" lIns="0" tIns="0" rIns="0" bIns="0" rtlCol="0" anchor="ctr">
            <a:spAutoFit/>
          </a:bodyPr>
          <a:lstStyle/>
          <a:p>
            <a:pPr indent="0" marL="0">
              <a:buNone/>
            </a:pPr>
            <a:r>
              <a:rPr lang="en-US" sz="675" dirty="0">
                <a:solidFill>
                  <a:srgbClr val="DBEAFE"/>
                </a:solidFill>
                <a:latin typeface="Consolas" pitchFamily="34" charset="0"/>
                <a:ea typeface="Consolas" pitchFamily="34" charset="-122"/>
                <a:cs typeface="Consolas" pitchFamily="34" charset="-120"/>
              </a:rPr>
              <a:t>javac com/example/myapp/HelloWorld.java</a:t>
            </a:r>
            <a:endParaRPr lang="en-US" sz="675" dirty="0"/>
          </a:p>
        </p:txBody>
      </p:sp>
      <p:sp>
        <p:nvSpPr>
          <p:cNvPr id="74" name="Text 63"/>
          <p:cNvSpPr/>
          <p:nvPr/>
        </p:nvSpPr>
        <p:spPr>
          <a:xfrm>
            <a:off x="5057775" y="4341614"/>
            <a:ext cx="1254649" cy="96441"/>
          </a:xfrm>
          <a:prstGeom prst="rect">
            <a:avLst/>
          </a:prstGeom>
          <a:noFill/>
          <a:ln/>
        </p:spPr>
        <p:txBody>
          <a:bodyPr wrap="none" lIns="0" tIns="0" rIns="0" bIns="0" rtlCol="0" anchor="ctr">
            <a:spAutoFit/>
          </a:bodyPr>
          <a:lstStyle/>
          <a:p>
            <a:pPr indent="0" marL="0">
              <a:buNone/>
            </a:pPr>
            <a:r>
              <a:rPr lang="en-US" sz="675" dirty="0">
                <a:solidFill>
                  <a:srgbClr val="DBEAFE"/>
                </a:solidFill>
                <a:latin typeface="Consolas" pitchFamily="34" charset="0"/>
                <a:ea typeface="Consolas" pitchFamily="34" charset="-122"/>
                <a:cs typeface="Consolas" pitchFamily="34" charset="-120"/>
              </a:rPr>
              <a:t># Run from project root</a:t>
            </a:r>
            <a:endParaRPr lang="en-US" sz="675" dirty="0"/>
          </a:p>
        </p:txBody>
      </p:sp>
      <p:sp>
        <p:nvSpPr>
          <p:cNvPr id="75" name="Text 64"/>
          <p:cNvSpPr/>
          <p:nvPr/>
        </p:nvSpPr>
        <p:spPr>
          <a:xfrm>
            <a:off x="5057775" y="4513064"/>
            <a:ext cx="1769083" cy="96441"/>
          </a:xfrm>
          <a:prstGeom prst="rect">
            <a:avLst/>
          </a:prstGeom>
          <a:noFill/>
          <a:ln/>
        </p:spPr>
        <p:txBody>
          <a:bodyPr wrap="square" lIns="0" tIns="0" rIns="0" bIns="0" rtlCol="0" anchor="ctr">
            <a:spAutoFit/>
          </a:bodyPr>
          <a:lstStyle/>
          <a:p>
            <a:pPr indent="0" marL="0">
              <a:buNone/>
            </a:pPr>
            <a:r>
              <a:rPr lang="en-US" sz="675" dirty="0">
                <a:solidFill>
                  <a:srgbClr val="DBEAFE"/>
                </a:solidFill>
                <a:latin typeface="Consolas" pitchFamily="34" charset="0"/>
                <a:ea typeface="Consolas" pitchFamily="34" charset="-122"/>
                <a:cs typeface="Consolas" pitchFamily="34" charset="-120"/>
              </a:rPr>
              <a:t>java com.example.myapp.HelloWorld</a:t>
            </a:r>
            <a:endParaRPr lang="en-US" sz="675" dirty="0"/>
          </a:p>
        </p:txBody>
      </p:sp>
      <p:sp>
        <p:nvSpPr>
          <p:cNvPr id="76" name="Text 65"/>
          <p:cNvSpPr/>
          <p:nvPr/>
        </p:nvSpPr>
        <p:spPr>
          <a:xfrm>
            <a:off x="4972050" y="4772025"/>
            <a:ext cx="3500438" cy="142875"/>
          </a:xfrm>
          <a:prstGeom prst="rect">
            <a:avLst/>
          </a:prstGeom>
          <a:noFill/>
          <a:ln/>
        </p:spPr>
        <p:txBody>
          <a:bodyPr wrap="square" lIns="0" tIns="0" rIns="0" bIns="0" rtlCol="0" anchor="ctr">
            <a:spAutoFit/>
          </a:bodyPr>
          <a:lstStyle/>
          <a:p>
            <a:pPr indent="0" marL="0">
              <a:buNone/>
            </a:pPr>
            <a:r>
              <a:rPr lang="en-US" sz="788" dirty="0">
                <a:solidFill>
                  <a:srgbClr val="F1F5F9"/>
                </a:solidFill>
                <a:latin typeface="Segoe UI" pitchFamily="34" charset="0"/>
                <a:ea typeface="Segoe UI" pitchFamily="34" charset="-122"/>
                <a:cs typeface="Segoe UI" pitchFamily="34" charset="-120"/>
              </a:rPr>
              <a:t>Note: Use dots (.) in the package path when running</a:t>
            </a:r>
            <a:endParaRPr lang="en-US" sz="788" dirty="0"/>
          </a:p>
        </p:txBody>
      </p:sp>
      <p:sp>
        <p:nvSpPr>
          <p:cNvPr id="77" name="Shape 66"/>
          <p:cNvSpPr/>
          <p:nvPr/>
        </p:nvSpPr>
        <p:spPr>
          <a:xfrm>
            <a:off x="4857750" y="5143500"/>
            <a:ext cx="3657600" cy="1928813"/>
          </a:xfrm>
          <a:prstGeom prst="rect">
            <a:avLst/>
          </a:prstGeom>
          <a:solidFill>
            <a:srgbClr val="1E3A8A">
              <a:alpha val="30000"/>
            </a:srgbClr>
          </a:solidFill>
          <a:ln/>
        </p:spPr>
      </p:sp>
      <p:sp>
        <p:nvSpPr>
          <p:cNvPr id="78" name="Text 67"/>
          <p:cNvSpPr/>
          <p:nvPr/>
        </p:nvSpPr>
        <p:spPr>
          <a:xfrm>
            <a:off x="4972050" y="5257800"/>
            <a:ext cx="3500438" cy="200025"/>
          </a:xfrm>
          <a:prstGeom prst="rect">
            <a:avLst/>
          </a:prstGeom>
          <a:noFill/>
          <a:ln/>
        </p:spPr>
        <p:txBody>
          <a:bodyPr wrap="square" lIns="0" tIns="0" rIns="0" bIns="0" rtlCol="0" anchor="ctr">
            <a:spAutoFit/>
          </a:bodyPr>
          <a:lstStyle/>
          <a:p>
            <a:pPr indent="0" marL="0">
              <a:buNone/>
            </a:pPr>
            <a:r>
              <a:rPr lang="en-US" sz="1125" b="1" dirty="0">
                <a:solidFill>
                  <a:srgbClr val="F1F5F9"/>
                </a:solidFill>
                <a:latin typeface="Segoe UI" pitchFamily="34" charset="0"/>
                <a:ea typeface="Segoe UI" pitchFamily="34" charset="-122"/>
                <a:cs typeface="Segoe UI" pitchFamily="34" charset="-120"/>
              </a:rPr>
              <a:t>Command-line Arguments</a:t>
            </a:r>
            <a:endParaRPr lang="en-US" sz="1125" dirty="0"/>
          </a:p>
        </p:txBody>
      </p:sp>
      <p:sp>
        <p:nvSpPr>
          <p:cNvPr id="79" name="Shape 68"/>
          <p:cNvSpPr/>
          <p:nvPr/>
        </p:nvSpPr>
        <p:spPr>
          <a:xfrm>
            <a:off x="4972050" y="5514975"/>
            <a:ext cx="3429000" cy="1385888"/>
          </a:xfrm>
          <a:prstGeom prst="rect">
            <a:avLst/>
          </a:prstGeom>
          <a:solidFill>
            <a:srgbClr val="1E293B">
              <a:alpha val="80000"/>
            </a:srgbClr>
          </a:solidFill>
          <a:ln w="99">
            <a:solidFill>
              <a:srgbClr val="60A5FA">
                <a:alpha val="30000"/>
              </a:srgbClr>
            </a:solidFill>
            <a:prstDash val="solid"/>
          </a:ln>
        </p:spPr>
      </p:sp>
      <p:sp>
        <p:nvSpPr>
          <p:cNvPr id="80" name="Text 69"/>
          <p:cNvSpPr/>
          <p:nvPr/>
        </p:nvSpPr>
        <p:spPr>
          <a:xfrm>
            <a:off x="5057775" y="5656064"/>
            <a:ext cx="1100305" cy="96441"/>
          </a:xfrm>
          <a:prstGeom prst="rect">
            <a:avLst/>
          </a:prstGeom>
          <a:noFill/>
          <a:ln/>
        </p:spPr>
        <p:txBody>
          <a:bodyPr wrap="none" lIns="0" tIns="0" rIns="0" bIns="0" rtlCol="0" anchor="ctr">
            <a:spAutoFit/>
          </a:bodyPr>
          <a:lstStyle/>
          <a:p>
            <a:pPr indent="0" marL="0">
              <a:buNone/>
            </a:pPr>
            <a:r>
              <a:rPr lang="en-US" sz="675" dirty="0">
                <a:solidFill>
                  <a:srgbClr val="DBEAFE"/>
                </a:solidFill>
                <a:latin typeface="Consolas" pitchFamily="34" charset="0"/>
                <a:ea typeface="Consolas" pitchFamily="34" charset="-122"/>
                <a:cs typeface="Consolas" pitchFamily="34" charset="-120"/>
              </a:rPr>
              <a:t># Run with arguments</a:t>
            </a:r>
            <a:endParaRPr lang="en-US" sz="675" dirty="0"/>
          </a:p>
        </p:txBody>
      </p:sp>
      <p:sp>
        <p:nvSpPr>
          <p:cNvPr id="81" name="Text 70"/>
          <p:cNvSpPr/>
          <p:nvPr/>
        </p:nvSpPr>
        <p:spPr>
          <a:xfrm>
            <a:off x="5057775" y="5827514"/>
            <a:ext cx="1614739" cy="96441"/>
          </a:xfrm>
          <a:prstGeom prst="rect">
            <a:avLst/>
          </a:prstGeom>
          <a:noFill/>
          <a:ln/>
        </p:spPr>
        <p:txBody>
          <a:bodyPr wrap="square" lIns="0" tIns="0" rIns="0" bIns="0" rtlCol="0" anchor="ctr">
            <a:spAutoFit/>
          </a:bodyPr>
          <a:lstStyle/>
          <a:p>
            <a:pPr indent="0" marL="0">
              <a:buNone/>
            </a:pPr>
            <a:r>
              <a:rPr lang="en-US" sz="675" dirty="0">
                <a:solidFill>
                  <a:srgbClr val="DBEAFE"/>
                </a:solidFill>
                <a:latin typeface="Consolas" pitchFamily="34" charset="0"/>
                <a:ea typeface="Consolas" pitchFamily="34" charset="-122"/>
                <a:cs typeface="Consolas" pitchFamily="34" charset="-120"/>
              </a:rPr>
              <a:t>java HelloWorld arg1 arg2 arg3</a:t>
            </a:r>
            <a:endParaRPr lang="en-US" sz="675" dirty="0"/>
          </a:p>
        </p:txBody>
      </p:sp>
      <p:sp>
        <p:nvSpPr>
          <p:cNvPr id="82" name="Text 71"/>
          <p:cNvSpPr/>
          <p:nvPr/>
        </p:nvSpPr>
        <p:spPr>
          <a:xfrm>
            <a:off x="5057775" y="6170414"/>
            <a:ext cx="1254649" cy="96441"/>
          </a:xfrm>
          <a:prstGeom prst="rect">
            <a:avLst/>
          </a:prstGeom>
          <a:noFill/>
          <a:ln/>
        </p:spPr>
        <p:txBody>
          <a:bodyPr wrap="none" lIns="0" tIns="0" rIns="0" bIns="0" rtlCol="0" anchor="ctr">
            <a:spAutoFit/>
          </a:bodyPr>
          <a:lstStyle/>
          <a:p>
            <a:pPr indent="0" marL="0">
              <a:buNone/>
            </a:pPr>
            <a:r>
              <a:rPr lang="en-US" sz="675" dirty="0">
                <a:solidFill>
                  <a:srgbClr val="DBEAFE"/>
                </a:solidFill>
                <a:latin typeface="Consolas" pitchFamily="34" charset="0"/>
                <a:ea typeface="Consolas" pitchFamily="34" charset="-122"/>
                <a:cs typeface="Consolas" pitchFamily="34" charset="-120"/>
              </a:rPr>
              <a:t># Access in main method</a:t>
            </a:r>
            <a:endParaRPr lang="en-US" sz="675" dirty="0"/>
          </a:p>
        </p:txBody>
      </p:sp>
      <p:sp>
        <p:nvSpPr>
          <p:cNvPr id="83" name="Text 72"/>
          <p:cNvSpPr/>
          <p:nvPr/>
        </p:nvSpPr>
        <p:spPr>
          <a:xfrm>
            <a:off x="5057775" y="6341864"/>
            <a:ext cx="2129172" cy="96441"/>
          </a:xfrm>
          <a:prstGeom prst="rect">
            <a:avLst/>
          </a:prstGeom>
          <a:noFill/>
          <a:ln/>
        </p:spPr>
        <p:txBody>
          <a:bodyPr wrap="square" lIns="0" tIns="0" rIns="0" bIns="0" rtlCol="0" anchor="ctr">
            <a:spAutoFit/>
          </a:bodyPr>
          <a:lstStyle/>
          <a:p>
            <a:pPr indent="0" marL="0">
              <a:buNone/>
            </a:pPr>
            <a:r>
              <a:rPr lang="en-US" sz="675" dirty="0">
                <a:solidFill>
                  <a:srgbClr val="DBEAFE"/>
                </a:solidFill>
                <a:latin typeface="Consolas" pitchFamily="34" charset="0"/>
                <a:ea typeface="Consolas" pitchFamily="34" charset="-122"/>
                <a:cs typeface="Consolas" pitchFamily="34" charset="-120"/>
              </a:rPr>
              <a:t>public static void main(String[] args) {</a:t>
            </a:r>
            <a:endParaRPr lang="en-US" sz="675" dirty="0"/>
          </a:p>
        </p:txBody>
      </p:sp>
      <p:sp>
        <p:nvSpPr>
          <p:cNvPr id="84" name="Text 73"/>
          <p:cNvSpPr/>
          <p:nvPr/>
        </p:nvSpPr>
        <p:spPr>
          <a:xfrm>
            <a:off x="5057775" y="6513314"/>
            <a:ext cx="2489290" cy="96441"/>
          </a:xfrm>
          <a:prstGeom prst="rect">
            <a:avLst/>
          </a:prstGeom>
          <a:noFill/>
          <a:ln/>
        </p:spPr>
        <p:txBody>
          <a:bodyPr wrap="square" lIns="0" tIns="0" rIns="0" bIns="0" rtlCol="0" anchor="ctr">
            <a:spAutoFit/>
          </a:bodyPr>
          <a:lstStyle/>
          <a:p>
            <a:pPr indent="0" marL="0">
              <a:buNone/>
            </a:pPr>
            <a:r>
              <a:rPr lang="en-US" sz="675" dirty="0">
                <a:solidFill>
                  <a:srgbClr val="DBEAFE"/>
                </a:solidFill>
                <a:latin typeface="Consolas" pitchFamily="34" charset="0"/>
                <a:ea typeface="Consolas" pitchFamily="34" charset="-122"/>
                <a:cs typeface="Consolas" pitchFamily="34" charset="-120"/>
              </a:rPr>
              <a:t>// args[0] is "arg1", args[1] is "arg2", etc.</a:t>
            </a:r>
            <a:endParaRPr lang="en-US" sz="675" dirty="0"/>
          </a:p>
        </p:txBody>
      </p:sp>
      <p:sp>
        <p:nvSpPr>
          <p:cNvPr id="85" name="Text 74"/>
          <p:cNvSpPr/>
          <p:nvPr/>
        </p:nvSpPr>
        <p:spPr>
          <a:xfrm>
            <a:off x="5057775" y="6684764"/>
            <a:ext cx="122895" cy="96441"/>
          </a:xfrm>
          <a:prstGeom prst="rect">
            <a:avLst/>
          </a:prstGeom>
          <a:noFill/>
          <a:ln/>
        </p:spPr>
        <p:txBody>
          <a:bodyPr wrap="none" lIns="0" tIns="0" rIns="0" bIns="0" rtlCol="0" anchor="ctr">
            <a:spAutoFit/>
          </a:bodyPr>
          <a:lstStyle/>
          <a:p>
            <a:pPr indent="0" marL="0">
              <a:buNone/>
            </a:pPr>
            <a:r>
              <a:rPr lang="en-US" sz="675" dirty="0">
                <a:solidFill>
                  <a:srgbClr val="DBEAFE"/>
                </a:solidFill>
                <a:latin typeface="Consolas" pitchFamily="34" charset="0"/>
                <a:ea typeface="Consolas" pitchFamily="34" charset="-122"/>
                <a:cs typeface="Consolas" pitchFamily="34" charset="-120"/>
              </a:rPr>
              <a:t>}</a:t>
            </a:r>
            <a:endParaRPr lang="en-US" sz="675" dirty="0"/>
          </a:p>
        </p:txBody>
      </p:sp>
      <p:sp>
        <p:nvSpPr>
          <p:cNvPr id="86" name="Shape 75"/>
          <p:cNvSpPr/>
          <p:nvPr/>
        </p:nvSpPr>
        <p:spPr>
          <a:xfrm>
            <a:off x="4686300" y="7400925"/>
            <a:ext cx="4000500" cy="6115050"/>
          </a:xfrm>
          <a:prstGeom prst="rect">
            <a:avLst/>
          </a:prstGeom>
          <a:solidFill>
            <a:srgbClr val="FFFFFF">
              <a:alpha val="10000"/>
            </a:srgbClr>
          </a:solidFill>
          <a:ln w="99">
            <a:solidFill>
              <a:srgbClr val="60A5FA">
                <a:alpha val="30000"/>
              </a:srgbClr>
            </a:solidFill>
            <a:prstDash val="solid"/>
          </a:ln>
        </p:spPr>
      </p:sp>
      <p:sp>
        <p:nvSpPr>
          <p:cNvPr id="87" name="Text 76"/>
          <p:cNvSpPr/>
          <p:nvPr/>
        </p:nvSpPr>
        <p:spPr>
          <a:xfrm>
            <a:off x="4857750" y="7572375"/>
            <a:ext cx="3729038" cy="228600"/>
          </a:xfrm>
          <a:prstGeom prst="rect">
            <a:avLst/>
          </a:prstGeom>
          <a:noFill/>
          <a:ln/>
        </p:spPr>
        <p:txBody>
          <a:bodyPr wrap="square" lIns="0" tIns="0" rIns="0" bIns="0" rtlCol="0" anchor="ctr">
            <a:spAutoFit/>
          </a:bodyPr>
          <a:lstStyle/>
          <a:p>
            <a:pPr indent="0" marL="0">
              <a:buNone/>
            </a:pPr>
            <a:r>
              <a:rPr lang="en-US" sz="1350" b="1" dirty="0">
                <a:solidFill>
                  <a:srgbClr val="BFDBFE"/>
                </a:solidFill>
                <a:latin typeface="Segoe UI" pitchFamily="34" charset="0"/>
                <a:ea typeface="Segoe UI" pitchFamily="34" charset="-122"/>
                <a:cs typeface="Segoe UI" pitchFamily="34" charset="-120"/>
              </a:rPr>
              <a:t>VS Code Run Configurations</a:t>
            </a:r>
            <a:endParaRPr lang="en-US" sz="1350" dirty="0"/>
          </a:p>
        </p:txBody>
      </p:sp>
      <p:sp>
        <p:nvSpPr>
          <p:cNvPr id="88" name="Shape 77"/>
          <p:cNvSpPr/>
          <p:nvPr/>
        </p:nvSpPr>
        <p:spPr>
          <a:xfrm>
            <a:off x="4857750" y="7915275"/>
            <a:ext cx="3657600" cy="1314450"/>
          </a:xfrm>
          <a:prstGeom prst="rect">
            <a:avLst/>
          </a:prstGeom>
          <a:solidFill>
            <a:srgbClr val="1E3A8A">
              <a:alpha val="30000"/>
            </a:srgbClr>
          </a:solidFill>
          <a:ln/>
        </p:spPr>
      </p:sp>
      <p:sp>
        <p:nvSpPr>
          <p:cNvPr id="89" name="Text 78"/>
          <p:cNvSpPr/>
          <p:nvPr/>
        </p:nvSpPr>
        <p:spPr>
          <a:xfrm>
            <a:off x="4972050" y="8029575"/>
            <a:ext cx="3500438" cy="200025"/>
          </a:xfrm>
          <a:prstGeom prst="rect">
            <a:avLst/>
          </a:prstGeom>
          <a:noFill/>
          <a:ln/>
        </p:spPr>
        <p:txBody>
          <a:bodyPr wrap="square" lIns="0" tIns="0" rIns="0" bIns="0" rtlCol="0" anchor="ctr">
            <a:spAutoFit/>
          </a:bodyPr>
          <a:lstStyle/>
          <a:p>
            <a:pPr indent="0" marL="0">
              <a:buNone/>
            </a:pPr>
            <a:r>
              <a:rPr lang="en-US" sz="1125" b="1" dirty="0">
                <a:solidFill>
                  <a:srgbClr val="F1F5F9"/>
                </a:solidFill>
                <a:latin typeface="Segoe UI" pitchFamily="34" charset="0"/>
                <a:ea typeface="Segoe UI" pitchFamily="34" charset="-122"/>
                <a:cs typeface="Segoe UI" pitchFamily="34" charset="-120"/>
              </a:rPr>
              <a:t>Creating a Run Configuration</a:t>
            </a:r>
            <a:endParaRPr lang="en-US" sz="1125" dirty="0"/>
          </a:p>
        </p:txBody>
      </p:sp>
      <p:sp>
        <p:nvSpPr>
          <p:cNvPr id="90" name="Text 79"/>
          <p:cNvSpPr/>
          <p:nvPr/>
        </p:nvSpPr>
        <p:spPr>
          <a:xfrm>
            <a:off x="5086350" y="8286750"/>
            <a:ext cx="3386138" cy="142875"/>
          </a:xfrm>
          <a:prstGeom prst="rect">
            <a:avLst/>
          </a:prstGeom>
          <a:noFill/>
          <a:ln/>
        </p:spPr>
        <p:txBody>
          <a:bodyPr wrap="square" lIns="0" tIns="0" rIns="0" bIns="0" rtlCol="0" anchor="ctr">
            <a:spAutoFit/>
          </a:bodyPr>
          <a:lstStyle/>
          <a:p>
            <a:pPr algn="l" indent="0" marL="0">
              <a:buNone/>
            </a:pPr>
            <a:r>
              <a:rPr lang="en-US" sz="788" dirty="0">
                <a:solidFill>
                  <a:srgbClr val="F1F5F9"/>
                </a:solidFill>
                <a:latin typeface="Segoe UI" pitchFamily="34" charset="0"/>
                <a:ea typeface="Segoe UI" pitchFamily="34" charset="-122"/>
                <a:cs typeface="Segoe UI" pitchFamily="34" charset="-120"/>
              </a:rPr>
              <a:t>Click on "Run and Debug" in the sidebar (or press Ctrl+Shift+D)</a:t>
            </a:r>
            <a:endParaRPr lang="en-US" sz="788" dirty="0"/>
          </a:p>
        </p:txBody>
      </p:sp>
      <p:sp>
        <p:nvSpPr>
          <p:cNvPr id="91" name="Text 80"/>
          <p:cNvSpPr/>
          <p:nvPr/>
        </p:nvSpPr>
        <p:spPr>
          <a:xfrm>
            <a:off x="5086350" y="8458200"/>
            <a:ext cx="3386138" cy="142875"/>
          </a:xfrm>
          <a:prstGeom prst="rect">
            <a:avLst/>
          </a:prstGeom>
          <a:noFill/>
          <a:ln/>
        </p:spPr>
        <p:txBody>
          <a:bodyPr wrap="square" lIns="0" tIns="0" rIns="0" bIns="0" rtlCol="0" anchor="ctr">
            <a:spAutoFit/>
          </a:bodyPr>
          <a:lstStyle/>
          <a:p>
            <a:pPr algn="l" indent="0" marL="0">
              <a:buNone/>
            </a:pPr>
            <a:r>
              <a:rPr lang="en-US" sz="788" dirty="0">
                <a:solidFill>
                  <a:srgbClr val="F1F5F9"/>
                </a:solidFill>
                <a:latin typeface="Segoe UI" pitchFamily="34" charset="0"/>
                <a:ea typeface="Segoe UI" pitchFamily="34" charset="-122"/>
                <a:cs typeface="Segoe UI" pitchFamily="34" charset="-120"/>
              </a:rPr>
              <a:t>Click "create a launch.json file"</a:t>
            </a:r>
            <a:endParaRPr lang="en-US" sz="788" dirty="0"/>
          </a:p>
        </p:txBody>
      </p:sp>
      <p:sp>
        <p:nvSpPr>
          <p:cNvPr id="92" name="Text 81"/>
          <p:cNvSpPr/>
          <p:nvPr/>
        </p:nvSpPr>
        <p:spPr>
          <a:xfrm>
            <a:off x="5086350" y="8629650"/>
            <a:ext cx="3386138" cy="142875"/>
          </a:xfrm>
          <a:prstGeom prst="rect">
            <a:avLst/>
          </a:prstGeom>
          <a:noFill/>
          <a:ln/>
        </p:spPr>
        <p:txBody>
          <a:bodyPr wrap="square" lIns="0" tIns="0" rIns="0" bIns="0" rtlCol="0" anchor="ctr">
            <a:spAutoFit/>
          </a:bodyPr>
          <a:lstStyle/>
          <a:p>
            <a:pPr algn="l" indent="0" marL="0">
              <a:buNone/>
            </a:pPr>
            <a:r>
              <a:rPr lang="en-US" sz="788" dirty="0">
                <a:solidFill>
                  <a:srgbClr val="F1F5F9"/>
                </a:solidFill>
                <a:latin typeface="Segoe UI" pitchFamily="34" charset="0"/>
                <a:ea typeface="Segoe UI" pitchFamily="34" charset="-122"/>
                <a:cs typeface="Segoe UI" pitchFamily="34" charset="-120"/>
              </a:rPr>
              <a:t>Select "Java"</a:t>
            </a:r>
            <a:endParaRPr lang="en-US" sz="788" dirty="0"/>
          </a:p>
        </p:txBody>
      </p:sp>
      <p:sp>
        <p:nvSpPr>
          <p:cNvPr id="93" name="Text 82"/>
          <p:cNvSpPr/>
          <p:nvPr/>
        </p:nvSpPr>
        <p:spPr>
          <a:xfrm>
            <a:off x="5086350" y="8801100"/>
            <a:ext cx="3386138" cy="142875"/>
          </a:xfrm>
          <a:prstGeom prst="rect">
            <a:avLst/>
          </a:prstGeom>
          <a:noFill/>
          <a:ln/>
        </p:spPr>
        <p:txBody>
          <a:bodyPr wrap="square" lIns="0" tIns="0" rIns="0" bIns="0" rtlCol="0" anchor="ctr">
            <a:spAutoFit/>
          </a:bodyPr>
          <a:lstStyle/>
          <a:p>
            <a:pPr algn="l" indent="0" marL="0">
              <a:buNone/>
            </a:pPr>
            <a:r>
              <a:rPr lang="en-US" sz="788" dirty="0">
                <a:solidFill>
                  <a:srgbClr val="F1F5F9"/>
                </a:solidFill>
                <a:latin typeface="Segoe UI" pitchFamily="34" charset="0"/>
                <a:ea typeface="Segoe UI" pitchFamily="34" charset="-122"/>
                <a:cs typeface="Segoe UI" pitchFamily="34" charset="-120"/>
              </a:rPr>
              <a:t>Choose a configuration template (e.g., "Java: Current File")</a:t>
            </a:r>
            <a:endParaRPr lang="en-US" sz="788" dirty="0"/>
          </a:p>
        </p:txBody>
      </p:sp>
      <p:sp>
        <p:nvSpPr>
          <p:cNvPr id="94" name="Text 83"/>
          <p:cNvSpPr/>
          <p:nvPr/>
        </p:nvSpPr>
        <p:spPr>
          <a:xfrm>
            <a:off x="5086350" y="8972550"/>
            <a:ext cx="3386138" cy="142875"/>
          </a:xfrm>
          <a:prstGeom prst="rect">
            <a:avLst/>
          </a:prstGeom>
          <a:noFill/>
          <a:ln/>
        </p:spPr>
        <p:txBody>
          <a:bodyPr wrap="square" lIns="0" tIns="0" rIns="0" bIns="0" rtlCol="0" anchor="ctr">
            <a:spAutoFit/>
          </a:bodyPr>
          <a:lstStyle/>
          <a:p>
            <a:pPr algn="l" indent="0" marL="0">
              <a:buNone/>
            </a:pPr>
            <a:r>
              <a:rPr lang="en-US" sz="788" dirty="0">
                <a:solidFill>
                  <a:srgbClr val="F1F5F9"/>
                </a:solidFill>
                <a:latin typeface="Segoe UI" pitchFamily="34" charset="0"/>
                <a:ea typeface="Segoe UI" pitchFamily="34" charset="-122"/>
                <a:cs typeface="Segoe UI" pitchFamily="34" charset="-120"/>
              </a:rPr>
              <a:t>VS Code creates a launch.json file in the .vscode folder</a:t>
            </a:r>
            <a:endParaRPr lang="en-US" sz="788" dirty="0"/>
          </a:p>
        </p:txBody>
      </p:sp>
      <p:sp>
        <p:nvSpPr>
          <p:cNvPr id="95" name="Shape 84"/>
          <p:cNvSpPr/>
          <p:nvPr/>
        </p:nvSpPr>
        <p:spPr>
          <a:xfrm>
            <a:off x="4857750" y="9344025"/>
            <a:ext cx="3657600" cy="2900363"/>
          </a:xfrm>
          <a:prstGeom prst="rect">
            <a:avLst/>
          </a:prstGeom>
          <a:solidFill>
            <a:srgbClr val="1E3A8A">
              <a:alpha val="30000"/>
            </a:srgbClr>
          </a:solidFill>
          <a:ln/>
        </p:spPr>
      </p:sp>
      <p:sp>
        <p:nvSpPr>
          <p:cNvPr id="96" name="Text 85"/>
          <p:cNvSpPr/>
          <p:nvPr/>
        </p:nvSpPr>
        <p:spPr>
          <a:xfrm>
            <a:off x="4972050" y="9458325"/>
            <a:ext cx="3500438" cy="200025"/>
          </a:xfrm>
          <a:prstGeom prst="rect">
            <a:avLst/>
          </a:prstGeom>
          <a:noFill/>
          <a:ln/>
        </p:spPr>
        <p:txBody>
          <a:bodyPr wrap="square" lIns="0" tIns="0" rIns="0" bIns="0" rtlCol="0" anchor="ctr">
            <a:spAutoFit/>
          </a:bodyPr>
          <a:lstStyle/>
          <a:p>
            <a:pPr indent="0" marL="0">
              <a:buNone/>
            </a:pPr>
            <a:r>
              <a:rPr lang="en-US" sz="1125" b="1" dirty="0">
                <a:solidFill>
                  <a:srgbClr val="F1F5F9"/>
                </a:solidFill>
                <a:latin typeface="Segoe UI" pitchFamily="34" charset="0"/>
                <a:ea typeface="Segoe UI" pitchFamily="34" charset="-122"/>
                <a:cs typeface="Segoe UI" pitchFamily="34" charset="-120"/>
              </a:rPr>
              <a:t>Sample launch.json</a:t>
            </a:r>
            <a:endParaRPr lang="en-US" sz="1125" dirty="0"/>
          </a:p>
        </p:txBody>
      </p:sp>
      <p:sp>
        <p:nvSpPr>
          <p:cNvPr id="97" name="Shape 86"/>
          <p:cNvSpPr/>
          <p:nvPr/>
        </p:nvSpPr>
        <p:spPr>
          <a:xfrm>
            <a:off x="4972050" y="9715500"/>
            <a:ext cx="3429000" cy="2414588"/>
          </a:xfrm>
          <a:prstGeom prst="rect">
            <a:avLst/>
          </a:prstGeom>
          <a:solidFill>
            <a:srgbClr val="1E293B">
              <a:alpha val="80000"/>
            </a:srgbClr>
          </a:solidFill>
          <a:ln w="99">
            <a:solidFill>
              <a:srgbClr val="60A5FA">
                <a:alpha val="30000"/>
              </a:srgbClr>
            </a:solidFill>
            <a:prstDash val="solid"/>
          </a:ln>
        </p:spPr>
      </p:sp>
      <p:sp>
        <p:nvSpPr>
          <p:cNvPr id="98" name="Text 87"/>
          <p:cNvSpPr/>
          <p:nvPr/>
        </p:nvSpPr>
        <p:spPr>
          <a:xfrm>
            <a:off x="5057775" y="9856589"/>
            <a:ext cx="122895" cy="96441"/>
          </a:xfrm>
          <a:prstGeom prst="rect">
            <a:avLst/>
          </a:prstGeom>
          <a:noFill/>
          <a:ln/>
        </p:spPr>
        <p:txBody>
          <a:bodyPr wrap="none" lIns="0" tIns="0" rIns="0" bIns="0" rtlCol="0" anchor="ctr">
            <a:spAutoFit/>
          </a:bodyPr>
          <a:lstStyle/>
          <a:p>
            <a:pPr indent="0" marL="0">
              <a:buNone/>
            </a:pPr>
            <a:r>
              <a:rPr lang="en-US" sz="675" dirty="0">
                <a:solidFill>
                  <a:srgbClr val="DBEAFE"/>
                </a:solidFill>
                <a:latin typeface="Consolas" pitchFamily="34" charset="0"/>
                <a:ea typeface="Consolas" pitchFamily="34" charset="-122"/>
                <a:cs typeface="Consolas" pitchFamily="34" charset="-120"/>
              </a:rPr>
              <a:t>{</a:t>
            </a:r>
            <a:endParaRPr lang="en-US" sz="675" dirty="0"/>
          </a:p>
        </p:txBody>
      </p:sp>
      <p:sp>
        <p:nvSpPr>
          <p:cNvPr id="99" name="Text 88"/>
          <p:cNvSpPr/>
          <p:nvPr/>
        </p:nvSpPr>
        <p:spPr>
          <a:xfrm>
            <a:off x="5057775" y="10028039"/>
            <a:ext cx="1151762" cy="96441"/>
          </a:xfrm>
          <a:prstGeom prst="rect">
            <a:avLst/>
          </a:prstGeom>
          <a:noFill/>
          <a:ln/>
        </p:spPr>
        <p:txBody>
          <a:bodyPr wrap="none" lIns="0" tIns="0" rIns="0" bIns="0" rtlCol="0" anchor="ctr">
            <a:spAutoFit/>
          </a:bodyPr>
          <a:lstStyle/>
          <a:p>
            <a:pPr indent="0" marL="0">
              <a:buNone/>
            </a:pPr>
            <a:r>
              <a:rPr lang="en-US" sz="675" dirty="0">
                <a:solidFill>
                  <a:srgbClr val="DBEAFE"/>
                </a:solidFill>
                <a:latin typeface="Consolas" pitchFamily="34" charset="0"/>
                <a:ea typeface="Consolas" pitchFamily="34" charset="-122"/>
                <a:cs typeface="Consolas" pitchFamily="34" charset="-120"/>
              </a:rPr>
              <a:t>"version": "0.2.0",</a:t>
            </a:r>
            <a:endParaRPr lang="en-US" sz="675" dirty="0"/>
          </a:p>
        </p:txBody>
      </p:sp>
      <p:sp>
        <p:nvSpPr>
          <p:cNvPr id="100" name="Text 89"/>
          <p:cNvSpPr/>
          <p:nvPr/>
        </p:nvSpPr>
        <p:spPr>
          <a:xfrm>
            <a:off x="5057775" y="10199489"/>
            <a:ext cx="1151762" cy="96441"/>
          </a:xfrm>
          <a:prstGeom prst="rect">
            <a:avLst/>
          </a:prstGeom>
          <a:noFill/>
          <a:ln/>
        </p:spPr>
        <p:txBody>
          <a:bodyPr wrap="none" lIns="0" tIns="0" rIns="0" bIns="0" rtlCol="0" anchor="ctr">
            <a:spAutoFit/>
          </a:bodyPr>
          <a:lstStyle/>
          <a:p>
            <a:pPr indent="0" marL="0">
              <a:buNone/>
            </a:pPr>
            <a:r>
              <a:rPr lang="en-US" sz="675" dirty="0">
                <a:solidFill>
                  <a:srgbClr val="DBEAFE"/>
                </a:solidFill>
                <a:latin typeface="Consolas" pitchFamily="34" charset="0"/>
                <a:ea typeface="Consolas" pitchFamily="34" charset="-122"/>
                <a:cs typeface="Consolas" pitchFamily="34" charset="-120"/>
              </a:rPr>
              <a:t>"configurations": [</a:t>
            </a:r>
            <a:endParaRPr lang="en-US" sz="675" dirty="0"/>
          </a:p>
        </p:txBody>
      </p:sp>
      <p:sp>
        <p:nvSpPr>
          <p:cNvPr id="101" name="Text 90"/>
          <p:cNvSpPr/>
          <p:nvPr/>
        </p:nvSpPr>
        <p:spPr>
          <a:xfrm>
            <a:off x="5057775" y="10370939"/>
            <a:ext cx="328668" cy="96441"/>
          </a:xfrm>
          <a:prstGeom prst="rect">
            <a:avLst/>
          </a:prstGeom>
          <a:noFill/>
          <a:ln/>
        </p:spPr>
        <p:txBody>
          <a:bodyPr wrap="none" lIns="0" tIns="0" rIns="0" bIns="0" rtlCol="0" anchor="ctr">
            <a:spAutoFit/>
          </a:bodyPr>
          <a:lstStyle/>
          <a:p>
            <a:pPr indent="0" marL="0">
              <a:buNone/>
            </a:pPr>
            <a:r>
              <a:rPr lang="en-US" sz="675" dirty="0">
                <a:solidFill>
                  <a:srgbClr val="DBEAFE"/>
                </a:solidFill>
                <a:latin typeface="Consolas" pitchFamily="34" charset="0"/>
                <a:ea typeface="Consolas" pitchFamily="34" charset="-122"/>
                <a:cs typeface="Consolas" pitchFamily="34" charset="-120"/>
              </a:rPr>
              <a:t>{</a:t>
            </a:r>
            <a:endParaRPr lang="en-US" sz="675" dirty="0"/>
          </a:p>
        </p:txBody>
      </p:sp>
      <p:sp>
        <p:nvSpPr>
          <p:cNvPr id="102" name="Text 91"/>
          <p:cNvSpPr/>
          <p:nvPr/>
        </p:nvSpPr>
        <p:spPr>
          <a:xfrm>
            <a:off x="5057775" y="10542389"/>
            <a:ext cx="1151762" cy="96441"/>
          </a:xfrm>
          <a:prstGeom prst="rect">
            <a:avLst/>
          </a:prstGeom>
          <a:noFill/>
          <a:ln/>
        </p:spPr>
        <p:txBody>
          <a:bodyPr wrap="none" lIns="0" tIns="0" rIns="0" bIns="0" rtlCol="0" anchor="ctr">
            <a:spAutoFit/>
          </a:bodyPr>
          <a:lstStyle/>
          <a:p>
            <a:pPr indent="0" marL="0">
              <a:buNone/>
            </a:pPr>
            <a:r>
              <a:rPr lang="en-US" sz="675" dirty="0">
                <a:solidFill>
                  <a:srgbClr val="DBEAFE"/>
                </a:solidFill>
                <a:latin typeface="Consolas" pitchFamily="34" charset="0"/>
                <a:ea typeface="Consolas" pitchFamily="34" charset="-122"/>
                <a:cs typeface="Consolas" pitchFamily="34" charset="-120"/>
              </a:rPr>
              <a:t>"type": "java",</a:t>
            </a:r>
            <a:endParaRPr lang="en-US" sz="675" dirty="0"/>
          </a:p>
        </p:txBody>
      </p:sp>
      <p:sp>
        <p:nvSpPr>
          <p:cNvPr id="103" name="Text 92"/>
          <p:cNvSpPr/>
          <p:nvPr/>
        </p:nvSpPr>
        <p:spPr>
          <a:xfrm>
            <a:off x="5057775" y="10713839"/>
            <a:ext cx="1460422" cy="96441"/>
          </a:xfrm>
          <a:prstGeom prst="rect">
            <a:avLst/>
          </a:prstGeom>
          <a:noFill/>
          <a:ln/>
        </p:spPr>
        <p:txBody>
          <a:bodyPr wrap="square" lIns="0" tIns="0" rIns="0" bIns="0" rtlCol="0" anchor="ctr">
            <a:spAutoFit/>
          </a:bodyPr>
          <a:lstStyle/>
          <a:p>
            <a:pPr indent="0" marL="0">
              <a:buNone/>
            </a:pPr>
            <a:r>
              <a:rPr lang="en-US" sz="675" dirty="0">
                <a:solidFill>
                  <a:srgbClr val="DBEAFE"/>
                </a:solidFill>
                <a:latin typeface="Consolas" pitchFamily="34" charset="0"/>
                <a:ea typeface="Consolas" pitchFamily="34" charset="-122"/>
                <a:cs typeface="Consolas" pitchFamily="34" charset="-120"/>
              </a:rPr>
              <a:t>"name": "HelloWorld",</a:t>
            </a:r>
            <a:endParaRPr lang="en-US" sz="675" dirty="0"/>
          </a:p>
        </p:txBody>
      </p:sp>
      <p:sp>
        <p:nvSpPr>
          <p:cNvPr id="104" name="Text 93"/>
          <p:cNvSpPr/>
          <p:nvPr/>
        </p:nvSpPr>
        <p:spPr>
          <a:xfrm>
            <a:off x="5057775" y="10885289"/>
            <a:ext cx="1408965" cy="96441"/>
          </a:xfrm>
          <a:prstGeom prst="rect">
            <a:avLst/>
          </a:prstGeom>
          <a:noFill/>
          <a:ln/>
        </p:spPr>
        <p:txBody>
          <a:bodyPr wrap="square" lIns="0" tIns="0" rIns="0" bIns="0" rtlCol="0" anchor="ctr">
            <a:spAutoFit/>
          </a:bodyPr>
          <a:lstStyle/>
          <a:p>
            <a:pPr indent="0" marL="0">
              <a:buNone/>
            </a:pPr>
            <a:r>
              <a:rPr lang="en-US" sz="675" dirty="0">
                <a:solidFill>
                  <a:srgbClr val="DBEAFE"/>
                </a:solidFill>
                <a:latin typeface="Consolas" pitchFamily="34" charset="0"/>
                <a:ea typeface="Consolas" pitchFamily="34" charset="-122"/>
                <a:cs typeface="Consolas" pitchFamily="34" charset="-120"/>
              </a:rPr>
              <a:t>"request": "launch",</a:t>
            </a:r>
            <a:endParaRPr lang="en-US" sz="675" dirty="0"/>
          </a:p>
        </p:txBody>
      </p:sp>
      <p:sp>
        <p:nvSpPr>
          <p:cNvPr id="105" name="Text 94"/>
          <p:cNvSpPr/>
          <p:nvPr/>
        </p:nvSpPr>
        <p:spPr>
          <a:xfrm>
            <a:off x="5057775" y="11056739"/>
            <a:ext cx="2643606" cy="96441"/>
          </a:xfrm>
          <a:prstGeom prst="rect">
            <a:avLst/>
          </a:prstGeom>
          <a:noFill/>
          <a:ln/>
        </p:spPr>
        <p:txBody>
          <a:bodyPr wrap="square" lIns="0" tIns="0" rIns="0" bIns="0" rtlCol="0" anchor="ctr">
            <a:spAutoFit/>
          </a:bodyPr>
          <a:lstStyle/>
          <a:p>
            <a:pPr indent="0" marL="0">
              <a:buNone/>
            </a:pPr>
            <a:r>
              <a:rPr lang="en-US" sz="675" dirty="0">
                <a:solidFill>
                  <a:srgbClr val="DBEAFE"/>
                </a:solidFill>
                <a:latin typeface="Consolas" pitchFamily="34" charset="0"/>
                <a:ea typeface="Consolas" pitchFamily="34" charset="-122"/>
                <a:cs typeface="Consolas" pitchFamily="34" charset="-120"/>
              </a:rPr>
              <a:t>"mainClass": "com.example.myapp.HelloWorld",</a:t>
            </a:r>
            <a:endParaRPr lang="en-US" sz="675" dirty="0"/>
          </a:p>
        </p:txBody>
      </p:sp>
      <p:sp>
        <p:nvSpPr>
          <p:cNvPr id="106" name="Text 95"/>
          <p:cNvSpPr/>
          <p:nvPr/>
        </p:nvSpPr>
        <p:spPr>
          <a:xfrm>
            <a:off x="5057775" y="11228189"/>
            <a:ext cx="2232059" cy="96441"/>
          </a:xfrm>
          <a:prstGeom prst="rect">
            <a:avLst/>
          </a:prstGeom>
          <a:noFill/>
          <a:ln/>
        </p:spPr>
        <p:txBody>
          <a:bodyPr wrap="square" lIns="0" tIns="0" rIns="0" bIns="0" rtlCol="0" anchor="ctr">
            <a:spAutoFit/>
          </a:bodyPr>
          <a:lstStyle/>
          <a:p>
            <a:pPr indent="0" marL="0">
              <a:buNone/>
            </a:pPr>
            <a:r>
              <a:rPr lang="en-US" sz="675" dirty="0">
                <a:solidFill>
                  <a:srgbClr val="DBEAFE"/>
                </a:solidFill>
                <a:latin typeface="Consolas" pitchFamily="34" charset="0"/>
                <a:ea typeface="Consolas" pitchFamily="34" charset="-122"/>
                <a:cs typeface="Consolas" pitchFamily="34" charset="-120"/>
              </a:rPr>
              <a:t>"projectName": "MyFirstJavaProject",</a:t>
            </a:r>
            <a:endParaRPr lang="en-US" sz="675" dirty="0"/>
          </a:p>
        </p:txBody>
      </p:sp>
      <p:sp>
        <p:nvSpPr>
          <p:cNvPr id="107" name="Text 96"/>
          <p:cNvSpPr/>
          <p:nvPr/>
        </p:nvSpPr>
        <p:spPr>
          <a:xfrm>
            <a:off x="5057775" y="11399639"/>
            <a:ext cx="1614739" cy="96441"/>
          </a:xfrm>
          <a:prstGeom prst="rect">
            <a:avLst/>
          </a:prstGeom>
          <a:noFill/>
          <a:ln/>
        </p:spPr>
        <p:txBody>
          <a:bodyPr wrap="square" lIns="0" tIns="0" rIns="0" bIns="0" rtlCol="0" anchor="ctr">
            <a:spAutoFit/>
          </a:bodyPr>
          <a:lstStyle/>
          <a:p>
            <a:pPr indent="0" marL="0">
              <a:buNone/>
            </a:pPr>
            <a:r>
              <a:rPr lang="en-US" sz="675" dirty="0">
                <a:solidFill>
                  <a:srgbClr val="DBEAFE"/>
                </a:solidFill>
                <a:latin typeface="Consolas" pitchFamily="34" charset="0"/>
                <a:ea typeface="Consolas" pitchFamily="34" charset="-122"/>
                <a:cs typeface="Consolas" pitchFamily="34" charset="-120"/>
              </a:rPr>
              <a:t>"args": ["arg1", "arg2"]</a:t>
            </a:r>
            <a:endParaRPr lang="en-US" sz="675" dirty="0"/>
          </a:p>
        </p:txBody>
      </p:sp>
      <p:sp>
        <p:nvSpPr>
          <p:cNvPr id="108" name="Text 97"/>
          <p:cNvSpPr/>
          <p:nvPr/>
        </p:nvSpPr>
        <p:spPr>
          <a:xfrm>
            <a:off x="5057775" y="11571089"/>
            <a:ext cx="328668" cy="96441"/>
          </a:xfrm>
          <a:prstGeom prst="rect">
            <a:avLst/>
          </a:prstGeom>
          <a:noFill/>
          <a:ln/>
        </p:spPr>
        <p:txBody>
          <a:bodyPr wrap="none" lIns="0" tIns="0" rIns="0" bIns="0" rtlCol="0" anchor="ctr">
            <a:spAutoFit/>
          </a:bodyPr>
          <a:lstStyle/>
          <a:p>
            <a:pPr indent="0" marL="0">
              <a:buNone/>
            </a:pPr>
            <a:r>
              <a:rPr lang="en-US" sz="675" dirty="0">
                <a:solidFill>
                  <a:srgbClr val="DBEAFE"/>
                </a:solidFill>
                <a:latin typeface="Consolas" pitchFamily="34" charset="0"/>
                <a:ea typeface="Consolas" pitchFamily="34" charset="-122"/>
                <a:cs typeface="Consolas" pitchFamily="34" charset="-120"/>
              </a:rPr>
              <a:t>}</a:t>
            </a:r>
            <a:endParaRPr lang="en-US" sz="675" dirty="0"/>
          </a:p>
        </p:txBody>
      </p:sp>
      <p:sp>
        <p:nvSpPr>
          <p:cNvPr id="109" name="Text 98"/>
          <p:cNvSpPr/>
          <p:nvPr/>
        </p:nvSpPr>
        <p:spPr>
          <a:xfrm>
            <a:off x="5057775" y="11742539"/>
            <a:ext cx="225782" cy="96441"/>
          </a:xfrm>
          <a:prstGeom prst="rect">
            <a:avLst/>
          </a:prstGeom>
          <a:noFill/>
          <a:ln/>
        </p:spPr>
        <p:txBody>
          <a:bodyPr wrap="none" lIns="0" tIns="0" rIns="0" bIns="0" rtlCol="0" anchor="ctr">
            <a:spAutoFit/>
          </a:bodyPr>
          <a:lstStyle/>
          <a:p>
            <a:pPr indent="0" marL="0">
              <a:buNone/>
            </a:pPr>
            <a:r>
              <a:rPr lang="en-US" sz="675" dirty="0">
                <a:solidFill>
                  <a:srgbClr val="DBEAFE"/>
                </a:solidFill>
                <a:latin typeface="Consolas" pitchFamily="34" charset="0"/>
                <a:ea typeface="Consolas" pitchFamily="34" charset="-122"/>
                <a:cs typeface="Consolas" pitchFamily="34" charset="-120"/>
              </a:rPr>
              <a:t>]</a:t>
            </a:r>
            <a:endParaRPr lang="en-US" sz="675" dirty="0"/>
          </a:p>
        </p:txBody>
      </p:sp>
      <p:sp>
        <p:nvSpPr>
          <p:cNvPr id="110" name="Text 99"/>
          <p:cNvSpPr/>
          <p:nvPr/>
        </p:nvSpPr>
        <p:spPr>
          <a:xfrm>
            <a:off x="5057775" y="11913989"/>
            <a:ext cx="122895" cy="96441"/>
          </a:xfrm>
          <a:prstGeom prst="rect">
            <a:avLst/>
          </a:prstGeom>
          <a:noFill/>
          <a:ln/>
        </p:spPr>
        <p:txBody>
          <a:bodyPr wrap="none" lIns="0" tIns="0" rIns="0" bIns="0" rtlCol="0" anchor="ctr">
            <a:spAutoFit/>
          </a:bodyPr>
          <a:lstStyle/>
          <a:p>
            <a:pPr indent="0" marL="0">
              <a:buNone/>
            </a:pPr>
            <a:r>
              <a:rPr lang="en-US" sz="675" dirty="0">
                <a:solidFill>
                  <a:srgbClr val="DBEAFE"/>
                </a:solidFill>
                <a:latin typeface="Consolas" pitchFamily="34" charset="0"/>
                <a:ea typeface="Consolas" pitchFamily="34" charset="-122"/>
                <a:cs typeface="Consolas" pitchFamily="34" charset="-120"/>
              </a:rPr>
              <a:t>}</a:t>
            </a:r>
            <a:endParaRPr lang="en-US" sz="675" dirty="0"/>
          </a:p>
        </p:txBody>
      </p:sp>
      <p:sp>
        <p:nvSpPr>
          <p:cNvPr id="111" name="Shape 100"/>
          <p:cNvSpPr/>
          <p:nvPr/>
        </p:nvSpPr>
        <p:spPr>
          <a:xfrm>
            <a:off x="4857750" y="12344400"/>
            <a:ext cx="3657600" cy="971550"/>
          </a:xfrm>
          <a:prstGeom prst="rect">
            <a:avLst/>
          </a:prstGeom>
          <a:solidFill>
            <a:srgbClr val="1E3A8A">
              <a:alpha val="30000"/>
            </a:srgbClr>
          </a:solidFill>
          <a:ln/>
        </p:spPr>
      </p:sp>
      <p:sp>
        <p:nvSpPr>
          <p:cNvPr id="112" name="Text 101"/>
          <p:cNvSpPr/>
          <p:nvPr/>
        </p:nvSpPr>
        <p:spPr>
          <a:xfrm>
            <a:off x="4972050" y="12458700"/>
            <a:ext cx="3500438" cy="200025"/>
          </a:xfrm>
          <a:prstGeom prst="rect">
            <a:avLst/>
          </a:prstGeom>
          <a:noFill/>
          <a:ln/>
        </p:spPr>
        <p:txBody>
          <a:bodyPr wrap="square" lIns="0" tIns="0" rIns="0" bIns="0" rtlCol="0" anchor="ctr">
            <a:spAutoFit/>
          </a:bodyPr>
          <a:lstStyle/>
          <a:p>
            <a:pPr indent="0" marL="0">
              <a:buNone/>
            </a:pPr>
            <a:r>
              <a:rPr lang="en-US" sz="1125" b="1" dirty="0">
                <a:solidFill>
                  <a:srgbClr val="F1F5F9"/>
                </a:solidFill>
                <a:latin typeface="Segoe UI" pitchFamily="34" charset="0"/>
                <a:ea typeface="Segoe UI" pitchFamily="34" charset="-122"/>
                <a:cs typeface="Segoe UI" pitchFamily="34" charset="-120"/>
              </a:rPr>
              <a:t>Using Run Configurations</a:t>
            </a:r>
            <a:endParaRPr lang="en-US" sz="1125" dirty="0"/>
          </a:p>
        </p:txBody>
      </p:sp>
      <p:pic>
        <p:nvPicPr>
          <p:cNvPr id="113" name="Image 9" descr="preencoded.png">    </p:cNvPr>
          <p:cNvPicPr>
            <a:picLocks noChangeAspect="1"/>
          </p:cNvPicPr>
          <p:nvPr/>
        </p:nvPicPr>
        <p:blipFill>
          <a:blip r:embed="rId10"/>
          <a:stretch>
            <a:fillRect/>
          </a:stretch>
        </p:blipFill>
        <p:spPr>
          <a:xfrm>
            <a:off x="4972050" y="12744450"/>
            <a:ext cx="100013" cy="100013"/>
          </a:xfrm>
          <a:prstGeom prst="rect">
            <a:avLst/>
          </a:prstGeom>
        </p:spPr>
      </p:pic>
      <p:sp>
        <p:nvSpPr>
          <p:cNvPr id="114" name="Text 102"/>
          <p:cNvSpPr/>
          <p:nvPr/>
        </p:nvSpPr>
        <p:spPr>
          <a:xfrm>
            <a:off x="5129213" y="12715875"/>
            <a:ext cx="2751265" cy="142875"/>
          </a:xfrm>
          <a:prstGeom prst="rect">
            <a:avLst/>
          </a:prstGeom>
          <a:noFill/>
          <a:ln/>
        </p:spPr>
        <p:txBody>
          <a:bodyPr wrap="square" lIns="0" tIns="0" rIns="0" bIns="0" rtlCol="0" anchor="ctr">
            <a:spAutoFit/>
          </a:bodyPr>
          <a:lstStyle/>
          <a:p>
            <a:pPr algn="l" indent="0" marL="0">
              <a:buNone/>
            </a:pPr>
            <a:r>
              <a:rPr lang="en-US" sz="788" dirty="0">
                <a:solidFill>
                  <a:srgbClr val="F1F5F9"/>
                </a:solidFill>
                <a:latin typeface="Segoe UI" pitchFamily="34" charset="0"/>
                <a:ea typeface="Segoe UI" pitchFamily="34" charset="-122"/>
                <a:cs typeface="Segoe UI" pitchFamily="34" charset="-120"/>
              </a:rPr>
              <a:t>Select configuration from dropdown in Run and Debug panel</a:t>
            </a:r>
            <a:endParaRPr lang="en-US" sz="788" dirty="0"/>
          </a:p>
        </p:txBody>
      </p:sp>
      <p:pic>
        <p:nvPicPr>
          <p:cNvPr id="115" name="Image 10" descr="preencoded.png">    </p:cNvPr>
          <p:cNvPicPr>
            <a:picLocks noChangeAspect="1"/>
          </p:cNvPicPr>
          <p:nvPr/>
        </p:nvPicPr>
        <p:blipFill>
          <a:blip r:embed="rId11"/>
          <a:stretch>
            <a:fillRect/>
          </a:stretch>
        </p:blipFill>
        <p:spPr>
          <a:xfrm>
            <a:off x="4972050" y="12915900"/>
            <a:ext cx="100013" cy="100013"/>
          </a:xfrm>
          <a:prstGeom prst="rect">
            <a:avLst/>
          </a:prstGeom>
        </p:spPr>
      </p:pic>
      <p:sp>
        <p:nvSpPr>
          <p:cNvPr id="116" name="Text 103"/>
          <p:cNvSpPr/>
          <p:nvPr/>
        </p:nvSpPr>
        <p:spPr>
          <a:xfrm>
            <a:off x="5129213" y="12887325"/>
            <a:ext cx="1789202" cy="142875"/>
          </a:xfrm>
          <a:prstGeom prst="rect">
            <a:avLst/>
          </a:prstGeom>
          <a:noFill/>
          <a:ln/>
        </p:spPr>
        <p:txBody>
          <a:bodyPr wrap="square" lIns="0" tIns="0" rIns="0" bIns="0" rtlCol="0" anchor="ctr">
            <a:spAutoFit/>
          </a:bodyPr>
          <a:lstStyle/>
          <a:p>
            <a:pPr algn="l" indent="0" marL="0">
              <a:buNone/>
            </a:pPr>
            <a:r>
              <a:rPr lang="en-US" sz="788" dirty="0">
                <a:solidFill>
                  <a:srgbClr val="F1F5F9"/>
                </a:solidFill>
                <a:latin typeface="Segoe UI" pitchFamily="34" charset="0"/>
                <a:ea typeface="Segoe UI" pitchFamily="34" charset="-122"/>
                <a:cs typeface="Segoe UI" pitchFamily="34" charset="-120"/>
              </a:rPr>
              <a:t>Click the green play button or press F5</a:t>
            </a:r>
            <a:endParaRPr lang="en-US" sz="788" dirty="0"/>
          </a:p>
        </p:txBody>
      </p:sp>
      <p:pic>
        <p:nvPicPr>
          <p:cNvPr id="117" name="Image 11" descr="preencoded.png">    </p:cNvPr>
          <p:cNvPicPr>
            <a:picLocks noChangeAspect="1"/>
          </p:cNvPicPr>
          <p:nvPr/>
        </p:nvPicPr>
        <p:blipFill>
          <a:blip r:embed="rId12"/>
          <a:stretch>
            <a:fillRect/>
          </a:stretch>
        </p:blipFill>
        <p:spPr>
          <a:xfrm>
            <a:off x="4972050" y="13087350"/>
            <a:ext cx="100013" cy="100013"/>
          </a:xfrm>
          <a:prstGeom prst="rect">
            <a:avLst/>
          </a:prstGeom>
        </p:spPr>
      </p:pic>
      <p:sp>
        <p:nvSpPr>
          <p:cNvPr id="118" name="Text 104"/>
          <p:cNvSpPr/>
          <p:nvPr/>
        </p:nvSpPr>
        <p:spPr>
          <a:xfrm>
            <a:off x="5129213" y="13058775"/>
            <a:ext cx="1750554" cy="142875"/>
          </a:xfrm>
          <a:prstGeom prst="rect">
            <a:avLst/>
          </a:prstGeom>
          <a:noFill/>
          <a:ln/>
        </p:spPr>
        <p:txBody>
          <a:bodyPr wrap="square" lIns="0" tIns="0" rIns="0" bIns="0" rtlCol="0" anchor="ctr">
            <a:spAutoFit/>
          </a:bodyPr>
          <a:lstStyle/>
          <a:p>
            <a:pPr algn="l" indent="0" marL="0">
              <a:buNone/>
            </a:pPr>
            <a:r>
              <a:rPr lang="en-US" sz="788" dirty="0">
                <a:solidFill>
                  <a:srgbClr val="F1F5F9"/>
                </a:solidFill>
                <a:latin typeface="Segoe UI" pitchFamily="34" charset="0"/>
                <a:ea typeface="Segoe UI" pitchFamily="34" charset="-122"/>
                <a:cs typeface="Segoe UI" pitchFamily="34" charset="-120"/>
              </a:rPr>
              <a:t>Output appears in the Debug Console</a:t>
            </a:r>
            <a:endParaRPr lang="en-US" sz="788" dirty="0"/>
          </a:p>
        </p:txBody>
      </p:sp>
      <p:sp>
        <p:nvSpPr>
          <p:cNvPr id="119" name="Shape 105"/>
          <p:cNvSpPr/>
          <p:nvPr/>
        </p:nvSpPr>
        <p:spPr>
          <a:xfrm>
            <a:off x="457200" y="13716000"/>
            <a:ext cx="8229600" cy="4086225"/>
          </a:xfrm>
          <a:prstGeom prst="rect">
            <a:avLst/>
          </a:prstGeom>
          <a:solidFill>
            <a:srgbClr val="FFFFFF">
              <a:alpha val="10000"/>
            </a:srgbClr>
          </a:solidFill>
          <a:ln w="99">
            <a:solidFill>
              <a:srgbClr val="60A5FA">
                <a:alpha val="30000"/>
              </a:srgbClr>
            </a:solidFill>
            <a:prstDash val="solid"/>
          </a:ln>
        </p:spPr>
      </p:sp>
      <p:sp>
        <p:nvSpPr>
          <p:cNvPr id="120" name="Text 106"/>
          <p:cNvSpPr/>
          <p:nvPr/>
        </p:nvSpPr>
        <p:spPr>
          <a:xfrm>
            <a:off x="628650" y="13887450"/>
            <a:ext cx="7958138" cy="228600"/>
          </a:xfrm>
          <a:prstGeom prst="rect">
            <a:avLst/>
          </a:prstGeom>
          <a:noFill/>
          <a:ln/>
        </p:spPr>
        <p:txBody>
          <a:bodyPr wrap="square" lIns="0" tIns="0" rIns="0" bIns="0" rtlCol="0" anchor="ctr">
            <a:spAutoFit/>
          </a:bodyPr>
          <a:lstStyle/>
          <a:p>
            <a:pPr indent="0" marL="0">
              <a:buNone/>
            </a:pPr>
            <a:r>
              <a:rPr lang="en-US" sz="1350" b="1" dirty="0">
                <a:solidFill>
                  <a:srgbClr val="BFDBFE"/>
                </a:solidFill>
                <a:latin typeface="Segoe UI" pitchFamily="34" charset="0"/>
                <a:ea typeface="Segoe UI" pitchFamily="34" charset="-122"/>
                <a:cs typeface="Segoe UI" pitchFamily="34" charset="-120"/>
              </a:rPr>
              <a:t>Common Compilation Errors</a:t>
            </a:r>
            <a:endParaRPr lang="en-US" sz="1350" dirty="0"/>
          </a:p>
        </p:txBody>
      </p:sp>
      <p:sp>
        <p:nvSpPr>
          <p:cNvPr id="121" name="Shape 107"/>
          <p:cNvSpPr/>
          <p:nvPr/>
        </p:nvSpPr>
        <p:spPr>
          <a:xfrm>
            <a:off x="628650" y="14230350"/>
            <a:ext cx="2514600" cy="2643188"/>
          </a:xfrm>
          <a:prstGeom prst="rect">
            <a:avLst/>
          </a:prstGeom>
          <a:solidFill>
            <a:srgbClr val="1E3A8A">
              <a:alpha val="30000"/>
            </a:srgbClr>
          </a:solidFill>
          <a:ln/>
        </p:spPr>
      </p:sp>
      <p:sp>
        <p:nvSpPr>
          <p:cNvPr id="122" name="Text 108"/>
          <p:cNvSpPr/>
          <p:nvPr/>
        </p:nvSpPr>
        <p:spPr>
          <a:xfrm>
            <a:off x="742950" y="14344650"/>
            <a:ext cx="2357438" cy="200025"/>
          </a:xfrm>
          <a:prstGeom prst="rect">
            <a:avLst/>
          </a:prstGeom>
          <a:noFill/>
          <a:ln/>
        </p:spPr>
        <p:txBody>
          <a:bodyPr wrap="square" lIns="0" tIns="0" rIns="0" bIns="0" rtlCol="0" anchor="ctr">
            <a:spAutoFit/>
          </a:bodyPr>
          <a:lstStyle/>
          <a:p>
            <a:pPr indent="0" marL="0">
              <a:buNone/>
            </a:pPr>
            <a:r>
              <a:rPr lang="en-US" sz="1125" b="1" dirty="0">
                <a:solidFill>
                  <a:srgbClr val="F1F5F9"/>
                </a:solidFill>
                <a:latin typeface="Segoe UI" pitchFamily="34" charset="0"/>
                <a:ea typeface="Segoe UI" pitchFamily="34" charset="-122"/>
                <a:cs typeface="Segoe UI" pitchFamily="34" charset="-120"/>
              </a:rPr>
              <a:t>Syntax Errors</a:t>
            </a:r>
            <a:endParaRPr lang="en-US" sz="1125" dirty="0"/>
          </a:p>
        </p:txBody>
      </p:sp>
      <p:sp>
        <p:nvSpPr>
          <p:cNvPr id="123" name="Shape 109"/>
          <p:cNvSpPr/>
          <p:nvPr/>
        </p:nvSpPr>
        <p:spPr>
          <a:xfrm>
            <a:off x="742950" y="14630400"/>
            <a:ext cx="2286000" cy="1385888"/>
          </a:xfrm>
          <a:prstGeom prst="rect">
            <a:avLst/>
          </a:prstGeom>
          <a:solidFill>
            <a:srgbClr val="1E293B">
              <a:alpha val="80000"/>
            </a:srgbClr>
          </a:solidFill>
          <a:ln w="99">
            <a:solidFill>
              <a:srgbClr val="60A5FA">
                <a:alpha val="30000"/>
              </a:srgbClr>
            </a:solidFill>
            <a:prstDash val="solid"/>
          </a:ln>
        </p:spPr>
      </p:sp>
      <p:sp>
        <p:nvSpPr>
          <p:cNvPr id="124" name="Text 110"/>
          <p:cNvSpPr/>
          <p:nvPr/>
        </p:nvSpPr>
        <p:spPr>
          <a:xfrm>
            <a:off x="828675" y="14771489"/>
            <a:ext cx="1100305" cy="96441"/>
          </a:xfrm>
          <a:prstGeom prst="rect">
            <a:avLst/>
          </a:prstGeom>
          <a:noFill/>
          <a:ln/>
        </p:spPr>
        <p:txBody>
          <a:bodyPr wrap="none" lIns="0" tIns="0" rIns="0" bIns="0" rtlCol="0" anchor="ctr">
            <a:spAutoFit/>
          </a:bodyPr>
          <a:lstStyle/>
          <a:p>
            <a:pPr indent="0" marL="0">
              <a:buNone/>
            </a:pPr>
            <a:r>
              <a:rPr lang="en-US" sz="675" dirty="0">
                <a:solidFill>
                  <a:srgbClr val="DBEAFE"/>
                </a:solidFill>
                <a:latin typeface="Consolas" pitchFamily="34" charset="0"/>
                <a:ea typeface="Consolas" pitchFamily="34" charset="-122"/>
                <a:cs typeface="Consolas" pitchFamily="34" charset="-120"/>
              </a:rPr>
              <a:t>// Missing semicolon</a:t>
            </a:r>
            <a:endParaRPr lang="en-US" sz="675" dirty="0"/>
          </a:p>
        </p:txBody>
      </p:sp>
      <p:sp>
        <p:nvSpPr>
          <p:cNvPr id="125" name="Text 111"/>
          <p:cNvSpPr/>
          <p:nvPr/>
        </p:nvSpPr>
        <p:spPr>
          <a:xfrm>
            <a:off x="828675" y="14942939"/>
            <a:ext cx="585871" cy="96441"/>
          </a:xfrm>
          <a:prstGeom prst="rect">
            <a:avLst/>
          </a:prstGeom>
          <a:noFill/>
          <a:ln/>
        </p:spPr>
        <p:txBody>
          <a:bodyPr wrap="none" lIns="0" tIns="0" rIns="0" bIns="0" rtlCol="0" anchor="ctr">
            <a:spAutoFit/>
          </a:bodyPr>
          <a:lstStyle/>
          <a:p>
            <a:pPr indent="0" marL="0">
              <a:buNone/>
            </a:pPr>
            <a:r>
              <a:rPr lang="en-US" sz="675" dirty="0">
                <a:solidFill>
                  <a:srgbClr val="DBEAFE"/>
                </a:solidFill>
                <a:latin typeface="Consolas" pitchFamily="34" charset="0"/>
                <a:ea typeface="Consolas" pitchFamily="34" charset="-122"/>
                <a:cs typeface="Consolas" pitchFamily="34" charset="-120"/>
              </a:rPr>
              <a:t>int x = 10</a:t>
            </a:r>
            <a:endParaRPr lang="en-US" sz="675" dirty="0"/>
          </a:p>
        </p:txBody>
      </p:sp>
      <p:sp>
        <p:nvSpPr>
          <p:cNvPr id="126" name="Text 112"/>
          <p:cNvSpPr/>
          <p:nvPr/>
        </p:nvSpPr>
        <p:spPr>
          <a:xfrm>
            <a:off x="828675" y="15285839"/>
            <a:ext cx="1306078" cy="96441"/>
          </a:xfrm>
          <a:prstGeom prst="rect">
            <a:avLst/>
          </a:prstGeom>
          <a:noFill/>
          <a:ln/>
        </p:spPr>
        <p:txBody>
          <a:bodyPr wrap="square" lIns="0" tIns="0" rIns="0" bIns="0" rtlCol="0" anchor="ctr">
            <a:spAutoFit/>
          </a:bodyPr>
          <a:lstStyle/>
          <a:p>
            <a:pPr indent="0" marL="0">
              <a:buNone/>
            </a:pPr>
            <a:r>
              <a:rPr lang="en-US" sz="675" dirty="0">
                <a:solidFill>
                  <a:srgbClr val="DBEAFE"/>
                </a:solidFill>
                <a:latin typeface="Consolas" pitchFamily="34" charset="0"/>
                <a:ea typeface="Consolas" pitchFamily="34" charset="-122"/>
                <a:cs typeface="Consolas" pitchFamily="34" charset="-120"/>
              </a:rPr>
              <a:t>// Missing closing brace</a:t>
            </a:r>
            <a:endParaRPr lang="en-US" sz="675" dirty="0"/>
          </a:p>
        </p:txBody>
      </p:sp>
      <p:sp>
        <p:nvSpPr>
          <p:cNvPr id="127" name="Text 113"/>
          <p:cNvSpPr/>
          <p:nvPr/>
        </p:nvSpPr>
        <p:spPr>
          <a:xfrm>
            <a:off x="828675" y="15457289"/>
            <a:ext cx="1203192" cy="96441"/>
          </a:xfrm>
          <a:prstGeom prst="rect">
            <a:avLst/>
          </a:prstGeom>
          <a:noFill/>
          <a:ln/>
        </p:spPr>
        <p:txBody>
          <a:bodyPr wrap="none" lIns="0" tIns="0" rIns="0" bIns="0" rtlCol="0" anchor="ctr">
            <a:spAutoFit/>
          </a:bodyPr>
          <a:lstStyle/>
          <a:p>
            <a:pPr indent="0" marL="0">
              <a:buNone/>
            </a:pPr>
            <a:r>
              <a:rPr lang="en-US" sz="675" dirty="0">
                <a:solidFill>
                  <a:srgbClr val="DBEAFE"/>
                </a:solidFill>
                <a:latin typeface="Consolas" pitchFamily="34" charset="0"/>
                <a:ea typeface="Consolas" pitchFamily="34" charset="-122"/>
                <a:cs typeface="Consolas" pitchFamily="34" charset="-120"/>
              </a:rPr>
              <a:t>public void method() {</a:t>
            </a:r>
            <a:endParaRPr lang="en-US" sz="675" dirty="0"/>
          </a:p>
        </p:txBody>
      </p:sp>
      <p:sp>
        <p:nvSpPr>
          <p:cNvPr id="128" name="Text 114"/>
          <p:cNvSpPr/>
          <p:nvPr/>
        </p:nvSpPr>
        <p:spPr>
          <a:xfrm>
            <a:off x="828675" y="15628739"/>
            <a:ext cx="1614739" cy="96441"/>
          </a:xfrm>
          <a:prstGeom prst="rect">
            <a:avLst/>
          </a:prstGeom>
          <a:noFill/>
          <a:ln/>
        </p:spPr>
        <p:txBody>
          <a:bodyPr wrap="square" lIns="0" tIns="0" rIns="0" bIns="0" rtlCol="0" anchor="ctr">
            <a:spAutoFit/>
          </a:bodyPr>
          <a:lstStyle/>
          <a:p>
            <a:pPr indent="0" marL="0">
              <a:buNone/>
            </a:pPr>
            <a:r>
              <a:rPr lang="en-US" sz="675" dirty="0">
                <a:solidFill>
                  <a:srgbClr val="DBEAFE"/>
                </a:solidFill>
                <a:latin typeface="Consolas" pitchFamily="34" charset="0"/>
                <a:ea typeface="Consolas" pitchFamily="34" charset="-122"/>
                <a:cs typeface="Consolas" pitchFamily="34" charset="-120"/>
              </a:rPr>
              <a:t>System.out.println("Hello");</a:t>
            </a:r>
            <a:endParaRPr lang="en-US" sz="675" dirty="0"/>
          </a:p>
        </p:txBody>
      </p:sp>
      <p:sp>
        <p:nvSpPr>
          <p:cNvPr id="129" name="Text 115"/>
          <p:cNvSpPr/>
          <p:nvPr/>
        </p:nvSpPr>
        <p:spPr>
          <a:xfrm>
            <a:off x="828675" y="15800189"/>
            <a:ext cx="277211" cy="96441"/>
          </a:xfrm>
          <a:prstGeom prst="rect">
            <a:avLst/>
          </a:prstGeom>
          <a:noFill/>
          <a:ln/>
        </p:spPr>
        <p:txBody>
          <a:bodyPr wrap="none" lIns="0" tIns="0" rIns="0" bIns="0" rtlCol="0" anchor="ctr">
            <a:spAutoFit/>
          </a:bodyPr>
          <a:lstStyle/>
          <a:p>
            <a:pPr indent="0" marL="0">
              <a:buNone/>
            </a:pPr>
            <a:r>
              <a:rPr lang="en-US" sz="675" dirty="0">
                <a:solidFill>
                  <a:srgbClr val="DBEAFE"/>
                </a:solidFill>
                <a:latin typeface="Consolas" pitchFamily="34" charset="0"/>
                <a:ea typeface="Consolas" pitchFamily="34" charset="-122"/>
                <a:cs typeface="Consolas" pitchFamily="34" charset="-120"/>
              </a:rPr>
              <a:t>// }</a:t>
            </a:r>
            <a:endParaRPr lang="en-US" sz="675" dirty="0"/>
          </a:p>
        </p:txBody>
      </p:sp>
      <p:sp>
        <p:nvSpPr>
          <p:cNvPr id="130" name="Text 116"/>
          <p:cNvSpPr/>
          <p:nvPr/>
        </p:nvSpPr>
        <p:spPr>
          <a:xfrm>
            <a:off x="742950" y="16087725"/>
            <a:ext cx="2357438" cy="142875"/>
          </a:xfrm>
          <a:prstGeom prst="rect">
            <a:avLst/>
          </a:prstGeom>
          <a:noFill/>
          <a:ln/>
        </p:spPr>
        <p:txBody>
          <a:bodyPr wrap="square" lIns="0" tIns="0" rIns="0" bIns="0" rtlCol="0" anchor="ctr">
            <a:spAutoFit/>
          </a:bodyPr>
          <a:lstStyle/>
          <a:p>
            <a:pPr indent="0" marL="0">
              <a:buNone/>
            </a:pPr>
            <a:r>
              <a:rPr lang="en-US" sz="788" dirty="0">
                <a:solidFill>
                  <a:srgbClr val="F1F5F9"/>
                </a:solidFill>
                <a:latin typeface="Segoe UI" pitchFamily="34" charset="0"/>
                <a:ea typeface="Segoe UI" pitchFamily="34" charset="-122"/>
                <a:cs typeface="Segoe UI" pitchFamily="34" charset="-120"/>
              </a:rPr>
              <a:t>Errors in the language syntax</a:t>
            </a:r>
            <a:endParaRPr lang="en-US" sz="788" dirty="0"/>
          </a:p>
        </p:txBody>
      </p:sp>
      <p:sp>
        <p:nvSpPr>
          <p:cNvPr id="131" name="Shape 117"/>
          <p:cNvSpPr/>
          <p:nvPr/>
        </p:nvSpPr>
        <p:spPr>
          <a:xfrm>
            <a:off x="3314700" y="14230350"/>
            <a:ext cx="2514600" cy="2643188"/>
          </a:xfrm>
          <a:prstGeom prst="rect">
            <a:avLst/>
          </a:prstGeom>
          <a:solidFill>
            <a:srgbClr val="1E3A8A">
              <a:alpha val="30000"/>
            </a:srgbClr>
          </a:solidFill>
          <a:ln/>
        </p:spPr>
      </p:sp>
      <p:sp>
        <p:nvSpPr>
          <p:cNvPr id="132" name="Text 118"/>
          <p:cNvSpPr/>
          <p:nvPr/>
        </p:nvSpPr>
        <p:spPr>
          <a:xfrm>
            <a:off x="3429000" y="14344650"/>
            <a:ext cx="2357438" cy="200025"/>
          </a:xfrm>
          <a:prstGeom prst="rect">
            <a:avLst/>
          </a:prstGeom>
          <a:noFill/>
          <a:ln/>
        </p:spPr>
        <p:txBody>
          <a:bodyPr wrap="square" lIns="0" tIns="0" rIns="0" bIns="0" rtlCol="0" anchor="ctr">
            <a:spAutoFit/>
          </a:bodyPr>
          <a:lstStyle/>
          <a:p>
            <a:pPr indent="0" marL="0">
              <a:buNone/>
            </a:pPr>
            <a:r>
              <a:rPr lang="en-US" sz="1125" b="1" dirty="0">
                <a:solidFill>
                  <a:srgbClr val="F1F5F9"/>
                </a:solidFill>
                <a:latin typeface="Segoe UI" pitchFamily="34" charset="0"/>
                <a:ea typeface="Segoe UI" pitchFamily="34" charset="-122"/>
                <a:cs typeface="Segoe UI" pitchFamily="34" charset="-120"/>
              </a:rPr>
              <a:t>Semantic Errors</a:t>
            </a:r>
            <a:endParaRPr lang="en-US" sz="1125" dirty="0"/>
          </a:p>
        </p:txBody>
      </p:sp>
      <p:sp>
        <p:nvSpPr>
          <p:cNvPr id="133" name="Shape 119"/>
          <p:cNvSpPr/>
          <p:nvPr/>
        </p:nvSpPr>
        <p:spPr>
          <a:xfrm>
            <a:off x="3429000" y="14630400"/>
            <a:ext cx="2286000" cy="1557338"/>
          </a:xfrm>
          <a:prstGeom prst="rect">
            <a:avLst/>
          </a:prstGeom>
          <a:solidFill>
            <a:srgbClr val="1E293B">
              <a:alpha val="80000"/>
            </a:srgbClr>
          </a:solidFill>
          <a:ln w="99">
            <a:solidFill>
              <a:srgbClr val="60A5FA">
                <a:alpha val="30000"/>
              </a:srgbClr>
            </a:solidFill>
            <a:prstDash val="solid"/>
          </a:ln>
        </p:spPr>
      </p:sp>
      <p:sp>
        <p:nvSpPr>
          <p:cNvPr id="134" name="Text 120"/>
          <p:cNvSpPr/>
          <p:nvPr/>
        </p:nvSpPr>
        <p:spPr>
          <a:xfrm>
            <a:off x="3514725" y="14771489"/>
            <a:ext cx="894531" cy="96441"/>
          </a:xfrm>
          <a:prstGeom prst="rect">
            <a:avLst/>
          </a:prstGeom>
          <a:noFill/>
          <a:ln/>
        </p:spPr>
        <p:txBody>
          <a:bodyPr wrap="none" lIns="0" tIns="0" rIns="0" bIns="0" rtlCol="0" anchor="ctr">
            <a:spAutoFit/>
          </a:bodyPr>
          <a:lstStyle/>
          <a:p>
            <a:pPr indent="0" marL="0">
              <a:buNone/>
            </a:pPr>
            <a:r>
              <a:rPr lang="en-US" sz="675" dirty="0">
                <a:solidFill>
                  <a:srgbClr val="DBEAFE"/>
                </a:solidFill>
                <a:latin typeface="Consolas" pitchFamily="34" charset="0"/>
                <a:ea typeface="Consolas" pitchFamily="34" charset="-122"/>
                <a:cs typeface="Consolas" pitchFamily="34" charset="-120"/>
              </a:rPr>
              <a:t>// Type mismatch</a:t>
            </a:r>
            <a:endParaRPr lang="en-US" sz="675" dirty="0"/>
          </a:p>
        </p:txBody>
      </p:sp>
      <p:sp>
        <p:nvSpPr>
          <p:cNvPr id="135" name="Text 121"/>
          <p:cNvSpPr/>
          <p:nvPr/>
        </p:nvSpPr>
        <p:spPr>
          <a:xfrm>
            <a:off x="3514725" y="14942939"/>
            <a:ext cx="791645" cy="96441"/>
          </a:xfrm>
          <a:prstGeom prst="rect">
            <a:avLst/>
          </a:prstGeom>
          <a:noFill/>
          <a:ln/>
        </p:spPr>
        <p:txBody>
          <a:bodyPr wrap="none" lIns="0" tIns="0" rIns="0" bIns="0" rtlCol="0" anchor="ctr">
            <a:spAutoFit/>
          </a:bodyPr>
          <a:lstStyle/>
          <a:p>
            <a:pPr indent="0" marL="0">
              <a:buNone/>
            </a:pPr>
            <a:r>
              <a:rPr lang="en-US" sz="675" dirty="0">
                <a:solidFill>
                  <a:srgbClr val="DBEAFE"/>
                </a:solidFill>
                <a:latin typeface="Consolas" pitchFamily="34" charset="0"/>
                <a:ea typeface="Consolas" pitchFamily="34" charset="-122"/>
                <a:cs typeface="Consolas" pitchFamily="34" charset="-120"/>
              </a:rPr>
              <a:t>String s = 42;</a:t>
            </a:r>
            <a:endParaRPr lang="en-US" sz="675" dirty="0"/>
          </a:p>
        </p:txBody>
      </p:sp>
      <p:sp>
        <p:nvSpPr>
          <p:cNvPr id="136" name="Text 122"/>
          <p:cNvSpPr/>
          <p:nvPr/>
        </p:nvSpPr>
        <p:spPr>
          <a:xfrm>
            <a:off x="3514725" y="15285839"/>
            <a:ext cx="1151762" cy="96441"/>
          </a:xfrm>
          <a:prstGeom prst="rect">
            <a:avLst/>
          </a:prstGeom>
          <a:noFill/>
          <a:ln/>
        </p:spPr>
        <p:txBody>
          <a:bodyPr wrap="none" lIns="0" tIns="0" rIns="0" bIns="0" rtlCol="0" anchor="ctr">
            <a:spAutoFit/>
          </a:bodyPr>
          <a:lstStyle/>
          <a:p>
            <a:pPr indent="0" marL="0">
              <a:buNone/>
            </a:pPr>
            <a:r>
              <a:rPr lang="en-US" sz="675" dirty="0">
                <a:solidFill>
                  <a:srgbClr val="DBEAFE"/>
                </a:solidFill>
                <a:latin typeface="Consolas" pitchFamily="34" charset="0"/>
                <a:ea typeface="Consolas" pitchFamily="34" charset="-122"/>
                <a:cs typeface="Consolas" pitchFamily="34" charset="-120"/>
              </a:rPr>
              <a:t>// Undefined variable</a:t>
            </a:r>
            <a:endParaRPr lang="en-US" sz="675" dirty="0"/>
          </a:p>
        </p:txBody>
      </p:sp>
      <p:sp>
        <p:nvSpPr>
          <p:cNvPr id="137" name="Text 123"/>
          <p:cNvSpPr/>
          <p:nvPr/>
        </p:nvSpPr>
        <p:spPr>
          <a:xfrm>
            <a:off x="3514725" y="15457289"/>
            <a:ext cx="894531" cy="96441"/>
          </a:xfrm>
          <a:prstGeom prst="rect">
            <a:avLst/>
          </a:prstGeom>
          <a:noFill/>
          <a:ln/>
        </p:spPr>
        <p:txBody>
          <a:bodyPr wrap="none" lIns="0" tIns="0" rIns="0" bIns="0" rtlCol="0" anchor="ctr">
            <a:spAutoFit/>
          </a:bodyPr>
          <a:lstStyle/>
          <a:p>
            <a:pPr indent="0" marL="0">
              <a:buNone/>
            </a:pPr>
            <a:r>
              <a:rPr lang="en-US" sz="675" dirty="0">
                <a:solidFill>
                  <a:srgbClr val="DBEAFE"/>
                </a:solidFill>
                <a:latin typeface="Consolas" pitchFamily="34" charset="0"/>
                <a:ea typeface="Consolas" pitchFamily="34" charset="-122"/>
                <a:cs typeface="Consolas" pitchFamily="34" charset="-120"/>
              </a:rPr>
              <a:t>int sum = x + y;</a:t>
            </a:r>
            <a:endParaRPr lang="en-US" sz="675" dirty="0"/>
          </a:p>
        </p:txBody>
      </p:sp>
      <p:sp>
        <p:nvSpPr>
          <p:cNvPr id="138" name="Text 124"/>
          <p:cNvSpPr/>
          <p:nvPr/>
        </p:nvSpPr>
        <p:spPr>
          <a:xfrm>
            <a:off x="3514725" y="15800189"/>
            <a:ext cx="1151762" cy="96441"/>
          </a:xfrm>
          <a:prstGeom prst="rect">
            <a:avLst/>
          </a:prstGeom>
          <a:noFill/>
          <a:ln/>
        </p:spPr>
        <p:txBody>
          <a:bodyPr wrap="none" lIns="0" tIns="0" rIns="0" bIns="0" rtlCol="0" anchor="ctr">
            <a:spAutoFit/>
          </a:bodyPr>
          <a:lstStyle/>
          <a:p>
            <a:pPr indent="0" marL="0">
              <a:buNone/>
            </a:pPr>
            <a:r>
              <a:rPr lang="en-US" sz="675" dirty="0">
                <a:solidFill>
                  <a:srgbClr val="DBEAFE"/>
                </a:solidFill>
                <a:latin typeface="Consolas" pitchFamily="34" charset="0"/>
                <a:ea typeface="Consolas" pitchFamily="34" charset="-122"/>
                <a:cs typeface="Consolas" pitchFamily="34" charset="-120"/>
              </a:rPr>
              <a:t>// Incompatible types</a:t>
            </a:r>
            <a:endParaRPr lang="en-US" sz="675" dirty="0"/>
          </a:p>
        </p:txBody>
      </p:sp>
      <p:sp>
        <p:nvSpPr>
          <p:cNvPr id="139" name="Text 125"/>
          <p:cNvSpPr/>
          <p:nvPr/>
        </p:nvSpPr>
        <p:spPr>
          <a:xfrm>
            <a:off x="3514725" y="15971639"/>
            <a:ext cx="1100305" cy="96441"/>
          </a:xfrm>
          <a:prstGeom prst="rect">
            <a:avLst/>
          </a:prstGeom>
          <a:noFill/>
          <a:ln/>
        </p:spPr>
        <p:txBody>
          <a:bodyPr wrap="none" lIns="0" tIns="0" rIns="0" bIns="0" rtlCol="0" anchor="ctr">
            <a:spAutoFit/>
          </a:bodyPr>
          <a:lstStyle/>
          <a:p>
            <a:pPr indent="0" marL="0">
              <a:buNone/>
            </a:pPr>
            <a:r>
              <a:rPr lang="en-US" sz="675" dirty="0">
                <a:solidFill>
                  <a:srgbClr val="DBEAFE"/>
                </a:solidFill>
                <a:latin typeface="Consolas" pitchFamily="34" charset="0"/>
                <a:ea typeface="Consolas" pitchFamily="34" charset="-122"/>
                <a:cs typeface="Consolas" pitchFamily="34" charset="-120"/>
              </a:rPr>
              <a:t>int[] arr = "Hello";</a:t>
            </a:r>
            <a:endParaRPr lang="en-US" sz="675" dirty="0"/>
          </a:p>
        </p:txBody>
      </p:sp>
      <p:sp>
        <p:nvSpPr>
          <p:cNvPr id="140" name="Text 126"/>
          <p:cNvSpPr/>
          <p:nvPr/>
        </p:nvSpPr>
        <p:spPr>
          <a:xfrm>
            <a:off x="3429000" y="16259175"/>
            <a:ext cx="2357438" cy="142875"/>
          </a:xfrm>
          <a:prstGeom prst="rect">
            <a:avLst/>
          </a:prstGeom>
          <a:noFill/>
          <a:ln/>
        </p:spPr>
        <p:txBody>
          <a:bodyPr wrap="square" lIns="0" tIns="0" rIns="0" bIns="0" rtlCol="0" anchor="ctr">
            <a:spAutoFit/>
          </a:bodyPr>
          <a:lstStyle/>
          <a:p>
            <a:pPr indent="0" marL="0">
              <a:buNone/>
            </a:pPr>
            <a:r>
              <a:rPr lang="en-US" sz="788" dirty="0">
                <a:solidFill>
                  <a:srgbClr val="F1F5F9"/>
                </a:solidFill>
                <a:latin typeface="Segoe UI" pitchFamily="34" charset="0"/>
                <a:ea typeface="Segoe UI" pitchFamily="34" charset="-122"/>
                <a:cs typeface="Segoe UI" pitchFamily="34" charset="-120"/>
              </a:rPr>
              <a:t>Errors in the program logic</a:t>
            </a:r>
            <a:endParaRPr lang="en-US" sz="788" dirty="0"/>
          </a:p>
        </p:txBody>
      </p:sp>
      <p:sp>
        <p:nvSpPr>
          <p:cNvPr id="141" name="Shape 127"/>
          <p:cNvSpPr/>
          <p:nvPr/>
        </p:nvSpPr>
        <p:spPr>
          <a:xfrm>
            <a:off x="6000750" y="14230350"/>
            <a:ext cx="2514600" cy="2643188"/>
          </a:xfrm>
          <a:prstGeom prst="rect">
            <a:avLst/>
          </a:prstGeom>
          <a:solidFill>
            <a:srgbClr val="1E3A8A">
              <a:alpha val="30000"/>
            </a:srgbClr>
          </a:solidFill>
          <a:ln/>
        </p:spPr>
      </p:sp>
      <p:sp>
        <p:nvSpPr>
          <p:cNvPr id="142" name="Text 128"/>
          <p:cNvSpPr/>
          <p:nvPr/>
        </p:nvSpPr>
        <p:spPr>
          <a:xfrm>
            <a:off x="6115050" y="14344650"/>
            <a:ext cx="2357438" cy="200025"/>
          </a:xfrm>
          <a:prstGeom prst="rect">
            <a:avLst/>
          </a:prstGeom>
          <a:noFill/>
          <a:ln/>
        </p:spPr>
        <p:txBody>
          <a:bodyPr wrap="square" lIns="0" tIns="0" rIns="0" bIns="0" rtlCol="0" anchor="ctr">
            <a:spAutoFit/>
          </a:bodyPr>
          <a:lstStyle/>
          <a:p>
            <a:pPr indent="0" marL="0">
              <a:buNone/>
            </a:pPr>
            <a:r>
              <a:rPr lang="en-US" sz="1125" b="1" dirty="0">
                <a:solidFill>
                  <a:srgbClr val="F1F5F9"/>
                </a:solidFill>
                <a:latin typeface="Segoe UI" pitchFamily="34" charset="0"/>
                <a:ea typeface="Segoe UI" pitchFamily="34" charset="-122"/>
                <a:cs typeface="Segoe UI" pitchFamily="34" charset="-120"/>
              </a:rPr>
              <a:t>Runtime Errors</a:t>
            </a:r>
            <a:endParaRPr lang="en-US" sz="1125" dirty="0"/>
          </a:p>
        </p:txBody>
      </p:sp>
      <p:sp>
        <p:nvSpPr>
          <p:cNvPr id="143" name="Shape 129"/>
          <p:cNvSpPr/>
          <p:nvPr/>
        </p:nvSpPr>
        <p:spPr>
          <a:xfrm>
            <a:off x="6115050" y="14630400"/>
            <a:ext cx="2286000" cy="1900238"/>
          </a:xfrm>
          <a:prstGeom prst="rect">
            <a:avLst/>
          </a:prstGeom>
          <a:solidFill>
            <a:srgbClr val="1E293B">
              <a:alpha val="80000"/>
            </a:srgbClr>
          </a:solidFill>
          <a:ln w="99">
            <a:solidFill>
              <a:srgbClr val="60A5FA">
                <a:alpha val="30000"/>
              </a:srgbClr>
            </a:solidFill>
            <a:prstDash val="solid"/>
          </a:ln>
        </p:spPr>
      </p:sp>
      <p:sp>
        <p:nvSpPr>
          <p:cNvPr id="144" name="Text 130"/>
          <p:cNvSpPr/>
          <p:nvPr/>
        </p:nvSpPr>
        <p:spPr>
          <a:xfrm>
            <a:off x="6200775" y="14771489"/>
            <a:ext cx="1048876" cy="96441"/>
          </a:xfrm>
          <a:prstGeom prst="rect">
            <a:avLst/>
          </a:prstGeom>
          <a:noFill/>
          <a:ln/>
        </p:spPr>
        <p:txBody>
          <a:bodyPr wrap="none" lIns="0" tIns="0" rIns="0" bIns="0" rtlCol="0" anchor="ctr">
            <a:spAutoFit/>
          </a:bodyPr>
          <a:lstStyle/>
          <a:p>
            <a:pPr indent="0" marL="0">
              <a:buNone/>
            </a:pPr>
            <a:r>
              <a:rPr lang="en-US" sz="675" dirty="0">
                <a:solidFill>
                  <a:srgbClr val="DBEAFE"/>
                </a:solidFill>
                <a:latin typeface="Consolas" pitchFamily="34" charset="0"/>
                <a:ea typeface="Consolas" pitchFamily="34" charset="-122"/>
                <a:cs typeface="Consolas" pitchFamily="34" charset="-120"/>
              </a:rPr>
              <a:t>// Division by zero</a:t>
            </a:r>
            <a:endParaRPr lang="en-US" sz="675" dirty="0"/>
          </a:p>
        </p:txBody>
      </p:sp>
      <p:sp>
        <p:nvSpPr>
          <p:cNvPr id="145" name="Text 131"/>
          <p:cNvSpPr/>
          <p:nvPr/>
        </p:nvSpPr>
        <p:spPr>
          <a:xfrm>
            <a:off x="6200775" y="14942939"/>
            <a:ext cx="1100305" cy="96441"/>
          </a:xfrm>
          <a:prstGeom prst="rect">
            <a:avLst/>
          </a:prstGeom>
          <a:noFill/>
          <a:ln/>
        </p:spPr>
        <p:txBody>
          <a:bodyPr wrap="none" lIns="0" tIns="0" rIns="0" bIns="0" rtlCol="0" anchor="ctr">
            <a:spAutoFit/>
          </a:bodyPr>
          <a:lstStyle/>
          <a:p>
            <a:pPr indent="0" marL="0">
              <a:buNone/>
            </a:pPr>
            <a:r>
              <a:rPr lang="en-US" sz="675" dirty="0">
                <a:solidFill>
                  <a:srgbClr val="DBEAFE"/>
                </a:solidFill>
                <a:latin typeface="Consolas" pitchFamily="34" charset="0"/>
                <a:ea typeface="Consolas" pitchFamily="34" charset="-122"/>
                <a:cs typeface="Consolas" pitchFamily="34" charset="-120"/>
              </a:rPr>
              <a:t>int result = 10 / 0;</a:t>
            </a:r>
            <a:endParaRPr lang="en-US" sz="675" dirty="0"/>
          </a:p>
        </p:txBody>
      </p:sp>
      <p:sp>
        <p:nvSpPr>
          <p:cNvPr id="146" name="Text 132"/>
          <p:cNvSpPr/>
          <p:nvPr/>
        </p:nvSpPr>
        <p:spPr>
          <a:xfrm>
            <a:off x="6200775" y="15285839"/>
            <a:ext cx="1357536" cy="96441"/>
          </a:xfrm>
          <a:prstGeom prst="rect">
            <a:avLst/>
          </a:prstGeom>
          <a:noFill/>
          <a:ln/>
        </p:spPr>
        <p:txBody>
          <a:bodyPr wrap="square" lIns="0" tIns="0" rIns="0" bIns="0" rtlCol="0" anchor="ctr">
            <a:spAutoFit/>
          </a:bodyPr>
          <a:lstStyle/>
          <a:p>
            <a:pPr indent="0" marL="0">
              <a:buNone/>
            </a:pPr>
            <a:r>
              <a:rPr lang="en-US" sz="675" dirty="0">
                <a:solidFill>
                  <a:srgbClr val="DBEAFE"/>
                </a:solidFill>
                <a:latin typeface="Consolas" pitchFamily="34" charset="0"/>
                <a:ea typeface="Consolas" pitchFamily="34" charset="-122"/>
                <a:cs typeface="Consolas" pitchFamily="34" charset="-120"/>
              </a:rPr>
              <a:t>// Null pointer exception</a:t>
            </a:r>
            <a:endParaRPr lang="en-US" sz="675" dirty="0"/>
          </a:p>
        </p:txBody>
      </p:sp>
      <p:sp>
        <p:nvSpPr>
          <p:cNvPr id="147" name="Text 133"/>
          <p:cNvSpPr/>
          <p:nvPr/>
        </p:nvSpPr>
        <p:spPr>
          <a:xfrm>
            <a:off x="6200775" y="15457289"/>
            <a:ext cx="894531" cy="96441"/>
          </a:xfrm>
          <a:prstGeom prst="rect">
            <a:avLst/>
          </a:prstGeom>
          <a:noFill/>
          <a:ln/>
        </p:spPr>
        <p:txBody>
          <a:bodyPr wrap="none" lIns="0" tIns="0" rIns="0" bIns="0" rtlCol="0" anchor="ctr">
            <a:spAutoFit/>
          </a:bodyPr>
          <a:lstStyle/>
          <a:p>
            <a:pPr indent="0" marL="0">
              <a:buNone/>
            </a:pPr>
            <a:r>
              <a:rPr lang="en-US" sz="675" dirty="0">
                <a:solidFill>
                  <a:srgbClr val="DBEAFE"/>
                </a:solidFill>
                <a:latin typeface="Consolas" pitchFamily="34" charset="0"/>
                <a:ea typeface="Consolas" pitchFamily="34" charset="-122"/>
                <a:cs typeface="Consolas" pitchFamily="34" charset="-120"/>
              </a:rPr>
              <a:t>String s = null;</a:t>
            </a:r>
            <a:endParaRPr lang="en-US" sz="675" dirty="0"/>
          </a:p>
        </p:txBody>
      </p:sp>
      <p:sp>
        <p:nvSpPr>
          <p:cNvPr id="148" name="Text 134"/>
          <p:cNvSpPr/>
          <p:nvPr/>
        </p:nvSpPr>
        <p:spPr>
          <a:xfrm>
            <a:off x="6200775" y="15628739"/>
            <a:ext cx="1306078" cy="96441"/>
          </a:xfrm>
          <a:prstGeom prst="rect">
            <a:avLst/>
          </a:prstGeom>
          <a:noFill/>
          <a:ln/>
        </p:spPr>
        <p:txBody>
          <a:bodyPr wrap="square" lIns="0" tIns="0" rIns="0" bIns="0" rtlCol="0" anchor="ctr">
            <a:spAutoFit/>
          </a:bodyPr>
          <a:lstStyle/>
          <a:p>
            <a:pPr indent="0" marL="0">
              <a:buNone/>
            </a:pPr>
            <a:r>
              <a:rPr lang="en-US" sz="675" dirty="0">
                <a:solidFill>
                  <a:srgbClr val="DBEAFE"/>
                </a:solidFill>
                <a:latin typeface="Consolas" pitchFamily="34" charset="0"/>
                <a:ea typeface="Consolas" pitchFamily="34" charset="-122"/>
                <a:cs typeface="Consolas" pitchFamily="34" charset="-120"/>
              </a:rPr>
              <a:t>int length = s.length();</a:t>
            </a:r>
            <a:endParaRPr lang="en-US" sz="675" dirty="0"/>
          </a:p>
        </p:txBody>
      </p:sp>
      <p:sp>
        <p:nvSpPr>
          <p:cNvPr id="149" name="Text 135"/>
          <p:cNvSpPr/>
          <p:nvPr/>
        </p:nvSpPr>
        <p:spPr>
          <a:xfrm>
            <a:off x="6200775" y="15971639"/>
            <a:ext cx="1511852" cy="96441"/>
          </a:xfrm>
          <a:prstGeom prst="rect">
            <a:avLst/>
          </a:prstGeom>
          <a:noFill/>
          <a:ln/>
        </p:spPr>
        <p:txBody>
          <a:bodyPr wrap="square" lIns="0" tIns="0" rIns="0" bIns="0" rtlCol="0" anchor="ctr">
            <a:spAutoFit/>
          </a:bodyPr>
          <a:lstStyle/>
          <a:p>
            <a:pPr indent="0" marL="0">
              <a:buNone/>
            </a:pPr>
            <a:r>
              <a:rPr lang="en-US" sz="675" dirty="0">
                <a:solidFill>
                  <a:srgbClr val="DBEAFE"/>
                </a:solidFill>
                <a:latin typeface="Consolas" pitchFamily="34" charset="0"/>
                <a:ea typeface="Consolas" pitchFamily="34" charset="-122"/>
                <a:cs typeface="Consolas" pitchFamily="34" charset="-120"/>
              </a:rPr>
              <a:t>// Array index out of bounds</a:t>
            </a:r>
            <a:endParaRPr lang="en-US" sz="675" dirty="0"/>
          </a:p>
        </p:txBody>
      </p:sp>
      <p:sp>
        <p:nvSpPr>
          <p:cNvPr id="150" name="Text 136"/>
          <p:cNvSpPr/>
          <p:nvPr/>
        </p:nvSpPr>
        <p:spPr>
          <a:xfrm>
            <a:off x="6200775" y="16143089"/>
            <a:ext cx="1203192" cy="96441"/>
          </a:xfrm>
          <a:prstGeom prst="rect">
            <a:avLst/>
          </a:prstGeom>
          <a:noFill/>
          <a:ln/>
        </p:spPr>
        <p:txBody>
          <a:bodyPr wrap="none" lIns="0" tIns="0" rIns="0" bIns="0" rtlCol="0" anchor="ctr">
            <a:spAutoFit/>
          </a:bodyPr>
          <a:lstStyle/>
          <a:p>
            <a:pPr indent="0" marL="0">
              <a:buNone/>
            </a:pPr>
            <a:r>
              <a:rPr lang="en-US" sz="675" dirty="0">
                <a:solidFill>
                  <a:srgbClr val="DBEAFE"/>
                </a:solidFill>
                <a:latin typeface="Consolas" pitchFamily="34" charset="0"/>
                <a:ea typeface="Consolas" pitchFamily="34" charset="-122"/>
                <a:cs typeface="Consolas" pitchFamily="34" charset="-120"/>
              </a:rPr>
              <a:t>int[] arr = {1, 2, 3};</a:t>
            </a:r>
            <a:endParaRPr lang="en-US" sz="675" dirty="0"/>
          </a:p>
        </p:txBody>
      </p:sp>
      <p:sp>
        <p:nvSpPr>
          <p:cNvPr id="151" name="Text 137"/>
          <p:cNvSpPr/>
          <p:nvPr/>
        </p:nvSpPr>
        <p:spPr>
          <a:xfrm>
            <a:off x="6200775" y="16314539"/>
            <a:ext cx="1048876" cy="96441"/>
          </a:xfrm>
          <a:prstGeom prst="rect">
            <a:avLst/>
          </a:prstGeom>
          <a:noFill/>
          <a:ln/>
        </p:spPr>
        <p:txBody>
          <a:bodyPr wrap="none" lIns="0" tIns="0" rIns="0" bIns="0" rtlCol="0" anchor="ctr">
            <a:spAutoFit/>
          </a:bodyPr>
          <a:lstStyle/>
          <a:p>
            <a:pPr indent="0" marL="0">
              <a:buNone/>
            </a:pPr>
            <a:r>
              <a:rPr lang="en-US" sz="675" dirty="0">
                <a:solidFill>
                  <a:srgbClr val="DBEAFE"/>
                </a:solidFill>
                <a:latin typeface="Consolas" pitchFamily="34" charset="0"/>
                <a:ea typeface="Consolas" pitchFamily="34" charset="-122"/>
                <a:cs typeface="Consolas" pitchFamily="34" charset="-120"/>
              </a:rPr>
              <a:t>int value = arr[3];</a:t>
            </a:r>
            <a:endParaRPr lang="en-US" sz="675" dirty="0"/>
          </a:p>
        </p:txBody>
      </p:sp>
      <p:sp>
        <p:nvSpPr>
          <p:cNvPr id="152" name="Text 138"/>
          <p:cNvSpPr/>
          <p:nvPr/>
        </p:nvSpPr>
        <p:spPr>
          <a:xfrm>
            <a:off x="6115050" y="16602075"/>
            <a:ext cx="2357438" cy="142875"/>
          </a:xfrm>
          <a:prstGeom prst="rect">
            <a:avLst/>
          </a:prstGeom>
          <a:noFill/>
          <a:ln/>
        </p:spPr>
        <p:txBody>
          <a:bodyPr wrap="square" lIns="0" tIns="0" rIns="0" bIns="0" rtlCol="0" anchor="ctr">
            <a:spAutoFit/>
          </a:bodyPr>
          <a:lstStyle/>
          <a:p>
            <a:pPr indent="0" marL="0">
              <a:buNone/>
            </a:pPr>
            <a:r>
              <a:rPr lang="en-US" sz="788" dirty="0">
                <a:solidFill>
                  <a:srgbClr val="F1F5F9"/>
                </a:solidFill>
                <a:latin typeface="Segoe UI" pitchFamily="34" charset="0"/>
                <a:ea typeface="Segoe UI" pitchFamily="34" charset="-122"/>
                <a:cs typeface="Segoe UI" pitchFamily="34" charset="-120"/>
              </a:rPr>
              <a:t>Errors that occur during execution</a:t>
            </a:r>
            <a:endParaRPr lang="en-US" sz="788" dirty="0"/>
          </a:p>
        </p:txBody>
      </p:sp>
      <p:sp>
        <p:nvSpPr>
          <p:cNvPr id="153" name="Shape 139"/>
          <p:cNvSpPr/>
          <p:nvPr/>
        </p:nvSpPr>
        <p:spPr>
          <a:xfrm>
            <a:off x="628650" y="17030700"/>
            <a:ext cx="7886700" cy="571500"/>
          </a:xfrm>
          <a:prstGeom prst="rect">
            <a:avLst/>
          </a:prstGeom>
          <a:solidFill>
            <a:srgbClr val="1E3A8A">
              <a:alpha val="30000"/>
            </a:srgbClr>
          </a:solidFill>
          <a:ln/>
        </p:spPr>
      </p:sp>
      <p:pic>
        <p:nvPicPr>
          <p:cNvPr id="154" name="Image 12" descr="preencoded.png">    </p:cNvPr>
          <p:cNvPicPr>
            <a:picLocks noChangeAspect="1"/>
          </p:cNvPicPr>
          <p:nvPr/>
        </p:nvPicPr>
        <p:blipFill>
          <a:blip r:embed="rId13"/>
          <a:stretch>
            <a:fillRect/>
          </a:stretch>
        </p:blipFill>
        <p:spPr>
          <a:xfrm>
            <a:off x="742950" y="17230725"/>
            <a:ext cx="171450" cy="171450"/>
          </a:xfrm>
          <a:prstGeom prst="rect">
            <a:avLst/>
          </a:prstGeom>
        </p:spPr>
      </p:pic>
      <p:sp>
        <p:nvSpPr>
          <p:cNvPr id="155" name="Text 140"/>
          <p:cNvSpPr/>
          <p:nvPr/>
        </p:nvSpPr>
        <p:spPr>
          <a:xfrm>
            <a:off x="1028700" y="17145000"/>
            <a:ext cx="7443788" cy="342900"/>
          </a:xfrm>
          <a:prstGeom prst="rect">
            <a:avLst/>
          </a:prstGeom>
          <a:noFill/>
          <a:ln/>
        </p:spPr>
        <p:txBody>
          <a:bodyPr wrap="square" lIns="0" tIns="0" rIns="0" bIns="0" rtlCol="0" anchor="ctr">
            <a:spAutoFit/>
          </a:bodyPr>
          <a:lstStyle/>
          <a:p>
            <a:pPr indent="0" marL="0">
              <a:buNone/>
            </a:pPr>
            <a:r>
              <a:rPr lang="en-US" sz="900" dirty="0">
                <a:solidFill>
                  <a:srgbClr val="F1F5F9"/>
                </a:solidFill>
                <a:latin typeface="Segoe UI" pitchFamily="34" charset="0"/>
                <a:ea typeface="Segoe UI" pitchFamily="34" charset="-122"/>
                <a:cs typeface="Segoe UI" pitchFamily="34" charset="-120"/>
              </a:rPr>
              <a:t>VS Code's Java extension provides real-time error detection and suggestions to help you fix compilation errors as you type. The Problems panel shows a list of all errors and warnings in your code.</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17545050"/>
          </a:xfrm>
          <a:prstGeom prst="rect">
            <a:avLst/>
          </a:prstGeom>
        </p:spPr>
      </p:pic>
      <p:sp>
        <p:nvSpPr>
          <p:cNvPr id="3" name="Text 0"/>
          <p:cNvSpPr/>
          <p:nvPr/>
        </p:nvSpPr>
        <p:spPr>
          <a:xfrm>
            <a:off x="457200" y="455414"/>
            <a:ext cx="1485649" cy="287536"/>
          </a:xfrm>
          <a:prstGeom prst="rect">
            <a:avLst/>
          </a:prstGeom>
          <a:noFill/>
          <a:ln/>
        </p:spPr>
        <p:txBody>
          <a:bodyPr wrap="square" lIns="0" tIns="0" rIns="0" bIns="0" rtlCol="0" anchor="ctr">
            <a:spAutoFit/>
          </a:bodyPr>
          <a:lstStyle/>
          <a:p>
            <a:pPr indent="0" marL="0">
              <a:buNone/>
            </a:pPr>
            <a:r>
              <a:rPr lang="en-US" sz="2025" b="1" dirty="0">
                <a:solidFill>
                  <a:srgbClr val="F1F5F9"/>
                </a:solidFill>
                <a:latin typeface="Segoe UI" pitchFamily="34" charset="0"/>
                <a:ea typeface="Segoe UI" pitchFamily="34" charset="-122"/>
                <a:cs typeface="Segoe UI" pitchFamily="34" charset="-120"/>
              </a:rPr>
              <a:t>Debugging</a:t>
            </a:r>
            <a:endParaRPr lang="en-US" sz="2025" dirty="0"/>
          </a:p>
        </p:txBody>
      </p:sp>
      <p:sp>
        <p:nvSpPr>
          <p:cNvPr id="4" name="Text 1"/>
          <p:cNvSpPr/>
          <p:nvPr/>
        </p:nvSpPr>
        <p:spPr>
          <a:xfrm>
            <a:off x="1871411" y="455414"/>
            <a:ext cx="1915613" cy="287536"/>
          </a:xfrm>
          <a:prstGeom prst="rect">
            <a:avLst/>
          </a:prstGeom>
          <a:noFill/>
          <a:ln/>
        </p:spPr>
        <p:txBody>
          <a:bodyPr wrap="square" lIns="0" tIns="0" rIns="0" bIns="0" rtlCol="0" anchor="ctr">
            <a:spAutoFit/>
          </a:bodyPr>
          <a:lstStyle/>
          <a:p>
            <a:pPr indent="0" marL="0">
              <a:buNone/>
            </a:pPr>
            <a:r>
              <a:rPr lang="en-US" sz="2025" b="1" dirty="0">
                <a:solidFill>
                  <a:srgbClr val="60A5FA"/>
                </a:solidFill>
                <a:latin typeface="Segoe UI" pitchFamily="34" charset="0"/>
                <a:ea typeface="Segoe UI" pitchFamily="34" charset="-122"/>
                <a:cs typeface="Segoe UI" pitchFamily="34" charset="-120"/>
              </a:rPr>
              <a:t>Java Programs</a:t>
            </a:r>
            <a:endParaRPr lang="en-US" sz="2025" dirty="0"/>
          </a:p>
        </p:txBody>
      </p:sp>
      <p:sp>
        <p:nvSpPr>
          <p:cNvPr id="5" name="Text 2"/>
          <p:cNvSpPr/>
          <p:nvPr/>
        </p:nvSpPr>
        <p:spPr>
          <a:xfrm>
            <a:off x="3715587" y="455414"/>
            <a:ext cx="1500355" cy="287536"/>
          </a:xfrm>
          <a:prstGeom prst="rect">
            <a:avLst/>
          </a:prstGeom>
          <a:noFill/>
          <a:ln/>
        </p:spPr>
        <p:txBody>
          <a:bodyPr wrap="square" lIns="0" tIns="0" rIns="0" bIns="0" rtlCol="0" anchor="ctr">
            <a:spAutoFit/>
          </a:bodyPr>
          <a:lstStyle/>
          <a:p>
            <a:pPr indent="0" marL="0">
              <a:buNone/>
            </a:pPr>
            <a:r>
              <a:rPr lang="en-US" sz="2025" b="1" dirty="0">
                <a:solidFill>
                  <a:srgbClr val="F1F5F9"/>
                </a:solidFill>
                <a:latin typeface="Segoe UI" pitchFamily="34" charset="0"/>
                <a:ea typeface="Segoe UI" pitchFamily="34" charset="-122"/>
                <a:cs typeface="Segoe UI" pitchFamily="34" charset="-120"/>
              </a:rPr>
              <a:t>in VS Code</a:t>
            </a:r>
            <a:endParaRPr lang="en-US" sz="2025" dirty="0"/>
          </a:p>
        </p:txBody>
      </p:sp>
      <p:sp>
        <p:nvSpPr>
          <p:cNvPr id="6" name="Shape 3"/>
          <p:cNvSpPr/>
          <p:nvPr/>
        </p:nvSpPr>
        <p:spPr>
          <a:xfrm>
            <a:off x="457200" y="971550"/>
            <a:ext cx="4000500" cy="3843338"/>
          </a:xfrm>
          <a:prstGeom prst="rect">
            <a:avLst/>
          </a:prstGeom>
          <a:solidFill>
            <a:srgbClr val="FFFFFF">
              <a:alpha val="10000"/>
            </a:srgbClr>
          </a:solidFill>
          <a:ln w="99">
            <a:solidFill>
              <a:srgbClr val="60A5FA">
                <a:alpha val="30000"/>
              </a:srgbClr>
            </a:solidFill>
            <a:prstDash val="solid"/>
          </a:ln>
        </p:spPr>
      </p:sp>
      <p:sp>
        <p:nvSpPr>
          <p:cNvPr id="7" name="Text 4"/>
          <p:cNvSpPr/>
          <p:nvPr/>
        </p:nvSpPr>
        <p:spPr>
          <a:xfrm>
            <a:off x="628650" y="1143000"/>
            <a:ext cx="3729038" cy="228600"/>
          </a:xfrm>
          <a:prstGeom prst="rect">
            <a:avLst/>
          </a:prstGeom>
          <a:noFill/>
          <a:ln/>
        </p:spPr>
        <p:txBody>
          <a:bodyPr wrap="square" lIns="0" tIns="0" rIns="0" bIns="0" rtlCol="0" anchor="ctr">
            <a:spAutoFit/>
          </a:bodyPr>
          <a:lstStyle/>
          <a:p>
            <a:pPr indent="0" marL="0">
              <a:buNone/>
            </a:pPr>
            <a:r>
              <a:rPr lang="en-US" sz="1350" b="1" dirty="0">
                <a:solidFill>
                  <a:srgbClr val="BFDBFE"/>
                </a:solidFill>
                <a:latin typeface="Segoe UI" pitchFamily="34" charset="0"/>
                <a:ea typeface="Segoe UI" pitchFamily="34" charset="-122"/>
                <a:cs typeface="Segoe UI" pitchFamily="34" charset="-120"/>
              </a:rPr>
              <a:t>What is Debugging?</a:t>
            </a:r>
            <a:endParaRPr lang="en-US" sz="1350" dirty="0"/>
          </a:p>
        </p:txBody>
      </p:sp>
      <p:sp>
        <p:nvSpPr>
          <p:cNvPr id="8" name="Shape 5"/>
          <p:cNvSpPr/>
          <p:nvPr/>
        </p:nvSpPr>
        <p:spPr>
          <a:xfrm>
            <a:off x="628650" y="1485900"/>
            <a:ext cx="3657600" cy="1885950"/>
          </a:xfrm>
          <a:prstGeom prst="rect">
            <a:avLst/>
          </a:prstGeom>
          <a:solidFill>
            <a:srgbClr val="1E3A8A">
              <a:alpha val="30000"/>
            </a:srgbClr>
          </a:solidFill>
          <a:ln/>
        </p:spPr>
      </p:sp>
      <p:sp>
        <p:nvSpPr>
          <p:cNvPr id="9" name="Text 6"/>
          <p:cNvSpPr/>
          <p:nvPr/>
        </p:nvSpPr>
        <p:spPr>
          <a:xfrm>
            <a:off x="742950" y="1600200"/>
            <a:ext cx="3500438" cy="200025"/>
          </a:xfrm>
          <a:prstGeom prst="rect">
            <a:avLst/>
          </a:prstGeom>
          <a:noFill/>
          <a:ln/>
        </p:spPr>
        <p:txBody>
          <a:bodyPr wrap="square" lIns="0" tIns="0" rIns="0" bIns="0" rtlCol="0" anchor="ctr">
            <a:spAutoFit/>
          </a:bodyPr>
          <a:lstStyle/>
          <a:p>
            <a:pPr indent="0" marL="0">
              <a:buNone/>
            </a:pPr>
            <a:r>
              <a:rPr lang="en-US" sz="1125" b="1" dirty="0">
                <a:solidFill>
                  <a:srgbClr val="F1F5F9"/>
                </a:solidFill>
                <a:latin typeface="Segoe UI" pitchFamily="34" charset="0"/>
                <a:ea typeface="Segoe UI" pitchFamily="34" charset="-122"/>
                <a:cs typeface="Segoe UI" pitchFamily="34" charset="-120"/>
              </a:rPr>
              <a:t>Definition</a:t>
            </a:r>
            <a:endParaRPr lang="en-US" sz="1125" dirty="0"/>
          </a:p>
        </p:txBody>
      </p:sp>
      <p:sp>
        <p:nvSpPr>
          <p:cNvPr id="10" name="Text 7"/>
          <p:cNvSpPr/>
          <p:nvPr/>
        </p:nvSpPr>
        <p:spPr>
          <a:xfrm>
            <a:off x="742950" y="1857375"/>
            <a:ext cx="3500438" cy="342900"/>
          </a:xfrm>
          <a:prstGeom prst="rect">
            <a:avLst/>
          </a:prstGeom>
          <a:noFill/>
          <a:ln/>
        </p:spPr>
        <p:txBody>
          <a:bodyPr wrap="square" lIns="0" tIns="0" rIns="0" bIns="0" rtlCol="0" anchor="ctr">
            <a:spAutoFit/>
          </a:bodyPr>
          <a:lstStyle/>
          <a:p>
            <a:pPr indent="0" marL="0">
              <a:buNone/>
            </a:pPr>
            <a:r>
              <a:rPr lang="en-US" sz="900" dirty="0">
                <a:solidFill>
                  <a:srgbClr val="F1F5F9"/>
                </a:solidFill>
                <a:latin typeface="Segoe UI" pitchFamily="34" charset="0"/>
                <a:ea typeface="Segoe UI" pitchFamily="34" charset="-122"/>
                <a:cs typeface="Segoe UI" pitchFamily="34" charset="-120"/>
              </a:rPr>
              <a:t>Debugging is the process of finding and fixing errors (bugs) in your code.</a:t>
            </a:r>
            <a:endParaRPr lang="en-US" sz="900" dirty="0"/>
          </a:p>
        </p:txBody>
      </p:sp>
      <p:sp>
        <p:nvSpPr>
          <p:cNvPr id="11" name="Text 8"/>
          <p:cNvSpPr/>
          <p:nvPr/>
        </p:nvSpPr>
        <p:spPr>
          <a:xfrm>
            <a:off x="742950" y="2257425"/>
            <a:ext cx="3500438" cy="171450"/>
          </a:xfrm>
          <a:prstGeom prst="rect">
            <a:avLst/>
          </a:prstGeom>
          <a:noFill/>
          <a:ln/>
        </p:spPr>
        <p:txBody>
          <a:bodyPr wrap="square" lIns="0" tIns="0" rIns="0" bIns="0" rtlCol="0" anchor="ctr">
            <a:spAutoFit/>
          </a:bodyPr>
          <a:lstStyle/>
          <a:p>
            <a:pPr indent="0" marL="0">
              <a:buNone/>
            </a:pPr>
            <a:r>
              <a:rPr lang="en-US" sz="900" dirty="0">
                <a:solidFill>
                  <a:srgbClr val="F1F5F9"/>
                </a:solidFill>
                <a:latin typeface="Segoe UI" pitchFamily="34" charset="0"/>
                <a:ea typeface="Segoe UI" pitchFamily="34" charset="-122"/>
                <a:cs typeface="Segoe UI" pitchFamily="34" charset="-120"/>
              </a:rPr>
              <a:t>It allows you to:</a:t>
            </a:r>
            <a:endParaRPr lang="en-US" sz="900" dirty="0"/>
          </a:p>
        </p:txBody>
      </p:sp>
      <p:pic>
        <p:nvPicPr>
          <p:cNvPr id="12" name="Image 1" descr="preencoded.png">    </p:cNvPr>
          <p:cNvPicPr>
            <a:picLocks noChangeAspect="1"/>
          </p:cNvPicPr>
          <p:nvPr/>
        </p:nvPicPr>
        <p:blipFill>
          <a:blip r:embed="rId2"/>
          <a:stretch>
            <a:fillRect/>
          </a:stretch>
        </p:blipFill>
        <p:spPr>
          <a:xfrm>
            <a:off x="857250" y="2457450"/>
            <a:ext cx="100013" cy="100013"/>
          </a:xfrm>
          <a:prstGeom prst="rect">
            <a:avLst/>
          </a:prstGeom>
        </p:spPr>
      </p:pic>
      <p:sp>
        <p:nvSpPr>
          <p:cNvPr id="13" name="Text 9"/>
          <p:cNvSpPr/>
          <p:nvPr/>
        </p:nvSpPr>
        <p:spPr>
          <a:xfrm>
            <a:off x="1014413" y="2428875"/>
            <a:ext cx="1978289" cy="142875"/>
          </a:xfrm>
          <a:prstGeom prst="rect">
            <a:avLst/>
          </a:prstGeom>
          <a:noFill/>
          <a:ln/>
        </p:spPr>
        <p:txBody>
          <a:bodyPr wrap="square" lIns="0" tIns="0" rIns="0" bIns="0" rtlCol="0" anchor="ctr">
            <a:spAutoFit/>
          </a:bodyPr>
          <a:lstStyle/>
          <a:p>
            <a:pPr algn="l" indent="0" marL="0">
              <a:buNone/>
            </a:pPr>
            <a:r>
              <a:rPr lang="en-US" sz="788" dirty="0">
                <a:solidFill>
                  <a:srgbClr val="F1F5F9"/>
                </a:solidFill>
                <a:latin typeface="Segoe UI" pitchFamily="34" charset="0"/>
                <a:ea typeface="Segoe UI" pitchFamily="34" charset="-122"/>
                <a:cs typeface="Segoe UI" pitchFamily="34" charset="-120"/>
              </a:rPr>
              <a:t>Pause program execution at specific points</a:t>
            </a:r>
            <a:endParaRPr lang="en-US" sz="788" dirty="0"/>
          </a:p>
        </p:txBody>
      </p:sp>
      <p:pic>
        <p:nvPicPr>
          <p:cNvPr id="14" name="Image 2" descr="preencoded.png">    </p:cNvPr>
          <p:cNvPicPr>
            <a:picLocks noChangeAspect="1"/>
          </p:cNvPicPr>
          <p:nvPr/>
        </p:nvPicPr>
        <p:blipFill>
          <a:blip r:embed="rId3"/>
          <a:stretch>
            <a:fillRect/>
          </a:stretch>
        </p:blipFill>
        <p:spPr>
          <a:xfrm>
            <a:off x="857250" y="2628900"/>
            <a:ext cx="100013" cy="100013"/>
          </a:xfrm>
          <a:prstGeom prst="rect">
            <a:avLst/>
          </a:prstGeom>
        </p:spPr>
      </p:pic>
      <p:sp>
        <p:nvSpPr>
          <p:cNvPr id="15" name="Text 10"/>
          <p:cNvSpPr/>
          <p:nvPr/>
        </p:nvSpPr>
        <p:spPr>
          <a:xfrm>
            <a:off x="1014413" y="2600325"/>
            <a:ext cx="1850538" cy="142875"/>
          </a:xfrm>
          <a:prstGeom prst="rect">
            <a:avLst/>
          </a:prstGeom>
          <a:noFill/>
          <a:ln/>
        </p:spPr>
        <p:txBody>
          <a:bodyPr wrap="square" lIns="0" tIns="0" rIns="0" bIns="0" rtlCol="0" anchor="ctr">
            <a:spAutoFit/>
          </a:bodyPr>
          <a:lstStyle/>
          <a:p>
            <a:pPr algn="l" indent="0" marL="0">
              <a:buNone/>
            </a:pPr>
            <a:r>
              <a:rPr lang="en-US" sz="788" dirty="0">
                <a:solidFill>
                  <a:srgbClr val="F1F5F9"/>
                </a:solidFill>
                <a:latin typeface="Segoe UI" pitchFamily="34" charset="0"/>
                <a:ea typeface="Segoe UI" pitchFamily="34" charset="-122"/>
                <a:cs typeface="Segoe UI" pitchFamily="34" charset="-120"/>
              </a:rPr>
              <a:t>Inspect variable values during execution</a:t>
            </a:r>
            <a:endParaRPr lang="en-US" sz="788" dirty="0"/>
          </a:p>
        </p:txBody>
      </p:sp>
      <p:pic>
        <p:nvPicPr>
          <p:cNvPr id="16" name="Image 3" descr="preencoded.png">    </p:cNvPr>
          <p:cNvPicPr>
            <a:picLocks noChangeAspect="1"/>
          </p:cNvPicPr>
          <p:nvPr/>
        </p:nvPicPr>
        <p:blipFill>
          <a:blip r:embed="rId4"/>
          <a:stretch>
            <a:fillRect/>
          </a:stretch>
        </p:blipFill>
        <p:spPr>
          <a:xfrm>
            <a:off x="857250" y="2800350"/>
            <a:ext cx="100013" cy="100013"/>
          </a:xfrm>
          <a:prstGeom prst="rect">
            <a:avLst/>
          </a:prstGeom>
        </p:spPr>
      </p:pic>
      <p:sp>
        <p:nvSpPr>
          <p:cNvPr id="17" name="Text 11"/>
          <p:cNvSpPr/>
          <p:nvPr/>
        </p:nvSpPr>
        <p:spPr>
          <a:xfrm>
            <a:off x="1014413" y="2771775"/>
            <a:ext cx="1389180" cy="142875"/>
          </a:xfrm>
          <a:prstGeom prst="rect">
            <a:avLst/>
          </a:prstGeom>
          <a:noFill/>
          <a:ln/>
        </p:spPr>
        <p:txBody>
          <a:bodyPr wrap="square" lIns="0" tIns="0" rIns="0" bIns="0" rtlCol="0" anchor="ctr">
            <a:spAutoFit/>
          </a:bodyPr>
          <a:lstStyle/>
          <a:p>
            <a:pPr algn="l" indent="0" marL="0">
              <a:buNone/>
            </a:pPr>
            <a:r>
              <a:rPr lang="en-US" sz="788" dirty="0">
                <a:solidFill>
                  <a:srgbClr val="F1F5F9"/>
                </a:solidFill>
                <a:latin typeface="Segoe UI" pitchFamily="34" charset="0"/>
                <a:ea typeface="Segoe UI" pitchFamily="34" charset="-122"/>
                <a:cs typeface="Segoe UI" pitchFamily="34" charset="-120"/>
              </a:rPr>
              <a:t>Step through code line by line</a:t>
            </a:r>
            <a:endParaRPr lang="en-US" sz="788" dirty="0"/>
          </a:p>
        </p:txBody>
      </p:sp>
      <p:pic>
        <p:nvPicPr>
          <p:cNvPr id="18" name="Image 4" descr="preencoded.png">    </p:cNvPr>
          <p:cNvPicPr>
            <a:picLocks noChangeAspect="1"/>
          </p:cNvPicPr>
          <p:nvPr/>
        </p:nvPicPr>
        <p:blipFill>
          <a:blip r:embed="rId5"/>
          <a:stretch>
            <a:fillRect/>
          </a:stretch>
        </p:blipFill>
        <p:spPr>
          <a:xfrm>
            <a:off x="857250" y="2971800"/>
            <a:ext cx="100013" cy="100013"/>
          </a:xfrm>
          <a:prstGeom prst="rect">
            <a:avLst/>
          </a:prstGeom>
        </p:spPr>
      </p:pic>
      <p:sp>
        <p:nvSpPr>
          <p:cNvPr id="19" name="Text 12"/>
          <p:cNvSpPr/>
          <p:nvPr/>
        </p:nvSpPr>
        <p:spPr>
          <a:xfrm>
            <a:off x="1014413" y="2943225"/>
            <a:ext cx="1257328" cy="142875"/>
          </a:xfrm>
          <a:prstGeom prst="rect">
            <a:avLst/>
          </a:prstGeom>
          <a:noFill/>
          <a:ln/>
        </p:spPr>
        <p:txBody>
          <a:bodyPr wrap="none" lIns="0" tIns="0" rIns="0" bIns="0" rtlCol="0" anchor="ctr">
            <a:spAutoFit/>
          </a:bodyPr>
          <a:lstStyle/>
          <a:p>
            <a:pPr algn="l" indent="0" marL="0">
              <a:buNone/>
            </a:pPr>
            <a:r>
              <a:rPr lang="en-US" sz="788" dirty="0">
                <a:solidFill>
                  <a:srgbClr val="F1F5F9"/>
                </a:solidFill>
                <a:latin typeface="Segoe UI" pitchFamily="34" charset="0"/>
                <a:ea typeface="Segoe UI" pitchFamily="34" charset="-122"/>
                <a:cs typeface="Segoe UI" pitchFamily="34" charset="-120"/>
              </a:rPr>
              <a:t>Track the flow of execution</a:t>
            </a:r>
            <a:endParaRPr lang="en-US" sz="788" dirty="0"/>
          </a:p>
        </p:txBody>
      </p:sp>
      <p:pic>
        <p:nvPicPr>
          <p:cNvPr id="20" name="Image 5" descr="preencoded.png">    </p:cNvPr>
          <p:cNvPicPr>
            <a:picLocks noChangeAspect="1"/>
          </p:cNvPicPr>
          <p:nvPr/>
        </p:nvPicPr>
        <p:blipFill>
          <a:blip r:embed="rId6"/>
          <a:stretch>
            <a:fillRect/>
          </a:stretch>
        </p:blipFill>
        <p:spPr>
          <a:xfrm>
            <a:off x="857250" y="3143250"/>
            <a:ext cx="100013" cy="100013"/>
          </a:xfrm>
          <a:prstGeom prst="rect">
            <a:avLst/>
          </a:prstGeom>
        </p:spPr>
      </p:pic>
      <p:sp>
        <p:nvSpPr>
          <p:cNvPr id="21" name="Text 13"/>
          <p:cNvSpPr/>
          <p:nvPr/>
        </p:nvSpPr>
        <p:spPr>
          <a:xfrm>
            <a:off x="1014413" y="3114675"/>
            <a:ext cx="1455651" cy="142875"/>
          </a:xfrm>
          <a:prstGeom prst="rect">
            <a:avLst/>
          </a:prstGeom>
          <a:noFill/>
          <a:ln/>
        </p:spPr>
        <p:txBody>
          <a:bodyPr wrap="square" lIns="0" tIns="0" rIns="0" bIns="0" rtlCol="0" anchor="ctr">
            <a:spAutoFit/>
          </a:bodyPr>
          <a:lstStyle/>
          <a:p>
            <a:pPr algn="l" indent="0" marL="0">
              <a:buNone/>
            </a:pPr>
            <a:r>
              <a:rPr lang="en-US" sz="788" dirty="0">
                <a:solidFill>
                  <a:srgbClr val="F1F5F9"/>
                </a:solidFill>
                <a:latin typeface="Segoe UI" pitchFamily="34" charset="0"/>
                <a:ea typeface="Segoe UI" pitchFamily="34" charset="-122"/>
                <a:cs typeface="Segoe UI" pitchFamily="34" charset="-120"/>
              </a:rPr>
              <a:t>Identify the root cause of errors</a:t>
            </a:r>
            <a:endParaRPr lang="en-US" sz="788" dirty="0"/>
          </a:p>
        </p:txBody>
      </p:sp>
      <p:sp>
        <p:nvSpPr>
          <p:cNvPr id="22" name="Shape 14"/>
          <p:cNvSpPr/>
          <p:nvPr/>
        </p:nvSpPr>
        <p:spPr>
          <a:xfrm>
            <a:off x="628650" y="3486150"/>
            <a:ext cx="3657600" cy="1143000"/>
          </a:xfrm>
          <a:prstGeom prst="rect">
            <a:avLst/>
          </a:prstGeom>
          <a:solidFill>
            <a:srgbClr val="1E3A8A">
              <a:alpha val="30000"/>
            </a:srgbClr>
          </a:solidFill>
          <a:ln/>
        </p:spPr>
      </p:sp>
      <p:sp>
        <p:nvSpPr>
          <p:cNvPr id="23" name="Text 15"/>
          <p:cNvSpPr/>
          <p:nvPr/>
        </p:nvSpPr>
        <p:spPr>
          <a:xfrm>
            <a:off x="742950" y="3600450"/>
            <a:ext cx="3500438" cy="200025"/>
          </a:xfrm>
          <a:prstGeom prst="rect">
            <a:avLst/>
          </a:prstGeom>
          <a:noFill/>
          <a:ln/>
        </p:spPr>
        <p:txBody>
          <a:bodyPr wrap="square" lIns="0" tIns="0" rIns="0" bIns="0" rtlCol="0" anchor="ctr">
            <a:spAutoFit/>
          </a:bodyPr>
          <a:lstStyle/>
          <a:p>
            <a:pPr indent="0" marL="0">
              <a:buNone/>
            </a:pPr>
            <a:r>
              <a:rPr lang="en-US" sz="1125" b="1" dirty="0">
                <a:solidFill>
                  <a:srgbClr val="F1F5F9"/>
                </a:solidFill>
                <a:latin typeface="Segoe UI" pitchFamily="34" charset="0"/>
                <a:ea typeface="Segoe UI" pitchFamily="34" charset="-122"/>
                <a:cs typeface="Segoe UI" pitchFamily="34" charset="-120"/>
              </a:rPr>
              <a:t>When to Debug?</a:t>
            </a:r>
            <a:endParaRPr lang="en-US" sz="1125" dirty="0"/>
          </a:p>
        </p:txBody>
      </p:sp>
      <p:pic>
        <p:nvPicPr>
          <p:cNvPr id="24" name="Image 6" descr="preencoded.png">    </p:cNvPr>
          <p:cNvPicPr>
            <a:picLocks noChangeAspect="1"/>
          </p:cNvPicPr>
          <p:nvPr/>
        </p:nvPicPr>
        <p:blipFill>
          <a:blip r:embed="rId7"/>
          <a:stretch>
            <a:fillRect/>
          </a:stretch>
        </p:blipFill>
        <p:spPr>
          <a:xfrm>
            <a:off x="742950" y="3886200"/>
            <a:ext cx="100013" cy="100013"/>
          </a:xfrm>
          <a:prstGeom prst="rect">
            <a:avLst/>
          </a:prstGeom>
        </p:spPr>
      </p:pic>
      <p:sp>
        <p:nvSpPr>
          <p:cNvPr id="25" name="Text 16"/>
          <p:cNvSpPr/>
          <p:nvPr/>
        </p:nvSpPr>
        <p:spPr>
          <a:xfrm>
            <a:off x="900113" y="3857625"/>
            <a:ext cx="2133805" cy="142875"/>
          </a:xfrm>
          <a:prstGeom prst="rect">
            <a:avLst/>
          </a:prstGeom>
          <a:noFill/>
          <a:ln/>
        </p:spPr>
        <p:txBody>
          <a:bodyPr wrap="square" lIns="0" tIns="0" rIns="0" bIns="0" rtlCol="0" anchor="ctr">
            <a:spAutoFit/>
          </a:bodyPr>
          <a:lstStyle/>
          <a:p>
            <a:pPr algn="l" indent="0" marL="0">
              <a:buNone/>
            </a:pPr>
            <a:r>
              <a:rPr lang="en-US" sz="788" dirty="0">
                <a:solidFill>
                  <a:srgbClr val="F1F5F9"/>
                </a:solidFill>
                <a:latin typeface="Segoe UI" pitchFamily="34" charset="0"/>
                <a:ea typeface="Segoe UI" pitchFamily="34" charset="-122"/>
                <a:cs typeface="Segoe UI" pitchFamily="34" charset="-120"/>
              </a:rPr>
              <a:t>When your program crashes with an exception</a:t>
            </a:r>
            <a:endParaRPr lang="en-US" sz="788" dirty="0"/>
          </a:p>
        </p:txBody>
      </p:sp>
      <p:pic>
        <p:nvPicPr>
          <p:cNvPr id="26" name="Image 7" descr="preencoded.png">    </p:cNvPr>
          <p:cNvPicPr>
            <a:picLocks noChangeAspect="1"/>
          </p:cNvPicPr>
          <p:nvPr/>
        </p:nvPicPr>
        <p:blipFill>
          <a:blip r:embed="rId8"/>
          <a:stretch>
            <a:fillRect/>
          </a:stretch>
        </p:blipFill>
        <p:spPr>
          <a:xfrm>
            <a:off x="742950" y="4057650"/>
            <a:ext cx="100013" cy="100013"/>
          </a:xfrm>
          <a:prstGeom prst="rect">
            <a:avLst/>
          </a:prstGeom>
        </p:spPr>
      </p:pic>
      <p:sp>
        <p:nvSpPr>
          <p:cNvPr id="27" name="Text 17"/>
          <p:cNvSpPr/>
          <p:nvPr/>
        </p:nvSpPr>
        <p:spPr>
          <a:xfrm>
            <a:off x="900113" y="4029075"/>
            <a:ext cx="2261750" cy="142875"/>
          </a:xfrm>
          <a:prstGeom prst="rect">
            <a:avLst/>
          </a:prstGeom>
          <a:noFill/>
          <a:ln/>
        </p:spPr>
        <p:txBody>
          <a:bodyPr wrap="square" lIns="0" tIns="0" rIns="0" bIns="0" rtlCol="0" anchor="ctr">
            <a:spAutoFit/>
          </a:bodyPr>
          <a:lstStyle/>
          <a:p>
            <a:pPr algn="l" indent="0" marL="0">
              <a:buNone/>
            </a:pPr>
            <a:r>
              <a:rPr lang="en-US" sz="788" dirty="0">
                <a:solidFill>
                  <a:srgbClr val="F1F5F9"/>
                </a:solidFill>
                <a:latin typeface="Segoe UI" pitchFamily="34" charset="0"/>
                <a:ea typeface="Segoe UI" pitchFamily="34" charset="-122"/>
                <a:cs typeface="Segoe UI" pitchFamily="34" charset="-120"/>
              </a:rPr>
              <a:t>When your program produces unexpected results</a:t>
            </a:r>
            <a:endParaRPr lang="en-US" sz="788" dirty="0"/>
          </a:p>
        </p:txBody>
      </p:sp>
      <p:pic>
        <p:nvPicPr>
          <p:cNvPr id="28" name="Image 8" descr="preencoded.png">    </p:cNvPr>
          <p:cNvPicPr>
            <a:picLocks noChangeAspect="1"/>
          </p:cNvPicPr>
          <p:nvPr/>
        </p:nvPicPr>
        <p:blipFill>
          <a:blip r:embed="rId9"/>
          <a:stretch>
            <a:fillRect/>
          </a:stretch>
        </p:blipFill>
        <p:spPr>
          <a:xfrm>
            <a:off x="742950" y="4229100"/>
            <a:ext cx="100013" cy="100013"/>
          </a:xfrm>
          <a:prstGeom prst="rect">
            <a:avLst/>
          </a:prstGeom>
        </p:spPr>
      </p:pic>
      <p:sp>
        <p:nvSpPr>
          <p:cNvPr id="29" name="Text 18"/>
          <p:cNvSpPr/>
          <p:nvPr/>
        </p:nvSpPr>
        <p:spPr>
          <a:xfrm>
            <a:off x="900113" y="4200525"/>
            <a:ext cx="2606576" cy="142875"/>
          </a:xfrm>
          <a:prstGeom prst="rect">
            <a:avLst/>
          </a:prstGeom>
          <a:noFill/>
          <a:ln/>
        </p:spPr>
        <p:txBody>
          <a:bodyPr wrap="square" lIns="0" tIns="0" rIns="0" bIns="0" rtlCol="0" anchor="ctr">
            <a:spAutoFit/>
          </a:bodyPr>
          <a:lstStyle/>
          <a:p>
            <a:pPr algn="l" indent="0" marL="0">
              <a:buNone/>
            </a:pPr>
            <a:r>
              <a:rPr lang="en-US" sz="788" dirty="0">
                <a:solidFill>
                  <a:srgbClr val="F1F5F9"/>
                </a:solidFill>
                <a:latin typeface="Segoe UI" pitchFamily="34" charset="0"/>
                <a:ea typeface="Segoe UI" pitchFamily="34" charset="-122"/>
                <a:cs typeface="Segoe UI" pitchFamily="34" charset="-120"/>
              </a:rPr>
              <a:t>When you want to understand how a piece of code works</a:t>
            </a:r>
            <a:endParaRPr lang="en-US" sz="788" dirty="0"/>
          </a:p>
        </p:txBody>
      </p:sp>
      <p:pic>
        <p:nvPicPr>
          <p:cNvPr id="30" name="Image 9" descr="preencoded.png">    </p:cNvPr>
          <p:cNvPicPr>
            <a:picLocks noChangeAspect="1"/>
          </p:cNvPicPr>
          <p:nvPr/>
        </p:nvPicPr>
        <p:blipFill>
          <a:blip r:embed="rId10"/>
          <a:stretch>
            <a:fillRect/>
          </a:stretch>
        </p:blipFill>
        <p:spPr>
          <a:xfrm>
            <a:off x="742950" y="4400550"/>
            <a:ext cx="100013" cy="100013"/>
          </a:xfrm>
          <a:prstGeom prst="rect">
            <a:avLst/>
          </a:prstGeom>
        </p:spPr>
      </p:pic>
      <p:sp>
        <p:nvSpPr>
          <p:cNvPr id="31" name="Text 19"/>
          <p:cNvSpPr/>
          <p:nvPr/>
        </p:nvSpPr>
        <p:spPr>
          <a:xfrm>
            <a:off x="900113" y="4371975"/>
            <a:ext cx="2303134" cy="142875"/>
          </a:xfrm>
          <a:prstGeom prst="rect">
            <a:avLst/>
          </a:prstGeom>
          <a:noFill/>
          <a:ln/>
        </p:spPr>
        <p:txBody>
          <a:bodyPr wrap="square" lIns="0" tIns="0" rIns="0" bIns="0" rtlCol="0" anchor="ctr">
            <a:spAutoFit/>
          </a:bodyPr>
          <a:lstStyle/>
          <a:p>
            <a:pPr algn="l" indent="0" marL="0">
              <a:buNone/>
            </a:pPr>
            <a:r>
              <a:rPr lang="en-US" sz="788" dirty="0">
                <a:solidFill>
                  <a:srgbClr val="F1F5F9"/>
                </a:solidFill>
                <a:latin typeface="Segoe UI" pitchFamily="34" charset="0"/>
                <a:ea typeface="Segoe UI" pitchFamily="34" charset="-122"/>
                <a:cs typeface="Segoe UI" pitchFamily="34" charset="-120"/>
              </a:rPr>
              <a:t>When you're learning a new programming concept</a:t>
            </a:r>
            <a:endParaRPr lang="en-US" sz="788" dirty="0"/>
          </a:p>
        </p:txBody>
      </p:sp>
      <p:sp>
        <p:nvSpPr>
          <p:cNvPr id="32" name="Shape 20"/>
          <p:cNvSpPr/>
          <p:nvPr/>
        </p:nvSpPr>
        <p:spPr>
          <a:xfrm>
            <a:off x="457200" y="4972050"/>
            <a:ext cx="4000500" cy="5343525"/>
          </a:xfrm>
          <a:prstGeom prst="rect">
            <a:avLst/>
          </a:prstGeom>
          <a:solidFill>
            <a:srgbClr val="FFFFFF">
              <a:alpha val="10000"/>
            </a:srgbClr>
          </a:solidFill>
          <a:ln w="99">
            <a:solidFill>
              <a:srgbClr val="60A5FA">
                <a:alpha val="30000"/>
              </a:srgbClr>
            </a:solidFill>
            <a:prstDash val="solid"/>
          </a:ln>
        </p:spPr>
      </p:sp>
      <p:sp>
        <p:nvSpPr>
          <p:cNvPr id="33" name="Text 21"/>
          <p:cNvSpPr/>
          <p:nvPr/>
        </p:nvSpPr>
        <p:spPr>
          <a:xfrm>
            <a:off x="628650" y="5143500"/>
            <a:ext cx="3729038" cy="228600"/>
          </a:xfrm>
          <a:prstGeom prst="rect">
            <a:avLst/>
          </a:prstGeom>
          <a:noFill/>
          <a:ln/>
        </p:spPr>
        <p:txBody>
          <a:bodyPr wrap="square" lIns="0" tIns="0" rIns="0" bIns="0" rtlCol="0" anchor="ctr">
            <a:spAutoFit/>
          </a:bodyPr>
          <a:lstStyle/>
          <a:p>
            <a:pPr indent="0" marL="0">
              <a:buNone/>
            </a:pPr>
            <a:r>
              <a:rPr lang="en-US" sz="1350" b="1" dirty="0">
                <a:solidFill>
                  <a:srgbClr val="BFDBFE"/>
                </a:solidFill>
                <a:latin typeface="Segoe UI" pitchFamily="34" charset="0"/>
                <a:ea typeface="Segoe UI" pitchFamily="34" charset="-122"/>
                <a:cs typeface="Segoe UI" pitchFamily="34" charset="-120"/>
              </a:rPr>
              <a:t>Setting Up for Debugging</a:t>
            </a:r>
            <a:endParaRPr lang="en-US" sz="1350" dirty="0"/>
          </a:p>
        </p:txBody>
      </p:sp>
      <p:sp>
        <p:nvSpPr>
          <p:cNvPr id="34" name="Shape 22"/>
          <p:cNvSpPr/>
          <p:nvPr/>
        </p:nvSpPr>
        <p:spPr>
          <a:xfrm>
            <a:off x="628650" y="5486400"/>
            <a:ext cx="3657600" cy="1057275"/>
          </a:xfrm>
          <a:prstGeom prst="rect">
            <a:avLst/>
          </a:prstGeom>
          <a:solidFill>
            <a:srgbClr val="1E3A8A">
              <a:alpha val="30000"/>
            </a:srgbClr>
          </a:solidFill>
          <a:ln/>
        </p:spPr>
      </p:sp>
      <p:sp>
        <p:nvSpPr>
          <p:cNvPr id="35" name="Shape 23"/>
          <p:cNvSpPr/>
          <p:nvPr/>
        </p:nvSpPr>
        <p:spPr>
          <a:xfrm>
            <a:off x="628650" y="5486400"/>
            <a:ext cx="28575" cy="1057275"/>
          </a:xfrm>
          <a:prstGeom prst="rect">
            <a:avLst/>
          </a:prstGeom>
          <a:solidFill>
            <a:srgbClr val="60A5FA"/>
          </a:solidFill>
          <a:ln/>
        </p:spPr>
      </p:sp>
      <p:sp>
        <p:nvSpPr>
          <p:cNvPr id="36" name="Text 24"/>
          <p:cNvSpPr/>
          <p:nvPr/>
        </p:nvSpPr>
        <p:spPr>
          <a:xfrm>
            <a:off x="742950" y="5572125"/>
            <a:ext cx="3614738" cy="200025"/>
          </a:xfrm>
          <a:prstGeom prst="rect">
            <a:avLst/>
          </a:prstGeom>
          <a:noFill/>
          <a:ln/>
        </p:spPr>
        <p:txBody>
          <a:bodyPr wrap="square" lIns="0" tIns="0" rIns="0" bIns="0" rtlCol="0" anchor="ctr">
            <a:spAutoFit/>
          </a:bodyPr>
          <a:lstStyle/>
          <a:p>
            <a:pPr indent="0" marL="0">
              <a:buNone/>
            </a:pPr>
            <a:r>
              <a:rPr lang="en-US" sz="1125" b="1" dirty="0">
                <a:solidFill>
                  <a:srgbClr val="F1F5F9"/>
                </a:solidFill>
                <a:latin typeface="Segoe UI" pitchFamily="34" charset="0"/>
                <a:ea typeface="Segoe UI" pitchFamily="34" charset="-122"/>
                <a:cs typeface="Segoe UI" pitchFamily="34" charset="-120"/>
              </a:rPr>
              <a:t>Step 1: Create a Launch Configuration</a:t>
            </a:r>
            <a:endParaRPr lang="en-US" sz="1125" dirty="0"/>
          </a:p>
        </p:txBody>
      </p:sp>
      <p:sp>
        <p:nvSpPr>
          <p:cNvPr id="37" name="Text 25"/>
          <p:cNvSpPr/>
          <p:nvPr/>
        </p:nvSpPr>
        <p:spPr>
          <a:xfrm>
            <a:off x="857250" y="5800725"/>
            <a:ext cx="3500438" cy="142875"/>
          </a:xfrm>
          <a:prstGeom prst="rect">
            <a:avLst/>
          </a:prstGeom>
          <a:noFill/>
          <a:ln/>
        </p:spPr>
        <p:txBody>
          <a:bodyPr wrap="square" lIns="0" tIns="0" rIns="0" bIns="0" rtlCol="0" anchor="ctr">
            <a:spAutoFit/>
          </a:bodyPr>
          <a:lstStyle/>
          <a:p>
            <a:pPr algn="l" indent="0" marL="0">
              <a:buNone/>
            </a:pPr>
            <a:r>
              <a:rPr lang="en-US" sz="788" dirty="0">
                <a:solidFill>
                  <a:srgbClr val="F1F5F9"/>
                </a:solidFill>
                <a:latin typeface="Segoe UI" pitchFamily="34" charset="0"/>
                <a:ea typeface="Segoe UI" pitchFamily="34" charset="-122"/>
                <a:cs typeface="Segoe UI" pitchFamily="34" charset="-120"/>
              </a:rPr>
              <a:t>Click on the Run and Debug icon in the sidebar</a:t>
            </a:r>
            <a:endParaRPr lang="en-US" sz="788" dirty="0"/>
          </a:p>
        </p:txBody>
      </p:sp>
      <p:sp>
        <p:nvSpPr>
          <p:cNvPr id="38" name="Text 26"/>
          <p:cNvSpPr/>
          <p:nvPr/>
        </p:nvSpPr>
        <p:spPr>
          <a:xfrm>
            <a:off x="857250" y="5972175"/>
            <a:ext cx="3500438" cy="142875"/>
          </a:xfrm>
          <a:prstGeom prst="rect">
            <a:avLst/>
          </a:prstGeom>
          <a:noFill/>
          <a:ln/>
        </p:spPr>
        <p:txBody>
          <a:bodyPr wrap="square" lIns="0" tIns="0" rIns="0" bIns="0" rtlCol="0" anchor="ctr">
            <a:spAutoFit/>
          </a:bodyPr>
          <a:lstStyle/>
          <a:p>
            <a:pPr algn="l" indent="0" marL="0">
              <a:buNone/>
            </a:pPr>
            <a:r>
              <a:rPr lang="en-US" sz="788" dirty="0">
                <a:solidFill>
                  <a:srgbClr val="F1F5F9"/>
                </a:solidFill>
                <a:latin typeface="Segoe UI" pitchFamily="34" charset="0"/>
                <a:ea typeface="Segoe UI" pitchFamily="34" charset="-122"/>
                <a:cs typeface="Segoe UI" pitchFamily="34" charset="-120"/>
              </a:rPr>
              <a:t>Click "create a launch.json file"</a:t>
            </a:r>
            <a:endParaRPr lang="en-US" sz="788" dirty="0"/>
          </a:p>
        </p:txBody>
      </p:sp>
      <p:sp>
        <p:nvSpPr>
          <p:cNvPr id="39" name="Text 27"/>
          <p:cNvSpPr/>
          <p:nvPr/>
        </p:nvSpPr>
        <p:spPr>
          <a:xfrm>
            <a:off x="857250" y="6143625"/>
            <a:ext cx="3500438" cy="142875"/>
          </a:xfrm>
          <a:prstGeom prst="rect">
            <a:avLst/>
          </a:prstGeom>
          <a:noFill/>
          <a:ln/>
        </p:spPr>
        <p:txBody>
          <a:bodyPr wrap="square" lIns="0" tIns="0" rIns="0" bIns="0" rtlCol="0" anchor="ctr">
            <a:spAutoFit/>
          </a:bodyPr>
          <a:lstStyle/>
          <a:p>
            <a:pPr algn="l" indent="0" marL="0">
              <a:buNone/>
            </a:pPr>
            <a:r>
              <a:rPr lang="en-US" sz="788" dirty="0">
                <a:solidFill>
                  <a:srgbClr val="F1F5F9"/>
                </a:solidFill>
                <a:latin typeface="Segoe UI" pitchFamily="34" charset="0"/>
                <a:ea typeface="Segoe UI" pitchFamily="34" charset="-122"/>
                <a:cs typeface="Segoe UI" pitchFamily="34" charset="-120"/>
              </a:rPr>
              <a:t>Select "Java" as the environment</a:t>
            </a:r>
            <a:endParaRPr lang="en-US" sz="788" dirty="0"/>
          </a:p>
        </p:txBody>
      </p:sp>
      <p:sp>
        <p:nvSpPr>
          <p:cNvPr id="40" name="Text 28"/>
          <p:cNvSpPr/>
          <p:nvPr/>
        </p:nvSpPr>
        <p:spPr>
          <a:xfrm>
            <a:off x="857250" y="6315075"/>
            <a:ext cx="3500438" cy="142875"/>
          </a:xfrm>
          <a:prstGeom prst="rect">
            <a:avLst/>
          </a:prstGeom>
          <a:noFill/>
          <a:ln/>
        </p:spPr>
        <p:txBody>
          <a:bodyPr wrap="square" lIns="0" tIns="0" rIns="0" bIns="0" rtlCol="0" anchor="ctr">
            <a:spAutoFit/>
          </a:bodyPr>
          <a:lstStyle/>
          <a:p>
            <a:pPr algn="l" indent="0" marL="0">
              <a:buNone/>
            </a:pPr>
            <a:r>
              <a:rPr lang="en-US" sz="788" dirty="0">
                <a:solidFill>
                  <a:srgbClr val="F1F5F9"/>
                </a:solidFill>
                <a:latin typeface="Segoe UI" pitchFamily="34" charset="0"/>
                <a:ea typeface="Segoe UI" pitchFamily="34" charset="-122"/>
                <a:cs typeface="Segoe UI" pitchFamily="34" charset="-120"/>
              </a:rPr>
              <a:t>Choose a configuration template (e.g., "Java: Current File")</a:t>
            </a:r>
            <a:endParaRPr lang="en-US" sz="788" dirty="0"/>
          </a:p>
        </p:txBody>
      </p:sp>
      <p:sp>
        <p:nvSpPr>
          <p:cNvPr id="41" name="Shape 29"/>
          <p:cNvSpPr/>
          <p:nvPr/>
        </p:nvSpPr>
        <p:spPr>
          <a:xfrm>
            <a:off x="628650" y="6657975"/>
            <a:ext cx="3657600" cy="2843213"/>
          </a:xfrm>
          <a:prstGeom prst="rect">
            <a:avLst/>
          </a:prstGeom>
          <a:solidFill>
            <a:srgbClr val="1E3A8A">
              <a:alpha val="30000"/>
            </a:srgbClr>
          </a:solidFill>
          <a:ln/>
        </p:spPr>
      </p:sp>
      <p:sp>
        <p:nvSpPr>
          <p:cNvPr id="42" name="Shape 30"/>
          <p:cNvSpPr/>
          <p:nvPr/>
        </p:nvSpPr>
        <p:spPr>
          <a:xfrm>
            <a:off x="628650" y="6657975"/>
            <a:ext cx="28575" cy="2843213"/>
          </a:xfrm>
          <a:prstGeom prst="rect">
            <a:avLst/>
          </a:prstGeom>
          <a:solidFill>
            <a:srgbClr val="60A5FA"/>
          </a:solidFill>
          <a:ln/>
        </p:spPr>
      </p:sp>
      <p:sp>
        <p:nvSpPr>
          <p:cNvPr id="43" name="Text 31"/>
          <p:cNvSpPr/>
          <p:nvPr/>
        </p:nvSpPr>
        <p:spPr>
          <a:xfrm>
            <a:off x="742950" y="6743700"/>
            <a:ext cx="3614738" cy="200025"/>
          </a:xfrm>
          <a:prstGeom prst="rect">
            <a:avLst/>
          </a:prstGeom>
          <a:noFill/>
          <a:ln/>
        </p:spPr>
        <p:txBody>
          <a:bodyPr wrap="square" lIns="0" tIns="0" rIns="0" bIns="0" rtlCol="0" anchor="ctr">
            <a:spAutoFit/>
          </a:bodyPr>
          <a:lstStyle/>
          <a:p>
            <a:pPr indent="0" marL="0">
              <a:buNone/>
            </a:pPr>
            <a:r>
              <a:rPr lang="en-US" sz="1125" b="1" dirty="0">
                <a:solidFill>
                  <a:srgbClr val="F1F5F9"/>
                </a:solidFill>
                <a:latin typeface="Segoe UI" pitchFamily="34" charset="0"/>
                <a:ea typeface="Segoe UI" pitchFamily="34" charset="-122"/>
                <a:cs typeface="Segoe UI" pitchFamily="34" charset="-120"/>
              </a:rPr>
              <a:t>Step 2: Customize launch.json (Optional)</a:t>
            </a:r>
            <a:endParaRPr lang="en-US" sz="1125" dirty="0"/>
          </a:p>
        </p:txBody>
      </p:sp>
      <p:sp>
        <p:nvSpPr>
          <p:cNvPr id="44" name="Text 32"/>
          <p:cNvSpPr/>
          <p:nvPr/>
        </p:nvSpPr>
        <p:spPr>
          <a:xfrm>
            <a:off x="742950" y="6972300"/>
            <a:ext cx="3614738" cy="142875"/>
          </a:xfrm>
          <a:prstGeom prst="rect">
            <a:avLst/>
          </a:prstGeom>
          <a:noFill/>
          <a:ln/>
        </p:spPr>
        <p:txBody>
          <a:bodyPr wrap="square" lIns="0" tIns="0" rIns="0" bIns="0" rtlCol="0" anchor="ctr">
            <a:spAutoFit/>
          </a:bodyPr>
          <a:lstStyle/>
          <a:p>
            <a:pPr indent="0" marL="0">
              <a:buNone/>
            </a:pPr>
            <a:r>
              <a:rPr lang="en-US" sz="788" dirty="0">
                <a:solidFill>
                  <a:srgbClr val="F1F5F9"/>
                </a:solidFill>
                <a:latin typeface="Segoe UI" pitchFamily="34" charset="0"/>
                <a:ea typeface="Segoe UI" pitchFamily="34" charset="-122"/>
                <a:cs typeface="Segoe UI" pitchFamily="34" charset="-120"/>
              </a:rPr>
              <a:t>You can customize your debug configuration:</a:t>
            </a:r>
            <a:endParaRPr lang="en-US" sz="788" dirty="0"/>
          </a:p>
        </p:txBody>
      </p:sp>
      <p:sp>
        <p:nvSpPr>
          <p:cNvPr id="45" name="Shape 33"/>
          <p:cNvSpPr/>
          <p:nvPr/>
        </p:nvSpPr>
        <p:spPr>
          <a:xfrm>
            <a:off x="742950" y="7172325"/>
            <a:ext cx="3543300" cy="2243138"/>
          </a:xfrm>
          <a:prstGeom prst="rect">
            <a:avLst/>
          </a:prstGeom>
          <a:solidFill>
            <a:srgbClr val="1E293B">
              <a:alpha val="80000"/>
            </a:srgbClr>
          </a:solidFill>
          <a:ln w="99">
            <a:solidFill>
              <a:srgbClr val="60A5FA">
                <a:alpha val="30000"/>
              </a:srgbClr>
            </a:solidFill>
            <a:prstDash val="solid"/>
          </a:ln>
        </p:spPr>
      </p:sp>
      <p:sp>
        <p:nvSpPr>
          <p:cNvPr id="46" name="Text 34"/>
          <p:cNvSpPr/>
          <p:nvPr/>
        </p:nvSpPr>
        <p:spPr>
          <a:xfrm>
            <a:off x="828675" y="7313414"/>
            <a:ext cx="122895" cy="96441"/>
          </a:xfrm>
          <a:prstGeom prst="rect">
            <a:avLst/>
          </a:prstGeom>
          <a:noFill/>
          <a:ln/>
        </p:spPr>
        <p:txBody>
          <a:bodyPr wrap="none" lIns="0" tIns="0" rIns="0" bIns="0" rtlCol="0" anchor="ctr">
            <a:spAutoFit/>
          </a:bodyPr>
          <a:lstStyle/>
          <a:p>
            <a:pPr indent="0" marL="0">
              <a:buNone/>
            </a:pPr>
            <a:r>
              <a:rPr lang="en-US" sz="675" dirty="0">
                <a:solidFill>
                  <a:srgbClr val="DBEAFE"/>
                </a:solidFill>
                <a:latin typeface="Consolas" pitchFamily="34" charset="0"/>
                <a:ea typeface="Consolas" pitchFamily="34" charset="-122"/>
                <a:cs typeface="Consolas" pitchFamily="34" charset="-120"/>
              </a:rPr>
              <a:t>{</a:t>
            </a:r>
            <a:endParaRPr lang="en-US" sz="675" dirty="0"/>
          </a:p>
        </p:txBody>
      </p:sp>
      <p:sp>
        <p:nvSpPr>
          <p:cNvPr id="47" name="Text 35"/>
          <p:cNvSpPr/>
          <p:nvPr/>
        </p:nvSpPr>
        <p:spPr>
          <a:xfrm>
            <a:off x="828675" y="7484864"/>
            <a:ext cx="1151762" cy="96441"/>
          </a:xfrm>
          <a:prstGeom prst="rect">
            <a:avLst/>
          </a:prstGeom>
          <a:noFill/>
          <a:ln/>
        </p:spPr>
        <p:txBody>
          <a:bodyPr wrap="none" lIns="0" tIns="0" rIns="0" bIns="0" rtlCol="0" anchor="ctr">
            <a:spAutoFit/>
          </a:bodyPr>
          <a:lstStyle/>
          <a:p>
            <a:pPr indent="0" marL="0">
              <a:buNone/>
            </a:pPr>
            <a:r>
              <a:rPr lang="en-US" sz="675" dirty="0">
                <a:solidFill>
                  <a:srgbClr val="DBEAFE"/>
                </a:solidFill>
                <a:latin typeface="Consolas" pitchFamily="34" charset="0"/>
                <a:ea typeface="Consolas" pitchFamily="34" charset="-122"/>
                <a:cs typeface="Consolas" pitchFamily="34" charset="-120"/>
              </a:rPr>
              <a:t>"version": "0.2.0",</a:t>
            </a:r>
            <a:endParaRPr lang="en-US" sz="675" dirty="0"/>
          </a:p>
        </p:txBody>
      </p:sp>
      <p:sp>
        <p:nvSpPr>
          <p:cNvPr id="48" name="Text 36"/>
          <p:cNvSpPr/>
          <p:nvPr/>
        </p:nvSpPr>
        <p:spPr>
          <a:xfrm>
            <a:off x="828675" y="7656314"/>
            <a:ext cx="1151762" cy="96441"/>
          </a:xfrm>
          <a:prstGeom prst="rect">
            <a:avLst/>
          </a:prstGeom>
          <a:noFill/>
          <a:ln/>
        </p:spPr>
        <p:txBody>
          <a:bodyPr wrap="none" lIns="0" tIns="0" rIns="0" bIns="0" rtlCol="0" anchor="ctr">
            <a:spAutoFit/>
          </a:bodyPr>
          <a:lstStyle/>
          <a:p>
            <a:pPr indent="0" marL="0">
              <a:buNone/>
            </a:pPr>
            <a:r>
              <a:rPr lang="en-US" sz="675" dirty="0">
                <a:solidFill>
                  <a:srgbClr val="DBEAFE"/>
                </a:solidFill>
                <a:latin typeface="Consolas" pitchFamily="34" charset="0"/>
                <a:ea typeface="Consolas" pitchFamily="34" charset="-122"/>
                <a:cs typeface="Consolas" pitchFamily="34" charset="-120"/>
              </a:rPr>
              <a:t>"configurations": [</a:t>
            </a:r>
            <a:endParaRPr lang="en-US" sz="675" dirty="0"/>
          </a:p>
        </p:txBody>
      </p:sp>
      <p:sp>
        <p:nvSpPr>
          <p:cNvPr id="49" name="Text 37"/>
          <p:cNvSpPr/>
          <p:nvPr/>
        </p:nvSpPr>
        <p:spPr>
          <a:xfrm>
            <a:off x="828675" y="7827764"/>
            <a:ext cx="328668" cy="96441"/>
          </a:xfrm>
          <a:prstGeom prst="rect">
            <a:avLst/>
          </a:prstGeom>
          <a:noFill/>
          <a:ln/>
        </p:spPr>
        <p:txBody>
          <a:bodyPr wrap="none" lIns="0" tIns="0" rIns="0" bIns="0" rtlCol="0" anchor="ctr">
            <a:spAutoFit/>
          </a:bodyPr>
          <a:lstStyle/>
          <a:p>
            <a:pPr indent="0" marL="0">
              <a:buNone/>
            </a:pPr>
            <a:r>
              <a:rPr lang="en-US" sz="675" dirty="0">
                <a:solidFill>
                  <a:srgbClr val="DBEAFE"/>
                </a:solidFill>
                <a:latin typeface="Consolas" pitchFamily="34" charset="0"/>
                <a:ea typeface="Consolas" pitchFamily="34" charset="-122"/>
                <a:cs typeface="Consolas" pitchFamily="34" charset="-120"/>
              </a:rPr>
              <a:t>{</a:t>
            </a:r>
            <a:endParaRPr lang="en-US" sz="675" dirty="0"/>
          </a:p>
        </p:txBody>
      </p:sp>
      <p:sp>
        <p:nvSpPr>
          <p:cNvPr id="50" name="Text 38"/>
          <p:cNvSpPr/>
          <p:nvPr/>
        </p:nvSpPr>
        <p:spPr>
          <a:xfrm>
            <a:off x="828675" y="7999214"/>
            <a:ext cx="1151762" cy="96441"/>
          </a:xfrm>
          <a:prstGeom prst="rect">
            <a:avLst/>
          </a:prstGeom>
          <a:noFill/>
          <a:ln/>
        </p:spPr>
        <p:txBody>
          <a:bodyPr wrap="none" lIns="0" tIns="0" rIns="0" bIns="0" rtlCol="0" anchor="ctr">
            <a:spAutoFit/>
          </a:bodyPr>
          <a:lstStyle/>
          <a:p>
            <a:pPr indent="0" marL="0">
              <a:buNone/>
            </a:pPr>
            <a:r>
              <a:rPr lang="en-US" sz="675" dirty="0">
                <a:solidFill>
                  <a:srgbClr val="DBEAFE"/>
                </a:solidFill>
                <a:latin typeface="Consolas" pitchFamily="34" charset="0"/>
                <a:ea typeface="Consolas" pitchFamily="34" charset="-122"/>
                <a:cs typeface="Consolas" pitchFamily="34" charset="-120"/>
              </a:rPr>
              <a:t>"type": "java",</a:t>
            </a:r>
            <a:endParaRPr lang="en-US" sz="675" dirty="0"/>
          </a:p>
        </p:txBody>
      </p:sp>
      <p:sp>
        <p:nvSpPr>
          <p:cNvPr id="51" name="Text 39"/>
          <p:cNvSpPr/>
          <p:nvPr/>
        </p:nvSpPr>
        <p:spPr>
          <a:xfrm>
            <a:off x="828675" y="8170664"/>
            <a:ext cx="1460422" cy="96441"/>
          </a:xfrm>
          <a:prstGeom prst="rect">
            <a:avLst/>
          </a:prstGeom>
          <a:noFill/>
          <a:ln/>
        </p:spPr>
        <p:txBody>
          <a:bodyPr wrap="square" lIns="0" tIns="0" rIns="0" bIns="0" rtlCol="0" anchor="ctr">
            <a:spAutoFit/>
          </a:bodyPr>
          <a:lstStyle/>
          <a:p>
            <a:pPr indent="0" marL="0">
              <a:buNone/>
            </a:pPr>
            <a:r>
              <a:rPr lang="en-US" sz="675" dirty="0">
                <a:solidFill>
                  <a:srgbClr val="DBEAFE"/>
                </a:solidFill>
                <a:latin typeface="Consolas" pitchFamily="34" charset="0"/>
                <a:ea typeface="Consolas" pitchFamily="34" charset="-122"/>
                <a:cs typeface="Consolas" pitchFamily="34" charset="-120"/>
              </a:rPr>
              <a:t>"name": "Debug Main",</a:t>
            </a:r>
            <a:endParaRPr lang="en-US" sz="675" dirty="0"/>
          </a:p>
        </p:txBody>
      </p:sp>
      <p:sp>
        <p:nvSpPr>
          <p:cNvPr id="52" name="Text 40"/>
          <p:cNvSpPr/>
          <p:nvPr/>
        </p:nvSpPr>
        <p:spPr>
          <a:xfrm>
            <a:off x="828675" y="8342114"/>
            <a:ext cx="1408965" cy="96441"/>
          </a:xfrm>
          <a:prstGeom prst="rect">
            <a:avLst/>
          </a:prstGeom>
          <a:noFill/>
          <a:ln/>
        </p:spPr>
        <p:txBody>
          <a:bodyPr wrap="square" lIns="0" tIns="0" rIns="0" bIns="0" rtlCol="0" anchor="ctr">
            <a:spAutoFit/>
          </a:bodyPr>
          <a:lstStyle/>
          <a:p>
            <a:pPr indent="0" marL="0">
              <a:buNone/>
            </a:pPr>
            <a:r>
              <a:rPr lang="en-US" sz="675" dirty="0">
                <a:solidFill>
                  <a:srgbClr val="DBEAFE"/>
                </a:solidFill>
                <a:latin typeface="Consolas" pitchFamily="34" charset="0"/>
                <a:ea typeface="Consolas" pitchFamily="34" charset="-122"/>
                <a:cs typeface="Consolas" pitchFamily="34" charset="-120"/>
              </a:rPr>
              <a:t>"request": "launch",</a:t>
            </a:r>
            <a:endParaRPr lang="en-US" sz="675" dirty="0"/>
          </a:p>
        </p:txBody>
      </p:sp>
      <p:sp>
        <p:nvSpPr>
          <p:cNvPr id="53" name="Text 41"/>
          <p:cNvSpPr/>
          <p:nvPr/>
        </p:nvSpPr>
        <p:spPr>
          <a:xfrm>
            <a:off x="828675" y="8513564"/>
            <a:ext cx="2334946" cy="96441"/>
          </a:xfrm>
          <a:prstGeom prst="rect">
            <a:avLst/>
          </a:prstGeom>
          <a:noFill/>
          <a:ln/>
        </p:spPr>
        <p:txBody>
          <a:bodyPr wrap="square" lIns="0" tIns="0" rIns="0" bIns="0" rtlCol="0" anchor="ctr">
            <a:spAutoFit/>
          </a:bodyPr>
          <a:lstStyle/>
          <a:p>
            <a:pPr indent="0" marL="0">
              <a:buNone/>
            </a:pPr>
            <a:r>
              <a:rPr lang="en-US" sz="675" dirty="0">
                <a:solidFill>
                  <a:srgbClr val="DBEAFE"/>
                </a:solidFill>
                <a:latin typeface="Consolas" pitchFamily="34" charset="0"/>
                <a:ea typeface="Consolas" pitchFamily="34" charset="-122"/>
                <a:cs typeface="Consolas" pitchFamily="34" charset="-120"/>
              </a:rPr>
              <a:t>"mainClass": "com.example.myapp.Main",</a:t>
            </a:r>
            <a:endParaRPr lang="en-US" sz="675" dirty="0"/>
          </a:p>
        </p:txBody>
      </p:sp>
      <p:sp>
        <p:nvSpPr>
          <p:cNvPr id="54" name="Text 42"/>
          <p:cNvSpPr/>
          <p:nvPr/>
        </p:nvSpPr>
        <p:spPr>
          <a:xfrm>
            <a:off x="828675" y="8685014"/>
            <a:ext cx="1614739" cy="96441"/>
          </a:xfrm>
          <a:prstGeom prst="rect">
            <a:avLst/>
          </a:prstGeom>
          <a:noFill/>
          <a:ln/>
        </p:spPr>
        <p:txBody>
          <a:bodyPr wrap="square" lIns="0" tIns="0" rIns="0" bIns="0" rtlCol="0" anchor="ctr">
            <a:spAutoFit/>
          </a:bodyPr>
          <a:lstStyle/>
          <a:p>
            <a:pPr indent="0" marL="0">
              <a:buNone/>
            </a:pPr>
            <a:r>
              <a:rPr lang="en-US" sz="675" dirty="0">
                <a:solidFill>
                  <a:srgbClr val="DBEAFE"/>
                </a:solidFill>
                <a:latin typeface="Consolas" pitchFamily="34" charset="0"/>
                <a:ea typeface="Consolas" pitchFamily="34" charset="-122"/>
                <a:cs typeface="Consolas" pitchFamily="34" charset="-120"/>
              </a:rPr>
              <a:t>"args": ["arg1", "arg2"]</a:t>
            </a:r>
            <a:endParaRPr lang="en-US" sz="675" dirty="0"/>
          </a:p>
        </p:txBody>
      </p:sp>
      <p:sp>
        <p:nvSpPr>
          <p:cNvPr id="55" name="Text 43"/>
          <p:cNvSpPr/>
          <p:nvPr/>
        </p:nvSpPr>
        <p:spPr>
          <a:xfrm>
            <a:off x="828675" y="8856464"/>
            <a:ext cx="328668" cy="96441"/>
          </a:xfrm>
          <a:prstGeom prst="rect">
            <a:avLst/>
          </a:prstGeom>
          <a:noFill/>
          <a:ln/>
        </p:spPr>
        <p:txBody>
          <a:bodyPr wrap="none" lIns="0" tIns="0" rIns="0" bIns="0" rtlCol="0" anchor="ctr">
            <a:spAutoFit/>
          </a:bodyPr>
          <a:lstStyle/>
          <a:p>
            <a:pPr indent="0" marL="0">
              <a:buNone/>
            </a:pPr>
            <a:r>
              <a:rPr lang="en-US" sz="675" dirty="0">
                <a:solidFill>
                  <a:srgbClr val="DBEAFE"/>
                </a:solidFill>
                <a:latin typeface="Consolas" pitchFamily="34" charset="0"/>
                <a:ea typeface="Consolas" pitchFamily="34" charset="-122"/>
                <a:cs typeface="Consolas" pitchFamily="34" charset="-120"/>
              </a:rPr>
              <a:t>}</a:t>
            </a:r>
            <a:endParaRPr lang="en-US" sz="675" dirty="0"/>
          </a:p>
        </p:txBody>
      </p:sp>
      <p:sp>
        <p:nvSpPr>
          <p:cNvPr id="56" name="Text 44"/>
          <p:cNvSpPr/>
          <p:nvPr/>
        </p:nvSpPr>
        <p:spPr>
          <a:xfrm>
            <a:off x="828675" y="9027914"/>
            <a:ext cx="225782" cy="96441"/>
          </a:xfrm>
          <a:prstGeom prst="rect">
            <a:avLst/>
          </a:prstGeom>
          <a:noFill/>
          <a:ln/>
        </p:spPr>
        <p:txBody>
          <a:bodyPr wrap="none" lIns="0" tIns="0" rIns="0" bIns="0" rtlCol="0" anchor="ctr">
            <a:spAutoFit/>
          </a:bodyPr>
          <a:lstStyle/>
          <a:p>
            <a:pPr indent="0" marL="0">
              <a:buNone/>
            </a:pPr>
            <a:r>
              <a:rPr lang="en-US" sz="675" dirty="0">
                <a:solidFill>
                  <a:srgbClr val="DBEAFE"/>
                </a:solidFill>
                <a:latin typeface="Consolas" pitchFamily="34" charset="0"/>
                <a:ea typeface="Consolas" pitchFamily="34" charset="-122"/>
                <a:cs typeface="Consolas" pitchFamily="34" charset="-120"/>
              </a:rPr>
              <a:t>]</a:t>
            </a:r>
            <a:endParaRPr lang="en-US" sz="675" dirty="0"/>
          </a:p>
        </p:txBody>
      </p:sp>
      <p:sp>
        <p:nvSpPr>
          <p:cNvPr id="57" name="Text 45"/>
          <p:cNvSpPr/>
          <p:nvPr/>
        </p:nvSpPr>
        <p:spPr>
          <a:xfrm>
            <a:off x="828675" y="9199364"/>
            <a:ext cx="122895" cy="96441"/>
          </a:xfrm>
          <a:prstGeom prst="rect">
            <a:avLst/>
          </a:prstGeom>
          <a:noFill/>
          <a:ln/>
        </p:spPr>
        <p:txBody>
          <a:bodyPr wrap="none" lIns="0" tIns="0" rIns="0" bIns="0" rtlCol="0" anchor="ctr">
            <a:spAutoFit/>
          </a:bodyPr>
          <a:lstStyle/>
          <a:p>
            <a:pPr indent="0" marL="0">
              <a:buNone/>
            </a:pPr>
            <a:r>
              <a:rPr lang="en-US" sz="675" dirty="0">
                <a:solidFill>
                  <a:srgbClr val="DBEAFE"/>
                </a:solidFill>
                <a:latin typeface="Consolas" pitchFamily="34" charset="0"/>
                <a:ea typeface="Consolas" pitchFamily="34" charset="-122"/>
                <a:cs typeface="Consolas" pitchFamily="34" charset="-120"/>
              </a:rPr>
              <a:t>}</a:t>
            </a:r>
            <a:endParaRPr lang="en-US" sz="675" dirty="0"/>
          </a:p>
        </p:txBody>
      </p:sp>
      <p:sp>
        <p:nvSpPr>
          <p:cNvPr id="58" name="Shape 46"/>
          <p:cNvSpPr/>
          <p:nvPr/>
        </p:nvSpPr>
        <p:spPr>
          <a:xfrm>
            <a:off x="628650" y="9601200"/>
            <a:ext cx="3657600" cy="514350"/>
          </a:xfrm>
          <a:prstGeom prst="rect">
            <a:avLst/>
          </a:prstGeom>
          <a:solidFill>
            <a:srgbClr val="78350F">
              <a:alpha val="20000"/>
            </a:srgbClr>
          </a:solidFill>
          <a:ln/>
        </p:spPr>
      </p:sp>
      <p:pic>
        <p:nvPicPr>
          <p:cNvPr id="59" name="Image 10" descr="preencoded.png">    </p:cNvPr>
          <p:cNvPicPr>
            <a:picLocks noChangeAspect="1"/>
          </p:cNvPicPr>
          <p:nvPr/>
        </p:nvPicPr>
        <p:blipFill>
          <a:blip r:embed="rId11"/>
          <a:stretch>
            <a:fillRect/>
          </a:stretch>
        </p:blipFill>
        <p:spPr>
          <a:xfrm>
            <a:off x="742950" y="9772650"/>
            <a:ext cx="128588" cy="171450"/>
          </a:xfrm>
          <a:prstGeom prst="rect">
            <a:avLst/>
          </a:prstGeom>
        </p:spPr>
      </p:pic>
      <p:sp>
        <p:nvSpPr>
          <p:cNvPr id="60" name="Text 47"/>
          <p:cNvSpPr/>
          <p:nvPr/>
        </p:nvSpPr>
        <p:spPr>
          <a:xfrm>
            <a:off x="985838" y="9715500"/>
            <a:ext cx="3257550" cy="285750"/>
          </a:xfrm>
          <a:prstGeom prst="rect">
            <a:avLst/>
          </a:prstGeom>
          <a:noFill/>
          <a:ln/>
        </p:spPr>
        <p:txBody>
          <a:bodyPr wrap="square" lIns="0" tIns="0" rIns="0" bIns="0" rtlCol="0" anchor="ctr">
            <a:spAutoFit/>
          </a:bodyPr>
          <a:lstStyle/>
          <a:p>
            <a:pPr indent="0" marL="0">
              <a:buNone/>
            </a:pPr>
            <a:r>
              <a:rPr lang="en-US" sz="788" dirty="0">
                <a:solidFill>
                  <a:srgbClr val="F1F5F9"/>
                </a:solidFill>
                <a:latin typeface="Segoe UI" pitchFamily="34" charset="0"/>
                <a:ea typeface="Segoe UI" pitchFamily="34" charset="-122"/>
                <a:cs typeface="Segoe UI" pitchFamily="34" charset="-120"/>
              </a:rPr>
              <a:t>VS Code's Java extension often creates debug configurations automatically when you run your program for the first time.</a:t>
            </a:r>
            <a:endParaRPr lang="en-US" sz="788" dirty="0"/>
          </a:p>
        </p:txBody>
      </p:sp>
      <p:sp>
        <p:nvSpPr>
          <p:cNvPr id="61" name="Shape 48"/>
          <p:cNvSpPr/>
          <p:nvPr/>
        </p:nvSpPr>
        <p:spPr>
          <a:xfrm>
            <a:off x="4686300" y="971550"/>
            <a:ext cx="4000500" cy="5329238"/>
          </a:xfrm>
          <a:prstGeom prst="rect">
            <a:avLst/>
          </a:prstGeom>
          <a:solidFill>
            <a:srgbClr val="FFFFFF">
              <a:alpha val="10000"/>
            </a:srgbClr>
          </a:solidFill>
          <a:ln w="99">
            <a:solidFill>
              <a:srgbClr val="60A5FA">
                <a:alpha val="30000"/>
              </a:srgbClr>
            </a:solidFill>
            <a:prstDash val="solid"/>
          </a:ln>
        </p:spPr>
      </p:sp>
      <p:sp>
        <p:nvSpPr>
          <p:cNvPr id="62" name="Text 49"/>
          <p:cNvSpPr/>
          <p:nvPr/>
        </p:nvSpPr>
        <p:spPr>
          <a:xfrm>
            <a:off x="4857750" y="1143000"/>
            <a:ext cx="3729038" cy="228600"/>
          </a:xfrm>
          <a:prstGeom prst="rect">
            <a:avLst/>
          </a:prstGeom>
          <a:noFill/>
          <a:ln/>
        </p:spPr>
        <p:txBody>
          <a:bodyPr wrap="square" lIns="0" tIns="0" rIns="0" bIns="0" rtlCol="0" anchor="ctr">
            <a:spAutoFit/>
          </a:bodyPr>
          <a:lstStyle/>
          <a:p>
            <a:pPr indent="0" marL="0">
              <a:buNone/>
            </a:pPr>
            <a:r>
              <a:rPr lang="en-US" sz="1350" b="1" dirty="0">
                <a:solidFill>
                  <a:srgbClr val="BFDBFE"/>
                </a:solidFill>
                <a:latin typeface="Segoe UI" pitchFamily="34" charset="0"/>
                <a:ea typeface="Segoe UI" pitchFamily="34" charset="-122"/>
                <a:cs typeface="Segoe UI" pitchFamily="34" charset="-120"/>
              </a:rPr>
              <a:t>Debugging Tools in VS Code</a:t>
            </a:r>
            <a:endParaRPr lang="en-US" sz="1350" dirty="0"/>
          </a:p>
        </p:txBody>
      </p:sp>
      <p:sp>
        <p:nvSpPr>
          <p:cNvPr id="63" name="Shape 50"/>
          <p:cNvSpPr/>
          <p:nvPr/>
        </p:nvSpPr>
        <p:spPr>
          <a:xfrm>
            <a:off x="4857750" y="1485900"/>
            <a:ext cx="1771650" cy="1314450"/>
          </a:xfrm>
          <a:prstGeom prst="rect">
            <a:avLst/>
          </a:prstGeom>
          <a:solidFill>
            <a:srgbClr val="1E3A8A">
              <a:alpha val="30000"/>
            </a:srgbClr>
          </a:solidFill>
          <a:ln/>
        </p:spPr>
      </p:sp>
      <p:sp>
        <p:nvSpPr>
          <p:cNvPr id="64" name="Text 51"/>
          <p:cNvSpPr/>
          <p:nvPr/>
        </p:nvSpPr>
        <p:spPr>
          <a:xfrm>
            <a:off x="4972050" y="1600200"/>
            <a:ext cx="1614488" cy="200025"/>
          </a:xfrm>
          <a:prstGeom prst="rect">
            <a:avLst/>
          </a:prstGeom>
          <a:noFill/>
          <a:ln/>
        </p:spPr>
        <p:txBody>
          <a:bodyPr wrap="square" lIns="0" tIns="0" rIns="0" bIns="0" rtlCol="0" anchor="ctr">
            <a:spAutoFit/>
          </a:bodyPr>
          <a:lstStyle/>
          <a:p>
            <a:pPr indent="0" marL="0">
              <a:buNone/>
            </a:pPr>
            <a:r>
              <a:rPr lang="en-US" sz="1013" b="1" dirty="0">
                <a:solidFill>
                  <a:srgbClr val="F1F5F9"/>
                </a:solidFill>
                <a:latin typeface="Segoe UI" pitchFamily="34" charset="0"/>
                <a:ea typeface="Segoe UI" pitchFamily="34" charset="-122"/>
                <a:cs typeface="Segoe UI" pitchFamily="34" charset="-120"/>
              </a:rPr>
              <a:t>Breakpoints</a:t>
            </a:r>
            <a:endParaRPr lang="en-US" sz="1013" dirty="0"/>
          </a:p>
        </p:txBody>
      </p:sp>
      <p:sp>
        <p:nvSpPr>
          <p:cNvPr id="65" name="Text 52"/>
          <p:cNvSpPr/>
          <p:nvPr/>
        </p:nvSpPr>
        <p:spPr>
          <a:xfrm>
            <a:off x="4972050" y="1857375"/>
            <a:ext cx="1614488" cy="114300"/>
          </a:xfrm>
          <a:prstGeom prst="rect">
            <a:avLst/>
          </a:prstGeom>
          <a:noFill/>
          <a:ln/>
        </p:spPr>
        <p:txBody>
          <a:bodyPr wrap="square" lIns="0" tIns="0" rIns="0" bIns="0" rtlCol="0" anchor="ctr">
            <a:spAutoFit/>
          </a:bodyPr>
          <a:lstStyle/>
          <a:p>
            <a:pPr indent="0" marL="0">
              <a:buNone/>
            </a:pPr>
            <a:r>
              <a:rPr lang="en-US" sz="675" dirty="0">
                <a:solidFill>
                  <a:srgbClr val="F1F5F9"/>
                </a:solidFill>
                <a:latin typeface="Segoe UI" pitchFamily="34" charset="0"/>
                <a:ea typeface="Segoe UI" pitchFamily="34" charset="-122"/>
                <a:cs typeface="Segoe UI" pitchFamily="34" charset="-120"/>
              </a:rPr>
              <a:t>Pause execution at specific lines:</a:t>
            </a:r>
            <a:endParaRPr lang="en-US" sz="675" dirty="0"/>
          </a:p>
        </p:txBody>
      </p:sp>
      <p:sp>
        <p:nvSpPr>
          <p:cNvPr id="66" name="Text 53"/>
          <p:cNvSpPr/>
          <p:nvPr/>
        </p:nvSpPr>
        <p:spPr>
          <a:xfrm>
            <a:off x="4972050" y="2028825"/>
            <a:ext cx="1614488" cy="114300"/>
          </a:xfrm>
          <a:prstGeom prst="rect">
            <a:avLst/>
          </a:prstGeom>
          <a:noFill/>
          <a:ln/>
        </p:spPr>
        <p:txBody>
          <a:bodyPr wrap="square" lIns="0" tIns="0" rIns="0" bIns="0" rtlCol="0" anchor="ctr">
            <a:spAutoFit/>
          </a:bodyPr>
          <a:lstStyle/>
          <a:p>
            <a:pPr algn="l" indent="0" marL="0">
              <a:buNone/>
            </a:pPr>
            <a:r>
              <a:rPr lang="en-US" sz="675" dirty="0">
                <a:solidFill>
                  <a:srgbClr val="F1F5F9"/>
                </a:solidFill>
                <a:latin typeface="Segoe UI" pitchFamily="34" charset="0"/>
                <a:ea typeface="Segoe UI" pitchFamily="34" charset="-122"/>
                <a:cs typeface="Segoe UI" pitchFamily="34" charset="-120"/>
              </a:rPr>
              <a:t>• Click in the gutter (left margin)</a:t>
            </a:r>
            <a:endParaRPr lang="en-US" sz="675" dirty="0"/>
          </a:p>
        </p:txBody>
      </p:sp>
      <p:sp>
        <p:nvSpPr>
          <p:cNvPr id="67" name="Text 54"/>
          <p:cNvSpPr/>
          <p:nvPr/>
        </p:nvSpPr>
        <p:spPr>
          <a:xfrm>
            <a:off x="4972050" y="2171700"/>
            <a:ext cx="1614488" cy="114300"/>
          </a:xfrm>
          <a:prstGeom prst="rect">
            <a:avLst/>
          </a:prstGeom>
          <a:noFill/>
          <a:ln/>
        </p:spPr>
        <p:txBody>
          <a:bodyPr wrap="square" lIns="0" tIns="0" rIns="0" bIns="0" rtlCol="0" anchor="ctr">
            <a:spAutoFit/>
          </a:bodyPr>
          <a:lstStyle/>
          <a:p>
            <a:pPr algn="l" indent="0" marL="0">
              <a:buNone/>
            </a:pPr>
            <a:r>
              <a:rPr lang="en-US" sz="675" dirty="0">
                <a:solidFill>
                  <a:srgbClr val="F1F5F9"/>
                </a:solidFill>
                <a:latin typeface="Segoe UI" pitchFamily="34" charset="0"/>
                <a:ea typeface="Segoe UI" pitchFamily="34" charset="-122"/>
                <a:cs typeface="Segoe UI" pitchFamily="34" charset="-120"/>
              </a:rPr>
              <a:t>• Or press F9 on the current line</a:t>
            </a:r>
            <a:endParaRPr lang="en-US" sz="675" dirty="0"/>
          </a:p>
        </p:txBody>
      </p:sp>
      <p:sp>
        <p:nvSpPr>
          <p:cNvPr id="68" name="Text 55"/>
          <p:cNvSpPr/>
          <p:nvPr/>
        </p:nvSpPr>
        <p:spPr>
          <a:xfrm>
            <a:off x="4972050" y="2314575"/>
            <a:ext cx="1614488" cy="114300"/>
          </a:xfrm>
          <a:prstGeom prst="rect">
            <a:avLst/>
          </a:prstGeom>
          <a:noFill/>
          <a:ln/>
        </p:spPr>
        <p:txBody>
          <a:bodyPr wrap="square" lIns="0" tIns="0" rIns="0" bIns="0" rtlCol="0" anchor="ctr">
            <a:spAutoFit/>
          </a:bodyPr>
          <a:lstStyle/>
          <a:p>
            <a:pPr algn="l" indent="0" marL="0">
              <a:buNone/>
            </a:pPr>
            <a:r>
              <a:rPr lang="en-US" sz="675" dirty="0">
                <a:solidFill>
                  <a:srgbClr val="F1F5F9"/>
                </a:solidFill>
                <a:latin typeface="Segoe UI" pitchFamily="34" charset="0"/>
                <a:ea typeface="Segoe UI" pitchFamily="34" charset="-122"/>
                <a:cs typeface="Segoe UI" pitchFamily="34" charset="-120"/>
              </a:rPr>
              <a:t>• Red dot appears when set</a:t>
            </a:r>
            <a:endParaRPr lang="en-US" sz="675" dirty="0"/>
          </a:p>
        </p:txBody>
      </p:sp>
      <p:sp>
        <p:nvSpPr>
          <p:cNvPr id="69" name="Text 56"/>
          <p:cNvSpPr/>
          <p:nvPr/>
        </p:nvSpPr>
        <p:spPr>
          <a:xfrm>
            <a:off x="4972050" y="2457450"/>
            <a:ext cx="1614488" cy="228600"/>
          </a:xfrm>
          <a:prstGeom prst="rect">
            <a:avLst/>
          </a:prstGeom>
          <a:noFill/>
          <a:ln/>
        </p:spPr>
        <p:txBody>
          <a:bodyPr wrap="square" lIns="0" tIns="0" rIns="0" bIns="0" rtlCol="0" anchor="ctr">
            <a:spAutoFit/>
          </a:bodyPr>
          <a:lstStyle/>
          <a:p>
            <a:pPr algn="l" indent="0" marL="0">
              <a:buNone/>
            </a:pPr>
            <a:r>
              <a:rPr lang="en-US" sz="675" dirty="0">
                <a:solidFill>
                  <a:srgbClr val="F1F5F9"/>
                </a:solidFill>
                <a:latin typeface="Segoe UI" pitchFamily="34" charset="0"/>
                <a:ea typeface="Segoe UI" pitchFamily="34" charset="-122"/>
                <a:cs typeface="Segoe UI" pitchFamily="34" charset="-120"/>
              </a:rPr>
              <a:t>• Program stops before executing that line</a:t>
            </a:r>
            <a:endParaRPr lang="en-US" sz="675" dirty="0"/>
          </a:p>
        </p:txBody>
      </p:sp>
      <p:sp>
        <p:nvSpPr>
          <p:cNvPr id="70" name="Shape 57"/>
          <p:cNvSpPr/>
          <p:nvPr/>
        </p:nvSpPr>
        <p:spPr>
          <a:xfrm>
            <a:off x="6743700" y="1485900"/>
            <a:ext cx="1771650" cy="1314450"/>
          </a:xfrm>
          <a:prstGeom prst="rect">
            <a:avLst/>
          </a:prstGeom>
          <a:solidFill>
            <a:srgbClr val="1E3A8A">
              <a:alpha val="30000"/>
            </a:srgbClr>
          </a:solidFill>
          <a:ln/>
        </p:spPr>
      </p:sp>
      <p:sp>
        <p:nvSpPr>
          <p:cNvPr id="71" name="Text 58"/>
          <p:cNvSpPr/>
          <p:nvPr/>
        </p:nvSpPr>
        <p:spPr>
          <a:xfrm>
            <a:off x="6858000" y="1600200"/>
            <a:ext cx="1614488" cy="200025"/>
          </a:xfrm>
          <a:prstGeom prst="rect">
            <a:avLst/>
          </a:prstGeom>
          <a:noFill/>
          <a:ln/>
        </p:spPr>
        <p:txBody>
          <a:bodyPr wrap="square" lIns="0" tIns="0" rIns="0" bIns="0" rtlCol="0" anchor="ctr">
            <a:spAutoFit/>
          </a:bodyPr>
          <a:lstStyle/>
          <a:p>
            <a:pPr indent="0" marL="0">
              <a:buNone/>
            </a:pPr>
            <a:r>
              <a:rPr lang="en-US" sz="1013" b="1" dirty="0">
                <a:solidFill>
                  <a:srgbClr val="F1F5F9"/>
                </a:solidFill>
                <a:latin typeface="Segoe UI" pitchFamily="34" charset="0"/>
                <a:ea typeface="Segoe UI" pitchFamily="34" charset="-122"/>
                <a:cs typeface="Segoe UI" pitchFamily="34" charset="-120"/>
              </a:rPr>
              <a:t>Watch Expressions</a:t>
            </a:r>
            <a:endParaRPr lang="en-US" sz="1013" dirty="0"/>
          </a:p>
        </p:txBody>
      </p:sp>
      <p:sp>
        <p:nvSpPr>
          <p:cNvPr id="72" name="Text 59"/>
          <p:cNvSpPr/>
          <p:nvPr/>
        </p:nvSpPr>
        <p:spPr>
          <a:xfrm>
            <a:off x="6858000" y="1857375"/>
            <a:ext cx="1614488" cy="114300"/>
          </a:xfrm>
          <a:prstGeom prst="rect">
            <a:avLst/>
          </a:prstGeom>
          <a:noFill/>
          <a:ln/>
        </p:spPr>
        <p:txBody>
          <a:bodyPr wrap="square" lIns="0" tIns="0" rIns="0" bIns="0" rtlCol="0" anchor="ctr">
            <a:spAutoFit/>
          </a:bodyPr>
          <a:lstStyle/>
          <a:p>
            <a:pPr indent="0" marL="0">
              <a:buNone/>
            </a:pPr>
            <a:r>
              <a:rPr lang="en-US" sz="675" dirty="0">
                <a:solidFill>
                  <a:srgbClr val="F1F5F9"/>
                </a:solidFill>
                <a:latin typeface="Segoe UI" pitchFamily="34" charset="0"/>
                <a:ea typeface="Segoe UI" pitchFamily="34" charset="-122"/>
                <a:cs typeface="Segoe UI" pitchFamily="34" charset="-120"/>
              </a:rPr>
              <a:t>Monitor variable values:</a:t>
            </a:r>
            <a:endParaRPr lang="en-US" sz="675" dirty="0"/>
          </a:p>
        </p:txBody>
      </p:sp>
      <p:sp>
        <p:nvSpPr>
          <p:cNvPr id="73" name="Text 60"/>
          <p:cNvSpPr/>
          <p:nvPr/>
        </p:nvSpPr>
        <p:spPr>
          <a:xfrm>
            <a:off x="6858000" y="2028825"/>
            <a:ext cx="1614488" cy="114300"/>
          </a:xfrm>
          <a:prstGeom prst="rect">
            <a:avLst/>
          </a:prstGeom>
          <a:noFill/>
          <a:ln/>
        </p:spPr>
        <p:txBody>
          <a:bodyPr wrap="square" lIns="0" tIns="0" rIns="0" bIns="0" rtlCol="0" anchor="ctr">
            <a:spAutoFit/>
          </a:bodyPr>
          <a:lstStyle/>
          <a:p>
            <a:pPr algn="l" indent="0" marL="0">
              <a:buNone/>
            </a:pPr>
            <a:r>
              <a:rPr lang="en-US" sz="675" dirty="0">
                <a:solidFill>
                  <a:srgbClr val="F1F5F9"/>
                </a:solidFill>
                <a:latin typeface="Segoe UI" pitchFamily="34" charset="0"/>
                <a:ea typeface="Segoe UI" pitchFamily="34" charset="-122"/>
                <a:cs typeface="Segoe UI" pitchFamily="34" charset="-120"/>
              </a:rPr>
              <a:t>• Add expressions in Watch panel</a:t>
            </a:r>
            <a:endParaRPr lang="en-US" sz="675" dirty="0"/>
          </a:p>
        </p:txBody>
      </p:sp>
      <p:sp>
        <p:nvSpPr>
          <p:cNvPr id="74" name="Text 61"/>
          <p:cNvSpPr/>
          <p:nvPr/>
        </p:nvSpPr>
        <p:spPr>
          <a:xfrm>
            <a:off x="6858000" y="2171700"/>
            <a:ext cx="1614488" cy="114300"/>
          </a:xfrm>
          <a:prstGeom prst="rect">
            <a:avLst/>
          </a:prstGeom>
          <a:noFill/>
          <a:ln/>
        </p:spPr>
        <p:txBody>
          <a:bodyPr wrap="square" lIns="0" tIns="0" rIns="0" bIns="0" rtlCol="0" anchor="ctr">
            <a:spAutoFit/>
          </a:bodyPr>
          <a:lstStyle/>
          <a:p>
            <a:pPr algn="l" indent="0" marL="0">
              <a:buNone/>
            </a:pPr>
            <a:r>
              <a:rPr lang="en-US" sz="675" dirty="0">
                <a:solidFill>
                  <a:srgbClr val="F1F5F9"/>
                </a:solidFill>
                <a:latin typeface="Segoe UI" pitchFamily="34" charset="0"/>
                <a:ea typeface="Segoe UI" pitchFamily="34" charset="-122"/>
                <a:cs typeface="Segoe UI" pitchFamily="34" charset="-120"/>
              </a:rPr>
              <a:t>• Track complex expressions</a:t>
            </a:r>
            <a:endParaRPr lang="en-US" sz="675" dirty="0"/>
          </a:p>
        </p:txBody>
      </p:sp>
      <p:sp>
        <p:nvSpPr>
          <p:cNvPr id="75" name="Text 62"/>
          <p:cNvSpPr/>
          <p:nvPr/>
        </p:nvSpPr>
        <p:spPr>
          <a:xfrm>
            <a:off x="6858000" y="2314575"/>
            <a:ext cx="1614488" cy="114300"/>
          </a:xfrm>
          <a:prstGeom prst="rect">
            <a:avLst/>
          </a:prstGeom>
          <a:noFill/>
          <a:ln/>
        </p:spPr>
        <p:txBody>
          <a:bodyPr wrap="square" lIns="0" tIns="0" rIns="0" bIns="0" rtlCol="0" anchor="ctr">
            <a:spAutoFit/>
          </a:bodyPr>
          <a:lstStyle/>
          <a:p>
            <a:pPr algn="l" indent="0" marL="0">
              <a:buNone/>
            </a:pPr>
            <a:r>
              <a:rPr lang="en-US" sz="675" dirty="0">
                <a:solidFill>
                  <a:srgbClr val="F1F5F9"/>
                </a:solidFill>
                <a:latin typeface="Segoe UI" pitchFamily="34" charset="0"/>
                <a:ea typeface="Segoe UI" pitchFamily="34" charset="-122"/>
                <a:cs typeface="Segoe UI" pitchFamily="34" charset="-120"/>
              </a:rPr>
              <a:t>• Updates as you step through code</a:t>
            </a:r>
            <a:endParaRPr lang="en-US" sz="675" dirty="0"/>
          </a:p>
        </p:txBody>
      </p:sp>
      <p:sp>
        <p:nvSpPr>
          <p:cNvPr id="76" name="Text 63"/>
          <p:cNvSpPr/>
          <p:nvPr/>
        </p:nvSpPr>
        <p:spPr>
          <a:xfrm>
            <a:off x="6858000" y="2457450"/>
            <a:ext cx="1614488" cy="114300"/>
          </a:xfrm>
          <a:prstGeom prst="rect">
            <a:avLst/>
          </a:prstGeom>
          <a:noFill/>
          <a:ln/>
        </p:spPr>
        <p:txBody>
          <a:bodyPr wrap="square" lIns="0" tIns="0" rIns="0" bIns="0" rtlCol="0" anchor="ctr">
            <a:spAutoFit/>
          </a:bodyPr>
          <a:lstStyle/>
          <a:p>
            <a:pPr algn="l" indent="0" marL="0">
              <a:buNone/>
            </a:pPr>
            <a:r>
              <a:rPr lang="en-US" sz="675" dirty="0">
                <a:solidFill>
                  <a:srgbClr val="F1F5F9"/>
                </a:solidFill>
                <a:latin typeface="Segoe UI" pitchFamily="34" charset="0"/>
                <a:ea typeface="Segoe UI" pitchFamily="34" charset="-122"/>
                <a:cs typeface="Segoe UI" pitchFamily="34" charset="-120"/>
              </a:rPr>
              <a:t>• Right-click variables to add to watch</a:t>
            </a:r>
            <a:endParaRPr lang="en-US" sz="675" dirty="0"/>
          </a:p>
        </p:txBody>
      </p:sp>
      <p:sp>
        <p:nvSpPr>
          <p:cNvPr id="77" name="Shape 64"/>
          <p:cNvSpPr/>
          <p:nvPr/>
        </p:nvSpPr>
        <p:spPr>
          <a:xfrm>
            <a:off x="4857750" y="2914650"/>
            <a:ext cx="1771650" cy="1200150"/>
          </a:xfrm>
          <a:prstGeom prst="rect">
            <a:avLst/>
          </a:prstGeom>
          <a:solidFill>
            <a:srgbClr val="1E3A8A">
              <a:alpha val="30000"/>
            </a:srgbClr>
          </a:solidFill>
          <a:ln/>
        </p:spPr>
      </p:sp>
      <p:sp>
        <p:nvSpPr>
          <p:cNvPr id="78" name="Text 65"/>
          <p:cNvSpPr/>
          <p:nvPr/>
        </p:nvSpPr>
        <p:spPr>
          <a:xfrm>
            <a:off x="4972050" y="3028950"/>
            <a:ext cx="1614488" cy="200025"/>
          </a:xfrm>
          <a:prstGeom prst="rect">
            <a:avLst/>
          </a:prstGeom>
          <a:noFill/>
          <a:ln/>
        </p:spPr>
        <p:txBody>
          <a:bodyPr wrap="square" lIns="0" tIns="0" rIns="0" bIns="0" rtlCol="0" anchor="ctr">
            <a:spAutoFit/>
          </a:bodyPr>
          <a:lstStyle/>
          <a:p>
            <a:pPr indent="0" marL="0">
              <a:buNone/>
            </a:pPr>
            <a:r>
              <a:rPr lang="en-US" sz="1013" b="1" dirty="0">
                <a:solidFill>
                  <a:srgbClr val="F1F5F9"/>
                </a:solidFill>
                <a:latin typeface="Segoe UI" pitchFamily="34" charset="0"/>
                <a:ea typeface="Segoe UI" pitchFamily="34" charset="-122"/>
                <a:cs typeface="Segoe UI" pitchFamily="34" charset="-120"/>
              </a:rPr>
              <a:t>Call Stack</a:t>
            </a:r>
            <a:endParaRPr lang="en-US" sz="1013" dirty="0"/>
          </a:p>
        </p:txBody>
      </p:sp>
      <p:sp>
        <p:nvSpPr>
          <p:cNvPr id="79" name="Text 66"/>
          <p:cNvSpPr/>
          <p:nvPr/>
        </p:nvSpPr>
        <p:spPr>
          <a:xfrm>
            <a:off x="4972050" y="3286125"/>
            <a:ext cx="1614488" cy="114300"/>
          </a:xfrm>
          <a:prstGeom prst="rect">
            <a:avLst/>
          </a:prstGeom>
          <a:noFill/>
          <a:ln/>
        </p:spPr>
        <p:txBody>
          <a:bodyPr wrap="square" lIns="0" tIns="0" rIns="0" bIns="0" rtlCol="0" anchor="ctr">
            <a:spAutoFit/>
          </a:bodyPr>
          <a:lstStyle/>
          <a:p>
            <a:pPr indent="0" marL="0">
              <a:buNone/>
            </a:pPr>
            <a:r>
              <a:rPr lang="en-US" sz="675" dirty="0">
                <a:solidFill>
                  <a:srgbClr val="F1F5F9"/>
                </a:solidFill>
                <a:latin typeface="Segoe UI" pitchFamily="34" charset="0"/>
                <a:ea typeface="Segoe UI" pitchFamily="34" charset="-122"/>
                <a:cs typeface="Segoe UI" pitchFamily="34" charset="-120"/>
              </a:rPr>
              <a:t>Track method execution:</a:t>
            </a:r>
            <a:endParaRPr lang="en-US" sz="675" dirty="0"/>
          </a:p>
        </p:txBody>
      </p:sp>
      <p:sp>
        <p:nvSpPr>
          <p:cNvPr id="80" name="Text 67"/>
          <p:cNvSpPr/>
          <p:nvPr/>
        </p:nvSpPr>
        <p:spPr>
          <a:xfrm>
            <a:off x="4972050" y="3457575"/>
            <a:ext cx="1614488" cy="114300"/>
          </a:xfrm>
          <a:prstGeom prst="rect">
            <a:avLst/>
          </a:prstGeom>
          <a:noFill/>
          <a:ln/>
        </p:spPr>
        <p:txBody>
          <a:bodyPr wrap="square" lIns="0" tIns="0" rIns="0" bIns="0" rtlCol="0" anchor="ctr">
            <a:spAutoFit/>
          </a:bodyPr>
          <a:lstStyle/>
          <a:p>
            <a:pPr algn="l" indent="0" marL="0">
              <a:buNone/>
            </a:pPr>
            <a:r>
              <a:rPr lang="en-US" sz="675" dirty="0">
                <a:solidFill>
                  <a:srgbClr val="F1F5F9"/>
                </a:solidFill>
                <a:latin typeface="Segoe UI" pitchFamily="34" charset="0"/>
                <a:ea typeface="Segoe UI" pitchFamily="34" charset="-122"/>
                <a:cs typeface="Segoe UI" pitchFamily="34" charset="-120"/>
              </a:rPr>
              <a:t>• Shows current execution path</a:t>
            </a:r>
            <a:endParaRPr lang="en-US" sz="675" dirty="0"/>
          </a:p>
        </p:txBody>
      </p:sp>
      <p:sp>
        <p:nvSpPr>
          <p:cNvPr id="81" name="Text 68"/>
          <p:cNvSpPr/>
          <p:nvPr/>
        </p:nvSpPr>
        <p:spPr>
          <a:xfrm>
            <a:off x="4972050" y="3600450"/>
            <a:ext cx="1614488" cy="114300"/>
          </a:xfrm>
          <a:prstGeom prst="rect">
            <a:avLst/>
          </a:prstGeom>
          <a:noFill/>
          <a:ln/>
        </p:spPr>
        <p:txBody>
          <a:bodyPr wrap="square" lIns="0" tIns="0" rIns="0" bIns="0" rtlCol="0" anchor="ctr">
            <a:spAutoFit/>
          </a:bodyPr>
          <a:lstStyle/>
          <a:p>
            <a:pPr algn="l" indent="0" marL="0">
              <a:buNone/>
            </a:pPr>
            <a:r>
              <a:rPr lang="en-US" sz="675" dirty="0">
                <a:solidFill>
                  <a:srgbClr val="F1F5F9"/>
                </a:solidFill>
                <a:latin typeface="Segoe UI" pitchFamily="34" charset="0"/>
                <a:ea typeface="Segoe UI" pitchFamily="34" charset="-122"/>
                <a:cs typeface="Segoe UI" pitchFamily="34" charset="-120"/>
              </a:rPr>
              <a:t>• Displays nested method calls</a:t>
            </a:r>
            <a:endParaRPr lang="en-US" sz="675" dirty="0"/>
          </a:p>
        </p:txBody>
      </p:sp>
      <p:sp>
        <p:nvSpPr>
          <p:cNvPr id="82" name="Text 69"/>
          <p:cNvSpPr/>
          <p:nvPr/>
        </p:nvSpPr>
        <p:spPr>
          <a:xfrm>
            <a:off x="4972050" y="3743325"/>
            <a:ext cx="1614488" cy="114300"/>
          </a:xfrm>
          <a:prstGeom prst="rect">
            <a:avLst/>
          </a:prstGeom>
          <a:noFill/>
          <a:ln/>
        </p:spPr>
        <p:txBody>
          <a:bodyPr wrap="square" lIns="0" tIns="0" rIns="0" bIns="0" rtlCol="0" anchor="ctr">
            <a:spAutoFit/>
          </a:bodyPr>
          <a:lstStyle/>
          <a:p>
            <a:pPr algn="l" indent="0" marL="0">
              <a:buNone/>
            </a:pPr>
            <a:r>
              <a:rPr lang="en-US" sz="675" dirty="0">
                <a:solidFill>
                  <a:srgbClr val="F1F5F9"/>
                </a:solidFill>
                <a:latin typeface="Segoe UI" pitchFamily="34" charset="0"/>
                <a:ea typeface="Segoe UI" pitchFamily="34" charset="-122"/>
                <a:cs typeface="Segoe UI" pitchFamily="34" charset="-120"/>
              </a:rPr>
              <a:t>• Click to navigate between frames</a:t>
            </a:r>
            <a:endParaRPr lang="en-US" sz="675" dirty="0"/>
          </a:p>
        </p:txBody>
      </p:sp>
      <p:sp>
        <p:nvSpPr>
          <p:cNvPr id="83" name="Text 70"/>
          <p:cNvSpPr/>
          <p:nvPr/>
        </p:nvSpPr>
        <p:spPr>
          <a:xfrm>
            <a:off x="4972050" y="3886200"/>
            <a:ext cx="1614488" cy="114300"/>
          </a:xfrm>
          <a:prstGeom prst="rect">
            <a:avLst/>
          </a:prstGeom>
          <a:noFill/>
          <a:ln/>
        </p:spPr>
        <p:txBody>
          <a:bodyPr wrap="square" lIns="0" tIns="0" rIns="0" bIns="0" rtlCol="0" anchor="ctr">
            <a:spAutoFit/>
          </a:bodyPr>
          <a:lstStyle/>
          <a:p>
            <a:pPr algn="l" indent="0" marL="0">
              <a:buNone/>
            </a:pPr>
            <a:r>
              <a:rPr lang="en-US" sz="675" dirty="0">
                <a:solidFill>
                  <a:srgbClr val="F1F5F9"/>
                </a:solidFill>
                <a:latin typeface="Segoe UI" pitchFamily="34" charset="0"/>
                <a:ea typeface="Segoe UI" pitchFamily="34" charset="-122"/>
                <a:cs typeface="Segoe UI" pitchFamily="34" charset="-120"/>
              </a:rPr>
              <a:t>• Helps understand program flow</a:t>
            </a:r>
            <a:endParaRPr lang="en-US" sz="675" dirty="0"/>
          </a:p>
        </p:txBody>
      </p:sp>
      <p:sp>
        <p:nvSpPr>
          <p:cNvPr id="84" name="Shape 71"/>
          <p:cNvSpPr/>
          <p:nvPr/>
        </p:nvSpPr>
        <p:spPr>
          <a:xfrm>
            <a:off x="6743700" y="2914650"/>
            <a:ext cx="1771650" cy="1200150"/>
          </a:xfrm>
          <a:prstGeom prst="rect">
            <a:avLst/>
          </a:prstGeom>
          <a:solidFill>
            <a:srgbClr val="1E3A8A">
              <a:alpha val="30000"/>
            </a:srgbClr>
          </a:solidFill>
          <a:ln/>
        </p:spPr>
      </p:sp>
      <p:sp>
        <p:nvSpPr>
          <p:cNvPr id="85" name="Text 72"/>
          <p:cNvSpPr/>
          <p:nvPr/>
        </p:nvSpPr>
        <p:spPr>
          <a:xfrm>
            <a:off x="6858000" y="3028950"/>
            <a:ext cx="1614488" cy="200025"/>
          </a:xfrm>
          <a:prstGeom prst="rect">
            <a:avLst/>
          </a:prstGeom>
          <a:noFill/>
          <a:ln/>
        </p:spPr>
        <p:txBody>
          <a:bodyPr wrap="square" lIns="0" tIns="0" rIns="0" bIns="0" rtlCol="0" anchor="ctr">
            <a:spAutoFit/>
          </a:bodyPr>
          <a:lstStyle/>
          <a:p>
            <a:pPr indent="0" marL="0">
              <a:buNone/>
            </a:pPr>
            <a:r>
              <a:rPr lang="en-US" sz="1013" b="1" dirty="0">
                <a:solidFill>
                  <a:srgbClr val="F1F5F9"/>
                </a:solidFill>
                <a:latin typeface="Segoe UI" pitchFamily="34" charset="0"/>
                <a:ea typeface="Segoe UI" pitchFamily="34" charset="-122"/>
                <a:cs typeface="Segoe UI" pitchFamily="34" charset="-120"/>
              </a:rPr>
              <a:t>Variables Panel</a:t>
            </a:r>
            <a:endParaRPr lang="en-US" sz="1013" dirty="0"/>
          </a:p>
        </p:txBody>
      </p:sp>
      <p:sp>
        <p:nvSpPr>
          <p:cNvPr id="86" name="Text 73"/>
          <p:cNvSpPr/>
          <p:nvPr/>
        </p:nvSpPr>
        <p:spPr>
          <a:xfrm>
            <a:off x="6858000" y="3286125"/>
            <a:ext cx="1614488" cy="114300"/>
          </a:xfrm>
          <a:prstGeom prst="rect">
            <a:avLst/>
          </a:prstGeom>
          <a:noFill/>
          <a:ln/>
        </p:spPr>
        <p:txBody>
          <a:bodyPr wrap="square" lIns="0" tIns="0" rIns="0" bIns="0" rtlCol="0" anchor="ctr">
            <a:spAutoFit/>
          </a:bodyPr>
          <a:lstStyle/>
          <a:p>
            <a:pPr indent="0" marL="0">
              <a:buNone/>
            </a:pPr>
            <a:r>
              <a:rPr lang="en-US" sz="675" dirty="0">
                <a:solidFill>
                  <a:srgbClr val="F1F5F9"/>
                </a:solidFill>
                <a:latin typeface="Segoe UI" pitchFamily="34" charset="0"/>
                <a:ea typeface="Segoe UI" pitchFamily="34" charset="-122"/>
                <a:cs typeface="Segoe UI" pitchFamily="34" charset="-120"/>
              </a:rPr>
              <a:t>Inspect current state:</a:t>
            </a:r>
            <a:endParaRPr lang="en-US" sz="675" dirty="0"/>
          </a:p>
        </p:txBody>
      </p:sp>
      <p:sp>
        <p:nvSpPr>
          <p:cNvPr id="87" name="Text 74"/>
          <p:cNvSpPr/>
          <p:nvPr/>
        </p:nvSpPr>
        <p:spPr>
          <a:xfrm>
            <a:off x="6858000" y="3457575"/>
            <a:ext cx="1614488" cy="114300"/>
          </a:xfrm>
          <a:prstGeom prst="rect">
            <a:avLst/>
          </a:prstGeom>
          <a:noFill/>
          <a:ln/>
        </p:spPr>
        <p:txBody>
          <a:bodyPr wrap="square" lIns="0" tIns="0" rIns="0" bIns="0" rtlCol="0" anchor="ctr">
            <a:spAutoFit/>
          </a:bodyPr>
          <a:lstStyle/>
          <a:p>
            <a:pPr algn="l" indent="0" marL="0">
              <a:buNone/>
            </a:pPr>
            <a:r>
              <a:rPr lang="en-US" sz="675" dirty="0">
                <a:solidFill>
                  <a:srgbClr val="F1F5F9"/>
                </a:solidFill>
                <a:latin typeface="Segoe UI" pitchFamily="34" charset="0"/>
                <a:ea typeface="Segoe UI" pitchFamily="34" charset="-122"/>
                <a:cs typeface="Segoe UI" pitchFamily="34" charset="-120"/>
              </a:rPr>
              <a:t>• Shows all variables in scope</a:t>
            </a:r>
            <a:endParaRPr lang="en-US" sz="675" dirty="0"/>
          </a:p>
        </p:txBody>
      </p:sp>
      <p:sp>
        <p:nvSpPr>
          <p:cNvPr id="88" name="Text 75"/>
          <p:cNvSpPr/>
          <p:nvPr/>
        </p:nvSpPr>
        <p:spPr>
          <a:xfrm>
            <a:off x="6858000" y="3600450"/>
            <a:ext cx="1614488" cy="114300"/>
          </a:xfrm>
          <a:prstGeom prst="rect">
            <a:avLst/>
          </a:prstGeom>
          <a:noFill/>
          <a:ln/>
        </p:spPr>
        <p:txBody>
          <a:bodyPr wrap="square" lIns="0" tIns="0" rIns="0" bIns="0" rtlCol="0" anchor="ctr">
            <a:spAutoFit/>
          </a:bodyPr>
          <a:lstStyle/>
          <a:p>
            <a:pPr algn="l" indent="0" marL="0">
              <a:buNone/>
            </a:pPr>
            <a:r>
              <a:rPr lang="en-US" sz="675" dirty="0">
                <a:solidFill>
                  <a:srgbClr val="F1F5F9"/>
                </a:solidFill>
                <a:latin typeface="Segoe UI" pitchFamily="34" charset="0"/>
                <a:ea typeface="Segoe UI" pitchFamily="34" charset="-122"/>
                <a:cs typeface="Segoe UI" pitchFamily="34" charset="-120"/>
              </a:rPr>
              <a:t>• Organized by context</a:t>
            </a:r>
            <a:endParaRPr lang="en-US" sz="675" dirty="0"/>
          </a:p>
        </p:txBody>
      </p:sp>
      <p:sp>
        <p:nvSpPr>
          <p:cNvPr id="89" name="Text 76"/>
          <p:cNvSpPr/>
          <p:nvPr/>
        </p:nvSpPr>
        <p:spPr>
          <a:xfrm>
            <a:off x="6858000" y="3743325"/>
            <a:ext cx="1614488" cy="114300"/>
          </a:xfrm>
          <a:prstGeom prst="rect">
            <a:avLst/>
          </a:prstGeom>
          <a:noFill/>
          <a:ln/>
        </p:spPr>
        <p:txBody>
          <a:bodyPr wrap="square" lIns="0" tIns="0" rIns="0" bIns="0" rtlCol="0" anchor="ctr">
            <a:spAutoFit/>
          </a:bodyPr>
          <a:lstStyle/>
          <a:p>
            <a:pPr algn="l" indent="0" marL="0">
              <a:buNone/>
            </a:pPr>
            <a:r>
              <a:rPr lang="en-US" sz="675" dirty="0">
                <a:solidFill>
                  <a:srgbClr val="F1F5F9"/>
                </a:solidFill>
                <a:latin typeface="Segoe UI" pitchFamily="34" charset="0"/>
                <a:ea typeface="Segoe UI" pitchFamily="34" charset="-122"/>
                <a:cs typeface="Segoe UI" pitchFamily="34" charset="-120"/>
              </a:rPr>
              <a:t>• Expand objects to see properties</a:t>
            </a:r>
            <a:endParaRPr lang="en-US" sz="675" dirty="0"/>
          </a:p>
        </p:txBody>
      </p:sp>
      <p:sp>
        <p:nvSpPr>
          <p:cNvPr id="90" name="Text 77"/>
          <p:cNvSpPr/>
          <p:nvPr/>
        </p:nvSpPr>
        <p:spPr>
          <a:xfrm>
            <a:off x="6858000" y="3886200"/>
            <a:ext cx="1614488" cy="114300"/>
          </a:xfrm>
          <a:prstGeom prst="rect">
            <a:avLst/>
          </a:prstGeom>
          <a:noFill/>
          <a:ln/>
        </p:spPr>
        <p:txBody>
          <a:bodyPr wrap="square" lIns="0" tIns="0" rIns="0" bIns="0" rtlCol="0" anchor="ctr">
            <a:spAutoFit/>
          </a:bodyPr>
          <a:lstStyle/>
          <a:p>
            <a:pPr algn="l" indent="0" marL="0">
              <a:buNone/>
            </a:pPr>
            <a:r>
              <a:rPr lang="en-US" sz="675" dirty="0">
                <a:solidFill>
                  <a:srgbClr val="F1F5F9"/>
                </a:solidFill>
                <a:latin typeface="Segoe UI" pitchFamily="34" charset="0"/>
                <a:ea typeface="Segoe UI" pitchFamily="34" charset="-122"/>
                <a:cs typeface="Segoe UI" pitchFamily="34" charset="-120"/>
              </a:rPr>
              <a:t>• Updates as you step through code</a:t>
            </a:r>
            <a:endParaRPr lang="en-US" sz="675" dirty="0"/>
          </a:p>
        </p:txBody>
      </p:sp>
      <p:sp>
        <p:nvSpPr>
          <p:cNvPr id="91" name="Shape 78"/>
          <p:cNvSpPr/>
          <p:nvPr/>
        </p:nvSpPr>
        <p:spPr>
          <a:xfrm>
            <a:off x="4857750" y="4229100"/>
            <a:ext cx="3657600" cy="1885950"/>
          </a:xfrm>
          <a:prstGeom prst="rect">
            <a:avLst/>
          </a:prstGeom>
          <a:solidFill>
            <a:srgbClr val="1E3A8A">
              <a:alpha val="30000"/>
            </a:srgbClr>
          </a:solidFill>
          <a:ln/>
        </p:spPr>
      </p:sp>
      <p:sp>
        <p:nvSpPr>
          <p:cNvPr id="92" name="Text 79"/>
          <p:cNvSpPr/>
          <p:nvPr/>
        </p:nvSpPr>
        <p:spPr>
          <a:xfrm>
            <a:off x="4972050" y="4343400"/>
            <a:ext cx="3500438" cy="200025"/>
          </a:xfrm>
          <a:prstGeom prst="rect">
            <a:avLst/>
          </a:prstGeom>
          <a:noFill/>
          <a:ln/>
        </p:spPr>
        <p:txBody>
          <a:bodyPr wrap="square" lIns="0" tIns="0" rIns="0" bIns="0" rtlCol="0" anchor="ctr">
            <a:spAutoFit/>
          </a:bodyPr>
          <a:lstStyle/>
          <a:p>
            <a:pPr indent="0" marL="0">
              <a:buNone/>
            </a:pPr>
            <a:r>
              <a:rPr lang="en-US" sz="1125" b="1" dirty="0">
                <a:solidFill>
                  <a:srgbClr val="F1F5F9"/>
                </a:solidFill>
                <a:latin typeface="Segoe UI" pitchFamily="34" charset="0"/>
                <a:ea typeface="Segoe UI" pitchFamily="34" charset="-122"/>
                <a:cs typeface="Segoe UI" pitchFamily="34" charset="-120"/>
              </a:rPr>
              <a:t>Debug Actions</a:t>
            </a:r>
            <a:endParaRPr lang="en-US" sz="1125" dirty="0"/>
          </a:p>
        </p:txBody>
      </p:sp>
      <p:sp>
        <p:nvSpPr>
          <p:cNvPr id="93" name="Shape 80"/>
          <p:cNvSpPr/>
          <p:nvPr/>
        </p:nvSpPr>
        <p:spPr>
          <a:xfrm>
            <a:off x="4972050" y="4600575"/>
            <a:ext cx="1104881" cy="285750"/>
          </a:xfrm>
          <a:prstGeom prst="rect">
            <a:avLst/>
          </a:prstGeom>
          <a:solidFill>
            <a:srgbClr val="1E40AF">
              <a:alpha val="50000"/>
            </a:srgbClr>
          </a:solidFill>
          <a:ln/>
        </p:spPr>
      </p:sp>
      <p:pic>
        <p:nvPicPr>
          <p:cNvPr id="94" name="Image 11" descr="preencoded.png">    </p:cNvPr>
          <p:cNvPicPr>
            <a:picLocks noChangeAspect="1"/>
          </p:cNvPicPr>
          <p:nvPr/>
        </p:nvPicPr>
        <p:blipFill>
          <a:blip r:embed="rId12"/>
          <a:stretch>
            <a:fillRect/>
          </a:stretch>
        </p:blipFill>
        <p:spPr>
          <a:xfrm>
            <a:off x="5467341" y="4682728"/>
            <a:ext cx="114300" cy="114300"/>
          </a:xfrm>
          <a:prstGeom prst="rect">
            <a:avLst/>
          </a:prstGeom>
        </p:spPr>
      </p:pic>
      <p:sp>
        <p:nvSpPr>
          <p:cNvPr id="95" name="Text 81"/>
          <p:cNvSpPr/>
          <p:nvPr/>
        </p:nvSpPr>
        <p:spPr>
          <a:xfrm>
            <a:off x="4972050" y="4914900"/>
            <a:ext cx="1176319" cy="114300"/>
          </a:xfrm>
          <a:prstGeom prst="rect">
            <a:avLst/>
          </a:prstGeom>
          <a:noFill/>
          <a:ln/>
        </p:spPr>
        <p:txBody>
          <a:bodyPr wrap="none" lIns="0" tIns="0" rIns="0" bIns="0" rtlCol="0" anchor="ctr">
            <a:spAutoFit/>
          </a:bodyPr>
          <a:lstStyle/>
          <a:p>
            <a:pPr algn="ctr" indent="0" marL="0">
              <a:buNone/>
            </a:pPr>
            <a:r>
              <a:rPr lang="en-US" sz="675" dirty="0">
                <a:solidFill>
                  <a:srgbClr val="F1F5F9"/>
                </a:solidFill>
                <a:latin typeface="Segoe UI" pitchFamily="34" charset="0"/>
                <a:ea typeface="Segoe UI" pitchFamily="34" charset="-122"/>
                <a:cs typeface="Segoe UI" pitchFamily="34" charset="-120"/>
              </a:rPr>
              <a:t>Continue (F5)</a:t>
            </a:r>
            <a:endParaRPr lang="en-US" sz="675" dirty="0"/>
          </a:p>
        </p:txBody>
      </p:sp>
      <p:sp>
        <p:nvSpPr>
          <p:cNvPr id="96" name="Shape 82"/>
          <p:cNvSpPr/>
          <p:nvPr/>
        </p:nvSpPr>
        <p:spPr>
          <a:xfrm>
            <a:off x="6134081" y="4600575"/>
            <a:ext cx="1104909" cy="285750"/>
          </a:xfrm>
          <a:prstGeom prst="rect">
            <a:avLst/>
          </a:prstGeom>
          <a:solidFill>
            <a:srgbClr val="1E40AF">
              <a:alpha val="50000"/>
            </a:srgbClr>
          </a:solidFill>
          <a:ln/>
        </p:spPr>
      </p:sp>
      <p:pic>
        <p:nvPicPr>
          <p:cNvPr id="97" name="Image 12" descr="preencoded.png">    </p:cNvPr>
          <p:cNvPicPr>
            <a:picLocks noChangeAspect="1"/>
          </p:cNvPicPr>
          <p:nvPr/>
        </p:nvPicPr>
        <p:blipFill>
          <a:blip r:embed="rId13"/>
          <a:stretch>
            <a:fillRect/>
          </a:stretch>
        </p:blipFill>
        <p:spPr>
          <a:xfrm>
            <a:off x="6650803" y="4682728"/>
            <a:ext cx="71438" cy="114300"/>
          </a:xfrm>
          <a:prstGeom prst="rect">
            <a:avLst/>
          </a:prstGeom>
        </p:spPr>
      </p:pic>
      <p:sp>
        <p:nvSpPr>
          <p:cNvPr id="98" name="Text 83"/>
          <p:cNvSpPr/>
          <p:nvPr/>
        </p:nvSpPr>
        <p:spPr>
          <a:xfrm>
            <a:off x="6134081" y="4914900"/>
            <a:ext cx="1176347" cy="114300"/>
          </a:xfrm>
          <a:prstGeom prst="rect">
            <a:avLst/>
          </a:prstGeom>
          <a:noFill/>
          <a:ln/>
        </p:spPr>
        <p:txBody>
          <a:bodyPr wrap="none" lIns="0" tIns="0" rIns="0" bIns="0" rtlCol="0" anchor="ctr">
            <a:spAutoFit/>
          </a:bodyPr>
          <a:lstStyle/>
          <a:p>
            <a:pPr algn="ctr" indent="0" marL="0">
              <a:buNone/>
            </a:pPr>
            <a:r>
              <a:rPr lang="en-US" sz="675" dirty="0">
                <a:solidFill>
                  <a:srgbClr val="F1F5F9"/>
                </a:solidFill>
                <a:latin typeface="Segoe UI" pitchFamily="34" charset="0"/>
                <a:ea typeface="Segoe UI" pitchFamily="34" charset="-122"/>
                <a:cs typeface="Segoe UI" pitchFamily="34" charset="-120"/>
              </a:rPr>
              <a:t>Pause</a:t>
            </a:r>
            <a:endParaRPr lang="en-US" sz="675" dirty="0"/>
          </a:p>
        </p:txBody>
      </p:sp>
      <p:sp>
        <p:nvSpPr>
          <p:cNvPr id="99" name="Shape 84"/>
          <p:cNvSpPr/>
          <p:nvPr/>
        </p:nvSpPr>
        <p:spPr>
          <a:xfrm>
            <a:off x="7296141" y="4600575"/>
            <a:ext cx="1104909" cy="285750"/>
          </a:xfrm>
          <a:prstGeom prst="rect">
            <a:avLst/>
          </a:prstGeom>
          <a:solidFill>
            <a:srgbClr val="1E40AF">
              <a:alpha val="50000"/>
            </a:srgbClr>
          </a:solidFill>
          <a:ln/>
        </p:spPr>
      </p:sp>
      <p:pic>
        <p:nvPicPr>
          <p:cNvPr id="100" name="Image 13" descr="preencoded.png">    </p:cNvPr>
          <p:cNvPicPr>
            <a:picLocks noChangeAspect="1"/>
          </p:cNvPicPr>
          <p:nvPr/>
        </p:nvPicPr>
        <p:blipFill>
          <a:blip r:embed="rId14"/>
          <a:stretch>
            <a:fillRect/>
          </a:stretch>
        </p:blipFill>
        <p:spPr>
          <a:xfrm>
            <a:off x="7805719" y="4682728"/>
            <a:ext cx="85725" cy="114300"/>
          </a:xfrm>
          <a:prstGeom prst="rect">
            <a:avLst/>
          </a:prstGeom>
        </p:spPr>
      </p:pic>
      <p:sp>
        <p:nvSpPr>
          <p:cNvPr id="101" name="Text 85"/>
          <p:cNvSpPr/>
          <p:nvPr/>
        </p:nvSpPr>
        <p:spPr>
          <a:xfrm>
            <a:off x="7296141" y="4914900"/>
            <a:ext cx="1176347" cy="114300"/>
          </a:xfrm>
          <a:prstGeom prst="rect">
            <a:avLst/>
          </a:prstGeom>
          <a:noFill/>
          <a:ln/>
        </p:spPr>
        <p:txBody>
          <a:bodyPr wrap="none" lIns="0" tIns="0" rIns="0" bIns="0" rtlCol="0" anchor="ctr">
            <a:spAutoFit/>
          </a:bodyPr>
          <a:lstStyle/>
          <a:p>
            <a:pPr algn="ctr" indent="0" marL="0">
              <a:buNone/>
            </a:pPr>
            <a:r>
              <a:rPr lang="en-US" sz="675" dirty="0">
                <a:solidFill>
                  <a:srgbClr val="F1F5F9"/>
                </a:solidFill>
                <a:latin typeface="Segoe UI" pitchFamily="34" charset="0"/>
                <a:ea typeface="Segoe UI" pitchFamily="34" charset="-122"/>
                <a:cs typeface="Segoe UI" pitchFamily="34" charset="-120"/>
              </a:rPr>
              <a:t>Stop (Shift+F5)</a:t>
            </a:r>
            <a:endParaRPr lang="en-US" sz="675" dirty="0"/>
          </a:p>
        </p:txBody>
      </p:sp>
      <p:sp>
        <p:nvSpPr>
          <p:cNvPr id="102" name="Shape 86"/>
          <p:cNvSpPr/>
          <p:nvPr/>
        </p:nvSpPr>
        <p:spPr>
          <a:xfrm>
            <a:off x="4972050" y="5086350"/>
            <a:ext cx="1104881" cy="285750"/>
          </a:xfrm>
          <a:prstGeom prst="rect">
            <a:avLst/>
          </a:prstGeom>
          <a:solidFill>
            <a:srgbClr val="1E40AF">
              <a:alpha val="50000"/>
            </a:srgbClr>
          </a:solidFill>
          <a:ln/>
        </p:spPr>
      </p:sp>
      <p:pic>
        <p:nvPicPr>
          <p:cNvPr id="103" name="Image 14" descr="preencoded.png">    </p:cNvPr>
          <p:cNvPicPr>
            <a:picLocks noChangeAspect="1"/>
          </p:cNvPicPr>
          <p:nvPr/>
        </p:nvPicPr>
        <p:blipFill>
          <a:blip r:embed="rId15"/>
          <a:stretch>
            <a:fillRect/>
          </a:stretch>
        </p:blipFill>
        <p:spPr>
          <a:xfrm>
            <a:off x="5467341" y="5168503"/>
            <a:ext cx="114300" cy="114300"/>
          </a:xfrm>
          <a:prstGeom prst="rect">
            <a:avLst/>
          </a:prstGeom>
        </p:spPr>
      </p:pic>
      <p:sp>
        <p:nvSpPr>
          <p:cNvPr id="104" name="Text 87"/>
          <p:cNvSpPr/>
          <p:nvPr/>
        </p:nvSpPr>
        <p:spPr>
          <a:xfrm>
            <a:off x="4972050" y="5400675"/>
            <a:ext cx="1176319" cy="114300"/>
          </a:xfrm>
          <a:prstGeom prst="rect">
            <a:avLst/>
          </a:prstGeom>
          <a:noFill/>
          <a:ln/>
        </p:spPr>
        <p:txBody>
          <a:bodyPr wrap="none" lIns="0" tIns="0" rIns="0" bIns="0" rtlCol="0" anchor="ctr">
            <a:spAutoFit/>
          </a:bodyPr>
          <a:lstStyle/>
          <a:p>
            <a:pPr algn="ctr" indent="0" marL="0">
              <a:buNone/>
            </a:pPr>
            <a:r>
              <a:rPr lang="en-US" sz="675" dirty="0">
                <a:solidFill>
                  <a:srgbClr val="F1F5F9"/>
                </a:solidFill>
                <a:latin typeface="Segoe UI" pitchFamily="34" charset="0"/>
                <a:ea typeface="Segoe UI" pitchFamily="34" charset="-122"/>
                <a:cs typeface="Segoe UI" pitchFamily="34" charset="-120"/>
              </a:rPr>
              <a:t>Restart</a:t>
            </a:r>
            <a:endParaRPr lang="en-US" sz="675" dirty="0"/>
          </a:p>
        </p:txBody>
      </p:sp>
      <p:sp>
        <p:nvSpPr>
          <p:cNvPr id="105" name="Shape 88"/>
          <p:cNvSpPr/>
          <p:nvPr/>
        </p:nvSpPr>
        <p:spPr>
          <a:xfrm>
            <a:off x="6134081" y="5086350"/>
            <a:ext cx="1104909" cy="285750"/>
          </a:xfrm>
          <a:prstGeom prst="rect">
            <a:avLst/>
          </a:prstGeom>
          <a:solidFill>
            <a:srgbClr val="1E40AF">
              <a:alpha val="50000"/>
            </a:srgbClr>
          </a:solidFill>
          <a:ln/>
        </p:spPr>
      </p:sp>
      <p:pic>
        <p:nvPicPr>
          <p:cNvPr id="106" name="Image 15" descr="preencoded.png">    </p:cNvPr>
          <p:cNvPicPr>
            <a:picLocks noChangeAspect="1"/>
          </p:cNvPicPr>
          <p:nvPr/>
        </p:nvPicPr>
        <p:blipFill>
          <a:blip r:embed="rId16"/>
          <a:stretch>
            <a:fillRect/>
          </a:stretch>
        </p:blipFill>
        <p:spPr>
          <a:xfrm>
            <a:off x="6643660" y="5168503"/>
            <a:ext cx="85725" cy="114300"/>
          </a:xfrm>
          <a:prstGeom prst="rect">
            <a:avLst/>
          </a:prstGeom>
        </p:spPr>
      </p:pic>
      <p:sp>
        <p:nvSpPr>
          <p:cNvPr id="107" name="Text 89"/>
          <p:cNvSpPr/>
          <p:nvPr/>
        </p:nvSpPr>
        <p:spPr>
          <a:xfrm>
            <a:off x="6134081" y="5400675"/>
            <a:ext cx="1176347" cy="114300"/>
          </a:xfrm>
          <a:prstGeom prst="rect">
            <a:avLst/>
          </a:prstGeom>
          <a:noFill/>
          <a:ln/>
        </p:spPr>
        <p:txBody>
          <a:bodyPr wrap="none" lIns="0" tIns="0" rIns="0" bIns="0" rtlCol="0" anchor="ctr">
            <a:spAutoFit/>
          </a:bodyPr>
          <a:lstStyle/>
          <a:p>
            <a:pPr algn="ctr" indent="0" marL="0">
              <a:buNone/>
            </a:pPr>
            <a:r>
              <a:rPr lang="en-US" sz="675" dirty="0">
                <a:solidFill>
                  <a:srgbClr val="F1F5F9"/>
                </a:solidFill>
                <a:latin typeface="Segoe UI" pitchFamily="34" charset="0"/>
                <a:ea typeface="Segoe UI" pitchFamily="34" charset="-122"/>
                <a:cs typeface="Segoe UI" pitchFamily="34" charset="-120"/>
              </a:rPr>
              <a:t>Step Into (F11)</a:t>
            </a:r>
            <a:endParaRPr lang="en-US" sz="675" dirty="0"/>
          </a:p>
        </p:txBody>
      </p:sp>
      <p:sp>
        <p:nvSpPr>
          <p:cNvPr id="108" name="Shape 90"/>
          <p:cNvSpPr/>
          <p:nvPr/>
        </p:nvSpPr>
        <p:spPr>
          <a:xfrm>
            <a:off x="7296141" y="5086350"/>
            <a:ext cx="1104909" cy="285750"/>
          </a:xfrm>
          <a:prstGeom prst="rect">
            <a:avLst/>
          </a:prstGeom>
          <a:solidFill>
            <a:srgbClr val="1E40AF">
              <a:alpha val="50000"/>
            </a:srgbClr>
          </a:solidFill>
          <a:ln/>
        </p:spPr>
      </p:sp>
      <p:pic>
        <p:nvPicPr>
          <p:cNvPr id="109" name="Image 16" descr="preencoded.png">    </p:cNvPr>
          <p:cNvPicPr>
            <a:picLocks noChangeAspect="1"/>
          </p:cNvPicPr>
          <p:nvPr/>
        </p:nvPicPr>
        <p:blipFill>
          <a:blip r:embed="rId17"/>
          <a:stretch>
            <a:fillRect/>
          </a:stretch>
        </p:blipFill>
        <p:spPr>
          <a:xfrm>
            <a:off x="7805719" y="5168503"/>
            <a:ext cx="85725" cy="114300"/>
          </a:xfrm>
          <a:prstGeom prst="rect">
            <a:avLst/>
          </a:prstGeom>
        </p:spPr>
      </p:pic>
      <p:sp>
        <p:nvSpPr>
          <p:cNvPr id="110" name="Text 91"/>
          <p:cNvSpPr/>
          <p:nvPr/>
        </p:nvSpPr>
        <p:spPr>
          <a:xfrm>
            <a:off x="7296141" y="5400675"/>
            <a:ext cx="1176347" cy="114300"/>
          </a:xfrm>
          <a:prstGeom prst="rect">
            <a:avLst/>
          </a:prstGeom>
          <a:noFill/>
          <a:ln/>
        </p:spPr>
        <p:txBody>
          <a:bodyPr wrap="none" lIns="0" tIns="0" rIns="0" bIns="0" rtlCol="0" anchor="ctr">
            <a:spAutoFit/>
          </a:bodyPr>
          <a:lstStyle/>
          <a:p>
            <a:pPr algn="ctr" indent="0" marL="0">
              <a:buNone/>
            </a:pPr>
            <a:r>
              <a:rPr lang="en-US" sz="675" dirty="0">
                <a:solidFill>
                  <a:srgbClr val="F1F5F9"/>
                </a:solidFill>
                <a:latin typeface="Segoe UI" pitchFamily="34" charset="0"/>
                <a:ea typeface="Segoe UI" pitchFamily="34" charset="-122"/>
                <a:cs typeface="Segoe UI" pitchFamily="34" charset="-120"/>
              </a:rPr>
              <a:t>Step Out (Shift+F11)</a:t>
            </a:r>
            <a:endParaRPr lang="en-US" sz="675" dirty="0"/>
          </a:p>
        </p:txBody>
      </p:sp>
      <p:sp>
        <p:nvSpPr>
          <p:cNvPr id="111" name="Shape 92"/>
          <p:cNvSpPr/>
          <p:nvPr/>
        </p:nvSpPr>
        <p:spPr>
          <a:xfrm>
            <a:off x="4972050" y="5572125"/>
            <a:ext cx="1104881" cy="285750"/>
          </a:xfrm>
          <a:prstGeom prst="rect">
            <a:avLst/>
          </a:prstGeom>
          <a:solidFill>
            <a:srgbClr val="1E40AF">
              <a:alpha val="50000"/>
            </a:srgbClr>
          </a:solidFill>
          <a:ln/>
        </p:spPr>
      </p:sp>
      <p:pic>
        <p:nvPicPr>
          <p:cNvPr id="112" name="Image 17" descr="preencoded.png">    </p:cNvPr>
          <p:cNvPicPr>
            <a:picLocks noChangeAspect="1"/>
          </p:cNvPicPr>
          <p:nvPr/>
        </p:nvPicPr>
        <p:blipFill>
          <a:blip r:embed="rId18"/>
          <a:stretch>
            <a:fillRect/>
          </a:stretch>
        </p:blipFill>
        <p:spPr>
          <a:xfrm>
            <a:off x="5474484" y="5654278"/>
            <a:ext cx="100013" cy="114300"/>
          </a:xfrm>
          <a:prstGeom prst="rect">
            <a:avLst/>
          </a:prstGeom>
        </p:spPr>
      </p:pic>
      <p:sp>
        <p:nvSpPr>
          <p:cNvPr id="113" name="Text 93"/>
          <p:cNvSpPr/>
          <p:nvPr/>
        </p:nvSpPr>
        <p:spPr>
          <a:xfrm>
            <a:off x="4972050" y="5886450"/>
            <a:ext cx="1176319" cy="114300"/>
          </a:xfrm>
          <a:prstGeom prst="rect">
            <a:avLst/>
          </a:prstGeom>
          <a:noFill/>
          <a:ln/>
        </p:spPr>
        <p:txBody>
          <a:bodyPr wrap="none" lIns="0" tIns="0" rIns="0" bIns="0" rtlCol="0" anchor="ctr">
            <a:spAutoFit/>
          </a:bodyPr>
          <a:lstStyle/>
          <a:p>
            <a:pPr algn="ctr" indent="0" marL="0">
              <a:buNone/>
            </a:pPr>
            <a:r>
              <a:rPr lang="en-US" sz="675" dirty="0">
                <a:solidFill>
                  <a:srgbClr val="F1F5F9"/>
                </a:solidFill>
                <a:latin typeface="Segoe UI" pitchFamily="34" charset="0"/>
                <a:ea typeface="Segoe UI" pitchFamily="34" charset="-122"/>
                <a:cs typeface="Segoe UI" pitchFamily="34" charset="-120"/>
              </a:rPr>
              <a:t>Step Over (F10)</a:t>
            </a:r>
            <a:endParaRPr lang="en-US" sz="675" dirty="0"/>
          </a:p>
        </p:txBody>
      </p:sp>
      <p:sp>
        <p:nvSpPr>
          <p:cNvPr id="114" name="Shape 94"/>
          <p:cNvSpPr/>
          <p:nvPr/>
        </p:nvSpPr>
        <p:spPr>
          <a:xfrm>
            <a:off x="6134081" y="5572125"/>
            <a:ext cx="1104909" cy="285750"/>
          </a:xfrm>
          <a:prstGeom prst="rect">
            <a:avLst/>
          </a:prstGeom>
          <a:solidFill>
            <a:srgbClr val="1E40AF">
              <a:alpha val="50000"/>
            </a:srgbClr>
          </a:solidFill>
          <a:ln/>
        </p:spPr>
      </p:sp>
      <p:pic>
        <p:nvPicPr>
          <p:cNvPr id="115" name="Image 18" descr="preencoded.png">    </p:cNvPr>
          <p:cNvPicPr>
            <a:picLocks noChangeAspect="1"/>
          </p:cNvPicPr>
          <p:nvPr/>
        </p:nvPicPr>
        <p:blipFill>
          <a:blip r:embed="rId19"/>
          <a:stretch>
            <a:fillRect/>
          </a:stretch>
        </p:blipFill>
        <p:spPr>
          <a:xfrm>
            <a:off x="6629372" y="5654278"/>
            <a:ext cx="114300" cy="114300"/>
          </a:xfrm>
          <a:prstGeom prst="rect">
            <a:avLst/>
          </a:prstGeom>
        </p:spPr>
      </p:pic>
      <p:sp>
        <p:nvSpPr>
          <p:cNvPr id="116" name="Text 95"/>
          <p:cNvSpPr/>
          <p:nvPr/>
        </p:nvSpPr>
        <p:spPr>
          <a:xfrm>
            <a:off x="6134081" y="5886450"/>
            <a:ext cx="1176347" cy="114300"/>
          </a:xfrm>
          <a:prstGeom prst="rect">
            <a:avLst/>
          </a:prstGeom>
          <a:noFill/>
          <a:ln/>
        </p:spPr>
        <p:txBody>
          <a:bodyPr wrap="none" lIns="0" tIns="0" rIns="0" bIns="0" rtlCol="0" anchor="ctr">
            <a:spAutoFit/>
          </a:bodyPr>
          <a:lstStyle/>
          <a:p>
            <a:pPr algn="ctr" indent="0" marL="0">
              <a:buNone/>
            </a:pPr>
            <a:r>
              <a:rPr lang="en-US" sz="675" dirty="0">
                <a:solidFill>
                  <a:srgbClr val="F1F5F9"/>
                </a:solidFill>
                <a:latin typeface="Segoe UI" pitchFamily="34" charset="0"/>
                <a:ea typeface="Segoe UI" pitchFamily="34" charset="-122"/>
                <a:cs typeface="Segoe UI" pitchFamily="34" charset="-120"/>
              </a:rPr>
              <a:t>Hot Code Replace</a:t>
            </a:r>
            <a:endParaRPr lang="en-US" sz="675" dirty="0"/>
          </a:p>
        </p:txBody>
      </p:sp>
      <p:sp>
        <p:nvSpPr>
          <p:cNvPr id="117" name="Shape 96"/>
          <p:cNvSpPr/>
          <p:nvPr/>
        </p:nvSpPr>
        <p:spPr>
          <a:xfrm>
            <a:off x="7296141" y="5572125"/>
            <a:ext cx="1104909" cy="285750"/>
          </a:xfrm>
          <a:prstGeom prst="rect">
            <a:avLst/>
          </a:prstGeom>
          <a:solidFill>
            <a:srgbClr val="1E40AF">
              <a:alpha val="50000"/>
            </a:srgbClr>
          </a:solidFill>
          <a:ln/>
        </p:spPr>
      </p:sp>
      <p:pic>
        <p:nvPicPr>
          <p:cNvPr id="118" name="Image 19" descr="preencoded.png">    </p:cNvPr>
          <p:cNvPicPr>
            <a:picLocks noChangeAspect="1"/>
          </p:cNvPicPr>
          <p:nvPr/>
        </p:nvPicPr>
        <p:blipFill>
          <a:blip r:embed="rId20"/>
          <a:stretch>
            <a:fillRect/>
          </a:stretch>
        </p:blipFill>
        <p:spPr>
          <a:xfrm>
            <a:off x="7791431" y="5654278"/>
            <a:ext cx="114300" cy="114300"/>
          </a:xfrm>
          <a:prstGeom prst="rect">
            <a:avLst/>
          </a:prstGeom>
        </p:spPr>
      </p:pic>
      <p:sp>
        <p:nvSpPr>
          <p:cNvPr id="119" name="Text 97"/>
          <p:cNvSpPr/>
          <p:nvPr/>
        </p:nvSpPr>
        <p:spPr>
          <a:xfrm>
            <a:off x="7296141" y="5886450"/>
            <a:ext cx="1176347" cy="114300"/>
          </a:xfrm>
          <a:prstGeom prst="rect">
            <a:avLst/>
          </a:prstGeom>
          <a:noFill/>
          <a:ln/>
        </p:spPr>
        <p:txBody>
          <a:bodyPr wrap="none" lIns="0" tIns="0" rIns="0" bIns="0" rtlCol="0" anchor="ctr">
            <a:spAutoFit/>
          </a:bodyPr>
          <a:lstStyle/>
          <a:p>
            <a:pPr algn="ctr" indent="0" marL="0">
              <a:buNone/>
            </a:pPr>
            <a:r>
              <a:rPr lang="en-US" sz="675" dirty="0">
                <a:solidFill>
                  <a:srgbClr val="F1F5F9"/>
                </a:solidFill>
                <a:latin typeface="Segoe UI" pitchFamily="34" charset="0"/>
                <a:ea typeface="Segoe UI" pitchFamily="34" charset="-122"/>
                <a:cs typeface="Segoe UI" pitchFamily="34" charset="-120"/>
              </a:rPr>
              <a:t>Toggle Breakpoint</a:t>
            </a:r>
            <a:endParaRPr lang="en-US" sz="675" dirty="0"/>
          </a:p>
        </p:txBody>
      </p:sp>
      <p:sp>
        <p:nvSpPr>
          <p:cNvPr id="120" name="Shape 98"/>
          <p:cNvSpPr/>
          <p:nvPr/>
        </p:nvSpPr>
        <p:spPr>
          <a:xfrm>
            <a:off x="4686300" y="6457950"/>
            <a:ext cx="4000500" cy="4129088"/>
          </a:xfrm>
          <a:prstGeom prst="rect">
            <a:avLst/>
          </a:prstGeom>
          <a:solidFill>
            <a:srgbClr val="FFFFFF">
              <a:alpha val="10000"/>
            </a:srgbClr>
          </a:solidFill>
          <a:ln w="99">
            <a:solidFill>
              <a:srgbClr val="60A5FA">
                <a:alpha val="30000"/>
              </a:srgbClr>
            </a:solidFill>
            <a:prstDash val="solid"/>
          </a:ln>
        </p:spPr>
      </p:sp>
      <p:sp>
        <p:nvSpPr>
          <p:cNvPr id="121" name="Text 99"/>
          <p:cNvSpPr/>
          <p:nvPr/>
        </p:nvSpPr>
        <p:spPr>
          <a:xfrm>
            <a:off x="4857750" y="6629400"/>
            <a:ext cx="3729038" cy="228600"/>
          </a:xfrm>
          <a:prstGeom prst="rect">
            <a:avLst/>
          </a:prstGeom>
          <a:noFill/>
          <a:ln/>
        </p:spPr>
        <p:txBody>
          <a:bodyPr wrap="square" lIns="0" tIns="0" rIns="0" bIns="0" rtlCol="0" anchor="ctr">
            <a:spAutoFit/>
          </a:bodyPr>
          <a:lstStyle/>
          <a:p>
            <a:pPr indent="0" marL="0">
              <a:buNone/>
            </a:pPr>
            <a:r>
              <a:rPr lang="en-US" sz="1350" b="1" dirty="0">
                <a:solidFill>
                  <a:srgbClr val="BFDBFE"/>
                </a:solidFill>
                <a:latin typeface="Segoe UI" pitchFamily="34" charset="0"/>
                <a:ea typeface="Segoe UI" pitchFamily="34" charset="-122"/>
                <a:cs typeface="Segoe UI" pitchFamily="34" charset="-120"/>
              </a:rPr>
              <a:t>Debugging Workflow</a:t>
            </a:r>
            <a:endParaRPr lang="en-US" sz="1350" dirty="0"/>
          </a:p>
        </p:txBody>
      </p:sp>
      <p:sp>
        <p:nvSpPr>
          <p:cNvPr id="122" name="Shape 100"/>
          <p:cNvSpPr/>
          <p:nvPr/>
        </p:nvSpPr>
        <p:spPr>
          <a:xfrm>
            <a:off x="4857750" y="6972300"/>
            <a:ext cx="3657600" cy="1085850"/>
          </a:xfrm>
          <a:prstGeom prst="rect">
            <a:avLst/>
          </a:prstGeom>
          <a:solidFill>
            <a:srgbClr val="1E3A8A">
              <a:alpha val="30000"/>
            </a:srgbClr>
          </a:solidFill>
          <a:ln/>
        </p:spPr>
      </p:sp>
      <p:sp>
        <p:nvSpPr>
          <p:cNvPr id="123" name="Shape 101"/>
          <p:cNvSpPr/>
          <p:nvPr/>
        </p:nvSpPr>
        <p:spPr>
          <a:xfrm>
            <a:off x="4857750" y="6972300"/>
            <a:ext cx="28575" cy="1085850"/>
          </a:xfrm>
          <a:prstGeom prst="rect">
            <a:avLst/>
          </a:prstGeom>
          <a:solidFill>
            <a:srgbClr val="60A5FA"/>
          </a:solidFill>
          <a:ln/>
        </p:spPr>
      </p:sp>
      <p:sp>
        <p:nvSpPr>
          <p:cNvPr id="124" name="Text 102"/>
          <p:cNvSpPr/>
          <p:nvPr/>
        </p:nvSpPr>
        <p:spPr>
          <a:xfrm>
            <a:off x="4972050" y="7058025"/>
            <a:ext cx="3614738" cy="200025"/>
          </a:xfrm>
          <a:prstGeom prst="rect">
            <a:avLst/>
          </a:prstGeom>
          <a:noFill/>
          <a:ln/>
        </p:spPr>
        <p:txBody>
          <a:bodyPr wrap="square" lIns="0" tIns="0" rIns="0" bIns="0" rtlCol="0" anchor="ctr">
            <a:spAutoFit/>
          </a:bodyPr>
          <a:lstStyle/>
          <a:p>
            <a:pPr indent="0" marL="0">
              <a:buNone/>
            </a:pPr>
            <a:r>
              <a:rPr lang="en-US" sz="1125" b="1" dirty="0">
                <a:solidFill>
                  <a:srgbClr val="F1F5F9"/>
                </a:solidFill>
                <a:latin typeface="Segoe UI" pitchFamily="34" charset="0"/>
                <a:ea typeface="Segoe UI" pitchFamily="34" charset="-122"/>
                <a:cs typeface="Segoe UI" pitchFamily="34" charset="-120"/>
              </a:rPr>
              <a:t>Step 1: Set Breakpoints</a:t>
            </a:r>
            <a:endParaRPr lang="en-US" sz="1125" dirty="0"/>
          </a:p>
        </p:txBody>
      </p:sp>
      <p:sp>
        <p:nvSpPr>
          <p:cNvPr id="125" name="Text 103"/>
          <p:cNvSpPr/>
          <p:nvPr/>
        </p:nvSpPr>
        <p:spPr>
          <a:xfrm>
            <a:off x="4972050" y="7286625"/>
            <a:ext cx="3614738" cy="142875"/>
          </a:xfrm>
          <a:prstGeom prst="rect">
            <a:avLst/>
          </a:prstGeom>
          <a:noFill/>
          <a:ln/>
        </p:spPr>
        <p:txBody>
          <a:bodyPr wrap="square" lIns="0" tIns="0" rIns="0" bIns="0" rtlCol="0" anchor="ctr">
            <a:spAutoFit/>
          </a:bodyPr>
          <a:lstStyle/>
          <a:p>
            <a:pPr indent="0" marL="0">
              <a:buNone/>
            </a:pPr>
            <a:r>
              <a:rPr lang="en-US" sz="788" dirty="0">
                <a:solidFill>
                  <a:srgbClr val="F1F5F9"/>
                </a:solidFill>
                <a:latin typeface="Segoe UI" pitchFamily="34" charset="0"/>
                <a:ea typeface="Segoe UI" pitchFamily="34" charset="-122"/>
                <a:cs typeface="Segoe UI" pitchFamily="34" charset="-120"/>
              </a:rPr>
              <a:t>Place breakpoints at strategic locations:</a:t>
            </a:r>
            <a:endParaRPr lang="en-US" sz="788" dirty="0"/>
          </a:p>
        </p:txBody>
      </p:sp>
      <p:pic>
        <p:nvPicPr>
          <p:cNvPr id="126" name="Image 20" descr="preencoded.png">    </p:cNvPr>
          <p:cNvPicPr>
            <a:picLocks noChangeAspect="1"/>
          </p:cNvPicPr>
          <p:nvPr/>
        </p:nvPicPr>
        <p:blipFill>
          <a:blip r:embed="rId21"/>
          <a:stretch>
            <a:fillRect/>
          </a:stretch>
        </p:blipFill>
        <p:spPr>
          <a:xfrm>
            <a:off x="4972050" y="7515225"/>
            <a:ext cx="100013" cy="100013"/>
          </a:xfrm>
          <a:prstGeom prst="rect">
            <a:avLst/>
          </a:prstGeom>
        </p:spPr>
      </p:pic>
      <p:sp>
        <p:nvSpPr>
          <p:cNvPr id="127" name="Text 104"/>
          <p:cNvSpPr/>
          <p:nvPr/>
        </p:nvSpPr>
        <p:spPr>
          <a:xfrm>
            <a:off x="5129213" y="7486650"/>
            <a:ext cx="1516903" cy="142875"/>
          </a:xfrm>
          <a:prstGeom prst="rect">
            <a:avLst/>
          </a:prstGeom>
          <a:noFill/>
          <a:ln/>
        </p:spPr>
        <p:txBody>
          <a:bodyPr wrap="square" lIns="0" tIns="0" rIns="0" bIns="0" rtlCol="0" anchor="ctr">
            <a:spAutoFit/>
          </a:bodyPr>
          <a:lstStyle/>
          <a:p>
            <a:pPr algn="l" indent="0" marL="0">
              <a:buNone/>
            </a:pPr>
            <a:r>
              <a:rPr lang="en-US" sz="788" dirty="0">
                <a:solidFill>
                  <a:srgbClr val="F1F5F9"/>
                </a:solidFill>
                <a:latin typeface="Segoe UI" pitchFamily="34" charset="0"/>
                <a:ea typeface="Segoe UI" pitchFamily="34" charset="-122"/>
                <a:cs typeface="Segoe UI" pitchFamily="34" charset="-120"/>
              </a:rPr>
              <a:t>Before suspected problem areas</a:t>
            </a:r>
            <a:endParaRPr lang="en-US" sz="788" dirty="0"/>
          </a:p>
        </p:txBody>
      </p:sp>
      <p:pic>
        <p:nvPicPr>
          <p:cNvPr id="128" name="Image 21" descr="preencoded.png">    </p:cNvPr>
          <p:cNvPicPr>
            <a:picLocks noChangeAspect="1"/>
          </p:cNvPicPr>
          <p:nvPr/>
        </p:nvPicPr>
        <p:blipFill>
          <a:blip r:embed="rId22"/>
          <a:stretch>
            <a:fillRect/>
          </a:stretch>
        </p:blipFill>
        <p:spPr>
          <a:xfrm>
            <a:off x="4972050" y="7686675"/>
            <a:ext cx="100013" cy="100013"/>
          </a:xfrm>
          <a:prstGeom prst="rect">
            <a:avLst/>
          </a:prstGeom>
        </p:spPr>
      </p:pic>
      <p:sp>
        <p:nvSpPr>
          <p:cNvPr id="129" name="Text 105"/>
          <p:cNvSpPr/>
          <p:nvPr/>
        </p:nvSpPr>
        <p:spPr>
          <a:xfrm>
            <a:off x="5129213" y="7658100"/>
            <a:ext cx="1761604" cy="142875"/>
          </a:xfrm>
          <a:prstGeom prst="rect">
            <a:avLst/>
          </a:prstGeom>
          <a:noFill/>
          <a:ln/>
        </p:spPr>
        <p:txBody>
          <a:bodyPr wrap="square" lIns="0" tIns="0" rIns="0" bIns="0" rtlCol="0" anchor="ctr">
            <a:spAutoFit/>
          </a:bodyPr>
          <a:lstStyle/>
          <a:p>
            <a:pPr algn="l" indent="0" marL="0">
              <a:buNone/>
            </a:pPr>
            <a:r>
              <a:rPr lang="en-US" sz="788" dirty="0">
                <a:solidFill>
                  <a:srgbClr val="F1F5F9"/>
                </a:solidFill>
                <a:latin typeface="Segoe UI" pitchFamily="34" charset="0"/>
                <a:ea typeface="Segoe UI" pitchFamily="34" charset="-122"/>
                <a:cs typeface="Segoe UI" pitchFamily="34" charset="-120"/>
              </a:rPr>
              <a:t>At the beginning of important methods</a:t>
            </a:r>
            <a:endParaRPr lang="en-US" sz="788" dirty="0"/>
          </a:p>
        </p:txBody>
      </p:sp>
      <p:pic>
        <p:nvPicPr>
          <p:cNvPr id="130" name="Image 22" descr="preencoded.png">    </p:cNvPr>
          <p:cNvPicPr>
            <a:picLocks noChangeAspect="1"/>
          </p:cNvPicPr>
          <p:nvPr/>
        </p:nvPicPr>
        <p:blipFill>
          <a:blip r:embed="rId23"/>
          <a:stretch>
            <a:fillRect/>
          </a:stretch>
        </p:blipFill>
        <p:spPr>
          <a:xfrm>
            <a:off x="4972050" y="7858125"/>
            <a:ext cx="100013" cy="100013"/>
          </a:xfrm>
          <a:prstGeom prst="rect">
            <a:avLst/>
          </a:prstGeom>
        </p:spPr>
      </p:pic>
      <p:sp>
        <p:nvSpPr>
          <p:cNvPr id="131" name="Text 106"/>
          <p:cNvSpPr/>
          <p:nvPr/>
        </p:nvSpPr>
        <p:spPr>
          <a:xfrm>
            <a:off x="5129213" y="7829550"/>
            <a:ext cx="1155557" cy="142875"/>
          </a:xfrm>
          <a:prstGeom prst="rect">
            <a:avLst/>
          </a:prstGeom>
          <a:noFill/>
          <a:ln/>
        </p:spPr>
        <p:txBody>
          <a:bodyPr wrap="none" lIns="0" tIns="0" rIns="0" bIns="0" rtlCol="0" anchor="ctr">
            <a:spAutoFit/>
          </a:bodyPr>
          <a:lstStyle/>
          <a:p>
            <a:pPr algn="l" indent="0" marL="0">
              <a:buNone/>
            </a:pPr>
            <a:r>
              <a:rPr lang="en-US" sz="788" dirty="0">
                <a:solidFill>
                  <a:srgbClr val="F1F5F9"/>
                </a:solidFill>
                <a:latin typeface="Segoe UI" pitchFamily="34" charset="0"/>
                <a:ea typeface="Segoe UI" pitchFamily="34" charset="-122"/>
                <a:cs typeface="Segoe UI" pitchFamily="34" charset="-120"/>
              </a:rPr>
              <a:t>Inside conditional blocks</a:t>
            </a:r>
            <a:endParaRPr lang="en-US" sz="788" dirty="0"/>
          </a:p>
        </p:txBody>
      </p:sp>
      <p:sp>
        <p:nvSpPr>
          <p:cNvPr id="132" name="Shape 107"/>
          <p:cNvSpPr/>
          <p:nvPr/>
        </p:nvSpPr>
        <p:spPr>
          <a:xfrm>
            <a:off x="4857750" y="8172450"/>
            <a:ext cx="3657600" cy="1057275"/>
          </a:xfrm>
          <a:prstGeom prst="rect">
            <a:avLst/>
          </a:prstGeom>
          <a:solidFill>
            <a:srgbClr val="1E3A8A">
              <a:alpha val="30000"/>
            </a:srgbClr>
          </a:solidFill>
          <a:ln/>
        </p:spPr>
      </p:sp>
      <p:sp>
        <p:nvSpPr>
          <p:cNvPr id="133" name="Shape 108"/>
          <p:cNvSpPr/>
          <p:nvPr/>
        </p:nvSpPr>
        <p:spPr>
          <a:xfrm>
            <a:off x="4857750" y="8172450"/>
            <a:ext cx="28575" cy="1057275"/>
          </a:xfrm>
          <a:prstGeom prst="rect">
            <a:avLst/>
          </a:prstGeom>
          <a:solidFill>
            <a:srgbClr val="60A5FA"/>
          </a:solidFill>
          <a:ln/>
        </p:spPr>
      </p:sp>
      <p:sp>
        <p:nvSpPr>
          <p:cNvPr id="134" name="Text 109"/>
          <p:cNvSpPr/>
          <p:nvPr/>
        </p:nvSpPr>
        <p:spPr>
          <a:xfrm>
            <a:off x="4972050" y="8258175"/>
            <a:ext cx="3614738" cy="200025"/>
          </a:xfrm>
          <a:prstGeom prst="rect">
            <a:avLst/>
          </a:prstGeom>
          <a:noFill/>
          <a:ln/>
        </p:spPr>
        <p:txBody>
          <a:bodyPr wrap="square" lIns="0" tIns="0" rIns="0" bIns="0" rtlCol="0" anchor="ctr">
            <a:spAutoFit/>
          </a:bodyPr>
          <a:lstStyle/>
          <a:p>
            <a:pPr indent="0" marL="0">
              <a:buNone/>
            </a:pPr>
            <a:r>
              <a:rPr lang="en-US" sz="1125" b="1" dirty="0">
                <a:solidFill>
                  <a:srgbClr val="F1F5F9"/>
                </a:solidFill>
                <a:latin typeface="Segoe UI" pitchFamily="34" charset="0"/>
                <a:ea typeface="Segoe UI" pitchFamily="34" charset="-122"/>
                <a:cs typeface="Segoe UI" pitchFamily="34" charset="-120"/>
              </a:rPr>
              <a:t>Step 2: Start Debugging</a:t>
            </a:r>
            <a:endParaRPr lang="en-US" sz="1125" dirty="0"/>
          </a:p>
        </p:txBody>
      </p:sp>
      <p:sp>
        <p:nvSpPr>
          <p:cNvPr id="135" name="Text 110"/>
          <p:cNvSpPr/>
          <p:nvPr/>
        </p:nvSpPr>
        <p:spPr>
          <a:xfrm>
            <a:off x="5086350" y="8486775"/>
            <a:ext cx="3500438" cy="142875"/>
          </a:xfrm>
          <a:prstGeom prst="rect">
            <a:avLst/>
          </a:prstGeom>
          <a:noFill/>
          <a:ln/>
        </p:spPr>
        <p:txBody>
          <a:bodyPr wrap="square" lIns="0" tIns="0" rIns="0" bIns="0" rtlCol="0" anchor="ctr">
            <a:spAutoFit/>
          </a:bodyPr>
          <a:lstStyle/>
          <a:p>
            <a:pPr algn="l" indent="0" marL="0">
              <a:buNone/>
            </a:pPr>
            <a:r>
              <a:rPr lang="en-US" sz="788" dirty="0">
                <a:solidFill>
                  <a:srgbClr val="F1F5F9"/>
                </a:solidFill>
                <a:latin typeface="Segoe UI" pitchFamily="34" charset="0"/>
                <a:ea typeface="Segoe UI" pitchFamily="34" charset="-122"/>
                <a:cs typeface="Segoe UI" pitchFamily="34" charset="-120"/>
              </a:rPr>
              <a:t>Click the Run and Debug icon in the sidebar</a:t>
            </a:r>
            <a:endParaRPr lang="en-US" sz="788" dirty="0"/>
          </a:p>
        </p:txBody>
      </p:sp>
      <p:sp>
        <p:nvSpPr>
          <p:cNvPr id="136" name="Text 111"/>
          <p:cNvSpPr/>
          <p:nvPr/>
        </p:nvSpPr>
        <p:spPr>
          <a:xfrm>
            <a:off x="5086350" y="8658225"/>
            <a:ext cx="3500438" cy="142875"/>
          </a:xfrm>
          <a:prstGeom prst="rect">
            <a:avLst/>
          </a:prstGeom>
          <a:noFill/>
          <a:ln/>
        </p:spPr>
        <p:txBody>
          <a:bodyPr wrap="square" lIns="0" tIns="0" rIns="0" bIns="0" rtlCol="0" anchor="ctr">
            <a:spAutoFit/>
          </a:bodyPr>
          <a:lstStyle/>
          <a:p>
            <a:pPr algn="l" indent="0" marL="0">
              <a:buNone/>
            </a:pPr>
            <a:r>
              <a:rPr lang="en-US" sz="788" dirty="0">
                <a:solidFill>
                  <a:srgbClr val="F1F5F9"/>
                </a:solidFill>
                <a:latin typeface="Segoe UI" pitchFamily="34" charset="0"/>
                <a:ea typeface="Segoe UI" pitchFamily="34" charset="-122"/>
                <a:cs typeface="Segoe UI" pitchFamily="34" charset="-120"/>
              </a:rPr>
              <a:t>Select your debug configuration</a:t>
            </a:r>
            <a:endParaRPr lang="en-US" sz="788" dirty="0"/>
          </a:p>
        </p:txBody>
      </p:sp>
      <p:sp>
        <p:nvSpPr>
          <p:cNvPr id="137" name="Text 112"/>
          <p:cNvSpPr/>
          <p:nvPr/>
        </p:nvSpPr>
        <p:spPr>
          <a:xfrm>
            <a:off x="5086350" y="8829675"/>
            <a:ext cx="3500438" cy="142875"/>
          </a:xfrm>
          <a:prstGeom prst="rect">
            <a:avLst/>
          </a:prstGeom>
          <a:noFill/>
          <a:ln/>
        </p:spPr>
        <p:txBody>
          <a:bodyPr wrap="square" lIns="0" tIns="0" rIns="0" bIns="0" rtlCol="0" anchor="ctr">
            <a:spAutoFit/>
          </a:bodyPr>
          <a:lstStyle/>
          <a:p>
            <a:pPr algn="l" indent="0" marL="0">
              <a:buNone/>
            </a:pPr>
            <a:r>
              <a:rPr lang="en-US" sz="788" dirty="0">
                <a:solidFill>
                  <a:srgbClr val="F1F5F9"/>
                </a:solidFill>
                <a:latin typeface="Segoe UI" pitchFamily="34" charset="0"/>
                <a:ea typeface="Segoe UI" pitchFamily="34" charset="-122"/>
                <a:cs typeface="Segoe UI" pitchFamily="34" charset="-120"/>
              </a:rPr>
              <a:t>Click the green play button or press F5</a:t>
            </a:r>
            <a:endParaRPr lang="en-US" sz="788" dirty="0"/>
          </a:p>
        </p:txBody>
      </p:sp>
      <p:sp>
        <p:nvSpPr>
          <p:cNvPr id="138" name="Text 113"/>
          <p:cNvSpPr/>
          <p:nvPr/>
        </p:nvSpPr>
        <p:spPr>
          <a:xfrm>
            <a:off x="5086350" y="9001125"/>
            <a:ext cx="3500438" cy="142875"/>
          </a:xfrm>
          <a:prstGeom prst="rect">
            <a:avLst/>
          </a:prstGeom>
          <a:noFill/>
          <a:ln/>
        </p:spPr>
        <p:txBody>
          <a:bodyPr wrap="square" lIns="0" tIns="0" rIns="0" bIns="0" rtlCol="0" anchor="ctr">
            <a:spAutoFit/>
          </a:bodyPr>
          <a:lstStyle/>
          <a:p>
            <a:pPr algn="l" indent="0" marL="0">
              <a:buNone/>
            </a:pPr>
            <a:r>
              <a:rPr lang="en-US" sz="788" dirty="0">
                <a:solidFill>
                  <a:srgbClr val="F1F5F9"/>
                </a:solidFill>
                <a:latin typeface="Segoe UI" pitchFamily="34" charset="0"/>
                <a:ea typeface="Segoe UI" pitchFamily="34" charset="-122"/>
                <a:cs typeface="Segoe UI" pitchFamily="34" charset="-120"/>
              </a:rPr>
              <a:t>Program runs until it hits a breakpoint</a:t>
            </a:r>
            <a:endParaRPr lang="en-US" sz="788" dirty="0"/>
          </a:p>
        </p:txBody>
      </p:sp>
      <p:sp>
        <p:nvSpPr>
          <p:cNvPr id="139" name="Shape 114"/>
          <p:cNvSpPr/>
          <p:nvPr/>
        </p:nvSpPr>
        <p:spPr>
          <a:xfrm>
            <a:off x="4857750" y="9344025"/>
            <a:ext cx="3657600" cy="1057275"/>
          </a:xfrm>
          <a:prstGeom prst="rect">
            <a:avLst/>
          </a:prstGeom>
          <a:solidFill>
            <a:srgbClr val="1E3A8A">
              <a:alpha val="30000"/>
            </a:srgbClr>
          </a:solidFill>
          <a:ln/>
        </p:spPr>
      </p:sp>
      <p:sp>
        <p:nvSpPr>
          <p:cNvPr id="140" name="Shape 115"/>
          <p:cNvSpPr/>
          <p:nvPr/>
        </p:nvSpPr>
        <p:spPr>
          <a:xfrm>
            <a:off x="4857750" y="9344025"/>
            <a:ext cx="28575" cy="1057275"/>
          </a:xfrm>
          <a:prstGeom prst="rect">
            <a:avLst/>
          </a:prstGeom>
          <a:solidFill>
            <a:srgbClr val="60A5FA"/>
          </a:solidFill>
          <a:ln/>
        </p:spPr>
      </p:sp>
      <p:sp>
        <p:nvSpPr>
          <p:cNvPr id="141" name="Text 116"/>
          <p:cNvSpPr/>
          <p:nvPr/>
        </p:nvSpPr>
        <p:spPr>
          <a:xfrm>
            <a:off x="4972050" y="9429750"/>
            <a:ext cx="3614738" cy="200025"/>
          </a:xfrm>
          <a:prstGeom prst="rect">
            <a:avLst/>
          </a:prstGeom>
          <a:noFill/>
          <a:ln/>
        </p:spPr>
        <p:txBody>
          <a:bodyPr wrap="square" lIns="0" tIns="0" rIns="0" bIns="0" rtlCol="0" anchor="ctr">
            <a:spAutoFit/>
          </a:bodyPr>
          <a:lstStyle/>
          <a:p>
            <a:pPr indent="0" marL="0">
              <a:buNone/>
            </a:pPr>
            <a:r>
              <a:rPr lang="en-US" sz="1125" b="1" dirty="0">
                <a:solidFill>
                  <a:srgbClr val="F1F5F9"/>
                </a:solidFill>
                <a:latin typeface="Segoe UI" pitchFamily="34" charset="0"/>
                <a:ea typeface="Segoe UI" pitchFamily="34" charset="-122"/>
                <a:cs typeface="Segoe UI" pitchFamily="34" charset="-120"/>
              </a:rPr>
              <a:t>Step 3: Analyze and Navigate</a:t>
            </a:r>
            <a:endParaRPr lang="en-US" sz="1125" dirty="0"/>
          </a:p>
        </p:txBody>
      </p:sp>
      <p:pic>
        <p:nvPicPr>
          <p:cNvPr id="142" name="Image 23" descr="preencoded.png">    </p:cNvPr>
          <p:cNvPicPr>
            <a:picLocks noChangeAspect="1"/>
          </p:cNvPicPr>
          <p:nvPr/>
        </p:nvPicPr>
        <p:blipFill>
          <a:blip r:embed="rId24"/>
          <a:stretch>
            <a:fillRect/>
          </a:stretch>
        </p:blipFill>
        <p:spPr>
          <a:xfrm>
            <a:off x="4972050" y="9686925"/>
            <a:ext cx="100013" cy="100013"/>
          </a:xfrm>
          <a:prstGeom prst="rect">
            <a:avLst/>
          </a:prstGeom>
        </p:spPr>
      </p:pic>
      <p:sp>
        <p:nvSpPr>
          <p:cNvPr id="143" name="Text 117"/>
          <p:cNvSpPr/>
          <p:nvPr/>
        </p:nvSpPr>
        <p:spPr>
          <a:xfrm>
            <a:off x="5129213" y="9672638"/>
            <a:ext cx="843967" cy="112514"/>
          </a:xfrm>
          <a:prstGeom prst="rect">
            <a:avLst/>
          </a:prstGeom>
          <a:noFill/>
          <a:ln/>
        </p:spPr>
        <p:txBody>
          <a:bodyPr wrap="none" lIns="0" tIns="0" rIns="0" bIns="0" rtlCol="0" anchor="ctr">
            <a:spAutoFit/>
          </a:bodyPr>
          <a:lstStyle/>
          <a:p>
            <a:pPr algn="l" indent="0" marL="0">
              <a:buNone/>
            </a:pPr>
            <a:r>
              <a:rPr lang="en-US" sz="788" b="1" dirty="0">
                <a:solidFill>
                  <a:srgbClr val="60A5FA"/>
                </a:solidFill>
                <a:latin typeface="Segoe UI" pitchFamily="34" charset="0"/>
                <a:ea typeface="Segoe UI" pitchFamily="34" charset="-122"/>
                <a:cs typeface="Segoe UI" pitchFamily="34" charset="-120"/>
              </a:rPr>
              <a:t>Step Over (F10):</a:t>
            </a:r>
            <a:endParaRPr lang="en-US" sz="788" dirty="0"/>
          </a:p>
        </p:txBody>
      </p:sp>
      <p:sp>
        <p:nvSpPr>
          <p:cNvPr id="144" name="Text 118"/>
          <p:cNvSpPr/>
          <p:nvPr/>
        </p:nvSpPr>
        <p:spPr>
          <a:xfrm>
            <a:off x="5901742" y="9672638"/>
            <a:ext cx="2064125" cy="112514"/>
          </a:xfrm>
          <a:prstGeom prst="rect">
            <a:avLst/>
          </a:prstGeom>
          <a:noFill/>
          <a:ln/>
        </p:spPr>
        <p:txBody>
          <a:bodyPr wrap="square" lIns="0" tIns="0" rIns="0" bIns="0" rtlCol="0" anchor="ctr">
            <a:spAutoFit/>
          </a:bodyPr>
          <a:lstStyle/>
          <a:p>
            <a:pPr algn="l" indent="0" marL="0">
              <a:buNone/>
            </a:pPr>
            <a:r>
              <a:rPr lang="en-US" sz="788" dirty="0">
                <a:solidFill>
                  <a:srgbClr val="F1F5F9"/>
                </a:solidFill>
                <a:latin typeface="Segoe UI" pitchFamily="34" charset="0"/>
                <a:ea typeface="Segoe UI" pitchFamily="34" charset="-122"/>
                <a:cs typeface="Segoe UI" pitchFamily="34" charset="-120"/>
              </a:rPr>
              <a:t>Execute current line, don't dive into methods</a:t>
            </a:r>
            <a:endParaRPr lang="en-US" sz="788" dirty="0"/>
          </a:p>
        </p:txBody>
      </p:sp>
      <p:pic>
        <p:nvPicPr>
          <p:cNvPr id="145" name="Image 24" descr="preencoded.png">    </p:cNvPr>
          <p:cNvPicPr>
            <a:picLocks noChangeAspect="1"/>
          </p:cNvPicPr>
          <p:nvPr/>
        </p:nvPicPr>
        <p:blipFill>
          <a:blip r:embed="rId25"/>
          <a:stretch>
            <a:fillRect/>
          </a:stretch>
        </p:blipFill>
        <p:spPr>
          <a:xfrm>
            <a:off x="4972050" y="9858375"/>
            <a:ext cx="100013" cy="100013"/>
          </a:xfrm>
          <a:prstGeom prst="rect">
            <a:avLst/>
          </a:prstGeom>
        </p:spPr>
      </p:pic>
      <p:sp>
        <p:nvSpPr>
          <p:cNvPr id="146" name="Text 119"/>
          <p:cNvSpPr/>
          <p:nvPr/>
        </p:nvSpPr>
        <p:spPr>
          <a:xfrm>
            <a:off x="5129213" y="9844088"/>
            <a:ext cx="793766" cy="112514"/>
          </a:xfrm>
          <a:prstGeom prst="rect">
            <a:avLst/>
          </a:prstGeom>
          <a:noFill/>
          <a:ln/>
        </p:spPr>
        <p:txBody>
          <a:bodyPr wrap="none" lIns="0" tIns="0" rIns="0" bIns="0" rtlCol="0" anchor="ctr">
            <a:spAutoFit/>
          </a:bodyPr>
          <a:lstStyle/>
          <a:p>
            <a:pPr algn="l" indent="0" marL="0">
              <a:buNone/>
            </a:pPr>
            <a:r>
              <a:rPr lang="en-US" sz="788" b="1" dirty="0">
                <a:solidFill>
                  <a:srgbClr val="60A5FA"/>
                </a:solidFill>
                <a:latin typeface="Segoe UI" pitchFamily="34" charset="0"/>
                <a:ea typeface="Segoe UI" pitchFamily="34" charset="-122"/>
                <a:cs typeface="Segoe UI" pitchFamily="34" charset="-120"/>
              </a:rPr>
              <a:t>Step Into (F11):</a:t>
            </a:r>
            <a:endParaRPr lang="en-US" sz="788" dirty="0"/>
          </a:p>
        </p:txBody>
      </p:sp>
      <p:sp>
        <p:nvSpPr>
          <p:cNvPr id="147" name="Text 120"/>
          <p:cNvSpPr/>
          <p:nvPr/>
        </p:nvSpPr>
        <p:spPr>
          <a:xfrm>
            <a:off x="5851541" y="9844088"/>
            <a:ext cx="1077590" cy="112514"/>
          </a:xfrm>
          <a:prstGeom prst="rect">
            <a:avLst/>
          </a:prstGeom>
          <a:noFill/>
          <a:ln/>
        </p:spPr>
        <p:txBody>
          <a:bodyPr wrap="none" lIns="0" tIns="0" rIns="0" bIns="0" rtlCol="0" anchor="ctr">
            <a:spAutoFit/>
          </a:bodyPr>
          <a:lstStyle/>
          <a:p>
            <a:pPr algn="l" indent="0" marL="0">
              <a:buNone/>
            </a:pPr>
            <a:r>
              <a:rPr lang="en-US" sz="788" dirty="0">
                <a:solidFill>
                  <a:srgbClr val="F1F5F9"/>
                </a:solidFill>
                <a:latin typeface="Segoe UI" pitchFamily="34" charset="0"/>
                <a:ea typeface="Segoe UI" pitchFamily="34" charset="-122"/>
                <a:cs typeface="Segoe UI" pitchFamily="34" charset="-120"/>
              </a:rPr>
              <a:t>Dive into method calls</a:t>
            </a:r>
            <a:endParaRPr lang="en-US" sz="788" dirty="0"/>
          </a:p>
        </p:txBody>
      </p:sp>
      <p:pic>
        <p:nvPicPr>
          <p:cNvPr id="148" name="Image 25" descr="preencoded.png">    </p:cNvPr>
          <p:cNvPicPr>
            <a:picLocks noChangeAspect="1"/>
          </p:cNvPicPr>
          <p:nvPr/>
        </p:nvPicPr>
        <p:blipFill>
          <a:blip r:embed="rId26"/>
          <a:stretch>
            <a:fillRect/>
          </a:stretch>
        </p:blipFill>
        <p:spPr>
          <a:xfrm>
            <a:off x="4972050" y="10029825"/>
            <a:ext cx="100013" cy="100013"/>
          </a:xfrm>
          <a:prstGeom prst="rect">
            <a:avLst/>
          </a:prstGeom>
        </p:spPr>
      </p:pic>
      <p:sp>
        <p:nvSpPr>
          <p:cNvPr id="149" name="Text 121"/>
          <p:cNvSpPr/>
          <p:nvPr/>
        </p:nvSpPr>
        <p:spPr>
          <a:xfrm>
            <a:off x="5129213" y="10015538"/>
            <a:ext cx="1063275" cy="112514"/>
          </a:xfrm>
          <a:prstGeom prst="rect">
            <a:avLst/>
          </a:prstGeom>
          <a:noFill/>
          <a:ln/>
        </p:spPr>
        <p:txBody>
          <a:bodyPr wrap="none" lIns="0" tIns="0" rIns="0" bIns="0" rtlCol="0" anchor="ctr">
            <a:spAutoFit/>
          </a:bodyPr>
          <a:lstStyle/>
          <a:p>
            <a:pPr algn="l" indent="0" marL="0">
              <a:buNone/>
            </a:pPr>
            <a:r>
              <a:rPr lang="en-US" sz="788" b="1" dirty="0">
                <a:solidFill>
                  <a:srgbClr val="60A5FA"/>
                </a:solidFill>
                <a:latin typeface="Segoe UI" pitchFamily="34" charset="0"/>
                <a:ea typeface="Segoe UI" pitchFamily="34" charset="-122"/>
                <a:cs typeface="Segoe UI" pitchFamily="34" charset="-120"/>
              </a:rPr>
              <a:t>Step Out (Shift+F11):</a:t>
            </a:r>
            <a:endParaRPr lang="en-US" sz="788" dirty="0"/>
          </a:p>
        </p:txBody>
      </p:sp>
      <p:sp>
        <p:nvSpPr>
          <p:cNvPr id="150" name="Text 122"/>
          <p:cNvSpPr/>
          <p:nvPr/>
        </p:nvSpPr>
        <p:spPr>
          <a:xfrm>
            <a:off x="6121050" y="10015538"/>
            <a:ext cx="1711403" cy="112514"/>
          </a:xfrm>
          <a:prstGeom prst="rect">
            <a:avLst/>
          </a:prstGeom>
          <a:noFill/>
          <a:ln/>
        </p:spPr>
        <p:txBody>
          <a:bodyPr wrap="square" lIns="0" tIns="0" rIns="0" bIns="0" rtlCol="0" anchor="ctr">
            <a:spAutoFit/>
          </a:bodyPr>
          <a:lstStyle/>
          <a:p>
            <a:pPr algn="l" indent="0" marL="0">
              <a:buNone/>
            </a:pPr>
            <a:r>
              <a:rPr lang="en-US" sz="788" dirty="0">
                <a:solidFill>
                  <a:srgbClr val="F1F5F9"/>
                </a:solidFill>
                <a:latin typeface="Segoe UI" pitchFamily="34" charset="0"/>
                <a:ea typeface="Segoe UI" pitchFamily="34" charset="-122"/>
                <a:cs typeface="Segoe UI" pitchFamily="34" charset="-120"/>
              </a:rPr>
              <a:t>Complete current method and return</a:t>
            </a:r>
            <a:endParaRPr lang="en-US" sz="788" dirty="0"/>
          </a:p>
        </p:txBody>
      </p:sp>
      <p:pic>
        <p:nvPicPr>
          <p:cNvPr id="151" name="Image 26" descr="preencoded.png">    </p:cNvPr>
          <p:cNvPicPr>
            <a:picLocks noChangeAspect="1"/>
          </p:cNvPicPr>
          <p:nvPr/>
        </p:nvPicPr>
        <p:blipFill>
          <a:blip r:embed="rId27"/>
          <a:stretch>
            <a:fillRect/>
          </a:stretch>
        </p:blipFill>
        <p:spPr>
          <a:xfrm>
            <a:off x="4972050" y="10201275"/>
            <a:ext cx="100013" cy="100013"/>
          </a:xfrm>
          <a:prstGeom prst="rect">
            <a:avLst/>
          </a:prstGeom>
        </p:spPr>
      </p:pic>
      <p:sp>
        <p:nvSpPr>
          <p:cNvPr id="152" name="Text 123"/>
          <p:cNvSpPr/>
          <p:nvPr/>
        </p:nvSpPr>
        <p:spPr>
          <a:xfrm>
            <a:off x="5129213" y="10186988"/>
            <a:ext cx="749173" cy="112514"/>
          </a:xfrm>
          <a:prstGeom prst="rect">
            <a:avLst/>
          </a:prstGeom>
          <a:noFill/>
          <a:ln/>
        </p:spPr>
        <p:txBody>
          <a:bodyPr wrap="none" lIns="0" tIns="0" rIns="0" bIns="0" rtlCol="0" anchor="ctr">
            <a:spAutoFit/>
          </a:bodyPr>
          <a:lstStyle/>
          <a:p>
            <a:pPr algn="l" indent="0" marL="0">
              <a:buNone/>
            </a:pPr>
            <a:r>
              <a:rPr lang="en-US" sz="788" b="1" dirty="0">
                <a:solidFill>
                  <a:srgbClr val="60A5FA"/>
                </a:solidFill>
                <a:latin typeface="Segoe UI" pitchFamily="34" charset="0"/>
                <a:ea typeface="Segoe UI" pitchFamily="34" charset="-122"/>
                <a:cs typeface="Segoe UI" pitchFamily="34" charset="-120"/>
              </a:rPr>
              <a:t>Continue (F5):</a:t>
            </a:r>
            <a:endParaRPr lang="en-US" sz="788" dirty="0"/>
          </a:p>
        </p:txBody>
      </p:sp>
      <p:sp>
        <p:nvSpPr>
          <p:cNvPr id="153" name="Text 124"/>
          <p:cNvSpPr/>
          <p:nvPr/>
        </p:nvSpPr>
        <p:spPr>
          <a:xfrm>
            <a:off x="5806948" y="10186988"/>
            <a:ext cx="1205619" cy="112514"/>
          </a:xfrm>
          <a:prstGeom prst="rect">
            <a:avLst/>
          </a:prstGeom>
          <a:noFill/>
          <a:ln/>
        </p:spPr>
        <p:txBody>
          <a:bodyPr wrap="none" lIns="0" tIns="0" rIns="0" bIns="0" rtlCol="0" anchor="ctr">
            <a:spAutoFit/>
          </a:bodyPr>
          <a:lstStyle/>
          <a:p>
            <a:pPr algn="l" indent="0" marL="0">
              <a:buNone/>
            </a:pPr>
            <a:r>
              <a:rPr lang="en-US" sz="788" dirty="0">
                <a:solidFill>
                  <a:srgbClr val="F1F5F9"/>
                </a:solidFill>
                <a:latin typeface="Segoe UI" pitchFamily="34" charset="0"/>
                <a:ea typeface="Segoe UI" pitchFamily="34" charset="-122"/>
                <a:cs typeface="Segoe UI" pitchFamily="34" charset="-120"/>
              </a:rPr>
              <a:t>Run until next breakpoint</a:t>
            </a:r>
            <a:endParaRPr lang="en-US" sz="788" dirty="0"/>
          </a:p>
        </p:txBody>
      </p:sp>
      <p:sp>
        <p:nvSpPr>
          <p:cNvPr id="154" name="Shape 125"/>
          <p:cNvSpPr/>
          <p:nvPr/>
        </p:nvSpPr>
        <p:spPr>
          <a:xfrm>
            <a:off x="457200" y="10801350"/>
            <a:ext cx="8229600" cy="6257925"/>
          </a:xfrm>
          <a:prstGeom prst="rect">
            <a:avLst/>
          </a:prstGeom>
          <a:solidFill>
            <a:srgbClr val="FFFFFF">
              <a:alpha val="10000"/>
            </a:srgbClr>
          </a:solidFill>
          <a:ln w="99">
            <a:solidFill>
              <a:srgbClr val="60A5FA">
                <a:alpha val="30000"/>
              </a:srgbClr>
            </a:solidFill>
            <a:prstDash val="solid"/>
          </a:ln>
        </p:spPr>
      </p:sp>
      <p:sp>
        <p:nvSpPr>
          <p:cNvPr id="155" name="Text 126"/>
          <p:cNvSpPr/>
          <p:nvPr/>
        </p:nvSpPr>
        <p:spPr>
          <a:xfrm>
            <a:off x="628650" y="10972800"/>
            <a:ext cx="7958138" cy="228600"/>
          </a:xfrm>
          <a:prstGeom prst="rect">
            <a:avLst/>
          </a:prstGeom>
          <a:noFill/>
          <a:ln/>
        </p:spPr>
        <p:txBody>
          <a:bodyPr wrap="square" lIns="0" tIns="0" rIns="0" bIns="0" rtlCol="0" anchor="ctr">
            <a:spAutoFit/>
          </a:bodyPr>
          <a:lstStyle/>
          <a:p>
            <a:pPr indent="0" marL="0">
              <a:buNone/>
            </a:pPr>
            <a:r>
              <a:rPr lang="en-US" sz="1350" b="1" dirty="0">
                <a:solidFill>
                  <a:srgbClr val="BFDBFE"/>
                </a:solidFill>
                <a:latin typeface="Segoe UI" pitchFamily="34" charset="0"/>
                <a:ea typeface="Segoe UI" pitchFamily="34" charset="-122"/>
                <a:cs typeface="Segoe UI" pitchFamily="34" charset="-120"/>
              </a:rPr>
              <a:t>Debugging Example</a:t>
            </a:r>
            <a:endParaRPr lang="en-US" sz="1350" dirty="0"/>
          </a:p>
        </p:txBody>
      </p:sp>
      <p:sp>
        <p:nvSpPr>
          <p:cNvPr id="156" name="Shape 127"/>
          <p:cNvSpPr/>
          <p:nvPr/>
        </p:nvSpPr>
        <p:spPr>
          <a:xfrm>
            <a:off x="628650" y="11315700"/>
            <a:ext cx="3857625" cy="4814888"/>
          </a:xfrm>
          <a:prstGeom prst="rect">
            <a:avLst/>
          </a:prstGeom>
          <a:solidFill>
            <a:srgbClr val="1E3A8A">
              <a:alpha val="30000"/>
            </a:srgbClr>
          </a:solidFill>
          <a:ln/>
        </p:spPr>
      </p:sp>
      <p:sp>
        <p:nvSpPr>
          <p:cNvPr id="157" name="Text 128"/>
          <p:cNvSpPr/>
          <p:nvPr/>
        </p:nvSpPr>
        <p:spPr>
          <a:xfrm>
            <a:off x="742950" y="11430000"/>
            <a:ext cx="3700463" cy="200025"/>
          </a:xfrm>
          <a:prstGeom prst="rect">
            <a:avLst/>
          </a:prstGeom>
          <a:noFill/>
          <a:ln/>
        </p:spPr>
        <p:txBody>
          <a:bodyPr wrap="square" lIns="0" tIns="0" rIns="0" bIns="0" rtlCol="0" anchor="ctr">
            <a:spAutoFit/>
          </a:bodyPr>
          <a:lstStyle/>
          <a:p>
            <a:pPr indent="0" marL="0">
              <a:buNone/>
            </a:pPr>
            <a:r>
              <a:rPr lang="en-US" sz="1125" b="1" dirty="0">
                <a:solidFill>
                  <a:srgbClr val="F1F5F9"/>
                </a:solidFill>
                <a:latin typeface="Segoe UI" pitchFamily="34" charset="0"/>
                <a:ea typeface="Segoe UI" pitchFamily="34" charset="-122"/>
                <a:cs typeface="Segoe UI" pitchFamily="34" charset="-120"/>
              </a:rPr>
              <a:t>Sample Code with Bug</a:t>
            </a:r>
            <a:endParaRPr lang="en-US" sz="1125" dirty="0"/>
          </a:p>
        </p:txBody>
      </p:sp>
      <p:sp>
        <p:nvSpPr>
          <p:cNvPr id="158" name="Shape 129"/>
          <p:cNvSpPr/>
          <p:nvPr/>
        </p:nvSpPr>
        <p:spPr>
          <a:xfrm>
            <a:off x="742950" y="11715750"/>
            <a:ext cx="3629025" cy="4300538"/>
          </a:xfrm>
          <a:prstGeom prst="rect">
            <a:avLst/>
          </a:prstGeom>
          <a:solidFill>
            <a:srgbClr val="1E293B">
              <a:alpha val="80000"/>
            </a:srgbClr>
          </a:solidFill>
          <a:ln w="99">
            <a:solidFill>
              <a:srgbClr val="60A5FA">
                <a:alpha val="30000"/>
              </a:srgbClr>
            </a:solidFill>
            <a:prstDash val="solid"/>
          </a:ln>
        </p:spPr>
      </p:sp>
      <p:sp>
        <p:nvSpPr>
          <p:cNvPr id="159" name="Text 130"/>
          <p:cNvSpPr/>
          <p:nvPr/>
        </p:nvSpPr>
        <p:spPr>
          <a:xfrm>
            <a:off x="828675" y="11856839"/>
            <a:ext cx="1306078" cy="96441"/>
          </a:xfrm>
          <a:prstGeom prst="rect">
            <a:avLst/>
          </a:prstGeom>
          <a:noFill/>
          <a:ln/>
        </p:spPr>
        <p:txBody>
          <a:bodyPr wrap="square" lIns="0" tIns="0" rIns="0" bIns="0" rtlCol="0" anchor="ctr">
            <a:spAutoFit/>
          </a:bodyPr>
          <a:lstStyle/>
          <a:p>
            <a:pPr indent="0" marL="0">
              <a:buNone/>
            </a:pPr>
            <a:r>
              <a:rPr lang="en-US" sz="675" dirty="0">
                <a:solidFill>
                  <a:srgbClr val="DBEAFE"/>
                </a:solidFill>
                <a:latin typeface="Consolas" pitchFamily="34" charset="0"/>
                <a:ea typeface="Consolas" pitchFamily="34" charset="-122"/>
                <a:cs typeface="Consolas" pitchFamily="34" charset="-120"/>
              </a:rPr>
              <a:t>public class DebugDemo {</a:t>
            </a:r>
            <a:endParaRPr lang="en-US" sz="675" dirty="0"/>
          </a:p>
        </p:txBody>
      </p:sp>
      <p:sp>
        <p:nvSpPr>
          <p:cNvPr id="160" name="Text 131"/>
          <p:cNvSpPr/>
          <p:nvPr/>
        </p:nvSpPr>
        <p:spPr>
          <a:xfrm>
            <a:off x="828675" y="12028289"/>
            <a:ext cx="2232059" cy="96441"/>
          </a:xfrm>
          <a:prstGeom prst="rect">
            <a:avLst/>
          </a:prstGeom>
          <a:noFill/>
          <a:ln/>
        </p:spPr>
        <p:txBody>
          <a:bodyPr wrap="square" lIns="0" tIns="0" rIns="0" bIns="0" rtlCol="0" anchor="ctr">
            <a:spAutoFit/>
          </a:bodyPr>
          <a:lstStyle/>
          <a:p>
            <a:pPr indent="0" marL="0">
              <a:buNone/>
            </a:pPr>
            <a:r>
              <a:rPr lang="en-US" sz="675" dirty="0">
                <a:solidFill>
                  <a:srgbClr val="DBEAFE"/>
                </a:solidFill>
                <a:latin typeface="Consolas" pitchFamily="34" charset="0"/>
                <a:ea typeface="Consolas" pitchFamily="34" charset="-122"/>
                <a:cs typeface="Consolas" pitchFamily="34" charset="-120"/>
              </a:rPr>
              <a:t>public static void main(String[] args) {</a:t>
            </a:r>
            <a:endParaRPr lang="en-US" sz="675" dirty="0"/>
          </a:p>
        </p:txBody>
      </p:sp>
      <p:sp>
        <p:nvSpPr>
          <p:cNvPr id="161" name="Text 132"/>
          <p:cNvSpPr/>
          <p:nvPr/>
        </p:nvSpPr>
        <p:spPr>
          <a:xfrm>
            <a:off x="828675" y="12199739"/>
            <a:ext cx="1923399" cy="96441"/>
          </a:xfrm>
          <a:prstGeom prst="rect">
            <a:avLst/>
          </a:prstGeom>
          <a:noFill/>
          <a:ln/>
        </p:spPr>
        <p:txBody>
          <a:bodyPr wrap="square" lIns="0" tIns="0" rIns="0" bIns="0" rtlCol="0" anchor="ctr">
            <a:spAutoFit/>
          </a:bodyPr>
          <a:lstStyle/>
          <a:p>
            <a:pPr indent="0" marL="0">
              <a:buNone/>
            </a:pPr>
            <a:r>
              <a:rPr lang="en-US" sz="675" dirty="0">
                <a:solidFill>
                  <a:srgbClr val="DBEAFE"/>
                </a:solidFill>
                <a:latin typeface="Consolas" pitchFamily="34" charset="0"/>
                <a:ea typeface="Consolas" pitchFamily="34" charset="-122"/>
                <a:cs typeface="Consolas" pitchFamily="34" charset="-120"/>
              </a:rPr>
              <a:t>int[] numbers = {1, 2, 3, 4, 5};</a:t>
            </a:r>
            <a:endParaRPr lang="en-US" sz="675" dirty="0"/>
          </a:p>
        </p:txBody>
      </p:sp>
      <p:sp>
        <p:nvSpPr>
          <p:cNvPr id="162" name="Text 133"/>
          <p:cNvSpPr/>
          <p:nvPr/>
        </p:nvSpPr>
        <p:spPr>
          <a:xfrm>
            <a:off x="828675" y="12371189"/>
            <a:ext cx="1923399" cy="96441"/>
          </a:xfrm>
          <a:prstGeom prst="rect">
            <a:avLst/>
          </a:prstGeom>
          <a:noFill/>
          <a:ln/>
        </p:spPr>
        <p:txBody>
          <a:bodyPr wrap="square" lIns="0" tIns="0" rIns="0" bIns="0" rtlCol="0" anchor="ctr">
            <a:spAutoFit/>
          </a:bodyPr>
          <a:lstStyle/>
          <a:p>
            <a:pPr indent="0" marL="0">
              <a:buNone/>
            </a:pPr>
            <a:r>
              <a:rPr lang="en-US" sz="675" dirty="0">
                <a:solidFill>
                  <a:srgbClr val="DBEAFE"/>
                </a:solidFill>
                <a:latin typeface="Consolas" pitchFamily="34" charset="0"/>
                <a:ea typeface="Consolas" pitchFamily="34" charset="-122"/>
                <a:cs typeface="Consolas" pitchFamily="34" charset="-120"/>
              </a:rPr>
              <a:t>int sum = calculateSum(numbers);</a:t>
            </a:r>
            <a:endParaRPr lang="en-US" sz="675" dirty="0"/>
          </a:p>
        </p:txBody>
      </p:sp>
      <p:sp>
        <p:nvSpPr>
          <p:cNvPr id="163" name="Text 134"/>
          <p:cNvSpPr/>
          <p:nvPr/>
        </p:nvSpPr>
        <p:spPr>
          <a:xfrm>
            <a:off x="828675" y="12542639"/>
            <a:ext cx="2489290" cy="96441"/>
          </a:xfrm>
          <a:prstGeom prst="rect">
            <a:avLst/>
          </a:prstGeom>
          <a:noFill/>
          <a:ln/>
        </p:spPr>
        <p:txBody>
          <a:bodyPr wrap="square" lIns="0" tIns="0" rIns="0" bIns="0" rtlCol="0" anchor="ctr">
            <a:spAutoFit/>
          </a:bodyPr>
          <a:lstStyle/>
          <a:p>
            <a:pPr indent="0" marL="0">
              <a:buNone/>
            </a:pPr>
            <a:r>
              <a:rPr lang="en-US" sz="675" dirty="0">
                <a:solidFill>
                  <a:srgbClr val="DBEAFE"/>
                </a:solidFill>
                <a:latin typeface="Consolas" pitchFamily="34" charset="0"/>
                <a:ea typeface="Consolas" pitchFamily="34" charset="-122"/>
                <a:cs typeface="Consolas" pitchFamily="34" charset="-120"/>
              </a:rPr>
              <a:t>double average = calculateAverage(numbers);</a:t>
            </a:r>
            <a:endParaRPr lang="en-US" sz="675" dirty="0"/>
          </a:p>
        </p:txBody>
      </p:sp>
      <p:sp>
        <p:nvSpPr>
          <p:cNvPr id="164" name="Text 135"/>
          <p:cNvSpPr/>
          <p:nvPr/>
        </p:nvSpPr>
        <p:spPr>
          <a:xfrm>
            <a:off x="828675" y="12714089"/>
            <a:ext cx="2026286" cy="96441"/>
          </a:xfrm>
          <a:prstGeom prst="rect">
            <a:avLst/>
          </a:prstGeom>
          <a:noFill/>
          <a:ln/>
        </p:spPr>
        <p:txBody>
          <a:bodyPr wrap="square" lIns="0" tIns="0" rIns="0" bIns="0" rtlCol="0" anchor="ctr">
            <a:spAutoFit/>
          </a:bodyPr>
          <a:lstStyle/>
          <a:p>
            <a:pPr indent="0" marL="0">
              <a:buNone/>
            </a:pPr>
            <a:r>
              <a:rPr lang="en-US" sz="675" dirty="0">
                <a:solidFill>
                  <a:srgbClr val="DBEAFE"/>
                </a:solidFill>
                <a:latin typeface="Consolas" pitchFamily="34" charset="0"/>
                <a:ea typeface="Consolas" pitchFamily="34" charset="-122"/>
                <a:cs typeface="Consolas" pitchFamily="34" charset="-120"/>
              </a:rPr>
              <a:t>System.out.println("Sum: " + sum);</a:t>
            </a:r>
            <a:endParaRPr lang="en-US" sz="675" dirty="0"/>
          </a:p>
        </p:txBody>
      </p:sp>
      <p:sp>
        <p:nvSpPr>
          <p:cNvPr id="165" name="Text 136"/>
          <p:cNvSpPr/>
          <p:nvPr/>
        </p:nvSpPr>
        <p:spPr>
          <a:xfrm>
            <a:off x="828675" y="12885539"/>
            <a:ext cx="2437833" cy="96441"/>
          </a:xfrm>
          <a:prstGeom prst="rect">
            <a:avLst/>
          </a:prstGeom>
          <a:noFill/>
          <a:ln/>
        </p:spPr>
        <p:txBody>
          <a:bodyPr wrap="square" lIns="0" tIns="0" rIns="0" bIns="0" rtlCol="0" anchor="ctr">
            <a:spAutoFit/>
          </a:bodyPr>
          <a:lstStyle/>
          <a:p>
            <a:pPr indent="0" marL="0">
              <a:buNone/>
            </a:pPr>
            <a:r>
              <a:rPr lang="en-US" sz="675" dirty="0">
                <a:solidFill>
                  <a:srgbClr val="DBEAFE"/>
                </a:solidFill>
                <a:latin typeface="Consolas" pitchFamily="34" charset="0"/>
                <a:ea typeface="Consolas" pitchFamily="34" charset="-122"/>
                <a:cs typeface="Consolas" pitchFamily="34" charset="-120"/>
              </a:rPr>
              <a:t>System.out.println("Average: " + average);</a:t>
            </a:r>
            <a:endParaRPr lang="en-US" sz="675" dirty="0"/>
          </a:p>
        </p:txBody>
      </p:sp>
      <p:sp>
        <p:nvSpPr>
          <p:cNvPr id="166" name="Text 137"/>
          <p:cNvSpPr/>
          <p:nvPr/>
        </p:nvSpPr>
        <p:spPr>
          <a:xfrm>
            <a:off x="828675" y="13056989"/>
            <a:ext cx="225782" cy="96441"/>
          </a:xfrm>
          <a:prstGeom prst="rect">
            <a:avLst/>
          </a:prstGeom>
          <a:noFill/>
          <a:ln/>
        </p:spPr>
        <p:txBody>
          <a:bodyPr wrap="none" lIns="0" tIns="0" rIns="0" bIns="0" rtlCol="0" anchor="ctr">
            <a:spAutoFit/>
          </a:bodyPr>
          <a:lstStyle/>
          <a:p>
            <a:pPr indent="0" marL="0">
              <a:buNone/>
            </a:pPr>
            <a:r>
              <a:rPr lang="en-US" sz="675" dirty="0">
                <a:solidFill>
                  <a:srgbClr val="DBEAFE"/>
                </a:solidFill>
                <a:latin typeface="Consolas" pitchFamily="34" charset="0"/>
                <a:ea typeface="Consolas" pitchFamily="34" charset="-122"/>
                <a:cs typeface="Consolas" pitchFamily="34" charset="-120"/>
              </a:rPr>
              <a:t>}</a:t>
            </a:r>
            <a:endParaRPr lang="en-US" sz="675" dirty="0"/>
          </a:p>
        </p:txBody>
      </p:sp>
      <p:sp>
        <p:nvSpPr>
          <p:cNvPr id="167" name="Text 138"/>
          <p:cNvSpPr/>
          <p:nvPr/>
        </p:nvSpPr>
        <p:spPr>
          <a:xfrm>
            <a:off x="828675" y="13399889"/>
            <a:ext cx="2386403" cy="96441"/>
          </a:xfrm>
          <a:prstGeom prst="rect">
            <a:avLst/>
          </a:prstGeom>
          <a:noFill/>
          <a:ln/>
        </p:spPr>
        <p:txBody>
          <a:bodyPr wrap="square" lIns="0" tIns="0" rIns="0" bIns="0" rtlCol="0" anchor="ctr">
            <a:spAutoFit/>
          </a:bodyPr>
          <a:lstStyle/>
          <a:p>
            <a:pPr indent="0" marL="0">
              <a:buNone/>
            </a:pPr>
            <a:r>
              <a:rPr lang="en-US" sz="675" dirty="0">
                <a:solidFill>
                  <a:srgbClr val="DBEAFE"/>
                </a:solidFill>
                <a:latin typeface="Consolas" pitchFamily="34" charset="0"/>
                <a:ea typeface="Consolas" pitchFamily="34" charset="-122"/>
                <a:cs typeface="Consolas" pitchFamily="34" charset="-120"/>
              </a:rPr>
              <a:t>public static int calculateSum(int[] arr) {</a:t>
            </a:r>
            <a:endParaRPr lang="en-US" sz="675" dirty="0"/>
          </a:p>
        </p:txBody>
      </p:sp>
      <p:sp>
        <p:nvSpPr>
          <p:cNvPr id="168" name="Text 139"/>
          <p:cNvSpPr/>
          <p:nvPr/>
        </p:nvSpPr>
        <p:spPr>
          <a:xfrm>
            <a:off x="828675" y="13571339"/>
            <a:ext cx="894531" cy="96441"/>
          </a:xfrm>
          <a:prstGeom prst="rect">
            <a:avLst/>
          </a:prstGeom>
          <a:noFill/>
          <a:ln/>
        </p:spPr>
        <p:txBody>
          <a:bodyPr wrap="none" lIns="0" tIns="0" rIns="0" bIns="0" rtlCol="0" anchor="ctr">
            <a:spAutoFit/>
          </a:bodyPr>
          <a:lstStyle/>
          <a:p>
            <a:pPr indent="0" marL="0">
              <a:buNone/>
            </a:pPr>
            <a:r>
              <a:rPr lang="en-US" sz="675" dirty="0">
                <a:solidFill>
                  <a:srgbClr val="DBEAFE"/>
                </a:solidFill>
                <a:latin typeface="Consolas" pitchFamily="34" charset="0"/>
                <a:ea typeface="Consolas" pitchFamily="34" charset="-122"/>
                <a:cs typeface="Consolas" pitchFamily="34" charset="-120"/>
              </a:rPr>
              <a:t>int sum = 0;</a:t>
            </a:r>
            <a:endParaRPr lang="en-US" sz="675" dirty="0"/>
          </a:p>
        </p:txBody>
      </p:sp>
      <p:sp>
        <p:nvSpPr>
          <p:cNvPr id="169" name="Text 140"/>
          <p:cNvSpPr/>
          <p:nvPr/>
        </p:nvSpPr>
        <p:spPr>
          <a:xfrm>
            <a:off x="828675" y="13742789"/>
            <a:ext cx="2283516" cy="96441"/>
          </a:xfrm>
          <a:prstGeom prst="rect">
            <a:avLst/>
          </a:prstGeom>
          <a:noFill/>
          <a:ln/>
        </p:spPr>
        <p:txBody>
          <a:bodyPr wrap="square" lIns="0" tIns="0" rIns="0" bIns="0" rtlCol="0" anchor="ctr">
            <a:spAutoFit/>
          </a:bodyPr>
          <a:lstStyle/>
          <a:p>
            <a:pPr indent="0" marL="0">
              <a:buNone/>
            </a:pPr>
            <a:r>
              <a:rPr lang="en-US" sz="675" dirty="0">
                <a:solidFill>
                  <a:srgbClr val="DBEAFE"/>
                </a:solidFill>
                <a:latin typeface="Consolas" pitchFamily="34" charset="0"/>
                <a:ea typeface="Consolas" pitchFamily="34" charset="-122"/>
                <a:cs typeface="Consolas" pitchFamily="34" charset="-120"/>
              </a:rPr>
              <a:t>// Bug: loop starts from 1 instead of 0</a:t>
            </a:r>
            <a:endParaRPr lang="en-US" sz="675" dirty="0"/>
          </a:p>
        </p:txBody>
      </p:sp>
      <p:sp>
        <p:nvSpPr>
          <p:cNvPr id="170" name="Text 141"/>
          <p:cNvSpPr/>
          <p:nvPr/>
        </p:nvSpPr>
        <p:spPr>
          <a:xfrm>
            <a:off x="828675" y="13914239"/>
            <a:ext cx="2232059" cy="96441"/>
          </a:xfrm>
          <a:prstGeom prst="rect">
            <a:avLst/>
          </a:prstGeom>
          <a:noFill/>
          <a:ln/>
        </p:spPr>
        <p:txBody>
          <a:bodyPr wrap="square" lIns="0" tIns="0" rIns="0" bIns="0" rtlCol="0" anchor="ctr">
            <a:spAutoFit/>
          </a:bodyPr>
          <a:lstStyle/>
          <a:p>
            <a:pPr indent="0" marL="0">
              <a:buNone/>
            </a:pPr>
            <a:r>
              <a:rPr lang="en-US" sz="675" dirty="0">
                <a:solidFill>
                  <a:srgbClr val="DBEAFE"/>
                </a:solidFill>
                <a:latin typeface="Consolas" pitchFamily="34" charset="0"/>
                <a:ea typeface="Consolas" pitchFamily="34" charset="-122"/>
                <a:cs typeface="Consolas" pitchFamily="34" charset="-120"/>
              </a:rPr>
              <a:t>for (int i = 1; i &lt; arr.length; i++) {</a:t>
            </a:r>
            <a:endParaRPr lang="en-US" sz="675" dirty="0"/>
          </a:p>
        </p:txBody>
      </p:sp>
      <p:sp>
        <p:nvSpPr>
          <p:cNvPr id="171" name="Text 142"/>
          <p:cNvSpPr/>
          <p:nvPr/>
        </p:nvSpPr>
        <p:spPr>
          <a:xfrm>
            <a:off x="828675" y="14085689"/>
            <a:ext cx="1100305" cy="96441"/>
          </a:xfrm>
          <a:prstGeom prst="rect">
            <a:avLst/>
          </a:prstGeom>
          <a:noFill/>
          <a:ln/>
        </p:spPr>
        <p:txBody>
          <a:bodyPr wrap="none" lIns="0" tIns="0" rIns="0" bIns="0" rtlCol="0" anchor="ctr">
            <a:spAutoFit/>
          </a:bodyPr>
          <a:lstStyle/>
          <a:p>
            <a:pPr indent="0" marL="0">
              <a:buNone/>
            </a:pPr>
            <a:r>
              <a:rPr lang="en-US" sz="675" dirty="0">
                <a:solidFill>
                  <a:srgbClr val="DBEAFE"/>
                </a:solidFill>
                <a:latin typeface="Consolas" pitchFamily="34" charset="0"/>
                <a:ea typeface="Consolas" pitchFamily="34" charset="-122"/>
                <a:cs typeface="Consolas" pitchFamily="34" charset="-120"/>
              </a:rPr>
              <a:t>sum += arr[i];</a:t>
            </a:r>
            <a:endParaRPr lang="en-US" sz="675" dirty="0"/>
          </a:p>
        </p:txBody>
      </p:sp>
      <p:sp>
        <p:nvSpPr>
          <p:cNvPr id="172" name="Text 143"/>
          <p:cNvSpPr/>
          <p:nvPr/>
        </p:nvSpPr>
        <p:spPr>
          <a:xfrm>
            <a:off x="828675" y="14257139"/>
            <a:ext cx="328668" cy="96441"/>
          </a:xfrm>
          <a:prstGeom prst="rect">
            <a:avLst/>
          </a:prstGeom>
          <a:noFill/>
          <a:ln/>
        </p:spPr>
        <p:txBody>
          <a:bodyPr wrap="none" lIns="0" tIns="0" rIns="0" bIns="0" rtlCol="0" anchor="ctr">
            <a:spAutoFit/>
          </a:bodyPr>
          <a:lstStyle/>
          <a:p>
            <a:pPr indent="0" marL="0">
              <a:buNone/>
            </a:pPr>
            <a:r>
              <a:rPr lang="en-US" sz="675" dirty="0">
                <a:solidFill>
                  <a:srgbClr val="DBEAFE"/>
                </a:solidFill>
                <a:latin typeface="Consolas" pitchFamily="34" charset="0"/>
                <a:ea typeface="Consolas" pitchFamily="34" charset="-122"/>
                <a:cs typeface="Consolas" pitchFamily="34" charset="-120"/>
              </a:rPr>
              <a:t>}</a:t>
            </a:r>
            <a:endParaRPr lang="en-US" sz="675" dirty="0"/>
          </a:p>
        </p:txBody>
      </p:sp>
      <p:sp>
        <p:nvSpPr>
          <p:cNvPr id="173" name="Text 144"/>
          <p:cNvSpPr/>
          <p:nvPr/>
        </p:nvSpPr>
        <p:spPr>
          <a:xfrm>
            <a:off x="828675" y="14428589"/>
            <a:ext cx="843102" cy="96441"/>
          </a:xfrm>
          <a:prstGeom prst="rect">
            <a:avLst/>
          </a:prstGeom>
          <a:noFill/>
          <a:ln/>
        </p:spPr>
        <p:txBody>
          <a:bodyPr wrap="none" lIns="0" tIns="0" rIns="0" bIns="0" rtlCol="0" anchor="ctr">
            <a:spAutoFit/>
          </a:bodyPr>
          <a:lstStyle/>
          <a:p>
            <a:pPr indent="0" marL="0">
              <a:buNone/>
            </a:pPr>
            <a:r>
              <a:rPr lang="en-US" sz="675" dirty="0">
                <a:solidFill>
                  <a:srgbClr val="DBEAFE"/>
                </a:solidFill>
                <a:latin typeface="Consolas" pitchFamily="34" charset="0"/>
                <a:ea typeface="Consolas" pitchFamily="34" charset="-122"/>
                <a:cs typeface="Consolas" pitchFamily="34" charset="-120"/>
              </a:rPr>
              <a:t>return sum;</a:t>
            </a:r>
            <a:endParaRPr lang="en-US" sz="675" dirty="0"/>
          </a:p>
        </p:txBody>
      </p:sp>
      <p:sp>
        <p:nvSpPr>
          <p:cNvPr id="174" name="Text 145"/>
          <p:cNvSpPr/>
          <p:nvPr/>
        </p:nvSpPr>
        <p:spPr>
          <a:xfrm>
            <a:off x="828675" y="14600039"/>
            <a:ext cx="225782" cy="96441"/>
          </a:xfrm>
          <a:prstGeom prst="rect">
            <a:avLst/>
          </a:prstGeom>
          <a:noFill/>
          <a:ln/>
        </p:spPr>
        <p:txBody>
          <a:bodyPr wrap="none" lIns="0" tIns="0" rIns="0" bIns="0" rtlCol="0" anchor="ctr">
            <a:spAutoFit/>
          </a:bodyPr>
          <a:lstStyle/>
          <a:p>
            <a:pPr indent="0" marL="0">
              <a:buNone/>
            </a:pPr>
            <a:r>
              <a:rPr lang="en-US" sz="675" dirty="0">
                <a:solidFill>
                  <a:srgbClr val="DBEAFE"/>
                </a:solidFill>
                <a:latin typeface="Consolas" pitchFamily="34" charset="0"/>
                <a:ea typeface="Consolas" pitchFamily="34" charset="-122"/>
                <a:cs typeface="Consolas" pitchFamily="34" charset="-120"/>
              </a:rPr>
              <a:t>}</a:t>
            </a:r>
            <a:endParaRPr lang="en-US" sz="675" dirty="0"/>
          </a:p>
        </p:txBody>
      </p:sp>
      <p:sp>
        <p:nvSpPr>
          <p:cNvPr id="175" name="Text 146"/>
          <p:cNvSpPr/>
          <p:nvPr/>
        </p:nvSpPr>
        <p:spPr>
          <a:xfrm>
            <a:off x="828675" y="14942939"/>
            <a:ext cx="2746493" cy="96441"/>
          </a:xfrm>
          <a:prstGeom prst="rect">
            <a:avLst/>
          </a:prstGeom>
          <a:noFill/>
          <a:ln/>
        </p:spPr>
        <p:txBody>
          <a:bodyPr wrap="square" lIns="0" tIns="0" rIns="0" bIns="0" rtlCol="0" anchor="ctr">
            <a:spAutoFit/>
          </a:bodyPr>
          <a:lstStyle/>
          <a:p>
            <a:pPr indent="0" marL="0">
              <a:buNone/>
            </a:pPr>
            <a:r>
              <a:rPr lang="en-US" sz="675" dirty="0">
                <a:solidFill>
                  <a:srgbClr val="DBEAFE"/>
                </a:solidFill>
                <a:latin typeface="Consolas" pitchFamily="34" charset="0"/>
                <a:ea typeface="Consolas" pitchFamily="34" charset="-122"/>
                <a:cs typeface="Consolas" pitchFamily="34" charset="-120"/>
              </a:rPr>
              <a:t>public static double calculateAverage(int[] arr) {</a:t>
            </a:r>
            <a:endParaRPr lang="en-US" sz="675" dirty="0"/>
          </a:p>
        </p:txBody>
      </p:sp>
      <p:sp>
        <p:nvSpPr>
          <p:cNvPr id="176" name="Text 147"/>
          <p:cNvSpPr/>
          <p:nvPr/>
        </p:nvSpPr>
        <p:spPr>
          <a:xfrm>
            <a:off x="828675" y="15114389"/>
            <a:ext cx="1717625" cy="96441"/>
          </a:xfrm>
          <a:prstGeom prst="rect">
            <a:avLst/>
          </a:prstGeom>
          <a:noFill/>
          <a:ln/>
        </p:spPr>
        <p:txBody>
          <a:bodyPr wrap="square" lIns="0" tIns="0" rIns="0" bIns="0" rtlCol="0" anchor="ctr">
            <a:spAutoFit/>
          </a:bodyPr>
          <a:lstStyle/>
          <a:p>
            <a:pPr indent="0" marL="0">
              <a:buNone/>
            </a:pPr>
            <a:r>
              <a:rPr lang="en-US" sz="675" dirty="0">
                <a:solidFill>
                  <a:srgbClr val="DBEAFE"/>
                </a:solidFill>
                <a:latin typeface="Consolas" pitchFamily="34" charset="0"/>
                <a:ea typeface="Consolas" pitchFamily="34" charset="-122"/>
                <a:cs typeface="Consolas" pitchFamily="34" charset="-120"/>
              </a:rPr>
              <a:t>int sum = calculateSum(arr);</a:t>
            </a:r>
            <a:endParaRPr lang="en-US" sz="675" dirty="0"/>
          </a:p>
        </p:txBody>
      </p:sp>
      <p:sp>
        <p:nvSpPr>
          <p:cNvPr id="177" name="Text 148"/>
          <p:cNvSpPr/>
          <p:nvPr/>
        </p:nvSpPr>
        <p:spPr>
          <a:xfrm>
            <a:off x="828675" y="15285839"/>
            <a:ext cx="2849380" cy="96441"/>
          </a:xfrm>
          <a:prstGeom prst="rect">
            <a:avLst/>
          </a:prstGeom>
          <a:noFill/>
          <a:ln/>
        </p:spPr>
        <p:txBody>
          <a:bodyPr wrap="square" lIns="0" tIns="0" rIns="0" bIns="0" rtlCol="0" anchor="ctr">
            <a:spAutoFit/>
          </a:bodyPr>
          <a:lstStyle/>
          <a:p>
            <a:pPr indent="0" marL="0">
              <a:buNone/>
            </a:pPr>
            <a:r>
              <a:rPr lang="en-US" sz="675" dirty="0">
                <a:solidFill>
                  <a:srgbClr val="DBEAFE"/>
                </a:solidFill>
                <a:latin typeface="Consolas" pitchFamily="34" charset="0"/>
                <a:ea typeface="Consolas" pitchFamily="34" charset="-122"/>
                <a:cs typeface="Consolas" pitchFamily="34" charset="-120"/>
              </a:rPr>
              <a:t>// Bug: using length without checking if it's zero</a:t>
            </a:r>
            <a:endParaRPr lang="en-US" sz="675" dirty="0"/>
          </a:p>
        </p:txBody>
      </p:sp>
      <p:sp>
        <p:nvSpPr>
          <p:cNvPr id="178" name="Text 149"/>
          <p:cNvSpPr/>
          <p:nvPr/>
        </p:nvSpPr>
        <p:spPr>
          <a:xfrm>
            <a:off x="828675" y="15457289"/>
            <a:ext cx="1511852" cy="96441"/>
          </a:xfrm>
          <a:prstGeom prst="rect">
            <a:avLst/>
          </a:prstGeom>
          <a:noFill/>
          <a:ln/>
        </p:spPr>
        <p:txBody>
          <a:bodyPr wrap="square" lIns="0" tIns="0" rIns="0" bIns="0" rtlCol="0" anchor="ctr">
            <a:spAutoFit/>
          </a:bodyPr>
          <a:lstStyle/>
          <a:p>
            <a:pPr indent="0" marL="0">
              <a:buNone/>
            </a:pPr>
            <a:r>
              <a:rPr lang="en-US" sz="675" dirty="0">
                <a:solidFill>
                  <a:srgbClr val="DBEAFE"/>
                </a:solidFill>
                <a:latin typeface="Consolas" pitchFamily="34" charset="0"/>
                <a:ea typeface="Consolas" pitchFamily="34" charset="-122"/>
                <a:cs typeface="Consolas" pitchFamily="34" charset="-120"/>
              </a:rPr>
              <a:t>return sum / arr.length;</a:t>
            </a:r>
            <a:endParaRPr lang="en-US" sz="675" dirty="0"/>
          </a:p>
        </p:txBody>
      </p:sp>
      <p:sp>
        <p:nvSpPr>
          <p:cNvPr id="179" name="Text 150"/>
          <p:cNvSpPr/>
          <p:nvPr/>
        </p:nvSpPr>
        <p:spPr>
          <a:xfrm>
            <a:off x="828675" y="15628739"/>
            <a:ext cx="225782" cy="96441"/>
          </a:xfrm>
          <a:prstGeom prst="rect">
            <a:avLst/>
          </a:prstGeom>
          <a:noFill/>
          <a:ln/>
        </p:spPr>
        <p:txBody>
          <a:bodyPr wrap="none" lIns="0" tIns="0" rIns="0" bIns="0" rtlCol="0" anchor="ctr">
            <a:spAutoFit/>
          </a:bodyPr>
          <a:lstStyle/>
          <a:p>
            <a:pPr indent="0" marL="0">
              <a:buNone/>
            </a:pPr>
            <a:r>
              <a:rPr lang="en-US" sz="675" dirty="0">
                <a:solidFill>
                  <a:srgbClr val="DBEAFE"/>
                </a:solidFill>
                <a:latin typeface="Consolas" pitchFamily="34" charset="0"/>
                <a:ea typeface="Consolas" pitchFamily="34" charset="-122"/>
                <a:cs typeface="Consolas" pitchFamily="34" charset="-120"/>
              </a:rPr>
              <a:t>}</a:t>
            </a:r>
            <a:endParaRPr lang="en-US" sz="675" dirty="0"/>
          </a:p>
        </p:txBody>
      </p:sp>
      <p:sp>
        <p:nvSpPr>
          <p:cNvPr id="180" name="Text 151"/>
          <p:cNvSpPr/>
          <p:nvPr/>
        </p:nvSpPr>
        <p:spPr>
          <a:xfrm>
            <a:off x="828675" y="15800189"/>
            <a:ext cx="122895" cy="96441"/>
          </a:xfrm>
          <a:prstGeom prst="rect">
            <a:avLst/>
          </a:prstGeom>
          <a:noFill/>
          <a:ln/>
        </p:spPr>
        <p:txBody>
          <a:bodyPr wrap="none" lIns="0" tIns="0" rIns="0" bIns="0" rtlCol="0" anchor="ctr">
            <a:spAutoFit/>
          </a:bodyPr>
          <a:lstStyle/>
          <a:p>
            <a:pPr indent="0" marL="0">
              <a:buNone/>
            </a:pPr>
            <a:r>
              <a:rPr lang="en-US" sz="675" dirty="0">
                <a:solidFill>
                  <a:srgbClr val="DBEAFE"/>
                </a:solidFill>
                <a:latin typeface="Consolas" pitchFamily="34" charset="0"/>
                <a:ea typeface="Consolas" pitchFamily="34" charset="-122"/>
                <a:cs typeface="Consolas" pitchFamily="34" charset="-120"/>
              </a:rPr>
              <a:t>}</a:t>
            </a:r>
            <a:endParaRPr lang="en-US" sz="675" dirty="0"/>
          </a:p>
        </p:txBody>
      </p:sp>
      <p:sp>
        <p:nvSpPr>
          <p:cNvPr id="181" name="Shape 152"/>
          <p:cNvSpPr/>
          <p:nvPr/>
        </p:nvSpPr>
        <p:spPr>
          <a:xfrm>
            <a:off x="4657725" y="11315700"/>
            <a:ext cx="3857625" cy="1857375"/>
          </a:xfrm>
          <a:prstGeom prst="rect">
            <a:avLst/>
          </a:prstGeom>
          <a:solidFill>
            <a:srgbClr val="1E3A8A">
              <a:alpha val="30000"/>
            </a:srgbClr>
          </a:solidFill>
          <a:ln/>
        </p:spPr>
      </p:sp>
      <p:sp>
        <p:nvSpPr>
          <p:cNvPr id="182" name="Text 153"/>
          <p:cNvSpPr/>
          <p:nvPr/>
        </p:nvSpPr>
        <p:spPr>
          <a:xfrm>
            <a:off x="4772025" y="11430000"/>
            <a:ext cx="3700463" cy="200025"/>
          </a:xfrm>
          <a:prstGeom prst="rect">
            <a:avLst/>
          </a:prstGeom>
          <a:noFill/>
          <a:ln/>
        </p:spPr>
        <p:txBody>
          <a:bodyPr wrap="square" lIns="0" tIns="0" rIns="0" bIns="0" rtlCol="0" anchor="ctr">
            <a:spAutoFit/>
          </a:bodyPr>
          <a:lstStyle/>
          <a:p>
            <a:pPr indent="0" marL="0">
              <a:buNone/>
            </a:pPr>
            <a:r>
              <a:rPr lang="en-US" sz="1125" b="1" dirty="0">
                <a:solidFill>
                  <a:srgbClr val="F1F5F9"/>
                </a:solidFill>
                <a:latin typeface="Segoe UI" pitchFamily="34" charset="0"/>
                <a:ea typeface="Segoe UI" pitchFamily="34" charset="-122"/>
                <a:cs typeface="Segoe UI" pitchFamily="34" charset="-120"/>
              </a:rPr>
              <a:t>Debugging Steps</a:t>
            </a:r>
            <a:endParaRPr lang="en-US" sz="1125" dirty="0"/>
          </a:p>
        </p:txBody>
      </p:sp>
      <p:sp>
        <p:nvSpPr>
          <p:cNvPr id="183" name="Text 154"/>
          <p:cNvSpPr/>
          <p:nvPr/>
        </p:nvSpPr>
        <p:spPr>
          <a:xfrm>
            <a:off x="4886325" y="11715750"/>
            <a:ext cx="3586163" cy="142875"/>
          </a:xfrm>
          <a:prstGeom prst="rect">
            <a:avLst/>
          </a:prstGeom>
          <a:noFill/>
          <a:ln/>
        </p:spPr>
        <p:txBody>
          <a:bodyPr wrap="square" lIns="0" tIns="0" rIns="0" bIns="0" rtlCol="0" anchor="ctr">
            <a:spAutoFit/>
          </a:bodyPr>
          <a:lstStyle/>
          <a:p>
            <a:pPr algn="l" indent="0" marL="0">
              <a:buNone/>
            </a:pPr>
            <a:r>
              <a:rPr lang="en-US" sz="788" dirty="0">
                <a:solidFill>
                  <a:srgbClr val="F1F5F9"/>
                </a:solidFill>
                <a:latin typeface="Segoe UI" pitchFamily="34" charset="0"/>
                <a:ea typeface="Segoe UI" pitchFamily="34" charset="-122"/>
                <a:cs typeface="Segoe UI" pitchFamily="34" charset="-120"/>
              </a:rPr>
              <a:t>Set breakpoints at lines 4, 12, and 19</a:t>
            </a:r>
            <a:endParaRPr lang="en-US" sz="788" dirty="0"/>
          </a:p>
        </p:txBody>
      </p:sp>
      <p:sp>
        <p:nvSpPr>
          <p:cNvPr id="184" name="Text 155"/>
          <p:cNvSpPr/>
          <p:nvPr/>
        </p:nvSpPr>
        <p:spPr>
          <a:xfrm>
            <a:off x="4886325" y="11887200"/>
            <a:ext cx="3586163" cy="142875"/>
          </a:xfrm>
          <a:prstGeom prst="rect">
            <a:avLst/>
          </a:prstGeom>
          <a:noFill/>
          <a:ln/>
        </p:spPr>
        <p:txBody>
          <a:bodyPr wrap="square" lIns="0" tIns="0" rIns="0" bIns="0" rtlCol="0" anchor="ctr">
            <a:spAutoFit/>
          </a:bodyPr>
          <a:lstStyle/>
          <a:p>
            <a:pPr algn="l" indent="0" marL="0">
              <a:buNone/>
            </a:pPr>
            <a:r>
              <a:rPr lang="en-US" sz="788" dirty="0">
                <a:solidFill>
                  <a:srgbClr val="F1F5F9"/>
                </a:solidFill>
                <a:latin typeface="Segoe UI" pitchFamily="34" charset="0"/>
                <a:ea typeface="Segoe UI" pitchFamily="34" charset="-122"/>
                <a:cs typeface="Segoe UI" pitchFamily="34" charset="-120"/>
              </a:rPr>
              <a:t>Start debugging with F5</a:t>
            </a:r>
            <a:endParaRPr lang="en-US" sz="788" dirty="0"/>
          </a:p>
        </p:txBody>
      </p:sp>
      <p:sp>
        <p:nvSpPr>
          <p:cNvPr id="185" name="Text 156"/>
          <p:cNvSpPr/>
          <p:nvPr/>
        </p:nvSpPr>
        <p:spPr>
          <a:xfrm>
            <a:off x="4886325" y="12058650"/>
            <a:ext cx="3586163" cy="142875"/>
          </a:xfrm>
          <a:prstGeom prst="rect">
            <a:avLst/>
          </a:prstGeom>
          <a:noFill/>
          <a:ln/>
        </p:spPr>
        <p:txBody>
          <a:bodyPr wrap="square" lIns="0" tIns="0" rIns="0" bIns="0" rtlCol="0" anchor="ctr">
            <a:spAutoFit/>
          </a:bodyPr>
          <a:lstStyle/>
          <a:p>
            <a:pPr algn="l" indent="0" marL="0">
              <a:buNone/>
            </a:pPr>
            <a:r>
              <a:rPr lang="en-US" sz="788" dirty="0">
                <a:solidFill>
                  <a:srgbClr val="F1F5F9"/>
                </a:solidFill>
                <a:latin typeface="Segoe UI" pitchFamily="34" charset="0"/>
                <a:ea typeface="Segoe UI" pitchFamily="34" charset="-122"/>
                <a:cs typeface="Segoe UI" pitchFamily="34" charset="-120"/>
              </a:rPr>
              <a:t>When stopped at line 4, examine the numbers array</a:t>
            </a:r>
            <a:endParaRPr lang="en-US" sz="788" dirty="0"/>
          </a:p>
        </p:txBody>
      </p:sp>
      <p:sp>
        <p:nvSpPr>
          <p:cNvPr id="186" name="Text 157"/>
          <p:cNvSpPr/>
          <p:nvPr/>
        </p:nvSpPr>
        <p:spPr>
          <a:xfrm>
            <a:off x="4886325" y="12230100"/>
            <a:ext cx="3586163" cy="142875"/>
          </a:xfrm>
          <a:prstGeom prst="rect">
            <a:avLst/>
          </a:prstGeom>
          <a:noFill/>
          <a:ln/>
        </p:spPr>
        <p:txBody>
          <a:bodyPr wrap="square" lIns="0" tIns="0" rIns="0" bIns="0" rtlCol="0" anchor="ctr">
            <a:spAutoFit/>
          </a:bodyPr>
          <a:lstStyle/>
          <a:p>
            <a:pPr algn="l" indent="0" marL="0">
              <a:buNone/>
            </a:pPr>
            <a:r>
              <a:rPr lang="en-US" sz="788" dirty="0">
                <a:solidFill>
                  <a:srgbClr val="F1F5F9"/>
                </a:solidFill>
                <a:latin typeface="Segoe UI" pitchFamily="34" charset="0"/>
                <a:ea typeface="Segoe UI" pitchFamily="34" charset="-122"/>
                <a:cs typeface="Segoe UI" pitchFamily="34" charset="-120"/>
              </a:rPr>
              <a:t>Step into calculateSum() with F11</a:t>
            </a:r>
            <a:endParaRPr lang="en-US" sz="788" dirty="0"/>
          </a:p>
        </p:txBody>
      </p:sp>
      <p:sp>
        <p:nvSpPr>
          <p:cNvPr id="187" name="Text 158"/>
          <p:cNvSpPr/>
          <p:nvPr/>
        </p:nvSpPr>
        <p:spPr>
          <a:xfrm>
            <a:off x="4886325" y="12401550"/>
            <a:ext cx="3586163" cy="142875"/>
          </a:xfrm>
          <a:prstGeom prst="rect">
            <a:avLst/>
          </a:prstGeom>
          <a:noFill/>
          <a:ln/>
        </p:spPr>
        <p:txBody>
          <a:bodyPr wrap="square" lIns="0" tIns="0" rIns="0" bIns="0" rtlCol="0" anchor="ctr">
            <a:spAutoFit/>
          </a:bodyPr>
          <a:lstStyle/>
          <a:p>
            <a:pPr algn="l" indent="0" marL="0">
              <a:buNone/>
            </a:pPr>
            <a:r>
              <a:rPr lang="en-US" sz="788" dirty="0">
                <a:solidFill>
                  <a:srgbClr val="F1F5F9"/>
                </a:solidFill>
                <a:latin typeface="Segoe UI" pitchFamily="34" charset="0"/>
                <a:ea typeface="Segoe UI" pitchFamily="34" charset="-122"/>
                <a:cs typeface="Segoe UI" pitchFamily="34" charset="-120"/>
              </a:rPr>
              <a:t>Notice the loop starts at i=1 (skipping first element)</a:t>
            </a:r>
            <a:endParaRPr lang="en-US" sz="788" dirty="0"/>
          </a:p>
        </p:txBody>
      </p:sp>
      <p:sp>
        <p:nvSpPr>
          <p:cNvPr id="188" name="Text 159"/>
          <p:cNvSpPr/>
          <p:nvPr/>
        </p:nvSpPr>
        <p:spPr>
          <a:xfrm>
            <a:off x="4886325" y="12573000"/>
            <a:ext cx="3586163" cy="142875"/>
          </a:xfrm>
          <a:prstGeom prst="rect">
            <a:avLst/>
          </a:prstGeom>
          <a:noFill/>
          <a:ln/>
        </p:spPr>
        <p:txBody>
          <a:bodyPr wrap="square" lIns="0" tIns="0" rIns="0" bIns="0" rtlCol="0" anchor="ctr">
            <a:spAutoFit/>
          </a:bodyPr>
          <a:lstStyle/>
          <a:p>
            <a:pPr algn="l" indent="0" marL="0">
              <a:buNone/>
            </a:pPr>
            <a:r>
              <a:rPr lang="en-US" sz="788" dirty="0">
                <a:solidFill>
                  <a:srgbClr val="F1F5F9"/>
                </a:solidFill>
                <a:latin typeface="Segoe UI" pitchFamily="34" charset="0"/>
                <a:ea typeface="Segoe UI" pitchFamily="34" charset="-122"/>
                <a:cs typeface="Segoe UI" pitchFamily="34" charset="-120"/>
              </a:rPr>
              <a:t>Step through the loop, watching sum value</a:t>
            </a:r>
            <a:endParaRPr lang="en-US" sz="788" dirty="0"/>
          </a:p>
        </p:txBody>
      </p:sp>
      <p:sp>
        <p:nvSpPr>
          <p:cNvPr id="189" name="Text 160"/>
          <p:cNvSpPr/>
          <p:nvPr/>
        </p:nvSpPr>
        <p:spPr>
          <a:xfrm>
            <a:off x="4886325" y="12744450"/>
            <a:ext cx="3586163" cy="142875"/>
          </a:xfrm>
          <a:prstGeom prst="rect">
            <a:avLst/>
          </a:prstGeom>
          <a:noFill/>
          <a:ln/>
        </p:spPr>
        <p:txBody>
          <a:bodyPr wrap="square" lIns="0" tIns="0" rIns="0" bIns="0" rtlCol="0" anchor="ctr">
            <a:spAutoFit/>
          </a:bodyPr>
          <a:lstStyle/>
          <a:p>
            <a:pPr algn="l" indent="0" marL="0">
              <a:buNone/>
            </a:pPr>
            <a:r>
              <a:rPr lang="en-US" sz="788" dirty="0">
                <a:solidFill>
                  <a:srgbClr val="F1F5F9"/>
                </a:solidFill>
                <a:latin typeface="Segoe UI" pitchFamily="34" charset="0"/>
                <a:ea typeface="Segoe UI" pitchFamily="34" charset="-122"/>
                <a:cs typeface="Segoe UI" pitchFamily="34" charset="-120"/>
              </a:rPr>
              <a:t>Continue to calculateAverage()</a:t>
            </a:r>
            <a:endParaRPr lang="en-US" sz="788" dirty="0"/>
          </a:p>
        </p:txBody>
      </p:sp>
      <p:sp>
        <p:nvSpPr>
          <p:cNvPr id="190" name="Text 161"/>
          <p:cNvSpPr/>
          <p:nvPr/>
        </p:nvSpPr>
        <p:spPr>
          <a:xfrm>
            <a:off x="4886325" y="12915900"/>
            <a:ext cx="3586163" cy="142875"/>
          </a:xfrm>
          <a:prstGeom prst="rect">
            <a:avLst/>
          </a:prstGeom>
          <a:noFill/>
          <a:ln/>
        </p:spPr>
        <p:txBody>
          <a:bodyPr wrap="square" lIns="0" tIns="0" rIns="0" bIns="0" rtlCol="0" anchor="ctr">
            <a:spAutoFit/>
          </a:bodyPr>
          <a:lstStyle/>
          <a:p>
            <a:pPr algn="l" indent="0" marL="0">
              <a:buNone/>
            </a:pPr>
            <a:r>
              <a:rPr lang="en-US" sz="788" dirty="0">
                <a:solidFill>
                  <a:srgbClr val="F1F5F9"/>
                </a:solidFill>
                <a:latin typeface="Segoe UI" pitchFamily="34" charset="0"/>
                <a:ea typeface="Segoe UI" pitchFamily="34" charset="-122"/>
                <a:cs typeface="Segoe UI" pitchFamily="34" charset="-120"/>
              </a:rPr>
              <a:t>Notice integer division truncates decimal part</a:t>
            </a:r>
            <a:endParaRPr lang="en-US" sz="788" dirty="0"/>
          </a:p>
        </p:txBody>
      </p:sp>
      <p:sp>
        <p:nvSpPr>
          <p:cNvPr id="191" name="Shape 162"/>
          <p:cNvSpPr/>
          <p:nvPr/>
        </p:nvSpPr>
        <p:spPr>
          <a:xfrm>
            <a:off x="4657725" y="13287375"/>
            <a:ext cx="3857625" cy="2128838"/>
          </a:xfrm>
          <a:prstGeom prst="rect">
            <a:avLst/>
          </a:prstGeom>
          <a:solidFill>
            <a:srgbClr val="1E3A8A">
              <a:alpha val="30000"/>
            </a:srgbClr>
          </a:solidFill>
          <a:ln/>
        </p:spPr>
      </p:sp>
      <p:sp>
        <p:nvSpPr>
          <p:cNvPr id="192" name="Text 163"/>
          <p:cNvSpPr/>
          <p:nvPr/>
        </p:nvSpPr>
        <p:spPr>
          <a:xfrm>
            <a:off x="4772025" y="13401675"/>
            <a:ext cx="3700463" cy="200025"/>
          </a:xfrm>
          <a:prstGeom prst="rect">
            <a:avLst/>
          </a:prstGeom>
          <a:noFill/>
          <a:ln/>
        </p:spPr>
        <p:txBody>
          <a:bodyPr wrap="square" lIns="0" tIns="0" rIns="0" bIns="0" rtlCol="0" anchor="ctr">
            <a:spAutoFit/>
          </a:bodyPr>
          <a:lstStyle/>
          <a:p>
            <a:pPr indent="0" marL="0">
              <a:buNone/>
            </a:pPr>
            <a:r>
              <a:rPr lang="en-US" sz="1125" b="1" dirty="0">
                <a:solidFill>
                  <a:srgbClr val="F1F5F9"/>
                </a:solidFill>
                <a:latin typeface="Segoe UI" pitchFamily="34" charset="0"/>
                <a:ea typeface="Segoe UI" pitchFamily="34" charset="-122"/>
                <a:cs typeface="Segoe UI" pitchFamily="34" charset="-120"/>
              </a:rPr>
              <a:t>Fixing the Bugs</a:t>
            </a:r>
            <a:endParaRPr lang="en-US" sz="1125" dirty="0"/>
          </a:p>
        </p:txBody>
      </p:sp>
      <p:sp>
        <p:nvSpPr>
          <p:cNvPr id="193" name="Shape 164"/>
          <p:cNvSpPr/>
          <p:nvPr/>
        </p:nvSpPr>
        <p:spPr>
          <a:xfrm>
            <a:off x="4772025" y="13687425"/>
            <a:ext cx="3629025" cy="1385888"/>
          </a:xfrm>
          <a:prstGeom prst="rect">
            <a:avLst/>
          </a:prstGeom>
          <a:solidFill>
            <a:srgbClr val="1E293B">
              <a:alpha val="80000"/>
            </a:srgbClr>
          </a:solidFill>
          <a:ln w="99">
            <a:solidFill>
              <a:srgbClr val="60A5FA">
                <a:alpha val="30000"/>
              </a:srgbClr>
            </a:solidFill>
            <a:prstDash val="solid"/>
          </a:ln>
        </p:spPr>
      </p:sp>
      <p:sp>
        <p:nvSpPr>
          <p:cNvPr id="194" name="Text 165"/>
          <p:cNvSpPr/>
          <p:nvPr/>
        </p:nvSpPr>
        <p:spPr>
          <a:xfrm>
            <a:off x="4857750" y="13828514"/>
            <a:ext cx="1769083" cy="96441"/>
          </a:xfrm>
          <a:prstGeom prst="rect">
            <a:avLst/>
          </a:prstGeom>
          <a:noFill/>
          <a:ln/>
        </p:spPr>
        <p:txBody>
          <a:bodyPr wrap="square" lIns="0" tIns="0" rIns="0" bIns="0" rtlCol="0" anchor="ctr">
            <a:spAutoFit/>
          </a:bodyPr>
          <a:lstStyle/>
          <a:p>
            <a:pPr indent="0" marL="0">
              <a:buNone/>
            </a:pPr>
            <a:r>
              <a:rPr lang="en-US" sz="675" dirty="0">
                <a:solidFill>
                  <a:srgbClr val="DBEAFE"/>
                </a:solidFill>
                <a:latin typeface="Consolas" pitchFamily="34" charset="0"/>
                <a:ea typeface="Consolas" pitchFamily="34" charset="-122"/>
                <a:cs typeface="Consolas" pitchFamily="34" charset="-120"/>
              </a:rPr>
              <a:t>// Fix 1: Start loop from index 0</a:t>
            </a:r>
            <a:endParaRPr lang="en-US" sz="675" dirty="0"/>
          </a:p>
        </p:txBody>
      </p:sp>
      <p:sp>
        <p:nvSpPr>
          <p:cNvPr id="195" name="Text 166"/>
          <p:cNvSpPr/>
          <p:nvPr/>
        </p:nvSpPr>
        <p:spPr>
          <a:xfrm>
            <a:off x="4857750" y="13999964"/>
            <a:ext cx="2026286" cy="96441"/>
          </a:xfrm>
          <a:prstGeom prst="rect">
            <a:avLst/>
          </a:prstGeom>
          <a:noFill/>
          <a:ln/>
        </p:spPr>
        <p:txBody>
          <a:bodyPr wrap="square" lIns="0" tIns="0" rIns="0" bIns="0" rtlCol="0" anchor="ctr">
            <a:spAutoFit/>
          </a:bodyPr>
          <a:lstStyle/>
          <a:p>
            <a:pPr indent="0" marL="0">
              <a:buNone/>
            </a:pPr>
            <a:r>
              <a:rPr lang="en-US" sz="675" dirty="0">
                <a:solidFill>
                  <a:srgbClr val="DBEAFE"/>
                </a:solidFill>
                <a:latin typeface="Consolas" pitchFamily="34" charset="0"/>
                <a:ea typeface="Consolas" pitchFamily="34" charset="-122"/>
                <a:cs typeface="Consolas" pitchFamily="34" charset="-120"/>
              </a:rPr>
              <a:t>for (int i = 0; i &lt; arr.length; i++) {</a:t>
            </a:r>
            <a:endParaRPr lang="en-US" sz="675" dirty="0"/>
          </a:p>
        </p:txBody>
      </p:sp>
      <p:sp>
        <p:nvSpPr>
          <p:cNvPr id="196" name="Text 167"/>
          <p:cNvSpPr/>
          <p:nvPr/>
        </p:nvSpPr>
        <p:spPr>
          <a:xfrm>
            <a:off x="4857750" y="14171414"/>
            <a:ext cx="894531" cy="96441"/>
          </a:xfrm>
          <a:prstGeom prst="rect">
            <a:avLst/>
          </a:prstGeom>
          <a:noFill/>
          <a:ln/>
        </p:spPr>
        <p:txBody>
          <a:bodyPr wrap="none" lIns="0" tIns="0" rIns="0" bIns="0" rtlCol="0" anchor="ctr">
            <a:spAutoFit/>
          </a:bodyPr>
          <a:lstStyle/>
          <a:p>
            <a:pPr indent="0" marL="0">
              <a:buNone/>
            </a:pPr>
            <a:r>
              <a:rPr lang="en-US" sz="675" dirty="0">
                <a:solidFill>
                  <a:srgbClr val="DBEAFE"/>
                </a:solidFill>
                <a:latin typeface="Consolas" pitchFamily="34" charset="0"/>
                <a:ea typeface="Consolas" pitchFamily="34" charset="-122"/>
                <a:cs typeface="Consolas" pitchFamily="34" charset="-120"/>
              </a:rPr>
              <a:t>sum += arr[i];</a:t>
            </a:r>
            <a:endParaRPr lang="en-US" sz="675" dirty="0"/>
          </a:p>
        </p:txBody>
      </p:sp>
      <p:sp>
        <p:nvSpPr>
          <p:cNvPr id="197" name="Text 168"/>
          <p:cNvSpPr/>
          <p:nvPr/>
        </p:nvSpPr>
        <p:spPr>
          <a:xfrm>
            <a:off x="4857750" y="14342864"/>
            <a:ext cx="122895" cy="96441"/>
          </a:xfrm>
          <a:prstGeom prst="rect">
            <a:avLst/>
          </a:prstGeom>
          <a:noFill/>
          <a:ln/>
        </p:spPr>
        <p:txBody>
          <a:bodyPr wrap="none" lIns="0" tIns="0" rIns="0" bIns="0" rtlCol="0" anchor="ctr">
            <a:spAutoFit/>
          </a:bodyPr>
          <a:lstStyle/>
          <a:p>
            <a:pPr indent="0" marL="0">
              <a:buNone/>
            </a:pPr>
            <a:r>
              <a:rPr lang="en-US" sz="675" dirty="0">
                <a:solidFill>
                  <a:srgbClr val="DBEAFE"/>
                </a:solidFill>
                <a:latin typeface="Consolas" pitchFamily="34" charset="0"/>
                <a:ea typeface="Consolas" pitchFamily="34" charset="-122"/>
                <a:cs typeface="Consolas" pitchFamily="34" charset="-120"/>
              </a:rPr>
              <a:t>}</a:t>
            </a:r>
            <a:endParaRPr lang="en-US" sz="675" dirty="0"/>
          </a:p>
        </p:txBody>
      </p:sp>
      <p:sp>
        <p:nvSpPr>
          <p:cNvPr id="198" name="Text 169"/>
          <p:cNvSpPr/>
          <p:nvPr/>
        </p:nvSpPr>
        <p:spPr>
          <a:xfrm>
            <a:off x="4857750" y="14685764"/>
            <a:ext cx="2334946" cy="96441"/>
          </a:xfrm>
          <a:prstGeom prst="rect">
            <a:avLst/>
          </a:prstGeom>
          <a:noFill/>
          <a:ln/>
        </p:spPr>
        <p:txBody>
          <a:bodyPr wrap="square" lIns="0" tIns="0" rIns="0" bIns="0" rtlCol="0" anchor="ctr">
            <a:spAutoFit/>
          </a:bodyPr>
          <a:lstStyle/>
          <a:p>
            <a:pPr indent="0" marL="0">
              <a:buNone/>
            </a:pPr>
            <a:r>
              <a:rPr lang="en-US" sz="675" dirty="0">
                <a:solidFill>
                  <a:srgbClr val="DBEAFE"/>
                </a:solidFill>
                <a:latin typeface="Consolas" pitchFamily="34" charset="0"/>
                <a:ea typeface="Consolas" pitchFamily="34" charset="-122"/>
                <a:cs typeface="Consolas" pitchFamily="34" charset="-120"/>
              </a:rPr>
              <a:t>// Fix 2: Cast to double for proper division</a:t>
            </a:r>
            <a:endParaRPr lang="en-US" sz="675" dirty="0"/>
          </a:p>
        </p:txBody>
      </p:sp>
      <p:sp>
        <p:nvSpPr>
          <p:cNvPr id="199" name="Text 170"/>
          <p:cNvSpPr/>
          <p:nvPr/>
        </p:nvSpPr>
        <p:spPr>
          <a:xfrm>
            <a:off x="4857750" y="14857214"/>
            <a:ext cx="1717625" cy="96441"/>
          </a:xfrm>
          <a:prstGeom prst="rect">
            <a:avLst/>
          </a:prstGeom>
          <a:noFill/>
          <a:ln/>
        </p:spPr>
        <p:txBody>
          <a:bodyPr wrap="square" lIns="0" tIns="0" rIns="0" bIns="0" rtlCol="0" anchor="ctr">
            <a:spAutoFit/>
          </a:bodyPr>
          <a:lstStyle/>
          <a:p>
            <a:pPr indent="0" marL="0">
              <a:buNone/>
            </a:pPr>
            <a:r>
              <a:rPr lang="en-US" sz="675" dirty="0">
                <a:solidFill>
                  <a:srgbClr val="DBEAFE"/>
                </a:solidFill>
                <a:latin typeface="Consolas" pitchFamily="34" charset="0"/>
                <a:ea typeface="Consolas" pitchFamily="34" charset="-122"/>
                <a:cs typeface="Consolas" pitchFamily="34" charset="-120"/>
              </a:rPr>
              <a:t>return sum / (double)arr.length;</a:t>
            </a:r>
            <a:endParaRPr lang="en-US" sz="675" dirty="0"/>
          </a:p>
        </p:txBody>
      </p:sp>
      <p:sp>
        <p:nvSpPr>
          <p:cNvPr id="200" name="Text 171"/>
          <p:cNvSpPr/>
          <p:nvPr/>
        </p:nvSpPr>
        <p:spPr>
          <a:xfrm>
            <a:off x="4772025" y="15144750"/>
            <a:ext cx="3700463" cy="142875"/>
          </a:xfrm>
          <a:prstGeom prst="rect">
            <a:avLst/>
          </a:prstGeom>
          <a:noFill/>
          <a:ln/>
        </p:spPr>
        <p:txBody>
          <a:bodyPr wrap="square" lIns="0" tIns="0" rIns="0" bIns="0" rtlCol="0" anchor="ctr">
            <a:spAutoFit/>
          </a:bodyPr>
          <a:lstStyle/>
          <a:p>
            <a:pPr indent="0" marL="0">
              <a:buNone/>
            </a:pPr>
            <a:r>
              <a:rPr lang="en-US" sz="788" dirty="0">
                <a:solidFill>
                  <a:srgbClr val="F1F5F9"/>
                </a:solidFill>
                <a:latin typeface="Segoe UI" pitchFamily="34" charset="0"/>
                <a:ea typeface="Segoe UI" pitchFamily="34" charset="-122"/>
                <a:cs typeface="Segoe UI" pitchFamily="34" charset="-120"/>
              </a:rPr>
              <a:t>After fixing, the program correctly calculates sum=15 and average=3.0</a:t>
            </a:r>
            <a:endParaRPr lang="en-US" sz="788" dirty="0"/>
          </a:p>
        </p:txBody>
      </p:sp>
      <p:sp>
        <p:nvSpPr>
          <p:cNvPr id="201" name="Shape 172"/>
          <p:cNvSpPr/>
          <p:nvPr/>
        </p:nvSpPr>
        <p:spPr>
          <a:xfrm>
            <a:off x="628650" y="16287750"/>
            <a:ext cx="7886700" cy="571500"/>
          </a:xfrm>
          <a:prstGeom prst="rect">
            <a:avLst/>
          </a:prstGeom>
          <a:solidFill>
            <a:srgbClr val="1E3A8A">
              <a:alpha val="30000"/>
            </a:srgbClr>
          </a:solidFill>
          <a:ln/>
        </p:spPr>
      </p:sp>
      <p:pic>
        <p:nvPicPr>
          <p:cNvPr id="202" name="Image 27" descr="preencoded.png">    </p:cNvPr>
          <p:cNvPicPr>
            <a:picLocks noChangeAspect="1"/>
          </p:cNvPicPr>
          <p:nvPr/>
        </p:nvPicPr>
        <p:blipFill>
          <a:blip r:embed="rId28"/>
          <a:stretch>
            <a:fillRect/>
          </a:stretch>
        </p:blipFill>
        <p:spPr>
          <a:xfrm>
            <a:off x="742950" y="16487775"/>
            <a:ext cx="171450" cy="171450"/>
          </a:xfrm>
          <a:prstGeom prst="rect">
            <a:avLst/>
          </a:prstGeom>
        </p:spPr>
      </p:pic>
      <p:sp>
        <p:nvSpPr>
          <p:cNvPr id="203" name="Text 173"/>
          <p:cNvSpPr/>
          <p:nvPr/>
        </p:nvSpPr>
        <p:spPr>
          <a:xfrm>
            <a:off x="1028700" y="16402050"/>
            <a:ext cx="7443788" cy="342900"/>
          </a:xfrm>
          <a:prstGeom prst="rect">
            <a:avLst/>
          </a:prstGeom>
          <a:noFill/>
          <a:ln/>
        </p:spPr>
        <p:txBody>
          <a:bodyPr wrap="square" lIns="0" tIns="0" rIns="0" bIns="0" rtlCol="0" anchor="ctr">
            <a:spAutoFit/>
          </a:bodyPr>
          <a:lstStyle/>
          <a:p>
            <a:pPr indent="0" marL="0">
              <a:buNone/>
            </a:pPr>
            <a:r>
              <a:rPr lang="en-US" sz="900" dirty="0">
                <a:solidFill>
                  <a:srgbClr val="F1F5F9"/>
                </a:solidFill>
                <a:latin typeface="Segoe UI" pitchFamily="34" charset="0"/>
                <a:ea typeface="Segoe UI" pitchFamily="34" charset="-122"/>
                <a:cs typeface="Segoe UI" pitchFamily="34" charset="-120"/>
              </a:rPr>
              <a:t>Debugging is an essential skill for every programmer. With practice, you'll become more efficient at finding and fixing bugs in your code. VS Code's debugging tools make this process much easier and more intuitive.</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24558427"/>
          </a:xfrm>
          <a:prstGeom prst="rect">
            <a:avLst/>
          </a:prstGeom>
        </p:spPr>
      </p:pic>
      <p:sp>
        <p:nvSpPr>
          <p:cNvPr id="3" name="Text 0"/>
          <p:cNvSpPr/>
          <p:nvPr/>
        </p:nvSpPr>
        <p:spPr>
          <a:xfrm>
            <a:off x="457200" y="455414"/>
            <a:ext cx="829149" cy="287536"/>
          </a:xfrm>
          <a:prstGeom prst="rect">
            <a:avLst/>
          </a:prstGeom>
          <a:noFill/>
          <a:ln/>
        </p:spPr>
        <p:txBody>
          <a:bodyPr wrap="none" lIns="0" tIns="0" rIns="0" bIns="0" rtlCol="0" anchor="ctr">
            <a:spAutoFit/>
          </a:bodyPr>
          <a:lstStyle/>
          <a:p>
            <a:pPr indent="0" marL="0">
              <a:buNone/>
            </a:pPr>
            <a:r>
              <a:rPr lang="en-US" sz="2025" b="1" dirty="0">
                <a:solidFill>
                  <a:srgbClr val="F1F5F9"/>
                </a:solidFill>
                <a:latin typeface="Segoe UI" pitchFamily="34" charset="0"/>
                <a:ea typeface="Segoe UI" pitchFamily="34" charset="-122"/>
                <a:cs typeface="Segoe UI" pitchFamily="34" charset="-120"/>
              </a:rPr>
              <a:t>Basic</a:t>
            </a:r>
            <a:endParaRPr lang="en-US" sz="2025" dirty="0"/>
          </a:p>
        </p:txBody>
      </p:sp>
      <p:sp>
        <p:nvSpPr>
          <p:cNvPr id="4" name="Text 1"/>
          <p:cNvSpPr/>
          <p:nvPr/>
        </p:nvSpPr>
        <p:spPr>
          <a:xfrm>
            <a:off x="1214912" y="455414"/>
            <a:ext cx="1558370" cy="287536"/>
          </a:xfrm>
          <a:prstGeom prst="rect">
            <a:avLst/>
          </a:prstGeom>
          <a:noFill/>
          <a:ln/>
        </p:spPr>
        <p:txBody>
          <a:bodyPr wrap="square" lIns="0" tIns="0" rIns="0" bIns="0" rtlCol="0" anchor="ctr">
            <a:spAutoFit/>
          </a:bodyPr>
          <a:lstStyle/>
          <a:p>
            <a:pPr indent="0" marL="0">
              <a:buNone/>
            </a:pPr>
            <a:r>
              <a:rPr lang="en-US" sz="2025" b="1" dirty="0">
                <a:solidFill>
                  <a:srgbClr val="60A5FA"/>
                </a:solidFill>
                <a:latin typeface="Segoe UI" pitchFamily="34" charset="0"/>
                <a:ea typeface="Segoe UI" pitchFamily="34" charset="-122"/>
                <a:cs typeface="Segoe UI" pitchFamily="34" charset="-120"/>
              </a:rPr>
              <a:t>Java Syntax</a:t>
            </a:r>
            <a:endParaRPr lang="en-US" sz="2025" dirty="0"/>
          </a:p>
        </p:txBody>
      </p:sp>
      <p:sp>
        <p:nvSpPr>
          <p:cNvPr id="5" name="Shape 2"/>
          <p:cNvSpPr/>
          <p:nvPr/>
        </p:nvSpPr>
        <p:spPr>
          <a:xfrm>
            <a:off x="457200" y="971550"/>
            <a:ext cx="4000500" cy="6807994"/>
          </a:xfrm>
          <a:prstGeom prst="rect">
            <a:avLst/>
          </a:prstGeom>
          <a:solidFill>
            <a:srgbClr val="FFFFFF">
              <a:alpha val="10000"/>
            </a:srgbClr>
          </a:solidFill>
          <a:ln w="99">
            <a:solidFill>
              <a:srgbClr val="60A5FA">
                <a:alpha val="30000"/>
              </a:srgbClr>
            </a:solidFill>
            <a:prstDash val="solid"/>
          </a:ln>
        </p:spPr>
      </p:sp>
      <p:sp>
        <p:nvSpPr>
          <p:cNvPr id="6" name="Text 3"/>
          <p:cNvSpPr/>
          <p:nvPr/>
        </p:nvSpPr>
        <p:spPr>
          <a:xfrm>
            <a:off x="628650" y="1143000"/>
            <a:ext cx="3729038" cy="228600"/>
          </a:xfrm>
          <a:prstGeom prst="rect">
            <a:avLst/>
          </a:prstGeom>
          <a:noFill/>
          <a:ln/>
        </p:spPr>
        <p:txBody>
          <a:bodyPr wrap="square" lIns="0" tIns="0" rIns="0" bIns="0" rtlCol="0" anchor="ctr">
            <a:spAutoFit/>
          </a:bodyPr>
          <a:lstStyle/>
          <a:p>
            <a:pPr indent="0" marL="0">
              <a:buNone/>
            </a:pPr>
            <a:r>
              <a:rPr lang="en-US" sz="1350" b="1" dirty="0">
                <a:solidFill>
                  <a:srgbClr val="BFDBFE"/>
                </a:solidFill>
                <a:latin typeface="Segoe UI" pitchFamily="34" charset="0"/>
                <a:ea typeface="Segoe UI" pitchFamily="34" charset="-122"/>
                <a:cs typeface="Segoe UI" pitchFamily="34" charset="-120"/>
              </a:rPr>
              <a:t>Variables and Data Types</a:t>
            </a:r>
            <a:endParaRPr lang="en-US" sz="1350" dirty="0"/>
          </a:p>
        </p:txBody>
      </p:sp>
      <p:sp>
        <p:nvSpPr>
          <p:cNvPr id="7" name="Shape 4"/>
          <p:cNvSpPr/>
          <p:nvPr/>
        </p:nvSpPr>
        <p:spPr>
          <a:xfrm>
            <a:off x="628650" y="1485900"/>
            <a:ext cx="3657600" cy="1107281"/>
          </a:xfrm>
          <a:prstGeom prst="rect">
            <a:avLst/>
          </a:prstGeom>
          <a:solidFill>
            <a:srgbClr val="1E3A8A">
              <a:alpha val="30000"/>
            </a:srgbClr>
          </a:solidFill>
          <a:ln/>
        </p:spPr>
      </p:sp>
      <p:sp>
        <p:nvSpPr>
          <p:cNvPr id="8" name="Shape 5"/>
          <p:cNvSpPr/>
          <p:nvPr/>
        </p:nvSpPr>
        <p:spPr>
          <a:xfrm>
            <a:off x="628650" y="1485900"/>
            <a:ext cx="28575" cy="1107281"/>
          </a:xfrm>
          <a:prstGeom prst="rect">
            <a:avLst/>
          </a:prstGeom>
          <a:solidFill>
            <a:srgbClr val="60A5FA"/>
          </a:solidFill>
          <a:ln/>
        </p:spPr>
      </p:sp>
      <p:sp>
        <p:nvSpPr>
          <p:cNvPr id="9" name="Text 6"/>
          <p:cNvSpPr/>
          <p:nvPr/>
        </p:nvSpPr>
        <p:spPr>
          <a:xfrm>
            <a:off x="742950" y="1571625"/>
            <a:ext cx="3614738" cy="200025"/>
          </a:xfrm>
          <a:prstGeom prst="rect">
            <a:avLst/>
          </a:prstGeom>
          <a:noFill/>
          <a:ln/>
        </p:spPr>
        <p:txBody>
          <a:bodyPr wrap="square" lIns="0" tIns="0" rIns="0" bIns="0" rtlCol="0" anchor="ctr">
            <a:spAutoFit/>
          </a:bodyPr>
          <a:lstStyle/>
          <a:p>
            <a:pPr indent="0" marL="0">
              <a:buNone/>
            </a:pPr>
            <a:r>
              <a:rPr lang="en-US" sz="1125" b="1" dirty="0">
                <a:solidFill>
                  <a:srgbClr val="F1F5F9"/>
                </a:solidFill>
                <a:latin typeface="Segoe UI" pitchFamily="34" charset="0"/>
                <a:ea typeface="Segoe UI" pitchFamily="34" charset="-122"/>
                <a:cs typeface="Segoe UI" pitchFamily="34" charset="-120"/>
              </a:rPr>
              <a:t>Primitive Data Types</a:t>
            </a:r>
            <a:endParaRPr lang="en-US" sz="1125" dirty="0"/>
          </a:p>
        </p:txBody>
      </p:sp>
      <p:sp>
        <p:nvSpPr>
          <p:cNvPr id="10" name="Text 7"/>
          <p:cNvSpPr/>
          <p:nvPr/>
        </p:nvSpPr>
        <p:spPr>
          <a:xfrm>
            <a:off x="742950" y="1800225"/>
            <a:ext cx="1814513" cy="142875"/>
          </a:xfrm>
          <a:prstGeom prst="rect">
            <a:avLst/>
          </a:prstGeom>
          <a:noFill/>
          <a:ln/>
        </p:spPr>
        <p:txBody>
          <a:bodyPr wrap="square" lIns="0" tIns="0" rIns="0" bIns="0" rtlCol="0" anchor="ctr">
            <a:spAutoFit/>
          </a:bodyPr>
          <a:lstStyle/>
          <a:p>
            <a:pPr indent="0" marL="0">
              <a:buNone/>
            </a:pPr>
            <a:r>
              <a:rPr lang="en-US" sz="788" b="1" dirty="0">
                <a:solidFill>
                  <a:srgbClr val="F1F5F9"/>
                </a:solidFill>
                <a:latin typeface="Segoe UI" pitchFamily="34" charset="0"/>
                <a:ea typeface="Segoe UI" pitchFamily="34" charset="-122"/>
                <a:cs typeface="Segoe UI" pitchFamily="34" charset="-120"/>
              </a:rPr>
              <a:t>Integer Types:</a:t>
            </a:r>
            <a:endParaRPr lang="en-US" sz="788" dirty="0"/>
          </a:p>
        </p:txBody>
      </p:sp>
      <p:sp>
        <p:nvSpPr>
          <p:cNvPr id="11" name="Text 8"/>
          <p:cNvSpPr/>
          <p:nvPr/>
        </p:nvSpPr>
        <p:spPr>
          <a:xfrm>
            <a:off x="742950" y="1957388"/>
            <a:ext cx="277211" cy="96441"/>
          </a:xfrm>
          <a:prstGeom prst="rect">
            <a:avLst/>
          </a:prstGeom>
          <a:noFill/>
          <a:ln/>
        </p:spPr>
        <p:txBody>
          <a:bodyPr wrap="none" lIns="0" tIns="0" rIns="0" bIns="0" rtlCol="0" anchor="ctr">
            <a:spAutoFit/>
          </a:bodyPr>
          <a:lstStyle/>
          <a:p>
            <a:pPr algn="l" indent="0" marL="0">
              <a:buNone/>
            </a:pPr>
            <a:r>
              <a:rPr lang="en-US" sz="675" dirty="0">
                <a:solidFill>
                  <a:srgbClr val="DBEAFE"/>
                </a:solidFill>
                <a:latin typeface="Consolas" pitchFamily="34" charset="0"/>
                <a:ea typeface="Consolas" pitchFamily="34" charset="-122"/>
                <a:cs typeface="Consolas" pitchFamily="34" charset="-120"/>
              </a:rPr>
              <a:t>byte</a:t>
            </a:r>
            <a:endParaRPr lang="en-US" sz="675" dirty="0"/>
          </a:p>
        </p:txBody>
      </p:sp>
      <p:sp>
        <p:nvSpPr>
          <p:cNvPr id="12" name="Text 9"/>
          <p:cNvSpPr/>
          <p:nvPr/>
        </p:nvSpPr>
        <p:spPr>
          <a:xfrm>
            <a:off x="948723" y="1952030"/>
            <a:ext cx="838609" cy="94655"/>
          </a:xfrm>
          <a:prstGeom prst="rect">
            <a:avLst/>
          </a:prstGeom>
          <a:noFill/>
          <a:ln/>
        </p:spPr>
        <p:txBody>
          <a:bodyPr wrap="none" lIns="0" tIns="0" rIns="0" bIns="0" rtlCol="0" anchor="ctr">
            <a:spAutoFit/>
          </a:bodyPr>
          <a:lstStyle/>
          <a:p>
            <a:pPr algn="l" indent="0" marL="0">
              <a:buNone/>
            </a:pPr>
            <a:r>
              <a:rPr lang="en-US" sz="675" dirty="0">
                <a:solidFill>
                  <a:srgbClr val="F1F5F9"/>
                </a:solidFill>
                <a:latin typeface="Segoe UI" pitchFamily="34" charset="0"/>
                <a:ea typeface="Segoe UI" pitchFamily="34" charset="-122"/>
                <a:cs typeface="Segoe UI" pitchFamily="34" charset="-120"/>
              </a:rPr>
              <a:t>: 8 bits (-128 to 127)</a:t>
            </a:r>
            <a:endParaRPr lang="en-US" sz="675" dirty="0"/>
          </a:p>
        </p:txBody>
      </p:sp>
      <p:sp>
        <p:nvSpPr>
          <p:cNvPr id="13" name="Text 10"/>
          <p:cNvSpPr/>
          <p:nvPr/>
        </p:nvSpPr>
        <p:spPr>
          <a:xfrm>
            <a:off x="742950" y="2105620"/>
            <a:ext cx="328668" cy="96441"/>
          </a:xfrm>
          <a:prstGeom prst="rect">
            <a:avLst/>
          </a:prstGeom>
          <a:noFill/>
          <a:ln/>
        </p:spPr>
        <p:txBody>
          <a:bodyPr wrap="none" lIns="0" tIns="0" rIns="0" bIns="0" rtlCol="0" anchor="ctr">
            <a:spAutoFit/>
          </a:bodyPr>
          <a:lstStyle/>
          <a:p>
            <a:pPr algn="l" indent="0" marL="0">
              <a:buNone/>
            </a:pPr>
            <a:r>
              <a:rPr lang="en-US" sz="675" dirty="0">
                <a:solidFill>
                  <a:srgbClr val="DBEAFE"/>
                </a:solidFill>
                <a:latin typeface="Consolas" pitchFamily="34" charset="0"/>
                <a:ea typeface="Consolas" pitchFamily="34" charset="-122"/>
                <a:cs typeface="Consolas" pitchFamily="34" charset="-120"/>
              </a:rPr>
              <a:t>short</a:t>
            </a:r>
            <a:endParaRPr lang="en-US" sz="675" dirty="0"/>
          </a:p>
        </p:txBody>
      </p:sp>
      <p:sp>
        <p:nvSpPr>
          <p:cNvPr id="14" name="Text 11"/>
          <p:cNvSpPr/>
          <p:nvPr/>
        </p:nvSpPr>
        <p:spPr>
          <a:xfrm>
            <a:off x="1000181" y="2100263"/>
            <a:ext cx="1124638" cy="94655"/>
          </a:xfrm>
          <a:prstGeom prst="rect">
            <a:avLst/>
          </a:prstGeom>
          <a:noFill/>
          <a:ln/>
        </p:spPr>
        <p:txBody>
          <a:bodyPr wrap="none" lIns="0" tIns="0" rIns="0" bIns="0" rtlCol="0" anchor="ctr">
            <a:spAutoFit/>
          </a:bodyPr>
          <a:lstStyle/>
          <a:p>
            <a:pPr algn="l" indent="0" marL="0">
              <a:buNone/>
            </a:pPr>
            <a:r>
              <a:rPr lang="en-US" sz="675" dirty="0">
                <a:solidFill>
                  <a:srgbClr val="F1F5F9"/>
                </a:solidFill>
                <a:latin typeface="Segoe UI" pitchFamily="34" charset="0"/>
                <a:ea typeface="Segoe UI" pitchFamily="34" charset="-122"/>
                <a:cs typeface="Segoe UI" pitchFamily="34" charset="-120"/>
              </a:rPr>
              <a:t>: 16 bits (-32,768 to 32,767)</a:t>
            </a:r>
            <a:endParaRPr lang="en-US" sz="675" dirty="0"/>
          </a:p>
        </p:txBody>
      </p:sp>
      <p:sp>
        <p:nvSpPr>
          <p:cNvPr id="15" name="Text 12"/>
          <p:cNvSpPr/>
          <p:nvPr/>
        </p:nvSpPr>
        <p:spPr>
          <a:xfrm>
            <a:off x="742950" y="2253853"/>
            <a:ext cx="225782" cy="96441"/>
          </a:xfrm>
          <a:prstGeom prst="rect">
            <a:avLst/>
          </a:prstGeom>
          <a:noFill/>
          <a:ln/>
        </p:spPr>
        <p:txBody>
          <a:bodyPr wrap="none" lIns="0" tIns="0" rIns="0" bIns="0" rtlCol="0" anchor="ctr">
            <a:spAutoFit/>
          </a:bodyPr>
          <a:lstStyle/>
          <a:p>
            <a:pPr algn="l" indent="0" marL="0">
              <a:buNone/>
            </a:pPr>
            <a:r>
              <a:rPr lang="en-US" sz="675" dirty="0">
                <a:solidFill>
                  <a:srgbClr val="DBEAFE"/>
                </a:solidFill>
                <a:latin typeface="Consolas" pitchFamily="34" charset="0"/>
                <a:ea typeface="Consolas" pitchFamily="34" charset="-122"/>
                <a:cs typeface="Consolas" pitchFamily="34" charset="-120"/>
              </a:rPr>
              <a:t>int</a:t>
            </a:r>
            <a:endParaRPr lang="en-US" sz="675" dirty="0"/>
          </a:p>
        </p:txBody>
      </p:sp>
      <p:sp>
        <p:nvSpPr>
          <p:cNvPr id="16" name="Text 13"/>
          <p:cNvSpPr/>
          <p:nvPr/>
        </p:nvSpPr>
        <p:spPr>
          <a:xfrm>
            <a:off x="897294" y="2248495"/>
            <a:ext cx="790305" cy="94655"/>
          </a:xfrm>
          <a:prstGeom prst="rect">
            <a:avLst/>
          </a:prstGeom>
          <a:noFill/>
          <a:ln/>
        </p:spPr>
        <p:txBody>
          <a:bodyPr wrap="none" lIns="0" tIns="0" rIns="0" bIns="0" rtlCol="0" anchor="ctr">
            <a:spAutoFit/>
          </a:bodyPr>
          <a:lstStyle/>
          <a:p>
            <a:pPr algn="l" indent="0" marL="0">
              <a:buNone/>
            </a:pPr>
            <a:r>
              <a:rPr lang="en-US" sz="675" dirty="0">
                <a:solidFill>
                  <a:srgbClr val="F1F5F9"/>
                </a:solidFill>
                <a:latin typeface="Segoe UI" pitchFamily="34" charset="0"/>
                <a:ea typeface="Segoe UI" pitchFamily="34" charset="-122"/>
                <a:cs typeface="Segoe UI" pitchFamily="34" charset="-120"/>
              </a:rPr>
              <a:t>: 32 bits (±2 billion)</a:t>
            </a:r>
            <a:endParaRPr lang="en-US" sz="675" dirty="0"/>
          </a:p>
        </p:txBody>
      </p:sp>
      <p:sp>
        <p:nvSpPr>
          <p:cNvPr id="17" name="Text 14"/>
          <p:cNvSpPr/>
          <p:nvPr/>
        </p:nvSpPr>
        <p:spPr>
          <a:xfrm>
            <a:off x="742950" y="2402086"/>
            <a:ext cx="277211" cy="96441"/>
          </a:xfrm>
          <a:prstGeom prst="rect">
            <a:avLst/>
          </a:prstGeom>
          <a:noFill/>
          <a:ln/>
        </p:spPr>
        <p:txBody>
          <a:bodyPr wrap="none" lIns="0" tIns="0" rIns="0" bIns="0" rtlCol="0" anchor="ctr">
            <a:spAutoFit/>
          </a:bodyPr>
          <a:lstStyle/>
          <a:p>
            <a:pPr algn="l" indent="0" marL="0">
              <a:buNone/>
            </a:pPr>
            <a:r>
              <a:rPr lang="en-US" sz="675" dirty="0">
                <a:solidFill>
                  <a:srgbClr val="DBEAFE"/>
                </a:solidFill>
                <a:latin typeface="Consolas" pitchFamily="34" charset="0"/>
                <a:ea typeface="Consolas" pitchFamily="34" charset="-122"/>
                <a:cs typeface="Consolas" pitchFamily="34" charset="-120"/>
              </a:rPr>
              <a:t>long</a:t>
            </a:r>
            <a:endParaRPr lang="en-US" sz="675" dirty="0"/>
          </a:p>
        </p:txBody>
      </p:sp>
      <p:sp>
        <p:nvSpPr>
          <p:cNvPr id="18" name="Text 15"/>
          <p:cNvSpPr/>
          <p:nvPr/>
        </p:nvSpPr>
        <p:spPr>
          <a:xfrm>
            <a:off x="948723" y="2396728"/>
            <a:ext cx="928520" cy="94655"/>
          </a:xfrm>
          <a:prstGeom prst="rect">
            <a:avLst/>
          </a:prstGeom>
          <a:noFill/>
          <a:ln/>
        </p:spPr>
        <p:txBody>
          <a:bodyPr wrap="none" lIns="0" tIns="0" rIns="0" bIns="0" rtlCol="0" anchor="ctr">
            <a:spAutoFit/>
          </a:bodyPr>
          <a:lstStyle/>
          <a:p>
            <a:pPr algn="l" indent="0" marL="0">
              <a:buNone/>
            </a:pPr>
            <a:r>
              <a:rPr lang="en-US" sz="675" dirty="0">
                <a:solidFill>
                  <a:srgbClr val="F1F5F9"/>
                </a:solidFill>
                <a:latin typeface="Segoe UI" pitchFamily="34" charset="0"/>
                <a:ea typeface="Segoe UI" pitchFamily="34" charset="-122"/>
                <a:cs typeface="Segoe UI" pitchFamily="34" charset="-120"/>
              </a:rPr>
              <a:t>: 64 bits (±9 quintillion)</a:t>
            </a:r>
            <a:endParaRPr lang="en-US" sz="675" dirty="0"/>
          </a:p>
        </p:txBody>
      </p:sp>
      <p:sp>
        <p:nvSpPr>
          <p:cNvPr id="19" name="Text 16"/>
          <p:cNvSpPr/>
          <p:nvPr/>
        </p:nvSpPr>
        <p:spPr>
          <a:xfrm>
            <a:off x="2543175" y="1800225"/>
            <a:ext cx="1814513" cy="142875"/>
          </a:xfrm>
          <a:prstGeom prst="rect">
            <a:avLst/>
          </a:prstGeom>
          <a:noFill/>
          <a:ln/>
        </p:spPr>
        <p:txBody>
          <a:bodyPr wrap="square" lIns="0" tIns="0" rIns="0" bIns="0" rtlCol="0" anchor="ctr">
            <a:spAutoFit/>
          </a:bodyPr>
          <a:lstStyle/>
          <a:p>
            <a:pPr indent="0" marL="0">
              <a:buNone/>
            </a:pPr>
            <a:r>
              <a:rPr lang="en-US" sz="788" b="1" dirty="0">
                <a:solidFill>
                  <a:srgbClr val="F1F5F9"/>
                </a:solidFill>
                <a:latin typeface="Segoe UI" pitchFamily="34" charset="0"/>
                <a:ea typeface="Segoe UI" pitchFamily="34" charset="-122"/>
                <a:cs typeface="Segoe UI" pitchFamily="34" charset="-120"/>
              </a:rPr>
              <a:t>Other Types:</a:t>
            </a:r>
            <a:endParaRPr lang="en-US" sz="788" dirty="0"/>
          </a:p>
        </p:txBody>
      </p:sp>
      <p:sp>
        <p:nvSpPr>
          <p:cNvPr id="20" name="Text 17"/>
          <p:cNvSpPr/>
          <p:nvPr/>
        </p:nvSpPr>
        <p:spPr>
          <a:xfrm>
            <a:off x="2543175" y="1957388"/>
            <a:ext cx="328668" cy="96441"/>
          </a:xfrm>
          <a:prstGeom prst="rect">
            <a:avLst/>
          </a:prstGeom>
          <a:noFill/>
          <a:ln/>
        </p:spPr>
        <p:txBody>
          <a:bodyPr wrap="none" lIns="0" tIns="0" rIns="0" bIns="0" rtlCol="0" anchor="ctr">
            <a:spAutoFit/>
          </a:bodyPr>
          <a:lstStyle/>
          <a:p>
            <a:pPr algn="l" indent="0" marL="0">
              <a:buNone/>
            </a:pPr>
            <a:r>
              <a:rPr lang="en-US" sz="675" dirty="0">
                <a:solidFill>
                  <a:srgbClr val="DBEAFE"/>
                </a:solidFill>
                <a:latin typeface="Consolas" pitchFamily="34" charset="0"/>
                <a:ea typeface="Consolas" pitchFamily="34" charset="-122"/>
                <a:cs typeface="Consolas" pitchFamily="34" charset="-120"/>
              </a:rPr>
              <a:t>float</a:t>
            </a:r>
            <a:endParaRPr lang="en-US" sz="675" dirty="0"/>
          </a:p>
        </p:txBody>
      </p:sp>
      <p:sp>
        <p:nvSpPr>
          <p:cNvPr id="21" name="Text 18"/>
          <p:cNvSpPr/>
          <p:nvPr/>
        </p:nvSpPr>
        <p:spPr>
          <a:xfrm>
            <a:off x="2800406" y="1952030"/>
            <a:ext cx="843465" cy="94655"/>
          </a:xfrm>
          <a:prstGeom prst="rect">
            <a:avLst/>
          </a:prstGeom>
          <a:noFill/>
          <a:ln/>
        </p:spPr>
        <p:txBody>
          <a:bodyPr wrap="none" lIns="0" tIns="0" rIns="0" bIns="0" rtlCol="0" anchor="ctr">
            <a:spAutoFit/>
          </a:bodyPr>
          <a:lstStyle/>
          <a:p>
            <a:pPr algn="l" indent="0" marL="0">
              <a:buNone/>
            </a:pPr>
            <a:r>
              <a:rPr lang="en-US" sz="675" dirty="0">
                <a:solidFill>
                  <a:srgbClr val="F1F5F9"/>
                </a:solidFill>
                <a:latin typeface="Segoe UI" pitchFamily="34" charset="0"/>
                <a:ea typeface="Segoe UI" pitchFamily="34" charset="-122"/>
                <a:cs typeface="Segoe UI" pitchFamily="34" charset="-120"/>
              </a:rPr>
              <a:t>: 32-bit floating point</a:t>
            </a:r>
            <a:endParaRPr lang="en-US" sz="675" dirty="0"/>
          </a:p>
        </p:txBody>
      </p:sp>
      <p:sp>
        <p:nvSpPr>
          <p:cNvPr id="22" name="Text 19"/>
          <p:cNvSpPr/>
          <p:nvPr/>
        </p:nvSpPr>
        <p:spPr>
          <a:xfrm>
            <a:off x="2543175" y="2105620"/>
            <a:ext cx="380098" cy="96441"/>
          </a:xfrm>
          <a:prstGeom prst="rect">
            <a:avLst/>
          </a:prstGeom>
          <a:noFill/>
          <a:ln/>
        </p:spPr>
        <p:txBody>
          <a:bodyPr wrap="none" lIns="0" tIns="0" rIns="0" bIns="0" rtlCol="0" anchor="ctr">
            <a:spAutoFit/>
          </a:bodyPr>
          <a:lstStyle/>
          <a:p>
            <a:pPr algn="l" indent="0" marL="0">
              <a:buNone/>
            </a:pPr>
            <a:r>
              <a:rPr lang="en-US" sz="675" dirty="0">
                <a:solidFill>
                  <a:srgbClr val="DBEAFE"/>
                </a:solidFill>
                <a:latin typeface="Consolas" pitchFamily="34" charset="0"/>
                <a:ea typeface="Consolas" pitchFamily="34" charset="-122"/>
                <a:cs typeface="Consolas" pitchFamily="34" charset="-120"/>
              </a:rPr>
              <a:t>double</a:t>
            </a:r>
            <a:endParaRPr lang="en-US" sz="675" dirty="0"/>
          </a:p>
        </p:txBody>
      </p:sp>
      <p:sp>
        <p:nvSpPr>
          <p:cNvPr id="23" name="Text 20"/>
          <p:cNvSpPr/>
          <p:nvPr/>
        </p:nvSpPr>
        <p:spPr>
          <a:xfrm>
            <a:off x="2851835" y="2100263"/>
            <a:ext cx="843465" cy="94655"/>
          </a:xfrm>
          <a:prstGeom prst="rect">
            <a:avLst/>
          </a:prstGeom>
          <a:noFill/>
          <a:ln/>
        </p:spPr>
        <p:txBody>
          <a:bodyPr wrap="none" lIns="0" tIns="0" rIns="0" bIns="0" rtlCol="0" anchor="ctr">
            <a:spAutoFit/>
          </a:bodyPr>
          <a:lstStyle/>
          <a:p>
            <a:pPr algn="l" indent="0" marL="0">
              <a:buNone/>
            </a:pPr>
            <a:r>
              <a:rPr lang="en-US" sz="675" dirty="0">
                <a:solidFill>
                  <a:srgbClr val="F1F5F9"/>
                </a:solidFill>
                <a:latin typeface="Segoe UI" pitchFamily="34" charset="0"/>
                <a:ea typeface="Segoe UI" pitchFamily="34" charset="-122"/>
                <a:cs typeface="Segoe UI" pitchFamily="34" charset="-120"/>
              </a:rPr>
              <a:t>: 64-bit floating point</a:t>
            </a:r>
            <a:endParaRPr lang="en-US" sz="675" dirty="0"/>
          </a:p>
        </p:txBody>
      </p:sp>
      <p:sp>
        <p:nvSpPr>
          <p:cNvPr id="24" name="Text 21"/>
          <p:cNvSpPr/>
          <p:nvPr/>
        </p:nvSpPr>
        <p:spPr>
          <a:xfrm>
            <a:off x="2543175" y="2253853"/>
            <a:ext cx="277211" cy="96441"/>
          </a:xfrm>
          <a:prstGeom prst="rect">
            <a:avLst/>
          </a:prstGeom>
          <a:noFill/>
          <a:ln/>
        </p:spPr>
        <p:txBody>
          <a:bodyPr wrap="none" lIns="0" tIns="0" rIns="0" bIns="0" rtlCol="0" anchor="ctr">
            <a:spAutoFit/>
          </a:bodyPr>
          <a:lstStyle/>
          <a:p>
            <a:pPr algn="l" indent="0" marL="0">
              <a:buNone/>
            </a:pPr>
            <a:r>
              <a:rPr lang="en-US" sz="675" dirty="0">
                <a:solidFill>
                  <a:srgbClr val="DBEAFE"/>
                </a:solidFill>
                <a:latin typeface="Consolas" pitchFamily="34" charset="0"/>
                <a:ea typeface="Consolas" pitchFamily="34" charset="-122"/>
                <a:cs typeface="Consolas" pitchFamily="34" charset="-120"/>
              </a:rPr>
              <a:t>char</a:t>
            </a:r>
            <a:endParaRPr lang="en-US" sz="675" dirty="0"/>
          </a:p>
        </p:txBody>
      </p:sp>
      <p:sp>
        <p:nvSpPr>
          <p:cNvPr id="25" name="Text 22"/>
          <p:cNvSpPr/>
          <p:nvPr/>
        </p:nvSpPr>
        <p:spPr>
          <a:xfrm>
            <a:off x="2748948" y="2248495"/>
            <a:ext cx="1053005" cy="94655"/>
          </a:xfrm>
          <a:prstGeom prst="rect">
            <a:avLst/>
          </a:prstGeom>
          <a:noFill/>
          <a:ln/>
        </p:spPr>
        <p:txBody>
          <a:bodyPr wrap="none" lIns="0" tIns="0" rIns="0" bIns="0" rtlCol="0" anchor="ctr">
            <a:spAutoFit/>
          </a:bodyPr>
          <a:lstStyle/>
          <a:p>
            <a:pPr algn="l" indent="0" marL="0">
              <a:buNone/>
            </a:pPr>
            <a:r>
              <a:rPr lang="en-US" sz="675" dirty="0">
                <a:solidFill>
                  <a:srgbClr val="F1F5F9"/>
                </a:solidFill>
                <a:latin typeface="Segoe UI" pitchFamily="34" charset="0"/>
                <a:ea typeface="Segoe UI" pitchFamily="34" charset="-122"/>
                <a:cs typeface="Segoe UI" pitchFamily="34" charset="-120"/>
              </a:rPr>
              <a:t>: 16-bit Unicode character</a:t>
            </a:r>
            <a:endParaRPr lang="en-US" sz="675" dirty="0"/>
          </a:p>
        </p:txBody>
      </p:sp>
      <p:sp>
        <p:nvSpPr>
          <p:cNvPr id="26" name="Text 23"/>
          <p:cNvSpPr/>
          <p:nvPr/>
        </p:nvSpPr>
        <p:spPr>
          <a:xfrm>
            <a:off x="2543175" y="2402086"/>
            <a:ext cx="431555" cy="96441"/>
          </a:xfrm>
          <a:prstGeom prst="rect">
            <a:avLst/>
          </a:prstGeom>
          <a:noFill/>
          <a:ln/>
        </p:spPr>
        <p:txBody>
          <a:bodyPr wrap="none" lIns="0" tIns="0" rIns="0" bIns="0" rtlCol="0" anchor="ctr">
            <a:spAutoFit/>
          </a:bodyPr>
          <a:lstStyle/>
          <a:p>
            <a:pPr algn="l" indent="0" marL="0">
              <a:buNone/>
            </a:pPr>
            <a:r>
              <a:rPr lang="en-US" sz="675" dirty="0">
                <a:solidFill>
                  <a:srgbClr val="DBEAFE"/>
                </a:solidFill>
                <a:latin typeface="Consolas" pitchFamily="34" charset="0"/>
                <a:ea typeface="Consolas" pitchFamily="34" charset="-122"/>
                <a:cs typeface="Consolas" pitchFamily="34" charset="-120"/>
              </a:rPr>
              <a:t>boolean</a:t>
            </a:r>
            <a:endParaRPr lang="en-US" sz="675" dirty="0"/>
          </a:p>
        </p:txBody>
      </p:sp>
      <p:sp>
        <p:nvSpPr>
          <p:cNvPr id="27" name="Text 24"/>
          <p:cNvSpPr/>
          <p:nvPr/>
        </p:nvSpPr>
        <p:spPr>
          <a:xfrm>
            <a:off x="2903293" y="2396728"/>
            <a:ext cx="571723" cy="94655"/>
          </a:xfrm>
          <a:prstGeom prst="rect">
            <a:avLst/>
          </a:prstGeom>
          <a:noFill/>
          <a:ln/>
        </p:spPr>
        <p:txBody>
          <a:bodyPr wrap="none" lIns="0" tIns="0" rIns="0" bIns="0" rtlCol="0" anchor="ctr">
            <a:spAutoFit/>
          </a:bodyPr>
          <a:lstStyle/>
          <a:p>
            <a:pPr algn="l" indent="0" marL="0">
              <a:buNone/>
            </a:pPr>
            <a:r>
              <a:rPr lang="en-US" sz="675" dirty="0">
                <a:solidFill>
                  <a:srgbClr val="F1F5F9"/>
                </a:solidFill>
                <a:latin typeface="Segoe UI" pitchFamily="34" charset="0"/>
                <a:ea typeface="Segoe UI" pitchFamily="34" charset="-122"/>
                <a:cs typeface="Segoe UI" pitchFamily="34" charset="-120"/>
              </a:rPr>
              <a:t>: true or false</a:t>
            </a:r>
            <a:endParaRPr lang="en-US" sz="675" dirty="0"/>
          </a:p>
        </p:txBody>
      </p:sp>
      <p:sp>
        <p:nvSpPr>
          <p:cNvPr id="28" name="Shape 25"/>
          <p:cNvSpPr/>
          <p:nvPr/>
        </p:nvSpPr>
        <p:spPr>
          <a:xfrm>
            <a:off x="628650" y="2707481"/>
            <a:ext cx="3657600" cy="2471738"/>
          </a:xfrm>
          <a:prstGeom prst="rect">
            <a:avLst/>
          </a:prstGeom>
          <a:solidFill>
            <a:srgbClr val="1E3A8A">
              <a:alpha val="30000"/>
            </a:srgbClr>
          </a:solidFill>
          <a:ln/>
        </p:spPr>
      </p:sp>
      <p:sp>
        <p:nvSpPr>
          <p:cNvPr id="29" name="Shape 26"/>
          <p:cNvSpPr/>
          <p:nvPr/>
        </p:nvSpPr>
        <p:spPr>
          <a:xfrm>
            <a:off x="628650" y="2707481"/>
            <a:ext cx="28575" cy="2471738"/>
          </a:xfrm>
          <a:prstGeom prst="rect">
            <a:avLst/>
          </a:prstGeom>
          <a:solidFill>
            <a:srgbClr val="60A5FA"/>
          </a:solidFill>
          <a:ln/>
        </p:spPr>
      </p:sp>
      <p:sp>
        <p:nvSpPr>
          <p:cNvPr id="30" name="Text 27"/>
          <p:cNvSpPr/>
          <p:nvPr/>
        </p:nvSpPr>
        <p:spPr>
          <a:xfrm>
            <a:off x="742950" y="2793206"/>
            <a:ext cx="3614738" cy="200025"/>
          </a:xfrm>
          <a:prstGeom prst="rect">
            <a:avLst/>
          </a:prstGeom>
          <a:noFill/>
          <a:ln/>
        </p:spPr>
        <p:txBody>
          <a:bodyPr wrap="square" lIns="0" tIns="0" rIns="0" bIns="0" rtlCol="0" anchor="ctr">
            <a:spAutoFit/>
          </a:bodyPr>
          <a:lstStyle/>
          <a:p>
            <a:pPr indent="0" marL="0">
              <a:buNone/>
            </a:pPr>
            <a:r>
              <a:rPr lang="en-US" sz="1125" b="1" dirty="0">
                <a:solidFill>
                  <a:srgbClr val="F1F5F9"/>
                </a:solidFill>
                <a:latin typeface="Segoe UI" pitchFamily="34" charset="0"/>
                <a:ea typeface="Segoe UI" pitchFamily="34" charset="-122"/>
                <a:cs typeface="Segoe UI" pitchFamily="34" charset="-120"/>
              </a:rPr>
              <a:t>Variable Declaration</a:t>
            </a:r>
            <a:endParaRPr lang="en-US" sz="1125" dirty="0"/>
          </a:p>
        </p:txBody>
      </p:sp>
      <p:sp>
        <p:nvSpPr>
          <p:cNvPr id="31" name="Shape 28"/>
          <p:cNvSpPr/>
          <p:nvPr/>
        </p:nvSpPr>
        <p:spPr>
          <a:xfrm>
            <a:off x="742950" y="3021806"/>
            <a:ext cx="3543300" cy="2071688"/>
          </a:xfrm>
          <a:prstGeom prst="rect">
            <a:avLst/>
          </a:prstGeom>
          <a:solidFill>
            <a:srgbClr val="1E293B">
              <a:alpha val="80000"/>
            </a:srgbClr>
          </a:solidFill>
          <a:ln w="99">
            <a:solidFill>
              <a:srgbClr val="60A5FA">
                <a:alpha val="30000"/>
              </a:srgbClr>
            </a:solidFill>
            <a:prstDash val="solid"/>
          </a:ln>
        </p:spPr>
      </p:sp>
      <p:sp>
        <p:nvSpPr>
          <p:cNvPr id="32" name="Text 29"/>
          <p:cNvSpPr/>
          <p:nvPr/>
        </p:nvSpPr>
        <p:spPr>
          <a:xfrm>
            <a:off x="828675" y="3162895"/>
            <a:ext cx="791645" cy="96441"/>
          </a:xfrm>
          <a:prstGeom prst="rect">
            <a:avLst/>
          </a:prstGeom>
          <a:noFill/>
          <a:ln/>
        </p:spPr>
        <p:txBody>
          <a:bodyPr wrap="none" lIns="0" tIns="0" rIns="0" bIns="0" rtlCol="0" anchor="ctr">
            <a:spAutoFit/>
          </a:bodyPr>
          <a:lstStyle/>
          <a:p>
            <a:pPr indent="0" marL="0">
              <a:buNone/>
            </a:pPr>
            <a:r>
              <a:rPr lang="en-US" sz="675" dirty="0">
                <a:solidFill>
                  <a:srgbClr val="DBEAFE"/>
                </a:solidFill>
                <a:latin typeface="Consolas" pitchFamily="34" charset="0"/>
                <a:ea typeface="Consolas" pitchFamily="34" charset="-122"/>
                <a:cs typeface="Consolas" pitchFamily="34" charset="-120"/>
              </a:rPr>
              <a:t>// Declaration</a:t>
            </a:r>
            <a:endParaRPr lang="en-US" sz="675" dirty="0"/>
          </a:p>
        </p:txBody>
      </p:sp>
      <p:sp>
        <p:nvSpPr>
          <p:cNvPr id="33" name="Text 30"/>
          <p:cNvSpPr/>
          <p:nvPr/>
        </p:nvSpPr>
        <p:spPr>
          <a:xfrm>
            <a:off x="828675" y="3334345"/>
            <a:ext cx="482984" cy="96441"/>
          </a:xfrm>
          <a:prstGeom prst="rect">
            <a:avLst/>
          </a:prstGeom>
          <a:noFill/>
          <a:ln/>
        </p:spPr>
        <p:txBody>
          <a:bodyPr wrap="none" lIns="0" tIns="0" rIns="0" bIns="0" rtlCol="0" anchor="ctr">
            <a:spAutoFit/>
          </a:bodyPr>
          <a:lstStyle/>
          <a:p>
            <a:pPr indent="0" marL="0">
              <a:buNone/>
            </a:pPr>
            <a:r>
              <a:rPr lang="en-US" sz="675" dirty="0">
                <a:solidFill>
                  <a:srgbClr val="DBEAFE"/>
                </a:solidFill>
                <a:latin typeface="Consolas" pitchFamily="34" charset="0"/>
                <a:ea typeface="Consolas" pitchFamily="34" charset="-122"/>
                <a:cs typeface="Consolas" pitchFamily="34" charset="-120"/>
              </a:rPr>
              <a:t>int age;</a:t>
            </a:r>
            <a:endParaRPr lang="en-US" sz="675" dirty="0"/>
          </a:p>
        </p:txBody>
      </p:sp>
      <p:sp>
        <p:nvSpPr>
          <p:cNvPr id="34" name="Text 31"/>
          <p:cNvSpPr/>
          <p:nvPr/>
        </p:nvSpPr>
        <p:spPr>
          <a:xfrm>
            <a:off x="828675" y="3505795"/>
            <a:ext cx="791645" cy="96441"/>
          </a:xfrm>
          <a:prstGeom prst="rect">
            <a:avLst/>
          </a:prstGeom>
          <a:noFill/>
          <a:ln/>
        </p:spPr>
        <p:txBody>
          <a:bodyPr wrap="none" lIns="0" tIns="0" rIns="0" bIns="0" rtlCol="0" anchor="ctr">
            <a:spAutoFit/>
          </a:bodyPr>
          <a:lstStyle/>
          <a:p>
            <a:pPr indent="0" marL="0">
              <a:buNone/>
            </a:pPr>
            <a:r>
              <a:rPr lang="en-US" sz="675" dirty="0">
                <a:solidFill>
                  <a:srgbClr val="DBEAFE"/>
                </a:solidFill>
                <a:latin typeface="Consolas" pitchFamily="34" charset="0"/>
                <a:ea typeface="Consolas" pitchFamily="34" charset="-122"/>
                <a:cs typeface="Consolas" pitchFamily="34" charset="-120"/>
              </a:rPr>
              <a:t>double salary;</a:t>
            </a:r>
            <a:endParaRPr lang="en-US" sz="675" dirty="0"/>
          </a:p>
        </p:txBody>
      </p:sp>
      <p:sp>
        <p:nvSpPr>
          <p:cNvPr id="35" name="Text 32"/>
          <p:cNvSpPr/>
          <p:nvPr/>
        </p:nvSpPr>
        <p:spPr>
          <a:xfrm>
            <a:off x="828675" y="3677245"/>
            <a:ext cx="997418" cy="96441"/>
          </a:xfrm>
          <a:prstGeom prst="rect">
            <a:avLst/>
          </a:prstGeom>
          <a:noFill/>
          <a:ln/>
        </p:spPr>
        <p:txBody>
          <a:bodyPr wrap="none" lIns="0" tIns="0" rIns="0" bIns="0" rtlCol="0" anchor="ctr">
            <a:spAutoFit/>
          </a:bodyPr>
          <a:lstStyle/>
          <a:p>
            <a:pPr indent="0" marL="0">
              <a:buNone/>
            </a:pPr>
            <a:r>
              <a:rPr lang="en-US" sz="675" dirty="0">
                <a:solidFill>
                  <a:srgbClr val="DBEAFE"/>
                </a:solidFill>
                <a:latin typeface="Consolas" pitchFamily="34" charset="0"/>
                <a:ea typeface="Consolas" pitchFamily="34" charset="-122"/>
                <a:cs typeface="Consolas" pitchFamily="34" charset="-120"/>
              </a:rPr>
              <a:t>boolean isStudent;</a:t>
            </a:r>
            <a:endParaRPr lang="en-US" sz="675" dirty="0"/>
          </a:p>
        </p:txBody>
      </p:sp>
      <p:sp>
        <p:nvSpPr>
          <p:cNvPr id="36" name="Text 33"/>
          <p:cNvSpPr/>
          <p:nvPr/>
        </p:nvSpPr>
        <p:spPr>
          <a:xfrm>
            <a:off x="828675" y="4020145"/>
            <a:ext cx="1820512" cy="96441"/>
          </a:xfrm>
          <a:prstGeom prst="rect">
            <a:avLst/>
          </a:prstGeom>
          <a:noFill/>
          <a:ln/>
        </p:spPr>
        <p:txBody>
          <a:bodyPr wrap="square" lIns="0" tIns="0" rIns="0" bIns="0" rtlCol="0" anchor="ctr">
            <a:spAutoFit/>
          </a:bodyPr>
          <a:lstStyle/>
          <a:p>
            <a:pPr indent="0" marL="0">
              <a:buNone/>
            </a:pPr>
            <a:r>
              <a:rPr lang="en-US" sz="675" dirty="0">
                <a:solidFill>
                  <a:srgbClr val="DBEAFE"/>
                </a:solidFill>
                <a:latin typeface="Consolas" pitchFamily="34" charset="0"/>
                <a:ea typeface="Consolas" pitchFamily="34" charset="-122"/>
                <a:cs typeface="Consolas" pitchFamily="34" charset="-120"/>
              </a:rPr>
              <a:t>// Declaration with initialization</a:t>
            </a:r>
            <a:endParaRPr lang="en-US" sz="675" dirty="0"/>
          </a:p>
        </p:txBody>
      </p:sp>
      <p:sp>
        <p:nvSpPr>
          <p:cNvPr id="37" name="Text 34"/>
          <p:cNvSpPr/>
          <p:nvPr/>
        </p:nvSpPr>
        <p:spPr>
          <a:xfrm>
            <a:off x="828675" y="4191595"/>
            <a:ext cx="740215" cy="96441"/>
          </a:xfrm>
          <a:prstGeom prst="rect">
            <a:avLst/>
          </a:prstGeom>
          <a:noFill/>
          <a:ln/>
        </p:spPr>
        <p:txBody>
          <a:bodyPr wrap="none" lIns="0" tIns="0" rIns="0" bIns="0" rtlCol="0" anchor="ctr">
            <a:spAutoFit/>
          </a:bodyPr>
          <a:lstStyle/>
          <a:p>
            <a:pPr indent="0" marL="0">
              <a:buNone/>
            </a:pPr>
            <a:r>
              <a:rPr lang="en-US" sz="675" dirty="0">
                <a:solidFill>
                  <a:srgbClr val="DBEAFE"/>
                </a:solidFill>
                <a:latin typeface="Consolas" pitchFamily="34" charset="0"/>
                <a:ea typeface="Consolas" pitchFamily="34" charset="-122"/>
                <a:cs typeface="Consolas" pitchFamily="34" charset="-120"/>
              </a:rPr>
              <a:t>int age = 25;</a:t>
            </a:r>
            <a:endParaRPr lang="en-US" sz="675" dirty="0"/>
          </a:p>
        </p:txBody>
      </p:sp>
      <p:sp>
        <p:nvSpPr>
          <p:cNvPr id="38" name="Text 35"/>
          <p:cNvSpPr/>
          <p:nvPr/>
        </p:nvSpPr>
        <p:spPr>
          <a:xfrm>
            <a:off x="828675" y="4363045"/>
            <a:ext cx="1357536" cy="96441"/>
          </a:xfrm>
          <a:prstGeom prst="rect">
            <a:avLst/>
          </a:prstGeom>
          <a:noFill/>
          <a:ln/>
        </p:spPr>
        <p:txBody>
          <a:bodyPr wrap="square" lIns="0" tIns="0" rIns="0" bIns="0" rtlCol="0" anchor="ctr">
            <a:spAutoFit/>
          </a:bodyPr>
          <a:lstStyle/>
          <a:p>
            <a:pPr indent="0" marL="0">
              <a:buNone/>
            </a:pPr>
            <a:r>
              <a:rPr lang="en-US" sz="675" dirty="0">
                <a:solidFill>
                  <a:srgbClr val="DBEAFE"/>
                </a:solidFill>
                <a:latin typeface="Consolas" pitchFamily="34" charset="0"/>
                <a:ea typeface="Consolas" pitchFamily="34" charset="-122"/>
                <a:cs typeface="Consolas" pitchFamily="34" charset="-120"/>
              </a:rPr>
              <a:t>double salary = 50000.50;</a:t>
            </a:r>
            <a:endParaRPr lang="en-US" sz="675" dirty="0"/>
          </a:p>
        </p:txBody>
      </p:sp>
      <p:sp>
        <p:nvSpPr>
          <p:cNvPr id="39" name="Text 36"/>
          <p:cNvSpPr/>
          <p:nvPr/>
        </p:nvSpPr>
        <p:spPr>
          <a:xfrm>
            <a:off x="828675" y="4534495"/>
            <a:ext cx="1357536" cy="96441"/>
          </a:xfrm>
          <a:prstGeom prst="rect">
            <a:avLst/>
          </a:prstGeom>
          <a:noFill/>
          <a:ln/>
        </p:spPr>
        <p:txBody>
          <a:bodyPr wrap="square" lIns="0" tIns="0" rIns="0" bIns="0" rtlCol="0" anchor="ctr">
            <a:spAutoFit/>
          </a:bodyPr>
          <a:lstStyle/>
          <a:p>
            <a:pPr indent="0" marL="0">
              <a:buNone/>
            </a:pPr>
            <a:r>
              <a:rPr lang="en-US" sz="675" dirty="0">
                <a:solidFill>
                  <a:srgbClr val="DBEAFE"/>
                </a:solidFill>
                <a:latin typeface="Consolas" pitchFamily="34" charset="0"/>
                <a:ea typeface="Consolas" pitchFamily="34" charset="-122"/>
                <a:cs typeface="Consolas" pitchFamily="34" charset="-120"/>
              </a:rPr>
              <a:t>boolean isStudent = true;</a:t>
            </a:r>
            <a:endParaRPr lang="en-US" sz="675" dirty="0"/>
          </a:p>
        </p:txBody>
      </p:sp>
      <p:sp>
        <p:nvSpPr>
          <p:cNvPr id="40" name="Text 37"/>
          <p:cNvSpPr/>
          <p:nvPr/>
        </p:nvSpPr>
        <p:spPr>
          <a:xfrm>
            <a:off x="828675" y="4705945"/>
            <a:ext cx="945989" cy="96441"/>
          </a:xfrm>
          <a:prstGeom prst="rect">
            <a:avLst/>
          </a:prstGeom>
          <a:noFill/>
          <a:ln/>
        </p:spPr>
        <p:txBody>
          <a:bodyPr wrap="none" lIns="0" tIns="0" rIns="0" bIns="0" rtlCol="0" anchor="ctr">
            <a:spAutoFit/>
          </a:bodyPr>
          <a:lstStyle/>
          <a:p>
            <a:pPr indent="0" marL="0">
              <a:buNone/>
            </a:pPr>
            <a:r>
              <a:rPr lang="en-US" sz="675" dirty="0">
                <a:solidFill>
                  <a:srgbClr val="DBEAFE"/>
                </a:solidFill>
                <a:latin typeface="Consolas" pitchFamily="34" charset="0"/>
                <a:ea typeface="Consolas" pitchFamily="34" charset="-122"/>
                <a:cs typeface="Consolas" pitchFamily="34" charset="-120"/>
              </a:rPr>
              <a:t>char grade = 'A';</a:t>
            </a:r>
            <a:endParaRPr lang="en-US" sz="675" dirty="0"/>
          </a:p>
        </p:txBody>
      </p:sp>
      <p:sp>
        <p:nvSpPr>
          <p:cNvPr id="41" name="Text 38"/>
          <p:cNvSpPr/>
          <p:nvPr/>
        </p:nvSpPr>
        <p:spPr>
          <a:xfrm>
            <a:off x="828675" y="4877395"/>
            <a:ext cx="1151762" cy="96441"/>
          </a:xfrm>
          <a:prstGeom prst="rect">
            <a:avLst/>
          </a:prstGeom>
          <a:noFill/>
          <a:ln/>
        </p:spPr>
        <p:txBody>
          <a:bodyPr wrap="none" lIns="0" tIns="0" rIns="0" bIns="0" rtlCol="0" anchor="ctr">
            <a:spAutoFit/>
          </a:bodyPr>
          <a:lstStyle/>
          <a:p>
            <a:pPr indent="0" marL="0">
              <a:buNone/>
            </a:pPr>
            <a:r>
              <a:rPr lang="en-US" sz="675" dirty="0">
                <a:solidFill>
                  <a:srgbClr val="DBEAFE"/>
                </a:solidFill>
                <a:latin typeface="Consolas" pitchFamily="34" charset="0"/>
                <a:ea typeface="Consolas" pitchFamily="34" charset="-122"/>
                <a:cs typeface="Consolas" pitchFamily="34" charset="-120"/>
              </a:rPr>
              <a:t>String name = "John";</a:t>
            </a:r>
            <a:endParaRPr lang="en-US" sz="675" dirty="0"/>
          </a:p>
        </p:txBody>
      </p:sp>
      <p:sp>
        <p:nvSpPr>
          <p:cNvPr id="42" name="Shape 39"/>
          <p:cNvSpPr/>
          <p:nvPr/>
        </p:nvSpPr>
        <p:spPr>
          <a:xfrm>
            <a:off x="628650" y="5279231"/>
            <a:ext cx="3657600" cy="2300288"/>
          </a:xfrm>
          <a:prstGeom prst="rect">
            <a:avLst/>
          </a:prstGeom>
          <a:solidFill>
            <a:srgbClr val="1E3A8A">
              <a:alpha val="30000"/>
            </a:srgbClr>
          </a:solidFill>
          <a:ln/>
        </p:spPr>
      </p:sp>
      <p:sp>
        <p:nvSpPr>
          <p:cNvPr id="43" name="Shape 40"/>
          <p:cNvSpPr/>
          <p:nvPr/>
        </p:nvSpPr>
        <p:spPr>
          <a:xfrm>
            <a:off x="628650" y="5279231"/>
            <a:ext cx="28575" cy="2300288"/>
          </a:xfrm>
          <a:prstGeom prst="rect">
            <a:avLst/>
          </a:prstGeom>
          <a:solidFill>
            <a:srgbClr val="60A5FA"/>
          </a:solidFill>
          <a:ln/>
        </p:spPr>
      </p:sp>
      <p:sp>
        <p:nvSpPr>
          <p:cNvPr id="44" name="Text 41"/>
          <p:cNvSpPr/>
          <p:nvPr/>
        </p:nvSpPr>
        <p:spPr>
          <a:xfrm>
            <a:off x="742950" y="5364956"/>
            <a:ext cx="3614738" cy="200025"/>
          </a:xfrm>
          <a:prstGeom prst="rect">
            <a:avLst/>
          </a:prstGeom>
          <a:noFill/>
          <a:ln/>
        </p:spPr>
        <p:txBody>
          <a:bodyPr wrap="square" lIns="0" tIns="0" rIns="0" bIns="0" rtlCol="0" anchor="ctr">
            <a:spAutoFit/>
          </a:bodyPr>
          <a:lstStyle/>
          <a:p>
            <a:pPr indent="0" marL="0">
              <a:buNone/>
            </a:pPr>
            <a:r>
              <a:rPr lang="en-US" sz="1125" b="1" dirty="0">
                <a:solidFill>
                  <a:srgbClr val="F1F5F9"/>
                </a:solidFill>
                <a:latin typeface="Segoe UI" pitchFamily="34" charset="0"/>
                <a:ea typeface="Segoe UI" pitchFamily="34" charset="-122"/>
                <a:cs typeface="Segoe UI" pitchFamily="34" charset="-120"/>
              </a:rPr>
              <a:t>Reference Types</a:t>
            </a:r>
            <a:endParaRPr lang="en-US" sz="1125" dirty="0"/>
          </a:p>
        </p:txBody>
      </p:sp>
      <p:sp>
        <p:nvSpPr>
          <p:cNvPr id="45" name="Shape 42"/>
          <p:cNvSpPr/>
          <p:nvPr/>
        </p:nvSpPr>
        <p:spPr>
          <a:xfrm>
            <a:off x="742950" y="5593556"/>
            <a:ext cx="3543300" cy="1900238"/>
          </a:xfrm>
          <a:prstGeom prst="rect">
            <a:avLst/>
          </a:prstGeom>
          <a:solidFill>
            <a:srgbClr val="1E293B">
              <a:alpha val="80000"/>
            </a:srgbClr>
          </a:solidFill>
          <a:ln w="99">
            <a:solidFill>
              <a:srgbClr val="60A5FA">
                <a:alpha val="30000"/>
              </a:srgbClr>
            </a:solidFill>
            <a:prstDash val="solid"/>
          </a:ln>
        </p:spPr>
      </p:sp>
      <p:sp>
        <p:nvSpPr>
          <p:cNvPr id="46" name="Text 43"/>
          <p:cNvSpPr/>
          <p:nvPr/>
        </p:nvSpPr>
        <p:spPr>
          <a:xfrm>
            <a:off x="828675" y="5734645"/>
            <a:ext cx="2026286" cy="96441"/>
          </a:xfrm>
          <a:prstGeom prst="rect">
            <a:avLst/>
          </a:prstGeom>
          <a:noFill/>
          <a:ln/>
        </p:spPr>
        <p:txBody>
          <a:bodyPr wrap="square" lIns="0" tIns="0" rIns="0" bIns="0" rtlCol="0" anchor="ctr">
            <a:spAutoFit/>
          </a:bodyPr>
          <a:lstStyle/>
          <a:p>
            <a:pPr indent="0" marL="0">
              <a:buNone/>
            </a:pPr>
            <a:r>
              <a:rPr lang="en-US" sz="675" dirty="0">
                <a:solidFill>
                  <a:srgbClr val="DBEAFE"/>
                </a:solidFill>
                <a:latin typeface="Consolas" pitchFamily="34" charset="0"/>
                <a:ea typeface="Consolas" pitchFamily="34" charset="-122"/>
                <a:cs typeface="Consolas" pitchFamily="34" charset="-120"/>
              </a:rPr>
              <a:t>// String (most common reference type)</a:t>
            </a:r>
            <a:endParaRPr lang="en-US" sz="675" dirty="0"/>
          </a:p>
        </p:txBody>
      </p:sp>
      <p:sp>
        <p:nvSpPr>
          <p:cNvPr id="47" name="Text 44"/>
          <p:cNvSpPr/>
          <p:nvPr/>
        </p:nvSpPr>
        <p:spPr>
          <a:xfrm>
            <a:off x="828675" y="5906095"/>
            <a:ext cx="1769083" cy="96441"/>
          </a:xfrm>
          <a:prstGeom prst="rect">
            <a:avLst/>
          </a:prstGeom>
          <a:noFill/>
          <a:ln/>
        </p:spPr>
        <p:txBody>
          <a:bodyPr wrap="square" lIns="0" tIns="0" rIns="0" bIns="0" rtlCol="0" anchor="ctr">
            <a:spAutoFit/>
          </a:bodyPr>
          <a:lstStyle/>
          <a:p>
            <a:pPr indent="0" marL="0">
              <a:buNone/>
            </a:pPr>
            <a:r>
              <a:rPr lang="en-US" sz="675" dirty="0">
                <a:solidFill>
                  <a:srgbClr val="DBEAFE"/>
                </a:solidFill>
                <a:latin typeface="Consolas" pitchFamily="34" charset="0"/>
                <a:ea typeface="Consolas" pitchFamily="34" charset="-122"/>
                <a:cs typeface="Consolas" pitchFamily="34" charset="-120"/>
              </a:rPr>
              <a:t>String message = "Hello, World!";</a:t>
            </a:r>
            <a:endParaRPr lang="en-US" sz="675" dirty="0"/>
          </a:p>
        </p:txBody>
      </p:sp>
      <p:sp>
        <p:nvSpPr>
          <p:cNvPr id="48" name="Text 45"/>
          <p:cNvSpPr/>
          <p:nvPr/>
        </p:nvSpPr>
        <p:spPr>
          <a:xfrm>
            <a:off x="828675" y="6248995"/>
            <a:ext cx="534442" cy="96441"/>
          </a:xfrm>
          <a:prstGeom prst="rect">
            <a:avLst/>
          </a:prstGeom>
          <a:noFill/>
          <a:ln/>
        </p:spPr>
        <p:txBody>
          <a:bodyPr wrap="none" lIns="0" tIns="0" rIns="0" bIns="0" rtlCol="0" anchor="ctr">
            <a:spAutoFit/>
          </a:bodyPr>
          <a:lstStyle/>
          <a:p>
            <a:pPr indent="0" marL="0">
              <a:buNone/>
            </a:pPr>
            <a:r>
              <a:rPr lang="en-US" sz="675" dirty="0">
                <a:solidFill>
                  <a:srgbClr val="DBEAFE"/>
                </a:solidFill>
                <a:latin typeface="Consolas" pitchFamily="34" charset="0"/>
                <a:ea typeface="Consolas" pitchFamily="34" charset="-122"/>
                <a:cs typeface="Consolas" pitchFamily="34" charset="-120"/>
              </a:rPr>
              <a:t>// Arrays</a:t>
            </a:r>
            <a:endParaRPr lang="en-US" sz="675" dirty="0"/>
          </a:p>
        </p:txBody>
      </p:sp>
      <p:sp>
        <p:nvSpPr>
          <p:cNvPr id="49" name="Text 46"/>
          <p:cNvSpPr/>
          <p:nvPr/>
        </p:nvSpPr>
        <p:spPr>
          <a:xfrm>
            <a:off x="828675" y="6420445"/>
            <a:ext cx="1717625" cy="96441"/>
          </a:xfrm>
          <a:prstGeom prst="rect">
            <a:avLst/>
          </a:prstGeom>
          <a:noFill/>
          <a:ln/>
        </p:spPr>
        <p:txBody>
          <a:bodyPr wrap="square" lIns="0" tIns="0" rIns="0" bIns="0" rtlCol="0" anchor="ctr">
            <a:spAutoFit/>
          </a:bodyPr>
          <a:lstStyle/>
          <a:p>
            <a:pPr indent="0" marL="0">
              <a:buNone/>
            </a:pPr>
            <a:r>
              <a:rPr lang="en-US" sz="675" dirty="0">
                <a:solidFill>
                  <a:srgbClr val="DBEAFE"/>
                </a:solidFill>
                <a:latin typeface="Consolas" pitchFamily="34" charset="0"/>
                <a:ea typeface="Consolas" pitchFamily="34" charset="-122"/>
                <a:cs typeface="Consolas" pitchFamily="34" charset="-120"/>
              </a:rPr>
              <a:t>int[] numbers = {1, 2, 3, 4, 5};</a:t>
            </a:r>
            <a:endParaRPr lang="en-US" sz="675" dirty="0"/>
          </a:p>
        </p:txBody>
      </p:sp>
      <p:sp>
        <p:nvSpPr>
          <p:cNvPr id="50" name="Text 47"/>
          <p:cNvSpPr/>
          <p:nvPr/>
        </p:nvSpPr>
        <p:spPr>
          <a:xfrm>
            <a:off x="828675" y="6591895"/>
            <a:ext cx="1666196" cy="96441"/>
          </a:xfrm>
          <a:prstGeom prst="rect">
            <a:avLst/>
          </a:prstGeom>
          <a:noFill/>
          <a:ln/>
        </p:spPr>
        <p:txBody>
          <a:bodyPr wrap="square" lIns="0" tIns="0" rIns="0" bIns="0" rtlCol="0" anchor="ctr">
            <a:spAutoFit/>
          </a:bodyPr>
          <a:lstStyle/>
          <a:p>
            <a:pPr indent="0" marL="0">
              <a:buNone/>
            </a:pPr>
            <a:r>
              <a:rPr lang="en-US" sz="675" dirty="0">
                <a:solidFill>
                  <a:srgbClr val="DBEAFE"/>
                </a:solidFill>
                <a:latin typeface="Consolas" pitchFamily="34" charset="0"/>
                <a:ea typeface="Consolas" pitchFamily="34" charset="-122"/>
                <a:cs typeface="Consolas" pitchFamily="34" charset="-120"/>
              </a:rPr>
              <a:t>String[] names = new String[3];</a:t>
            </a:r>
            <a:endParaRPr lang="en-US" sz="675" dirty="0"/>
          </a:p>
        </p:txBody>
      </p:sp>
      <p:sp>
        <p:nvSpPr>
          <p:cNvPr id="51" name="Text 48"/>
          <p:cNvSpPr/>
          <p:nvPr/>
        </p:nvSpPr>
        <p:spPr>
          <a:xfrm>
            <a:off x="828675" y="6934795"/>
            <a:ext cx="585871" cy="96441"/>
          </a:xfrm>
          <a:prstGeom prst="rect">
            <a:avLst/>
          </a:prstGeom>
          <a:noFill/>
          <a:ln/>
        </p:spPr>
        <p:txBody>
          <a:bodyPr wrap="none" lIns="0" tIns="0" rIns="0" bIns="0" rtlCol="0" anchor="ctr">
            <a:spAutoFit/>
          </a:bodyPr>
          <a:lstStyle/>
          <a:p>
            <a:pPr indent="0" marL="0">
              <a:buNone/>
            </a:pPr>
            <a:r>
              <a:rPr lang="en-US" sz="675" dirty="0">
                <a:solidFill>
                  <a:srgbClr val="DBEAFE"/>
                </a:solidFill>
                <a:latin typeface="Consolas" pitchFamily="34" charset="0"/>
                <a:ea typeface="Consolas" pitchFamily="34" charset="-122"/>
                <a:cs typeface="Consolas" pitchFamily="34" charset="-120"/>
              </a:rPr>
              <a:t>// Objects</a:t>
            </a:r>
            <a:endParaRPr lang="en-US" sz="675" dirty="0"/>
          </a:p>
        </p:txBody>
      </p:sp>
      <p:sp>
        <p:nvSpPr>
          <p:cNvPr id="52" name="Text 49"/>
          <p:cNvSpPr/>
          <p:nvPr/>
        </p:nvSpPr>
        <p:spPr>
          <a:xfrm>
            <a:off x="828675" y="7106245"/>
            <a:ext cx="2180630" cy="96441"/>
          </a:xfrm>
          <a:prstGeom prst="rect">
            <a:avLst/>
          </a:prstGeom>
          <a:noFill/>
          <a:ln/>
        </p:spPr>
        <p:txBody>
          <a:bodyPr wrap="square" lIns="0" tIns="0" rIns="0" bIns="0" rtlCol="0" anchor="ctr">
            <a:spAutoFit/>
          </a:bodyPr>
          <a:lstStyle/>
          <a:p>
            <a:pPr indent="0" marL="0">
              <a:buNone/>
            </a:pPr>
            <a:r>
              <a:rPr lang="en-US" sz="675" dirty="0">
                <a:solidFill>
                  <a:srgbClr val="DBEAFE"/>
                </a:solidFill>
                <a:latin typeface="Consolas" pitchFamily="34" charset="0"/>
                <a:ea typeface="Consolas" pitchFamily="34" charset="-122"/>
                <a:cs typeface="Consolas" pitchFamily="34" charset="-120"/>
              </a:rPr>
              <a:t>Scanner scanner = new Scanner(System.in);</a:t>
            </a:r>
            <a:endParaRPr lang="en-US" sz="675" dirty="0"/>
          </a:p>
        </p:txBody>
      </p:sp>
      <p:sp>
        <p:nvSpPr>
          <p:cNvPr id="53" name="Text 50"/>
          <p:cNvSpPr/>
          <p:nvPr/>
        </p:nvSpPr>
        <p:spPr>
          <a:xfrm>
            <a:off x="828675" y="7277695"/>
            <a:ext cx="2283516" cy="96441"/>
          </a:xfrm>
          <a:prstGeom prst="rect">
            <a:avLst/>
          </a:prstGeom>
          <a:noFill/>
          <a:ln/>
        </p:spPr>
        <p:txBody>
          <a:bodyPr wrap="square" lIns="0" tIns="0" rIns="0" bIns="0" rtlCol="0" anchor="ctr">
            <a:spAutoFit/>
          </a:bodyPr>
          <a:lstStyle/>
          <a:p>
            <a:pPr indent="0" marL="0">
              <a:buNone/>
            </a:pPr>
            <a:r>
              <a:rPr lang="en-US" sz="675" dirty="0">
                <a:solidFill>
                  <a:srgbClr val="DBEAFE"/>
                </a:solidFill>
                <a:latin typeface="Consolas" pitchFamily="34" charset="0"/>
                <a:ea typeface="Consolas" pitchFamily="34" charset="-122"/>
                <a:cs typeface="Consolas" pitchFamily="34" charset="-120"/>
              </a:rPr>
              <a:t>ArrayList&lt;String&gt; list = new ArrayList&lt;&gt;();</a:t>
            </a:r>
            <a:endParaRPr lang="en-US" sz="675" dirty="0"/>
          </a:p>
        </p:txBody>
      </p:sp>
      <p:sp>
        <p:nvSpPr>
          <p:cNvPr id="54" name="Shape 51"/>
          <p:cNvSpPr/>
          <p:nvPr/>
        </p:nvSpPr>
        <p:spPr>
          <a:xfrm>
            <a:off x="457200" y="7908131"/>
            <a:ext cx="4000500" cy="4050506"/>
          </a:xfrm>
          <a:prstGeom prst="rect">
            <a:avLst/>
          </a:prstGeom>
          <a:solidFill>
            <a:srgbClr val="FFFFFF">
              <a:alpha val="10000"/>
            </a:srgbClr>
          </a:solidFill>
          <a:ln w="99">
            <a:solidFill>
              <a:srgbClr val="60A5FA">
                <a:alpha val="30000"/>
              </a:srgbClr>
            </a:solidFill>
            <a:prstDash val="solid"/>
          </a:ln>
        </p:spPr>
      </p:sp>
      <p:sp>
        <p:nvSpPr>
          <p:cNvPr id="55" name="Text 52"/>
          <p:cNvSpPr/>
          <p:nvPr/>
        </p:nvSpPr>
        <p:spPr>
          <a:xfrm>
            <a:off x="628650" y="8079581"/>
            <a:ext cx="3729038" cy="228600"/>
          </a:xfrm>
          <a:prstGeom prst="rect">
            <a:avLst/>
          </a:prstGeom>
          <a:noFill/>
          <a:ln/>
        </p:spPr>
        <p:txBody>
          <a:bodyPr wrap="square" lIns="0" tIns="0" rIns="0" bIns="0" rtlCol="0" anchor="ctr">
            <a:spAutoFit/>
          </a:bodyPr>
          <a:lstStyle/>
          <a:p>
            <a:pPr indent="0" marL="0">
              <a:buNone/>
            </a:pPr>
            <a:r>
              <a:rPr lang="en-US" sz="1350" b="1" dirty="0">
                <a:solidFill>
                  <a:srgbClr val="BFDBFE"/>
                </a:solidFill>
                <a:latin typeface="Segoe UI" pitchFamily="34" charset="0"/>
                <a:ea typeface="Segoe UI" pitchFamily="34" charset="-122"/>
                <a:cs typeface="Segoe UI" pitchFamily="34" charset="-120"/>
              </a:rPr>
              <a:t>Operators</a:t>
            </a:r>
            <a:endParaRPr lang="en-US" sz="1350" dirty="0"/>
          </a:p>
        </p:txBody>
      </p:sp>
      <p:sp>
        <p:nvSpPr>
          <p:cNvPr id="56" name="Shape 53"/>
          <p:cNvSpPr/>
          <p:nvPr/>
        </p:nvSpPr>
        <p:spPr>
          <a:xfrm>
            <a:off x="628650" y="8422481"/>
            <a:ext cx="1771650" cy="1707356"/>
          </a:xfrm>
          <a:prstGeom prst="rect">
            <a:avLst/>
          </a:prstGeom>
          <a:solidFill>
            <a:srgbClr val="1E3A8A">
              <a:alpha val="30000"/>
            </a:srgbClr>
          </a:solidFill>
          <a:ln/>
        </p:spPr>
      </p:sp>
      <p:sp>
        <p:nvSpPr>
          <p:cNvPr id="57" name="Text 54"/>
          <p:cNvSpPr/>
          <p:nvPr/>
        </p:nvSpPr>
        <p:spPr>
          <a:xfrm>
            <a:off x="742950" y="8536781"/>
            <a:ext cx="1614488" cy="200025"/>
          </a:xfrm>
          <a:prstGeom prst="rect">
            <a:avLst/>
          </a:prstGeom>
          <a:noFill/>
          <a:ln/>
        </p:spPr>
        <p:txBody>
          <a:bodyPr wrap="square" lIns="0" tIns="0" rIns="0" bIns="0" rtlCol="0" anchor="ctr">
            <a:spAutoFit/>
          </a:bodyPr>
          <a:lstStyle/>
          <a:p>
            <a:pPr indent="0" marL="0">
              <a:buNone/>
            </a:pPr>
            <a:r>
              <a:rPr lang="en-US" sz="1013" b="1" dirty="0">
                <a:solidFill>
                  <a:srgbClr val="F1F5F9"/>
                </a:solidFill>
                <a:latin typeface="Segoe UI" pitchFamily="34" charset="0"/>
                <a:ea typeface="Segoe UI" pitchFamily="34" charset="-122"/>
                <a:cs typeface="Segoe UI" pitchFamily="34" charset="-120"/>
              </a:rPr>
              <a:t>Arithmetic Operators</a:t>
            </a:r>
            <a:endParaRPr lang="en-US" sz="1013" dirty="0"/>
          </a:p>
        </p:txBody>
      </p:sp>
      <p:sp>
        <p:nvSpPr>
          <p:cNvPr id="58" name="Text 55"/>
          <p:cNvSpPr/>
          <p:nvPr/>
        </p:nvSpPr>
        <p:spPr>
          <a:xfrm>
            <a:off x="742950" y="8815388"/>
            <a:ext cx="131462" cy="114300"/>
          </a:xfrm>
          <a:prstGeom prst="rect">
            <a:avLst/>
          </a:prstGeom>
          <a:noFill/>
          <a:ln/>
        </p:spPr>
        <p:txBody>
          <a:bodyPr wrap="none" lIns="0" tIns="0" rIns="0" bIns="0" rtlCol="0" anchor="ctr">
            <a:spAutoFit/>
          </a:bodyPr>
          <a:lstStyle/>
          <a:p>
            <a:pPr algn="l" indent="0" marL="0">
              <a:buNone/>
            </a:pPr>
            <a:r>
              <a:rPr lang="en-US" sz="788" dirty="0">
                <a:solidFill>
                  <a:srgbClr val="DBEAFE"/>
                </a:solidFill>
                <a:latin typeface="Consolas" pitchFamily="34" charset="0"/>
                <a:ea typeface="Consolas" pitchFamily="34" charset="-122"/>
                <a:cs typeface="Consolas" pitchFamily="34" charset="-120"/>
              </a:rPr>
              <a:t>+</a:t>
            </a:r>
            <a:endParaRPr lang="en-US" sz="788" dirty="0"/>
          </a:p>
        </p:txBody>
      </p:sp>
      <p:sp>
        <p:nvSpPr>
          <p:cNvPr id="59" name="Text 56"/>
          <p:cNvSpPr/>
          <p:nvPr/>
        </p:nvSpPr>
        <p:spPr>
          <a:xfrm>
            <a:off x="802974" y="8808244"/>
            <a:ext cx="455135" cy="112514"/>
          </a:xfrm>
          <a:prstGeom prst="rect">
            <a:avLst/>
          </a:prstGeom>
          <a:noFill/>
          <a:ln/>
        </p:spPr>
        <p:txBody>
          <a:bodyPr wrap="none" lIns="0" tIns="0" rIns="0" bIns="0" rtlCol="0" anchor="ctr">
            <a:spAutoFit/>
          </a:bodyPr>
          <a:lstStyle/>
          <a:p>
            <a:pPr algn="l" indent="0" marL="0">
              <a:buNone/>
            </a:pPr>
            <a:r>
              <a:rPr lang="en-US" sz="788" dirty="0">
                <a:solidFill>
                  <a:srgbClr val="F1F5F9"/>
                </a:solidFill>
                <a:latin typeface="Segoe UI" pitchFamily="34" charset="0"/>
                <a:ea typeface="Segoe UI" pitchFamily="34" charset="-122"/>
                <a:cs typeface="Segoe UI" pitchFamily="34" charset="-120"/>
              </a:rPr>
              <a:t>Addition</a:t>
            </a:r>
            <a:endParaRPr lang="en-US" sz="788" dirty="0"/>
          </a:p>
        </p:txBody>
      </p:sp>
      <p:sp>
        <p:nvSpPr>
          <p:cNvPr id="60" name="Text 57"/>
          <p:cNvSpPr/>
          <p:nvPr/>
        </p:nvSpPr>
        <p:spPr>
          <a:xfrm>
            <a:off x="742950" y="8993981"/>
            <a:ext cx="131462" cy="114300"/>
          </a:xfrm>
          <a:prstGeom prst="rect">
            <a:avLst/>
          </a:prstGeom>
          <a:noFill/>
          <a:ln/>
        </p:spPr>
        <p:txBody>
          <a:bodyPr wrap="none" lIns="0" tIns="0" rIns="0" bIns="0" rtlCol="0" anchor="ctr">
            <a:spAutoFit/>
          </a:bodyPr>
          <a:lstStyle/>
          <a:p>
            <a:pPr algn="l" indent="0" marL="0">
              <a:buNone/>
            </a:pPr>
            <a:r>
              <a:rPr lang="en-US" sz="788" dirty="0">
                <a:solidFill>
                  <a:srgbClr val="DBEAFE"/>
                </a:solidFill>
                <a:latin typeface="Consolas" pitchFamily="34" charset="0"/>
                <a:ea typeface="Consolas" pitchFamily="34" charset="-122"/>
                <a:cs typeface="Consolas" pitchFamily="34" charset="-120"/>
              </a:rPr>
              <a:t>-</a:t>
            </a:r>
            <a:endParaRPr lang="en-US" sz="788" dirty="0"/>
          </a:p>
        </p:txBody>
      </p:sp>
      <p:sp>
        <p:nvSpPr>
          <p:cNvPr id="61" name="Text 58"/>
          <p:cNvSpPr/>
          <p:nvPr/>
        </p:nvSpPr>
        <p:spPr>
          <a:xfrm>
            <a:off x="802974" y="8986838"/>
            <a:ext cx="605154" cy="112514"/>
          </a:xfrm>
          <a:prstGeom prst="rect">
            <a:avLst/>
          </a:prstGeom>
          <a:noFill/>
          <a:ln/>
        </p:spPr>
        <p:txBody>
          <a:bodyPr wrap="none" lIns="0" tIns="0" rIns="0" bIns="0" rtlCol="0" anchor="ctr">
            <a:spAutoFit/>
          </a:bodyPr>
          <a:lstStyle/>
          <a:p>
            <a:pPr algn="l" indent="0" marL="0">
              <a:buNone/>
            </a:pPr>
            <a:r>
              <a:rPr lang="en-US" sz="788" dirty="0">
                <a:solidFill>
                  <a:srgbClr val="F1F5F9"/>
                </a:solidFill>
                <a:latin typeface="Segoe UI" pitchFamily="34" charset="0"/>
                <a:ea typeface="Segoe UI" pitchFamily="34" charset="-122"/>
                <a:cs typeface="Segoe UI" pitchFamily="34" charset="-120"/>
              </a:rPr>
              <a:t>Subtraction</a:t>
            </a:r>
            <a:endParaRPr lang="en-US" sz="788" dirty="0"/>
          </a:p>
        </p:txBody>
      </p:sp>
      <p:sp>
        <p:nvSpPr>
          <p:cNvPr id="62" name="Text 59"/>
          <p:cNvSpPr/>
          <p:nvPr/>
        </p:nvSpPr>
        <p:spPr>
          <a:xfrm>
            <a:off x="742950" y="9172575"/>
            <a:ext cx="131462" cy="114300"/>
          </a:xfrm>
          <a:prstGeom prst="rect">
            <a:avLst/>
          </a:prstGeom>
          <a:noFill/>
          <a:ln/>
        </p:spPr>
        <p:txBody>
          <a:bodyPr wrap="none" lIns="0" tIns="0" rIns="0" bIns="0" rtlCol="0" anchor="ctr">
            <a:spAutoFit/>
          </a:bodyPr>
          <a:lstStyle/>
          <a:p>
            <a:pPr algn="l" indent="0" marL="0">
              <a:buNone/>
            </a:pPr>
            <a:r>
              <a:rPr lang="en-US" sz="788" dirty="0">
                <a:solidFill>
                  <a:srgbClr val="DBEAFE"/>
                </a:solidFill>
                <a:latin typeface="Consolas" pitchFamily="34" charset="0"/>
                <a:ea typeface="Consolas" pitchFamily="34" charset="-122"/>
                <a:cs typeface="Consolas" pitchFamily="34" charset="-120"/>
              </a:rPr>
              <a:t>*</a:t>
            </a:r>
            <a:endParaRPr lang="en-US" sz="788" dirty="0"/>
          </a:p>
        </p:txBody>
      </p:sp>
      <p:sp>
        <p:nvSpPr>
          <p:cNvPr id="63" name="Text 60"/>
          <p:cNvSpPr/>
          <p:nvPr/>
        </p:nvSpPr>
        <p:spPr>
          <a:xfrm>
            <a:off x="802974" y="9165431"/>
            <a:ext cx="677345" cy="112514"/>
          </a:xfrm>
          <a:prstGeom prst="rect">
            <a:avLst/>
          </a:prstGeom>
          <a:noFill/>
          <a:ln/>
        </p:spPr>
        <p:txBody>
          <a:bodyPr wrap="none" lIns="0" tIns="0" rIns="0" bIns="0" rtlCol="0" anchor="ctr">
            <a:spAutoFit/>
          </a:bodyPr>
          <a:lstStyle/>
          <a:p>
            <a:pPr algn="l" indent="0" marL="0">
              <a:buNone/>
            </a:pPr>
            <a:r>
              <a:rPr lang="en-US" sz="788" dirty="0">
                <a:solidFill>
                  <a:srgbClr val="F1F5F9"/>
                </a:solidFill>
                <a:latin typeface="Segoe UI" pitchFamily="34" charset="0"/>
                <a:ea typeface="Segoe UI" pitchFamily="34" charset="-122"/>
                <a:cs typeface="Segoe UI" pitchFamily="34" charset="-120"/>
              </a:rPr>
              <a:t>Multiplication</a:t>
            </a:r>
            <a:endParaRPr lang="en-US" sz="788" dirty="0"/>
          </a:p>
        </p:txBody>
      </p:sp>
      <p:sp>
        <p:nvSpPr>
          <p:cNvPr id="64" name="Text 61"/>
          <p:cNvSpPr/>
          <p:nvPr/>
        </p:nvSpPr>
        <p:spPr>
          <a:xfrm>
            <a:off x="742950" y="9351169"/>
            <a:ext cx="131462" cy="114300"/>
          </a:xfrm>
          <a:prstGeom prst="rect">
            <a:avLst/>
          </a:prstGeom>
          <a:noFill/>
          <a:ln/>
        </p:spPr>
        <p:txBody>
          <a:bodyPr wrap="none" lIns="0" tIns="0" rIns="0" bIns="0" rtlCol="0" anchor="ctr">
            <a:spAutoFit/>
          </a:bodyPr>
          <a:lstStyle/>
          <a:p>
            <a:pPr algn="l" indent="0" marL="0">
              <a:buNone/>
            </a:pPr>
            <a:r>
              <a:rPr lang="en-US" sz="788" dirty="0">
                <a:solidFill>
                  <a:srgbClr val="DBEAFE"/>
                </a:solidFill>
                <a:latin typeface="Consolas" pitchFamily="34" charset="0"/>
                <a:ea typeface="Consolas" pitchFamily="34" charset="-122"/>
                <a:cs typeface="Consolas" pitchFamily="34" charset="-120"/>
              </a:rPr>
              <a:t>/</a:t>
            </a:r>
            <a:endParaRPr lang="en-US" sz="788" dirty="0"/>
          </a:p>
        </p:txBody>
      </p:sp>
      <p:sp>
        <p:nvSpPr>
          <p:cNvPr id="65" name="Text 62"/>
          <p:cNvSpPr/>
          <p:nvPr/>
        </p:nvSpPr>
        <p:spPr>
          <a:xfrm>
            <a:off x="802974" y="9344025"/>
            <a:ext cx="449387" cy="112514"/>
          </a:xfrm>
          <a:prstGeom prst="rect">
            <a:avLst/>
          </a:prstGeom>
          <a:noFill/>
          <a:ln/>
        </p:spPr>
        <p:txBody>
          <a:bodyPr wrap="none" lIns="0" tIns="0" rIns="0" bIns="0" rtlCol="0" anchor="ctr">
            <a:spAutoFit/>
          </a:bodyPr>
          <a:lstStyle/>
          <a:p>
            <a:pPr algn="l" indent="0" marL="0">
              <a:buNone/>
            </a:pPr>
            <a:r>
              <a:rPr lang="en-US" sz="788" dirty="0">
                <a:solidFill>
                  <a:srgbClr val="F1F5F9"/>
                </a:solidFill>
                <a:latin typeface="Segoe UI" pitchFamily="34" charset="0"/>
                <a:ea typeface="Segoe UI" pitchFamily="34" charset="-122"/>
                <a:cs typeface="Segoe UI" pitchFamily="34" charset="-120"/>
              </a:rPr>
              <a:t>Division</a:t>
            </a:r>
            <a:endParaRPr lang="en-US" sz="788" dirty="0"/>
          </a:p>
        </p:txBody>
      </p:sp>
      <p:sp>
        <p:nvSpPr>
          <p:cNvPr id="66" name="Text 63"/>
          <p:cNvSpPr/>
          <p:nvPr/>
        </p:nvSpPr>
        <p:spPr>
          <a:xfrm>
            <a:off x="742950" y="9529763"/>
            <a:ext cx="131462" cy="114300"/>
          </a:xfrm>
          <a:prstGeom prst="rect">
            <a:avLst/>
          </a:prstGeom>
          <a:noFill/>
          <a:ln/>
        </p:spPr>
        <p:txBody>
          <a:bodyPr wrap="none" lIns="0" tIns="0" rIns="0" bIns="0" rtlCol="0" anchor="ctr">
            <a:spAutoFit/>
          </a:bodyPr>
          <a:lstStyle/>
          <a:p>
            <a:pPr algn="l" indent="0" marL="0">
              <a:buNone/>
            </a:pPr>
            <a:r>
              <a:rPr lang="en-US" sz="788" dirty="0">
                <a:solidFill>
                  <a:srgbClr val="DBEAFE"/>
                </a:solidFill>
                <a:latin typeface="Consolas" pitchFamily="34" charset="0"/>
                <a:ea typeface="Consolas" pitchFamily="34" charset="-122"/>
                <a:cs typeface="Consolas" pitchFamily="34" charset="-120"/>
              </a:rPr>
              <a:t>%</a:t>
            </a:r>
            <a:endParaRPr lang="en-US" sz="788" dirty="0"/>
          </a:p>
        </p:txBody>
      </p:sp>
      <p:sp>
        <p:nvSpPr>
          <p:cNvPr id="67" name="Text 64"/>
          <p:cNvSpPr/>
          <p:nvPr/>
        </p:nvSpPr>
        <p:spPr>
          <a:xfrm>
            <a:off x="802974" y="9522619"/>
            <a:ext cx="1021919" cy="112514"/>
          </a:xfrm>
          <a:prstGeom prst="rect">
            <a:avLst/>
          </a:prstGeom>
          <a:noFill/>
          <a:ln/>
        </p:spPr>
        <p:txBody>
          <a:bodyPr wrap="none" lIns="0" tIns="0" rIns="0" bIns="0" rtlCol="0" anchor="ctr">
            <a:spAutoFit/>
          </a:bodyPr>
          <a:lstStyle/>
          <a:p>
            <a:pPr algn="l" indent="0" marL="0">
              <a:buNone/>
            </a:pPr>
            <a:r>
              <a:rPr lang="en-US" sz="788" dirty="0">
                <a:solidFill>
                  <a:srgbClr val="F1F5F9"/>
                </a:solidFill>
                <a:latin typeface="Segoe UI" pitchFamily="34" charset="0"/>
                <a:ea typeface="Segoe UI" pitchFamily="34" charset="-122"/>
                <a:cs typeface="Segoe UI" pitchFamily="34" charset="-120"/>
              </a:rPr>
              <a:t>Modulus (remainder)</a:t>
            </a:r>
            <a:endParaRPr lang="en-US" sz="788" dirty="0"/>
          </a:p>
        </p:txBody>
      </p:sp>
      <p:sp>
        <p:nvSpPr>
          <p:cNvPr id="68" name="Text 65"/>
          <p:cNvSpPr/>
          <p:nvPr/>
        </p:nvSpPr>
        <p:spPr>
          <a:xfrm>
            <a:off x="742950" y="9708356"/>
            <a:ext cx="191486" cy="114300"/>
          </a:xfrm>
          <a:prstGeom prst="rect">
            <a:avLst/>
          </a:prstGeom>
          <a:noFill/>
          <a:ln/>
        </p:spPr>
        <p:txBody>
          <a:bodyPr wrap="none" lIns="0" tIns="0" rIns="0" bIns="0" rtlCol="0" anchor="ctr">
            <a:spAutoFit/>
          </a:bodyPr>
          <a:lstStyle/>
          <a:p>
            <a:pPr algn="l" indent="0" marL="0">
              <a:buNone/>
            </a:pPr>
            <a:r>
              <a:rPr lang="en-US" sz="788" dirty="0">
                <a:solidFill>
                  <a:srgbClr val="DBEAFE"/>
                </a:solidFill>
                <a:latin typeface="Consolas" pitchFamily="34" charset="0"/>
                <a:ea typeface="Consolas" pitchFamily="34" charset="-122"/>
                <a:cs typeface="Consolas" pitchFamily="34" charset="-120"/>
              </a:rPr>
              <a:t>++</a:t>
            </a:r>
            <a:endParaRPr lang="en-US" sz="788" dirty="0"/>
          </a:p>
        </p:txBody>
      </p:sp>
      <p:sp>
        <p:nvSpPr>
          <p:cNvPr id="69" name="Text 66"/>
          <p:cNvSpPr/>
          <p:nvPr/>
        </p:nvSpPr>
        <p:spPr>
          <a:xfrm>
            <a:off x="862998" y="9701213"/>
            <a:ext cx="543930" cy="112514"/>
          </a:xfrm>
          <a:prstGeom prst="rect">
            <a:avLst/>
          </a:prstGeom>
          <a:noFill/>
          <a:ln/>
        </p:spPr>
        <p:txBody>
          <a:bodyPr wrap="none" lIns="0" tIns="0" rIns="0" bIns="0" rtlCol="0" anchor="ctr">
            <a:spAutoFit/>
          </a:bodyPr>
          <a:lstStyle/>
          <a:p>
            <a:pPr algn="l" indent="0" marL="0">
              <a:buNone/>
            </a:pPr>
            <a:r>
              <a:rPr lang="en-US" sz="788" dirty="0">
                <a:solidFill>
                  <a:srgbClr val="F1F5F9"/>
                </a:solidFill>
                <a:latin typeface="Segoe UI" pitchFamily="34" charset="0"/>
                <a:ea typeface="Segoe UI" pitchFamily="34" charset="-122"/>
                <a:cs typeface="Segoe UI" pitchFamily="34" charset="-120"/>
              </a:rPr>
              <a:t>Increment</a:t>
            </a:r>
            <a:endParaRPr lang="en-US" sz="788" dirty="0"/>
          </a:p>
        </p:txBody>
      </p:sp>
      <p:sp>
        <p:nvSpPr>
          <p:cNvPr id="70" name="Text 67"/>
          <p:cNvSpPr/>
          <p:nvPr/>
        </p:nvSpPr>
        <p:spPr>
          <a:xfrm>
            <a:off x="742950" y="9886950"/>
            <a:ext cx="191486" cy="114300"/>
          </a:xfrm>
          <a:prstGeom prst="rect">
            <a:avLst/>
          </a:prstGeom>
          <a:noFill/>
          <a:ln/>
        </p:spPr>
        <p:txBody>
          <a:bodyPr wrap="none" lIns="0" tIns="0" rIns="0" bIns="0" rtlCol="0" anchor="ctr">
            <a:spAutoFit/>
          </a:bodyPr>
          <a:lstStyle/>
          <a:p>
            <a:pPr algn="l" indent="0" marL="0">
              <a:buNone/>
            </a:pPr>
            <a:r>
              <a:rPr lang="en-US" sz="788" dirty="0">
                <a:solidFill>
                  <a:srgbClr val="DBEAFE"/>
                </a:solidFill>
                <a:latin typeface="Consolas" pitchFamily="34" charset="0"/>
                <a:ea typeface="Consolas" pitchFamily="34" charset="-122"/>
                <a:cs typeface="Consolas" pitchFamily="34" charset="-120"/>
              </a:rPr>
              <a:t>--</a:t>
            </a:r>
            <a:endParaRPr lang="en-US" sz="788" dirty="0"/>
          </a:p>
        </p:txBody>
      </p:sp>
      <p:sp>
        <p:nvSpPr>
          <p:cNvPr id="71" name="Text 68"/>
          <p:cNvSpPr/>
          <p:nvPr/>
        </p:nvSpPr>
        <p:spPr>
          <a:xfrm>
            <a:off x="862998" y="9879806"/>
            <a:ext cx="588355" cy="112514"/>
          </a:xfrm>
          <a:prstGeom prst="rect">
            <a:avLst/>
          </a:prstGeom>
          <a:noFill/>
          <a:ln/>
        </p:spPr>
        <p:txBody>
          <a:bodyPr wrap="none" lIns="0" tIns="0" rIns="0" bIns="0" rtlCol="0" anchor="ctr">
            <a:spAutoFit/>
          </a:bodyPr>
          <a:lstStyle/>
          <a:p>
            <a:pPr algn="l" indent="0" marL="0">
              <a:buNone/>
            </a:pPr>
            <a:r>
              <a:rPr lang="en-US" sz="788" dirty="0">
                <a:solidFill>
                  <a:srgbClr val="F1F5F9"/>
                </a:solidFill>
                <a:latin typeface="Segoe UI" pitchFamily="34" charset="0"/>
                <a:ea typeface="Segoe UI" pitchFamily="34" charset="-122"/>
                <a:cs typeface="Segoe UI" pitchFamily="34" charset="-120"/>
              </a:rPr>
              <a:t>Decrement</a:t>
            </a:r>
            <a:endParaRPr lang="en-US" sz="788" dirty="0"/>
          </a:p>
        </p:txBody>
      </p:sp>
      <p:sp>
        <p:nvSpPr>
          <p:cNvPr id="72" name="Shape 69"/>
          <p:cNvSpPr/>
          <p:nvPr/>
        </p:nvSpPr>
        <p:spPr>
          <a:xfrm>
            <a:off x="2514600" y="8422481"/>
            <a:ext cx="1771650" cy="1707356"/>
          </a:xfrm>
          <a:prstGeom prst="rect">
            <a:avLst/>
          </a:prstGeom>
          <a:solidFill>
            <a:srgbClr val="1E3A8A">
              <a:alpha val="30000"/>
            </a:srgbClr>
          </a:solidFill>
          <a:ln/>
        </p:spPr>
      </p:sp>
      <p:sp>
        <p:nvSpPr>
          <p:cNvPr id="73" name="Text 70"/>
          <p:cNvSpPr/>
          <p:nvPr/>
        </p:nvSpPr>
        <p:spPr>
          <a:xfrm>
            <a:off x="2628900" y="8536781"/>
            <a:ext cx="1614488" cy="200025"/>
          </a:xfrm>
          <a:prstGeom prst="rect">
            <a:avLst/>
          </a:prstGeom>
          <a:noFill/>
          <a:ln/>
        </p:spPr>
        <p:txBody>
          <a:bodyPr wrap="square" lIns="0" tIns="0" rIns="0" bIns="0" rtlCol="0" anchor="ctr">
            <a:spAutoFit/>
          </a:bodyPr>
          <a:lstStyle/>
          <a:p>
            <a:pPr indent="0" marL="0">
              <a:buNone/>
            </a:pPr>
            <a:r>
              <a:rPr lang="en-US" sz="1013" b="1" dirty="0">
                <a:solidFill>
                  <a:srgbClr val="F1F5F9"/>
                </a:solidFill>
                <a:latin typeface="Segoe UI" pitchFamily="34" charset="0"/>
                <a:ea typeface="Segoe UI" pitchFamily="34" charset="-122"/>
                <a:cs typeface="Segoe UI" pitchFamily="34" charset="-120"/>
              </a:rPr>
              <a:t>Comparison Operators</a:t>
            </a:r>
            <a:endParaRPr lang="en-US" sz="1013" dirty="0"/>
          </a:p>
        </p:txBody>
      </p:sp>
      <p:sp>
        <p:nvSpPr>
          <p:cNvPr id="74" name="Text 71"/>
          <p:cNvSpPr/>
          <p:nvPr/>
        </p:nvSpPr>
        <p:spPr>
          <a:xfrm>
            <a:off x="2628900" y="8815388"/>
            <a:ext cx="191486" cy="114300"/>
          </a:xfrm>
          <a:prstGeom prst="rect">
            <a:avLst/>
          </a:prstGeom>
          <a:noFill/>
          <a:ln/>
        </p:spPr>
        <p:txBody>
          <a:bodyPr wrap="none" lIns="0" tIns="0" rIns="0" bIns="0" rtlCol="0" anchor="ctr">
            <a:spAutoFit/>
          </a:bodyPr>
          <a:lstStyle/>
          <a:p>
            <a:pPr algn="l" indent="0" marL="0">
              <a:buNone/>
            </a:pPr>
            <a:r>
              <a:rPr lang="en-US" sz="788" dirty="0">
                <a:solidFill>
                  <a:srgbClr val="DBEAFE"/>
                </a:solidFill>
                <a:latin typeface="Consolas" pitchFamily="34" charset="0"/>
                <a:ea typeface="Consolas" pitchFamily="34" charset="-122"/>
                <a:cs typeface="Consolas" pitchFamily="34" charset="-120"/>
              </a:rPr>
              <a:t>==</a:t>
            </a:r>
            <a:endParaRPr lang="en-US" sz="788" dirty="0"/>
          </a:p>
        </p:txBody>
      </p:sp>
      <p:sp>
        <p:nvSpPr>
          <p:cNvPr id="75" name="Text 72"/>
          <p:cNvSpPr/>
          <p:nvPr/>
        </p:nvSpPr>
        <p:spPr>
          <a:xfrm>
            <a:off x="2748948" y="8808244"/>
            <a:ext cx="466213" cy="112514"/>
          </a:xfrm>
          <a:prstGeom prst="rect">
            <a:avLst/>
          </a:prstGeom>
          <a:noFill/>
          <a:ln/>
        </p:spPr>
        <p:txBody>
          <a:bodyPr wrap="none" lIns="0" tIns="0" rIns="0" bIns="0" rtlCol="0" anchor="ctr">
            <a:spAutoFit/>
          </a:bodyPr>
          <a:lstStyle/>
          <a:p>
            <a:pPr algn="l" indent="0" marL="0">
              <a:buNone/>
            </a:pPr>
            <a:r>
              <a:rPr lang="en-US" sz="788" dirty="0">
                <a:solidFill>
                  <a:srgbClr val="F1F5F9"/>
                </a:solidFill>
                <a:latin typeface="Segoe UI" pitchFamily="34" charset="0"/>
                <a:ea typeface="Segoe UI" pitchFamily="34" charset="-122"/>
                <a:cs typeface="Segoe UI" pitchFamily="34" charset="-120"/>
              </a:rPr>
              <a:t>Equal to</a:t>
            </a:r>
            <a:endParaRPr lang="en-US" sz="788" dirty="0"/>
          </a:p>
        </p:txBody>
      </p:sp>
      <p:sp>
        <p:nvSpPr>
          <p:cNvPr id="76" name="Text 73"/>
          <p:cNvSpPr/>
          <p:nvPr/>
        </p:nvSpPr>
        <p:spPr>
          <a:xfrm>
            <a:off x="2628900" y="8993981"/>
            <a:ext cx="191486" cy="114300"/>
          </a:xfrm>
          <a:prstGeom prst="rect">
            <a:avLst/>
          </a:prstGeom>
          <a:noFill/>
          <a:ln/>
        </p:spPr>
        <p:txBody>
          <a:bodyPr wrap="none" lIns="0" tIns="0" rIns="0" bIns="0" rtlCol="0" anchor="ctr">
            <a:spAutoFit/>
          </a:bodyPr>
          <a:lstStyle/>
          <a:p>
            <a:pPr algn="l" indent="0" marL="0">
              <a:buNone/>
            </a:pPr>
            <a:r>
              <a:rPr lang="en-US" sz="788" dirty="0">
                <a:solidFill>
                  <a:srgbClr val="DBEAFE"/>
                </a:solidFill>
                <a:latin typeface="Consolas" pitchFamily="34" charset="0"/>
                <a:ea typeface="Consolas" pitchFamily="34" charset="-122"/>
                <a:cs typeface="Consolas" pitchFamily="34" charset="-120"/>
              </a:rPr>
              <a:t>!=</a:t>
            </a:r>
            <a:endParaRPr lang="en-US" sz="788" dirty="0"/>
          </a:p>
        </p:txBody>
      </p:sp>
      <p:sp>
        <p:nvSpPr>
          <p:cNvPr id="77" name="Text 74"/>
          <p:cNvSpPr/>
          <p:nvPr/>
        </p:nvSpPr>
        <p:spPr>
          <a:xfrm>
            <a:off x="2748948" y="8986838"/>
            <a:ext cx="638556" cy="112514"/>
          </a:xfrm>
          <a:prstGeom prst="rect">
            <a:avLst/>
          </a:prstGeom>
          <a:noFill/>
          <a:ln/>
        </p:spPr>
        <p:txBody>
          <a:bodyPr wrap="none" lIns="0" tIns="0" rIns="0" bIns="0" rtlCol="0" anchor="ctr">
            <a:spAutoFit/>
          </a:bodyPr>
          <a:lstStyle/>
          <a:p>
            <a:pPr algn="l" indent="0" marL="0">
              <a:buNone/>
            </a:pPr>
            <a:r>
              <a:rPr lang="en-US" sz="788" dirty="0">
                <a:solidFill>
                  <a:srgbClr val="F1F5F9"/>
                </a:solidFill>
                <a:latin typeface="Segoe UI" pitchFamily="34" charset="0"/>
                <a:ea typeface="Segoe UI" pitchFamily="34" charset="-122"/>
                <a:cs typeface="Segoe UI" pitchFamily="34" charset="-120"/>
              </a:rPr>
              <a:t>Not equal to</a:t>
            </a:r>
            <a:endParaRPr lang="en-US" sz="788" dirty="0"/>
          </a:p>
        </p:txBody>
      </p:sp>
      <p:sp>
        <p:nvSpPr>
          <p:cNvPr id="78" name="Text 75"/>
          <p:cNvSpPr/>
          <p:nvPr/>
        </p:nvSpPr>
        <p:spPr>
          <a:xfrm>
            <a:off x="2628900" y="9172575"/>
            <a:ext cx="131462" cy="114300"/>
          </a:xfrm>
          <a:prstGeom prst="rect">
            <a:avLst/>
          </a:prstGeom>
          <a:noFill/>
          <a:ln/>
        </p:spPr>
        <p:txBody>
          <a:bodyPr wrap="none" lIns="0" tIns="0" rIns="0" bIns="0" rtlCol="0" anchor="ctr">
            <a:spAutoFit/>
          </a:bodyPr>
          <a:lstStyle/>
          <a:p>
            <a:pPr algn="l" indent="0" marL="0">
              <a:buNone/>
            </a:pPr>
            <a:r>
              <a:rPr lang="en-US" sz="788" dirty="0">
                <a:solidFill>
                  <a:srgbClr val="DBEAFE"/>
                </a:solidFill>
                <a:latin typeface="Consolas" pitchFamily="34" charset="0"/>
                <a:ea typeface="Consolas" pitchFamily="34" charset="-122"/>
                <a:cs typeface="Consolas" pitchFamily="34" charset="-120"/>
              </a:rPr>
              <a:t>&gt;</a:t>
            </a:r>
            <a:endParaRPr lang="en-US" sz="788" dirty="0"/>
          </a:p>
        </p:txBody>
      </p:sp>
      <p:sp>
        <p:nvSpPr>
          <p:cNvPr id="79" name="Text 76"/>
          <p:cNvSpPr/>
          <p:nvPr/>
        </p:nvSpPr>
        <p:spPr>
          <a:xfrm>
            <a:off x="2688924" y="9165431"/>
            <a:ext cx="660741" cy="112514"/>
          </a:xfrm>
          <a:prstGeom prst="rect">
            <a:avLst/>
          </a:prstGeom>
          <a:noFill/>
          <a:ln/>
        </p:spPr>
        <p:txBody>
          <a:bodyPr wrap="none" lIns="0" tIns="0" rIns="0" bIns="0" rtlCol="0" anchor="ctr">
            <a:spAutoFit/>
          </a:bodyPr>
          <a:lstStyle/>
          <a:p>
            <a:pPr algn="l" indent="0" marL="0">
              <a:buNone/>
            </a:pPr>
            <a:r>
              <a:rPr lang="en-US" sz="788" dirty="0">
                <a:solidFill>
                  <a:srgbClr val="F1F5F9"/>
                </a:solidFill>
                <a:latin typeface="Segoe UI" pitchFamily="34" charset="0"/>
                <a:ea typeface="Segoe UI" pitchFamily="34" charset="-122"/>
                <a:cs typeface="Segoe UI" pitchFamily="34" charset="-120"/>
              </a:rPr>
              <a:t>Greater than</a:t>
            </a:r>
            <a:endParaRPr lang="en-US" sz="788" dirty="0"/>
          </a:p>
        </p:txBody>
      </p:sp>
      <p:sp>
        <p:nvSpPr>
          <p:cNvPr id="80" name="Text 77"/>
          <p:cNvSpPr/>
          <p:nvPr/>
        </p:nvSpPr>
        <p:spPr>
          <a:xfrm>
            <a:off x="2628900" y="9351169"/>
            <a:ext cx="131462" cy="114300"/>
          </a:xfrm>
          <a:prstGeom prst="rect">
            <a:avLst/>
          </a:prstGeom>
          <a:noFill/>
          <a:ln/>
        </p:spPr>
        <p:txBody>
          <a:bodyPr wrap="none" lIns="0" tIns="0" rIns="0" bIns="0" rtlCol="0" anchor="ctr">
            <a:spAutoFit/>
          </a:bodyPr>
          <a:lstStyle/>
          <a:p>
            <a:pPr algn="l" indent="0" marL="0">
              <a:buNone/>
            </a:pPr>
            <a:r>
              <a:rPr lang="en-US" sz="788" dirty="0">
                <a:solidFill>
                  <a:srgbClr val="DBEAFE"/>
                </a:solidFill>
                <a:latin typeface="Consolas" pitchFamily="34" charset="0"/>
                <a:ea typeface="Consolas" pitchFamily="34" charset="-122"/>
                <a:cs typeface="Consolas" pitchFamily="34" charset="-120"/>
              </a:rPr>
              <a:t>&lt;</a:t>
            </a:r>
            <a:endParaRPr lang="en-US" sz="788" dirty="0"/>
          </a:p>
        </p:txBody>
      </p:sp>
      <p:sp>
        <p:nvSpPr>
          <p:cNvPr id="81" name="Text 78"/>
          <p:cNvSpPr/>
          <p:nvPr/>
        </p:nvSpPr>
        <p:spPr>
          <a:xfrm>
            <a:off x="2688924" y="9344025"/>
            <a:ext cx="532935" cy="112514"/>
          </a:xfrm>
          <a:prstGeom prst="rect">
            <a:avLst/>
          </a:prstGeom>
          <a:noFill/>
          <a:ln/>
        </p:spPr>
        <p:txBody>
          <a:bodyPr wrap="none" lIns="0" tIns="0" rIns="0" bIns="0" rtlCol="0" anchor="ctr">
            <a:spAutoFit/>
          </a:bodyPr>
          <a:lstStyle/>
          <a:p>
            <a:pPr algn="l" indent="0" marL="0">
              <a:buNone/>
            </a:pPr>
            <a:r>
              <a:rPr lang="en-US" sz="788" dirty="0">
                <a:solidFill>
                  <a:srgbClr val="F1F5F9"/>
                </a:solidFill>
                <a:latin typeface="Segoe UI" pitchFamily="34" charset="0"/>
                <a:ea typeface="Segoe UI" pitchFamily="34" charset="-122"/>
                <a:cs typeface="Segoe UI" pitchFamily="34" charset="-120"/>
              </a:rPr>
              <a:t>Less than</a:t>
            </a:r>
            <a:endParaRPr lang="en-US" sz="788" dirty="0"/>
          </a:p>
        </p:txBody>
      </p:sp>
      <p:sp>
        <p:nvSpPr>
          <p:cNvPr id="82" name="Text 79"/>
          <p:cNvSpPr/>
          <p:nvPr/>
        </p:nvSpPr>
        <p:spPr>
          <a:xfrm>
            <a:off x="2628900" y="9529763"/>
            <a:ext cx="191486" cy="114300"/>
          </a:xfrm>
          <a:prstGeom prst="rect">
            <a:avLst/>
          </a:prstGeom>
          <a:noFill/>
          <a:ln/>
        </p:spPr>
        <p:txBody>
          <a:bodyPr wrap="none" lIns="0" tIns="0" rIns="0" bIns="0" rtlCol="0" anchor="ctr">
            <a:spAutoFit/>
          </a:bodyPr>
          <a:lstStyle/>
          <a:p>
            <a:pPr algn="l" indent="0" marL="0">
              <a:buNone/>
            </a:pPr>
            <a:r>
              <a:rPr lang="en-US" sz="788" dirty="0">
                <a:solidFill>
                  <a:srgbClr val="DBEAFE"/>
                </a:solidFill>
                <a:latin typeface="Consolas" pitchFamily="34" charset="0"/>
                <a:ea typeface="Consolas" pitchFamily="34" charset="-122"/>
                <a:cs typeface="Consolas" pitchFamily="34" charset="-120"/>
              </a:rPr>
              <a:t>&gt;=</a:t>
            </a:r>
            <a:endParaRPr lang="en-US" sz="788" dirty="0"/>
          </a:p>
        </p:txBody>
      </p:sp>
      <p:sp>
        <p:nvSpPr>
          <p:cNvPr id="83" name="Text 80"/>
          <p:cNvSpPr/>
          <p:nvPr/>
        </p:nvSpPr>
        <p:spPr>
          <a:xfrm>
            <a:off x="2748948" y="9522619"/>
            <a:ext cx="1161138" cy="112514"/>
          </a:xfrm>
          <a:prstGeom prst="rect">
            <a:avLst/>
          </a:prstGeom>
          <a:noFill/>
          <a:ln/>
        </p:spPr>
        <p:txBody>
          <a:bodyPr wrap="none" lIns="0" tIns="0" rIns="0" bIns="0" rtlCol="0" anchor="ctr">
            <a:spAutoFit/>
          </a:bodyPr>
          <a:lstStyle/>
          <a:p>
            <a:pPr algn="l" indent="0" marL="0">
              <a:buNone/>
            </a:pPr>
            <a:r>
              <a:rPr lang="en-US" sz="788" dirty="0">
                <a:solidFill>
                  <a:srgbClr val="F1F5F9"/>
                </a:solidFill>
                <a:latin typeface="Segoe UI" pitchFamily="34" charset="0"/>
                <a:ea typeface="Segoe UI" pitchFamily="34" charset="-122"/>
                <a:cs typeface="Segoe UI" pitchFamily="34" charset="-120"/>
              </a:rPr>
              <a:t>Greater than or equal to</a:t>
            </a:r>
            <a:endParaRPr lang="en-US" sz="788" dirty="0"/>
          </a:p>
        </p:txBody>
      </p:sp>
      <p:sp>
        <p:nvSpPr>
          <p:cNvPr id="84" name="Text 81"/>
          <p:cNvSpPr/>
          <p:nvPr/>
        </p:nvSpPr>
        <p:spPr>
          <a:xfrm>
            <a:off x="2628900" y="9708356"/>
            <a:ext cx="191486" cy="114300"/>
          </a:xfrm>
          <a:prstGeom prst="rect">
            <a:avLst/>
          </a:prstGeom>
          <a:noFill/>
          <a:ln/>
        </p:spPr>
        <p:txBody>
          <a:bodyPr wrap="none" lIns="0" tIns="0" rIns="0" bIns="0" rtlCol="0" anchor="ctr">
            <a:spAutoFit/>
          </a:bodyPr>
          <a:lstStyle/>
          <a:p>
            <a:pPr algn="l" indent="0" marL="0">
              <a:buNone/>
            </a:pPr>
            <a:r>
              <a:rPr lang="en-US" sz="788" dirty="0">
                <a:solidFill>
                  <a:srgbClr val="DBEAFE"/>
                </a:solidFill>
                <a:latin typeface="Consolas" pitchFamily="34" charset="0"/>
                <a:ea typeface="Consolas" pitchFamily="34" charset="-122"/>
                <a:cs typeface="Consolas" pitchFamily="34" charset="-120"/>
              </a:rPr>
              <a:t>&lt;=</a:t>
            </a:r>
            <a:endParaRPr lang="en-US" sz="788" dirty="0"/>
          </a:p>
        </p:txBody>
      </p:sp>
      <p:sp>
        <p:nvSpPr>
          <p:cNvPr id="85" name="Text 82"/>
          <p:cNvSpPr/>
          <p:nvPr/>
        </p:nvSpPr>
        <p:spPr>
          <a:xfrm>
            <a:off x="2748948" y="9701213"/>
            <a:ext cx="1033332" cy="112514"/>
          </a:xfrm>
          <a:prstGeom prst="rect">
            <a:avLst/>
          </a:prstGeom>
          <a:noFill/>
          <a:ln/>
        </p:spPr>
        <p:txBody>
          <a:bodyPr wrap="none" lIns="0" tIns="0" rIns="0" bIns="0" rtlCol="0" anchor="ctr">
            <a:spAutoFit/>
          </a:bodyPr>
          <a:lstStyle/>
          <a:p>
            <a:pPr algn="l" indent="0" marL="0">
              <a:buNone/>
            </a:pPr>
            <a:r>
              <a:rPr lang="en-US" sz="788" dirty="0">
                <a:solidFill>
                  <a:srgbClr val="F1F5F9"/>
                </a:solidFill>
                <a:latin typeface="Segoe UI" pitchFamily="34" charset="0"/>
                <a:ea typeface="Segoe UI" pitchFamily="34" charset="-122"/>
                <a:cs typeface="Segoe UI" pitchFamily="34" charset="-120"/>
              </a:rPr>
              <a:t>Less than or equal to</a:t>
            </a:r>
            <a:endParaRPr lang="en-US" sz="788" dirty="0"/>
          </a:p>
        </p:txBody>
      </p:sp>
      <p:sp>
        <p:nvSpPr>
          <p:cNvPr id="86" name="Shape 83"/>
          <p:cNvSpPr/>
          <p:nvPr/>
        </p:nvSpPr>
        <p:spPr>
          <a:xfrm>
            <a:off x="628650" y="10244138"/>
            <a:ext cx="1771650" cy="1528763"/>
          </a:xfrm>
          <a:prstGeom prst="rect">
            <a:avLst/>
          </a:prstGeom>
          <a:solidFill>
            <a:srgbClr val="1E3A8A">
              <a:alpha val="30000"/>
            </a:srgbClr>
          </a:solidFill>
          <a:ln/>
        </p:spPr>
      </p:sp>
      <p:sp>
        <p:nvSpPr>
          <p:cNvPr id="87" name="Text 84"/>
          <p:cNvSpPr/>
          <p:nvPr/>
        </p:nvSpPr>
        <p:spPr>
          <a:xfrm>
            <a:off x="742950" y="10358438"/>
            <a:ext cx="1614488" cy="200025"/>
          </a:xfrm>
          <a:prstGeom prst="rect">
            <a:avLst/>
          </a:prstGeom>
          <a:noFill/>
          <a:ln/>
        </p:spPr>
        <p:txBody>
          <a:bodyPr wrap="square" lIns="0" tIns="0" rIns="0" bIns="0" rtlCol="0" anchor="ctr">
            <a:spAutoFit/>
          </a:bodyPr>
          <a:lstStyle/>
          <a:p>
            <a:pPr indent="0" marL="0">
              <a:buNone/>
            </a:pPr>
            <a:r>
              <a:rPr lang="en-US" sz="1013" b="1" dirty="0">
                <a:solidFill>
                  <a:srgbClr val="F1F5F9"/>
                </a:solidFill>
                <a:latin typeface="Segoe UI" pitchFamily="34" charset="0"/>
                <a:ea typeface="Segoe UI" pitchFamily="34" charset="-122"/>
                <a:cs typeface="Segoe UI" pitchFamily="34" charset="-120"/>
              </a:rPr>
              <a:t>Logical Operators</a:t>
            </a:r>
            <a:endParaRPr lang="en-US" sz="1013" dirty="0"/>
          </a:p>
        </p:txBody>
      </p:sp>
      <p:sp>
        <p:nvSpPr>
          <p:cNvPr id="88" name="Text 85"/>
          <p:cNvSpPr/>
          <p:nvPr/>
        </p:nvSpPr>
        <p:spPr>
          <a:xfrm>
            <a:off x="742950" y="10637044"/>
            <a:ext cx="191486" cy="114300"/>
          </a:xfrm>
          <a:prstGeom prst="rect">
            <a:avLst/>
          </a:prstGeom>
          <a:noFill/>
          <a:ln/>
        </p:spPr>
        <p:txBody>
          <a:bodyPr wrap="none" lIns="0" tIns="0" rIns="0" bIns="0" rtlCol="0" anchor="ctr">
            <a:spAutoFit/>
          </a:bodyPr>
          <a:lstStyle/>
          <a:p>
            <a:pPr algn="l" indent="0" marL="0">
              <a:buNone/>
            </a:pPr>
            <a:r>
              <a:rPr lang="en-US" sz="788" dirty="0">
                <a:solidFill>
                  <a:srgbClr val="DBEAFE"/>
                </a:solidFill>
                <a:latin typeface="Consolas" pitchFamily="34" charset="0"/>
                <a:ea typeface="Consolas" pitchFamily="34" charset="-122"/>
                <a:cs typeface="Consolas" pitchFamily="34" charset="-120"/>
              </a:rPr>
              <a:t>&amp;&amp;</a:t>
            </a:r>
            <a:endParaRPr lang="en-US" sz="788" dirty="0"/>
          </a:p>
        </p:txBody>
      </p:sp>
      <p:sp>
        <p:nvSpPr>
          <p:cNvPr id="89" name="Text 86"/>
          <p:cNvSpPr/>
          <p:nvPr/>
        </p:nvSpPr>
        <p:spPr>
          <a:xfrm>
            <a:off x="862998" y="10629900"/>
            <a:ext cx="649607" cy="112514"/>
          </a:xfrm>
          <a:prstGeom prst="rect">
            <a:avLst/>
          </a:prstGeom>
          <a:noFill/>
          <a:ln/>
        </p:spPr>
        <p:txBody>
          <a:bodyPr wrap="none" lIns="0" tIns="0" rIns="0" bIns="0" rtlCol="0" anchor="ctr">
            <a:spAutoFit/>
          </a:bodyPr>
          <a:lstStyle/>
          <a:p>
            <a:pPr algn="l" indent="0" marL="0">
              <a:buNone/>
            </a:pPr>
            <a:r>
              <a:rPr lang="en-US" sz="788" dirty="0">
                <a:solidFill>
                  <a:srgbClr val="F1F5F9"/>
                </a:solidFill>
                <a:latin typeface="Segoe UI" pitchFamily="34" charset="0"/>
                <a:ea typeface="Segoe UI" pitchFamily="34" charset="-122"/>
                <a:cs typeface="Segoe UI" pitchFamily="34" charset="-120"/>
              </a:rPr>
              <a:t>Logical AND</a:t>
            </a:r>
            <a:endParaRPr lang="en-US" sz="788" dirty="0"/>
          </a:p>
        </p:txBody>
      </p:sp>
      <p:sp>
        <p:nvSpPr>
          <p:cNvPr id="90" name="Text 87"/>
          <p:cNvSpPr/>
          <p:nvPr/>
        </p:nvSpPr>
        <p:spPr>
          <a:xfrm>
            <a:off x="742950" y="10815638"/>
            <a:ext cx="191486" cy="114300"/>
          </a:xfrm>
          <a:prstGeom prst="rect">
            <a:avLst/>
          </a:prstGeom>
          <a:noFill/>
          <a:ln/>
        </p:spPr>
        <p:txBody>
          <a:bodyPr wrap="none" lIns="0" tIns="0" rIns="0" bIns="0" rtlCol="0" anchor="ctr">
            <a:spAutoFit/>
          </a:bodyPr>
          <a:lstStyle/>
          <a:p>
            <a:pPr algn="l" indent="0" marL="0">
              <a:buNone/>
            </a:pPr>
            <a:r>
              <a:rPr lang="en-US" sz="788" dirty="0">
                <a:solidFill>
                  <a:srgbClr val="DBEAFE"/>
                </a:solidFill>
                <a:latin typeface="Consolas" pitchFamily="34" charset="0"/>
                <a:ea typeface="Consolas" pitchFamily="34" charset="-122"/>
                <a:cs typeface="Consolas" pitchFamily="34" charset="-120"/>
              </a:rPr>
              <a:t>||</a:t>
            </a:r>
            <a:endParaRPr lang="en-US" sz="788" dirty="0"/>
          </a:p>
        </p:txBody>
      </p:sp>
      <p:sp>
        <p:nvSpPr>
          <p:cNvPr id="91" name="Text 88"/>
          <p:cNvSpPr/>
          <p:nvPr/>
        </p:nvSpPr>
        <p:spPr>
          <a:xfrm>
            <a:off x="862998" y="10808494"/>
            <a:ext cx="593964" cy="112514"/>
          </a:xfrm>
          <a:prstGeom prst="rect">
            <a:avLst/>
          </a:prstGeom>
          <a:noFill/>
          <a:ln/>
        </p:spPr>
        <p:txBody>
          <a:bodyPr wrap="none" lIns="0" tIns="0" rIns="0" bIns="0" rtlCol="0" anchor="ctr">
            <a:spAutoFit/>
          </a:bodyPr>
          <a:lstStyle/>
          <a:p>
            <a:pPr algn="l" indent="0" marL="0">
              <a:buNone/>
            </a:pPr>
            <a:r>
              <a:rPr lang="en-US" sz="788" dirty="0">
                <a:solidFill>
                  <a:srgbClr val="F1F5F9"/>
                </a:solidFill>
                <a:latin typeface="Segoe UI" pitchFamily="34" charset="0"/>
                <a:ea typeface="Segoe UI" pitchFamily="34" charset="-122"/>
                <a:cs typeface="Segoe UI" pitchFamily="34" charset="-120"/>
              </a:rPr>
              <a:t>Logical OR</a:t>
            </a:r>
            <a:endParaRPr lang="en-US" sz="788" dirty="0"/>
          </a:p>
        </p:txBody>
      </p:sp>
      <p:sp>
        <p:nvSpPr>
          <p:cNvPr id="92" name="Text 89"/>
          <p:cNvSpPr/>
          <p:nvPr/>
        </p:nvSpPr>
        <p:spPr>
          <a:xfrm>
            <a:off x="742950" y="10994231"/>
            <a:ext cx="131462" cy="114300"/>
          </a:xfrm>
          <a:prstGeom prst="rect">
            <a:avLst/>
          </a:prstGeom>
          <a:noFill/>
          <a:ln/>
        </p:spPr>
        <p:txBody>
          <a:bodyPr wrap="none" lIns="0" tIns="0" rIns="0" bIns="0" rtlCol="0" anchor="ctr">
            <a:spAutoFit/>
          </a:bodyPr>
          <a:lstStyle/>
          <a:p>
            <a:pPr algn="l" indent="0" marL="0">
              <a:buNone/>
            </a:pPr>
            <a:r>
              <a:rPr lang="en-US" sz="788" dirty="0">
                <a:solidFill>
                  <a:srgbClr val="DBEAFE"/>
                </a:solidFill>
                <a:latin typeface="Consolas" pitchFamily="34" charset="0"/>
                <a:ea typeface="Consolas" pitchFamily="34" charset="-122"/>
                <a:cs typeface="Consolas" pitchFamily="34" charset="-120"/>
              </a:rPr>
              <a:t>!</a:t>
            </a:r>
            <a:endParaRPr lang="en-US" sz="788" dirty="0"/>
          </a:p>
        </p:txBody>
      </p:sp>
      <p:sp>
        <p:nvSpPr>
          <p:cNvPr id="93" name="Text 90"/>
          <p:cNvSpPr/>
          <p:nvPr/>
        </p:nvSpPr>
        <p:spPr>
          <a:xfrm>
            <a:off x="802974" y="10987088"/>
            <a:ext cx="655076" cy="112514"/>
          </a:xfrm>
          <a:prstGeom prst="rect">
            <a:avLst/>
          </a:prstGeom>
          <a:noFill/>
          <a:ln/>
        </p:spPr>
        <p:txBody>
          <a:bodyPr wrap="none" lIns="0" tIns="0" rIns="0" bIns="0" rtlCol="0" anchor="ctr">
            <a:spAutoFit/>
          </a:bodyPr>
          <a:lstStyle/>
          <a:p>
            <a:pPr algn="l" indent="0" marL="0">
              <a:buNone/>
            </a:pPr>
            <a:r>
              <a:rPr lang="en-US" sz="788" dirty="0">
                <a:solidFill>
                  <a:srgbClr val="F1F5F9"/>
                </a:solidFill>
                <a:latin typeface="Segoe UI" pitchFamily="34" charset="0"/>
                <a:ea typeface="Segoe UI" pitchFamily="34" charset="-122"/>
                <a:cs typeface="Segoe UI" pitchFamily="34" charset="-120"/>
              </a:rPr>
              <a:t>Logical NOT</a:t>
            </a:r>
            <a:endParaRPr lang="en-US" sz="788" dirty="0"/>
          </a:p>
        </p:txBody>
      </p:sp>
      <p:sp>
        <p:nvSpPr>
          <p:cNvPr id="94" name="Shape 91"/>
          <p:cNvSpPr/>
          <p:nvPr/>
        </p:nvSpPr>
        <p:spPr>
          <a:xfrm>
            <a:off x="2514600" y="10244138"/>
            <a:ext cx="1771650" cy="1528763"/>
          </a:xfrm>
          <a:prstGeom prst="rect">
            <a:avLst/>
          </a:prstGeom>
          <a:solidFill>
            <a:srgbClr val="1E3A8A">
              <a:alpha val="30000"/>
            </a:srgbClr>
          </a:solidFill>
          <a:ln/>
        </p:spPr>
      </p:sp>
      <p:sp>
        <p:nvSpPr>
          <p:cNvPr id="95" name="Text 92"/>
          <p:cNvSpPr/>
          <p:nvPr/>
        </p:nvSpPr>
        <p:spPr>
          <a:xfrm>
            <a:off x="2628900" y="10358438"/>
            <a:ext cx="1614488" cy="200025"/>
          </a:xfrm>
          <a:prstGeom prst="rect">
            <a:avLst/>
          </a:prstGeom>
          <a:noFill/>
          <a:ln/>
        </p:spPr>
        <p:txBody>
          <a:bodyPr wrap="square" lIns="0" tIns="0" rIns="0" bIns="0" rtlCol="0" anchor="ctr">
            <a:spAutoFit/>
          </a:bodyPr>
          <a:lstStyle/>
          <a:p>
            <a:pPr indent="0" marL="0">
              <a:buNone/>
            </a:pPr>
            <a:r>
              <a:rPr lang="en-US" sz="1013" b="1" dirty="0">
                <a:solidFill>
                  <a:srgbClr val="F1F5F9"/>
                </a:solidFill>
                <a:latin typeface="Segoe UI" pitchFamily="34" charset="0"/>
                <a:ea typeface="Segoe UI" pitchFamily="34" charset="-122"/>
                <a:cs typeface="Segoe UI" pitchFamily="34" charset="-120"/>
              </a:rPr>
              <a:t>Assignment Operators</a:t>
            </a:r>
            <a:endParaRPr lang="en-US" sz="1013" dirty="0"/>
          </a:p>
        </p:txBody>
      </p:sp>
      <p:sp>
        <p:nvSpPr>
          <p:cNvPr id="96" name="Text 93"/>
          <p:cNvSpPr/>
          <p:nvPr/>
        </p:nvSpPr>
        <p:spPr>
          <a:xfrm>
            <a:off x="2628900" y="10637044"/>
            <a:ext cx="131462" cy="114300"/>
          </a:xfrm>
          <a:prstGeom prst="rect">
            <a:avLst/>
          </a:prstGeom>
          <a:noFill/>
          <a:ln/>
        </p:spPr>
        <p:txBody>
          <a:bodyPr wrap="none" lIns="0" tIns="0" rIns="0" bIns="0" rtlCol="0" anchor="ctr">
            <a:spAutoFit/>
          </a:bodyPr>
          <a:lstStyle/>
          <a:p>
            <a:pPr algn="l" indent="0" marL="0">
              <a:buNone/>
            </a:pPr>
            <a:r>
              <a:rPr lang="en-US" sz="788" dirty="0">
                <a:solidFill>
                  <a:srgbClr val="DBEAFE"/>
                </a:solidFill>
                <a:latin typeface="Consolas" pitchFamily="34" charset="0"/>
                <a:ea typeface="Consolas" pitchFamily="34" charset="-122"/>
                <a:cs typeface="Consolas" pitchFamily="34" charset="-120"/>
              </a:rPr>
              <a:t>=</a:t>
            </a:r>
            <a:endParaRPr lang="en-US" sz="788" dirty="0"/>
          </a:p>
        </p:txBody>
      </p:sp>
      <p:sp>
        <p:nvSpPr>
          <p:cNvPr id="97" name="Text 94"/>
          <p:cNvSpPr/>
          <p:nvPr/>
        </p:nvSpPr>
        <p:spPr>
          <a:xfrm>
            <a:off x="2688924" y="10629900"/>
            <a:ext cx="616232" cy="112514"/>
          </a:xfrm>
          <a:prstGeom prst="rect">
            <a:avLst/>
          </a:prstGeom>
          <a:noFill/>
          <a:ln/>
        </p:spPr>
        <p:txBody>
          <a:bodyPr wrap="none" lIns="0" tIns="0" rIns="0" bIns="0" rtlCol="0" anchor="ctr">
            <a:spAutoFit/>
          </a:bodyPr>
          <a:lstStyle/>
          <a:p>
            <a:pPr algn="l" indent="0" marL="0">
              <a:buNone/>
            </a:pPr>
            <a:r>
              <a:rPr lang="en-US" sz="788" dirty="0">
                <a:solidFill>
                  <a:srgbClr val="F1F5F9"/>
                </a:solidFill>
                <a:latin typeface="Segoe UI" pitchFamily="34" charset="0"/>
                <a:ea typeface="Segoe UI" pitchFamily="34" charset="-122"/>
                <a:cs typeface="Segoe UI" pitchFamily="34" charset="-120"/>
              </a:rPr>
              <a:t>Assignment</a:t>
            </a:r>
            <a:endParaRPr lang="en-US" sz="788" dirty="0"/>
          </a:p>
        </p:txBody>
      </p:sp>
      <p:sp>
        <p:nvSpPr>
          <p:cNvPr id="98" name="Text 95"/>
          <p:cNvSpPr/>
          <p:nvPr/>
        </p:nvSpPr>
        <p:spPr>
          <a:xfrm>
            <a:off x="2628900" y="10815638"/>
            <a:ext cx="191486" cy="114300"/>
          </a:xfrm>
          <a:prstGeom prst="rect">
            <a:avLst/>
          </a:prstGeom>
          <a:noFill/>
          <a:ln/>
        </p:spPr>
        <p:txBody>
          <a:bodyPr wrap="none" lIns="0" tIns="0" rIns="0" bIns="0" rtlCol="0" anchor="ctr">
            <a:spAutoFit/>
          </a:bodyPr>
          <a:lstStyle/>
          <a:p>
            <a:pPr algn="l" indent="0" marL="0">
              <a:buNone/>
            </a:pPr>
            <a:r>
              <a:rPr lang="en-US" sz="788" dirty="0">
                <a:solidFill>
                  <a:srgbClr val="DBEAFE"/>
                </a:solidFill>
                <a:latin typeface="Consolas" pitchFamily="34" charset="0"/>
                <a:ea typeface="Consolas" pitchFamily="34" charset="-122"/>
                <a:cs typeface="Consolas" pitchFamily="34" charset="-120"/>
              </a:rPr>
              <a:t>+=</a:t>
            </a:r>
            <a:endParaRPr lang="en-US" sz="788" dirty="0"/>
          </a:p>
        </p:txBody>
      </p:sp>
      <p:sp>
        <p:nvSpPr>
          <p:cNvPr id="99" name="Text 96"/>
          <p:cNvSpPr/>
          <p:nvPr/>
        </p:nvSpPr>
        <p:spPr>
          <a:xfrm>
            <a:off x="2748948" y="10808494"/>
            <a:ext cx="783217" cy="112514"/>
          </a:xfrm>
          <a:prstGeom prst="rect">
            <a:avLst/>
          </a:prstGeom>
          <a:noFill/>
          <a:ln/>
        </p:spPr>
        <p:txBody>
          <a:bodyPr wrap="none" lIns="0" tIns="0" rIns="0" bIns="0" rtlCol="0" anchor="ctr">
            <a:spAutoFit/>
          </a:bodyPr>
          <a:lstStyle/>
          <a:p>
            <a:pPr algn="l" indent="0" marL="0">
              <a:buNone/>
            </a:pPr>
            <a:r>
              <a:rPr lang="en-US" sz="788" dirty="0">
                <a:solidFill>
                  <a:srgbClr val="F1F5F9"/>
                </a:solidFill>
                <a:latin typeface="Segoe UI" pitchFamily="34" charset="0"/>
                <a:ea typeface="Segoe UI" pitchFamily="34" charset="-122"/>
                <a:cs typeface="Segoe UI" pitchFamily="34" charset="-120"/>
              </a:rPr>
              <a:t>Add and assign</a:t>
            </a:r>
            <a:endParaRPr lang="en-US" sz="788" dirty="0"/>
          </a:p>
        </p:txBody>
      </p:sp>
      <p:sp>
        <p:nvSpPr>
          <p:cNvPr id="100" name="Text 97"/>
          <p:cNvSpPr/>
          <p:nvPr/>
        </p:nvSpPr>
        <p:spPr>
          <a:xfrm>
            <a:off x="2628900" y="10994231"/>
            <a:ext cx="191486" cy="114300"/>
          </a:xfrm>
          <a:prstGeom prst="rect">
            <a:avLst/>
          </a:prstGeom>
          <a:noFill/>
          <a:ln/>
        </p:spPr>
        <p:txBody>
          <a:bodyPr wrap="none" lIns="0" tIns="0" rIns="0" bIns="0" rtlCol="0" anchor="ctr">
            <a:spAutoFit/>
          </a:bodyPr>
          <a:lstStyle/>
          <a:p>
            <a:pPr algn="l" indent="0" marL="0">
              <a:buNone/>
            </a:pPr>
            <a:r>
              <a:rPr lang="en-US" sz="788" dirty="0">
                <a:solidFill>
                  <a:srgbClr val="DBEAFE"/>
                </a:solidFill>
                <a:latin typeface="Consolas" pitchFamily="34" charset="0"/>
                <a:ea typeface="Consolas" pitchFamily="34" charset="-122"/>
                <a:cs typeface="Consolas" pitchFamily="34" charset="-120"/>
              </a:rPr>
              <a:t>-=</a:t>
            </a:r>
            <a:endParaRPr lang="en-US" sz="788" dirty="0"/>
          </a:p>
        </p:txBody>
      </p:sp>
      <p:sp>
        <p:nvSpPr>
          <p:cNvPr id="101" name="Text 98"/>
          <p:cNvSpPr/>
          <p:nvPr/>
        </p:nvSpPr>
        <p:spPr>
          <a:xfrm>
            <a:off x="2748948" y="10987088"/>
            <a:ext cx="983242" cy="112514"/>
          </a:xfrm>
          <a:prstGeom prst="rect">
            <a:avLst/>
          </a:prstGeom>
          <a:noFill/>
          <a:ln/>
        </p:spPr>
        <p:txBody>
          <a:bodyPr wrap="none" lIns="0" tIns="0" rIns="0" bIns="0" rtlCol="0" anchor="ctr">
            <a:spAutoFit/>
          </a:bodyPr>
          <a:lstStyle/>
          <a:p>
            <a:pPr algn="l" indent="0" marL="0">
              <a:buNone/>
            </a:pPr>
            <a:r>
              <a:rPr lang="en-US" sz="788" dirty="0">
                <a:solidFill>
                  <a:srgbClr val="F1F5F9"/>
                </a:solidFill>
                <a:latin typeface="Segoe UI" pitchFamily="34" charset="0"/>
                <a:ea typeface="Segoe UI" pitchFamily="34" charset="-122"/>
                <a:cs typeface="Segoe UI" pitchFamily="34" charset="-120"/>
              </a:rPr>
              <a:t>Subtract and assign</a:t>
            </a:r>
            <a:endParaRPr lang="en-US" sz="788" dirty="0"/>
          </a:p>
        </p:txBody>
      </p:sp>
      <p:sp>
        <p:nvSpPr>
          <p:cNvPr id="102" name="Text 99"/>
          <p:cNvSpPr/>
          <p:nvPr/>
        </p:nvSpPr>
        <p:spPr>
          <a:xfrm>
            <a:off x="2628900" y="11172825"/>
            <a:ext cx="191486" cy="114300"/>
          </a:xfrm>
          <a:prstGeom prst="rect">
            <a:avLst/>
          </a:prstGeom>
          <a:noFill/>
          <a:ln/>
        </p:spPr>
        <p:txBody>
          <a:bodyPr wrap="none" lIns="0" tIns="0" rIns="0" bIns="0" rtlCol="0" anchor="ctr">
            <a:spAutoFit/>
          </a:bodyPr>
          <a:lstStyle/>
          <a:p>
            <a:pPr algn="l" indent="0" marL="0">
              <a:buNone/>
            </a:pPr>
            <a:r>
              <a:rPr lang="en-US" sz="788" dirty="0">
                <a:solidFill>
                  <a:srgbClr val="DBEAFE"/>
                </a:solidFill>
                <a:latin typeface="Consolas" pitchFamily="34" charset="0"/>
                <a:ea typeface="Consolas" pitchFamily="34" charset="-122"/>
                <a:cs typeface="Consolas" pitchFamily="34" charset="-120"/>
              </a:rPr>
              <a:t>*=</a:t>
            </a:r>
            <a:endParaRPr lang="en-US" sz="788" dirty="0"/>
          </a:p>
        </p:txBody>
      </p:sp>
      <p:sp>
        <p:nvSpPr>
          <p:cNvPr id="103" name="Text 100"/>
          <p:cNvSpPr/>
          <p:nvPr/>
        </p:nvSpPr>
        <p:spPr>
          <a:xfrm>
            <a:off x="2748948" y="11165681"/>
            <a:ext cx="949784" cy="112514"/>
          </a:xfrm>
          <a:prstGeom prst="rect">
            <a:avLst/>
          </a:prstGeom>
          <a:noFill/>
          <a:ln/>
        </p:spPr>
        <p:txBody>
          <a:bodyPr wrap="none" lIns="0" tIns="0" rIns="0" bIns="0" rtlCol="0" anchor="ctr">
            <a:spAutoFit/>
          </a:bodyPr>
          <a:lstStyle/>
          <a:p>
            <a:pPr algn="l" indent="0" marL="0">
              <a:buNone/>
            </a:pPr>
            <a:r>
              <a:rPr lang="en-US" sz="788" dirty="0">
                <a:solidFill>
                  <a:srgbClr val="F1F5F9"/>
                </a:solidFill>
                <a:latin typeface="Segoe UI" pitchFamily="34" charset="0"/>
                <a:ea typeface="Segoe UI" pitchFamily="34" charset="-122"/>
                <a:cs typeface="Segoe UI" pitchFamily="34" charset="-120"/>
              </a:rPr>
              <a:t>Multiply and assign</a:t>
            </a:r>
            <a:endParaRPr lang="en-US" sz="788" dirty="0"/>
          </a:p>
        </p:txBody>
      </p:sp>
      <p:sp>
        <p:nvSpPr>
          <p:cNvPr id="104" name="Text 101"/>
          <p:cNvSpPr/>
          <p:nvPr/>
        </p:nvSpPr>
        <p:spPr>
          <a:xfrm>
            <a:off x="2628900" y="11351419"/>
            <a:ext cx="191486" cy="114300"/>
          </a:xfrm>
          <a:prstGeom prst="rect">
            <a:avLst/>
          </a:prstGeom>
          <a:noFill/>
          <a:ln/>
        </p:spPr>
        <p:txBody>
          <a:bodyPr wrap="none" lIns="0" tIns="0" rIns="0" bIns="0" rtlCol="0" anchor="ctr">
            <a:spAutoFit/>
          </a:bodyPr>
          <a:lstStyle/>
          <a:p>
            <a:pPr algn="l" indent="0" marL="0">
              <a:buNone/>
            </a:pPr>
            <a:r>
              <a:rPr lang="en-US" sz="788" dirty="0">
                <a:solidFill>
                  <a:srgbClr val="DBEAFE"/>
                </a:solidFill>
                <a:latin typeface="Consolas" pitchFamily="34" charset="0"/>
                <a:ea typeface="Consolas" pitchFamily="34" charset="-122"/>
                <a:cs typeface="Consolas" pitchFamily="34" charset="-120"/>
              </a:rPr>
              <a:t>/=</a:t>
            </a:r>
            <a:endParaRPr lang="en-US" sz="788" dirty="0"/>
          </a:p>
        </p:txBody>
      </p:sp>
      <p:sp>
        <p:nvSpPr>
          <p:cNvPr id="105" name="Text 102"/>
          <p:cNvSpPr/>
          <p:nvPr/>
        </p:nvSpPr>
        <p:spPr>
          <a:xfrm>
            <a:off x="2748948" y="11344275"/>
            <a:ext cx="888699" cy="112514"/>
          </a:xfrm>
          <a:prstGeom prst="rect">
            <a:avLst/>
          </a:prstGeom>
          <a:noFill/>
          <a:ln/>
        </p:spPr>
        <p:txBody>
          <a:bodyPr wrap="none" lIns="0" tIns="0" rIns="0" bIns="0" rtlCol="0" anchor="ctr">
            <a:spAutoFit/>
          </a:bodyPr>
          <a:lstStyle/>
          <a:p>
            <a:pPr algn="l" indent="0" marL="0">
              <a:buNone/>
            </a:pPr>
            <a:r>
              <a:rPr lang="en-US" sz="788" dirty="0">
                <a:solidFill>
                  <a:srgbClr val="F1F5F9"/>
                </a:solidFill>
                <a:latin typeface="Segoe UI" pitchFamily="34" charset="0"/>
                <a:ea typeface="Segoe UI" pitchFamily="34" charset="-122"/>
                <a:cs typeface="Segoe UI" pitchFamily="34" charset="-120"/>
              </a:rPr>
              <a:t>Divide and assign</a:t>
            </a:r>
            <a:endParaRPr lang="en-US" sz="788" dirty="0"/>
          </a:p>
        </p:txBody>
      </p:sp>
      <p:sp>
        <p:nvSpPr>
          <p:cNvPr id="106" name="Text 103"/>
          <p:cNvSpPr/>
          <p:nvPr/>
        </p:nvSpPr>
        <p:spPr>
          <a:xfrm>
            <a:off x="2628900" y="11530013"/>
            <a:ext cx="191486" cy="114300"/>
          </a:xfrm>
          <a:prstGeom prst="rect">
            <a:avLst/>
          </a:prstGeom>
          <a:noFill/>
          <a:ln/>
        </p:spPr>
        <p:txBody>
          <a:bodyPr wrap="none" lIns="0" tIns="0" rIns="0" bIns="0" rtlCol="0" anchor="ctr">
            <a:spAutoFit/>
          </a:bodyPr>
          <a:lstStyle/>
          <a:p>
            <a:pPr algn="l" indent="0" marL="0">
              <a:buNone/>
            </a:pPr>
            <a:r>
              <a:rPr lang="en-US" sz="788" dirty="0">
                <a:solidFill>
                  <a:srgbClr val="DBEAFE"/>
                </a:solidFill>
                <a:latin typeface="Consolas" pitchFamily="34" charset="0"/>
                <a:ea typeface="Consolas" pitchFamily="34" charset="-122"/>
                <a:cs typeface="Consolas" pitchFamily="34" charset="-120"/>
              </a:rPr>
              <a:t>%=</a:t>
            </a:r>
            <a:endParaRPr lang="en-US" sz="788" dirty="0"/>
          </a:p>
        </p:txBody>
      </p:sp>
      <p:sp>
        <p:nvSpPr>
          <p:cNvPr id="107" name="Text 104"/>
          <p:cNvSpPr/>
          <p:nvPr/>
        </p:nvSpPr>
        <p:spPr>
          <a:xfrm>
            <a:off x="2748948" y="11522869"/>
            <a:ext cx="988795" cy="112514"/>
          </a:xfrm>
          <a:prstGeom prst="rect">
            <a:avLst/>
          </a:prstGeom>
          <a:noFill/>
          <a:ln/>
        </p:spPr>
        <p:txBody>
          <a:bodyPr wrap="none" lIns="0" tIns="0" rIns="0" bIns="0" rtlCol="0" anchor="ctr">
            <a:spAutoFit/>
          </a:bodyPr>
          <a:lstStyle/>
          <a:p>
            <a:pPr algn="l" indent="0" marL="0">
              <a:buNone/>
            </a:pPr>
            <a:r>
              <a:rPr lang="en-US" sz="788" dirty="0">
                <a:solidFill>
                  <a:srgbClr val="F1F5F9"/>
                </a:solidFill>
                <a:latin typeface="Segoe UI" pitchFamily="34" charset="0"/>
                <a:ea typeface="Segoe UI" pitchFamily="34" charset="-122"/>
                <a:cs typeface="Segoe UI" pitchFamily="34" charset="-120"/>
              </a:rPr>
              <a:t>Modulus and assign</a:t>
            </a:r>
            <a:endParaRPr lang="en-US" sz="788" dirty="0"/>
          </a:p>
        </p:txBody>
      </p:sp>
      <p:sp>
        <p:nvSpPr>
          <p:cNvPr id="108" name="Shape 105"/>
          <p:cNvSpPr/>
          <p:nvPr/>
        </p:nvSpPr>
        <p:spPr>
          <a:xfrm>
            <a:off x="4686300" y="971550"/>
            <a:ext cx="4000500" cy="13144500"/>
          </a:xfrm>
          <a:prstGeom prst="rect">
            <a:avLst/>
          </a:prstGeom>
          <a:solidFill>
            <a:srgbClr val="FFFFFF">
              <a:alpha val="10000"/>
            </a:srgbClr>
          </a:solidFill>
          <a:ln w="99">
            <a:solidFill>
              <a:srgbClr val="60A5FA">
                <a:alpha val="30000"/>
              </a:srgbClr>
            </a:solidFill>
            <a:prstDash val="solid"/>
          </a:ln>
        </p:spPr>
      </p:sp>
      <p:sp>
        <p:nvSpPr>
          <p:cNvPr id="109" name="Text 106"/>
          <p:cNvSpPr/>
          <p:nvPr/>
        </p:nvSpPr>
        <p:spPr>
          <a:xfrm>
            <a:off x="4857750" y="1143000"/>
            <a:ext cx="3729038" cy="228600"/>
          </a:xfrm>
          <a:prstGeom prst="rect">
            <a:avLst/>
          </a:prstGeom>
          <a:noFill/>
          <a:ln/>
        </p:spPr>
        <p:txBody>
          <a:bodyPr wrap="square" lIns="0" tIns="0" rIns="0" bIns="0" rtlCol="0" anchor="ctr">
            <a:spAutoFit/>
          </a:bodyPr>
          <a:lstStyle/>
          <a:p>
            <a:pPr indent="0" marL="0">
              <a:buNone/>
            </a:pPr>
            <a:r>
              <a:rPr lang="en-US" sz="1350" b="1" dirty="0">
                <a:solidFill>
                  <a:srgbClr val="BFDBFE"/>
                </a:solidFill>
                <a:latin typeface="Segoe UI" pitchFamily="34" charset="0"/>
                <a:ea typeface="Segoe UI" pitchFamily="34" charset="-122"/>
                <a:cs typeface="Segoe UI" pitchFamily="34" charset="-120"/>
              </a:rPr>
              <a:t>Control Flow Statements</a:t>
            </a:r>
            <a:endParaRPr lang="en-US" sz="1350" dirty="0"/>
          </a:p>
        </p:txBody>
      </p:sp>
      <p:sp>
        <p:nvSpPr>
          <p:cNvPr id="110" name="Shape 107"/>
          <p:cNvSpPr/>
          <p:nvPr/>
        </p:nvSpPr>
        <p:spPr>
          <a:xfrm>
            <a:off x="4857750" y="1485900"/>
            <a:ext cx="3657600" cy="4357688"/>
          </a:xfrm>
          <a:prstGeom prst="rect">
            <a:avLst/>
          </a:prstGeom>
          <a:solidFill>
            <a:srgbClr val="1E3A8A">
              <a:alpha val="30000"/>
            </a:srgbClr>
          </a:solidFill>
          <a:ln/>
        </p:spPr>
      </p:sp>
      <p:sp>
        <p:nvSpPr>
          <p:cNvPr id="111" name="Shape 108"/>
          <p:cNvSpPr/>
          <p:nvPr/>
        </p:nvSpPr>
        <p:spPr>
          <a:xfrm>
            <a:off x="4857750" y="1485900"/>
            <a:ext cx="28575" cy="4357688"/>
          </a:xfrm>
          <a:prstGeom prst="rect">
            <a:avLst/>
          </a:prstGeom>
          <a:solidFill>
            <a:srgbClr val="60A5FA"/>
          </a:solidFill>
          <a:ln/>
        </p:spPr>
      </p:sp>
      <p:sp>
        <p:nvSpPr>
          <p:cNvPr id="112" name="Text 109"/>
          <p:cNvSpPr/>
          <p:nvPr/>
        </p:nvSpPr>
        <p:spPr>
          <a:xfrm>
            <a:off x="4972050" y="1571625"/>
            <a:ext cx="3614738" cy="200025"/>
          </a:xfrm>
          <a:prstGeom prst="rect">
            <a:avLst/>
          </a:prstGeom>
          <a:noFill/>
          <a:ln/>
        </p:spPr>
        <p:txBody>
          <a:bodyPr wrap="square" lIns="0" tIns="0" rIns="0" bIns="0" rtlCol="0" anchor="ctr">
            <a:spAutoFit/>
          </a:bodyPr>
          <a:lstStyle/>
          <a:p>
            <a:pPr indent="0" marL="0">
              <a:buNone/>
            </a:pPr>
            <a:r>
              <a:rPr lang="en-US" sz="1125" b="1" dirty="0">
                <a:solidFill>
                  <a:srgbClr val="F1F5F9"/>
                </a:solidFill>
                <a:latin typeface="Segoe UI" pitchFamily="34" charset="0"/>
                <a:ea typeface="Segoe UI" pitchFamily="34" charset="-122"/>
                <a:cs typeface="Segoe UI" pitchFamily="34" charset="-120"/>
              </a:rPr>
              <a:t>If-Else Statements</a:t>
            </a:r>
            <a:endParaRPr lang="en-US" sz="1125" dirty="0"/>
          </a:p>
        </p:txBody>
      </p:sp>
      <p:sp>
        <p:nvSpPr>
          <p:cNvPr id="113" name="Shape 110"/>
          <p:cNvSpPr/>
          <p:nvPr/>
        </p:nvSpPr>
        <p:spPr>
          <a:xfrm>
            <a:off x="4972050" y="1800225"/>
            <a:ext cx="3543300" cy="3957638"/>
          </a:xfrm>
          <a:prstGeom prst="rect">
            <a:avLst/>
          </a:prstGeom>
          <a:solidFill>
            <a:srgbClr val="1E293B">
              <a:alpha val="80000"/>
            </a:srgbClr>
          </a:solidFill>
          <a:ln w="99">
            <a:solidFill>
              <a:srgbClr val="60A5FA">
                <a:alpha val="30000"/>
              </a:srgbClr>
            </a:solidFill>
            <a:prstDash val="solid"/>
          </a:ln>
        </p:spPr>
      </p:sp>
      <p:sp>
        <p:nvSpPr>
          <p:cNvPr id="114" name="Text 111"/>
          <p:cNvSpPr/>
          <p:nvPr/>
        </p:nvSpPr>
        <p:spPr>
          <a:xfrm>
            <a:off x="5057775" y="1941314"/>
            <a:ext cx="688758" cy="96441"/>
          </a:xfrm>
          <a:prstGeom prst="rect">
            <a:avLst/>
          </a:prstGeom>
          <a:noFill/>
          <a:ln/>
        </p:spPr>
        <p:txBody>
          <a:bodyPr wrap="none" lIns="0" tIns="0" rIns="0" bIns="0" rtlCol="0" anchor="ctr">
            <a:spAutoFit/>
          </a:bodyPr>
          <a:lstStyle/>
          <a:p>
            <a:pPr indent="0" marL="0">
              <a:buNone/>
            </a:pPr>
            <a:r>
              <a:rPr lang="en-US" sz="675" dirty="0">
                <a:solidFill>
                  <a:srgbClr val="DBEAFE"/>
                </a:solidFill>
                <a:latin typeface="Consolas" pitchFamily="34" charset="0"/>
                <a:ea typeface="Consolas" pitchFamily="34" charset="-122"/>
                <a:cs typeface="Consolas" pitchFamily="34" charset="-120"/>
              </a:rPr>
              <a:t>// Simple if</a:t>
            </a:r>
            <a:endParaRPr lang="en-US" sz="675" dirty="0"/>
          </a:p>
        </p:txBody>
      </p:sp>
      <p:sp>
        <p:nvSpPr>
          <p:cNvPr id="115" name="Text 112"/>
          <p:cNvSpPr/>
          <p:nvPr/>
        </p:nvSpPr>
        <p:spPr>
          <a:xfrm>
            <a:off x="5057775" y="2112764"/>
            <a:ext cx="894531" cy="96441"/>
          </a:xfrm>
          <a:prstGeom prst="rect">
            <a:avLst/>
          </a:prstGeom>
          <a:noFill/>
          <a:ln/>
        </p:spPr>
        <p:txBody>
          <a:bodyPr wrap="none" lIns="0" tIns="0" rIns="0" bIns="0" rtlCol="0" anchor="ctr">
            <a:spAutoFit/>
          </a:bodyPr>
          <a:lstStyle/>
          <a:p>
            <a:pPr indent="0" marL="0">
              <a:buNone/>
            </a:pPr>
            <a:r>
              <a:rPr lang="en-US" sz="675" dirty="0">
                <a:solidFill>
                  <a:srgbClr val="DBEAFE"/>
                </a:solidFill>
                <a:latin typeface="Consolas" pitchFamily="34" charset="0"/>
                <a:ea typeface="Consolas" pitchFamily="34" charset="-122"/>
                <a:cs typeface="Consolas" pitchFamily="34" charset="-120"/>
              </a:rPr>
              <a:t>if (age &gt;= 18) {</a:t>
            </a:r>
            <a:endParaRPr lang="en-US" sz="675" dirty="0"/>
          </a:p>
        </p:txBody>
      </p:sp>
      <p:sp>
        <p:nvSpPr>
          <p:cNvPr id="116" name="Text 113"/>
          <p:cNvSpPr/>
          <p:nvPr/>
        </p:nvSpPr>
        <p:spPr>
          <a:xfrm>
            <a:off x="5057775" y="2284214"/>
            <a:ext cx="2232059" cy="96441"/>
          </a:xfrm>
          <a:prstGeom prst="rect">
            <a:avLst/>
          </a:prstGeom>
          <a:noFill/>
          <a:ln/>
        </p:spPr>
        <p:txBody>
          <a:bodyPr wrap="square" lIns="0" tIns="0" rIns="0" bIns="0" rtlCol="0" anchor="ctr">
            <a:spAutoFit/>
          </a:bodyPr>
          <a:lstStyle/>
          <a:p>
            <a:pPr indent="0" marL="0">
              <a:buNone/>
            </a:pPr>
            <a:r>
              <a:rPr lang="en-US" sz="675" dirty="0">
                <a:solidFill>
                  <a:srgbClr val="DBEAFE"/>
                </a:solidFill>
                <a:latin typeface="Consolas" pitchFamily="34" charset="0"/>
                <a:ea typeface="Consolas" pitchFamily="34" charset="-122"/>
                <a:cs typeface="Consolas" pitchFamily="34" charset="-120"/>
              </a:rPr>
              <a:t>System.out.println("You are an adult.");</a:t>
            </a:r>
            <a:endParaRPr lang="en-US" sz="675" dirty="0"/>
          </a:p>
        </p:txBody>
      </p:sp>
      <p:sp>
        <p:nvSpPr>
          <p:cNvPr id="117" name="Text 114"/>
          <p:cNvSpPr/>
          <p:nvPr/>
        </p:nvSpPr>
        <p:spPr>
          <a:xfrm>
            <a:off x="5057775" y="2455664"/>
            <a:ext cx="122895" cy="96441"/>
          </a:xfrm>
          <a:prstGeom prst="rect">
            <a:avLst/>
          </a:prstGeom>
          <a:noFill/>
          <a:ln/>
        </p:spPr>
        <p:txBody>
          <a:bodyPr wrap="none" lIns="0" tIns="0" rIns="0" bIns="0" rtlCol="0" anchor="ctr">
            <a:spAutoFit/>
          </a:bodyPr>
          <a:lstStyle/>
          <a:p>
            <a:pPr indent="0" marL="0">
              <a:buNone/>
            </a:pPr>
            <a:r>
              <a:rPr lang="en-US" sz="675" dirty="0">
                <a:solidFill>
                  <a:srgbClr val="DBEAFE"/>
                </a:solidFill>
                <a:latin typeface="Consolas" pitchFamily="34" charset="0"/>
                <a:ea typeface="Consolas" pitchFamily="34" charset="-122"/>
                <a:cs typeface="Consolas" pitchFamily="34" charset="-120"/>
              </a:rPr>
              <a:t>}</a:t>
            </a:r>
            <a:endParaRPr lang="en-US" sz="675" dirty="0"/>
          </a:p>
        </p:txBody>
      </p:sp>
      <p:sp>
        <p:nvSpPr>
          <p:cNvPr id="118" name="Text 115"/>
          <p:cNvSpPr/>
          <p:nvPr/>
        </p:nvSpPr>
        <p:spPr>
          <a:xfrm>
            <a:off x="5057775" y="2798564"/>
            <a:ext cx="585871" cy="96441"/>
          </a:xfrm>
          <a:prstGeom prst="rect">
            <a:avLst/>
          </a:prstGeom>
          <a:noFill/>
          <a:ln/>
        </p:spPr>
        <p:txBody>
          <a:bodyPr wrap="none" lIns="0" tIns="0" rIns="0" bIns="0" rtlCol="0" anchor="ctr">
            <a:spAutoFit/>
          </a:bodyPr>
          <a:lstStyle/>
          <a:p>
            <a:pPr indent="0" marL="0">
              <a:buNone/>
            </a:pPr>
            <a:r>
              <a:rPr lang="en-US" sz="675" dirty="0">
                <a:solidFill>
                  <a:srgbClr val="DBEAFE"/>
                </a:solidFill>
                <a:latin typeface="Consolas" pitchFamily="34" charset="0"/>
                <a:ea typeface="Consolas" pitchFamily="34" charset="-122"/>
                <a:cs typeface="Consolas" pitchFamily="34" charset="-120"/>
              </a:rPr>
              <a:t>// If-else</a:t>
            </a:r>
            <a:endParaRPr lang="en-US" sz="675" dirty="0"/>
          </a:p>
        </p:txBody>
      </p:sp>
      <p:sp>
        <p:nvSpPr>
          <p:cNvPr id="119" name="Text 116"/>
          <p:cNvSpPr/>
          <p:nvPr/>
        </p:nvSpPr>
        <p:spPr>
          <a:xfrm>
            <a:off x="5057775" y="2970014"/>
            <a:ext cx="997418" cy="96441"/>
          </a:xfrm>
          <a:prstGeom prst="rect">
            <a:avLst/>
          </a:prstGeom>
          <a:noFill/>
          <a:ln/>
        </p:spPr>
        <p:txBody>
          <a:bodyPr wrap="none" lIns="0" tIns="0" rIns="0" bIns="0" rtlCol="0" anchor="ctr">
            <a:spAutoFit/>
          </a:bodyPr>
          <a:lstStyle/>
          <a:p>
            <a:pPr indent="0" marL="0">
              <a:buNone/>
            </a:pPr>
            <a:r>
              <a:rPr lang="en-US" sz="675" dirty="0">
                <a:solidFill>
                  <a:srgbClr val="DBEAFE"/>
                </a:solidFill>
                <a:latin typeface="Consolas" pitchFamily="34" charset="0"/>
                <a:ea typeface="Consolas" pitchFamily="34" charset="-122"/>
                <a:cs typeface="Consolas" pitchFamily="34" charset="-120"/>
              </a:rPr>
              <a:t>if (score &gt;= 60) {</a:t>
            </a:r>
            <a:endParaRPr lang="en-US" sz="675" dirty="0"/>
          </a:p>
        </p:txBody>
      </p:sp>
      <p:sp>
        <p:nvSpPr>
          <p:cNvPr id="120" name="Text 117"/>
          <p:cNvSpPr/>
          <p:nvPr/>
        </p:nvSpPr>
        <p:spPr>
          <a:xfrm>
            <a:off x="5057775" y="3141464"/>
            <a:ext cx="1923399" cy="96441"/>
          </a:xfrm>
          <a:prstGeom prst="rect">
            <a:avLst/>
          </a:prstGeom>
          <a:noFill/>
          <a:ln/>
        </p:spPr>
        <p:txBody>
          <a:bodyPr wrap="square" lIns="0" tIns="0" rIns="0" bIns="0" rtlCol="0" anchor="ctr">
            <a:spAutoFit/>
          </a:bodyPr>
          <a:lstStyle/>
          <a:p>
            <a:pPr indent="0" marL="0">
              <a:buNone/>
            </a:pPr>
            <a:r>
              <a:rPr lang="en-US" sz="675" dirty="0">
                <a:solidFill>
                  <a:srgbClr val="DBEAFE"/>
                </a:solidFill>
                <a:latin typeface="Consolas" pitchFamily="34" charset="0"/>
                <a:ea typeface="Consolas" pitchFamily="34" charset="-122"/>
                <a:cs typeface="Consolas" pitchFamily="34" charset="-120"/>
              </a:rPr>
              <a:t>System.out.println("You passed!");</a:t>
            </a:r>
            <a:endParaRPr lang="en-US" sz="675" dirty="0"/>
          </a:p>
        </p:txBody>
      </p:sp>
      <p:sp>
        <p:nvSpPr>
          <p:cNvPr id="121" name="Text 118"/>
          <p:cNvSpPr/>
          <p:nvPr/>
        </p:nvSpPr>
        <p:spPr>
          <a:xfrm>
            <a:off x="5057775" y="3312914"/>
            <a:ext cx="482984" cy="96441"/>
          </a:xfrm>
          <a:prstGeom prst="rect">
            <a:avLst/>
          </a:prstGeom>
          <a:noFill/>
          <a:ln/>
        </p:spPr>
        <p:txBody>
          <a:bodyPr wrap="none" lIns="0" tIns="0" rIns="0" bIns="0" rtlCol="0" anchor="ctr">
            <a:spAutoFit/>
          </a:bodyPr>
          <a:lstStyle/>
          <a:p>
            <a:pPr indent="0" marL="0">
              <a:buNone/>
            </a:pPr>
            <a:r>
              <a:rPr lang="en-US" sz="675" dirty="0">
                <a:solidFill>
                  <a:srgbClr val="DBEAFE"/>
                </a:solidFill>
                <a:latin typeface="Consolas" pitchFamily="34" charset="0"/>
                <a:ea typeface="Consolas" pitchFamily="34" charset="-122"/>
                <a:cs typeface="Consolas" pitchFamily="34" charset="-120"/>
              </a:rPr>
              <a:t>} else {</a:t>
            </a:r>
            <a:endParaRPr lang="en-US" sz="675" dirty="0"/>
          </a:p>
        </p:txBody>
      </p:sp>
      <p:sp>
        <p:nvSpPr>
          <p:cNvPr id="122" name="Text 119"/>
          <p:cNvSpPr/>
          <p:nvPr/>
        </p:nvSpPr>
        <p:spPr>
          <a:xfrm>
            <a:off x="5057775" y="3484364"/>
            <a:ext cx="1923399" cy="96441"/>
          </a:xfrm>
          <a:prstGeom prst="rect">
            <a:avLst/>
          </a:prstGeom>
          <a:noFill/>
          <a:ln/>
        </p:spPr>
        <p:txBody>
          <a:bodyPr wrap="square" lIns="0" tIns="0" rIns="0" bIns="0" rtlCol="0" anchor="ctr">
            <a:spAutoFit/>
          </a:bodyPr>
          <a:lstStyle/>
          <a:p>
            <a:pPr indent="0" marL="0">
              <a:buNone/>
            </a:pPr>
            <a:r>
              <a:rPr lang="en-US" sz="675" dirty="0">
                <a:solidFill>
                  <a:srgbClr val="DBEAFE"/>
                </a:solidFill>
                <a:latin typeface="Consolas" pitchFamily="34" charset="0"/>
                <a:ea typeface="Consolas" pitchFamily="34" charset="-122"/>
                <a:cs typeface="Consolas" pitchFamily="34" charset="-120"/>
              </a:rPr>
              <a:t>System.out.println("You failed.");</a:t>
            </a:r>
            <a:endParaRPr lang="en-US" sz="675" dirty="0"/>
          </a:p>
        </p:txBody>
      </p:sp>
      <p:sp>
        <p:nvSpPr>
          <p:cNvPr id="123" name="Text 120"/>
          <p:cNvSpPr/>
          <p:nvPr/>
        </p:nvSpPr>
        <p:spPr>
          <a:xfrm>
            <a:off x="5057775" y="3655814"/>
            <a:ext cx="122895" cy="96441"/>
          </a:xfrm>
          <a:prstGeom prst="rect">
            <a:avLst/>
          </a:prstGeom>
          <a:noFill/>
          <a:ln/>
        </p:spPr>
        <p:txBody>
          <a:bodyPr wrap="none" lIns="0" tIns="0" rIns="0" bIns="0" rtlCol="0" anchor="ctr">
            <a:spAutoFit/>
          </a:bodyPr>
          <a:lstStyle/>
          <a:p>
            <a:pPr indent="0" marL="0">
              <a:buNone/>
            </a:pPr>
            <a:r>
              <a:rPr lang="en-US" sz="675" dirty="0">
                <a:solidFill>
                  <a:srgbClr val="DBEAFE"/>
                </a:solidFill>
                <a:latin typeface="Consolas" pitchFamily="34" charset="0"/>
                <a:ea typeface="Consolas" pitchFamily="34" charset="-122"/>
                <a:cs typeface="Consolas" pitchFamily="34" charset="-120"/>
              </a:rPr>
              <a:t>}</a:t>
            </a:r>
            <a:endParaRPr lang="en-US" sz="675" dirty="0"/>
          </a:p>
        </p:txBody>
      </p:sp>
      <p:sp>
        <p:nvSpPr>
          <p:cNvPr id="124" name="Text 121"/>
          <p:cNvSpPr/>
          <p:nvPr/>
        </p:nvSpPr>
        <p:spPr>
          <a:xfrm>
            <a:off x="5057775" y="3998714"/>
            <a:ext cx="1100305" cy="96441"/>
          </a:xfrm>
          <a:prstGeom prst="rect">
            <a:avLst/>
          </a:prstGeom>
          <a:noFill/>
          <a:ln/>
        </p:spPr>
        <p:txBody>
          <a:bodyPr wrap="none" lIns="0" tIns="0" rIns="0" bIns="0" rtlCol="0" anchor="ctr">
            <a:spAutoFit/>
          </a:bodyPr>
          <a:lstStyle/>
          <a:p>
            <a:pPr indent="0" marL="0">
              <a:buNone/>
            </a:pPr>
            <a:r>
              <a:rPr lang="en-US" sz="675" dirty="0">
                <a:solidFill>
                  <a:srgbClr val="DBEAFE"/>
                </a:solidFill>
                <a:latin typeface="Consolas" pitchFamily="34" charset="0"/>
                <a:ea typeface="Consolas" pitchFamily="34" charset="-122"/>
                <a:cs typeface="Consolas" pitchFamily="34" charset="-120"/>
              </a:rPr>
              <a:t>// If-else-if ladder</a:t>
            </a:r>
            <a:endParaRPr lang="en-US" sz="675" dirty="0"/>
          </a:p>
        </p:txBody>
      </p:sp>
      <p:sp>
        <p:nvSpPr>
          <p:cNvPr id="125" name="Text 122"/>
          <p:cNvSpPr/>
          <p:nvPr/>
        </p:nvSpPr>
        <p:spPr>
          <a:xfrm>
            <a:off x="5057775" y="4170164"/>
            <a:ext cx="997418" cy="96441"/>
          </a:xfrm>
          <a:prstGeom prst="rect">
            <a:avLst/>
          </a:prstGeom>
          <a:noFill/>
          <a:ln/>
        </p:spPr>
        <p:txBody>
          <a:bodyPr wrap="none" lIns="0" tIns="0" rIns="0" bIns="0" rtlCol="0" anchor="ctr">
            <a:spAutoFit/>
          </a:bodyPr>
          <a:lstStyle/>
          <a:p>
            <a:pPr indent="0" marL="0">
              <a:buNone/>
            </a:pPr>
            <a:r>
              <a:rPr lang="en-US" sz="675" dirty="0">
                <a:solidFill>
                  <a:srgbClr val="DBEAFE"/>
                </a:solidFill>
                <a:latin typeface="Consolas" pitchFamily="34" charset="0"/>
                <a:ea typeface="Consolas" pitchFamily="34" charset="-122"/>
                <a:cs typeface="Consolas" pitchFamily="34" charset="-120"/>
              </a:rPr>
              <a:t>if (grade &gt;= 90) {</a:t>
            </a:r>
            <a:endParaRPr lang="en-US" sz="675" dirty="0"/>
          </a:p>
        </p:txBody>
      </p:sp>
      <p:sp>
        <p:nvSpPr>
          <p:cNvPr id="126" name="Text 123"/>
          <p:cNvSpPr/>
          <p:nvPr/>
        </p:nvSpPr>
        <p:spPr>
          <a:xfrm>
            <a:off x="5057775" y="4341614"/>
            <a:ext cx="1408965" cy="96441"/>
          </a:xfrm>
          <a:prstGeom prst="rect">
            <a:avLst/>
          </a:prstGeom>
          <a:noFill/>
          <a:ln/>
        </p:spPr>
        <p:txBody>
          <a:bodyPr wrap="square" lIns="0" tIns="0" rIns="0" bIns="0" rtlCol="0" anchor="ctr">
            <a:spAutoFit/>
          </a:bodyPr>
          <a:lstStyle/>
          <a:p>
            <a:pPr indent="0" marL="0">
              <a:buNone/>
            </a:pPr>
            <a:r>
              <a:rPr lang="en-US" sz="675" dirty="0">
                <a:solidFill>
                  <a:srgbClr val="DBEAFE"/>
                </a:solidFill>
                <a:latin typeface="Consolas" pitchFamily="34" charset="0"/>
                <a:ea typeface="Consolas" pitchFamily="34" charset="-122"/>
                <a:cs typeface="Consolas" pitchFamily="34" charset="-120"/>
              </a:rPr>
              <a:t>System.out.println("A");</a:t>
            </a:r>
            <a:endParaRPr lang="en-US" sz="675" dirty="0"/>
          </a:p>
        </p:txBody>
      </p:sp>
      <p:sp>
        <p:nvSpPr>
          <p:cNvPr id="127" name="Text 124"/>
          <p:cNvSpPr/>
          <p:nvPr/>
        </p:nvSpPr>
        <p:spPr>
          <a:xfrm>
            <a:off x="5057775" y="4513064"/>
            <a:ext cx="1357536" cy="96441"/>
          </a:xfrm>
          <a:prstGeom prst="rect">
            <a:avLst/>
          </a:prstGeom>
          <a:noFill/>
          <a:ln/>
        </p:spPr>
        <p:txBody>
          <a:bodyPr wrap="square" lIns="0" tIns="0" rIns="0" bIns="0" rtlCol="0" anchor="ctr">
            <a:spAutoFit/>
          </a:bodyPr>
          <a:lstStyle/>
          <a:p>
            <a:pPr indent="0" marL="0">
              <a:buNone/>
            </a:pPr>
            <a:r>
              <a:rPr lang="en-US" sz="675" dirty="0">
                <a:solidFill>
                  <a:srgbClr val="DBEAFE"/>
                </a:solidFill>
                <a:latin typeface="Consolas" pitchFamily="34" charset="0"/>
                <a:ea typeface="Consolas" pitchFamily="34" charset="-122"/>
                <a:cs typeface="Consolas" pitchFamily="34" charset="-120"/>
              </a:rPr>
              <a:t>} else if (grade &gt;= 80) {</a:t>
            </a:r>
            <a:endParaRPr lang="en-US" sz="675" dirty="0"/>
          </a:p>
        </p:txBody>
      </p:sp>
      <p:sp>
        <p:nvSpPr>
          <p:cNvPr id="128" name="Text 125"/>
          <p:cNvSpPr/>
          <p:nvPr/>
        </p:nvSpPr>
        <p:spPr>
          <a:xfrm>
            <a:off x="5057775" y="4684514"/>
            <a:ext cx="1408965" cy="96441"/>
          </a:xfrm>
          <a:prstGeom prst="rect">
            <a:avLst/>
          </a:prstGeom>
          <a:noFill/>
          <a:ln/>
        </p:spPr>
        <p:txBody>
          <a:bodyPr wrap="square" lIns="0" tIns="0" rIns="0" bIns="0" rtlCol="0" anchor="ctr">
            <a:spAutoFit/>
          </a:bodyPr>
          <a:lstStyle/>
          <a:p>
            <a:pPr indent="0" marL="0">
              <a:buNone/>
            </a:pPr>
            <a:r>
              <a:rPr lang="en-US" sz="675" dirty="0">
                <a:solidFill>
                  <a:srgbClr val="DBEAFE"/>
                </a:solidFill>
                <a:latin typeface="Consolas" pitchFamily="34" charset="0"/>
                <a:ea typeface="Consolas" pitchFamily="34" charset="-122"/>
                <a:cs typeface="Consolas" pitchFamily="34" charset="-120"/>
              </a:rPr>
              <a:t>System.out.println("B");</a:t>
            </a:r>
            <a:endParaRPr lang="en-US" sz="675" dirty="0"/>
          </a:p>
        </p:txBody>
      </p:sp>
      <p:sp>
        <p:nvSpPr>
          <p:cNvPr id="129" name="Text 126"/>
          <p:cNvSpPr/>
          <p:nvPr/>
        </p:nvSpPr>
        <p:spPr>
          <a:xfrm>
            <a:off x="5057775" y="4855964"/>
            <a:ext cx="1357536" cy="96441"/>
          </a:xfrm>
          <a:prstGeom prst="rect">
            <a:avLst/>
          </a:prstGeom>
          <a:noFill/>
          <a:ln/>
        </p:spPr>
        <p:txBody>
          <a:bodyPr wrap="square" lIns="0" tIns="0" rIns="0" bIns="0" rtlCol="0" anchor="ctr">
            <a:spAutoFit/>
          </a:bodyPr>
          <a:lstStyle/>
          <a:p>
            <a:pPr indent="0" marL="0">
              <a:buNone/>
            </a:pPr>
            <a:r>
              <a:rPr lang="en-US" sz="675" dirty="0">
                <a:solidFill>
                  <a:srgbClr val="DBEAFE"/>
                </a:solidFill>
                <a:latin typeface="Consolas" pitchFamily="34" charset="0"/>
                <a:ea typeface="Consolas" pitchFamily="34" charset="-122"/>
                <a:cs typeface="Consolas" pitchFamily="34" charset="-120"/>
              </a:rPr>
              <a:t>} else if (grade &gt;= 70) {</a:t>
            </a:r>
            <a:endParaRPr lang="en-US" sz="675" dirty="0"/>
          </a:p>
        </p:txBody>
      </p:sp>
      <p:sp>
        <p:nvSpPr>
          <p:cNvPr id="130" name="Text 127"/>
          <p:cNvSpPr/>
          <p:nvPr/>
        </p:nvSpPr>
        <p:spPr>
          <a:xfrm>
            <a:off x="5057775" y="5027414"/>
            <a:ext cx="1408965" cy="96441"/>
          </a:xfrm>
          <a:prstGeom prst="rect">
            <a:avLst/>
          </a:prstGeom>
          <a:noFill/>
          <a:ln/>
        </p:spPr>
        <p:txBody>
          <a:bodyPr wrap="square" lIns="0" tIns="0" rIns="0" bIns="0" rtlCol="0" anchor="ctr">
            <a:spAutoFit/>
          </a:bodyPr>
          <a:lstStyle/>
          <a:p>
            <a:pPr indent="0" marL="0">
              <a:buNone/>
            </a:pPr>
            <a:r>
              <a:rPr lang="en-US" sz="675" dirty="0">
                <a:solidFill>
                  <a:srgbClr val="DBEAFE"/>
                </a:solidFill>
                <a:latin typeface="Consolas" pitchFamily="34" charset="0"/>
                <a:ea typeface="Consolas" pitchFamily="34" charset="-122"/>
                <a:cs typeface="Consolas" pitchFamily="34" charset="-120"/>
              </a:rPr>
              <a:t>System.out.println("C");</a:t>
            </a:r>
            <a:endParaRPr lang="en-US" sz="675" dirty="0"/>
          </a:p>
        </p:txBody>
      </p:sp>
      <p:sp>
        <p:nvSpPr>
          <p:cNvPr id="131" name="Text 128"/>
          <p:cNvSpPr/>
          <p:nvPr/>
        </p:nvSpPr>
        <p:spPr>
          <a:xfrm>
            <a:off x="5057775" y="5198864"/>
            <a:ext cx="482984" cy="96441"/>
          </a:xfrm>
          <a:prstGeom prst="rect">
            <a:avLst/>
          </a:prstGeom>
          <a:noFill/>
          <a:ln/>
        </p:spPr>
        <p:txBody>
          <a:bodyPr wrap="none" lIns="0" tIns="0" rIns="0" bIns="0" rtlCol="0" anchor="ctr">
            <a:spAutoFit/>
          </a:bodyPr>
          <a:lstStyle/>
          <a:p>
            <a:pPr indent="0" marL="0">
              <a:buNone/>
            </a:pPr>
            <a:r>
              <a:rPr lang="en-US" sz="675" dirty="0">
                <a:solidFill>
                  <a:srgbClr val="DBEAFE"/>
                </a:solidFill>
                <a:latin typeface="Consolas" pitchFamily="34" charset="0"/>
                <a:ea typeface="Consolas" pitchFamily="34" charset="-122"/>
                <a:cs typeface="Consolas" pitchFamily="34" charset="-120"/>
              </a:rPr>
              <a:t>} else {</a:t>
            </a:r>
            <a:endParaRPr lang="en-US" sz="675" dirty="0"/>
          </a:p>
        </p:txBody>
      </p:sp>
      <p:sp>
        <p:nvSpPr>
          <p:cNvPr id="132" name="Text 129"/>
          <p:cNvSpPr/>
          <p:nvPr/>
        </p:nvSpPr>
        <p:spPr>
          <a:xfrm>
            <a:off x="5057775" y="5370314"/>
            <a:ext cx="1408965" cy="96441"/>
          </a:xfrm>
          <a:prstGeom prst="rect">
            <a:avLst/>
          </a:prstGeom>
          <a:noFill/>
          <a:ln/>
        </p:spPr>
        <p:txBody>
          <a:bodyPr wrap="square" lIns="0" tIns="0" rIns="0" bIns="0" rtlCol="0" anchor="ctr">
            <a:spAutoFit/>
          </a:bodyPr>
          <a:lstStyle/>
          <a:p>
            <a:pPr indent="0" marL="0">
              <a:buNone/>
            </a:pPr>
            <a:r>
              <a:rPr lang="en-US" sz="675" dirty="0">
                <a:solidFill>
                  <a:srgbClr val="DBEAFE"/>
                </a:solidFill>
                <a:latin typeface="Consolas" pitchFamily="34" charset="0"/>
                <a:ea typeface="Consolas" pitchFamily="34" charset="-122"/>
                <a:cs typeface="Consolas" pitchFamily="34" charset="-120"/>
              </a:rPr>
              <a:t>System.out.println("F");</a:t>
            </a:r>
            <a:endParaRPr lang="en-US" sz="675" dirty="0"/>
          </a:p>
        </p:txBody>
      </p:sp>
      <p:sp>
        <p:nvSpPr>
          <p:cNvPr id="133" name="Text 130"/>
          <p:cNvSpPr/>
          <p:nvPr/>
        </p:nvSpPr>
        <p:spPr>
          <a:xfrm>
            <a:off x="5057775" y="5541764"/>
            <a:ext cx="122895" cy="96441"/>
          </a:xfrm>
          <a:prstGeom prst="rect">
            <a:avLst/>
          </a:prstGeom>
          <a:noFill/>
          <a:ln/>
        </p:spPr>
        <p:txBody>
          <a:bodyPr wrap="none" lIns="0" tIns="0" rIns="0" bIns="0" rtlCol="0" anchor="ctr">
            <a:spAutoFit/>
          </a:bodyPr>
          <a:lstStyle/>
          <a:p>
            <a:pPr indent="0" marL="0">
              <a:buNone/>
            </a:pPr>
            <a:r>
              <a:rPr lang="en-US" sz="675" dirty="0">
                <a:solidFill>
                  <a:srgbClr val="DBEAFE"/>
                </a:solidFill>
                <a:latin typeface="Consolas" pitchFamily="34" charset="0"/>
                <a:ea typeface="Consolas" pitchFamily="34" charset="-122"/>
                <a:cs typeface="Consolas" pitchFamily="34" charset="-120"/>
              </a:rPr>
              <a:t>}</a:t>
            </a:r>
            <a:endParaRPr lang="en-US" sz="675" dirty="0"/>
          </a:p>
        </p:txBody>
      </p:sp>
      <p:sp>
        <p:nvSpPr>
          <p:cNvPr id="134" name="Shape 131"/>
          <p:cNvSpPr/>
          <p:nvPr/>
        </p:nvSpPr>
        <p:spPr>
          <a:xfrm>
            <a:off x="4857750" y="5943600"/>
            <a:ext cx="3657600" cy="3157538"/>
          </a:xfrm>
          <a:prstGeom prst="rect">
            <a:avLst/>
          </a:prstGeom>
          <a:solidFill>
            <a:srgbClr val="1E3A8A">
              <a:alpha val="30000"/>
            </a:srgbClr>
          </a:solidFill>
          <a:ln/>
        </p:spPr>
      </p:sp>
      <p:sp>
        <p:nvSpPr>
          <p:cNvPr id="135" name="Shape 132"/>
          <p:cNvSpPr/>
          <p:nvPr/>
        </p:nvSpPr>
        <p:spPr>
          <a:xfrm>
            <a:off x="4857750" y="5943600"/>
            <a:ext cx="28575" cy="3157538"/>
          </a:xfrm>
          <a:prstGeom prst="rect">
            <a:avLst/>
          </a:prstGeom>
          <a:solidFill>
            <a:srgbClr val="60A5FA"/>
          </a:solidFill>
          <a:ln/>
        </p:spPr>
      </p:sp>
      <p:sp>
        <p:nvSpPr>
          <p:cNvPr id="136" name="Text 133"/>
          <p:cNvSpPr/>
          <p:nvPr/>
        </p:nvSpPr>
        <p:spPr>
          <a:xfrm>
            <a:off x="4972050" y="6029325"/>
            <a:ext cx="3614738" cy="200025"/>
          </a:xfrm>
          <a:prstGeom prst="rect">
            <a:avLst/>
          </a:prstGeom>
          <a:noFill/>
          <a:ln/>
        </p:spPr>
        <p:txBody>
          <a:bodyPr wrap="square" lIns="0" tIns="0" rIns="0" bIns="0" rtlCol="0" anchor="ctr">
            <a:spAutoFit/>
          </a:bodyPr>
          <a:lstStyle/>
          <a:p>
            <a:pPr indent="0" marL="0">
              <a:buNone/>
            </a:pPr>
            <a:r>
              <a:rPr lang="en-US" sz="1125" b="1" dirty="0">
                <a:solidFill>
                  <a:srgbClr val="F1F5F9"/>
                </a:solidFill>
                <a:latin typeface="Segoe UI" pitchFamily="34" charset="0"/>
                <a:ea typeface="Segoe UI" pitchFamily="34" charset="-122"/>
                <a:cs typeface="Segoe UI" pitchFamily="34" charset="-120"/>
              </a:rPr>
              <a:t>Switch Statement</a:t>
            </a:r>
            <a:endParaRPr lang="en-US" sz="1125" dirty="0"/>
          </a:p>
        </p:txBody>
      </p:sp>
      <p:sp>
        <p:nvSpPr>
          <p:cNvPr id="137" name="Shape 134"/>
          <p:cNvSpPr/>
          <p:nvPr/>
        </p:nvSpPr>
        <p:spPr>
          <a:xfrm>
            <a:off x="4972050" y="6257925"/>
            <a:ext cx="3543300" cy="2757488"/>
          </a:xfrm>
          <a:prstGeom prst="rect">
            <a:avLst/>
          </a:prstGeom>
          <a:solidFill>
            <a:srgbClr val="1E293B">
              <a:alpha val="80000"/>
            </a:srgbClr>
          </a:solidFill>
          <a:ln w="99">
            <a:solidFill>
              <a:srgbClr val="60A5FA">
                <a:alpha val="30000"/>
              </a:srgbClr>
            </a:solidFill>
            <a:prstDash val="solid"/>
          </a:ln>
        </p:spPr>
      </p:sp>
      <p:sp>
        <p:nvSpPr>
          <p:cNvPr id="138" name="Text 135"/>
          <p:cNvSpPr/>
          <p:nvPr/>
        </p:nvSpPr>
        <p:spPr>
          <a:xfrm>
            <a:off x="5057775" y="6399014"/>
            <a:ext cx="688758" cy="96441"/>
          </a:xfrm>
          <a:prstGeom prst="rect">
            <a:avLst/>
          </a:prstGeom>
          <a:noFill/>
          <a:ln/>
        </p:spPr>
        <p:txBody>
          <a:bodyPr wrap="none" lIns="0" tIns="0" rIns="0" bIns="0" rtlCol="0" anchor="ctr">
            <a:spAutoFit/>
          </a:bodyPr>
          <a:lstStyle/>
          <a:p>
            <a:pPr indent="0" marL="0">
              <a:buNone/>
            </a:pPr>
            <a:r>
              <a:rPr lang="en-US" sz="675" dirty="0">
                <a:solidFill>
                  <a:srgbClr val="DBEAFE"/>
                </a:solidFill>
                <a:latin typeface="Consolas" pitchFamily="34" charset="0"/>
                <a:ea typeface="Consolas" pitchFamily="34" charset="-122"/>
                <a:cs typeface="Consolas" pitchFamily="34" charset="-120"/>
              </a:rPr>
              <a:t>int day = 3;</a:t>
            </a:r>
            <a:endParaRPr lang="en-US" sz="675" dirty="0"/>
          </a:p>
        </p:txBody>
      </p:sp>
      <p:sp>
        <p:nvSpPr>
          <p:cNvPr id="139" name="Text 136"/>
          <p:cNvSpPr/>
          <p:nvPr/>
        </p:nvSpPr>
        <p:spPr>
          <a:xfrm>
            <a:off x="5057775" y="6570464"/>
            <a:ext cx="791645" cy="96441"/>
          </a:xfrm>
          <a:prstGeom prst="rect">
            <a:avLst/>
          </a:prstGeom>
          <a:noFill/>
          <a:ln/>
        </p:spPr>
        <p:txBody>
          <a:bodyPr wrap="none" lIns="0" tIns="0" rIns="0" bIns="0" rtlCol="0" anchor="ctr">
            <a:spAutoFit/>
          </a:bodyPr>
          <a:lstStyle/>
          <a:p>
            <a:pPr indent="0" marL="0">
              <a:buNone/>
            </a:pPr>
            <a:r>
              <a:rPr lang="en-US" sz="675" dirty="0">
                <a:solidFill>
                  <a:srgbClr val="DBEAFE"/>
                </a:solidFill>
                <a:latin typeface="Consolas" pitchFamily="34" charset="0"/>
                <a:ea typeface="Consolas" pitchFamily="34" charset="-122"/>
                <a:cs typeface="Consolas" pitchFamily="34" charset="-120"/>
              </a:rPr>
              <a:t>switch (day) {</a:t>
            </a:r>
            <a:endParaRPr lang="en-US" sz="675" dirty="0"/>
          </a:p>
        </p:txBody>
      </p:sp>
      <p:sp>
        <p:nvSpPr>
          <p:cNvPr id="140" name="Text 137"/>
          <p:cNvSpPr/>
          <p:nvPr/>
        </p:nvSpPr>
        <p:spPr>
          <a:xfrm>
            <a:off x="5057775" y="6741914"/>
            <a:ext cx="534442" cy="96441"/>
          </a:xfrm>
          <a:prstGeom prst="rect">
            <a:avLst/>
          </a:prstGeom>
          <a:noFill/>
          <a:ln/>
        </p:spPr>
        <p:txBody>
          <a:bodyPr wrap="none" lIns="0" tIns="0" rIns="0" bIns="0" rtlCol="0" anchor="ctr">
            <a:spAutoFit/>
          </a:bodyPr>
          <a:lstStyle/>
          <a:p>
            <a:pPr indent="0" marL="0">
              <a:buNone/>
            </a:pPr>
            <a:r>
              <a:rPr lang="en-US" sz="675" dirty="0">
                <a:solidFill>
                  <a:srgbClr val="DBEAFE"/>
                </a:solidFill>
                <a:latin typeface="Consolas" pitchFamily="34" charset="0"/>
                <a:ea typeface="Consolas" pitchFamily="34" charset="-122"/>
                <a:cs typeface="Consolas" pitchFamily="34" charset="-120"/>
              </a:rPr>
              <a:t>case 1:</a:t>
            </a:r>
            <a:endParaRPr lang="en-US" sz="675" dirty="0"/>
          </a:p>
        </p:txBody>
      </p:sp>
      <p:sp>
        <p:nvSpPr>
          <p:cNvPr id="141" name="Text 138"/>
          <p:cNvSpPr/>
          <p:nvPr/>
        </p:nvSpPr>
        <p:spPr>
          <a:xfrm>
            <a:off x="5057775" y="6913364"/>
            <a:ext cx="1769083" cy="96441"/>
          </a:xfrm>
          <a:prstGeom prst="rect">
            <a:avLst/>
          </a:prstGeom>
          <a:noFill/>
          <a:ln/>
        </p:spPr>
        <p:txBody>
          <a:bodyPr wrap="square" lIns="0" tIns="0" rIns="0" bIns="0" rtlCol="0" anchor="ctr">
            <a:spAutoFit/>
          </a:bodyPr>
          <a:lstStyle/>
          <a:p>
            <a:pPr indent="0" marL="0">
              <a:buNone/>
            </a:pPr>
            <a:r>
              <a:rPr lang="en-US" sz="675" dirty="0">
                <a:solidFill>
                  <a:srgbClr val="DBEAFE"/>
                </a:solidFill>
                <a:latin typeface="Consolas" pitchFamily="34" charset="0"/>
                <a:ea typeface="Consolas" pitchFamily="34" charset="-122"/>
                <a:cs typeface="Consolas" pitchFamily="34" charset="-120"/>
              </a:rPr>
              <a:t>System.out.println("Monday");</a:t>
            </a:r>
            <a:endParaRPr lang="en-US" sz="675" dirty="0"/>
          </a:p>
        </p:txBody>
      </p:sp>
      <p:sp>
        <p:nvSpPr>
          <p:cNvPr id="142" name="Text 139"/>
          <p:cNvSpPr/>
          <p:nvPr/>
        </p:nvSpPr>
        <p:spPr>
          <a:xfrm>
            <a:off x="5057775" y="7084814"/>
            <a:ext cx="585871" cy="96441"/>
          </a:xfrm>
          <a:prstGeom prst="rect">
            <a:avLst/>
          </a:prstGeom>
          <a:noFill/>
          <a:ln/>
        </p:spPr>
        <p:txBody>
          <a:bodyPr wrap="none" lIns="0" tIns="0" rIns="0" bIns="0" rtlCol="0" anchor="ctr">
            <a:spAutoFit/>
          </a:bodyPr>
          <a:lstStyle/>
          <a:p>
            <a:pPr indent="0" marL="0">
              <a:buNone/>
            </a:pPr>
            <a:r>
              <a:rPr lang="en-US" sz="675" dirty="0">
                <a:solidFill>
                  <a:srgbClr val="DBEAFE"/>
                </a:solidFill>
                <a:latin typeface="Consolas" pitchFamily="34" charset="0"/>
                <a:ea typeface="Consolas" pitchFamily="34" charset="-122"/>
                <a:cs typeface="Consolas" pitchFamily="34" charset="-120"/>
              </a:rPr>
              <a:t>break;</a:t>
            </a:r>
            <a:endParaRPr lang="en-US" sz="675" dirty="0"/>
          </a:p>
        </p:txBody>
      </p:sp>
      <p:sp>
        <p:nvSpPr>
          <p:cNvPr id="143" name="Text 140"/>
          <p:cNvSpPr/>
          <p:nvPr/>
        </p:nvSpPr>
        <p:spPr>
          <a:xfrm>
            <a:off x="5057775" y="7256264"/>
            <a:ext cx="534442" cy="96441"/>
          </a:xfrm>
          <a:prstGeom prst="rect">
            <a:avLst/>
          </a:prstGeom>
          <a:noFill/>
          <a:ln/>
        </p:spPr>
        <p:txBody>
          <a:bodyPr wrap="none" lIns="0" tIns="0" rIns="0" bIns="0" rtlCol="0" anchor="ctr">
            <a:spAutoFit/>
          </a:bodyPr>
          <a:lstStyle/>
          <a:p>
            <a:pPr indent="0" marL="0">
              <a:buNone/>
            </a:pPr>
            <a:r>
              <a:rPr lang="en-US" sz="675" dirty="0">
                <a:solidFill>
                  <a:srgbClr val="DBEAFE"/>
                </a:solidFill>
                <a:latin typeface="Consolas" pitchFamily="34" charset="0"/>
                <a:ea typeface="Consolas" pitchFamily="34" charset="-122"/>
                <a:cs typeface="Consolas" pitchFamily="34" charset="-120"/>
              </a:rPr>
              <a:t>case 2:</a:t>
            </a:r>
            <a:endParaRPr lang="en-US" sz="675" dirty="0"/>
          </a:p>
        </p:txBody>
      </p:sp>
      <p:sp>
        <p:nvSpPr>
          <p:cNvPr id="144" name="Text 141"/>
          <p:cNvSpPr/>
          <p:nvPr/>
        </p:nvSpPr>
        <p:spPr>
          <a:xfrm>
            <a:off x="5057775" y="7427714"/>
            <a:ext cx="1820512" cy="96441"/>
          </a:xfrm>
          <a:prstGeom prst="rect">
            <a:avLst/>
          </a:prstGeom>
          <a:noFill/>
          <a:ln/>
        </p:spPr>
        <p:txBody>
          <a:bodyPr wrap="square" lIns="0" tIns="0" rIns="0" bIns="0" rtlCol="0" anchor="ctr">
            <a:spAutoFit/>
          </a:bodyPr>
          <a:lstStyle/>
          <a:p>
            <a:pPr indent="0" marL="0">
              <a:buNone/>
            </a:pPr>
            <a:r>
              <a:rPr lang="en-US" sz="675" dirty="0">
                <a:solidFill>
                  <a:srgbClr val="DBEAFE"/>
                </a:solidFill>
                <a:latin typeface="Consolas" pitchFamily="34" charset="0"/>
                <a:ea typeface="Consolas" pitchFamily="34" charset="-122"/>
                <a:cs typeface="Consolas" pitchFamily="34" charset="-120"/>
              </a:rPr>
              <a:t>System.out.println("Tuesday");</a:t>
            </a:r>
            <a:endParaRPr lang="en-US" sz="675" dirty="0"/>
          </a:p>
        </p:txBody>
      </p:sp>
      <p:sp>
        <p:nvSpPr>
          <p:cNvPr id="145" name="Text 142"/>
          <p:cNvSpPr/>
          <p:nvPr/>
        </p:nvSpPr>
        <p:spPr>
          <a:xfrm>
            <a:off x="5057775" y="7599164"/>
            <a:ext cx="585871" cy="96441"/>
          </a:xfrm>
          <a:prstGeom prst="rect">
            <a:avLst/>
          </a:prstGeom>
          <a:noFill/>
          <a:ln/>
        </p:spPr>
        <p:txBody>
          <a:bodyPr wrap="none" lIns="0" tIns="0" rIns="0" bIns="0" rtlCol="0" anchor="ctr">
            <a:spAutoFit/>
          </a:bodyPr>
          <a:lstStyle/>
          <a:p>
            <a:pPr indent="0" marL="0">
              <a:buNone/>
            </a:pPr>
            <a:r>
              <a:rPr lang="en-US" sz="675" dirty="0">
                <a:solidFill>
                  <a:srgbClr val="DBEAFE"/>
                </a:solidFill>
                <a:latin typeface="Consolas" pitchFamily="34" charset="0"/>
                <a:ea typeface="Consolas" pitchFamily="34" charset="-122"/>
                <a:cs typeface="Consolas" pitchFamily="34" charset="-120"/>
              </a:rPr>
              <a:t>break;</a:t>
            </a:r>
            <a:endParaRPr lang="en-US" sz="675" dirty="0"/>
          </a:p>
        </p:txBody>
      </p:sp>
      <p:sp>
        <p:nvSpPr>
          <p:cNvPr id="146" name="Text 143"/>
          <p:cNvSpPr/>
          <p:nvPr/>
        </p:nvSpPr>
        <p:spPr>
          <a:xfrm>
            <a:off x="5057775" y="7770614"/>
            <a:ext cx="534442" cy="96441"/>
          </a:xfrm>
          <a:prstGeom prst="rect">
            <a:avLst/>
          </a:prstGeom>
          <a:noFill/>
          <a:ln/>
        </p:spPr>
        <p:txBody>
          <a:bodyPr wrap="none" lIns="0" tIns="0" rIns="0" bIns="0" rtlCol="0" anchor="ctr">
            <a:spAutoFit/>
          </a:bodyPr>
          <a:lstStyle/>
          <a:p>
            <a:pPr indent="0" marL="0">
              <a:buNone/>
            </a:pPr>
            <a:r>
              <a:rPr lang="en-US" sz="675" dirty="0">
                <a:solidFill>
                  <a:srgbClr val="DBEAFE"/>
                </a:solidFill>
                <a:latin typeface="Consolas" pitchFamily="34" charset="0"/>
                <a:ea typeface="Consolas" pitchFamily="34" charset="-122"/>
                <a:cs typeface="Consolas" pitchFamily="34" charset="-120"/>
              </a:rPr>
              <a:t>case 3:</a:t>
            </a:r>
            <a:endParaRPr lang="en-US" sz="675" dirty="0"/>
          </a:p>
        </p:txBody>
      </p:sp>
      <p:sp>
        <p:nvSpPr>
          <p:cNvPr id="147" name="Text 144"/>
          <p:cNvSpPr/>
          <p:nvPr/>
        </p:nvSpPr>
        <p:spPr>
          <a:xfrm>
            <a:off x="5057775" y="7942064"/>
            <a:ext cx="1923399" cy="96441"/>
          </a:xfrm>
          <a:prstGeom prst="rect">
            <a:avLst/>
          </a:prstGeom>
          <a:noFill/>
          <a:ln/>
        </p:spPr>
        <p:txBody>
          <a:bodyPr wrap="square" lIns="0" tIns="0" rIns="0" bIns="0" rtlCol="0" anchor="ctr">
            <a:spAutoFit/>
          </a:bodyPr>
          <a:lstStyle/>
          <a:p>
            <a:pPr indent="0" marL="0">
              <a:buNone/>
            </a:pPr>
            <a:r>
              <a:rPr lang="en-US" sz="675" dirty="0">
                <a:solidFill>
                  <a:srgbClr val="DBEAFE"/>
                </a:solidFill>
                <a:latin typeface="Consolas" pitchFamily="34" charset="0"/>
                <a:ea typeface="Consolas" pitchFamily="34" charset="-122"/>
                <a:cs typeface="Consolas" pitchFamily="34" charset="-120"/>
              </a:rPr>
              <a:t>System.out.println("Wednesday");</a:t>
            </a:r>
            <a:endParaRPr lang="en-US" sz="675" dirty="0"/>
          </a:p>
        </p:txBody>
      </p:sp>
      <p:sp>
        <p:nvSpPr>
          <p:cNvPr id="148" name="Text 145"/>
          <p:cNvSpPr/>
          <p:nvPr/>
        </p:nvSpPr>
        <p:spPr>
          <a:xfrm>
            <a:off x="5057775" y="8113514"/>
            <a:ext cx="585871" cy="96441"/>
          </a:xfrm>
          <a:prstGeom prst="rect">
            <a:avLst/>
          </a:prstGeom>
          <a:noFill/>
          <a:ln/>
        </p:spPr>
        <p:txBody>
          <a:bodyPr wrap="none" lIns="0" tIns="0" rIns="0" bIns="0" rtlCol="0" anchor="ctr">
            <a:spAutoFit/>
          </a:bodyPr>
          <a:lstStyle/>
          <a:p>
            <a:pPr indent="0" marL="0">
              <a:buNone/>
            </a:pPr>
            <a:r>
              <a:rPr lang="en-US" sz="675" dirty="0">
                <a:solidFill>
                  <a:srgbClr val="DBEAFE"/>
                </a:solidFill>
                <a:latin typeface="Consolas" pitchFamily="34" charset="0"/>
                <a:ea typeface="Consolas" pitchFamily="34" charset="-122"/>
                <a:cs typeface="Consolas" pitchFamily="34" charset="-120"/>
              </a:rPr>
              <a:t>break;</a:t>
            </a:r>
            <a:endParaRPr lang="en-US" sz="675" dirty="0"/>
          </a:p>
        </p:txBody>
      </p:sp>
      <p:sp>
        <p:nvSpPr>
          <p:cNvPr id="149" name="Text 146"/>
          <p:cNvSpPr/>
          <p:nvPr/>
        </p:nvSpPr>
        <p:spPr>
          <a:xfrm>
            <a:off x="5057775" y="8284964"/>
            <a:ext cx="1048876" cy="96441"/>
          </a:xfrm>
          <a:prstGeom prst="rect">
            <a:avLst/>
          </a:prstGeom>
          <a:noFill/>
          <a:ln/>
        </p:spPr>
        <p:txBody>
          <a:bodyPr wrap="none" lIns="0" tIns="0" rIns="0" bIns="0" rtlCol="0" anchor="ctr">
            <a:spAutoFit/>
          </a:bodyPr>
          <a:lstStyle/>
          <a:p>
            <a:pPr indent="0" marL="0">
              <a:buNone/>
            </a:pPr>
            <a:r>
              <a:rPr lang="en-US" sz="675" dirty="0">
                <a:solidFill>
                  <a:srgbClr val="DBEAFE"/>
                </a:solidFill>
                <a:latin typeface="Consolas" pitchFamily="34" charset="0"/>
                <a:ea typeface="Consolas" pitchFamily="34" charset="-122"/>
                <a:cs typeface="Consolas" pitchFamily="34" charset="-120"/>
              </a:rPr>
              <a:t>// ... more cases</a:t>
            </a:r>
            <a:endParaRPr lang="en-US" sz="675" dirty="0"/>
          </a:p>
        </p:txBody>
      </p:sp>
      <p:sp>
        <p:nvSpPr>
          <p:cNvPr id="150" name="Text 147"/>
          <p:cNvSpPr/>
          <p:nvPr/>
        </p:nvSpPr>
        <p:spPr>
          <a:xfrm>
            <a:off x="5057775" y="8456414"/>
            <a:ext cx="585871" cy="96441"/>
          </a:xfrm>
          <a:prstGeom prst="rect">
            <a:avLst/>
          </a:prstGeom>
          <a:noFill/>
          <a:ln/>
        </p:spPr>
        <p:txBody>
          <a:bodyPr wrap="none" lIns="0" tIns="0" rIns="0" bIns="0" rtlCol="0" anchor="ctr">
            <a:spAutoFit/>
          </a:bodyPr>
          <a:lstStyle/>
          <a:p>
            <a:pPr indent="0" marL="0">
              <a:buNone/>
            </a:pPr>
            <a:r>
              <a:rPr lang="en-US" sz="675" dirty="0">
                <a:solidFill>
                  <a:srgbClr val="DBEAFE"/>
                </a:solidFill>
                <a:latin typeface="Consolas" pitchFamily="34" charset="0"/>
                <a:ea typeface="Consolas" pitchFamily="34" charset="-122"/>
                <a:cs typeface="Consolas" pitchFamily="34" charset="-120"/>
              </a:rPr>
              <a:t>default:</a:t>
            </a:r>
            <a:endParaRPr lang="en-US" sz="675" dirty="0"/>
          </a:p>
        </p:txBody>
      </p:sp>
      <p:sp>
        <p:nvSpPr>
          <p:cNvPr id="151" name="Text 148"/>
          <p:cNvSpPr/>
          <p:nvPr/>
        </p:nvSpPr>
        <p:spPr>
          <a:xfrm>
            <a:off x="5057775" y="8627864"/>
            <a:ext cx="2026286" cy="96441"/>
          </a:xfrm>
          <a:prstGeom prst="rect">
            <a:avLst/>
          </a:prstGeom>
          <a:noFill/>
          <a:ln/>
        </p:spPr>
        <p:txBody>
          <a:bodyPr wrap="square" lIns="0" tIns="0" rIns="0" bIns="0" rtlCol="0" anchor="ctr">
            <a:spAutoFit/>
          </a:bodyPr>
          <a:lstStyle/>
          <a:p>
            <a:pPr indent="0" marL="0">
              <a:buNone/>
            </a:pPr>
            <a:r>
              <a:rPr lang="en-US" sz="675" dirty="0">
                <a:solidFill>
                  <a:srgbClr val="DBEAFE"/>
                </a:solidFill>
                <a:latin typeface="Consolas" pitchFamily="34" charset="0"/>
                <a:ea typeface="Consolas" pitchFamily="34" charset="-122"/>
                <a:cs typeface="Consolas" pitchFamily="34" charset="-120"/>
              </a:rPr>
              <a:t>System.out.println("Invalid day");</a:t>
            </a:r>
            <a:endParaRPr lang="en-US" sz="675" dirty="0"/>
          </a:p>
        </p:txBody>
      </p:sp>
      <p:sp>
        <p:nvSpPr>
          <p:cNvPr id="152" name="Text 149"/>
          <p:cNvSpPr/>
          <p:nvPr/>
        </p:nvSpPr>
        <p:spPr>
          <a:xfrm>
            <a:off x="5057775" y="8799314"/>
            <a:ext cx="122895" cy="96441"/>
          </a:xfrm>
          <a:prstGeom prst="rect">
            <a:avLst/>
          </a:prstGeom>
          <a:noFill/>
          <a:ln/>
        </p:spPr>
        <p:txBody>
          <a:bodyPr wrap="none" lIns="0" tIns="0" rIns="0" bIns="0" rtlCol="0" anchor="ctr">
            <a:spAutoFit/>
          </a:bodyPr>
          <a:lstStyle/>
          <a:p>
            <a:pPr indent="0" marL="0">
              <a:buNone/>
            </a:pPr>
            <a:r>
              <a:rPr lang="en-US" sz="675" dirty="0">
                <a:solidFill>
                  <a:srgbClr val="DBEAFE"/>
                </a:solidFill>
                <a:latin typeface="Consolas" pitchFamily="34" charset="0"/>
                <a:ea typeface="Consolas" pitchFamily="34" charset="-122"/>
                <a:cs typeface="Consolas" pitchFamily="34" charset="-120"/>
              </a:rPr>
              <a:t>}</a:t>
            </a:r>
            <a:endParaRPr lang="en-US" sz="675" dirty="0"/>
          </a:p>
        </p:txBody>
      </p:sp>
      <p:sp>
        <p:nvSpPr>
          <p:cNvPr id="153" name="Shape 150"/>
          <p:cNvSpPr/>
          <p:nvPr/>
        </p:nvSpPr>
        <p:spPr>
          <a:xfrm>
            <a:off x="4857750" y="9201150"/>
            <a:ext cx="3657600" cy="4700588"/>
          </a:xfrm>
          <a:prstGeom prst="rect">
            <a:avLst/>
          </a:prstGeom>
          <a:solidFill>
            <a:srgbClr val="1E3A8A">
              <a:alpha val="30000"/>
            </a:srgbClr>
          </a:solidFill>
          <a:ln/>
        </p:spPr>
      </p:sp>
      <p:sp>
        <p:nvSpPr>
          <p:cNvPr id="154" name="Shape 151"/>
          <p:cNvSpPr/>
          <p:nvPr/>
        </p:nvSpPr>
        <p:spPr>
          <a:xfrm>
            <a:off x="4857750" y="9201150"/>
            <a:ext cx="28575" cy="4700588"/>
          </a:xfrm>
          <a:prstGeom prst="rect">
            <a:avLst/>
          </a:prstGeom>
          <a:solidFill>
            <a:srgbClr val="60A5FA"/>
          </a:solidFill>
          <a:ln/>
        </p:spPr>
      </p:sp>
      <p:sp>
        <p:nvSpPr>
          <p:cNvPr id="155" name="Text 152"/>
          <p:cNvSpPr/>
          <p:nvPr/>
        </p:nvSpPr>
        <p:spPr>
          <a:xfrm>
            <a:off x="4972050" y="9286875"/>
            <a:ext cx="3614738" cy="200025"/>
          </a:xfrm>
          <a:prstGeom prst="rect">
            <a:avLst/>
          </a:prstGeom>
          <a:noFill/>
          <a:ln/>
        </p:spPr>
        <p:txBody>
          <a:bodyPr wrap="square" lIns="0" tIns="0" rIns="0" bIns="0" rtlCol="0" anchor="ctr">
            <a:spAutoFit/>
          </a:bodyPr>
          <a:lstStyle/>
          <a:p>
            <a:pPr indent="0" marL="0">
              <a:buNone/>
            </a:pPr>
            <a:r>
              <a:rPr lang="en-US" sz="1125" b="1" dirty="0">
                <a:solidFill>
                  <a:srgbClr val="F1F5F9"/>
                </a:solidFill>
                <a:latin typeface="Segoe UI" pitchFamily="34" charset="0"/>
                <a:ea typeface="Segoe UI" pitchFamily="34" charset="-122"/>
                <a:cs typeface="Segoe UI" pitchFamily="34" charset="-120"/>
              </a:rPr>
              <a:t>Loops</a:t>
            </a:r>
            <a:endParaRPr lang="en-US" sz="1125" dirty="0"/>
          </a:p>
        </p:txBody>
      </p:sp>
      <p:sp>
        <p:nvSpPr>
          <p:cNvPr id="156" name="Shape 153"/>
          <p:cNvSpPr/>
          <p:nvPr/>
        </p:nvSpPr>
        <p:spPr>
          <a:xfrm>
            <a:off x="4972050" y="9515475"/>
            <a:ext cx="3543300" cy="4300538"/>
          </a:xfrm>
          <a:prstGeom prst="rect">
            <a:avLst/>
          </a:prstGeom>
          <a:solidFill>
            <a:srgbClr val="1E293B">
              <a:alpha val="80000"/>
            </a:srgbClr>
          </a:solidFill>
          <a:ln w="99">
            <a:solidFill>
              <a:srgbClr val="60A5FA">
                <a:alpha val="30000"/>
              </a:srgbClr>
            </a:solidFill>
            <a:prstDash val="solid"/>
          </a:ln>
        </p:spPr>
      </p:sp>
      <p:sp>
        <p:nvSpPr>
          <p:cNvPr id="157" name="Text 154"/>
          <p:cNvSpPr/>
          <p:nvPr/>
        </p:nvSpPr>
        <p:spPr>
          <a:xfrm>
            <a:off x="5057775" y="9656564"/>
            <a:ext cx="637329" cy="96441"/>
          </a:xfrm>
          <a:prstGeom prst="rect">
            <a:avLst/>
          </a:prstGeom>
          <a:noFill/>
          <a:ln/>
        </p:spPr>
        <p:txBody>
          <a:bodyPr wrap="none" lIns="0" tIns="0" rIns="0" bIns="0" rtlCol="0" anchor="ctr">
            <a:spAutoFit/>
          </a:bodyPr>
          <a:lstStyle/>
          <a:p>
            <a:pPr indent="0" marL="0">
              <a:buNone/>
            </a:pPr>
            <a:r>
              <a:rPr lang="en-US" sz="675" dirty="0">
                <a:solidFill>
                  <a:srgbClr val="DBEAFE"/>
                </a:solidFill>
                <a:latin typeface="Consolas" pitchFamily="34" charset="0"/>
                <a:ea typeface="Consolas" pitchFamily="34" charset="-122"/>
                <a:cs typeface="Consolas" pitchFamily="34" charset="-120"/>
              </a:rPr>
              <a:t>// For loop</a:t>
            </a:r>
            <a:endParaRPr lang="en-US" sz="675" dirty="0"/>
          </a:p>
        </p:txBody>
      </p:sp>
      <p:sp>
        <p:nvSpPr>
          <p:cNvPr id="158" name="Text 155"/>
          <p:cNvSpPr/>
          <p:nvPr/>
        </p:nvSpPr>
        <p:spPr>
          <a:xfrm>
            <a:off x="5057775" y="9828014"/>
            <a:ext cx="1563309" cy="96441"/>
          </a:xfrm>
          <a:prstGeom prst="rect">
            <a:avLst/>
          </a:prstGeom>
          <a:noFill/>
          <a:ln/>
        </p:spPr>
        <p:txBody>
          <a:bodyPr wrap="square" lIns="0" tIns="0" rIns="0" bIns="0" rtlCol="0" anchor="ctr">
            <a:spAutoFit/>
          </a:bodyPr>
          <a:lstStyle/>
          <a:p>
            <a:pPr indent="0" marL="0">
              <a:buNone/>
            </a:pPr>
            <a:r>
              <a:rPr lang="en-US" sz="675" dirty="0">
                <a:solidFill>
                  <a:srgbClr val="DBEAFE"/>
                </a:solidFill>
                <a:latin typeface="Consolas" pitchFamily="34" charset="0"/>
                <a:ea typeface="Consolas" pitchFamily="34" charset="-122"/>
                <a:cs typeface="Consolas" pitchFamily="34" charset="-120"/>
              </a:rPr>
              <a:t>for (int i = 0; i &lt; 5; i++) {</a:t>
            </a:r>
            <a:endParaRPr lang="en-US" sz="675" dirty="0"/>
          </a:p>
        </p:txBody>
      </p:sp>
      <p:sp>
        <p:nvSpPr>
          <p:cNvPr id="159" name="Text 156"/>
          <p:cNvSpPr/>
          <p:nvPr/>
        </p:nvSpPr>
        <p:spPr>
          <a:xfrm>
            <a:off x="5057775" y="9999464"/>
            <a:ext cx="1306078" cy="96441"/>
          </a:xfrm>
          <a:prstGeom prst="rect">
            <a:avLst/>
          </a:prstGeom>
          <a:noFill/>
          <a:ln/>
        </p:spPr>
        <p:txBody>
          <a:bodyPr wrap="square" lIns="0" tIns="0" rIns="0" bIns="0" rtlCol="0" anchor="ctr">
            <a:spAutoFit/>
          </a:bodyPr>
          <a:lstStyle/>
          <a:p>
            <a:pPr indent="0" marL="0">
              <a:buNone/>
            </a:pPr>
            <a:r>
              <a:rPr lang="en-US" sz="675" dirty="0">
                <a:solidFill>
                  <a:srgbClr val="DBEAFE"/>
                </a:solidFill>
                <a:latin typeface="Consolas" pitchFamily="34" charset="0"/>
                <a:ea typeface="Consolas" pitchFamily="34" charset="-122"/>
                <a:cs typeface="Consolas" pitchFamily="34" charset="-120"/>
              </a:rPr>
              <a:t>System.out.println(i);</a:t>
            </a:r>
            <a:endParaRPr lang="en-US" sz="675" dirty="0"/>
          </a:p>
        </p:txBody>
      </p:sp>
      <p:sp>
        <p:nvSpPr>
          <p:cNvPr id="160" name="Text 157"/>
          <p:cNvSpPr/>
          <p:nvPr/>
        </p:nvSpPr>
        <p:spPr>
          <a:xfrm>
            <a:off x="5057775" y="10170914"/>
            <a:ext cx="122895" cy="96441"/>
          </a:xfrm>
          <a:prstGeom prst="rect">
            <a:avLst/>
          </a:prstGeom>
          <a:noFill/>
          <a:ln/>
        </p:spPr>
        <p:txBody>
          <a:bodyPr wrap="none" lIns="0" tIns="0" rIns="0" bIns="0" rtlCol="0" anchor="ctr">
            <a:spAutoFit/>
          </a:bodyPr>
          <a:lstStyle/>
          <a:p>
            <a:pPr indent="0" marL="0">
              <a:buNone/>
            </a:pPr>
            <a:r>
              <a:rPr lang="en-US" sz="675" dirty="0">
                <a:solidFill>
                  <a:srgbClr val="DBEAFE"/>
                </a:solidFill>
                <a:latin typeface="Consolas" pitchFamily="34" charset="0"/>
                <a:ea typeface="Consolas" pitchFamily="34" charset="-122"/>
                <a:cs typeface="Consolas" pitchFamily="34" charset="-120"/>
              </a:rPr>
              <a:t>}</a:t>
            </a:r>
            <a:endParaRPr lang="en-US" sz="675" dirty="0"/>
          </a:p>
        </p:txBody>
      </p:sp>
      <p:sp>
        <p:nvSpPr>
          <p:cNvPr id="161" name="Text 158"/>
          <p:cNvSpPr/>
          <p:nvPr/>
        </p:nvSpPr>
        <p:spPr>
          <a:xfrm>
            <a:off x="5057775" y="10513814"/>
            <a:ext cx="740215" cy="96441"/>
          </a:xfrm>
          <a:prstGeom prst="rect">
            <a:avLst/>
          </a:prstGeom>
          <a:noFill/>
          <a:ln/>
        </p:spPr>
        <p:txBody>
          <a:bodyPr wrap="none" lIns="0" tIns="0" rIns="0" bIns="0" rtlCol="0" anchor="ctr">
            <a:spAutoFit/>
          </a:bodyPr>
          <a:lstStyle/>
          <a:p>
            <a:pPr indent="0" marL="0">
              <a:buNone/>
            </a:pPr>
            <a:r>
              <a:rPr lang="en-US" sz="675" dirty="0">
                <a:solidFill>
                  <a:srgbClr val="DBEAFE"/>
                </a:solidFill>
                <a:latin typeface="Consolas" pitchFamily="34" charset="0"/>
                <a:ea typeface="Consolas" pitchFamily="34" charset="-122"/>
                <a:cs typeface="Consolas" pitchFamily="34" charset="-120"/>
              </a:rPr>
              <a:t>// While loop</a:t>
            </a:r>
            <a:endParaRPr lang="en-US" sz="675" dirty="0"/>
          </a:p>
        </p:txBody>
      </p:sp>
      <p:sp>
        <p:nvSpPr>
          <p:cNvPr id="162" name="Text 159"/>
          <p:cNvSpPr/>
          <p:nvPr/>
        </p:nvSpPr>
        <p:spPr>
          <a:xfrm>
            <a:off x="5057775" y="10685264"/>
            <a:ext cx="585871" cy="96441"/>
          </a:xfrm>
          <a:prstGeom prst="rect">
            <a:avLst/>
          </a:prstGeom>
          <a:noFill/>
          <a:ln/>
        </p:spPr>
        <p:txBody>
          <a:bodyPr wrap="none" lIns="0" tIns="0" rIns="0" bIns="0" rtlCol="0" anchor="ctr">
            <a:spAutoFit/>
          </a:bodyPr>
          <a:lstStyle/>
          <a:p>
            <a:pPr indent="0" marL="0">
              <a:buNone/>
            </a:pPr>
            <a:r>
              <a:rPr lang="en-US" sz="675" dirty="0">
                <a:solidFill>
                  <a:srgbClr val="DBEAFE"/>
                </a:solidFill>
                <a:latin typeface="Consolas" pitchFamily="34" charset="0"/>
                <a:ea typeface="Consolas" pitchFamily="34" charset="-122"/>
                <a:cs typeface="Consolas" pitchFamily="34" charset="-120"/>
              </a:rPr>
              <a:t>int j = 0;</a:t>
            </a:r>
            <a:endParaRPr lang="en-US" sz="675" dirty="0"/>
          </a:p>
        </p:txBody>
      </p:sp>
      <p:sp>
        <p:nvSpPr>
          <p:cNvPr id="163" name="Text 160"/>
          <p:cNvSpPr/>
          <p:nvPr/>
        </p:nvSpPr>
        <p:spPr>
          <a:xfrm>
            <a:off x="5057775" y="10856714"/>
            <a:ext cx="843102" cy="96441"/>
          </a:xfrm>
          <a:prstGeom prst="rect">
            <a:avLst/>
          </a:prstGeom>
          <a:noFill/>
          <a:ln/>
        </p:spPr>
        <p:txBody>
          <a:bodyPr wrap="none" lIns="0" tIns="0" rIns="0" bIns="0" rtlCol="0" anchor="ctr">
            <a:spAutoFit/>
          </a:bodyPr>
          <a:lstStyle/>
          <a:p>
            <a:pPr indent="0" marL="0">
              <a:buNone/>
            </a:pPr>
            <a:r>
              <a:rPr lang="en-US" sz="675" dirty="0">
                <a:solidFill>
                  <a:srgbClr val="DBEAFE"/>
                </a:solidFill>
                <a:latin typeface="Consolas" pitchFamily="34" charset="0"/>
                <a:ea typeface="Consolas" pitchFamily="34" charset="-122"/>
                <a:cs typeface="Consolas" pitchFamily="34" charset="-120"/>
              </a:rPr>
              <a:t>while (j &lt; 5) {</a:t>
            </a:r>
            <a:endParaRPr lang="en-US" sz="675" dirty="0"/>
          </a:p>
        </p:txBody>
      </p:sp>
      <p:sp>
        <p:nvSpPr>
          <p:cNvPr id="164" name="Text 161"/>
          <p:cNvSpPr/>
          <p:nvPr/>
        </p:nvSpPr>
        <p:spPr>
          <a:xfrm>
            <a:off x="5057775" y="11028164"/>
            <a:ext cx="1306078" cy="96441"/>
          </a:xfrm>
          <a:prstGeom prst="rect">
            <a:avLst/>
          </a:prstGeom>
          <a:noFill/>
          <a:ln/>
        </p:spPr>
        <p:txBody>
          <a:bodyPr wrap="square" lIns="0" tIns="0" rIns="0" bIns="0" rtlCol="0" anchor="ctr">
            <a:spAutoFit/>
          </a:bodyPr>
          <a:lstStyle/>
          <a:p>
            <a:pPr indent="0" marL="0">
              <a:buNone/>
            </a:pPr>
            <a:r>
              <a:rPr lang="en-US" sz="675" dirty="0">
                <a:solidFill>
                  <a:srgbClr val="DBEAFE"/>
                </a:solidFill>
                <a:latin typeface="Consolas" pitchFamily="34" charset="0"/>
                <a:ea typeface="Consolas" pitchFamily="34" charset="-122"/>
                <a:cs typeface="Consolas" pitchFamily="34" charset="-120"/>
              </a:rPr>
              <a:t>System.out.println(j);</a:t>
            </a:r>
            <a:endParaRPr lang="en-US" sz="675" dirty="0"/>
          </a:p>
        </p:txBody>
      </p:sp>
      <p:sp>
        <p:nvSpPr>
          <p:cNvPr id="165" name="Text 162"/>
          <p:cNvSpPr/>
          <p:nvPr/>
        </p:nvSpPr>
        <p:spPr>
          <a:xfrm>
            <a:off x="5057775" y="11199614"/>
            <a:ext cx="380098" cy="96441"/>
          </a:xfrm>
          <a:prstGeom prst="rect">
            <a:avLst/>
          </a:prstGeom>
          <a:noFill/>
          <a:ln/>
        </p:spPr>
        <p:txBody>
          <a:bodyPr wrap="none" lIns="0" tIns="0" rIns="0" bIns="0" rtlCol="0" anchor="ctr">
            <a:spAutoFit/>
          </a:bodyPr>
          <a:lstStyle/>
          <a:p>
            <a:pPr indent="0" marL="0">
              <a:buNone/>
            </a:pPr>
            <a:r>
              <a:rPr lang="en-US" sz="675" dirty="0">
                <a:solidFill>
                  <a:srgbClr val="DBEAFE"/>
                </a:solidFill>
                <a:latin typeface="Consolas" pitchFamily="34" charset="0"/>
                <a:ea typeface="Consolas" pitchFamily="34" charset="-122"/>
                <a:cs typeface="Consolas" pitchFamily="34" charset="-120"/>
              </a:rPr>
              <a:t>j++;</a:t>
            </a:r>
            <a:endParaRPr lang="en-US" sz="675" dirty="0"/>
          </a:p>
        </p:txBody>
      </p:sp>
      <p:sp>
        <p:nvSpPr>
          <p:cNvPr id="166" name="Text 163"/>
          <p:cNvSpPr/>
          <p:nvPr/>
        </p:nvSpPr>
        <p:spPr>
          <a:xfrm>
            <a:off x="5057775" y="11371064"/>
            <a:ext cx="122895" cy="96441"/>
          </a:xfrm>
          <a:prstGeom prst="rect">
            <a:avLst/>
          </a:prstGeom>
          <a:noFill/>
          <a:ln/>
        </p:spPr>
        <p:txBody>
          <a:bodyPr wrap="none" lIns="0" tIns="0" rIns="0" bIns="0" rtlCol="0" anchor="ctr">
            <a:spAutoFit/>
          </a:bodyPr>
          <a:lstStyle/>
          <a:p>
            <a:pPr indent="0" marL="0">
              <a:buNone/>
            </a:pPr>
            <a:r>
              <a:rPr lang="en-US" sz="675" dirty="0">
                <a:solidFill>
                  <a:srgbClr val="DBEAFE"/>
                </a:solidFill>
                <a:latin typeface="Consolas" pitchFamily="34" charset="0"/>
                <a:ea typeface="Consolas" pitchFamily="34" charset="-122"/>
                <a:cs typeface="Consolas" pitchFamily="34" charset="-120"/>
              </a:rPr>
              <a:t>}</a:t>
            </a:r>
            <a:endParaRPr lang="en-US" sz="675" dirty="0"/>
          </a:p>
        </p:txBody>
      </p:sp>
      <p:sp>
        <p:nvSpPr>
          <p:cNvPr id="167" name="Text 164"/>
          <p:cNvSpPr/>
          <p:nvPr/>
        </p:nvSpPr>
        <p:spPr>
          <a:xfrm>
            <a:off x="5057775" y="11713964"/>
            <a:ext cx="894531" cy="96441"/>
          </a:xfrm>
          <a:prstGeom prst="rect">
            <a:avLst/>
          </a:prstGeom>
          <a:noFill/>
          <a:ln/>
        </p:spPr>
        <p:txBody>
          <a:bodyPr wrap="none" lIns="0" tIns="0" rIns="0" bIns="0" rtlCol="0" anchor="ctr">
            <a:spAutoFit/>
          </a:bodyPr>
          <a:lstStyle/>
          <a:p>
            <a:pPr indent="0" marL="0">
              <a:buNone/>
            </a:pPr>
            <a:r>
              <a:rPr lang="en-US" sz="675" dirty="0">
                <a:solidFill>
                  <a:srgbClr val="DBEAFE"/>
                </a:solidFill>
                <a:latin typeface="Consolas" pitchFamily="34" charset="0"/>
                <a:ea typeface="Consolas" pitchFamily="34" charset="-122"/>
                <a:cs typeface="Consolas" pitchFamily="34" charset="-120"/>
              </a:rPr>
              <a:t>// Do-while loop</a:t>
            </a:r>
            <a:endParaRPr lang="en-US" sz="675" dirty="0"/>
          </a:p>
        </p:txBody>
      </p:sp>
      <p:sp>
        <p:nvSpPr>
          <p:cNvPr id="168" name="Text 165"/>
          <p:cNvSpPr/>
          <p:nvPr/>
        </p:nvSpPr>
        <p:spPr>
          <a:xfrm>
            <a:off x="5057775" y="11885414"/>
            <a:ext cx="585871" cy="96441"/>
          </a:xfrm>
          <a:prstGeom prst="rect">
            <a:avLst/>
          </a:prstGeom>
          <a:noFill/>
          <a:ln/>
        </p:spPr>
        <p:txBody>
          <a:bodyPr wrap="none" lIns="0" tIns="0" rIns="0" bIns="0" rtlCol="0" anchor="ctr">
            <a:spAutoFit/>
          </a:bodyPr>
          <a:lstStyle/>
          <a:p>
            <a:pPr indent="0" marL="0">
              <a:buNone/>
            </a:pPr>
            <a:r>
              <a:rPr lang="en-US" sz="675" dirty="0">
                <a:solidFill>
                  <a:srgbClr val="DBEAFE"/>
                </a:solidFill>
                <a:latin typeface="Consolas" pitchFamily="34" charset="0"/>
                <a:ea typeface="Consolas" pitchFamily="34" charset="-122"/>
                <a:cs typeface="Consolas" pitchFamily="34" charset="-120"/>
              </a:rPr>
              <a:t>int k = 0;</a:t>
            </a:r>
            <a:endParaRPr lang="en-US" sz="675" dirty="0"/>
          </a:p>
        </p:txBody>
      </p:sp>
      <p:sp>
        <p:nvSpPr>
          <p:cNvPr id="169" name="Text 166"/>
          <p:cNvSpPr/>
          <p:nvPr/>
        </p:nvSpPr>
        <p:spPr>
          <a:xfrm>
            <a:off x="5057775" y="12056864"/>
            <a:ext cx="277211" cy="96441"/>
          </a:xfrm>
          <a:prstGeom prst="rect">
            <a:avLst/>
          </a:prstGeom>
          <a:noFill/>
          <a:ln/>
        </p:spPr>
        <p:txBody>
          <a:bodyPr wrap="none" lIns="0" tIns="0" rIns="0" bIns="0" rtlCol="0" anchor="ctr">
            <a:spAutoFit/>
          </a:bodyPr>
          <a:lstStyle/>
          <a:p>
            <a:pPr indent="0" marL="0">
              <a:buNone/>
            </a:pPr>
            <a:r>
              <a:rPr lang="en-US" sz="675" dirty="0">
                <a:solidFill>
                  <a:srgbClr val="DBEAFE"/>
                </a:solidFill>
                <a:latin typeface="Consolas" pitchFamily="34" charset="0"/>
                <a:ea typeface="Consolas" pitchFamily="34" charset="-122"/>
                <a:cs typeface="Consolas" pitchFamily="34" charset="-120"/>
              </a:rPr>
              <a:t>do {</a:t>
            </a:r>
            <a:endParaRPr lang="en-US" sz="675" dirty="0"/>
          </a:p>
        </p:txBody>
      </p:sp>
      <p:sp>
        <p:nvSpPr>
          <p:cNvPr id="170" name="Text 167"/>
          <p:cNvSpPr/>
          <p:nvPr/>
        </p:nvSpPr>
        <p:spPr>
          <a:xfrm>
            <a:off x="5057775" y="12228314"/>
            <a:ext cx="1306078" cy="96441"/>
          </a:xfrm>
          <a:prstGeom prst="rect">
            <a:avLst/>
          </a:prstGeom>
          <a:noFill/>
          <a:ln/>
        </p:spPr>
        <p:txBody>
          <a:bodyPr wrap="square" lIns="0" tIns="0" rIns="0" bIns="0" rtlCol="0" anchor="ctr">
            <a:spAutoFit/>
          </a:bodyPr>
          <a:lstStyle/>
          <a:p>
            <a:pPr indent="0" marL="0">
              <a:buNone/>
            </a:pPr>
            <a:r>
              <a:rPr lang="en-US" sz="675" dirty="0">
                <a:solidFill>
                  <a:srgbClr val="DBEAFE"/>
                </a:solidFill>
                <a:latin typeface="Consolas" pitchFamily="34" charset="0"/>
                <a:ea typeface="Consolas" pitchFamily="34" charset="-122"/>
                <a:cs typeface="Consolas" pitchFamily="34" charset="-120"/>
              </a:rPr>
              <a:t>System.out.println(k);</a:t>
            </a:r>
            <a:endParaRPr lang="en-US" sz="675" dirty="0"/>
          </a:p>
        </p:txBody>
      </p:sp>
      <p:sp>
        <p:nvSpPr>
          <p:cNvPr id="171" name="Text 168"/>
          <p:cNvSpPr/>
          <p:nvPr/>
        </p:nvSpPr>
        <p:spPr>
          <a:xfrm>
            <a:off x="5057775" y="12399764"/>
            <a:ext cx="380098" cy="96441"/>
          </a:xfrm>
          <a:prstGeom prst="rect">
            <a:avLst/>
          </a:prstGeom>
          <a:noFill/>
          <a:ln/>
        </p:spPr>
        <p:txBody>
          <a:bodyPr wrap="none" lIns="0" tIns="0" rIns="0" bIns="0" rtlCol="0" anchor="ctr">
            <a:spAutoFit/>
          </a:bodyPr>
          <a:lstStyle/>
          <a:p>
            <a:pPr indent="0" marL="0">
              <a:buNone/>
            </a:pPr>
            <a:r>
              <a:rPr lang="en-US" sz="675" dirty="0">
                <a:solidFill>
                  <a:srgbClr val="DBEAFE"/>
                </a:solidFill>
                <a:latin typeface="Consolas" pitchFamily="34" charset="0"/>
                <a:ea typeface="Consolas" pitchFamily="34" charset="-122"/>
                <a:cs typeface="Consolas" pitchFamily="34" charset="-120"/>
              </a:rPr>
              <a:t>k++;</a:t>
            </a:r>
            <a:endParaRPr lang="en-US" sz="675" dirty="0"/>
          </a:p>
        </p:txBody>
      </p:sp>
      <p:sp>
        <p:nvSpPr>
          <p:cNvPr id="172" name="Text 169"/>
          <p:cNvSpPr/>
          <p:nvPr/>
        </p:nvSpPr>
        <p:spPr>
          <a:xfrm>
            <a:off x="5057775" y="12571214"/>
            <a:ext cx="894531" cy="96441"/>
          </a:xfrm>
          <a:prstGeom prst="rect">
            <a:avLst/>
          </a:prstGeom>
          <a:noFill/>
          <a:ln/>
        </p:spPr>
        <p:txBody>
          <a:bodyPr wrap="none" lIns="0" tIns="0" rIns="0" bIns="0" rtlCol="0" anchor="ctr">
            <a:spAutoFit/>
          </a:bodyPr>
          <a:lstStyle/>
          <a:p>
            <a:pPr indent="0" marL="0">
              <a:buNone/>
            </a:pPr>
            <a:r>
              <a:rPr lang="en-US" sz="675" dirty="0">
                <a:solidFill>
                  <a:srgbClr val="DBEAFE"/>
                </a:solidFill>
                <a:latin typeface="Consolas" pitchFamily="34" charset="0"/>
                <a:ea typeface="Consolas" pitchFamily="34" charset="-122"/>
                <a:cs typeface="Consolas" pitchFamily="34" charset="-120"/>
              </a:rPr>
              <a:t>} while (k &lt; 5);</a:t>
            </a:r>
            <a:endParaRPr lang="en-US" sz="675" dirty="0"/>
          </a:p>
        </p:txBody>
      </p:sp>
      <p:sp>
        <p:nvSpPr>
          <p:cNvPr id="173" name="Text 170"/>
          <p:cNvSpPr/>
          <p:nvPr/>
        </p:nvSpPr>
        <p:spPr>
          <a:xfrm>
            <a:off x="5057775" y="12914114"/>
            <a:ext cx="1923399" cy="96441"/>
          </a:xfrm>
          <a:prstGeom prst="rect">
            <a:avLst/>
          </a:prstGeom>
          <a:noFill/>
          <a:ln/>
        </p:spPr>
        <p:txBody>
          <a:bodyPr wrap="square" lIns="0" tIns="0" rIns="0" bIns="0" rtlCol="0" anchor="ctr">
            <a:spAutoFit/>
          </a:bodyPr>
          <a:lstStyle/>
          <a:p>
            <a:pPr indent="0" marL="0">
              <a:buNone/>
            </a:pPr>
            <a:r>
              <a:rPr lang="en-US" sz="675" dirty="0">
                <a:solidFill>
                  <a:srgbClr val="DBEAFE"/>
                </a:solidFill>
                <a:latin typeface="Consolas" pitchFamily="34" charset="0"/>
                <a:ea typeface="Consolas" pitchFamily="34" charset="-122"/>
                <a:cs typeface="Consolas" pitchFamily="34" charset="-120"/>
              </a:rPr>
              <a:t>// For-each loop (enhanced for loop)</a:t>
            </a:r>
            <a:endParaRPr lang="en-US" sz="675" dirty="0"/>
          </a:p>
        </p:txBody>
      </p:sp>
      <p:sp>
        <p:nvSpPr>
          <p:cNvPr id="174" name="Text 171"/>
          <p:cNvSpPr/>
          <p:nvPr/>
        </p:nvSpPr>
        <p:spPr>
          <a:xfrm>
            <a:off x="5057775" y="13085564"/>
            <a:ext cx="1717625" cy="96441"/>
          </a:xfrm>
          <a:prstGeom prst="rect">
            <a:avLst/>
          </a:prstGeom>
          <a:noFill/>
          <a:ln/>
        </p:spPr>
        <p:txBody>
          <a:bodyPr wrap="square" lIns="0" tIns="0" rIns="0" bIns="0" rtlCol="0" anchor="ctr">
            <a:spAutoFit/>
          </a:bodyPr>
          <a:lstStyle/>
          <a:p>
            <a:pPr indent="0" marL="0">
              <a:buNone/>
            </a:pPr>
            <a:r>
              <a:rPr lang="en-US" sz="675" dirty="0">
                <a:solidFill>
                  <a:srgbClr val="DBEAFE"/>
                </a:solidFill>
                <a:latin typeface="Consolas" pitchFamily="34" charset="0"/>
                <a:ea typeface="Consolas" pitchFamily="34" charset="-122"/>
                <a:cs typeface="Consolas" pitchFamily="34" charset="-120"/>
              </a:rPr>
              <a:t>int[] numbers = {1, 2, 3, 4, 5};</a:t>
            </a:r>
            <a:endParaRPr lang="en-US" sz="675" dirty="0"/>
          </a:p>
        </p:txBody>
      </p:sp>
      <p:sp>
        <p:nvSpPr>
          <p:cNvPr id="175" name="Text 172"/>
          <p:cNvSpPr/>
          <p:nvPr/>
        </p:nvSpPr>
        <p:spPr>
          <a:xfrm>
            <a:off x="5057775" y="13257014"/>
            <a:ext cx="1357536" cy="96441"/>
          </a:xfrm>
          <a:prstGeom prst="rect">
            <a:avLst/>
          </a:prstGeom>
          <a:noFill/>
          <a:ln/>
        </p:spPr>
        <p:txBody>
          <a:bodyPr wrap="square" lIns="0" tIns="0" rIns="0" bIns="0" rtlCol="0" anchor="ctr">
            <a:spAutoFit/>
          </a:bodyPr>
          <a:lstStyle/>
          <a:p>
            <a:pPr indent="0" marL="0">
              <a:buNone/>
            </a:pPr>
            <a:r>
              <a:rPr lang="en-US" sz="675" dirty="0">
                <a:solidFill>
                  <a:srgbClr val="DBEAFE"/>
                </a:solidFill>
                <a:latin typeface="Consolas" pitchFamily="34" charset="0"/>
                <a:ea typeface="Consolas" pitchFamily="34" charset="-122"/>
                <a:cs typeface="Consolas" pitchFamily="34" charset="-120"/>
              </a:rPr>
              <a:t>for (int num : numbers) {</a:t>
            </a:r>
            <a:endParaRPr lang="en-US" sz="675" dirty="0"/>
          </a:p>
        </p:txBody>
      </p:sp>
      <p:sp>
        <p:nvSpPr>
          <p:cNvPr id="176" name="Text 173"/>
          <p:cNvSpPr/>
          <p:nvPr/>
        </p:nvSpPr>
        <p:spPr>
          <a:xfrm>
            <a:off x="5057775" y="13428464"/>
            <a:ext cx="1408965" cy="96441"/>
          </a:xfrm>
          <a:prstGeom prst="rect">
            <a:avLst/>
          </a:prstGeom>
          <a:noFill/>
          <a:ln/>
        </p:spPr>
        <p:txBody>
          <a:bodyPr wrap="square" lIns="0" tIns="0" rIns="0" bIns="0" rtlCol="0" anchor="ctr">
            <a:spAutoFit/>
          </a:bodyPr>
          <a:lstStyle/>
          <a:p>
            <a:pPr indent="0" marL="0">
              <a:buNone/>
            </a:pPr>
            <a:r>
              <a:rPr lang="en-US" sz="675" dirty="0">
                <a:solidFill>
                  <a:srgbClr val="DBEAFE"/>
                </a:solidFill>
                <a:latin typeface="Consolas" pitchFamily="34" charset="0"/>
                <a:ea typeface="Consolas" pitchFamily="34" charset="-122"/>
                <a:cs typeface="Consolas" pitchFamily="34" charset="-120"/>
              </a:rPr>
              <a:t>System.out.println(num);</a:t>
            </a:r>
            <a:endParaRPr lang="en-US" sz="675" dirty="0"/>
          </a:p>
        </p:txBody>
      </p:sp>
      <p:sp>
        <p:nvSpPr>
          <p:cNvPr id="177" name="Text 174"/>
          <p:cNvSpPr/>
          <p:nvPr/>
        </p:nvSpPr>
        <p:spPr>
          <a:xfrm>
            <a:off x="5057775" y="13599914"/>
            <a:ext cx="122895" cy="96441"/>
          </a:xfrm>
          <a:prstGeom prst="rect">
            <a:avLst/>
          </a:prstGeom>
          <a:noFill/>
          <a:ln/>
        </p:spPr>
        <p:txBody>
          <a:bodyPr wrap="none" lIns="0" tIns="0" rIns="0" bIns="0" rtlCol="0" anchor="ctr">
            <a:spAutoFit/>
          </a:bodyPr>
          <a:lstStyle/>
          <a:p>
            <a:pPr indent="0" marL="0">
              <a:buNone/>
            </a:pPr>
            <a:r>
              <a:rPr lang="en-US" sz="675" dirty="0">
                <a:solidFill>
                  <a:srgbClr val="DBEAFE"/>
                </a:solidFill>
                <a:latin typeface="Consolas" pitchFamily="34" charset="0"/>
                <a:ea typeface="Consolas" pitchFamily="34" charset="-122"/>
                <a:cs typeface="Consolas" pitchFamily="34" charset="-120"/>
              </a:rPr>
              <a:t>}</a:t>
            </a:r>
            <a:endParaRPr lang="en-US" sz="675" dirty="0"/>
          </a:p>
        </p:txBody>
      </p:sp>
      <p:sp>
        <p:nvSpPr>
          <p:cNvPr id="178" name="Shape 175"/>
          <p:cNvSpPr/>
          <p:nvPr/>
        </p:nvSpPr>
        <p:spPr>
          <a:xfrm>
            <a:off x="4686300" y="14230350"/>
            <a:ext cx="4000500" cy="5384602"/>
          </a:xfrm>
          <a:prstGeom prst="rect">
            <a:avLst/>
          </a:prstGeom>
          <a:solidFill>
            <a:srgbClr val="FFFFFF">
              <a:alpha val="10000"/>
            </a:srgbClr>
          </a:solidFill>
          <a:ln w="99">
            <a:solidFill>
              <a:srgbClr val="60A5FA">
                <a:alpha val="30000"/>
              </a:srgbClr>
            </a:solidFill>
            <a:prstDash val="solid"/>
          </a:ln>
        </p:spPr>
      </p:sp>
      <p:sp>
        <p:nvSpPr>
          <p:cNvPr id="179" name="Text 176"/>
          <p:cNvSpPr/>
          <p:nvPr/>
        </p:nvSpPr>
        <p:spPr>
          <a:xfrm>
            <a:off x="4857750" y="14401800"/>
            <a:ext cx="3729038" cy="228600"/>
          </a:xfrm>
          <a:prstGeom prst="rect">
            <a:avLst/>
          </a:prstGeom>
          <a:noFill/>
          <a:ln/>
        </p:spPr>
        <p:txBody>
          <a:bodyPr wrap="square" lIns="0" tIns="0" rIns="0" bIns="0" rtlCol="0" anchor="ctr">
            <a:spAutoFit/>
          </a:bodyPr>
          <a:lstStyle/>
          <a:p>
            <a:pPr indent="0" marL="0">
              <a:buNone/>
            </a:pPr>
            <a:r>
              <a:rPr lang="en-US" sz="1350" b="1" dirty="0">
                <a:solidFill>
                  <a:srgbClr val="BFDBFE"/>
                </a:solidFill>
                <a:latin typeface="Segoe UI" pitchFamily="34" charset="0"/>
                <a:ea typeface="Segoe UI" pitchFamily="34" charset="-122"/>
                <a:cs typeface="Segoe UI" pitchFamily="34" charset="-120"/>
              </a:rPr>
              <a:t>String Operations</a:t>
            </a:r>
            <a:endParaRPr lang="en-US" sz="1350" dirty="0"/>
          </a:p>
        </p:txBody>
      </p:sp>
      <p:sp>
        <p:nvSpPr>
          <p:cNvPr id="180" name="Shape 177"/>
          <p:cNvSpPr/>
          <p:nvPr/>
        </p:nvSpPr>
        <p:spPr>
          <a:xfrm>
            <a:off x="4857750" y="14744700"/>
            <a:ext cx="3657600" cy="2043113"/>
          </a:xfrm>
          <a:prstGeom prst="rect">
            <a:avLst/>
          </a:prstGeom>
          <a:solidFill>
            <a:srgbClr val="1E3A8A">
              <a:alpha val="30000"/>
            </a:srgbClr>
          </a:solidFill>
          <a:ln/>
        </p:spPr>
      </p:sp>
      <p:sp>
        <p:nvSpPr>
          <p:cNvPr id="181" name="Text 178"/>
          <p:cNvSpPr/>
          <p:nvPr/>
        </p:nvSpPr>
        <p:spPr>
          <a:xfrm>
            <a:off x="4972050" y="14859000"/>
            <a:ext cx="3500438" cy="200025"/>
          </a:xfrm>
          <a:prstGeom prst="rect">
            <a:avLst/>
          </a:prstGeom>
          <a:noFill/>
          <a:ln/>
        </p:spPr>
        <p:txBody>
          <a:bodyPr wrap="square" lIns="0" tIns="0" rIns="0" bIns="0" rtlCol="0" anchor="ctr">
            <a:spAutoFit/>
          </a:bodyPr>
          <a:lstStyle/>
          <a:p>
            <a:pPr indent="0" marL="0">
              <a:buNone/>
            </a:pPr>
            <a:r>
              <a:rPr lang="en-US" sz="1125" b="1" dirty="0">
                <a:solidFill>
                  <a:srgbClr val="F1F5F9"/>
                </a:solidFill>
                <a:latin typeface="Segoe UI" pitchFamily="34" charset="0"/>
                <a:ea typeface="Segoe UI" pitchFamily="34" charset="-122"/>
                <a:cs typeface="Segoe UI" pitchFamily="34" charset="-120"/>
              </a:rPr>
              <a:t>String Creation</a:t>
            </a:r>
            <a:endParaRPr lang="en-US" sz="1125" dirty="0"/>
          </a:p>
        </p:txBody>
      </p:sp>
      <p:sp>
        <p:nvSpPr>
          <p:cNvPr id="182" name="Shape 179"/>
          <p:cNvSpPr/>
          <p:nvPr/>
        </p:nvSpPr>
        <p:spPr>
          <a:xfrm>
            <a:off x="4972050" y="15116175"/>
            <a:ext cx="3429000" cy="1557338"/>
          </a:xfrm>
          <a:prstGeom prst="rect">
            <a:avLst/>
          </a:prstGeom>
          <a:solidFill>
            <a:srgbClr val="1E293B">
              <a:alpha val="80000"/>
            </a:srgbClr>
          </a:solidFill>
          <a:ln w="99">
            <a:solidFill>
              <a:srgbClr val="60A5FA">
                <a:alpha val="30000"/>
              </a:srgbClr>
            </a:solidFill>
            <a:prstDash val="solid"/>
          </a:ln>
        </p:spPr>
      </p:sp>
      <p:sp>
        <p:nvSpPr>
          <p:cNvPr id="183" name="Text 180"/>
          <p:cNvSpPr/>
          <p:nvPr/>
        </p:nvSpPr>
        <p:spPr>
          <a:xfrm>
            <a:off x="5057775" y="15257264"/>
            <a:ext cx="997418" cy="96441"/>
          </a:xfrm>
          <a:prstGeom prst="rect">
            <a:avLst/>
          </a:prstGeom>
          <a:noFill/>
          <a:ln/>
        </p:spPr>
        <p:txBody>
          <a:bodyPr wrap="none" lIns="0" tIns="0" rIns="0" bIns="0" rtlCol="0" anchor="ctr">
            <a:spAutoFit/>
          </a:bodyPr>
          <a:lstStyle/>
          <a:p>
            <a:pPr indent="0" marL="0">
              <a:buNone/>
            </a:pPr>
            <a:r>
              <a:rPr lang="en-US" sz="675" dirty="0">
                <a:solidFill>
                  <a:srgbClr val="DBEAFE"/>
                </a:solidFill>
                <a:latin typeface="Consolas" pitchFamily="34" charset="0"/>
                <a:ea typeface="Consolas" pitchFamily="34" charset="-122"/>
                <a:cs typeface="Consolas" pitchFamily="34" charset="-120"/>
              </a:rPr>
              <a:t>// String literals</a:t>
            </a:r>
            <a:endParaRPr lang="en-US" sz="675" dirty="0"/>
          </a:p>
        </p:txBody>
      </p:sp>
      <p:sp>
        <p:nvSpPr>
          <p:cNvPr id="184" name="Text 181"/>
          <p:cNvSpPr/>
          <p:nvPr/>
        </p:nvSpPr>
        <p:spPr>
          <a:xfrm>
            <a:off x="5057775" y="15428714"/>
            <a:ext cx="1151762" cy="96441"/>
          </a:xfrm>
          <a:prstGeom prst="rect">
            <a:avLst/>
          </a:prstGeom>
          <a:noFill/>
          <a:ln/>
        </p:spPr>
        <p:txBody>
          <a:bodyPr wrap="none" lIns="0" tIns="0" rIns="0" bIns="0" rtlCol="0" anchor="ctr">
            <a:spAutoFit/>
          </a:bodyPr>
          <a:lstStyle/>
          <a:p>
            <a:pPr indent="0" marL="0">
              <a:buNone/>
            </a:pPr>
            <a:r>
              <a:rPr lang="en-US" sz="675" dirty="0">
                <a:solidFill>
                  <a:srgbClr val="DBEAFE"/>
                </a:solidFill>
                <a:latin typeface="Consolas" pitchFamily="34" charset="0"/>
                <a:ea typeface="Consolas" pitchFamily="34" charset="-122"/>
                <a:cs typeface="Consolas" pitchFamily="34" charset="-120"/>
              </a:rPr>
              <a:t>String name = "John";</a:t>
            </a:r>
            <a:endParaRPr lang="en-US" sz="675" dirty="0"/>
          </a:p>
        </p:txBody>
      </p:sp>
      <p:sp>
        <p:nvSpPr>
          <p:cNvPr id="185" name="Text 182"/>
          <p:cNvSpPr/>
          <p:nvPr/>
        </p:nvSpPr>
        <p:spPr>
          <a:xfrm>
            <a:off x="5057775" y="15771614"/>
            <a:ext cx="1100305" cy="96441"/>
          </a:xfrm>
          <a:prstGeom prst="rect">
            <a:avLst/>
          </a:prstGeom>
          <a:noFill/>
          <a:ln/>
        </p:spPr>
        <p:txBody>
          <a:bodyPr wrap="none" lIns="0" tIns="0" rIns="0" bIns="0" rtlCol="0" anchor="ctr">
            <a:spAutoFit/>
          </a:bodyPr>
          <a:lstStyle/>
          <a:p>
            <a:pPr indent="0" marL="0">
              <a:buNone/>
            </a:pPr>
            <a:r>
              <a:rPr lang="en-US" sz="675" dirty="0">
                <a:solidFill>
                  <a:srgbClr val="DBEAFE"/>
                </a:solidFill>
                <a:latin typeface="Consolas" pitchFamily="34" charset="0"/>
                <a:ea typeface="Consolas" pitchFamily="34" charset="-122"/>
                <a:cs typeface="Consolas" pitchFamily="34" charset="-120"/>
              </a:rPr>
              <a:t>// Using new keyword</a:t>
            </a:r>
            <a:endParaRPr lang="en-US" sz="675" dirty="0"/>
          </a:p>
        </p:txBody>
      </p:sp>
      <p:sp>
        <p:nvSpPr>
          <p:cNvPr id="186" name="Text 183"/>
          <p:cNvSpPr/>
          <p:nvPr/>
        </p:nvSpPr>
        <p:spPr>
          <a:xfrm>
            <a:off x="5057775" y="15943064"/>
            <a:ext cx="1974856" cy="96441"/>
          </a:xfrm>
          <a:prstGeom prst="rect">
            <a:avLst/>
          </a:prstGeom>
          <a:noFill/>
          <a:ln/>
        </p:spPr>
        <p:txBody>
          <a:bodyPr wrap="square" lIns="0" tIns="0" rIns="0" bIns="0" rtlCol="0" anchor="ctr">
            <a:spAutoFit/>
          </a:bodyPr>
          <a:lstStyle/>
          <a:p>
            <a:pPr indent="0" marL="0">
              <a:buNone/>
            </a:pPr>
            <a:r>
              <a:rPr lang="en-US" sz="675" dirty="0">
                <a:solidFill>
                  <a:srgbClr val="DBEAFE"/>
                </a:solidFill>
                <a:latin typeface="Consolas" pitchFamily="34" charset="0"/>
                <a:ea typeface="Consolas" pitchFamily="34" charset="-122"/>
                <a:cs typeface="Consolas" pitchFamily="34" charset="-120"/>
              </a:rPr>
              <a:t>String city = new String("New York");</a:t>
            </a:r>
            <a:endParaRPr lang="en-US" sz="675" dirty="0"/>
          </a:p>
        </p:txBody>
      </p:sp>
      <p:sp>
        <p:nvSpPr>
          <p:cNvPr id="187" name="Text 184"/>
          <p:cNvSpPr/>
          <p:nvPr/>
        </p:nvSpPr>
        <p:spPr>
          <a:xfrm>
            <a:off x="5057775" y="16285964"/>
            <a:ext cx="1254649" cy="96441"/>
          </a:xfrm>
          <a:prstGeom prst="rect">
            <a:avLst/>
          </a:prstGeom>
          <a:noFill/>
          <a:ln/>
        </p:spPr>
        <p:txBody>
          <a:bodyPr wrap="none" lIns="0" tIns="0" rIns="0" bIns="0" rtlCol="0" anchor="ctr">
            <a:spAutoFit/>
          </a:bodyPr>
          <a:lstStyle/>
          <a:p>
            <a:pPr indent="0" marL="0">
              <a:buNone/>
            </a:pPr>
            <a:r>
              <a:rPr lang="en-US" sz="675" dirty="0">
                <a:solidFill>
                  <a:srgbClr val="DBEAFE"/>
                </a:solidFill>
                <a:latin typeface="Consolas" pitchFamily="34" charset="0"/>
                <a:ea typeface="Consolas" pitchFamily="34" charset="-122"/>
                <a:cs typeface="Consolas" pitchFamily="34" charset="-120"/>
              </a:rPr>
              <a:t>// String concatenation</a:t>
            </a:r>
            <a:endParaRPr lang="en-US" sz="675" dirty="0"/>
          </a:p>
        </p:txBody>
      </p:sp>
      <p:sp>
        <p:nvSpPr>
          <p:cNvPr id="188" name="Text 185"/>
          <p:cNvSpPr/>
          <p:nvPr/>
        </p:nvSpPr>
        <p:spPr>
          <a:xfrm>
            <a:off x="5057775" y="16457414"/>
            <a:ext cx="2180630" cy="96441"/>
          </a:xfrm>
          <a:prstGeom prst="rect">
            <a:avLst/>
          </a:prstGeom>
          <a:noFill/>
          <a:ln/>
        </p:spPr>
        <p:txBody>
          <a:bodyPr wrap="square" lIns="0" tIns="0" rIns="0" bIns="0" rtlCol="0" anchor="ctr">
            <a:spAutoFit/>
          </a:bodyPr>
          <a:lstStyle/>
          <a:p>
            <a:pPr indent="0" marL="0">
              <a:buNone/>
            </a:pPr>
            <a:r>
              <a:rPr lang="en-US" sz="675" dirty="0">
                <a:solidFill>
                  <a:srgbClr val="DBEAFE"/>
                </a:solidFill>
                <a:latin typeface="Consolas" pitchFamily="34" charset="0"/>
                <a:ea typeface="Consolas" pitchFamily="34" charset="-122"/>
                <a:cs typeface="Consolas" pitchFamily="34" charset="-120"/>
              </a:rPr>
              <a:t>String greeting = "Hello, " + name + "!";</a:t>
            </a:r>
            <a:endParaRPr lang="en-US" sz="675" dirty="0"/>
          </a:p>
        </p:txBody>
      </p:sp>
      <p:sp>
        <p:nvSpPr>
          <p:cNvPr id="189" name="Shape 186"/>
          <p:cNvSpPr/>
          <p:nvPr/>
        </p:nvSpPr>
        <p:spPr>
          <a:xfrm>
            <a:off x="4857750" y="16887825"/>
            <a:ext cx="3657600" cy="2412802"/>
          </a:xfrm>
          <a:prstGeom prst="rect">
            <a:avLst/>
          </a:prstGeom>
          <a:solidFill>
            <a:srgbClr val="1E3A8A">
              <a:alpha val="30000"/>
            </a:srgbClr>
          </a:solidFill>
          <a:ln/>
        </p:spPr>
      </p:sp>
      <p:sp>
        <p:nvSpPr>
          <p:cNvPr id="190" name="Text 187"/>
          <p:cNvSpPr/>
          <p:nvPr/>
        </p:nvSpPr>
        <p:spPr>
          <a:xfrm>
            <a:off x="4972050" y="17002125"/>
            <a:ext cx="3500438" cy="200025"/>
          </a:xfrm>
          <a:prstGeom prst="rect">
            <a:avLst/>
          </a:prstGeom>
          <a:noFill/>
          <a:ln/>
        </p:spPr>
        <p:txBody>
          <a:bodyPr wrap="square" lIns="0" tIns="0" rIns="0" bIns="0" rtlCol="0" anchor="ctr">
            <a:spAutoFit/>
          </a:bodyPr>
          <a:lstStyle/>
          <a:p>
            <a:pPr indent="0" marL="0">
              <a:buNone/>
            </a:pPr>
            <a:r>
              <a:rPr lang="en-US" sz="1125" b="1" dirty="0">
                <a:solidFill>
                  <a:srgbClr val="F1F5F9"/>
                </a:solidFill>
                <a:latin typeface="Segoe UI" pitchFamily="34" charset="0"/>
                <a:ea typeface="Segoe UI" pitchFamily="34" charset="-122"/>
                <a:cs typeface="Segoe UI" pitchFamily="34" charset="-120"/>
              </a:rPr>
              <a:t>Common String Methods</a:t>
            </a:r>
            <a:endParaRPr lang="en-US" sz="1125" dirty="0"/>
          </a:p>
        </p:txBody>
      </p:sp>
      <p:sp>
        <p:nvSpPr>
          <p:cNvPr id="191" name="Text 188"/>
          <p:cNvSpPr/>
          <p:nvPr/>
        </p:nvSpPr>
        <p:spPr>
          <a:xfrm>
            <a:off x="4972050" y="17273588"/>
            <a:ext cx="482984" cy="96441"/>
          </a:xfrm>
          <a:prstGeom prst="rect">
            <a:avLst/>
          </a:prstGeom>
          <a:noFill/>
          <a:ln/>
        </p:spPr>
        <p:txBody>
          <a:bodyPr wrap="none" lIns="0" tIns="0" rIns="0" bIns="0" rtlCol="0" anchor="ctr">
            <a:spAutoFit/>
          </a:bodyPr>
          <a:lstStyle/>
          <a:p>
            <a:pPr algn="l" indent="0" marL="0">
              <a:buNone/>
            </a:pPr>
            <a:r>
              <a:rPr lang="en-US" sz="675" dirty="0">
                <a:solidFill>
                  <a:srgbClr val="DBEAFE"/>
                </a:solidFill>
                <a:latin typeface="Consolas" pitchFamily="34" charset="0"/>
                <a:ea typeface="Consolas" pitchFamily="34" charset="-122"/>
                <a:cs typeface="Consolas" pitchFamily="34" charset="-120"/>
              </a:rPr>
              <a:t>length()</a:t>
            </a:r>
            <a:endParaRPr lang="en-US" sz="675" dirty="0"/>
          </a:p>
        </p:txBody>
      </p:sp>
      <p:sp>
        <p:nvSpPr>
          <p:cNvPr id="192" name="Text 189"/>
          <p:cNvSpPr/>
          <p:nvPr/>
        </p:nvSpPr>
        <p:spPr>
          <a:xfrm>
            <a:off x="5383597" y="17268230"/>
            <a:ext cx="776632" cy="94655"/>
          </a:xfrm>
          <a:prstGeom prst="rect">
            <a:avLst/>
          </a:prstGeom>
          <a:noFill/>
          <a:ln/>
        </p:spPr>
        <p:txBody>
          <a:bodyPr wrap="none" lIns="0" tIns="0" rIns="0" bIns="0" rtlCol="0" anchor="ctr">
            <a:spAutoFit/>
          </a:bodyPr>
          <a:lstStyle/>
          <a:p>
            <a:pPr algn="l" indent="0" marL="0">
              <a:buNone/>
            </a:pPr>
            <a:r>
              <a:rPr lang="en-US" sz="675" dirty="0">
                <a:solidFill>
                  <a:srgbClr val="F1F5F9"/>
                </a:solidFill>
                <a:latin typeface="Segoe UI" pitchFamily="34" charset="0"/>
                <a:ea typeface="Segoe UI" pitchFamily="34" charset="-122"/>
                <a:cs typeface="Segoe UI" pitchFamily="34" charset="-120"/>
              </a:rPr>
              <a:t>- Get string length</a:t>
            </a:r>
            <a:endParaRPr lang="en-US" sz="675" dirty="0"/>
          </a:p>
        </p:txBody>
      </p:sp>
      <p:sp>
        <p:nvSpPr>
          <p:cNvPr id="193" name="Text 190"/>
          <p:cNvSpPr/>
          <p:nvPr/>
        </p:nvSpPr>
        <p:spPr>
          <a:xfrm>
            <a:off x="4972050" y="17421820"/>
            <a:ext cx="740215" cy="96441"/>
          </a:xfrm>
          <a:prstGeom prst="rect">
            <a:avLst/>
          </a:prstGeom>
          <a:noFill/>
          <a:ln/>
        </p:spPr>
        <p:txBody>
          <a:bodyPr wrap="none" lIns="0" tIns="0" rIns="0" bIns="0" rtlCol="0" anchor="ctr">
            <a:spAutoFit/>
          </a:bodyPr>
          <a:lstStyle/>
          <a:p>
            <a:pPr algn="l" indent="0" marL="0">
              <a:buNone/>
            </a:pPr>
            <a:r>
              <a:rPr lang="en-US" sz="675" dirty="0">
                <a:solidFill>
                  <a:srgbClr val="DBEAFE"/>
                </a:solidFill>
                <a:latin typeface="Consolas" pitchFamily="34" charset="0"/>
                <a:ea typeface="Consolas" pitchFamily="34" charset="-122"/>
                <a:cs typeface="Consolas" pitchFamily="34" charset="-120"/>
              </a:rPr>
              <a:t>charAt(index)</a:t>
            </a:r>
            <a:endParaRPr lang="en-US" sz="675" dirty="0"/>
          </a:p>
        </p:txBody>
      </p:sp>
      <p:sp>
        <p:nvSpPr>
          <p:cNvPr id="194" name="Text 191"/>
          <p:cNvSpPr/>
          <p:nvPr/>
        </p:nvSpPr>
        <p:spPr>
          <a:xfrm>
            <a:off x="5640828" y="17416463"/>
            <a:ext cx="1081553" cy="94655"/>
          </a:xfrm>
          <a:prstGeom prst="rect">
            <a:avLst/>
          </a:prstGeom>
          <a:noFill/>
          <a:ln/>
        </p:spPr>
        <p:txBody>
          <a:bodyPr wrap="none" lIns="0" tIns="0" rIns="0" bIns="0" rtlCol="0" anchor="ctr">
            <a:spAutoFit/>
          </a:bodyPr>
          <a:lstStyle/>
          <a:p>
            <a:pPr algn="l" indent="0" marL="0">
              <a:buNone/>
            </a:pPr>
            <a:r>
              <a:rPr lang="en-US" sz="675" dirty="0">
                <a:solidFill>
                  <a:srgbClr val="F1F5F9"/>
                </a:solidFill>
                <a:latin typeface="Segoe UI" pitchFamily="34" charset="0"/>
                <a:ea typeface="Segoe UI" pitchFamily="34" charset="-122"/>
                <a:cs typeface="Segoe UI" pitchFamily="34" charset="-120"/>
              </a:rPr>
              <a:t>- Get character at position</a:t>
            </a:r>
            <a:endParaRPr lang="en-US" sz="675" dirty="0"/>
          </a:p>
        </p:txBody>
      </p:sp>
      <p:sp>
        <p:nvSpPr>
          <p:cNvPr id="195" name="Text 192"/>
          <p:cNvSpPr/>
          <p:nvPr/>
        </p:nvSpPr>
        <p:spPr>
          <a:xfrm>
            <a:off x="4972050" y="17570053"/>
            <a:ext cx="1151762" cy="96441"/>
          </a:xfrm>
          <a:prstGeom prst="rect">
            <a:avLst/>
          </a:prstGeom>
          <a:noFill/>
          <a:ln/>
        </p:spPr>
        <p:txBody>
          <a:bodyPr wrap="none" lIns="0" tIns="0" rIns="0" bIns="0" rtlCol="0" anchor="ctr">
            <a:spAutoFit/>
          </a:bodyPr>
          <a:lstStyle/>
          <a:p>
            <a:pPr algn="l" indent="0" marL="0">
              <a:buNone/>
            </a:pPr>
            <a:r>
              <a:rPr lang="en-US" sz="675" dirty="0">
                <a:solidFill>
                  <a:srgbClr val="DBEAFE"/>
                </a:solidFill>
                <a:latin typeface="Consolas" pitchFamily="34" charset="0"/>
                <a:ea typeface="Consolas" pitchFamily="34" charset="-122"/>
                <a:cs typeface="Consolas" pitchFamily="34" charset="-120"/>
              </a:rPr>
              <a:t>substring(start, end)</a:t>
            </a:r>
            <a:endParaRPr lang="en-US" sz="675" dirty="0"/>
          </a:p>
        </p:txBody>
      </p:sp>
      <p:sp>
        <p:nvSpPr>
          <p:cNvPr id="196" name="Text 193"/>
          <p:cNvSpPr/>
          <p:nvPr/>
        </p:nvSpPr>
        <p:spPr>
          <a:xfrm>
            <a:off x="4972050" y="17564695"/>
            <a:ext cx="1494718" cy="214313"/>
          </a:xfrm>
          <a:prstGeom prst="rect">
            <a:avLst/>
          </a:prstGeom>
          <a:noFill/>
          <a:ln/>
        </p:spPr>
        <p:txBody>
          <a:bodyPr wrap="square" lIns="0" tIns="0" rIns="0" bIns="0" rtlCol="0" anchor="ctr">
            <a:spAutoFit/>
          </a:bodyPr>
          <a:lstStyle/>
          <a:p>
            <a:pPr algn="l" indent="0" marL="0">
              <a:buNone/>
            </a:pPr>
            <a:r>
              <a:rPr lang="en-US" sz="675" dirty="0">
                <a:solidFill>
                  <a:srgbClr val="F1F5F9"/>
                </a:solidFill>
                <a:latin typeface="Segoe UI" pitchFamily="34" charset="0"/>
                <a:ea typeface="Segoe UI" pitchFamily="34" charset="-122"/>
                <a:cs typeface="Segoe UI" pitchFamily="34" charset="-120"/>
              </a:rPr>
              <a:t>- Extract substring</a:t>
            </a:r>
            <a:endParaRPr lang="en-US" sz="675" dirty="0"/>
          </a:p>
        </p:txBody>
      </p:sp>
      <p:sp>
        <p:nvSpPr>
          <p:cNvPr id="197" name="Text 194"/>
          <p:cNvSpPr/>
          <p:nvPr/>
        </p:nvSpPr>
        <p:spPr>
          <a:xfrm>
            <a:off x="4972050" y="17832586"/>
            <a:ext cx="688758" cy="96441"/>
          </a:xfrm>
          <a:prstGeom prst="rect">
            <a:avLst/>
          </a:prstGeom>
          <a:noFill/>
          <a:ln/>
        </p:spPr>
        <p:txBody>
          <a:bodyPr wrap="none" lIns="0" tIns="0" rIns="0" bIns="0" rtlCol="0" anchor="ctr">
            <a:spAutoFit/>
          </a:bodyPr>
          <a:lstStyle/>
          <a:p>
            <a:pPr algn="l" indent="0" marL="0">
              <a:buNone/>
            </a:pPr>
            <a:r>
              <a:rPr lang="en-US" sz="675" dirty="0">
                <a:solidFill>
                  <a:srgbClr val="DBEAFE"/>
                </a:solidFill>
                <a:latin typeface="Consolas" pitchFamily="34" charset="0"/>
                <a:ea typeface="Consolas" pitchFamily="34" charset="-122"/>
                <a:cs typeface="Consolas" pitchFamily="34" charset="-120"/>
              </a:rPr>
              <a:t>indexOf(str)</a:t>
            </a:r>
            <a:endParaRPr lang="en-US" sz="675" dirty="0"/>
          </a:p>
        </p:txBody>
      </p:sp>
      <p:sp>
        <p:nvSpPr>
          <p:cNvPr id="198" name="Text 195"/>
          <p:cNvSpPr/>
          <p:nvPr/>
        </p:nvSpPr>
        <p:spPr>
          <a:xfrm>
            <a:off x="5589370" y="17827228"/>
            <a:ext cx="1100640" cy="94655"/>
          </a:xfrm>
          <a:prstGeom prst="rect">
            <a:avLst/>
          </a:prstGeom>
          <a:noFill/>
          <a:ln/>
        </p:spPr>
        <p:txBody>
          <a:bodyPr wrap="none" lIns="0" tIns="0" rIns="0" bIns="0" rtlCol="0" anchor="ctr">
            <a:spAutoFit/>
          </a:bodyPr>
          <a:lstStyle/>
          <a:p>
            <a:pPr algn="l" indent="0" marL="0">
              <a:buNone/>
            </a:pPr>
            <a:r>
              <a:rPr lang="en-US" sz="675" dirty="0">
                <a:solidFill>
                  <a:srgbClr val="F1F5F9"/>
                </a:solidFill>
                <a:latin typeface="Segoe UI" pitchFamily="34" charset="0"/>
                <a:ea typeface="Segoe UI" pitchFamily="34" charset="-122"/>
                <a:cs typeface="Segoe UI" pitchFamily="34" charset="-120"/>
              </a:rPr>
              <a:t>- Find position of substring</a:t>
            </a:r>
            <a:endParaRPr lang="en-US" sz="675" dirty="0"/>
          </a:p>
        </p:txBody>
      </p:sp>
      <p:sp>
        <p:nvSpPr>
          <p:cNvPr id="199" name="Text 196"/>
          <p:cNvSpPr/>
          <p:nvPr/>
        </p:nvSpPr>
        <p:spPr>
          <a:xfrm>
            <a:off x="4972050" y="17980819"/>
            <a:ext cx="740215" cy="96441"/>
          </a:xfrm>
          <a:prstGeom prst="rect">
            <a:avLst/>
          </a:prstGeom>
          <a:noFill/>
          <a:ln/>
        </p:spPr>
        <p:txBody>
          <a:bodyPr wrap="none" lIns="0" tIns="0" rIns="0" bIns="0" rtlCol="0" anchor="ctr">
            <a:spAutoFit/>
          </a:bodyPr>
          <a:lstStyle/>
          <a:p>
            <a:pPr algn="l" indent="0" marL="0">
              <a:buNone/>
            </a:pPr>
            <a:r>
              <a:rPr lang="en-US" sz="675" dirty="0">
                <a:solidFill>
                  <a:srgbClr val="DBEAFE"/>
                </a:solidFill>
                <a:latin typeface="Consolas" pitchFamily="34" charset="0"/>
                <a:ea typeface="Consolas" pitchFamily="34" charset="-122"/>
                <a:cs typeface="Consolas" pitchFamily="34" charset="-120"/>
              </a:rPr>
              <a:t>toLowerCase()</a:t>
            </a:r>
            <a:endParaRPr lang="en-US" sz="675" dirty="0"/>
          </a:p>
        </p:txBody>
      </p:sp>
      <p:sp>
        <p:nvSpPr>
          <p:cNvPr id="200" name="Text 197"/>
          <p:cNvSpPr/>
          <p:nvPr/>
        </p:nvSpPr>
        <p:spPr>
          <a:xfrm>
            <a:off x="5640828" y="17975461"/>
            <a:ext cx="952853" cy="94655"/>
          </a:xfrm>
          <a:prstGeom prst="rect">
            <a:avLst/>
          </a:prstGeom>
          <a:noFill/>
          <a:ln/>
        </p:spPr>
        <p:txBody>
          <a:bodyPr wrap="none" lIns="0" tIns="0" rIns="0" bIns="0" rtlCol="0" anchor="ctr">
            <a:spAutoFit/>
          </a:bodyPr>
          <a:lstStyle/>
          <a:p>
            <a:pPr algn="l" indent="0" marL="0">
              <a:buNone/>
            </a:pPr>
            <a:r>
              <a:rPr lang="en-US" sz="675" dirty="0">
                <a:solidFill>
                  <a:srgbClr val="F1F5F9"/>
                </a:solidFill>
                <a:latin typeface="Segoe UI" pitchFamily="34" charset="0"/>
                <a:ea typeface="Segoe UI" pitchFamily="34" charset="-122"/>
                <a:cs typeface="Segoe UI" pitchFamily="34" charset="-120"/>
              </a:rPr>
              <a:t>- Convert to lowercase</a:t>
            </a:r>
            <a:endParaRPr lang="en-US" sz="675" dirty="0"/>
          </a:p>
        </p:txBody>
      </p:sp>
      <p:sp>
        <p:nvSpPr>
          <p:cNvPr id="201" name="Text 198"/>
          <p:cNvSpPr/>
          <p:nvPr/>
        </p:nvSpPr>
        <p:spPr>
          <a:xfrm>
            <a:off x="6715125" y="17273588"/>
            <a:ext cx="740215" cy="96441"/>
          </a:xfrm>
          <a:prstGeom prst="rect">
            <a:avLst/>
          </a:prstGeom>
          <a:noFill/>
          <a:ln/>
        </p:spPr>
        <p:txBody>
          <a:bodyPr wrap="none" lIns="0" tIns="0" rIns="0" bIns="0" rtlCol="0" anchor="ctr">
            <a:spAutoFit/>
          </a:bodyPr>
          <a:lstStyle/>
          <a:p>
            <a:pPr algn="l" indent="0" marL="0">
              <a:buNone/>
            </a:pPr>
            <a:r>
              <a:rPr lang="en-US" sz="675" dirty="0">
                <a:solidFill>
                  <a:srgbClr val="DBEAFE"/>
                </a:solidFill>
                <a:latin typeface="Consolas" pitchFamily="34" charset="0"/>
                <a:ea typeface="Consolas" pitchFamily="34" charset="-122"/>
                <a:cs typeface="Consolas" pitchFamily="34" charset="-120"/>
              </a:rPr>
              <a:t>toUpperCase()</a:t>
            </a:r>
            <a:endParaRPr lang="en-US" sz="675" dirty="0"/>
          </a:p>
        </p:txBody>
      </p:sp>
      <p:sp>
        <p:nvSpPr>
          <p:cNvPr id="202" name="Text 199"/>
          <p:cNvSpPr/>
          <p:nvPr/>
        </p:nvSpPr>
        <p:spPr>
          <a:xfrm>
            <a:off x="7383903" y="17268230"/>
            <a:ext cx="967253" cy="94655"/>
          </a:xfrm>
          <a:prstGeom prst="rect">
            <a:avLst/>
          </a:prstGeom>
          <a:noFill/>
          <a:ln/>
        </p:spPr>
        <p:txBody>
          <a:bodyPr wrap="none" lIns="0" tIns="0" rIns="0" bIns="0" rtlCol="0" anchor="ctr">
            <a:spAutoFit/>
          </a:bodyPr>
          <a:lstStyle/>
          <a:p>
            <a:pPr algn="l" indent="0" marL="0">
              <a:buNone/>
            </a:pPr>
            <a:r>
              <a:rPr lang="en-US" sz="675" dirty="0">
                <a:solidFill>
                  <a:srgbClr val="F1F5F9"/>
                </a:solidFill>
                <a:latin typeface="Segoe UI" pitchFamily="34" charset="0"/>
                <a:ea typeface="Segoe UI" pitchFamily="34" charset="-122"/>
                <a:cs typeface="Segoe UI" pitchFamily="34" charset="-120"/>
              </a:rPr>
              <a:t>- Convert to uppercase</a:t>
            </a:r>
            <a:endParaRPr lang="en-US" sz="675" dirty="0"/>
          </a:p>
        </p:txBody>
      </p:sp>
      <p:sp>
        <p:nvSpPr>
          <p:cNvPr id="203" name="Text 200"/>
          <p:cNvSpPr/>
          <p:nvPr/>
        </p:nvSpPr>
        <p:spPr>
          <a:xfrm>
            <a:off x="6715125" y="17421820"/>
            <a:ext cx="380098" cy="96441"/>
          </a:xfrm>
          <a:prstGeom prst="rect">
            <a:avLst/>
          </a:prstGeom>
          <a:noFill/>
          <a:ln/>
        </p:spPr>
        <p:txBody>
          <a:bodyPr wrap="none" lIns="0" tIns="0" rIns="0" bIns="0" rtlCol="0" anchor="ctr">
            <a:spAutoFit/>
          </a:bodyPr>
          <a:lstStyle/>
          <a:p>
            <a:pPr algn="l" indent="0" marL="0">
              <a:buNone/>
            </a:pPr>
            <a:r>
              <a:rPr lang="en-US" sz="675" dirty="0">
                <a:solidFill>
                  <a:srgbClr val="DBEAFE"/>
                </a:solidFill>
                <a:latin typeface="Consolas" pitchFamily="34" charset="0"/>
                <a:ea typeface="Consolas" pitchFamily="34" charset="-122"/>
                <a:cs typeface="Consolas" pitchFamily="34" charset="-120"/>
              </a:rPr>
              <a:t>trim()</a:t>
            </a:r>
            <a:endParaRPr lang="en-US" sz="675" dirty="0"/>
          </a:p>
        </p:txBody>
      </p:sp>
      <p:sp>
        <p:nvSpPr>
          <p:cNvPr id="204" name="Text 201"/>
          <p:cNvSpPr/>
          <p:nvPr/>
        </p:nvSpPr>
        <p:spPr>
          <a:xfrm>
            <a:off x="7023785" y="17416463"/>
            <a:ext cx="1338895" cy="94655"/>
          </a:xfrm>
          <a:prstGeom prst="rect">
            <a:avLst/>
          </a:prstGeom>
          <a:noFill/>
          <a:ln/>
        </p:spPr>
        <p:txBody>
          <a:bodyPr wrap="square" lIns="0" tIns="0" rIns="0" bIns="0" rtlCol="0" anchor="ctr">
            <a:spAutoFit/>
          </a:bodyPr>
          <a:lstStyle/>
          <a:p>
            <a:pPr algn="l" indent="0" marL="0">
              <a:buNone/>
            </a:pPr>
            <a:r>
              <a:rPr lang="en-US" sz="675" dirty="0">
                <a:solidFill>
                  <a:srgbClr val="F1F5F9"/>
                </a:solidFill>
                <a:latin typeface="Segoe UI" pitchFamily="34" charset="0"/>
                <a:ea typeface="Segoe UI" pitchFamily="34" charset="-122"/>
                <a:cs typeface="Segoe UI" pitchFamily="34" charset="-120"/>
              </a:rPr>
              <a:t>- Remove leading/trailing spaces</a:t>
            </a:r>
            <a:endParaRPr lang="en-US" sz="675" dirty="0"/>
          </a:p>
        </p:txBody>
      </p:sp>
      <p:sp>
        <p:nvSpPr>
          <p:cNvPr id="205" name="Text 202"/>
          <p:cNvSpPr/>
          <p:nvPr/>
        </p:nvSpPr>
        <p:spPr>
          <a:xfrm>
            <a:off x="6715125" y="17570053"/>
            <a:ext cx="945989" cy="96441"/>
          </a:xfrm>
          <a:prstGeom prst="rect">
            <a:avLst/>
          </a:prstGeom>
          <a:noFill/>
          <a:ln/>
        </p:spPr>
        <p:txBody>
          <a:bodyPr wrap="none" lIns="0" tIns="0" rIns="0" bIns="0" rtlCol="0" anchor="ctr">
            <a:spAutoFit/>
          </a:bodyPr>
          <a:lstStyle/>
          <a:p>
            <a:pPr algn="l" indent="0" marL="0">
              <a:buNone/>
            </a:pPr>
            <a:r>
              <a:rPr lang="en-US" sz="675" dirty="0">
                <a:solidFill>
                  <a:srgbClr val="DBEAFE"/>
                </a:solidFill>
                <a:latin typeface="Consolas" pitchFamily="34" charset="0"/>
                <a:ea typeface="Consolas" pitchFamily="34" charset="-122"/>
                <a:cs typeface="Consolas" pitchFamily="34" charset="-120"/>
              </a:rPr>
              <a:t>replace(old, new)</a:t>
            </a:r>
            <a:endParaRPr lang="en-US" sz="675" dirty="0"/>
          </a:p>
        </p:txBody>
      </p:sp>
      <p:sp>
        <p:nvSpPr>
          <p:cNvPr id="206" name="Text 203"/>
          <p:cNvSpPr/>
          <p:nvPr/>
        </p:nvSpPr>
        <p:spPr>
          <a:xfrm>
            <a:off x="7589676" y="17564695"/>
            <a:ext cx="624129" cy="94655"/>
          </a:xfrm>
          <a:prstGeom prst="rect">
            <a:avLst/>
          </a:prstGeom>
          <a:noFill/>
          <a:ln/>
        </p:spPr>
        <p:txBody>
          <a:bodyPr wrap="none" lIns="0" tIns="0" rIns="0" bIns="0" rtlCol="0" anchor="ctr">
            <a:spAutoFit/>
          </a:bodyPr>
          <a:lstStyle/>
          <a:p>
            <a:pPr algn="l" indent="0" marL="0">
              <a:buNone/>
            </a:pPr>
            <a:r>
              <a:rPr lang="en-US" sz="675" dirty="0">
                <a:solidFill>
                  <a:srgbClr val="F1F5F9"/>
                </a:solidFill>
                <a:latin typeface="Segoe UI" pitchFamily="34" charset="0"/>
                <a:ea typeface="Segoe UI" pitchFamily="34" charset="-122"/>
                <a:cs typeface="Segoe UI" pitchFamily="34" charset="-120"/>
              </a:rPr>
              <a:t>- Replace text</a:t>
            </a:r>
            <a:endParaRPr lang="en-US" sz="675" dirty="0"/>
          </a:p>
        </p:txBody>
      </p:sp>
      <p:sp>
        <p:nvSpPr>
          <p:cNvPr id="207" name="Text 204"/>
          <p:cNvSpPr/>
          <p:nvPr/>
        </p:nvSpPr>
        <p:spPr>
          <a:xfrm>
            <a:off x="6715125" y="17718286"/>
            <a:ext cx="894531" cy="96441"/>
          </a:xfrm>
          <a:prstGeom prst="rect">
            <a:avLst/>
          </a:prstGeom>
          <a:noFill/>
          <a:ln/>
        </p:spPr>
        <p:txBody>
          <a:bodyPr wrap="none" lIns="0" tIns="0" rIns="0" bIns="0" rtlCol="0" anchor="ctr">
            <a:spAutoFit/>
          </a:bodyPr>
          <a:lstStyle/>
          <a:p>
            <a:pPr algn="l" indent="0" marL="0">
              <a:buNone/>
            </a:pPr>
            <a:r>
              <a:rPr lang="en-US" sz="675" dirty="0">
                <a:solidFill>
                  <a:srgbClr val="DBEAFE"/>
                </a:solidFill>
                <a:latin typeface="Consolas" pitchFamily="34" charset="0"/>
                <a:ea typeface="Consolas" pitchFamily="34" charset="-122"/>
                <a:cs typeface="Consolas" pitchFamily="34" charset="-120"/>
              </a:rPr>
              <a:t>split(delimiter)</a:t>
            </a:r>
            <a:endParaRPr lang="en-US" sz="675" dirty="0"/>
          </a:p>
        </p:txBody>
      </p:sp>
      <p:sp>
        <p:nvSpPr>
          <p:cNvPr id="208" name="Text 205"/>
          <p:cNvSpPr/>
          <p:nvPr/>
        </p:nvSpPr>
        <p:spPr>
          <a:xfrm>
            <a:off x="7538219" y="17712928"/>
            <a:ext cx="695539" cy="94655"/>
          </a:xfrm>
          <a:prstGeom prst="rect">
            <a:avLst/>
          </a:prstGeom>
          <a:noFill/>
          <a:ln/>
        </p:spPr>
        <p:txBody>
          <a:bodyPr wrap="none" lIns="0" tIns="0" rIns="0" bIns="0" rtlCol="0" anchor="ctr">
            <a:spAutoFit/>
          </a:bodyPr>
          <a:lstStyle/>
          <a:p>
            <a:pPr algn="l" indent="0" marL="0">
              <a:buNone/>
            </a:pPr>
            <a:r>
              <a:rPr lang="en-US" sz="675" dirty="0">
                <a:solidFill>
                  <a:srgbClr val="F1F5F9"/>
                </a:solidFill>
                <a:latin typeface="Segoe UI" pitchFamily="34" charset="0"/>
                <a:ea typeface="Segoe UI" pitchFamily="34" charset="-122"/>
                <a:cs typeface="Segoe UI" pitchFamily="34" charset="-120"/>
              </a:rPr>
              <a:t>- Split into array</a:t>
            </a:r>
            <a:endParaRPr lang="en-US" sz="675" dirty="0"/>
          </a:p>
        </p:txBody>
      </p:sp>
      <p:sp>
        <p:nvSpPr>
          <p:cNvPr id="209" name="Text 206"/>
          <p:cNvSpPr/>
          <p:nvPr/>
        </p:nvSpPr>
        <p:spPr>
          <a:xfrm>
            <a:off x="6715125" y="17866519"/>
            <a:ext cx="637329" cy="96441"/>
          </a:xfrm>
          <a:prstGeom prst="rect">
            <a:avLst/>
          </a:prstGeom>
          <a:noFill/>
          <a:ln/>
        </p:spPr>
        <p:txBody>
          <a:bodyPr wrap="none" lIns="0" tIns="0" rIns="0" bIns="0" rtlCol="0" anchor="ctr">
            <a:spAutoFit/>
          </a:bodyPr>
          <a:lstStyle/>
          <a:p>
            <a:pPr algn="l" indent="0" marL="0">
              <a:buNone/>
            </a:pPr>
            <a:r>
              <a:rPr lang="en-US" sz="675" dirty="0">
                <a:solidFill>
                  <a:srgbClr val="DBEAFE"/>
                </a:solidFill>
                <a:latin typeface="Consolas" pitchFamily="34" charset="0"/>
                <a:ea typeface="Consolas" pitchFamily="34" charset="-122"/>
                <a:cs typeface="Consolas" pitchFamily="34" charset="-120"/>
              </a:rPr>
              <a:t>equals(str)</a:t>
            </a:r>
            <a:endParaRPr lang="en-US" sz="675" dirty="0"/>
          </a:p>
        </p:txBody>
      </p:sp>
      <p:sp>
        <p:nvSpPr>
          <p:cNvPr id="210" name="Text 207"/>
          <p:cNvSpPr/>
          <p:nvPr/>
        </p:nvSpPr>
        <p:spPr>
          <a:xfrm>
            <a:off x="7281016" y="17861161"/>
            <a:ext cx="805207" cy="94655"/>
          </a:xfrm>
          <a:prstGeom prst="rect">
            <a:avLst/>
          </a:prstGeom>
          <a:noFill/>
          <a:ln/>
        </p:spPr>
        <p:txBody>
          <a:bodyPr wrap="none" lIns="0" tIns="0" rIns="0" bIns="0" rtlCol="0" anchor="ctr">
            <a:spAutoFit/>
          </a:bodyPr>
          <a:lstStyle/>
          <a:p>
            <a:pPr algn="l" indent="0" marL="0">
              <a:buNone/>
            </a:pPr>
            <a:r>
              <a:rPr lang="en-US" sz="675" dirty="0">
                <a:solidFill>
                  <a:srgbClr val="F1F5F9"/>
                </a:solidFill>
                <a:latin typeface="Segoe UI" pitchFamily="34" charset="0"/>
                <a:ea typeface="Segoe UI" pitchFamily="34" charset="-122"/>
                <a:cs typeface="Segoe UI" pitchFamily="34" charset="-120"/>
              </a:rPr>
              <a:t>- Compare content</a:t>
            </a:r>
            <a:endParaRPr lang="en-US" sz="675" dirty="0"/>
          </a:p>
        </p:txBody>
      </p:sp>
      <p:sp>
        <p:nvSpPr>
          <p:cNvPr id="211" name="Shape 208"/>
          <p:cNvSpPr/>
          <p:nvPr/>
        </p:nvSpPr>
        <p:spPr>
          <a:xfrm>
            <a:off x="4972050" y="18143339"/>
            <a:ext cx="3429000" cy="1042988"/>
          </a:xfrm>
          <a:prstGeom prst="rect">
            <a:avLst/>
          </a:prstGeom>
          <a:solidFill>
            <a:srgbClr val="1E293B">
              <a:alpha val="80000"/>
            </a:srgbClr>
          </a:solidFill>
          <a:ln w="99">
            <a:solidFill>
              <a:srgbClr val="60A5FA">
                <a:alpha val="30000"/>
              </a:srgbClr>
            </a:solidFill>
            <a:prstDash val="solid"/>
          </a:ln>
        </p:spPr>
      </p:sp>
      <p:sp>
        <p:nvSpPr>
          <p:cNvPr id="212" name="Text 209"/>
          <p:cNvSpPr/>
          <p:nvPr/>
        </p:nvSpPr>
        <p:spPr>
          <a:xfrm>
            <a:off x="5057775" y="18284428"/>
            <a:ext cx="1614739" cy="96441"/>
          </a:xfrm>
          <a:prstGeom prst="rect">
            <a:avLst/>
          </a:prstGeom>
          <a:noFill/>
          <a:ln/>
        </p:spPr>
        <p:txBody>
          <a:bodyPr wrap="square" lIns="0" tIns="0" rIns="0" bIns="0" rtlCol="0" anchor="ctr">
            <a:spAutoFit/>
          </a:bodyPr>
          <a:lstStyle/>
          <a:p>
            <a:pPr indent="0" marL="0">
              <a:buNone/>
            </a:pPr>
            <a:r>
              <a:rPr lang="en-US" sz="675" dirty="0">
                <a:solidFill>
                  <a:srgbClr val="DBEAFE"/>
                </a:solidFill>
                <a:latin typeface="Consolas" pitchFamily="34" charset="0"/>
                <a:ea typeface="Consolas" pitchFamily="34" charset="-122"/>
                <a:cs typeface="Consolas" pitchFamily="34" charset="-120"/>
              </a:rPr>
              <a:t>String text = "Hello, World!";</a:t>
            </a:r>
            <a:endParaRPr lang="en-US" sz="675" dirty="0"/>
          </a:p>
        </p:txBody>
      </p:sp>
      <p:sp>
        <p:nvSpPr>
          <p:cNvPr id="213" name="Text 210"/>
          <p:cNvSpPr/>
          <p:nvPr/>
        </p:nvSpPr>
        <p:spPr>
          <a:xfrm>
            <a:off x="5057775" y="18455878"/>
            <a:ext cx="1769083" cy="96441"/>
          </a:xfrm>
          <a:prstGeom prst="rect">
            <a:avLst/>
          </a:prstGeom>
          <a:noFill/>
          <a:ln/>
        </p:spPr>
        <p:txBody>
          <a:bodyPr wrap="square" lIns="0" tIns="0" rIns="0" bIns="0" rtlCol="0" anchor="ctr">
            <a:spAutoFit/>
          </a:bodyPr>
          <a:lstStyle/>
          <a:p>
            <a:pPr indent="0" marL="0">
              <a:buNone/>
            </a:pPr>
            <a:r>
              <a:rPr lang="en-US" sz="675" dirty="0">
                <a:solidFill>
                  <a:srgbClr val="DBEAFE"/>
                </a:solidFill>
                <a:latin typeface="Consolas" pitchFamily="34" charset="0"/>
                <a:ea typeface="Consolas" pitchFamily="34" charset="-122"/>
                <a:cs typeface="Consolas" pitchFamily="34" charset="-120"/>
              </a:rPr>
              <a:t>int length = text.length();  // 13</a:t>
            </a:r>
            <a:endParaRPr lang="en-US" sz="675" dirty="0"/>
          </a:p>
        </p:txBody>
      </p:sp>
      <p:sp>
        <p:nvSpPr>
          <p:cNvPr id="214" name="Text 211"/>
          <p:cNvSpPr/>
          <p:nvPr/>
        </p:nvSpPr>
        <p:spPr>
          <a:xfrm>
            <a:off x="5057775" y="18627328"/>
            <a:ext cx="2077743" cy="96441"/>
          </a:xfrm>
          <a:prstGeom prst="rect">
            <a:avLst/>
          </a:prstGeom>
          <a:noFill/>
          <a:ln/>
        </p:spPr>
        <p:txBody>
          <a:bodyPr wrap="square" lIns="0" tIns="0" rIns="0" bIns="0" rtlCol="0" anchor="ctr">
            <a:spAutoFit/>
          </a:bodyPr>
          <a:lstStyle/>
          <a:p>
            <a:pPr indent="0" marL="0">
              <a:buNone/>
            </a:pPr>
            <a:r>
              <a:rPr lang="en-US" sz="675" dirty="0">
                <a:solidFill>
                  <a:srgbClr val="DBEAFE"/>
                </a:solidFill>
                <a:latin typeface="Consolas" pitchFamily="34" charset="0"/>
                <a:ea typeface="Consolas" pitchFamily="34" charset="-122"/>
                <a:cs typeface="Consolas" pitchFamily="34" charset="-120"/>
              </a:rPr>
              <a:t>char firstChar = text.charAt(0);  // 'H'</a:t>
            </a:r>
            <a:endParaRPr lang="en-US" sz="675" dirty="0"/>
          </a:p>
        </p:txBody>
      </p:sp>
      <p:sp>
        <p:nvSpPr>
          <p:cNvPr id="215" name="Text 212"/>
          <p:cNvSpPr/>
          <p:nvPr/>
        </p:nvSpPr>
        <p:spPr>
          <a:xfrm>
            <a:off x="5057775" y="18798778"/>
            <a:ext cx="2386403" cy="96441"/>
          </a:xfrm>
          <a:prstGeom prst="rect">
            <a:avLst/>
          </a:prstGeom>
          <a:noFill/>
          <a:ln/>
        </p:spPr>
        <p:txBody>
          <a:bodyPr wrap="square" lIns="0" tIns="0" rIns="0" bIns="0" rtlCol="0" anchor="ctr">
            <a:spAutoFit/>
          </a:bodyPr>
          <a:lstStyle/>
          <a:p>
            <a:pPr indent="0" marL="0">
              <a:buNone/>
            </a:pPr>
            <a:r>
              <a:rPr lang="en-US" sz="675" dirty="0">
                <a:solidFill>
                  <a:srgbClr val="DBEAFE"/>
                </a:solidFill>
                <a:latin typeface="Consolas" pitchFamily="34" charset="0"/>
                <a:ea typeface="Consolas" pitchFamily="34" charset="-122"/>
                <a:cs typeface="Consolas" pitchFamily="34" charset="-120"/>
              </a:rPr>
              <a:t>String sub = text.substring(0, 5);  // "Hello"</a:t>
            </a:r>
            <a:endParaRPr lang="en-US" sz="675" dirty="0"/>
          </a:p>
        </p:txBody>
      </p:sp>
      <p:sp>
        <p:nvSpPr>
          <p:cNvPr id="216" name="Text 213"/>
          <p:cNvSpPr/>
          <p:nvPr/>
        </p:nvSpPr>
        <p:spPr>
          <a:xfrm>
            <a:off x="5057775" y="18970228"/>
            <a:ext cx="2643606" cy="96441"/>
          </a:xfrm>
          <a:prstGeom prst="rect">
            <a:avLst/>
          </a:prstGeom>
          <a:noFill/>
          <a:ln/>
        </p:spPr>
        <p:txBody>
          <a:bodyPr wrap="square" lIns="0" tIns="0" rIns="0" bIns="0" rtlCol="0" anchor="ctr">
            <a:spAutoFit/>
          </a:bodyPr>
          <a:lstStyle/>
          <a:p>
            <a:pPr indent="0" marL="0">
              <a:buNone/>
            </a:pPr>
            <a:r>
              <a:rPr lang="en-US" sz="675" dirty="0">
                <a:solidFill>
                  <a:srgbClr val="DBEAFE"/>
                </a:solidFill>
                <a:latin typeface="Consolas" pitchFamily="34" charset="0"/>
                <a:ea typeface="Consolas" pitchFamily="34" charset="-122"/>
                <a:cs typeface="Consolas" pitchFamily="34" charset="-120"/>
              </a:rPr>
              <a:t>boolean contains = text.contains("World");  // true</a:t>
            </a:r>
            <a:endParaRPr lang="en-US" sz="675" dirty="0"/>
          </a:p>
        </p:txBody>
      </p:sp>
      <p:sp>
        <p:nvSpPr>
          <p:cNvPr id="217" name="Shape 214"/>
          <p:cNvSpPr/>
          <p:nvPr/>
        </p:nvSpPr>
        <p:spPr>
          <a:xfrm>
            <a:off x="457200" y="19686389"/>
            <a:ext cx="8229600" cy="4200525"/>
          </a:xfrm>
          <a:prstGeom prst="rect">
            <a:avLst/>
          </a:prstGeom>
          <a:solidFill>
            <a:srgbClr val="FFFFFF">
              <a:alpha val="10000"/>
            </a:srgbClr>
          </a:solidFill>
          <a:ln w="99">
            <a:solidFill>
              <a:srgbClr val="60A5FA">
                <a:alpha val="30000"/>
              </a:srgbClr>
            </a:solidFill>
            <a:prstDash val="solid"/>
          </a:ln>
        </p:spPr>
      </p:sp>
      <p:sp>
        <p:nvSpPr>
          <p:cNvPr id="218" name="Text 215"/>
          <p:cNvSpPr/>
          <p:nvPr/>
        </p:nvSpPr>
        <p:spPr>
          <a:xfrm>
            <a:off x="628650" y="19857839"/>
            <a:ext cx="7958138" cy="228600"/>
          </a:xfrm>
          <a:prstGeom prst="rect">
            <a:avLst/>
          </a:prstGeom>
          <a:noFill/>
          <a:ln/>
        </p:spPr>
        <p:txBody>
          <a:bodyPr wrap="square" lIns="0" tIns="0" rIns="0" bIns="0" rtlCol="0" anchor="ctr">
            <a:spAutoFit/>
          </a:bodyPr>
          <a:lstStyle/>
          <a:p>
            <a:pPr indent="0" marL="0">
              <a:buNone/>
            </a:pPr>
            <a:r>
              <a:rPr lang="en-US" sz="1350" b="1" dirty="0">
                <a:solidFill>
                  <a:srgbClr val="BFDBFE"/>
                </a:solidFill>
                <a:latin typeface="Segoe UI" pitchFamily="34" charset="0"/>
                <a:ea typeface="Segoe UI" pitchFamily="34" charset="-122"/>
                <a:cs typeface="Segoe UI" pitchFamily="34" charset="-120"/>
              </a:rPr>
              <a:t>Arrays</a:t>
            </a:r>
            <a:endParaRPr lang="en-US" sz="1350" dirty="0"/>
          </a:p>
        </p:txBody>
      </p:sp>
      <p:sp>
        <p:nvSpPr>
          <p:cNvPr id="219" name="Shape 216"/>
          <p:cNvSpPr/>
          <p:nvPr/>
        </p:nvSpPr>
        <p:spPr>
          <a:xfrm>
            <a:off x="628650" y="20200739"/>
            <a:ext cx="2514600" cy="2757488"/>
          </a:xfrm>
          <a:prstGeom prst="rect">
            <a:avLst/>
          </a:prstGeom>
          <a:solidFill>
            <a:srgbClr val="1E3A8A">
              <a:alpha val="30000"/>
            </a:srgbClr>
          </a:solidFill>
          <a:ln/>
        </p:spPr>
      </p:sp>
      <p:sp>
        <p:nvSpPr>
          <p:cNvPr id="220" name="Text 217"/>
          <p:cNvSpPr/>
          <p:nvPr/>
        </p:nvSpPr>
        <p:spPr>
          <a:xfrm>
            <a:off x="742950" y="20315039"/>
            <a:ext cx="2357438" cy="200025"/>
          </a:xfrm>
          <a:prstGeom prst="rect">
            <a:avLst/>
          </a:prstGeom>
          <a:noFill/>
          <a:ln/>
        </p:spPr>
        <p:txBody>
          <a:bodyPr wrap="square" lIns="0" tIns="0" rIns="0" bIns="0" rtlCol="0" anchor="ctr">
            <a:spAutoFit/>
          </a:bodyPr>
          <a:lstStyle/>
          <a:p>
            <a:pPr indent="0" marL="0">
              <a:buNone/>
            </a:pPr>
            <a:r>
              <a:rPr lang="en-US" sz="1125" b="1" dirty="0">
                <a:solidFill>
                  <a:srgbClr val="F1F5F9"/>
                </a:solidFill>
                <a:latin typeface="Segoe UI" pitchFamily="34" charset="0"/>
                <a:ea typeface="Segoe UI" pitchFamily="34" charset="-122"/>
                <a:cs typeface="Segoe UI" pitchFamily="34" charset="-120"/>
              </a:rPr>
              <a:t>Array Declaration</a:t>
            </a:r>
            <a:endParaRPr lang="en-US" sz="1125" dirty="0"/>
          </a:p>
        </p:txBody>
      </p:sp>
      <p:sp>
        <p:nvSpPr>
          <p:cNvPr id="221" name="Shape 218"/>
          <p:cNvSpPr/>
          <p:nvPr/>
        </p:nvSpPr>
        <p:spPr>
          <a:xfrm>
            <a:off x="742950" y="20600789"/>
            <a:ext cx="2286000" cy="1557338"/>
          </a:xfrm>
          <a:prstGeom prst="rect">
            <a:avLst/>
          </a:prstGeom>
          <a:solidFill>
            <a:srgbClr val="1E293B">
              <a:alpha val="80000"/>
            </a:srgbClr>
          </a:solidFill>
          <a:ln w="99">
            <a:solidFill>
              <a:srgbClr val="60A5FA">
                <a:alpha val="30000"/>
              </a:srgbClr>
            </a:solidFill>
            <a:prstDash val="solid"/>
          </a:ln>
        </p:spPr>
      </p:sp>
      <p:sp>
        <p:nvSpPr>
          <p:cNvPr id="222" name="Text 219"/>
          <p:cNvSpPr/>
          <p:nvPr/>
        </p:nvSpPr>
        <p:spPr>
          <a:xfrm>
            <a:off x="828675" y="20741878"/>
            <a:ext cx="791645" cy="96441"/>
          </a:xfrm>
          <a:prstGeom prst="rect">
            <a:avLst/>
          </a:prstGeom>
          <a:noFill/>
          <a:ln/>
        </p:spPr>
        <p:txBody>
          <a:bodyPr wrap="none" lIns="0" tIns="0" rIns="0" bIns="0" rtlCol="0" anchor="ctr">
            <a:spAutoFit/>
          </a:bodyPr>
          <a:lstStyle/>
          <a:p>
            <a:pPr indent="0" marL="0">
              <a:buNone/>
            </a:pPr>
            <a:r>
              <a:rPr lang="en-US" sz="675" dirty="0">
                <a:solidFill>
                  <a:srgbClr val="DBEAFE"/>
                </a:solidFill>
                <a:latin typeface="Consolas" pitchFamily="34" charset="0"/>
                <a:ea typeface="Consolas" pitchFamily="34" charset="-122"/>
                <a:cs typeface="Consolas" pitchFamily="34" charset="-120"/>
              </a:rPr>
              <a:t>// Declaration</a:t>
            </a:r>
            <a:endParaRPr lang="en-US" sz="675" dirty="0"/>
          </a:p>
        </p:txBody>
      </p:sp>
      <p:sp>
        <p:nvSpPr>
          <p:cNvPr id="223" name="Text 220"/>
          <p:cNvSpPr/>
          <p:nvPr/>
        </p:nvSpPr>
        <p:spPr>
          <a:xfrm>
            <a:off x="828675" y="20913328"/>
            <a:ext cx="791645" cy="96441"/>
          </a:xfrm>
          <a:prstGeom prst="rect">
            <a:avLst/>
          </a:prstGeom>
          <a:noFill/>
          <a:ln/>
        </p:spPr>
        <p:txBody>
          <a:bodyPr wrap="none" lIns="0" tIns="0" rIns="0" bIns="0" rtlCol="0" anchor="ctr">
            <a:spAutoFit/>
          </a:bodyPr>
          <a:lstStyle/>
          <a:p>
            <a:pPr indent="0" marL="0">
              <a:buNone/>
            </a:pPr>
            <a:r>
              <a:rPr lang="en-US" sz="675" dirty="0">
                <a:solidFill>
                  <a:srgbClr val="DBEAFE"/>
                </a:solidFill>
                <a:latin typeface="Consolas" pitchFamily="34" charset="0"/>
                <a:ea typeface="Consolas" pitchFamily="34" charset="-122"/>
                <a:cs typeface="Consolas" pitchFamily="34" charset="-120"/>
              </a:rPr>
              <a:t>int[] numbers;</a:t>
            </a:r>
            <a:endParaRPr lang="en-US" sz="675" dirty="0"/>
          </a:p>
        </p:txBody>
      </p:sp>
      <p:sp>
        <p:nvSpPr>
          <p:cNvPr id="224" name="Text 221"/>
          <p:cNvSpPr/>
          <p:nvPr/>
        </p:nvSpPr>
        <p:spPr>
          <a:xfrm>
            <a:off x="828675" y="21256228"/>
            <a:ext cx="1306078" cy="96441"/>
          </a:xfrm>
          <a:prstGeom prst="rect">
            <a:avLst/>
          </a:prstGeom>
          <a:noFill/>
          <a:ln/>
        </p:spPr>
        <p:txBody>
          <a:bodyPr wrap="square" lIns="0" tIns="0" rIns="0" bIns="0" rtlCol="0" anchor="ctr">
            <a:spAutoFit/>
          </a:bodyPr>
          <a:lstStyle/>
          <a:p>
            <a:pPr indent="0" marL="0">
              <a:buNone/>
            </a:pPr>
            <a:r>
              <a:rPr lang="en-US" sz="675" dirty="0">
                <a:solidFill>
                  <a:srgbClr val="DBEAFE"/>
                </a:solidFill>
                <a:latin typeface="Consolas" pitchFamily="34" charset="0"/>
                <a:ea typeface="Consolas" pitchFamily="34" charset="-122"/>
                <a:cs typeface="Consolas" pitchFamily="34" charset="-120"/>
              </a:rPr>
              <a:t>// Declaration with size</a:t>
            </a:r>
            <a:endParaRPr lang="en-US" sz="675" dirty="0"/>
          </a:p>
        </p:txBody>
      </p:sp>
      <p:sp>
        <p:nvSpPr>
          <p:cNvPr id="225" name="Text 222"/>
          <p:cNvSpPr/>
          <p:nvPr/>
        </p:nvSpPr>
        <p:spPr>
          <a:xfrm>
            <a:off x="828675" y="21427678"/>
            <a:ext cx="1408965" cy="96441"/>
          </a:xfrm>
          <a:prstGeom prst="rect">
            <a:avLst/>
          </a:prstGeom>
          <a:noFill/>
          <a:ln/>
        </p:spPr>
        <p:txBody>
          <a:bodyPr wrap="square" lIns="0" tIns="0" rIns="0" bIns="0" rtlCol="0" anchor="ctr">
            <a:spAutoFit/>
          </a:bodyPr>
          <a:lstStyle/>
          <a:p>
            <a:pPr indent="0" marL="0">
              <a:buNone/>
            </a:pPr>
            <a:r>
              <a:rPr lang="en-US" sz="675" dirty="0">
                <a:solidFill>
                  <a:srgbClr val="DBEAFE"/>
                </a:solidFill>
                <a:latin typeface="Consolas" pitchFamily="34" charset="0"/>
                <a:ea typeface="Consolas" pitchFamily="34" charset="-122"/>
                <a:cs typeface="Consolas" pitchFamily="34" charset="-120"/>
              </a:rPr>
              <a:t>int[] scores = new int[5];</a:t>
            </a:r>
            <a:endParaRPr lang="en-US" sz="675" dirty="0"/>
          </a:p>
        </p:txBody>
      </p:sp>
      <p:sp>
        <p:nvSpPr>
          <p:cNvPr id="226" name="Text 223"/>
          <p:cNvSpPr/>
          <p:nvPr/>
        </p:nvSpPr>
        <p:spPr>
          <a:xfrm>
            <a:off x="828675" y="21770578"/>
            <a:ext cx="1820512" cy="96441"/>
          </a:xfrm>
          <a:prstGeom prst="rect">
            <a:avLst/>
          </a:prstGeom>
          <a:noFill/>
          <a:ln/>
        </p:spPr>
        <p:txBody>
          <a:bodyPr wrap="square" lIns="0" tIns="0" rIns="0" bIns="0" rtlCol="0" anchor="ctr">
            <a:spAutoFit/>
          </a:bodyPr>
          <a:lstStyle/>
          <a:p>
            <a:pPr indent="0" marL="0">
              <a:buNone/>
            </a:pPr>
            <a:r>
              <a:rPr lang="en-US" sz="675" dirty="0">
                <a:solidFill>
                  <a:srgbClr val="DBEAFE"/>
                </a:solidFill>
                <a:latin typeface="Consolas" pitchFamily="34" charset="0"/>
                <a:ea typeface="Consolas" pitchFamily="34" charset="-122"/>
                <a:cs typeface="Consolas" pitchFamily="34" charset="-120"/>
              </a:rPr>
              <a:t>// Declaration with initialization</a:t>
            </a:r>
            <a:endParaRPr lang="en-US" sz="675" dirty="0"/>
          </a:p>
        </p:txBody>
      </p:sp>
      <p:sp>
        <p:nvSpPr>
          <p:cNvPr id="227" name="Text 224"/>
          <p:cNvSpPr/>
          <p:nvPr/>
        </p:nvSpPr>
        <p:spPr>
          <a:xfrm>
            <a:off x="828675" y="21942028"/>
            <a:ext cx="1923399" cy="96441"/>
          </a:xfrm>
          <a:prstGeom prst="rect">
            <a:avLst/>
          </a:prstGeom>
          <a:noFill/>
          <a:ln/>
        </p:spPr>
        <p:txBody>
          <a:bodyPr wrap="square" lIns="0" tIns="0" rIns="0" bIns="0" rtlCol="0" anchor="ctr">
            <a:spAutoFit/>
          </a:bodyPr>
          <a:lstStyle/>
          <a:p>
            <a:pPr indent="0" marL="0">
              <a:buNone/>
            </a:pPr>
            <a:r>
              <a:rPr lang="en-US" sz="675" dirty="0">
                <a:solidFill>
                  <a:srgbClr val="DBEAFE"/>
                </a:solidFill>
                <a:latin typeface="Consolas" pitchFamily="34" charset="0"/>
                <a:ea typeface="Consolas" pitchFamily="34" charset="-122"/>
                <a:cs typeface="Consolas" pitchFamily="34" charset="-120"/>
              </a:rPr>
              <a:t>int[] values = {10, 20, 30, 40, 50};</a:t>
            </a:r>
            <a:endParaRPr lang="en-US" sz="675" dirty="0"/>
          </a:p>
        </p:txBody>
      </p:sp>
      <p:sp>
        <p:nvSpPr>
          <p:cNvPr id="228" name="Shape 225"/>
          <p:cNvSpPr/>
          <p:nvPr/>
        </p:nvSpPr>
        <p:spPr>
          <a:xfrm>
            <a:off x="3314700" y="20200739"/>
            <a:ext cx="2514600" cy="2757488"/>
          </a:xfrm>
          <a:prstGeom prst="rect">
            <a:avLst/>
          </a:prstGeom>
          <a:solidFill>
            <a:srgbClr val="1E3A8A">
              <a:alpha val="30000"/>
            </a:srgbClr>
          </a:solidFill>
          <a:ln/>
        </p:spPr>
      </p:sp>
      <p:sp>
        <p:nvSpPr>
          <p:cNvPr id="229" name="Text 226"/>
          <p:cNvSpPr/>
          <p:nvPr/>
        </p:nvSpPr>
        <p:spPr>
          <a:xfrm>
            <a:off x="3429000" y="20315039"/>
            <a:ext cx="2357438" cy="200025"/>
          </a:xfrm>
          <a:prstGeom prst="rect">
            <a:avLst/>
          </a:prstGeom>
          <a:noFill/>
          <a:ln/>
        </p:spPr>
        <p:txBody>
          <a:bodyPr wrap="square" lIns="0" tIns="0" rIns="0" bIns="0" rtlCol="0" anchor="ctr">
            <a:spAutoFit/>
          </a:bodyPr>
          <a:lstStyle/>
          <a:p>
            <a:pPr indent="0" marL="0">
              <a:buNone/>
            </a:pPr>
            <a:r>
              <a:rPr lang="en-US" sz="1125" b="1" dirty="0">
                <a:solidFill>
                  <a:srgbClr val="F1F5F9"/>
                </a:solidFill>
                <a:latin typeface="Segoe UI" pitchFamily="34" charset="0"/>
                <a:ea typeface="Segoe UI" pitchFamily="34" charset="-122"/>
                <a:cs typeface="Segoe UI" pitchFamily="34" charset="-120"/>
              </a:rPr>
              <a:t>Accessing Elements</a:t>
            </a:r>
            <a:endParaRPr lang="en-US" sz="1125" dirty="0"/>
          </a:p>
        </p:txBody>
      </p:sp>
      <p:sp>
        <p:nvSpPr>
          <p:cNvPr id="230" name="Shape 227"/>
          <p:cNvSpPr/>
          <p:nvPr/>
        </p:nvSpPr>
        <p:spPr>
          <a:xfrm>
            <a:off x="3429000" y="20600789"/>
            <a:ext cx="2286000" cy="2071688"/>
          </a:xfrm>
          <a:prstGeom prst="rect">
            <a:avLst/>
          </a:prstGeom>
          <a:solidFill>
            <a:srgbClr val="1E293B">
              <a:alpha val="80000"/>
            </a:srgbClr>
          </a:solidFill>
          <a:ln w="99">
            <a:solidFill>
              <a:srgbClr val="60A5FA">
                <a:alpha val="30000"/>
              </a:srgbClr>
            </a:solidFill>
            <a:prstDash val="solid"/>
          </a:ln>
        </p:spPr>
      </p:sp>
      <p:sp>
        <p:nvSpPr>
          <p:cNvPr id="231" name="Text 228"/>
          <p:cNvSpPr/>
          <p:nvPr/>
        </p:nvSpPr>
        <p:spPr>
          <a:xfrm>
            <a:off x="3514725" y="20741878"/>
            <a:ext cx="1974856" cy="96441"/>
          </a:xfrm>
          <a:prstGeom prst="rect">
            <a:avLst/>
          </a:prstGeom>
          <a:noFill/>
          <a:ln/>
        </p:spPr>
        <p:txBody>
          <a:bodyPr wrap="square" lIns="0" tIns="0" rIns="0" bIns="0" rtlCol="0" anchor="ctr">
            <a:spAutoFit/>
          </a:bodyPr>
          <a:lstStyle/>
          <a:p>
            <a:pPr indent="0" marL="0">
              <a:buNone/>
            </a:pPr>
            <a:r>
              <a:rPr lang="en-US" sz="675" dirty="0">
                <a:solidFill>
                  <a:srgbClr val="DBEAFE"/>
                </a:solidFill>
                <a:latin typeface="Consolas" pitchFamily="34" charset="0"/>
                <a:ea typeface="Consolas" pitchFamily="34" charset="-122"/>
                <a:cs typeface="Consolas" pitchFamily="34" charset="-120"/>
              </a:rPr>
              <a:t>int[] numbers = {10, 20, 30, 40, 50};</a:t>
            </a:r>
            <a:endParaRPr lang="en-US" sz="675" dirty="0"/>
          </a:p>
        </p:txBody>
      </p:sp>
      <p:sp>
        <p:nvSpPr>
          <p:cNvPr id="232" name="Text 229"/>
          <p:cNvSpPr/>
          <p:nvPr/>
        </p:nvSpPr>
        <p:spPr>
          <a:xfrm>
            <a:off x="3514725" y="21084778"/>
            <a:ext cx="1923399" cy="96441"/>
          </a:xfrm>
          <a:prstGeom prst="rect">
            <a:avLst/>
          </a:prstGeom>
          <a:noFill/>
          <a:ln/>
        </p:spPr>
        <p:txBody>
          <a:bodyPr wrap="square" lIns="0" tIns="0" rIns="0" bIns="0" rtlCol="0" anchor="ctr">
            <a:spAutoFit/>
          </a:bodyPr>
          <a:lstStyle/>
          <a:p>
            <a:pPr indent="0" marL="0">
              <a:buNone/>
            </a:pPr>
            <a:r>
              <a:rPr lang="en-US" sz="675" dirty="0">
                <a:solidFill>
                  <a:srgbClr val="DBEAFE"/>
                </a:solidFill>
                <a:latin typeface="Consolas" pitchFamily="34" charset="0"/>
                <a:ea typeface="Consolas" pitchFamily="34" charset="-122"/>
                <a:cs typeface="Consolas" pitchFamily="34" charset="-120"/>
              </a:rPr>
              <a:t>// Get element (zero-based indexing)</a:t>
            </a:r>
            <a:endParaRPr lang="en-US" sz="675" dirty="0"/>
          </a:p>
        </p:txBody>
      </p:sp>
      <p:sp>
        <p:nvSpPr>
          <p:cNvPr id="233" name="Text 230"/>
          <p:cNvSpPr/>
          <p:nvPr/>
        </p:nvSpPr>
        <p:spPr>
          <a:xfrm>
            <a:off x="3514725" y="21256228"/>
            <a:ext cx="1563309" cy="96441"/>
          </a:xfrm>
          <a:prstGeom prst="rect">
            <a:avLst/>
          </a:prstGeom>
          <a:noFill/>
          <a:ln/>
        </p:spPr>
        <p:txBody>
          <a:bodyPr wrap="square" lIns="0" tIns="0" rIns="0" bIns="0" rtlCol="0" anchor="ctr">
            <a:spAutoFit/>
          </a:bodyPr>
          <a:lstStyle/>
          <a:p>
            <a:pPr indent="0" marL="0">
              <a:buNone/>
            </a:pPr>
            <a:r>
              <a:rPr lang="en-US" sz="675" dirty="0">
                <a:solidFill>
                  <a:srgbClr val="DBEAFE"/>
                </a:solidFill>
                <a:latin typeface="Consolas" pitchFamily="34" charset="0"/>
                <a:ea typeface="Consolas" pitchFamily="34" charset="-122"/>
                <a:cs typeface="Consolas" pitchFamily="34" charset="-120"/>
              </a:rPr>
              <a:t>int first = numbers[0];  // 10</a:t>
            </a:r>
            <a:endParaRPr lang="en-US" sz="675" dirty="0"/>
          </a:p>
        </p:txBody>
      </p:sp>
      <p:sp>
        <p:nvSpPr>
          <p:cNvPr id="234" name="Text 231"/>
          <p:cNvSpPr/>
          <p:nvPr/>
        </p:nvSpPr>
        <p:spPr>
          <a:xfrm>
            <a:off x="3514725" y="21427678"/>
            <a:ext cx="1563309" cy="96441"/>
          </a:xfrm>
          <a:prstGeom prst="rect">
            <a:avLst/>
          </a:prstGeom>
          <a:noFill/>
          <a:ln/>
        </p:spPr>
        <p:txBody>
          <a:bodyPr wrap="square" lIns="0" tIns="0" rIns="0" bIns="0" rtlCol="0" anchor="ctr">
            <a:spAutoFit/>
          </a:bodyPr>
          <a:lstStyle/>
          <a:p>
            <a:pPr indent="0" marL="0">
              <a:buNone/>
            </a:pPr>
            <a:r>
              <a:rPr lang="en-US" sz="675" dirty="0">
                <a:solidFill>
                  <a:srgbClr val="DBEAFE"/>
                </a:solidFill>
                <a:latin typeface="Consolas" pitchFamily="34" charset="0"/>
                <a:ea typeface="Consolas" pitchFamily="34" charset="-122"/>
                <a:cs typeface="Consolas" pitchFamily="34" charset="-120"/>
              </a:rPr>
              <a:t>int third = numbers[2];  // 30</a:t>
            </a:r>
            <a:endParaRPr lang="en-US" sz="675" dirty="0"/>
          </a:p>
        </p:txBody>
      </p:sp>
      <p:sp>
        <p:nvSpPr>
          <p:cNvPr id="235" name="Text 232"/>
          <p:cNvSpPr/>
          <p:nvPr/>
        </p:nvSpPr>
        <p:spPr>
          <a:xfrm>
            <a:off x="3514725" y="21770578"/>
            <a:ext cx="791645" cy="96441"/>
          </a:xfrm>
          <a:prstGeom prst="rect">
            <a:avLst/>
          </a:prstGeom>
          <a:noFill/>
          <a:ln/>
        </p:spPr>
        <p:txBody>
          <a:bodyPr wrap="none" lIns="0" tIns="0" rIns="0" bIns="0" rtlCol="0" anchor="ctr">
            <a:spAutoFit/>
          </a:bodyPr>
          <a:lstStyle/>
          <a:p>
            <a:pPr indent="0" marL="0">
              <a:buNone/>
            </a:pPr>
            <a:r>
              <a:rPr lang="en-US" sz="675" dirty="0">
                <a:solidFill>
                  <a:srgbClr val="DBEAFE"/>
                </a:solidFill>
                <a:latin typeface="Consolas" pitchFamily="34" charset="0"/>
                <a:ea typeface="Consolas" pitchFamily="34" charset="-122"/>
                <a:cs typeface="Consolas" pitchFamily="34" charset="-120"/>
              </a:rPr>
              <a:t>// Set element</a:t>
            </a:r>
            <a:endParaRPr lang="en-US" sz="675" dirty="0"/>
          </a:p>
        </p:txBody>
      </p:sp>
      <p:sp>
        <p:nvSpPr>
          <p:cNvPr id="236" name="Text 233"/>
          <p:cNvSpPr/>
          <p:nvPr/>
        </p:nvSpPr>
        <p:spPr>
          <a:xfrm>
            <a:off x="3514725" y="21942028"/>
            <a:ext cx="1923399" cy="96441"/>
          </a:xfrm>
          <a:prstGeom prst="rect">
            <a:avLst/>
          </a:prstGeom>
          <a:noFill/>
          <a:ln/>
        </p:spPr>
        <p:txBody>
          <a:bodyPr wrap="square" lIns="0" tIns="0" rIns="0" bIns="0" rtlCol="0" anchor="ctr">
            <a:spAutoFit/>
          </a:bodyPr>
          <a:lstStyle/>
          <a:p>
            <a:pPr indent="0" marL="0">
              <a:buNone/>
            </a:pPr>
            <a:r>
              <a:rPr lang="en-US" sz="675" dirty="0">
                <a:solidFill>
                  <a:srgbClr val="DBEAFE"/>
                </a:solidFill>
                <a:latin typeface="Consolas" pitchFamily="34" charset="0"/>
                <a:ea typeface="Consolas" pitchFamily="34" charset="-122"/>
                <a:cs typeface="Consolas" pitchFamily="34" charset="-120"/>
              </a:rPr>
              <a:t>numbers[1] = 25;  // Changes 20 to 25</a:t>
            </a:r>
            <a:endParaRPr lang="en-US" sz="675" dirty="0"/>
          </a:p>
        </p:txBody>
      </p:sp>
      <p:sp>
        <p:nvSpPr>
          <p:cNvPr id="237" name="Text 234"/>
          <p:cNvSpPr/>
          <p:nvPr/>
        </p:nvSpPr>
        <p:spPr>
          <a:xfrm>
            <a:off x="3514725" y="22284928"/>
            <a:ext cx="843102" cy="96441"/>
          </a:xfrm>
          <a:prstGeom prst="rect">
            <a:avLst/>
          </a:prstGeom>
          <a:noFill/>
          <a:ln/>
        </p:spPr>
        <p:txBody>
          <a:bodyPr wrap="none" lIns="0" tIns="0" rIns="0" bIns="0" rtlCol="0" anchor="ctr">
            <a:spAutoFit/>
          </a:bodyPr>
          <a:lstStyle/>
          <a:p>
            <a:pPr indent="0" marL="0">
              <a:buNone/>
            </a:pPr>
            <a:r>
              <a:rPr lang="en-US" sz="675" dirty="0">
                <a:solidFill>
                  <a:srgbClr val="DBEAFE"/>
                </a:solidFill>
                <a:latin typeface="Consolas" pitchFamily="34" charset="0"/>
                <a:ea typeface="Consolas" pitchFamily="34" charset="-122"/>
                <a:cs typeface="Consolas" pitchFamily="34" charset="-120"/>
              </a:rPr>
              <a:t>// Array length</a:t>
            </a:r>
            <a:endParaRPr lang="en-US" sz="675" dirty="0"/>
          </a:p>
        </p:txBody>
      </p:sp>
      <p:sp>
        <p:nvSpPr>
          <p:cNvPr id="238" name="Text 235"/>
          <p:cNvSpPr/>
          <p:nvPr/>
        </p:nvSpPr>
        <p:spPr>
          <a:xfrm>
            <a:off x="3514725" y="22456378"/>
            <a:ext cx="1769083" cy="96441"/>
          </a:xfrm>
          <a:prstGeom prst="rect">
            <a:avLst/>
          </a:prstGeom>
          <a:noFill/>
          <a:ln/>
        </p:spPr>
        <p:txBody>
          <a:bodyPr wrap="square" lIns="0" tIns="0" rIns="0" bIns="0" rtlCol="0" anchor="ctr">
            <a:spAutoFit/>
          </a:bodyPr>
          <a:lstStyle/>
          <a:p>
            <a:pPr indent="0" marL="0">
              <a:buNone/>
            </a:pPr>
            <a:r>
              <a:rPr lang="en-US" sz="675" dirty="0">
                <a:solidFill>
                  <a:srgbClr val="DBEAFE"/>
                </a:solidFill>
                <a:latin typeface="Consolas" pitchFamily="34" charset="0"/>
                <a:ea typeface="Consolas" pitchFamily="34" charset="-122"/>
                <a:cs typeface="Consolas" pitchFamily="34" charset="-120"/>
              </a:rPr>
              <a:t>int length = numbers.length;  // 5</a:t>
            </a:r>
            <a:endParaRPr lang="en-US" sz="675" dirty="0"/>
          </a:p>
        </p:txBody>
      </p:sp>
      <p:sp>
        <p:nvSpPr>
          <p:cNvPr id="239" name="Shape 236"/>
          <p:cNvSpPr/>
          <p:nvPr/>
        </p:nvSpPr>
        <p:spPr>
          <a:xfrm>
            <a:off x="6000750" y="20200739"/>
            <a:ext cx="2514600" cy="2757488"/>
          </a:xfrm>
          <a:prstGeom prst="rect">
            <a:avLst/>
          </a:prstGeom>
          <a:solidFill>
            <a:srgbClr val="1E3A8A">
              <a:alpha val="30000"/>
            </a:srgbClr>
          </a:solidFill>
          <a:ln/>
        </p:spPr>
      </p:sp>
      <p:sp>
        <p:nvSpPr>
          <p:cNvPr id="240" name="Text 237"/>
          <p:cNvSpPr/>
          <p:nvPr/>
        </p:nvSpPr>
        <p:spPr>
          <a:xfrm>
            <a:off x="6115050" y="20315039"/>
            <a:ext cx="2357438" cy="200025"/>
          </a:xfrm>
          <a:prstGeom prst="rect">
            <a:avLst/>
          </a:prstGeom>
          <a:noFill/>
          <a:ln/>
        </p:spPr>
        <p:txBody>
          <a:bodyPr wrap="square" lIns="0" tIns="0" rIns="0" bIns="0" rtlCol="0" anchor="ctr">
            <a:spAutoFit/>
          </a:bodyPr>
          <a:lstStyle/>
          <a:p>
            <a:pPr indent="0" marL="0">
              <a:buNone/>
            </a:pPr>
            <a:r>
              <a:rPr lang="en-US" sz="1125" b="1" dirty="0">
                <a:solidFill>
                  <a:srgbClr val="F1F5F9"/>
                </a:solidFill>
                <a:latin typeface="Segoe UI" pitchFamily="34" charset="0"/>
                <a:ea typeface="Segoe UI" pitchFamily="34" charset="-122"/>
                <a:cs typeface="Segoe UI" pitchFamily="34" charset="-120"/>
              </a:rPr>
              <a:t>Iterating Arrays</a:t>
            </a:r>
            <a:endParaRPr lang="en-US" sz="1125" dirty="0"/>
          </a:p>
        </p:txBody>
      </p:sp>
      <p:sp>
        <p:nvSpPr>
          <p:cNvPr id="241" name="Shape 238"/>
          <p:cNvSpPr/>
          <p:nvPr/>
        </p:nvSpPr>
        <p:spPr>
          <a:xfrm>
            <a:off x="6115050" y="20600789"/>
            <a:ext cx="2286000" cy="2243138"/>
          </a:xfrm>
          <a:prstGeom prst="rect">
            <a:avLst/>
          </a:prstGeom>
          <a:solidFill>
            <a:srgbClr val="1E293B">
              <a:alpha val="80000"/>
            </a:srgbClr>
          </a:solidFill>
          <a:ln w="99">
            <a:solidFill>
              <a:srgbClr val="60A5FA">
                <a:alpha val="30000"/>
              </a:srgbClr>
            </a:solidFill>
            <a:prstDash val="solid"/>
          </a:ln>
        </p:spPr>
      </p:sp>
      <p:sp>
        <p:nvSpPr>
          <p:cNvPr id="242" name="Text 239"/>
          <p:cNvSpPr/>
          <p:nvPr/>
        </p:nvSpPr>
        <p:spPr>
          <a:xfrm>
            <a:off x="6200775" y="20741878"/>
            <a:ext cx="1974856" cy="96441"/>
          </a:xfrm>
          <a:prstGeom prst="rect">
            <a:avLst/>
          </a:prstGeom>
          <a:noFill/>
          <a:ln/>
        </p:spPr>
        <p:txBody>
          <a:bodyPr wrap="square" lIns="0" tIns="0" rIns="0" bIns="0" rtlCol="0" anchor="ctr">
            <a:spAutoFit/>
          </a:bodyPr>
          <a:lstStyle/>
          <a:p>
            <a:pPr indent="0" marL="0">
              <a:buNone/>
            </a:pPr>
            <a:r>
              <a:rPr lang="en-US" sz="675" dirty="0">
                <a:solidFill>
                  <a:srgbClr val="DBEAFE"/>
                </a:solidFill>
                <a:latin typeface="Consolas" pitchFamily="34" charset="0"/>
                <a:ea typeface="Consolas" pitchFamily="34" charset="-122"/>
                <a:cs typeface="Consolas" pitchFamily="34" charset="-120"/>
              </a:rPr>
              <a:t>int[] numbers = {10, 20, 30, 40, 50};</a:t>
            </a:r>
            <a:endParaRPr lang="en-US" sz="675" dirty="0"/>
          </a:p>
        </p:txBody>
      </p:sp>
      <p:sp>
        <p:nvSpPr>
          <p:cNvPr id="243" name="Text 240"/>
          <p:cNvSpPr/>
          <p:nvPr/>
        </p:nvSpPr>
        <p:spPr>
          <a:xfrm>
            <a:off x="6200775" y="21084778"/>
            <a:ext cx="945989" cy="96441"/>
          </a:xfrm>
          <a:prstGeom prst="rect">
            <a:avLst/>
          </a:prstGeom>
          <a:noFill/>
          <a:ln/>
        </p:spPr>
        <p:txBody>
          <a:bodyPr wrap="none" lIns="0" tIns="0" rIns="0" bIns="0" rtlCol="0" anchor="ctr">
            <a:spAutoFit/>
          </a:bodyPr>
          <a:lstStyle/>
          <a:p>
            <a:pPr indent="0" marL="0">
              <a:buNone/>
            </a:pPr>
            <a:r>
              <a:rPr lang="en-US" sz="675" dirty="0">
                <a:solidFill>
                  <a:srgbClr val="DBEAFE"/>
                </a:solidFill>
                <a:latin typeface="Consolas" pitchFamily="34" charset="0"/>
                <a:ea typeface="Consolas" pitchFamily="34" charset="-122"/>
                <a:cs typeface="Consolas" pitchFamily="34" charset="-120"/>
              </a:rPr>
              <a:t>// Using for loop</a:t>
            </a:r>
            <a:endParaRPr lang="en-US" sz="675" dirty="0"/>
          </a:p>
        </p:txBody>
      </p:sp>
      <p:sp>
        <p:nvSpPr>
          <p:cNvPr id="244" name="Text 241"/>
          <p:cNvSpPr/>
          <p:nvPr/>
        </p:nvSpPr>
        <p:spPr>
          <a:xfrm>
            <a:off x="6200775" y="21256228"/>
            <a:ext cx="2129172" cy="267891"/>
          </a:xfrm>
          <a:prstGeom prst="rect">
            <a:avLst/>
          </a:prstGeom>
          <a:noFill/>
          <a:ln/>
        </p:spPr>
        <p:txBody>
          <a:bodyPr wrap="square" lIns="0" tIns="0" rIns="0" bIns="0" rtlCol="0" anchor="ctr">
            <a:spAutoFit/>
          </a:bodyPr>
          <a:lstStyle/>
          <a:p>
            <a:pPr indent="0" marL="0">
              <a:buNone/>
            </a:pPr>
            <a:r>
              <a:rPr lang="en-US" sz="675" dirty="0">
                <a:solidFill>
                  <a:srgbClr val="DBEAFE"/>
                </a:solidFill>
                <a:latin typeface="Consolas" pitchFamily="34" charset="0"/>
                <a:ea typeface="Consolas" pitchFamily="34" charset="-122"/>
                <a:cs typeface="Consolas" pitchFamily="34" charset="-120"/>
              </a:rPr>
              <a:t>for (int i = 0; i &lt; numbers.length; i++) {</a:t>
            </a:r>
            <a:endParaRPr lang="en-US" sz="675" dirty="0"/>
          </a:p>
        </p:txBody>
      </p:sp>
      <p:sp>
        <p:nvSpPr>
          <p:cNvPr id="245" name="Text 242"/>
          <p:cNvSpPr/>
          <p:nvPr/>
        </p:nvSpPr>
        <p:spPr>
          <a:xfrm>
            <a:off x="6200775" y="21599128"/>
            <a:ext cx="1769083" cy="96441"/>
          </a:xfrm>
          <a:prstGeom prst="rect">
            <a:avLst/>
          </a:prstGeom>
          <a:noFill/>
          <a:ln/>
        </p:spPr>
        <p:txBody>
          <a:bodyPr wrap="square" lIns="0" tIns="0" rIns="0" bIns="0" rtlCol="0" anchor="ctr">
            <a:spAutoFit/>
          </a:bodyPr>
          <a:lstStyle/>
          <a:p>
            <a:pPr indent="0" marL="0">
              <a:buNone/>
            </a:pPr>
            <a:r>
              <a:rPr lang="en-US" sz="675" dirty="0">
                <a:solidFill>
                  <a:srgbClr val="DBEAFE"/>
                </a:solidFill>
                <a:latin typeface="Consolas" pitchFamily="34" charset="0"/>
                <a:ea typeface="Consolas" pitchFamily="34" charset="-122"/>
                <a:cs typeface="Consolas" pitchFamily="34" charset="-120"/>
              </a:rPr>
              <a:t>System.out.println(numbers[i]);</a:t>
            </a:r>
            <a:endParaRPr lang="en-US" sz="675" dirty="0"/>
          </a:p>
        </p:txBody>
      </p:sp>
      <p:sp>
        <p:nvSpPr>
          <p:cNvPr id="246" name="Text 243"/>
          <p:cNvSpPr/>
          <p:nvPr/>
        </p:nvSpPr>
        <p:spPr>
          <a:xfrm>
            <a:off x="6200775" y="21770578"/>
            <a:ext cx="122895" cy="96441"/>
          </a:xfrm>
          <a:prstGeom prst="rect">
            <a:avLst/>
          </a:prstGeom>
          <a:noFill/>
          <a:ln/>
        </p:spPr>
        <p:txBody>
          <a:bodyPr wrap="none" lIns="0" tIns="0" rIns="0" bIns="0" rtlCol="0" anchor="ctr">
            <a:spAutoFit/>
          </a:bodyPr>
          <a:lstStyle/>
          <a:p>
            <a:pPr indent="0" marL="0">
              <a:buNone/>
            </a:pPr>
            <a:r>
              <a:rPr lang="en-US" sz="675" dirty="0">
                <a:solidFill>
                  <a:srgbClr val="DBEAFE"/>
                </a:solidFill>
                <a:latin typeface="Consolas" pitchFamily="34" charset="0"/>
                <a:ea typeface="Consolas" pitchFamily="34" charset="-122"/>
                <a:cs typeface="Consolas" pitchFamily="34" charset="-120"/>
              </a:rPr>
              <a:t>}</a:t>
            </a:r>
            <a:endParaRPr lang="en-US" sz="675" dirty="0"/>
          </a:p>
        </p:txBody>
      </p:sp>
      <p:sp>
        <p:nvSpPr>
          <p:cNvPr id="247" name="Text 244"/>
          <p:cNvSpPr/>
          <p:nvPr/>
        </p:nvSpPr>
        <p:spPr>
          <a:xfrm>
            <a:off x="6200775" y="22113478"/>
            <a:ext cx="1408965" cy="96441"/>
          </a:xfrm>
          <a:prstGeom prst="rect">
            <a:avLst/>
          </a:prstGeom>
          <a:noFill/>
          <a:ln/>
        </p:spPr>
        <p:txBody>
          <a:bodyPr wrap="square" lIns="0" tIns="0" rIns="0" bIns="0" rtlCol="0" anchor="ctr">
            <a:spAutoFit/>
          </a:bodyPr>
          <a:lstStyle/>
          <a:p>
            <a:pPr indent="0" marL="0">
              <a:buNone/>
            </a:pPr>
            <a:r>
              <a:rPr lang="en-US" sz="675" dirty="0">
                <a:solidFill>
                  <a:srgbClr val="DBEAFE"/>
                </a:solidFill>
                <a:latin typeface="Consolas" pitchFamily="34" charset="0"/>
                <a:ea typeface="Consolas" pitchFamily="34" charset="-122"/>
                <a:cs typeface="Consolas" pitchFamily="34" charset="-120"/>
              </a:rPr>
              <a:t>// Using enhanced for loop</a:t>
            </a:r>
            <a:endParaRPr lang="en-US" sz="675" dirty="0"/>
          </a:p>
        </p:txBody>
      </p:sp>
      <p:sp>
        <p:nvSpPr>
          <p:cNvPr id="248" name="Text 245"/>
          <p:cNvSpPr/>
          <p:nvPr/>
        </p:nvSpPr>
        <p:spPr>
          <a:xfrm>
            <a:off x="6200775" y="22284928"/>
            <a:ext cx="1357536" cy="96441"/>
          </a:xfrm>
          <a:prstGeom prst="rect">
            <a:avLst/>
          </a:prstGeom>
          <a:noFill/>
          <a:ln/>
        </p:spPr>
        <p:txBody>
          <a:bodyPr wrap="square" lIns="0" tIns="0" rIns="0" bIns="0" rtlCol="0" anchor="ctr">
            <a:spAutoFit/>
          </a:bodyPr>
          <a:lstStyle/>
          <a:p>
            <a:pPr indent="0" marL="0">
              <a:buNone/>
            </a:pPr>
            <a:r>
              <a:rPr lang="en-US" sz="675" dirty="0">
                <a:solidFill>
                  <a:srgbClr val="DBEAFE"/>
                </a:solidFill>
                <a:latin typeface="Consolas" pitchFamily="34" charset="0"/>
                <a:ea typeface="Consolas" pitchFamily="34" charset="-122"/>
                <a:cs typeface="Consolas" pitchFamily="34" charset="-120"/>
              </a:rPr>
              <a:t>for (int num : numbers) {</a:t>
            </a:r>
            <a:endParaRPr lang="en-US" sz="675" dirty="0"/>
          </a:p>
        </p:txBody>
      </p:sp>
      <p:sp>
        <p:nvSpPr>
          <p:cNvPr id="249" name="Text 246"/>
          <p:cNvSpPr/>
          <p:nvPr/>
        </p:nvSpPr>
        <p:spPr>
          <a:xfrm>
            <a:off x="6200775" y="22456378"/>
            <a:ext cx="1408965" cy="96441"/>
          </a:xfrm>
          <a:prstGeom prst="rect">
            <a:avLst/>
          </a:prstGeom>
          <a:noFill/>
          <a:ln/>
        </p:spPr>
        <p:txBody>
          <a:bodyPr wrap="square" lIns="0" tIns="0" rIns="0" bIns="0" rtlCol="0" anchor="ctr">
            <a:spAutoFit/>
          </a:bodyPr>
          <a:lstStyle/>
          <a:p>
            <a:pPr indent="0" marL="0">
              <a:buNone/>
            </a:pPr>
            <a:r>
              <a:rPr lang="en-US" sz="675" dirty="0">
                <a:solidFill>
                  <a:srgbClr val="DBEAFE"/>
                </a:solidFill>
                <a:latin typeface="Consolas" pitchFamily="34" charset="0"/>
                <a:ea typeface="Consolas" pitchFamily="34" charset="-122"/>
                <a:cs typeface="Consolas" pitchFamily="34" charset="-120"/>
              </a:rPr>
              <a:t>System.out.println(num);</a:t>
            </a:r>
            <a:endParaRPr lang="en-US" sz="675" dirty="0"/>
          </a:p>
        </p:txBody>
      </p:sp>
      <p:sp>
        <p:nvSpPr>
          <p:cNvPr id="250" name="Text 247"/>
          <p:cNvSpPr/>
          <p:nvPr/>
        </p:nvSpPr>
        <p:spPr>
          <a:xfrm>
            <a:off x="6200775" y="22627828"/>
            <a:ext cx="122895" cy="96441"/>
          </a:xfrm>
          <a:prstGeom prst="rect">
            <a:avLst/>
          </a:prstGeom>
          <a:noFill/>
          <a:ln/>
        </p:spPr>
        <p:txBody>
          <a:bodyPr wrap="none" lIns="0" tIns="0" rIns="0" bIns="0" rtlCol="0" anchor="ctr">
            <a:spAutoFit/>
          </a:bodyPr>
          <a:lstStyle/>
          <a:p>
            <a:pPr indent="0" marL="0">
              <a:buNone/>
            </a:pPr>
            <a:r>
              <a:rPr lang="en-US" sz="675" dirty="0">
                <a:solidFill>
                  <a:srgbClr val="DBEAFE"/>
                </a:solidFill>
                <a:latin typeface="Consolas" pitchFamily="34" charset="0"/>
                <a:ea typeface="Consolas" pitchFamily="34" charset="-122"/>
                <a:cs typeface="Consolas" pitchFamily="34" charset="-120"/>
              </a:rPr>
              <a:t>}</a:t>
            </a:r>
            <a:endParaRPr lang="en-US" sz="675" dirty="0"/>
          </a:p>
        </p:txBody>
      </p:sp>
      <p:sp>
        <p:nvSpPr>
          <p:cNvPr id="251" name="Shape 248"/>
          <p:cNvSpPr/>
          <p:nvPr/>
        </p:nvSpPr>
        <p:spPr>
          <a:xfrm>
            <a:off x="628650" y="23115389"/>
            <a:ext cx="7886700" cy="571500"/>
          </a:xfrm>
          <a:prstGeom prst="rect">
            <a:avLst/>
          </a:prstGeom>
          <a:solidFill>
            <a:srgbClr val="1E3A8A">
              <a:alpha val="30000"/>
            </a:srgbClr>
          </a:solidFill>
          <a:ln/>
        </p:spPr>
      </p:sp>
      <p:pic>
        <p:nvPicPr>
          <p:cNvPr id="252" name="Image 1" descr="preencoded.png">    </p:cNvPr>
          <p:cNvPicPr>
            <a:picLocks noChangeAspect="1"/>
          </p:cNvPicPr>
          <p:nvPr/>
        </p:nvPicPr>
        <p:blipFill>
          <a:blip r:embed="rId2"/>
          <a:stretch>
            <a:fillRect/>
          </a:stretch>
        </p:blipFill>
        <p:spPr>
          <a:xfrm>
            <a:off x="742950" y="23315414"/>
            <a:ext cx="171450" cy="171450"/>
          </a:xfrm>
          <a:prstGeom prst="rect">
            <a:avLst/>
          </a:prstGeom>
        </p:spPr>
      </p:pic>
      <p:sp>
        <p:nvSpPr>
          <p:cNvPr id="253" name="Text 249"/>
          <p:cNvSpPr/>
          <p:nvPr/>
        </p:nvSpPr>
        <p:spPr>
          <a:xfrm>
            <a:off x="1028700" y="23229689"/>
            <a:ext cx="7443788" cy="342900"/>
          </a:xfrm>
          <a:prstGeom prst="rect">
            <a:avLst/>
          </a:prstGeom>
          <a:noFill/>
          <a:ln/>
        </p:spPr>
        <p:txBody>
          <a:bodyPr wrap="square" lIns="0" tIns="0" rIns="0" bIns="0" rtlCol="0" anchor="ctr">
            <a:spAutoFit/>
          </a:bodyPr>
          <a:lstStyle/>
          <a:p>
            <a:pPr indent="0" marL="0">
              <a:buNone/>
            </a:pPr>
            <a:r>
              <a:rPr lang="en-US" sz="900" dirty="0">
                <a:solidFill>
                  <a:srgbClr val="F1F5F9"/>
                </a:solidFill>
                <a:latin typeface="Segoe UI" pitchFamily="34" charset="0"/>
                <a:ea typeface="Segoe UI" pitchFamily="34" charset="-122"/>
                <a:cs typeface="Segoe UI" pitchFamily="34" charset="-120"/>
              </a:rPr>
              <a:t>This slide covers the fundamental syntax elements of Java. As you continue learning, you'll build on these basics to create more complex and powerful programs. Practice is key to mastering these concepts!</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15059025"/>
          </a:xfrm>
          <a:prstGeom prst="rect">
            <a:avLst/>
          </a:prstGeom>
        </p:spPr>
      </p:pic>
      <p:sp>
        <p:nvSpPr>
          <p:cNvPr id="3" name="Text 0"/>
          <p:cNvSpPr/>
          <p:nvPr/>
        </p:nvSpPr>
        <p:spPr>
          <a:xfrm>
            <a:off x="457200" y="455414"/>
            <a:ext cx="715017" cy="287536"/>
          </a:xfrm>
          <a:prstGeom prst="rect">
            <a:avLst/>
          </a:prstGeom>
          <a:noFill/>
          <a:ln/>
        </p:spPr>
        <p:txBody>
          <a:bodyPr wrap="none" lIns="0" tIns="0" rIns="0" bIns="0" rtlCol="0" anchor="ctr">
            <a:spAutoFit/>
          </a:bodyPr>
          <a:lstStyle/>
          <a:p>
            <a:pPr indent="0" marL="0">
              <a:buNone/>
            </a:pPr>
            <a:r>
              <a:rPr lang="en-US" sz="2025" b="1" dirty="0">
                <a:solidFill>
                  <a:srgbClr val="F1F5F9"/>
                </a:solidFill>
                <a:latin typeface="Segoe UI" pitchFamily="34" charset="0"/>
                <a:ea typeface="Segoe UI" pitchFamily="34" charset="-122"/>
                <a:cs typeface="Segoe UI" pitchFamily="34" charset="-120"/>
              </a:rPr>
              <a:t>Java</a:t>
            </a:r>
            <a:endParaRPr lang="en-US" sz="2025" dirty="0"/>
          </a:p>
        </p:txBody>
      </p:sp>
      <p:sp>
        <p:nvSpPr>
          <p:cNvPr id="4" name="Text 1"/>
          <p:cNvSpPr/>
          <p:nvPr/>
        </p:nvSpPr>
        <p:spPr>
          <a:xfrm>
            <a:off x="1100779" y="455414"/>
            <a:ext cx="1400398" cy="287536"/>
          </a:xfrm>
          <a:prstGeom prst="rect">
            <a:avLst/>
          </a:prstGeom>
          <a:noFill/>
          <a:ln/>
        </p:spPr>
        <p:txBody>
          <a:bodyPr wrap="square" lIns="0" tIns="0" rIns="0" bIns="0" rtlCol="0" anchor="ctr">
            <a:spAutoFit/>
          </a:bodyPr>
          <a:lstStyle/>
          <a:p>
            <a:pPr indent="0" marL="0">
              <a:buNone/>
            </a:pPr>
            <a:r>
              <a:rPr lang="en-US" sz="2025" b="1" dirty="0">
                <a:solidFill>
                  <a:srgbClr val="60A5FA"/>
                </a:solidFill>
                <a:latin typeface="Segoe UI" pitchFamily="34" charset="0"/>
                <a:ea typeface="Segoe UI" pitchFamily="34" charset="-122"/>
                <a:cs typeface="Segoe UI" pitchFamily="34" charset="-120"/>
              </a:rPr>
              <a:t>Comments</a:t>
            </a:r>
            <a:endParaRPr lang="en-US" sz="2025" dirty="0"/>
          </a:p>
        </p:txBody>
      </p:sp>
      <p:sp>
        <p:nvSpPr>
          <p:cNvPr id="5" name="Shape 2"/>
          <p:cNvSpPr/>
          <p:nvPr/>
        </p:nvSpPr>
        <p:spPr>
          <a:xfrm>
            <a:off x="457200" y="971550"/>
            <a:ext cx="4000500" cy="8422481"/>
          </a:xfrm>
          <a:prstGeom prst="rect">
            <a:avLst/>
          </a:prstGeom>
          <a:solidFill>
            <a:srgbClr val="FFFFFF">
              <a:alpha val="10000"/>
            </a:srgbClr>
          </a:solidFill>
          <a:ln w="99">
            <a:solidFill>
              <a:srgbClr val="60A5FA">
                <a:alpha val="30000"/>
              </a:srgbClr>
            </a:solidFill>
            <a:prstDash val="solid"/>
          </a:ln>
        </p:spPr>
      </p:sp>
      <p:sp>
        <p:nvSpPr>
          <p:cNvPr id="6" name="Text 3"/>
          <p:cNvSpPr/>
          <p:nvPr/>
        </p:nvSpPr>
        <p:spPr>
          <a:xfrm>
            <a:off x="628650" y="1143000"/>
            <a:ext cx="3729038" cy="228600"/>
          </a:xfrm>
          <a:prstGeom prst="rect">
            <a:avLst/>
          </a:prstGeom>
          <a:noFill/>
          <a:ln/>
        </p:spPr>
        <p:txBody>
          <a:bodyPr wrap="square" lIns="0" tIns="0" rIns="0" bIns="0" rtlCol="0" anchor="ctr">
            <a:spAutoFit/>
          </a:bodyPr>
          <a:lstStyle/>
          <a:p>
            <a:pPr indent="0" marL="0">
              <a:buNone/>
            </a:pPr>
            <a:r>
              <a:rPr lang="en-US" sz="1350" b="1" dirty="0">
                <a:solidFill>
                  <a:srgbClr val="BFDBFE"/>
                </a:solidFill>
                <a:latin typeface="Segoe UI" pitchFamily="34" charset="0"/>
                <a:ea typeface="Segoe UI" pitchFamily="34" charset="-122"/>
                <a:cs typeface="Segoe UI" pitchFamily="34" charset="-120"/>
              </a:rPr>
              <a:t>Types of Comments</a:t>
            </a:r>
            <a:endParaRPr lang="en-US" sz="1350" dirty="0"/>
          </a:p>
        </p:txBody>
      </p:sp>
      <p:sp>
        <p:nvSpPr>
          <p:cNvPr id="7" name="Shape 4"/>
          <p:cNvSpPr/>
          <p:nvPr/>
        </p:nvSpPr>
        <p:spPr>
          <a:xfrm>
            <a:off x="628650" y="1485900"/>
            <a:ext cx="3657600" cy="1993106"/>
          </a:xfrm>
          <a:prstGeom prst="rect">
            <a:avLst/>
          </a:prstGeom>
          <a:solidFill>
            <a:srgbClr val="1E3A8A">
              <a:alpha val="30000"/>
            </a:srgbClr>
          </a:solidFill>
          <a:ln/>
        </p:spPr>
      </p:sp>
      <p:sp>
        <p:nvSpPr>
          <p:cNvPr id="8" name="Shape 5"/>
          <p:cNvSpPr/>
          <p:nvPr/>
        </p:nvSpPr>
        <p:spPr>
          <a:xfrm>
            <a:off x="628650" y="1485900"/>
            <a:ext cx="28575" cy="1993106"/>
          </a:xfrm>
          <a:prstGeom prst="rect">
            <a:avLst/>
          </a:prstGeom>
          <a:solidFill>
            <a:srgbClr val="60A5FA"/>
          </a:solidFill>
          <a:ln/>
        </p:spPr>
      </p:sp>
      <p:sp>
        <p:nvSpPr>
          <p:cNvPr id="9" name="Text 6"/>
          <p:cNvSpPr/>
          <p:nvPr/>
        </p:nvSpPr>
        <p:spPr>
          <a:xfrm>
            <a:off x="742950" y="1571625"/>
            <a:ext cx="3614738" cy="200025"/>
          </a:xfrm>
          <a:prstGeom prst="rect">
            <a:avLst/>
          </a:prstGeom>
          <a:noFill/>
          <a:ln/>
        </p:spPr>
        <p:txBody>
          <a:bodyPr wrap="square" lIns="0" tIns="0" rIns="0" bIns="0" rtlCol="0" anchor="ctr">
            <a:spAutoFit/>
          </a:bodyPr>
          <a:lstStyle/>
          <a:p>
            <a:pPr indent="0" marL="0">
              <a:buNone/>
            </a:pPr>
            <a:r>
              <a:rPr lang="en-US" sz="1125" b="1" dirty="0">
                <a:solidFill>
                  <a:srgbClr val="F1F5F9"/>
                </a:solidFill>
                <a:latin typeface="Segoe UI" pitchFamily="34" charset="0"/>
                <a:ea typeface="Segoe UI" pitchFamily="34" charset="-122"/>
                <a:cs typeface="Segoe UI" pitchFamily="34" charset="-120"/>
              </a:rPr>
              <a:t>Single-line Comments</a:t>
            </a:r>
            <a:endParaRPr lang="en-US" sz="1125" dirty="0"/>
          </a:p>
        </p:txBody>
      </p:sp>
      <p:sp>
        <p:nvSpPr>
          <p:cNvPr id="10" name="Shape 7"/>
          <p:cNvSpPr/>
          <p:nvPr/>
        </p:nvSpPr>
        <p:spPr>
          <a:xfrm>
            <a:off x="742950" y="1800225"/>
            <a:ext cx="3543300" cy="1385888"/>
          </a:xfrm>
          <a:prstGeom prst="rect">
            <a:avLst/>
          </a:prstGeom>
          <a:solidFill>
            <a:srgbClr val="1E293B">
              <a:alpha val="80000"/>
            </a:srgbClr>
          </a:solidFill>
          <a:ln w="99">
            <a:solidFill>
              <a:srgbClr val="60A5FA">
                <a:alpha val="30000"/>
              </a:srgbClr>
            </a:solidFill>
            <a:prstDash val="solid"/>
          </a:ln>
        </p:spPr>
      </p:sp>
      <p:sp>
        <p:nvSpPr>
          <p:cNvPr id="11" name="Text 8"/>
          <p:cNvSpPr/>
          <p:nvPr/>
        </p:nvSpPr>
        <p:spPr>
          <a:xfrm>
            <a:off x="828675" y="1941314"/>
            <a:ext cx="1717625" cy="96441"/>
          </a:xfrm>
          <a:prstGeom prst="rect">
            <a:avLst/>
          </a:prstGeom>
          <a:noFill/>
          <a:ln/>
        </p:spPr>
        <p:txBody>
          <a:bodyPr wrap="square" lIns="0" tIns="0" rIns="0" bIns="0" rtlCol="0" anchor="ctr">
            <a:spAutoFit/>
          </a:bodyPr>
          <a:lstStyle/>
          <a:p>
            <a:pPr indent="0" marL="0">
              <a:buNone/>
            </a:pPr>
            <a:r>
              <a:rPr lang="en-US" sz="675" dirty="0">
                <a:solidFill>
                  <a:srgbClr val="DBEAFE"/>
                </a:solidFill>
                <a:latin typeface="Consolas" pitchFamily="34" charset="0"/>
                <a:ea typeface="Consolas" pitchFamily="34" charset="-122"/>
                <a:cs typeface="Consolas" pitchFamily="34" charset="-120"/>
              </a:rPr>
              <a:t>// This is a single-line comment</a:t>
            </a:r>
            <a:endParaRPr lang="en-US" sz="675" dirty="0"/>
          </a:p>
        </p:txBody>
      </p:sp>
      <p:sp>
        <p:nvSpPr>
          <p:cNvPr id="12" name="Text 9"/>
          <p:cNvSpPr/>
          <p:nvPr/>
        </p:nvSpPr>
        <p:spPr>
          <a:xfrm>
            <a:off x="828675" y="2284214"/>
            <a:ext cx="2489290" cy="96441"/>
          </a:xfrm>
          <a:prstGeom prst="rect">
            <a:avLst/>
          </a:prstGeom>
          <a:noFill/>
          <a:ln/>
        </p:spPr>
        <p:txBody>
          <a:bodyPr wrap="square" lIns="0" tIns="0" rIns="0" bIns="0" rtlCol="0" anchor="ctr">
            <a:spAutoFit/>
          </a:bodyPr>
          <a:lstStyle/>
          <a:p>
            <a:pPr indent="0" marL="0">
              <a:buNone/>
            </a:pPr>
            <a:r>
              <a:rPr lang="en-US" sz="675" dirty="0">
                <a:solidFill>
                  <a:srgbClr val="DBEAFE"/>
                </a:solidFill>
                <a:latin typeface="Consolas" pitchFamily="34" charset="0"/>
                <a:ea typeface="Consolas" pitchFamily="34" charset="-122"/>
                <a:cs typeface="Consolas" pitchFamily="34" charset="-120"/>
              </a:rPr>
              <a:t>int age = 25; // This is an end-of-line comment</a:t>
            </a:r>
            <a:endParaRPr lang="en-US" sz="675" dirty="0"/>
          </a:p>
        </p:txBody>
      </p:sp>
      <p:sp>
        <p:nvSpPr>
          <p:cNvPr id="13" name="Text 10"/>
          <p:cNvSpPr/>
          <p:nvPr/>
        </p:nvSpPr>
        <p:spPr>
          <a:xfrm>
            <a:off x="828675" y="2627114"/>
            <a:ext cx="2592177" cy="96441"/>
          </a:xfrm>
          <a:prstGeom prst="rect">
            <a:avLst/>
          </a:prstGeom>
          <a:noFill/>
          <a:ln/>
        </p:spPr>
        <p:txBody>
          <a:bodyPr wrap="square" lIns="0" tIns="0" rIns="0" bIns="0" rtlCol="0" anchor="ctr">
            <a:spAutoFit/>
          </a:bodyPr>
          <a:lstStyle/>
          <a:p>
            <a:pPr indent="0" marL="0">
              <a:buNone/>
            </a:pPr>
            <a:r>
              <a:rPr lang="en-US" sz="675" dirty="0">
                <a:solidFill>
                  <a:srgbClr val="DBEAFE"/>
                </a:solidFill>
                <a:latin typeface="Consolas" pitchFamily="34" charset="0"/>
                <a:ea typeface="Consolas" pitchFamily="34" charset="-122"/>
                <a:cs typeface="Consolas" pitchFamily="34" charset="-120"/>
              </a:rPr>
              <a:t>// You can also use multiple single-line comments</a:t>
            </a:r>
            <a:endParaRPr lang="en-US" sz="675" dirty="0"/>
          </a:p>
        </p:txBody>
      </p:sp>
      <p:sp>
        <p:nvSpPr>
          <p:cNvPr id="14" name="Text 11"/>
          <p:cNvSpPr/>
          <p:nvPr/>
        </p:nvSpPr>
        <p:spPr>
          <a:xfrm>
            <a:off x="828675" y="2798564"/>
            <a:ext cx="1717625" cy="96441"/>
          </a:xfrm>
          <a:prstGeom prst="rect">
            <a:avLst/>
          </a:prstGeom>
          <a:noFill/>
          <a:ln/>
        </p:spPr>
        <p:txBody>
          <a:bodyPr wrap="square" lIns="0" tIns="0" rIns="0" bIns="0" rtlCol="0" anchor="ctr">
            <a:spAutoFit/>
          </a:bodyPr>
          <a:lstStyle/>
          <a:p>
            <a:pPr indent="0" marL="0">
              <a:buNone/>
            </a:pPr>
            <a:r>
              <a:rPr lang="en-US" sz="675" dirty="0">
                <a:solidFill>
                  <a:srgbClr val="DBEAFE"/>
                </a:solidFill>
                <a:latin typeface="Consolas" pitchFamily="34" charset="0"/>
                <a:ea typeface="Consolas" pitchFamily="34" charset="-122"/>
                <a:cs typeface="Consolas" pitchFamily="34" charset="-120"/>
              </a:rPr>
              <a:t>// to create a block of comments</a:t>
            </a:r>
            <a:endParaRPr lang="en-US" sz="675" dirty="0"/>
          </a:p>
        </p:txBody>
      </p:sp>
      <p:sp>
        <p:nvSpPr>
          <p:cNvPr id="15" name="Text 12"/>
          <p:cNvSpPr/>
          <p:nvPr/>
        </p:nvSpPr>
        <p:spPr>
          <a:xfrm>
            <a:off x="828675" y="2970014"/>
            <a:ext cx="688758" cy="96441"/>
          </a:xfrm>
          <a:prstGeom prst="rect">
            <a:avLst/>
          </a:prstGeom>
          <a:noFill/>
          <a:ln/>
        </p:spPr>
        <p:txBody>
          <a:bodyPr wrap="none" lIns="0" tIns="0" rIns="0" bIns="0" rtlCol="0" anchor="ctr">
            <a:spAutoFit/>
          </a:bodyPr>
          <a:lstStyle/>
          <a:p>
            <a:pPr indent="0" marL="0">
              <a:buNone/>
            </a:pPr>
            <a:r>
              <a:rPr lang="en-US" sz="675" dirty="0">
                <a:solidFill>
                  <a:srgbClr val="DBEAFE"/>
                </a:solidFill>
                <a:latin typeface="Consolas" pitchFamily="34" charset="0"/>
                <a:ea typeface="Consolas" pitchFamily="34" charset="-122"/>
                <a:cs typeface="Consolas" pitchFamily="34" charset="-120"/>
              </a:rPr>
              <a:t>// like this</a:t>
            </a:r>
            <a:endParaRPr lang="en-US" sz="675" dirty="0"/>
          </a:p>
        </p:txBody>
      </p:sp>
      <p:pic>
        <p:nvPicPr>
          <p:cNvPr id="16" name="Image 1" descr="preencoded.png">    </p:cNvPr>
          <p:cNvPicPr>
            <a:picLocks noChangeAspect="1"/>
          </p:cNvPicPr>
          <p:nvPr/>
        </p:nvPicPr>
        <p:blipFill>
          <a:blip r:embed="rId2"/>
          <a:stretch>
            <a:fillRect/>
          </a:stretch>
        </p:blipFill>
        <p:spPr>
          <a:xfrm>
            <a:off x="742950" y="3246834"/>
            <a:ext cx="100013" cy="100013"/>
          </a:xfrm>
          <a:prstGeom prst="rect">
            <a:avLst/>
          </a:prstGeom>
        </p:spPr>
      </p:pic>
      <p:sp>
        <p:nvSpPr>
          <p:cNvPr id="17" name="Text 13"/>
          <p:cNvSpPr/>
          <p:nvPr/>
        </p:nvSpPr>
        <p:spPr>
          <a:xfrm>
            <a:off x="900113" y="3243263"/>
            <a:ext cx="1511043" cy="112514"/>
          </a:xfrm>
          <a:prstGeom prst="rect">
            <a:avLst/>
          </a:prstGeom>
          <a:noFill/>
          <a:ln/>
        </p:spPr>
        <p:txBody>
          <a:bodyPr wrap="square" lIns="0" tIns="0" rIns="0" bIns="0" rtlCol="0" anchor="ctr">
            <a:spAutoFit/>
          </a:bodyPr>
          <a:lstStyle/>
          <a:p>
            <a:pPr indent="0" marL="0">
              <a:buNone/>
            </a:pPr>
            <a:r>
              <a:rPr lang="en-US" sz="788" dirty="0">
                <a:solidFill>
                  <a:srgbClr val="F1F5F9"/>
                </a:solidFill>
                <a:latin typeface="Segoe UI" pitchFamily="34" charset="0"/>
                <a:ea typeface="Segoe UI" pitchFamily="34" charset="-122"/>
                <a:cs typeface="Segoe UI" pitchFamily="34" charset="-120"/>
              </a:rPr>
              <a:t>Single-line comments start with</a:t>
            </a:r>
            <a:endParaRPr lang="en-US" sz="788" dirty="0"/>
          </a:p>
        </p:txBody>
      </p:sp>
      <p:sp>
        <p:nvSpPr>
          <p:cNvPr id="18" name="Text 14"/>
          <p:cNvSpPr/>
          <p:nvPr/>
        </p:nvSpPr>
        <p:spPr>
          <a:xfrm>
            <a:off x="2339718" y="3250406"/>
            <a:ext cx="191486" cy="114300"/>
          </a:xfrm>
          <a:prstGeom prst="rect">
            <a:avLst/>
          </a:prstGeom>
          <a:noFill/>
          <a:ln/>
        </p:spPr>
        <p:txBody>
          <a:bodyPr wrap="none" lIns="0" tIns="0" rIns="0" bIns="0" rtlCol="0" anchor="ctr">
            <a:spAutoFit/>
          </a:bodyPr>
          <a:lstStyle/>
          <a:p>
            <a:pPr indent="0" marL="0">
              <a:buNone/>
            </a:pPr>
            <a:r>
              <a:rPr lang="en-US" sz="788" dirty="0">
                <a:solidFill>
                  <a:srgbClr val="DBEAFE"/>
                </a:solidFill>
                <a:latin typeface="Consolas" pitchFamily="34" charset="0"/>
                <a:ea typeface="Consolas" pitchFamily="34" charset="-122"/>
                <a:cs typeface="Consolas" pitchFamily="34" charset="-120"/>
              </a:rPr>
              <a:t>//</a:t>
            </a:r>
            <a:endParaRPr lang="en-US" sz="788" dirty="0"/>
          </a:p>
        </p:txBody>
      </p:sp>
      <p:sp>
        <p:nvSpPr>
          <p:cNvPr id="19" name="Text 15"/>
          <p:cNvSpPr/>
          <p:nvPr/>
        </p:nvSpPr>
        <p:spPr>
          <a:xfrm>
            <a:off x="2459766" y="3243263"/>
            <a:ext cx="1734006" cy="112514"/>
          </a:xfrm>
          <a:prstGeom prst="rect">
            <a:avLst/>
          </a:prstGeom>
          <a:noFill/>
          <a:ln/>
        </p:spPr>
        <p:txBody>
          <a:bodyPr wrap="square" lIns="0" tIns="0" rIns="0" bIns="0" rtlCol="0" anchor="ctr">
            <a:spAutoFit/>
          </a:bodyPr>
          <a:lstStyle/>
          <a:p>
            <a:pPr indent="0" marL="0">
              <a:buNone/>
            </a:pPr>
            <a:r>
              <a:rPr lang="en-US" sz="788" dirty="0">
                <a:solidFill>
                  <a:srgbClr val="F1F5F9"/>
                </a:solidFill>
                <a:latin typeface="Segoe UI" pitchFamily="34" charset="0"/>
                <a:ea typeface="Segoe UI" pitchFamily="34" charset="-122"/>
                <a:cs typeface="Segoe UI" pitchFamily="34" charset="-120"/>
              </a:rPr>
              <a:t>and continue until the end of the line.</a:t>
            </a:r>
            <a:endParaRPr lang="en-US" sz="788" dirty="0"/>
          </a:p>
        </p:txBody>
      </p:sp>
      <p:sp>
        <p:nvSpPr>
          <p:cNvPr id="20" name="Shape 16"/>
          <p:cNvSpPr/>
          <p:nvPr/>
        </p:nvSpPr>
        <p:spPr>
          <a:xfrm>
            <a:off x="628650" y="3579019"/>
            <a:ext cx="3657600" cy="2164556"/>
          </a:xfrm>
          <a:prstGeom prst="rect">
            <a:avLst/>
          </a:prstGeom>
          <a:solidFill>
            <a:srgbClr val="1E3A8A">
              <a:alpha val="30000"/>
            </a:srgbClr>
          </a:solidFill>
          <a:ln/>
        </p:spPr>
      </p:sp>
      <p:sp>
        <p:nvSpPr>
          <p:cNvPr id="21" name="Shape 17"/>
          <p:cNvSpPr/>
          <p:nvPr/>
        </p:nvSpPr>
        <p:spPr>
          <a:xfrm>
            <a:off x="628650" y="3579019"/>
            <a:ext cx="28575" cy="2164556"/>
          </a:xfrm>
          <a:prstGeom prst="rect">
            <a:avLst/>
          </a:prstGeom>
          <a:solidFill>
            <a:srgbClr val="60A5FA"/>
          </a:solidFill>
          <a:ln/>
        </p:spPr>
      </p:sp>
      <p:sp>
        <p:nvSpPr>
          <p:cNvPr id="22" name="Text 18"/>
          <p:cNvSpPr/>
          <p:nvPr/>
        </p:nvSpPr>
        <p:spPr>
          <a:xfrm>
            <a:off x="742950" y="3664744"/>
            <a:ext cx="3614738" cy="200025"/>
          </a:xfrm>
          <a:prstGeom prst="rect">
            <a:avLst/>
          </a:prstGeom>
          <a:noFill/>
          <a:ln/>
        </p:spPr>
        <p:txBody>
          <a:bodyPr wrap="square" lIns="0" tIns="0" rIns="0" bIns="0" rtlCol="0" anchor="ctr">
            <a:spAutoFit/>
          </a:bodyPr>
          <a:lstStyle/>
          <a:p>
            <a:pPr indent="0" marL="0">
              <a:buNone/>
            </a:pPr>
            <a:r>
              <a:rPr lang="en-US" sz="1125" b="1" dirty="0">
                <a:solidFill>
                  <a:srgbClr val="F1F5F9"/>
                </a:solidFill>
                <a:latin typeface="Segoe UI" pitchFamily="34" charset="0"/>
                <a:ea typeface="Segoe UI" pitchFamily="34" charset="-122"/>
                <a:cs typeface="Segoe UI" pitchFamily="34" charset="-120"/>
              </a:rPr>
              <a:t>Multi-line Comments</a:t>
            </a:r>
            <a:endParaRPr lang="en-US" sz="1125" dirty="0"/>
          </a:p>
        </p:txBody>
      </p:sp>
      <p:sp>
        <p:nvSpPr>
          <p:cNvPr id="23" name="Shape 19"/>
          <p:cNvSpPr/>
          <p:nvPr/>
        </p:nvSpPr>
        <p:spPr>
          <a:xfrm>
            <a:off x="742950" y="3893344"/>
            <a:ext cx="3543300" cy="1557338"/>
          </a:xfrm>
          <a:prstGeom prst="rect">
            <a:avLst/>
          </a:prstGeom>
          <a:solidFill>
            <a:srgbClr val="1E293B">
              <a:alpha val="80000"/>
            </a:srgbClr>
          </a:solidFill>
          <a:ln w="99">
            <a:solidFill>
              <a:srgbClr val="60A5FA">
                <a:alpha val="30000"/>
              </a:srgbClr>
            </a:solidFill>
            <a:prstDash val="solid"/>
          </a:ln>
        </p:spPr>
      </p:sp>
      <p:sp>
        <p:nvSpPr>
          <p:cNvPr id="24" name="Text 20"/>
          <p:cNvSpPr/>
          <p:nvPr/>
        </p:nvSpPr>
        <p:spPr>
          <a:xfrm>
            <a:off x="828675" y="4034433"/>
            <a:ext cx="1717625" cy="96441"/>
          </a:xfrm>
          <a:prstGeom prst="rect">
            <a:avLst/>
          </a:prstGeom>
          <a:noFill/>
          <a:ln/>
        </p:spPr>
        <p:txBody>
          <a:bodyPr wrap="square" lIns="0" tIns="0" rIns="0" bIns="0" rtlCol="0" anchor="ctr">
            <a:spAutoFit/>
          </a:bodyPr>
          <a:lstStyle/>
          <a:p>
            <a:pPr indent="0" marL="0">
              <a:buNone/>
            </a:pPr>
            <a:r>
              <a:rPr lang="en-US" sz="675" dirty="0">
                <a:solidFill>
                  <a:srgbClr val="DBEAFE"/>
                </a:solidFill>
                <a:latin typeface="Consolas" pitchFamily="34" charset="0"/>
                <a:ea typeface="Consolas" pitchFamily="34" charset="-122"/>
                <a:cs typeface="Consolas" pitchFamily="34" charset="-120"/>
              </a:rPr>
              <a:t>/* This is a multi-line comment.</a:t>
            </a:r>
            <a:endParaRPr lang="en-US" sz="675" dirty="0"/>
          </a:p>
        </p:txBody>
      </p:sp>
      <p:sp>
        <p:nvSpPr>
          <p:cNvPr id="25" name="Text 21"/>
          <p:cNvSpPr/>
          <p:nvPr/>
        </p:nvSpPr>
        <p:spPr>
          <a:xfrm>
            <a:off x="828675" y="4205883"/>
            <a:ext cx="1563309" cy="96441"/>
          </a:xfrm>
          <a:prstGeom prst="rect">
            <a:avLst/>
          </a:prstGeom>
          <a:noFill/>
          <a:ln/>
        </p:spPr>
        <p:txBody>
          <a:bodyPr wrap="square" lIns="0" tIns="0" rIns="0" bIns="0" rtlCol="0" anchor="ctr">
            <a:spAutoFit/>
          </a:bodyPr>
          <a:lstStyle/>
          <a:p>
            <a:pPr indent="0" marL="0">
              <a:buNone/>
            </a:pPr>
            <a:r>
              <a:rPr lang="en-US" sz="675" dirty="0">
                <a:solidFill>
                  <a:srgbClr val="DBEAFE"/>
                </a:solidFill>
                <a:latin typeface="Consolas" pitchFamily="34" charset="0"/>
                <a:ea typeface="Consolas" pitchFamily="34" charset="-122"/>
                <a:cs typeface="Consolas" pitchFamily="34" charset="-120"/>
              </a:rPr>
              <a:t>* It can span multiple lines.</a:t>
            </a:r>
            <a:endParaRPr lang="en-US" sz="675" dirty="0"/>
          </a:p>
        </p:txBody>
      </p:sp>
      <p:sp>
        <p:nvSpPr>
          <p:cNvPr id="26" name="Text 22"/>
          <p:cNvSpPr/>
          <p:nvPr/>
        </p:nvSpPr>
        <p:spPr>
          <a:xfrm>
            <a:off x="828675" y="4377333"/>
            <a:ext cx="2386403" cy="96441"/>
          </a:xfrm>
          <a:prstGeom prst="rect">
            <a:avLst/>
          </a:prstGeom>
          <a:noFill/>
          <a:ln/>
        </p:spPr>
        <p:txBody>
          <a:bodyPr wrap="square" lIns="0" tIns="0" rIns="0" bIns="0" rtlCol="0" anchor="ctr">
            <a:spAutoFit/>
          </a:bodyPr>
          <a:lstStyle/>
          <a:p>
            <a:pPr indent="0" marL="0">
              <a:buNone/>
            </a:pPr>
            <a:r>
              <a:rPr lang="en-US" sz="675" dirty="0">
                <a:solidFill>
                  <a:srgbClr val="DBEAFE"/>
                </a:solidFill>
                <a:latin typeface="Consolas" pitchFamily="34" charset="0"/>
                <a:ea typeface="Consolas" pitchFamily="34" charset="-122"/>
                <a:cs typeface="Consolas" pitchFamily="34" charset="-120"/>
              </a:rPr>
              <a:t>* The asterisks at the beginning of each line</a:t>
            </a:r>
            <a:endParaRPr lang="en-US" sz="675" dirty="0"/>
          </a:p>
        </p:txBody>
      </p:sp>
      <p:sp>
        <p:nvSpPr>
          <p:cNvPr id="27" name="Text 23"/>
          <p:cNvSpPr/>
          <p:nvPr/>
        </p:nvSpPr>
        <p:spPr>
          <a:xfrm>
            <a:off x="828675" y="4548783"/>
            <a:ext cx="2592177" cy="96441"/>
          </a:xfrm>
          <a:prstGeom prst="rect">
            <a:avLst/>
          </a:prstGeom>
          <a:noFill/>
          <a:ln/>
        </p:spPr>
        <p:txBody>
          <a:bodyPr wrap="square" lIns="0" tIns="0" rIns="0" bIns="0" rtlCol="0" anchor="ctr">
            <a:spAutoFit/>
          </a:bodyPr>
          <a:lstStyle/>
          <a:p>
            <a:pPr indent="0" marL="0">
              <a:buNone/>
            </a:pPr>
            <a:r>
              <a:rPr lang="en-US" sz="675" dirty="0">
                <a:solidFill>
                  <a:srgbClr val="DBEAFE"/>
                </a:solidFill>
                <a:latin typeface="Consolas" pitchFamily="34" charset="0"/>
                <a:ea typeface="Consolas" pitchFamily="34" charset="-122"/>
                <a:cs typeface="Consolas" pitchFamily="34" charset="-120"/>
              </a:rPr>
              <a:t>* are not required, but they improve readability.</a:t>
            </a:r>
            <a:endParaRPr lang="en-US" sz="675" dirty="0"/>
          </a:p>
        </p:txBody>
      </p:sp>
      <p:sp>
        <p:nvSpPr>
          <p:cNvPr id="28" name="Text 24"/>
          <p:cNvSpPr/>
          <p:nvPr/>
        </p:nvSpPr>
        <p:spPr>
          <a:xfrm>
            <a:off x="828675" y="4720233"/>
            <a:ext cx="174324" cy="96441"/>
          </a:xfrm>
          <a:prstGeom prst="rect">
            <a:avLst/>
          </a:prstGeom>
          <a:noFill/>
          <a:ln/>
        </p:spPr>
        <p:txBody>
          <a:bodyPr wrap="none" lIns="0" tIns="0" rIns="0" bIns="0" rtlCol="0" anchor="ctr">
            <a:spAutoFit/>
          </a:bodyPr>
          <a:lstStyle/>
          <a:p>
            <a:pPr indent="0" marL="0">
              <a:buNone/>
            </a:pPr>
            <a:r>
              <a:rPr lang="en-US" sz="675" dirty="0">
                <a:solidFill>
                  <a:srgbClr val="DBEAFE"/>
                </a:solidFill>
                <a:latin typeface="Consolas" pitchFamily="34" charset="0"/>
                <a:ea typeface="Consolas" pitchFamily="34" charset="-122"/>
                <a:cs typeface="Consolas" pitchFamily="34" charset="-120"/>
              </a:rPr>
              <a:t>*/</a:t>
            </a:r>
            <a:endParaRPr lang="en-US" sz="675" dirty="0"/>
          </a:p>
        </p:txBody>
      </p:sp>
      <p:sp>
        <p:nvSpPr>
          <p:cNvPr id="29" name="Text 25"/>
          <p:cNvSpPr/>
          <p:nvPr/>
        </p:nvSpPr>
        <p:spPr>
          <a:xfrm>
            <a:off x="828675" y="5063133"/>
            <a:ext cx="1974856" cy="96441"/>
          </a:xfrm>
          <a:prstGeom prst="rect">
            <a:avLst/>
          </a:prstGeom>
          <a:noFill/>
          <a:ln/>
        </p:spPr>
        <p:txBody>
          <a:bodyPr wrap="square" lIns="0" tIns="0" rIns="0" bIns="0" rtlCol="0" anchor="ctr">
            <a:spAutoFit/>
          </a:bodyPr>
          <a:lstStyle/>
          <a:p>
            <a:pPr indent="0" marL="0">
              <a:buNone/>
            </a:pPr>
            <a:r>
              <a:rPr lang="en-US" sz="675" dirty="0">
                <a:solidFill>
                  <a:srgbClr val="DBEAFE"/>
                </a:solidFill>
                <a:latin typeface="Consolas" pitchFamily="34" charset="0"/>
                <a:ea typeface="Consolas" pitchFamily="34" charset="-122"/>
                <a:cs typeface="Consolas" pitchFamily="34" charset="-120"/>
              </a:rPr>
              <a:t>int total = 100; /* This is an inline</a:t>
            </a:r>
            <a:endParaRPr lang="en-US" sz="675" dirty="0"/>
          </a:p>
        </p:txBody>
      </p:sp>
      <p:sp>
        <p:nvSpPr>
          <p:cNvPr id="30" name="Text 26"/>
          <p:cNvSpPr/>
          <p:nvPr/>
        </p:nvSpPr>
        <p:spPr>
          <a:xfrm>
            <a:off x="828675" y="5234583"/>
            <a:ext cx="1923399" cy="96441"/>
          </a:xfrm>
          <a:prstGeom prst="rect">
            <a:avLst/>
          </a:prstGeom>
          <a:noFill/>
          <a:ln/>
        </p:spPr>
        <p:txBody>
          <a:bodyPr wrap="square" lIns="0" tIns="0" rIns="0" bIns="0" rtlCol="0" anchor="ctr">
            <a:spAutoFit/>
          </a:bodyPr>
          <a:lstStyle/>
          <a:p>
            <a:pPr indent="0" marL="0">
              <a:buNone/>
            </a:pPr>
            <a:r>
              <a:rPr lang="en-US" sz="675" dirty="0">
                <a:solidFill>
                  <a:srgbClr val="DBEAFE"/>
                </a:solidFill>
                <a:latin typeface="Consolas" pitchFamily="34" charset="0"/>
                <a:ea typeface="Consolas" pitchFamily="34" charset="-122"/>
                <a:cs typeface="Consolas" pitchFamily="34" charset="-120"/>
              </a:rPr>
              <a:t>multi-line comment */ int count = 5;</a:t>
            </a:r>
            <a:endParaRPr lang="en-US" sz="675" dirty="0"/>
          </a:p>
        </p:txBody>
      </p:sp>
      <p:pic>
        <p:nvPicPr>
          <p:cNvPr id="31" name="Image 2" descr="preencoded.png">    </p:cNvPr>
          <p:cNvPicPr>
            <a:picLocks noChangeAspect="1"/>
          </p:cNvPicPr>
          <p:nvPr/>
        </p:nvPicPr>
        <p:blipFill>
          <a:blip r:embed="rId3"/>
          <a:stretch>
            <a:fillRect/>
          </a:stretch>
        </p:blipFill>
        <p:spPr>
          <a:xfrm>
            <a:off x="742950" y="5511403"/>
            <a:ext cx="100013" cy="100013"/>
          </a:xfrm>
          <a:prstGeom prst="rect">
            <a:avLst/>
          </a:prstGeom>
        </p:spPr>
      </p:pic>
      <p:sp>
        <p:nvSpPr>
          <p:cNvPr id="32" name="Text 27"/>
          <p:cNvSpPr/>
          <p:nvPr/>
        </p:nvSpPr>
        <p:spPr>
          <a:xfrm>
            <a:off x="900113" y="5507831"/>
            <a:ext cx="1444182" cy="112514"/>
          </a:xfrm>
          <a:prstGeom prst="rect">
            <a:avLst/>
          </a:prstGeom>
          <a:noFill/>
          <a:ln/>
        </p:spPr>
        <p:txBody>
          <a:bodyPr wrap="square" lIns="0" tIns="0" rIns="0" bIns="0" rtlCol="0" anchor="ctr">
            <a:spAutoFit/>
          </a:bodyPr>
          <a:lstStyle/>
          <a:p>
            <a:pPr indent="0" marL="0">
              <a:buNone/>
            </a:pPr>
            <a:r>
              <a:rPr lang="en-US" sz="788" dirty="0">
                <a:solidFill>
                  <a:srgbClr val="F1F5F9"/>
                </a:solidFill>
                <a:latin typeface="Segoe UI" pitchFamily="34" charset="0"/>
                <a:ea typeface="Segoe UI" pitchFamily="34" charset="-122"/>
                <a:cs typeface="Segoe UI" pitchFamily="34" charset="-120"/>
              </a:rPr>
              <a:t>Multi-line comments start with</a:t>
            </a:r>
            <a:endParaRPr lang="en-US" sz="788" dirty="0"/>
          </a:p>
        </p:txBody>
      </p:sp>
      <p:sp>
        <p:nvSpPr>
          <p:cNvPr id="33" name="Text 28"/>
          <p:cNvSpPr/>
          <p:nvPr/>
        </p:nvSpPr>
        <p:spPr>
          <a:xfrm>
            <a:off x="2272857" y="5514975"/>
            <a:ext cx="191486" cy="114300"/>
          </a:xfrm>
          <a:prstGeom prst="rect">
            <a:avLst/>
          </a:prstGeom>
          <a:noFill/>
          <a:ln/>
        </p:spPr>
        <p:txBody>
          <a:bodyPr wrap="none" lIns="0" tIns="0" rIns="0" bIns="0" rtlCol="0" anchor="ctr">
            <a:spAutoFit/>
          </a:bodyPr>
          <a:lstStyle/>
          <a:p>
            <a:pPr indent="0" marL="0">
              <a:buNone/>
            </a:pPr>
            <a:r>
              <a:rPr lang="en-US" sz="788" dirty="0">
                <a:solidFill>
                  <a:srgbClr val="DBEAFE"/>
                </a:solidFill>
                <a:latin typeface="Consolas" pitchFamily="34" charset="0"/>
                <a:ea typeface="Consolas" pitchFamily="34" charset="-122"/>
                <a:cs typeface="Consolas" pitchFamily="34" charset="-120"/>
              </a:rPr>
              <a:t>/*</a:t>
            </a:r>
            <a:endParaRPr lang="en-US" sz="788" dirty="0"/>
          </a:p>
        </p:txBody>
      </p:sp>
      <p:sp>
        <p:nvSpPr>
          <p:cNvPr id="34" name="Text 29"/>
          <p:cNvSpPr/>
          <p:nvPr/>
        </p:nvSpPr>
        <p:spPr>
          <a:xfrm>
            <a:off x="2392905" y="5507831"/>
            <a:ext cx="694172" cy="112514"/>
          </a:xfrm>
          <a:prstGeom prst="rect">
            <a:avLst/>
          </a:prstGeom>
          <a:noFill/>
          <a:ln/>
        </p:spPr>
        <p:txBody>
          <a:bodyPr wrap="none" lIns="0" tIns="0" rIns="0" bIns="0" rtlCol="0" anchor="ctr">
            <a:spAutoFit/>
          </a:bodyPr>
          <a:lstStyle/>
          <a:p>
            <a:pPr indent="0" marL="0">
              <a:buNone/>
            </a:pPr>
            <a:r>
              <a:rPr lang="en-US" sz="788" dirty="0">
                <a:solidFill>
                  <a:srgbClr val="F1F5F9"/>
                </a:solidFill>
                <a:latin typeface="Segoe UI" pitchFamily="34" charset="0"/>
                <a:ea typeface="Segoe UI" pitchFamily="34" charset="-122"/>
                <a:cs typeface="Segoe UI" pitchFamily="34" charset="-120"/>
              </a:rPr>
              <a:t>and end with</a:t>
            </a:r>
            <a:endParaRPr lang="en-US" sz="788" dirty="0"/>
          </a:p>
        </p:txBody>
      </p:sp>
      <p:sp>
        <p:nvSpPr>
          <p:cNvPr id="35" name="Text 30"/>
          <p:cNvSpPr/>
          <p:nvPr/>
        </p:nvSpPr>
        <p:spPr>
          <a:xfrm>
            <a:off x="3015639" y="5514975"/>
            <a:ext cx="191486" cy="114300"/>
          </a:xfrm>
          <a:prstGeom prst="rect">
            <a:avLst/>
          </a:prstGeom>
          <a:noFill/>
          <a:ln/>
        </p:spPr>
        <p:txBody>
          <a:bodyPr wrap="none" lIns="0" tIns="0" rIns="0" bIns="0" rtlCol="0" anchor="ctr">
            <a:spAutoFit/>
          </a:bodyPr>
          <a:lstStyle/>
          <a:p>
            <a:pPr indent="0" marL="0">
              <a:buNone/>
            </a:pPr>
            <a:r>
              <a:rPr lang="en-US" sz="788" dirty="0">
                <a:solidFill>
                  <a:srgbClr val="DBEAFE"/>
                </a:solidFill>
                <a:latin typeface="Consolas" pitchFamily="34" charset="0"/>
                <a:ea typeface="Consolas" pitchFamily="34" charset="-122"/>
                <a:cs typeface="Consolas" pitchFamily="34" charset="-120"/>
              </a:rPr>
              <a:t>*/</a:t>
            </a:r>
            <a:endParaRPr lang="en-US" sz="788" dirty="0"/>
          </a:p>
        </p:txBody>
      </p:sp>
      <p:sp>
        <p:nvSpPr>
          <p:cNvPr id="36" name="Text 31"/>
          <p:cNvSpPr/>
          <p:nvPr/>
        </p:nvSpPr>
        <p:spPr>
          <a:xfrm>
            <a:off x="3135688" y="5507831"/>
            <a:ext cx="99231" cy="112514"/>
          </a:xfrm>
          <a:prstGeom prst="rect">
            <a:avLst/>
          </a:prstGeom>
          <a:noFill/>
          <a:ln/>
        </p:spPr>
        <p:txBody>
          <a:bodyPr wrap="none" lIns="0" tIns="0" rIns="0" bIns="0" rtlCol="0" anchor="ctr">
            <a:spAutoFit/>
          </a:bodyPr>
          <a:lstStyle/>
          <a:p>
            <a:pPr indent="0" marL="0">
              <a:buNone/>
            </a:pPr>
            <a:r>
              <a:rPr lang="en-US" sz="788" dirty="0">
                <a:solidFill>
                  <a:srgbClr val="F1F5F9"/>
                </a:solidFill>
                <a:latin typeface="Segoe UI" pitchFamily="34" charset="0"/>
                <a:ea typeface="Segoe UI" pitchFamily="34" charset="-122"/>
                <a:cs typeface="Segoe UI" pitchFamily="34" charset="-120"/>
              </a:rPr>
              <a:t>.</a:t>
            </a:r>
            <a:endParaRPr lang="en-US" sz="788" dirty="0"/>
          </a:p>
        </p:txBody>
      </p:sp>
      <p:sp>
        <p:nvSpPr>
          <p:cNvPr id="37" name="Shape 32"/>
          <p:cNvSpPr/>
          <p:nvPr/>
        </p:nvSpPr>
        <p:spPr>
          <a:xfrm>
            <a:off x="628650" y="5843588"/>
            <a:ext cx="3657600" cy="3336131"/>
          </a:xfrm>
          <a:prstGeom prst="rect">
            <a:avLst/>
          </a:prstGeom>
          <a:solidFill>
            <a:srgbClr val="1E3A8A">
              <a:alpha val="30000"/>
            </a:srgbClr>
          </a:solidFill>
          <a:ln/>
        </p:spPr>
      </p:sp>
      <p:sp>
        <p:nvSpPr>
          <p:cNvPr id="38" name="Shape 33"/>
          <p:cNvSpPr/>
          <p:nvPr/>
        </p:nvSpPr>
        <p:spPr>
          <a:xfrm>
            <a:off x="628650" y="5843588"/>
            <a:ext cx="28575" cy="3336131"/>
          </a:xfrm>
          <a:prstGeom prst="rect">
            <a:avLst/>
          </a:prstGeom>
          <a:solidFill>
            <a:srgbClr val="60A5FA"/>
          </a:solidFill>
          <a:ln/>
        </p:spPr>
      </p:sp>
      <p:sp>
        <p:nvSpPr>
          <p:cNvPr id="39" name="Text 34"/>
          <p:cNvSpPr/>
          <p:nvPr/>
        </p:nvSpPr>
        <p:spPr>
          <a:xfrm>
            <a:off x="742950" y="5929313"/>
            <a:ext cx="3614738" cy="200025"/>
          </a:xfrm>
          <a:prstGeom prst="rect">
            <a:avLst/>
          </a:prstGeom>
          <a:noFill/>
          <a:ln/>
        </p:spPr>
        <p:txBody>
          <a:bodyPr wrap="square" lIns="0" tIns="0" rIns="0" bIns="0" rtlCol="0" anchor="ctr">
            <a:spAutoFit/>
          </a:bodyPr>
          <a:lstStyle/>
          <a:p>
            <a:pPr indent="0" marL="0">
              <a:buNone/>
            </a:pPr>
            <a:r>
              <a:rPr lang="en-US" sz="1125" b="1" dirty="0">
                <a:solidFill>
                  <a:srgbClr val="F1F5F9"/>
                </a:solidFill>
                <a:latin typeface="Segoe UI" pitchFamily="34" charset="0"/>
                <a:ea typeface="Segoe UI" pitchFamily="34" charset="-122"/>
                <a:cs typeface="Segoe UI" pitchFamily="34" charset="-120"/>
              </a:rPr>
              <a:t>Javadoc Comments</a:t>
            </a:r>
            <a:endParaRPr lang="en-US" sz="1125" dirty="0"/>
          </a:p>
        </p:txBody>
      </p:sp>
      <p:sp>
        <p:nvSpPr>
          <p:cNvPr id="40" name="Shape 35"/>
          <p:cNvSpPr/>
          <p:nvPr/>
        </p:nvSpPr>
        <p:spPr>
          <a:xfrm>
            <a:off x="742950" y="6157913"/>
            <a:ext cx="3543300" cy="2586038"/>
          </a:xfrm>
          <a:prstGeom prst="rect">
            <a:avLst/>
          </a:prstGeom>
          <a:solidFill>
            <a:srgbClr val="1E293B">
              <a:alpha val="80000"/>
            </a:srgbClr>
          </a:solidFill>
          <a:ln w="99">
            <a:solidFill>
              <a:srgbClr val="60A5FA">
                <a:alpha val="30000"/>
              </a:srgbClr>
            </a:solidFill>
            <a:prstDash val="solid"/>
          </a:ln>
        </p:spPr>
      </p:sp>
      <p:sp>
        <p:nvSpPr>
          <p:cNvPr id="41" name="Text 36"/>
          <p:cNvSpPr/>
          <p:nvPr/>
        </p:nvSpPr>
        <p:spPr>
          <a:xfrm>
            <a:off x="828675" y="6299002"/>
            <a:ext cx="225782" cy="96441"/>
          </a:xfrm>
          <a:prstGeom prst="rect">
            <a:avLst/>
          </a:prstGeom>
          <a:noFill/>
          <a:ln/>
        </p:spPr>
        <p:txBody>
          <a:bodyPr wrap="none" lIns="0" tIns="0" rIns="0" bIns="0" rtlCol="0" anchor="ctr">
            <a:spAutoFit/>
          </a:bodyPr>
          <a:lstStyle/>
          <a:p>
            <a:pPr indent="0" marL="0">
              <a:buNone/>
            </a:pPr>
            <a:r>
              <a:rPr lang="en-US" sz="675" dirty="0">
                <a:solidFill>
                  <a:srgbClr val="DBEAFE"/>
                </a:solidFill>
                <a:latin typeface="Consolas" pitchFamily="34" charset="0"/>
                <a:ea typeface="Consolas" pitchFamily="34" charset="-122"/>
                <a:cs typeface="Consolas" pitchFamily="34" charset="-120"/>
              </a:rPr>
              <a:t>/**</a:t>
            </a:r>
            <a:endParaRPr lang="en-US" sz="675" dirty="0"/>
          </a:p>
        </p:txBody>
      </p:sp>
      <p:sp>
        <p:nvSpPr>
          <p:cNvPr id="42" name="Text 37"/>
          <p:cNvSpPr/>
          <p:nvPr/>
        </p:nvSpPr>
        <p:spPr>
          <a:xfrm>
            <a:off x="828675" y="6470452"/>
            <a:ext cx="1511852" cy="96441"/>
          </a:xfrm>
          <a:prstGeom prst="rect">
            <a:avLst/>
          </a:prstGeom>
          <a:noFill/>
          <a:ln/>
        </p:spPr>
        <p:txBody>
          <a:bodyPr wrap="square" lIns="0" tIns="0" rIns="0" bIns="0" rtlCol="0" anchor="ctr">
            <a:spAutoFit/>
          </a:bodyPr>
          <a:lstStyle/>
          <a:p>
            <a:pPr indent="0" marL="0">
              <a:buNone/>
            </a:pPr>
            <a:r>
              <a:rPr lang="en-US" sz="675" dirty="0">
                <a:solidFill>
                  <a:srgbClr val="DBEAFE"/>
                </a:solidFill>
                <a:latin typeface="Consolas" pitchFamily="34" charset="0"/>
                <a:ea typeface="Consolas" pitchFamily="34" charset="-122"/>
                <a:cs typeface="Consolas" pitchFamily="34" charset="-120"/>
              </a:rPr>
              <a:t>* This is a Javadoc comment.</a:t>
            </a:r>
            <a:endParaRPr lang="en-US" sz="675" dirty="0"/>
          </a:p>
        </p:txBody>
      </p:sp>
      <p:sp>
        <p:nvSpPr>
          <p:cNvPr id="43" name="Text 38"/>
          <p:cNvSpPr/>
          <p:nvPr/>
        </p:nvSpPr>
        <p:spPr>
          <a:xfrm>
            <a:off x="828675" y="6641902"/>
            <a:ext cx="2077743" cy="96441"/>
          </a:xfrm>
          <a:prstGeom prst="rect">
            <a:avLst/>
          </a:prstGeom>
          <a:noFill/>
          <a:ln/>
        </p:spPr>
        <p:txBody>
          <a:bodyPr wrap="square" lIns="0" tIns="0" rIns="0" bIns="0" rtlCol="0" anchor="ctr">
            <a:spAutoFit/>
          </a:bodyPr>
          <a:lstStyle/>
          <a:p>
            <a:pPr indent="0" marL="0">
              <a:buNone/>
            </a:pPr>
            <a:r>
              <a:rPr lang="en-US" sz="675" dirty="0">
                <a:solidFill>
                  <a:srgbClr val="DBEAFE"/>
                </a:solidFill>
                <a:latin typeface="Consolas" pitchFamily="34" charset="0"/>
                <a:ea typeface="Consolas" pitchFamily="34" charset="-122"/>
                <a:cs typeface="Consolas" pitchFamily="34" charset="-120"/>
              </a:rPr>
              <a:t>* It is used to generate documentation.</a:t>
            </a:r>
            <a:endParaRPr lang="en-US" sz="675" dirty="0"/>
          </a:p>
        </p:txBody>
      </p:sp>
      <p:sp>
        <p:nvSpPr>
          <p:cNvPr id="44" name="Text 39"/>
          <p:cNvSpPr/>
          <p:nvPr/>
        </p:nvSpPr>
        <p:spPr>
          <a:xfrm>
            <a:off x="828675" y="6813352"/>
            <a:ext cx="122895" cy="96441"/>
          </a:xfrm>
          <a:prstGeom prst="rect">
            <a:avLst/>
          </a:prstGeom>
          <a:noFill/>
          <a:ln/>
        </p:spPr>
        <p:txBody>
          <a:bodyPr wrap="none" lIns="0" tIns="0" rIns="0" bIns="0" rtlCol="0" anchor="ctr">
            <a:spAutoFit/>
          </a:bodyPr>
          <a:lstStyle/>
          <a:p>
            <a:pPr indent="0" marL="0">
              <a:buNone/>
            </a:pPr>
            <a:r>
              <a:rPr lang="en-US" sz="675" dirty="0">
                <a:solidFill>
                  <a:srgbClr val="DBEAFE"/>
                </a:solidFill>
                <a:latin typeface="Consolas" pitchFamily="34" charset="0"/>
                <a:ea typeface="Consolas" pitchFamily="34" charset="-122"/>
                <a:cs typeface="Consolas" pitchFamily="34" charset="-120"/>
              </a:rPr>
              <a:t>*</a:t>
            </a:r>
            <a:endParaRPr lang="en-US" sz="675" dirty="0"/>
          </a:p>
        </p:txBody>
      </p:sp>
      <p:sp>
        <p:nvSpPr>
          <p:cNvPr id="45" name="Text 40"/>
          <p:cNvSpPr/>
          <p:nvPr/>
        </p:nvSpPr>
        <p:spPr>
          <a:xfrm>
            <a:off x="828675" y="6984802"/>
            <a:ext cx="1923399" cy="96441"/>
          </a:xfrm>
          <a:prstGeom prst="rect">
            <a:avLst/>
          </a:prstGeom>
          <a:noFill/>
          <a:ln/>
        </p:spPr>
        <p:txBody>
          <a:bodyPr wrap="square" lIns="0" tIns="0" rIns="0" bIns="0" rtlCol="0" anchor="ctr">
            <a:spAutoFit/>
          </a:bodyPr>
          <a:lstStyle/>
          <a:p>
            <a:pPr indent="0" marL="0">
              <a:buNone/>
            </a:pPr>
            <a:r>
              <a:rPr lang="en-US" sz="675" dirty="0">
                <a:solidFill>
                  <a:srgbClr val="DBEAFE"/>
                </a:solidFill>
                <a:latin typeface="Consolas" pitchFamily="34" charset="0"/>
                <a:ea typeface="Consolas" pitchFamily="34" charset="-122"/>
                <a:cs typeface="Consolas" pitchFamily="34" charset="-120"/>
              </a:rPr>
              <a:t>* @param name The name of the person</a:t>
            </a:r>
            <a:endParaRPr lang="en-US" sz="675" dirty="0"/>
          </a:p>
        </p:txBody>
      </p:sp>
      <p:sp>
        <p:nvSpPr>
          <p:cNvPr id="46" name="Text 41"/>
          <p:cNvSpPr/>
          <p:nvPr/>
        </p:nvSpPr>
        <p:spPr>
          <a:xfrm>
            <a:off x="828675" y="7156252"/>
            <a:ext cx="1511852" cy="96441"/>
          </a:xfrm>
          <a:prstGeom prst="rect">
            <a:avLst/>
          </a:prstGeom>
          <a:noFill/>
          <a:ln/>
        </p:spPr>
        <p:txBody>
          <a:bodyPr wrap="square" lIns="0" tIns="0" rIns="0" bIns="0" rtlCol="0" anchor="ctr">
            <a:spAutoFit/>
          </a:bodyPr>
          <a:lstStyle/>
          <a:p>
            <a:pPr indent="0" marL="0">
              <a:buNone/>
            </a:pPr>
            <a:r>
              <a:rPr lang="en-US" sz="675" dirty="0">
                <a:solidFill>
                  <a:srgbClr val="DBEAFE"/>
                </a:solidFill>
                <a:latin typeface="Consolas" pitchFamily="34" charset="0"/>
                <a:ea typeface="Consolas" pitchFamily="34" charset="-122"/>
                <a:cs typeface="Consolas" pitchFamily="34" charset="-120"/>
              </a:rPr>
              <a:t>* @return A greeting message</a:t>
            </a:r>
            <a:endParaRPr lang="en-US" sz="675" dirty="0"/>
          </a:p>
        </p:txBody>
      </p:sp>
      <p:sp>
        <p:nvSpPr>
          <p:cNvPr id="47" name="Text 42"/>
          <p:cNvSpPr/>
          <p:nvPr/>
        </p:nvSpPr>
        <p:spPr>
          <a:xfrm>
            <a:off x="828675" y="7327702"/>
            <a:ext cx="2695063" cy="96441"/>
          </a:xfrm>
          <a:prstGeom prst="rect">
            <a:avLst/>
          </a:prstGeom>
          <a:noFill/>
          <a:ln/>
        </p:spPr>
        <p:txBody>
          <a:bodyPr wrap="square" lIns="0" tIns="0" rIns="0" bIns="0" rtlCol="0" anchor="ctr">
            <a:spAutoFit/>
          </a:bodyPr>
          <a:lstStyle/>
          <a:p>
            <a:pPr indent="0" marL="0">
              <a:buNone/>
            </a:pPr>
            <a:r>
              <a:rPr lang="en-US" sz="675" dirty="0">
                <a:solidFill>
                  <a:srgbClr val="DBEAFE"/>
                </a:solidFill>
                <a:latin typeface="Consolas" pitchFamily="34" charset="0"/>
                <a:ea typeface="Consolas" pitchFamily="34" charset="-122"/>
                <a:cs typeface="Consolas" pitchFamily="34" charset="-120"/>
              </a:rPr>
              <a:t>* @throws IllegalArgumentException If name is empty</a:t>
            </a:r>
            <a:endParaRPr lang="en-US" sz="675" dirty="0"/>
          </a:p>
        </p:txBody>
      </p:sp>
      <p:sp>
        <p:nvSpPr>
          <p:cNvPr id="48" name="Text 43"/>
          <p:cNvSpPr/>
          <p:nvPr/>
        </p:nvSpPr>
        <p:spPr>
          <a:xfrm>
            <a:off x="828675" y="7499152"/>
            <a:ext cx="174324" cy="96441"/>
          </a:xfrm>
          <a:prstGeom prst="rect">
            <a:avLst/>
          </a:prstGeom>
          <a:noFill/>
          <a:ln/>
        </p:spPr>
        <p:txBody>
          <a:bodyPr wrap="none" lIns="0" tIns="0" rIns="0" bIns="0" rtlCol="0" anchor="ctr">
            <a:spAutoFit/>
          </a:bodyPr>
          <a:lstStyle/>
          <a:p>
            <a:pPr indent="0" marL="0">
              <a:buNone/>
            </a:pPr>
            <a:r>
              <a:rPr lang="en-US" sz="675" dirty="0">
                <a:solidFill>
                  <a:srgbClr val="DBEAFE"/>
                </a:solidFill>
                <a:latin typeface="Consolas" pitchFamily="34" charset="0"/>
                <a:ea typeface="Consolas" pitchFamily="34" charset="-122"/>
                <a:cs typeface="Consolas" pitchFamily="34" charset="-120"/>
              </a:rPr>
              <a:t>*/</a:t>
            </a:r>
            <a:endParaRPr lang="en-US" sz="675" dirty="0"/>
          </a:p>
        </p:txBody>
      </p:sp>
      <p:sp>
        <p:nvSpPr>
          <p:cNvPr id="49" name="Text 44"/>
          <p:cNvSpPr/>
          <p:nvPr/>
        </p:nvSpPr>
        <p:spPr>
          <a:xfrm>
            <a:off x="828675" y="7670602"/>
            <a:ext cx="1820512" cy="96441"/>
          </a:xfrm>
          <a:prstGeom prst="rect">
            <a:avLst/>
          </a:prstGeom>
          <a:noFill/>
          <a:ln/>
        </p:spPr>
        <p:txBody>
          <a:bodyPr wrap="square" lIns="0" tIns="0" rIns="0" bIns="0" rtlCol="0" anchor="ctr">
            <a:spAutoFit/>
          </a:bodyPr>
          <a:lstStyle/>
          <a:p>
            <a:pPr indent="0" marL="0">
              <a:buNone/>
            </a:pPr>
            <a:r>
              <a:rPr lang="en-US" sz="675" dirty="0">
                <a:solidFill>
                  <a:srgbClr val="DBEAFE"/>
                </a:solidFill>
                <a:latin typeface="Consolas" pitchFamily="34" charset="0"/>
                <a:ea typeface="Consolas" pitchFamily="34" charset="-122"/>
                <a:cs typeface="Consolas" pitchFamily="34" charset="-120"/>
              </a:rPr>
              <a:t>public String greet(String name) {</a:t>
            </a:r>
            <a:endParaRPr lang="en-US" sz="675" dirty="0"/>
          </a:p>
        </p:txBody>
      </p:sp>
      <p:sp>
        <p:nvSpPr>
          <p:cNvPr id="50" name="Text 45"/>
          <p:cNvSpPr/>
          <p:nvPr/>
        </p:nvSpPr>
        <p:spPr>
          <a:xfrm>
            <a:off x="828675" y="7842052"/>
            <a:ext cx="1254649" cy="96441"/>
          </a:xfrm>
          <a:prstGeom prst="rect">
            <a:avLst/>
          </a:prstGeom>
          <a:noFill/>
          <a:ln/>
        </p:spPr>
        <p:txBody>
          <a:bodyPr wrap="none" lIns="0" tIns="0" rIns="0" bIns="0" rtlCol="0" anchor="ctr">
            <a:spAutoFit/>
          </a:bodyPr>
          <a:lstStyle/>
          <a:p>
            <a:pPr indent="0" marL="0">
              <a:buNone/>
            </a:pPr>
            <a:r>
              <a:rPr lang="en-US" sz="675" dirty="0">
                <a:solidFill>
                  <a:srgbClr val="DBEAFE"/>
                </a:solidFill>
                <a:latin typeface="Consolas" pitchFamily="34" charset="0"/>
                <a:ea typeface="Consolas" pitchFamily="34" charset="-122"/>
                <a:cs typeface="Consolas" pitchFamily="34" charset="-120"/>
              </a:rPr>
              <a:t>if (name.isEmpty()) {</a:t>
            </a:r>
            <a:endParaRPr lang="en-US" sz="675" dirty="0"/>
          </a:p>
        </p:txBody>
      </p:sp>
      <p:sp>
        <p:nvSpPr>
          <p:cNvPr id="51" name="Text 46"/>
          <p:cNvSpPr/>
          <p:nvPr/>
        </p:nvSpPr>
        <p:spPr>
          <a:xfrm>
            <a:off x="828675" y="8013502"/>
            <a:ext cx="3312384" cy="96441"/>
          </a:xfrm>
          <a:prstGeom prst="rect">
            <a:avLst/>
          </a:prstGeom>
          <a:noFill/>
          <a:ln/>
        </p:spPr>
        <p:txBody>
          <a:bodyPr wrap="square" lIns="0" tIns="0" rIns="0" bIns="0" rtlCol="0" anchor="ctr">
            <a:spAutoFit/>
          </a:bodyPr>
          <a:lstStyle/>
          <a:p>
            <a:pPr indent="0" marL="0">
              <a:buNone/>
            </a:pPr>
            <a:r>
              <a:rPr lang="en-US" sz="675" dirty="0">
                <a:solidFill>
                  <a:srgbClr val="DBEAFE"/>
                </a:solidFill>
                <a:latin typeface="Consolas" pitchFamily="34" charset="0"/>
                <a:ea typeface="Consolas" pitchFamily="34" charset="-122"/>
                <a:cs typeface="Consolas" pitchFamily="34" charset="-120"/>
              </a:rPr>
              <a:t>throw new IllegalArgumentException("Name cannot be empty");</a:t>
            </a:r>
            <a:endParaRPr lang="en-US" sz="675" dirty="0"/>
          </a:p>
        </p:txBody>
      </p:sp>
      <p:sp>
        <p:nvSpPr>
          <p:cNvPr id="52" name="Text 47"/>
          <p:cNvSpPr/>
          <p:nvPr/>
        </p:nvSpPr>
        <p:spPr>
          <a:xfrm>
            <a:off x="828675" y="8184952"/>
            <a:ext cx="225782" cy="96441"/>
          </a:xfrm>
          <a:prstGeom prst="rect">
            <a:avLst/>
          </a:prstGeom>
          <a:noFill/>
          <a:ln/>
        </p:spPr>
        <p:txBody>
          <a:bodyPr wrap="none" lIns="0" tIns="0" rIns="0" bIns="0" rtlCol="0" anchor="ctr">
            <a:spAutoFit/>
          </a:bodyPr>
          <a:lstStyle/>
          <a:p>
            <a:pPr indent="0" marL="0">
              <a:buNone/>
            </a:pPr>
            <a:r>
              <a:rPr lang="en-US" sz="675" dirty="0">
                <a:solidFill>
                  <a:srgbClr val="DBEAFE"/>
                </a:solidFill>
                <a:latin typeface="Consolas" pitchFamily="34" charset="0"/>
                <a:ea typeface="Consolas" pitchFamily="34" charset="-122"/>
                <a:cs typeface="Consolas" pitchFamily="34" charset="-120"/>
              </a:rPr>
              <a:t>}</a:t>
            </a:r>
            <a:endParaRPr lang="en-US" sz="675" dirty="0"/>
          </a:p>
        </p:txBody>
      </p:sp>
      <p:sp>
        <p:nvSpPr>
          <p:cNvPr id="53" name="Text 48"/>
          <p:cNvSpPr/>
          <p:nvPr/>
        </p:nvSpPr>
        <p:spPr>
          <a:xfrm>
            <a:off x="828675" y="8356402"/>
            <a:ext cx="1717625" cy="96441"/>
          </a:xfrm>
          <a:prstGeom prst="rect">
            <a:avLst/>
          </a:prstGeom>
          <a:noFill/>
          <a:ln/>
        </p:spPr>
        <p:txBody>
          <a:bodyPr wrap="square" lIns="0" tIns="0" rIns="0" bIns="0" rtlCol="0" anchor="ctr">
            <a:spAutoFit/>
          </a:bodyPr>
          <a:lstStyle/>
          <a:p>
            <a:pPr indent="0" marL="0">
              <a:buNone/>
            </a:pPr>
            <a:r>
              <a:rPr lang="en-US" sz="675" dirty="0">
                <a:solidFill>
                  <a:srgbClr val="DBEAFE"/>
                </a:solidFill>
                <a:latin typeface="Consolas" pitchFamily="34" charset="0"/>
                <a:ea typeface="Consolas" pitchFamily="34" charset="-122"/>
                <a:cs typeface="Consolas" pitchFamily="34" charset="-120"/>
              </a:rPr>
              <a:t>return "Hello, " + name + "!";</a:t>
            </a:r>
            <a:endParaRPr lang="en-US" sz="675" dirty="0"/>
          </a:p>
        </p:txBody>
      </p:sp>
      <p:sp>
        <p:nvSpPr>
          <p:cNvPr id="54" name="Text 49"/>
          <p:cNvSpPr/>
          <p:nvPr/>
        </p:nvSpPr>
        <p:spPr>
          <a:xfrm>
            <a:off x="828675" y="8527852"/>
            <a:ext cx="122895" cy="96441"/>
          </a:xfrm>
          <a:prstGeom prst="rect">
            <a:avLst/>
          </a:prstGeom>
          <a:noFill/>
          <a:ln/>
        </p:spPr>
        <p:txBody>
          <a:bodyPr wrap="none" lIns="0" tIns="0" rIns="0" bIns="0" rtlCol="0" anchor="ctr">
            <a:spAutoFit/>
          </a:bodyPr>
          <a:lstStyle/>
          <a:p>
            <a:pPr indent="0" marL="0">
              <a:buNone/>
            </a:pPr>
            <a:r>
              <a:rPr lang="en-US" sz="675" dirty="0">
                <a:solidFill>
                  <a:srgbClr val="DBEAFE"/>
                </a:solidFill>
                <a:latin typeface="Consolas" pitchFamily="34" charset="0"/>
                <a:ea typeface="Consolas" pitchFamily="34" charset="-122"/>
                <a:cs typeface="Consolas" pitchFamily="34" charset="-120"/>
              </a:rPr>
              <a:t>}</a:t>
            </a:r>
            <a:endParaRPr lang="en-US" sz="675" dirty="0"/>
          </a:p>
        </p:txBody>
      </p:sp>
      <p:pic>
        <p:nvPicPr>
          <p:cNvPr id="55" name="Image 3" descr="preencoded.png">    </p:cNvPr>
          <p:cNvPicPr>
            <a:picLocks noChangeAspect="1"/>
          </p:cNvPicPr>
          <p:nvPr/>
        </p:nvPicPr>
        <p:blipFill>
          <a:blip r:embed="rId4"/>
          <a:stretch>
            <a:fillRect/>
          </a:stretch>
        </p:blipFill>
        <p:spPr>
          <a:xfrm>
            <a:off x="742950" y="8804672"/>
            <a:ext cx="100013" cy="100013"/>
          </a:xfrm>
          <a:prstGeom prst="rect">
            <a:avLst/>
          </a:prstGeom>
        </p:spPr>
      </p:pic>
      <p:sp>
        <p:nvSpPr>
          <p:cNvPr id="56" name="Text 50"/>
          <p:cNvSpPr/>
          <p:nvPr/>
        </p:nvSpPr>
        <p:spPr>
          <a:xfrm>
            <a:off x="900113" y="8801100"/>
            <a:ext cx="1416527" cy="112514"/>
          </a:xfrm>
          <a:prstGeom prst="rect">
            <a:avLst/>
          </a:prstGeom>
          <a:noFill/>
          <a:ln/>
        </p:spPr>
        <p:txBody>
          <a:bodyPr wrap="square" lIns="0" tIns="0" rIns="0" bIns="0" rtlCol="0" anchor="ctr">
            <a:spAutoFit/>
          </a:bodyPr>
          <a:lstStyle/>
          <a:p>
            <a:pPr indent="0" marL="0">
              <a:buNone/>
            </a:pPr>
            <a:r>
              <a:rPr lang="en-US" sz="788" dirty="0">
                <a:solidFill>
                  <a:srgbClr val="F1F5F9"/>
                </a:solidFill>
                <a:latin typeface="Segoe UI" pitchFamily="34" charset="0"/>
                <a:ea typeface="Segoe UI" pitchFamily="34" charset="-122"/>
                <a:cs typeface="Segoe UI" pitchFamily="34" charset="-120"/>
              </a:rPr>
              <a:t>Javadoc comments start with</a:t>
            </a:r>
            <a:endParaRPr lang="en-US" sz="788" dirty="0"/>
          </a:p>
        </p:txBody>
      </p:sp>
      <p:sp>
        <p:nvSpPr>
          <p:cNvPr id="57" name="Text 51"/>
          <p:cNvSpPr/>
          <p:nvPr/>
        </p:nvSpPr>
        <p:spPr>
          <a:xfrm>
            <a:off x="2245202" y="8808244"/>
            <a:ext cx="251510" cy="114300"/>
          </a:xfrm>
          <a:prstGeom prst="rect">
            <a:avLst/>
          </a:prstGeom>
          <a:noFill/>
          <a:ln/>
        </p:spPr>
        <p:txBody>
          <a:bodyPr wrap="none" lIns="0" tIns="0" rIns="0" bIns="0" rtlCol="0" anchor="ctr">
            <a:spAutoFit/>
          </a:bodyPr>
          <a:lstStyle/>
          <a:p>
            <a:pPr indent="0" marL="0">
              <a:buNone/>
            </a:pPr>
            <a:r>
              <a:rPr lang="en-US" sz="788" dirty="0">
                <a:solidFill>
                  <a:srgbClr val="DBEAFE"/>
                </a:solidFill>
                <a:latin typeface="Consolas" pitchFamily="34" charset="0"/>
                <a:ea typeface="Consolas" pitchFamily="34" charset="-122"/>
                <a:cs typeface="Consolas" pitchFamily="34" charset="-120"/>
              </a:rPr>
              <a:t>/**</a:t>
            </a:r>
            <a:endParaRPr lang="en-US" sz="788" dirty="0"/>
          </a:p>
        </p:txBody>
      </p:sp>
      <p:sp>
        <p:nvSpPr>
          <p:cNvPr id="58" name="Text 52"/>
          <p:cNvSpPr/>
          <p:nvPr/>
        </p:nvSpPr>
        <p:spPr>
          <a:xfrm>
            <a:off x="2425275" y="8801100"/>
            <a:ext cx="694172" cy="112514"/>
          </a:xfrm>
          <a:prstGeom prst="rect">
            <a:avLst/>
          </a:prstGeom>
          <a:noFill/>
          <a:ln/>
        </p:spPr>
        <p:txBody>
          <a:bodyPr wrap="none" lIns="0" tIns="0" rIns="0" bIns="0" rtlCol="0" anchor="ctr">
            <a:spAutoFit/>
          </a:bodyPr>
          <a:lstStyle/>
          <a:p>
            <a:pPr indent="0" marL="0">
              <a:buNone/>
            </a:pPr>
            <a:r>
              <a:rPr lang="en-US" sz="788" dirty="0">
                <a:solidFill>
                  <a:srgbClr val="F1F5F9"/>
                </a:solidFill>
                <a:latin typeface="Segoe UI" pitchFamily="34" charset="0"/>
                <a:ea typeface="Segoe UI" pitchFamily="34" charset="-122"/>
                <a:cs typeface="Segoe UI" pitchFamily="34" charset="-120"/>
              </a:rPr>
              <a:t>and end with</a:t>
            </a:r>
            <a:endParaRPr lang="en-US" sz="788" dirty="0"/>
          </a:p>
        </p:txBody>
      </p:sp>
      <p:sp>
        <p:nvSpPr>
          <p:cNvPr id="59" name="Text 53"/>
          <p:cNvSpPr/>
          <p:nvPr/>
        </p:nvSpPr>
        <p:spPr>
          <a:xfrm>
            <a:off x="3048009" y="8808244"/>
            <a:ext cx="191486" cy="114300"/>
          </a:xfrm>
          <a:prstGeom prst="rect">
            <a:avLst/>
          </a:prstGeom>
          <a:noFill/>
          <a:ln/>
        </p:spPr>
        <p:txBody>
          <a:bodyPr wrap="none" lIns="0" tIns="0" rIns="0" bIns="0" rtlCol="0" anchor="ctr">
            <a:spAutoFit/>
          </a:bodyPr>
          <a:lstStyle/>
          <a:p>
            <a:pPr indent="0" marL="0">
              <a:buNone/>
            </a:pPr>
            <a:r>
              <a:rPr lang="en-US" sz="788" dirty="0">
                <a:solidFill>
                  <a:srgbClr val="DBEAFE"/>
                </a:solidFill>
                <a:latin typeface="Consolas" pitchFamily="34" charset="0"/>
                <a:ea typeface="Consolas" pitchFamily="34" charset="-122"/>
                <a:cs typeface="Consolas" pitchFamily="34" charset="-120"/>
              </a:rPr>
              <a:t>*/</a:t>
            </a:r>
            <a:endParaRPr lang="en-US" sz="788" dirty="0"/>
          </a:p>
        </p:txBody>
      </p:sp>
      <p:sp>
        <p:nvSpPr>
          <p:cNvPr id="60" name="Text 54"/>
          <p:cNvSpPr/>
          <p:nvPr/>
        </p:nvSpPr>
        <p:spPr>
          <a:xfrm>
            <a:off x="742950" y="8801100"/>
            <a:ext cx="3300859" cy="262533"/>
          </a:xfrm>
          <a:prstGeom prst="rect">
            <a:avLst/>
          </a:prstGeom>
          <a:noFill/>
          <a:ln/>
        </p:spPr>
        <p:txBody>
          <a:bodyPr wrap="square" lIns="0" tIns="0" rIns="0" bIns="0" rtlCol="0" anchor="ctr">
            <a:spAutoFit/>
          </a:bodyPr>
          <a:lstStyle/>
          <a:p>
            <a:pPr indent="0" marL="0">
              <a:buNone/>
            </a:pPr>
            <a:r>
              <a:rPr lang="en-US" sz="788" dirty="0">
                <a:solidFill>
                  <a:srgbClr val="F1F5F9"/>
                </a:solidFill>
                <a:latin typeface="Segoe UI" pitchFamily="34" charset="0"/>
                <a:ea typeface="Segoe UI" pitchFamily="34" charset="-122"/>
                <a:cs typeface="Segoe UI" pitchFamily="34" charset="-120"/>
              </a:rPr>
              <a:t>. They are used to generate API documentation.</a:t>
            </a:r>
            <a:endParaRPr lang="en-US" sz="788" dirty="0"/>
          </a:p>
        </p:txBody>
      </p:sp>
      <p:sp>
        <p:nvSpPr>
          <p:cNvPr id="61" name="Shape 55"/>
          <p:cNvSpPr/>
          <p:nvPr/>
        </p:nvSpPr>
        <p:spPr>
          <a:xfrm>
            <a:off x="4686300" y="971550"/>
            <a:ext cx="4000500" cy="6829425"/>
          </a:xfrm>
          <a:prstGeom prst="rect">
            <a:avLst/>
          </a:prstGeom>
          <a:solidFill>
            <a:srgbClr val="FFFFFF">
              <a:alpha val="10000"/>
            </a:srgbClr>
          </a:solidFill>
          <a:ln w="99">
            <a:solidFill>
              <a:srgbClr val="60A5FA">
                <a:alpha val="30000"/>
              </a:srgbClr>
            </a:solidFill>
            <a:prstDash val="solid"/>
          </a:ln>
        </p:spPr>
      </p:sp>
      <p:sp>
        <p:nvSpPr>
          <p:cNvPr id="62" name="Text 56"/>
          <p:cNvSpPr/>
          <p:nvPr/>
        </p:nvSpPr>
        <p:spPr>
          <a:xfrm>
            <a:off x="4857750" y="1143000"/>
            <a:ext cx="3729038" cy="228600"/>
          </a:xfrm>
          <a:prstGeom prst="rect">
            <a:avLst/>
          </a:prstGeom>
          <a:noFill/>
          <a:ln/>
        </p:spPr>
        <p:txBody>
          <a:bodyPr wrap="square" lIns="0" tIns="0" rIns="0" bIns="0" rtlCol="0" anchor="ctr">
            <a:spAutoFit/>
          </a:bodyPr>
          <a:lstStyle/>
          <a:p>
            <a:pPr indent="0" marL="0">
              <a:buNone/>
            </a:pPr>
            <a:r>
              <a:rPr lang="en-US" sz="1350" b="1" dirty="0">
                <a:solidFill>
                  <a:srgbClr val="BFDBFE"/>
                </a:solidFill>
                <a:latin typeface="Segoe UI" pitchFamily="34" charset="0"/>
                <a:ea typeface="Segoe UI" pitchFamily="34" charset="-122"/>
                <a:cs typeface="Segoe UI" pitchFamily="34" charset="-120"/>
              </a:rPr>
              <a:t>Javadoc Tags</a:t>
            </a:r>
            <a:endParaRPr lang="en-US" sz="1350" dirty="0"/>
          </a:p>
        </p:txBody>
      </p:sp>
      <p:sp>
        <p:nvSpPr>
          <p:cNvPr id="63" name="Shape 57"/>
          <p:cNvSpPr/>
          <p:nvPr/>
        </p:nvSpPr>
        <p:spPr>
          <a:xfrm>
            <a:off x="4857750" y="1485900"/>
            <a:ext cx="1771650" cy="1571625"/>
          </a:xfrm>
          <a:prstGeom prst="rect">
            <a:avLst/>
          </a:prstGeom>
          <a:solidFill>
            <a:srgbClr val="1E3A8A">
              <a:alpha val="30000"/>
            </a:srgbClr>
          </a:solidFill>
          <a:ln/>
        </p:spPr>
      </p:sp>
      <p:sp>
        <p:nvSpPr>
          <p:cNvPr id="64" name="Text 58"/>
          <p:cNvSpPr/>
          <p:nvPr/>
        </p:nvSpPr>
        <p:spPr>
          <a:xfrm>
            <a:off x="4972050" y="1600200"/>
            <a:ext cx="1614488" cy="200025"/>
          </a:xfrm>
          <a:prstGeom prst="rect">
            <a:avLst/>
          </a:prstGeom>
          <a:noFill/>
          <a:ln/>
        </p:spPr>
        <p:txBody>
          <a:bodyPr wrap="square" lIns="0" tIns="0" rIns="0" bIns="0" rtlCol="0" anchor="ctr">
            <a:spAutoFit/>
          </a:bodyPr>
          <a:lstStyle/>
          <a:p>
            <a:pPr indent="0" marL="0">
              <a:buNone/>
            </a:pPr>
            <a:r>
              <a:rPr lang="en-US" sz="1013" b="1" dirty="0">
                <a:solidFill>
                  <a:srgbClr val="F1F5F9"/>
                </a:solidFill>
                <a:latin typeface="Segoe UI" pitchFamily="34" charset="0"/>
                <a:ea typeface="Segoe UI" pitchFamily="34" charset="-122"/>
                <a:cs typeface="Segoe UI" pitchFamily="34" charset="-120"/>
              </a:rPr>
              <a:t>Method Tags</a:t>
            </a:r>
            <a:endParaRPr lang="en-US" sz="1013" dirty="0"/>
          </a:p>
        </p:txBody>
      </p:sp>
      <p:sp>
        <p:nvSpPr>
          <p:cNvPr id="65" name="Text 59"/>
          <p:cNvSpPr/>
          <p:nvPr/>
        </p:nvSpPr>
        <p:spPr>
          <a:xfrm>
            <a:off x="4972050" y="1857375"/>
            <a:ext cx="431555" cy="142875"/>
          </a:xfrm>
          <a:prstGeom prst="rect">
            <a:avLst/>
          </a:prstGeom>
          <a:noFill/>
          <a:ln/>
        </p:spPr>
        <p:txBody>
          <a:bodyPr wrap="none" lIns="0" tIns="0" rIns="0" bIns="0" rtlCol="0" anchor="ctr">
            <a:spAutoFit/>
          </a:bodyPr>
          <a:lstStyle/>
          <a:p>
            <a:pPr algn="l" indent="0" marL="0">
              <a:buNone/>
            </a:pPr>
            <a:r>
              <a:rPr lang="en-US" sz="788" dirty="0">
                <a:solidFill>
                  <a:srgbClr val="DBEAFE"/>
                </a:solidFill>
                <a:latin typeface="Consolas" pitchFamily="34" charset="0"/>
                <a:ea typeface="Consolas" pitchFamily="34" charset="-122"/>
                <a:cs typeface="Consolas" pitchFamily="34" charset="-120"/>
              </a:rPr>
              <a:t>@param</a:t>
            </a:r>
            <a:endParaRPr lang="en-US" sz="788" dirty="0"/>
          </a:p>
        </p:txBody>
      </p:sp>
      <p:sp>
        <p:nvSpPr>
          <p:cNvPr id="66" name="Text 60"/>
          <p:cNvSpPr/>
          <p:nvPr/>
        </p:nvSpPr>
        <p:spPr>
          <a:xfrm>
            <a:off x="5389318" y="1857375"/>
            <a:ext cx="1197220" cy="285750"/>
          </a:xfrm>
          <a:prstGeom prst="rect">
            <a:avLst/>
          </a:prstGeom>
          <a:noFill/>
          <a:ln/>
        </p:spPr>
        <p:txBody>
          <a:bodyPr wrap="none" lIns="0" tIns="0" rIns="0" bIns="0" rtlCol="0" anchor="ctr">
            <a:spAutoFit/>
          </a:bodyPr>
          <a:lstStyle/>
          <a:p>
            <a:pPr algn="l" indent="0" marL="0">
              <a:buNone/>
            </a:pPr>
            <a:r>
              <a:rPr lang="en-US" sz="788" dirty="0">
                <a:solidFill>
                  <a:srgbClr val="F1F5F9"/>
                </a:solidFill>
                <a:latin typeface="Segoe UI" pitchFamily="34" charset="0"/>
                <a:ea typeface="Segoe UI" pitchFamily="34" charset="-122"/>
                <a:cs typeface="Segoe UI" pitchFamily="34" charset="-120"/>
              </a:rPr>
              <a:t>Describes a method parameter</a:t>
            </a:r>
            <a:endParaRPr lang="en-US" sz="788" dirty="0"/>
          </a:p>
        </p:txBody>
      </p:sp>
      <p:sp>
        <p:nvSpPr>
          <p:cNvPr id="67" name="Text 61"/>
          <p:cNvSpPr/>
          <p:nvPr/>
        </p:nvSpPr>
        <p:spPr>
          <a:xfrm>
            <a:off x="4972050" y="2171700"/>
            <a:ext cx="491579" cy="142875"/>
          </a:xfrm>
          <a:prstGeom prst="rect">
            <a:avLst/>
          </a:prstGeom>
          <a:noFill/>
          <a:ln/>
        </p:spPr>
        <p:txBody>
          <a:bodyPr wrap="none" lIns="0" tIns="0" rIns="0" bIns="0" rtlCol="0" anchor="ctr">
            <a:spAutoFit/>
          </a:bodyPr>
          <a:lstStyle/>
          <a:p>
            <a:pPr algn="l" indent="0" marL="0">
              <a:buNone/>
            </a:pPr>
            <a:r>
              <a:rPr lang="en-US" sz="788" dirty="0">
                <a:solidFill>
                  <a:srgbClr val="DBEAFE"/>
                </a:solidFill>
                <a:latin typeface="Consolas" pitchFamily="34" charset="0"/>
                <a:ea typeface="Consolas" pitchFamily="34" charset="-122"/>
                <a:cs typeface="Consolas" pitchFamily="34" charset="-120"/>
              </a:rPr>
              <a:t>@return</a:t>
            </a:r>
            <a:endParaRPr lang="en-US" sz="788" dirty="0"/>
          </a:p>
        </p:txBody>
      </p:sp>
      <p:sp>
        <p:nvSpPr>
          <p:cNvPr id="68" name="Text 62"/>
          <p:cNvSpPr/>
          <p:nvPr/>
        </p:nvSpPr>
        <p:spPr>
          <a:xfrm>
            <a:off x="5449342" y="2171700"/>
            <a:ext cx="1137196" cy="285750"/>
          </a:xfrm>
          <a:prstGeom prst="rect">
            <a:avLst/>
          </a:prstGeom>
          <a:noFill/>
          <a:ln/>
        </p:spPr>
        <p:txBody>
          <a:bodyPr wrap="none" lIns="0" tIns="0" rIns="0" bIns="0" rtlCol="0" anchor="ctr">
            <a:spAutoFit/>
          </a:bodyPr>
          <a:lstStyle/>
          <a:p>
            <a:pPr algn="l" indent="0" marL="0">
              <a:buNone/>
            </a:pPr>
            <a:r>
              <a:rPr lang="en-US" sz="788" dirty="0">
                <a:solidFill>
                  <a:srgbClr val="F1F5F9"/>
                </a:solidFill>
                <a:latin typeface="Segoe UI" pitchFamily="34" charset="0"/>
                <a:ea typeface="Segoe UI" pitchFamily="34" charset="-122"/>
                <a:cs typeface="Segoe UI" pitchFamily="34" charset="-120"/>
              </a:rPr>
              <a:t>Describes the return value</a:t>
            </a:r>
            <a:endParaRPr lang="en-US" sz="788" dirty="0"/>
          </a:p>
        </p:txBody>
      </p:sp>
      <p:sp>
        <p:nvSpPr>
          <p:cNvPr id="69" name="Text 63"/>
          <p:cNvSpPr/>
          <p:nvPr/>
        </p:nvSpPr>
        <p:spPr>
          <a:xfrm>
            <a:off x="4972050" y="2486025"/>
            <a:ext cx="491579" cy="142875"/>
          </a:xfrm>
          <a:prstGeom prst="rect">
            <a:avLst/>
          </a:prstGeom>
          <a:noFill/>
          <a:ln/>
        </p:spPr>
        <p:txBody>
          <a:bodyPr wrap="none" lIns="0" tIns="0" rIns="0" bIns="0" rtlCol="0" anchor="ctr">
            <a:spAutoFit/>
          </a:bodyPr>
          <a:lstStyle/>
          <a:p>
            <a:pPr algn="l" indent="0" marL="0">
              <a:buNone/>
            </a:pPr>
            <a:r>
              <a:rPr lang="en-US" sz="788" dirty="0">
                <a:solidFill>
                  <a:srgbClr val="DBEAFE"/>
                </a:solidFill>
                <a:latin typeface="Consolas" pitchFamily="34" charset="0"/>
                <a:ea typeface="Consolas" pitchFamily="34" charset="-122"/>
                <a:cs typeface="Consolas" pitchFamily="34" charset="-120"/>
              </a:rPr>
              <a:t>@throws</a:t>
            </a:r>
            <a:endParaRPr lang="en-US" sz="788" dirty="0"/>
          </a:p>
        </p:txBody>
      </p:sp>
      <p:sp>
        <p:nvSpPr>
          <p:cNvPr id="70" name="Text 64"/>
          <p:cNvSpPr/>
          <p:nvPr/>
        </p:nvSpPr>
        <p:spPr>
          <a:xfrm>
            <a:off x="5449342" y="2486025"/>
            <a:ext cx="1111021" cy="142875"/>
          </a:xfrm>
          <a:prstGeom prst="rect">
            <a:avLst/>
          </a:prstGeom>
          <a:noFill/>
          <a:ln/>
        </p:spPr>
        <p:txBody>
          <a:bodyPr wrap="none" lIns="0" tIns="0" rIns="0" bIns="0" rtlCol="0" anchor="ctr">
            <a:spAutoFit/>
          </a:bodyPr>
          <a:lstStyle/>
          <a:p>
            <a:pPr algn="l" indent="0" marL="0">
              <a:buNone/>
            </a:pPr>
            <a:r>
              <a:rPr lang="en-US" sz="788" dirty="0">
                <a:solidFill>
                  <a:srgbClr val="F1F5F9"/>
                </a:solidFill>
                <a:latin typeface="Segoe UI" pitchFamily="34" charset="0"/>
                <a:ea typeface="Segoe UI" pitchFamily="34" charset="-122"/>
                <a:cs typeface="Segoe UI" pitchFamily="34" charset="-120"/>
              </a:rPr>
              <a:t>Describes an exception</a:t>
            </a:r>
            <a:endParaRPr lang="en-US" sz="788" dirty="0"/>
          </a:p>
        </p:txBody>
      </p:sp>
      <p:sp>
        <p:nvSpPr>
          <p:cNvPr id="71" name="Text 65"/>
          <p:cNvSpPr/>
          <p:nvPr/>
        </p:nvSpPr>
        <p:spPr>
          <a:xfrm>
            <a:off x="4972050" y="2657475"/>
            <a:ext cx="311507" cy="142875"/>
          </a:xfrm>
          <a:prstGeom prst="rect">
            <a:avLst/>
          </a:prstGeom>
          <a:noFill/>
          <a:ln/>
        </p:spPr>
        <p:txBody>
          <a:bodyPr wrap="none" lIns="0" tIns="0" rIns="0" bIns="0" rtlCol="0" anchor="ctr">
            <a:spAutoFit/>
          </a:bodyPr>
          <a:lstStyle/>
          <a:p>
            <a:pPr algn="l" indent="0" marL="0">
              <a:buNone/>
            </a:pPr>
            <a:r>
              <a:rPr lang="en-US" sz="788" dirty="0">
                <a:solidFill>
                  <a:srgbClr val="DBEAFE"/>
                </a:solidFill>
                <a:latin typeface="Consolas" pitchFamily="34" charset="0"/>
                <a:ea typeface="Consolas" pitchFamily="34" charset="-122"/>
                <a:cs typeface="Consolas" pitchFamily="34" charset="-120"/>
              </a:rPr>
              <a:t>@see</a:t>
            </a:r>
            <a:endParaRPr lang="en-US" sz="788" dirty="0"/>
          </a:p>
        </p:txBody>
      </p:sp>
      <p:sp>
        <p:nvSpPr>
          <p:cNvPr id="72" name="Text 66"/>
          <p:cNvSpPr/>
          <p:nvPr/>
        </p:nvSpPr>
        <p:spPr>
          <a:xfrm>
            <a:off x="5269269" y="2657475"/>
            <a:ext cx="1317268" cy="285750"/>
          </a:xfrm>
          <a:prstGeom prst="rect">
            <a:avLst/>
          </a:prstGeom>
          <a:noFill/>
          <a:ln/>
        </p:spPr>
        <p:txBody>
          <a:bodyPr wrap="square" lIns="0" tIns="0" rIns="0" bIns="0" rtlCol="0" anchor="ctr">
            <a:spAutoFit/>
          </a:bodyPr>
          <a:lstStyle/>
          <a:p>
            <a:pPr algn="l" indent="0" marL="0">
              <a:buNone/>
            </a:pPr>
            <a:r>
              <a:rPr lang="en-US" sz="788" dirty="0">
                <a:solidFill>
                  <a:srgbClr val="F1F5F9"/>
                </a:solidFill>
                <a:latin typeface="Segoe UI" pitchFamily="34" charset="0"/>
                <a:ea typeface="Segoe UI" pitchFamily="34" charset="-122"/>
                <a:cs typeface="Segoe UI" pitchFamily="34" charset="-120"/>
              </a:rPr>
              <a:t>Provides a reference to another element</a:t>
            </a:r>
            <a:endParaRPr lang="en-US" sz="788" dirty="0"/>
          </a:p>
        </p:txBody>
      </p:sp>
      <p:sp>
        <p:nvSpPr>
          <p:cNvPr id="73" name="Shape 67"/>
          <p:cNvSpPr/>
          <p:nvPr/>
        </p:nvSpPr>
        <p:spPr>
          <a:xfrm>
            <a:off x="6743700" y="1485900"/>
            <a:ext cx="1771650" cy="1571625"/>
          </a:xfrm>
          <a:prstGeom prst="rect">
            <a:avLst/>
          </a:prstGeom>
          <a:solidFill>
            <a:srgbClr val="1E3A8A">
              <a:alpha val="30000"/>
            </a:srgbClr>
          </a:solidFill>
          <a:ln/>
        </p:spPr>
      </p:sp>
      <p:sp>
        <p:nvSpPr>
          <p:cNvPr id="74" name="Text 68"/>
          <p:cNvSpPr/>
          <p:nvPr/>
        </p:nvSpPr>
        <p:spPr>
          <a:xfrm>
            <a:off x="6858000" y="1600200"/>
            <a:ext cx="1614488" cy="200025"/>
          </a:xfrm>
          <a:prstGeom prst="rect">
            <a:avLst/>
          </a:prstGeom>
          <a:noFill/>
          <a:ln/>
        </p:spPr>
        <p:txBody>
          <a:bodyPr wrap="square" lIns="0" tIns="0" rIns="0" bIns="0" rtlCol="0" anchor="ctr">
            <a:spAutoFit/>
          </a:bodyPr>
          <a:lstStyle/>
          <a:p>
            <a:pPr indent="0" marL="0">
              <a:buNone/>
            </a:pPr>
            <a:r>
              <a:rPr lang="en-US" sz="1013" b="1" dirty="0">
                <a:solidFill>
                  <a:srgbClr val="F1F5F9"/>
                </a:solidFill>
                <a:latin typeface="Segoe UI" pitchFamily="34" charset="0"/>
                <a:ea typeface="Segoe UI" pitchFamily="34" charset="-122"/>
                <a:cs typeface="Segoe UI" pitchFamily="34" charset="-120"/>
              </a:rPr>
              <a:t>Class Tags</a:t>
            </a:r>
            <a:endParaRPr lang="en-US" sz="1013" dirty="0"/>
          </a:p>
        </p:txBody>
      </p:sp>
      <p:sp>
        <p:nvSpPr>
          <p:cNvPr id="75" name="Text 69"/>
          <p:cNvSpPr/>
          <p:nvPr/>
        </p:nvSpPr>
        <p:spPr>
          <a:xfrm>
            <a:off x="6858000" y="1857375"/>
            <a:ext cx="491579" cy="142875"/>
          </a:xfrm>
          <a:prstGeom prst="rect">
            <a:avLst/>
          </a:prstGeom>
          <a:noFill/>
          <a:ln/>
        </p:spPr>
        <p:txBody>
          <a:bodyPr wrap="none" lIns="0" tIns="0" rIns="0" bIns="0" rtlCol="0" anchor="ctr">
            <a:spAutoFit/>
          </a:bodyPr>
          <a:lstStyle/>
          <a:p>
            <a:pPr algn="l" indent="0" marL="0">
              <a:buNone/>
            </a:pPr>
            <a:r>
              <a:rPr lang="en-US" sz="788" dirty="0">
                <a:solidFill>
                  <a:srgbClr val="DBEAFE"/>
                </a:solidFill>
                <a:latin typeface="Consolas" pitchFamily="34" charset="0"/>
                <a:ea typeface="Consolas" pitchFamily="34" charset="-122"/>
                <a:cs typeface="Consolas" pitchFamily="34" charset="-120"/>
              </a:rPr>
              <a:t>@author</a:t>
            </a:r>
            <a:endParaRPr lang="en-US" sz="788" dirty="0"/>
          </a:p>
        </p:txBody>
      </p:sp>
      <p:sp>
        <p:nvSpPr>
          <p:cNvPr id="76" name="Text 70"/>
          <p:cNvSpPr/>
          <p:nvPr/>
        </p:nvSpPr>
        <p:spPr>
          <a:xfrm>
            <a:off x="7335292" y="1857375"/>
            <a:ext cx="955449" cy="142875"/>
          </a:xfrm>
          <a:prstGeom prst="rect">
            <a:avLst/>
          </a:prstGeom>
          <a:noFill/>
          <a:ln/>
        </p:spPr>
        <p:txBody>
          <a:bodyPr wrap="none" lIns="0" tIns="0" rIns="0" bIns="0" rtlCol="0" anchor="ctr">
            <a:spAutoFit/>
          </a:bodyPr>
          <a:lstStyle/>
          <a:p>
            <a:pPr algn="l" indent="0" marL="0">
              <a:buNone/>
            </a:pPr>
            <a:r>
              <a:rPr lang="en-US" sz="788" dirty="0">
                <a:solidFill>
                  <a:srgbClr val="F1F5F9"/>
                </a:solidFill>
                <a:latin typeface="Segoe UI" pitchFamily="34" charset="0"/>
                <a:ea typeface="Segoe UI" pitchFamily="34" charset="-122"/>
                <a:cs typeface="Segoe UI" pitchFamily="34" charset="-120"/>
              </a:rPr>
              <a:t>Specifies the author</a:t>
            </a:r>
            <a:endParaRPr lang="en-US" sz="788" dirty="0"/>
          </a:p>
        </p:txBody>
      </p:sp>
      <p:sp>
        <p:nvSpPr>
          <p:cNvPr id="77" name="Text 71"/>
          <p:cNvSpPr/>
          <p:nvPr/>
        </p:nvSpPr>
        <p:spPr>
          <a:xfrm>
            <a:off x="6858000" y="2028825"/>
            <a:ext cx="551576" cy="142875"/>
          </a:xfrm>
          <a:prstGeom prst="rect">
            <a:avLst/>
          </a:prstGeom>
          <a:noFill/>
          <a:ln/>
        </p:spPr>
        <p:txBody>
          <a:bodyPr wrap="none" lIns="0" tIns="0" rIns="0" bIns="0" rtlCol="0" anchor="ctr">
            <a:spAutoFit/>
          </a:bodyPr>
          <a:lstStyle/>
          <a:p>
            <a:pPr algn="l" indent="0" marL="0">
              <a:buNone/>
            </a:pPr>
            <a:r>
              <a:rPr lang="en-US" sz="788" dirty="0">
                <a:solidFill>
                  <a:srgbClr val="DBEAFE"/>
                </a:solidFill>
                <a:latin typeface="Consolas" pitchFamily="34" charset="0"/>
                <a:ea typeface="Consolas" pitchFamily="34" charset="-122"/>
                <a:cs typeface="Consolas" pitchFamily="34" charset="-120"/>
              </a:rPr>
              <a:t>@version</a:t>
            </a:r>
            <a:endParaRPr lang="en-US" sz="788" dirty="0"/>
          </a:p>
        </p:txBody>
      </p:sp>
      <p:sp>
        <p:nvSpPr>
          <p:cNvPr id="78" name="Text 72"/>
          <p:cNvSpPr/>
          <p:nvPr/>
        </p:nvSpPr>
        <p:spPr>
          <a:xfrm>
            <a:off x="7395288" y="2028825"/>
            <a:ext cx="994265" cy="142875"/>
          </a:xfrm>
          <a:prstGeom prst="rect">
            <a:avLst/>
          </a:prstGeom>
          <a:noFill/>
          <a:ln/>
        </p:spPr>
        <p:txBody>
          <a:bodyPr wrap="none" lIns="0" tIns="0" rIns="0" bIns="0" rtlCol="0" anchor="ctr">
            <a:spAutoFit/>
          </a:bodyPr>
          <a:lstStyle/>
          <a:p>
            <a:pPr algn="l" indent="0" marL="0">
              <a:buNone/>
            </a:pPr>
            <a:r>
              <a:rPr lang="en-US" sz="788" dirty="0">
                <a:solidFill>
                  <a:srgbClr val="F1F5F9"/>
                </a:solidFill>
                <a:latin typeface="Segoe UI" pitchFamily="34" charset="0"/>
                <a:ea typeface="Segoe UI" pitchFamily="34" charset="-122"/>
                <a:cs typeface="Segoe UI" pitchFamily="34" charset="-120"/>
              </a:rPr>
              <a:t>Specifies the version</a:t>
            </a:r>
            <a:endParaRPr lang="en-US" sz="788" dirty="0"/>
          </a:p>
        </p:txBody>
      </p:sp>
      <p:sp>
        <p:nvSpPr>
          <p:cNvPr id="79" name="Text 73"/>
          <p:cNvSpPr/>
          <p:nvPr/>
        </p:nvSpPr>
        <p:spPr>
          <a:xfrm>
            <a:off x="6858000" y="2200275"/>
            <a:ext cx="431555" cy="142875"/>
          </a:xfrm>
          <a:prstGeom prst="rect">
            <a:avLst/>
          </a:prstGeom>
          <a:noFill/>
          <a:ln/>
        </p:spPr>
        <p:txBody>
          <a:bodyPr wrap="none" lIns="0" tIns="0" rIns="0" bIns="0" rtlCol="0" anchor="ctr">
            <a:spAutoFit/>
          </a:bodyPr>
          <a:lstStyle/>
          <a:p>
            <a:pPr algn="l" indent="0" marL="0">
              <a:buNone/>
            </a:pPr>
            <a:r>
              <a:rPr lang="en-US" sz="788" dirty="0">
                <a:solidFill>
                  <a:srgbClr val="DBEAFE"/>
                </a:solidFill>
                <a:latin typeface="Consolas" pitchFamily="34" charset="0"/>
                <a:ea typeface="Consolas" pitchFamily="34" charset="-122"/>
                <a:cs typeface="Consolas" pitchFamily="34" charset="-120"/>
              </a:rPr>
              <a:t>@since</a:t>
            </a:r>
            <a:endParaRPr lang="en-US" sz="788" dirty="0"/>
          </a:p>
        </p:txBody>
      </p:sp>
      <p:sp>
        <p:nvSpPr>
          <p:cNvPr id="80" name="Text 74"/>
          <p:cNvSpPr/>
          <p:nvPr/>
        </p:nvSpPr>
        <p:spPr>
          <a:xfrm>
            <a:off x="7275268" y="2200275"/>
            <a:ext cx="1050048" cy="142875"/>
          </a:xfrm>
          <a:prstGeom prst="rect">
            <a:avLst/>
          </a:prstGeom>
          <a:noFill/>
          <a:ln/>
        </p:spPr>
        <p:txBody>
          <a:bodyPr wrap="none" lIns="0" tIns="0" rIns="0" bIns="0" rtlCol="0" anchor="ctr">
            <a:spAutoFit/>
          </a:bodyPr>
          <a:lstStyle/>
          <a:p>
            <a:pPr algn="l" indent="0" marL="0">
              <a:buNone/>
            </a:pPr>
            <a:r>
              <a:rPr lang="en-US" sz="788" dirty="0">
                <a:solidFill>
                  <a:srgbClr val="F1F5F9"/>
                </a:solidFill>
                <a:latin typeface="Segoe UI" pitchFamily="34" charset="0"/>
                <a:ea typeface="Segoe UI" pitchFamily="34" charset="-122"/>
                <a:cs typeface="Segoe UI" pitchFamily="34" charset="-120"/>
              </a:rPr>
              <a:t>Specifies when added</a:t>
            </a:r>
            <a:endParaRPr lang="en-US" sz="788" dirty="0"/>
          </a:p>
        </p:txBody>
      </p:sp>
      <p:sp>
        <p:nvSpPr>
          <p:cNvPr id="81" name="Text 75"/>
          <p:cNvSpPr/>
          <p:nvPr/>
        </p:nvSpPr>
        <p:spPr>
          <a:xfrm>
            <a:off x="6858000" y="2371725"/>
            <a:ext cx="731648" cy="142875"/>
          </a:xfrm>
          <a:prstGeom prst="rect">
            <a:avLst/>
          </a:prstGeom>
          <a:noFill/>
          <a:ln/>
        </p:spPr>
        <p:txBody>
          <a:bodyPr wrap="none" lIns="0" tIns="0" rIns="0" bIns="0" rtlCol="0" anchor="ctr">
            <a:spAutoFit/>
          </a:bodyPr>
          <a:lstStyle/>
          <a:p>
            <a:pPr algn="l" indent="0" marL="0">
              <a:buNone/>
            </a:pPr>
            <a:r>
              <a:rPr lang="en-US" sz="788" dirty="0">
                <a:solidFill>
                  <a:srgbClr val="DBEAFE"/>
                </a:solidFill>
                <a:latin typeface="Consolas" pitchFamily="34" charset="0"/>
                <a:ea typeface="Consolas" pitchFamily="34" charset="-122"/>
                <a:cs typeface="Consolas" pitchFamily="34" charset="-120"/>
              </a:rPr>
              <a:t>@deprecated</a:t>
            </a:r>
            <a:endParaRPr lang="en-US" sz="788" dirty="0"/>
          </a:p>
        </p:txBody>
      </p:sp>
      <p:sp>
        <p:nvSpPr>
          <p:cNvPr id="82" name="Text 76"/>
          <p:cNvSpPr/>
          <p:nvPr/>
        </p:nvSpPr>
        <p:spPr>
          <a:xfrm>
            <a:off x="7575361" y="2371725"/>
            <a:ext cx="897127" cy="285750"/>
          </a:xfrm>
          <a:prstGeom prst="rect">
            <a:avLst/>
          </a:prstGeom>
          <a:noFill/>
          <a:ln/>
        </p:spPr>
        <p:txBody>
          <a:bodyPr wrap="none" lIns="0" tIns="0" rIns="0" bIns="0" rtlCol="0" anchor="ctr">
            <a:spAutoFit/>
          </a:bodyPr>
          <a:lstStyle/>
          <a:p>
            <a:pPr algn="l" indent="0" marL="0">
              <a:buNone/>
            </a:pPr>
            <a:r>
              <a:rPr lang="en-US" sz="788" dirty="0">
                <a:solidFill>
                  <a:srgbClr val="F1F5F9"/>
                </a:solidFill>
                <a:latin typeface="Segoe UI" pitchFamily="34" charset="0"/>
                <a:ea typeface="Segoe UI" pitchFamily="34" charset="-122"/>
                <a:cs typeface="Segoe UI" pitchFamily="34" charset="-120"/>
              </a:rPr>
              <a:t>Marks as deprecated</a:t>
            </a:r>
            <a:endParaRPr lang="en-US" sz="788" dirty="0"/>
          </a:p>
        </p:txBody>
      </p:sp>
      <p:sp>
        <p:nvSpPr>
          <p:cNvPr id="83" name="Shape 77"/>
          <p:cNvSpPr/>
          <p:nvPr/>
        </p:nvSpPr>
        <p:spPr>
          <a:xfrm>
            <a:off x="4857750" y="3171825"/>
            <a:ext cx="3657600" cy="4443413"/>
          </a:xfrm>
          <a:prstGeom prst="rect">
            <a:avLst/>
          </a:prstGeom>
          <a:solidFill>
            <a:srgbClr val="1E3A8A">
              <a:alpha val="30000"/>
            </a:srgbClr>
          </a:solidFill>
          <a:ln/>
        </p:spPr>
      </p:sp>
      <p:sp>
        <p:nvSpPr>
          <p:cNvPr id="84" name="Text 78"/>
          <p:cNvSpPr/>
          <p:nvPr/>
        </p:nvSpPr>
        <p:spPr>
          <a:xfrm>
            <a:off x="4972050" y="3286125"/>
            <a:ext cx="3500438" cy="200025"/>
          </a:xfrm>
          <a:prstGeom prst="rect">
            <a:avLst/>
          </a:prstGeom>
          <a:noFill/>
          <a:ln/>
        </p:spPr>
        <p:txBody>
          <a:bodyPr wrap="square" lIns="0" tIns="0" rIns="0" bIns="0" rtlCol="0" anchor="ctr">
            <a:spAutoFit/>
          </a:bodyPr>
          <a:lstStyle/>
          <a:p>
            <a:pPr indent="0" marL="0">
              <a:buNone/>
            </a:pPr>
            <a:r>
              <a:rPr lang="en-US" sz="1125" b="1" dirty="0">
                <a:solidFill>
                  <a:srgbClr val="F1F5F9"/>
                </a:solidFill>
                <a:latin typeface="Segoe UI" pitchFamily="34" charset="0"/>
                <a:ea typeface="Segoe UI" pitchFamily="34" charset="-122"/>
                <a:cs typeface="Segoe UI" pitchFamily="34" charset="-120"/>
              </a:rPr>
              <a:t>Example Class with Javadoc</a:t>
            </a:r>
            <a:endParaRPr lang="en-US" sz="1125" dirty="0"/>
          </a:p>
        </p:txBody>
      </p:sp>
      <p:sp>
        <p:nvSpPr>
          <p:cNvPr id="85" name="Shape 79"/>
          <p:cNvSpPr/>
          <p:nvPr/>
        </p:nvSpPr>
        <p:spPr>
          <a:xfrm>
            <a:off x="4972050" y="3543300"/>
            <a:ext cx="3429000" cy="3957638"/>
          </a:xfrm>
          <a:prstGeom prst="rect">
            <a:avLst/>
          </a:prstGeom>
          <a:solidFill>
            <a:srgbClr val="1E293B">
              <a:alpha val="80000"/>
            </a:srgbClr>
          </a:solidFill>
          <a:ln w="99">
            <a:solidFill>
              <a:srgbClr val="60A5FA">
                <a:alpha val="30000"/>
              </a:srgbClr>
            </a:solidFill>
            <a:prstDash val="solid"/>
          </a:ln>
        </p:spPr>
      </p:sp>
      <p:sp>
        <p:nvSpPr>
          <p:cNvPr id="86" name="Text 80"/>
          <p:cNvSpPr/>
          <p:nvPr/>
        </p:nvSpPr>
        <p:spPr>
          <a:xfrm>
            <a:off x="5057775" y="3684389"/>
            <a:ext cx="225782" cy="96441"/>
          </a:xfrm>
          <a:prstGeom prst="rect">
            <a:avLst/>
          </a:prstGeom>
          <a:noFill/>
          <a:ln/>
        </p:spPr>
        <p:txBody>
          <a:bodyPr wrap="none" lIns="0" tIns="0" rIns="0" bIns="0" rtlCol="0" anchor="ctr">
            <a:spAutoFit/>
          </a:bodyPr>
          <a:lstStyle/>
          <a:p>
            <a:pPr indent="0" marL="0">
              <a:buNone/>
            </a:pPr>
            <a:r>
              <a:rPr lang="en-US" sz="675" dirty="0">
                <a:solidFill>
                  <a:srgbClr val="DBEAFE"/>
                </a:solidFill>
                <a:latin typeface="Consolas" pitchFamily="34" charset="0"/>
                <a:ea typeface="Consolas" pitchFamily="34" charset="-122"/>
                <a:cs typeface="Consolas" pitchFamily="34" charset="-120"/>
              </a:rPr>
              <a:t>/**</a:t>
            </a:r>
            <a:endParaRPr lang="en-US" sz="675" dirty="0"/>
          </a:p>
        </p:txBody>
      </p:sp>
      <p:sp>
        <p:nvSpPr>
          <p:cNvPr id="87" name="Text 81"/>
          <p:cNvSpPr/>
          <p:nvPr/>
        </p:nvSpPr>
        <p:spPr>
          <a:xfrm>
            <a:off x="5057775" y="3855839"/>
            <a:ext cx="2232059" cy="96441"/>
          </a:xfrm>
          <a:prstGeom prst="rect">
            <a:avLst/>
          </a:prstGeom>
          <a:noFill/>
          <a:ln/>
        </p:spPr>
        <p:txBody>
          <a:bodyPr wrap="square" lIns="0" tIns="0" rIns="0" bIns="0" rtlCol="0" anchor="ctr">
            <a:spAutoFit/>
          </a:bodyPr>
          <a:lstStyle/>
          <a:p>
            <a:pPr indent="0" marL="0">
              <a:buNone/>
            </a:pPr>
            <a:r>
              <a:rPr lang="en-US" sz="675" dirty="0">
                <a:solidFill>
                  <a:srgbClr val="DBEAFE"/>
                </a:solidFill>
                <a:latin typeface="Consolas" pitchFamily="34" charset="0"/>
                <a:ea typeface="Consolas" pitchFamily="34" charset="-122"/>
                <a:cs typeface="Consolas" pitchFamily="34" charset="-120"/>
              </a:rPr>
              <a:t>* Represents a student in a school system.</a:t>
            </a:r>
            <a:endParaRPr lang="en-US" sz="675" dirty="0"/>
          </a:p>
        </p:txBody>
      </p:sp>
      <p:sp>
        <p:nvSpPr>
          <p:cNvPr id="88" name="Text 82"/>
          <p:cNvSpPr/>
          <p:nvPr/>
        </p:nvSpPr>
        <p:spPr>
          <a:xfrm>
            <a:off x="5057775" y="4027289"/>
            <a:ext cx="122895" cy="96441"/>
          </a:xfrm>
          <a:prstGeom prst="rect">
            <a:avLst/>
          </a:prstGeom>
          <a:noFill/>
          <a:ln/>
        </p:spPr>
        <p:txBody>
          <a:bodyPr wrap="none" lIns="0" tIns="0" rIns="0" bIns="0" rtlCol="0" anchor="ctr">
            <a:spAutoFit/>
          </a:bodyPr>
          <a:lstStyle/>
          <a:p>
            <a:pPr indent="0" marL="0">
              <a:buNone/>
            </a:pPr>
            <a:r>
              <a:rPr lang="en-US" sz="675" dirty="0">
                <a:solidFill>
                  <a:srgbClr val="DBEAFE"/>
                </a:solidFill>
                <a:latin typeface="Consolas" pitchFamily="34" charset="0"/>
                <a:ea typeface="Consolas" pitchFamily="34" charset="-122"/>
                <a:cs typeface="Consolas" pitchFamily="34" charset="-120"/>
              </a:rPr>
              <a:t>*</a:t>
            </a:r>
            <a:endParaRPr lang="en-US" sz="675" dirty="0"/>
          </a:p>
        </p:txBody>
      </p:sp>
      <p:sp>
        <p:nvSpPr>
          <p:cNvPr id="89" name="Text 83"/>
          <p:cNvSpPr/>
          <p:nvPr/>
        </p:nvSpPr>
        <p:spPr>
          <a:xfrm>
            <a:off x="5057775" y="4198739"/>
            <a:ext cx="997418" cy="96441"/>
          </a:xfrm>
          <a:prstGeom prst="rect">
            <a:avLst/>
          </a:prstGeom>
          <a:noFill/>
          <a:ln/>
        </p:spPr>
        <p:txBody>
          <a:bodyPr wrap="none" lIns="0" tIns="0" rIns="0" bIns="0" rtlCol="0" anchor="ctr">
            <a:spAutoFit/>
          </a:bodyPr>
          <a:lstStyle/>
          <a:p>
            <a:pPr indent="0" marL="0">
              <a:buNone/>
            </a:pPr>
            <a:r>
              <a:rPr lang="en-US" sz="675" dirty="0">
                <a:solidFill>
                  <a:srgbClr val="DBEAFE"/>
                </a:solidFill>
                <a:latin typeface="Consolas" pitchFamily="34" charset="0"/>
                <a:ea typeface="Consolas" pitchFamily="34" charset="-122"/>
                <a:cs typeface="Consolas" pitchFamily="34" charset="-120"/>
              </a:rPr>
              <a:t>* @author Jane Doe</a:t>
            </a:r>
            <a:endParaRPr lang="en-US" sz="675" dirty="0"/>
          </a:p>
        </p:txBody>
      </p:sp>
      <p:sp>
        <p:nvSpPr>
          <p:cNvPr id="90" name="Text 84"/>
          <p:cNvSpPr/>
          <p:nvPr/>
        </p:nvSpPr>
        <p:spPr>
          <a:xfrm>
            <a:off x="5057775" y="4370189"/>
            <a:ext cx="791645" cy="96441"/>
          </a:xfrm>
          <a:prstGeom prst="rect">
            <a:avLst/>
          </a:prstGeom>
          <a:noFill/>
          <a:ln/>
        </p:spPr>
        <p:txBody>
          <a:bodyPr wrap="none" lIns="0" tIns="0" rIns="0" bIns="0" rtlCol="0" anchor="ctr">
            <a:spAutoFit/>
          </a:bodyPr>
          <a:lstStyle/>
          <a:p>
            <a:pPr indent="0" marL="0">
              <a:buNone/>
            </a:pPr>
            <a:r>
              <a:rPr lang="en-US" sz="675" dirty="0">
                <a:solidFill>
                  <a:srgbClr val="DBEAFE"/>
                </a:solidFill>
                <a:latin typeface="Consolas" pitchFamily="34" charset="0"/>
                <a:ea typeface="Consolas" pitchFamily="34" charset="-122"/>
                <a:cs typeface="Consolas" pitchFamily="34" charset="-120"/>
              </a:rPr>
              <a:t>* @version 1.0</a:t>
            </a:r>
            <a:endParaRPr lang="en-US" sz="675" dirty="0"/>
          </a:p>
        </p:txBody>
      </p:sp>
      <p:sp>
        <p:nvSpPr>
          <p:cNvPr id="91" name="Text 85"/>
          <p:cNvSpPr/>
          <p:nvPr/>
        </p:nvSpPr>
        <p:spPr>
          <a:xfrm>
            <a:off x="5057775" y="4541639"/>
            <a:ext cx="1048876" cy="96441"/>
          </a:xfrm>
          <a:prstGeom prst="rect">
            <a:avLst/>
          </a:prstGeom>
          <a:noFill/>
          <a:ln/>
        </p:spPr>
        <p:txBody>
          <a:bodyPr wrap="none" lIns="0" tIns="0" rIns="0" bIns="0" rtlCol="0" anchor="ctr">
            <a:spAutoFit/>
          </a:bodyPr>
          <a:lstStyle/>
          <a:p>
            <a:pPr indent="0" marL="0">
              <a:buNone/>
            </a:pPr>
            <a:r>
              <a:rPr lang="en-US" sz="675" dirty="0">
                <a:solidFill>
                  <a:srgbClr val="DBEAFE"/>
                </a:solidFill>
                <a:latin typeface="Consolas" pitchFamily="34" charset="0"/>
                <a:ea typeface="Consolas" pitchFamily="34" charset="-122"/>
                <a:cs typeface="Consolas" pitchFamily="34" charset="-120"/>
              </a:rPr>
              <a:t>* @since 2023-01-01</a:t>
            </a:r>
            <a:endParaRPr lang="en-US" sz="675" dirty="0"/>
          </a:p>
        </p:txBody>
      </p:sp>
      <p:sp>
        <p:nvSpPr>
          <p:cNvPr id="92" name="Text 86"/>
          <p:cNvSpPr/>
          <p:nvPr/>
        </p:nvSpPr>
        <p:spPr>
          <a:xfrm>
            <a:off x="5057775" y="4713089"/>
            <a:ext cx="174324" cy="96441"/>
          </a:xfrm>
          <a:prstGeom prst="rect">
            <a:avLst/>
          </a:prstGeom>
          <a:noFill/>
          <a:ln/>
        </p:spPr>
        <p:txBody>
          <a:bodyPr wrap="none" lIns="0" tIns="0" rIns="0" bIns="0" rtlCol="0" anchor="ctr">
            <a:spAutoFit/>
          </a:bodyPr>
          <a:lstStyle/>
          <a:p>
            <a:pPr indent="0" marL="0">
              <a:buNone/>
            </a:pPr>
            <a:r>
              <a:rPr lang="en-US" sz="675" dirty="0">
                <a:solidFill>
                  <a:srgbClr val="DBEAFE"/>
                </a:solidFill>
                <a:latin typeface="Consolas" pitchFamily="34" charset="0"/>
                <a:ea typeface="Consolas" pitchFamily="34" charset="-122"/>
                <a:cs typeface="Consolas" pitchFamily="34" charset="-120"/>
              </a:rPr>
              <a:t>*/</a:t>
            </a:r>
            <a:endParaRPr lang="en-US" sz="675" dirty="0"/>
          </a:p>
        </p:txBody>
      </p:sp>
      <p:sp>
        <p:nvSpPr>
          <p:cNvPr id="93" name="Text 87"/>
          <p:cNvSpPr/>
          <p:nvPr/>
        </p:nvSpPr>
        <p:spPr>
          <a:xfrm>
            <a:off x="5057775" y="4884539"/>
            <a:ext cx="1203192" cy="96441"/>
          </a:xfrm>
          <a:prstGeom prst="rect">
            <a:avLst/>
          </a:prstGeom>
          <a:noFill/>
          <a:ln/>
        </p:spPr>
        <p:txBody>
          <a:bodyPr wrap="none" lIns="0" tIns="0" rIns="0" bIns="0" rtlCol="0" anchor="ctr">
            <a:spAutoFit/>
          </a:bodyPr>
          <a:lstStyle/>
          <a:p>
            <a:pPr indent="0" marL="0">
              <a:buNone/>
            </a:pPr>
            <a:r>
              <a:rPr lang="en-US" sz="675" dirty="0">
                <a:solidFill>
                  <a:srgbClr val="DBEAFE"/>
                </a:solidFill>
                <a:latin typeface="Consolas" pitchFamily="34" charset="0"/>
                <a:ea typeface="Consolas" pitchFamily="34" charset="-122"/>
                <a:cs typeface="Consolas" pitchFamily="34" charset="-120"/>
              </a:rPr>
              <a:t>public class Student {</a:t>
            </a:r>
            <a:endParaRPr lang="en-US" sz="675" dirty="0"/>
          </a:p>
        </p:txBody>
      </p:sp>
      <p:sp>
        <p:nvSpPr>
          <p:cNvPr id="94" name="Text 88"/>
          <p:cNvSpPr/>
          <p:nvPr/>
        </p:nvSpPr>
        <p:spPr>
          <a:xfrm>
            <a:off x="5057775" y="5055989"/>
            <a:ext cx="1203192" cy="96441"/>
          </a:xfrm>
          <a:prstGeom prst="rect">
            <a:avLst/>
          </a:prstGeom>
          <a:noFill/>
          <a:ln/>
        </p:spPr>
        <p:txBody>
          <a:bodyPr wrap="none" lIns="0" tIns="0" rIns="0" bIns="0" rtlCol="0" anchor="ctr">
            <a:spAutoFit/>
          </a:bodyPr>
          <a:lstStyle/>
          <a:p>
            <a:pPr indent="0" marL="0">
              <a:buNone/>
            </a:pPr>
            <a:r>
              <a:rPr lang="en-US" sz="675" dirty="0">
                <a:solidFill>
                  <a:srgbClr val="DBEAFE"/>
                </a:solidFill>
                <a:latin typeface="Consolas" pitchFamily="34" charset="0"/>
                <a:ea typeface="Consolas" pitchFamily="34" charset="-122"/>
                <a:cs typeface="Consolas" pitchFamily="34" charset="-120"/>
              </a:rPr>
              <a:t>private String name;</a:t>
            </a:r>
            <a:endParaRPr lang="en-US" sz="675" dirty="0"/>
          </a:p>
        </p:txBody>
      </p:sp>
      <p:sp>
        <p:nvSpPr>
          <p:cNvPr id="95" name="Text 89"/>
          <p:cNvSpPr/>
          <p:nvPr/>
        </p:nvSpPr>
        <p:spPr>
          <a:xfrm>
            <a:off x="5057775" y="5227439"/>
            <a:ext cx="997418" cy="96441"/>
          </a:xfrm>
          <a:prstGeom prst="rect">
            <a:avLst/>
          </a:prstGeom>
          <a:noFill/>
          <a:ln/>
        </p:spPr>
        <p:txBody>
          <a:bodyPr wrap="none" lIns="0" tIns="0" rIns="0" bIns="0" rtlCol="0" anchor="ctr">
            <a:spAutoFit/>
          </a:bodyPr>
          <a:lstStyle/>
          <a:p>
            <a:pPr indent="0" marL="0">
              <a:buNone/>
            </a:pPr>
            <a:r>
              <a:rPr lang="en-US" sz="675" dirty="0">
                <a:solidFill>
                  <a:srgbClr val="DBEAFE"/>
                </a:solidFill>
                <a:latin typeface="Consolas" pitchFamily="34" charset="0"/>
                <a:ea typeface="Consolas" pitchFamily="34" charset="-122"/>
                <a:cs typeface="Consolas" pitchFamily="34" charset="-120"/>
              </a:rPr>
              <a:t>private int age;</a:t>
            </a:r>
            <a:endParaRPr lang="en-US" sz="675" dirty="0"/>
          </a:p>
        </p:txBody>
      </p:sp>
      <p:sp>
        <p:nvSpPr>
          <p:cNvPr id="96" name="Text 90"/>
          <p:cNvSpPr/>
          <p:nvPr/>
        </p:nvSpPr>
        <p:spPr>
          <a:xfrm>
            <a:off x="5057775" y="5570339"/>
            <a:ext cx="328668" cy="96441"/>
          </a:xfrm>
          <a:prstGeom prst="rect">
            <a:avLst/>
          </a:prstGeom>
          <a:noFill/>
          <a:ln/>
        </p:spPr>
        <p:txBody>
          <a:bodyPr wrap="none" lIns="0" tIns="0" rIns="0" bIns="0" rtlCol="0" anchor="ctr">
            <a:spAutoFit/>
          </a:bodyPr>
          <a:lstStyle/>
          <a:p>
            <a:pPr indent="0" marL="0">
              <a:buNone/>
            </a:pPr>
            <a:r>
              <a:rPr lang="en-US" sz="675" dirty="0">
                <a:solidFill>
                  <a:srgbClr val="DBEAFE"/>
                </a:solidFill>
                <a:latin typeface="Consolas" pitchFamily="34" charset="0"/>
                <a:ea typeface="Consolas" pitchFamily="34" charset="-122"/>
                <a:cs typeface="Consolas" pitchFamily="34" charset="-120"/>
              </a:rPr>
              <a:t>/**</a:t>
            </a:r>
            <a:endParaRPr lang="en-US" sz="675" dirty="0"/>
          </a:p>
        </p:txBody>
      </p:sp>
      <p:sp>
        <p:nvSpPr>
          <p:cNvPr id="97" name="Text 91"/>
          <p:cNvSpPr/>
          <p:nvPr/>
        </p:nvSpPr>
        <p:spPr>
          <a:xfrm>
            <a:off x="5057775" y="5741789"/>
            <a:ext cx="2900837" cy="96441"/>
          </a:xfrm>
          <a:prstGeom prst="rect">
            <a:avLst/>
          </a:prstGeom>
          <a:noFill/>
          <a:ln/>
        </p:spPr>
        <p:txBody>
          <a:bodyPr wrap="square" lIns="0" tIns="0" rIns="0" bIns="0" rtlCol="0" anchor="ctr">
            <a:spAutoFit/>
          </a:bodyPr>
          <a:lstStyle/>
          <a:p>
            <a:pPr indent="0" marL="0">
              <a:buNone/>
            </a:pPr>
            <a:r>
              <a:rPr lang="en-US" sz="675" dirty="0">
                <a:solidFill>
                  <a:srgbClr val="DBEAFE"/>
                </a:solidFill>
                <a:latin typeface="Consolas" pitchFamily="34" charset="0"/>
                <a:ea typeface="Consolas" pitchFamily="34" charset="-122"/>
                <a:cs typeface="Consolas" pitchFamily="34" charset="-120"/>
              </a:rPr>
              <a:t>* Creates a new Student with the given name and age.</a:t>
            </a:r>
            <a:endParaRPr lang="en-US" sz="675" dirty="0"/>
          </a:p>
        </p:txBody>
      </p:sp>
      <p:sp>
        <p:nvSpPr>
          <p:cNvPr id="98" name="Text 92"/>
          <p:cNvSpPr/>
          <p:nvPr/>
        </p:nvSpPr>
        <p:spPr>
          <a:xfrm>
            <a:off x="5057775" y="5913239"/>
            <a:ext cx="277211" cy="96441"/>
          </a:xfrm>
          <a:prstGeom prst="rect">
            <a:avLst/>
          </a:prstGeom>
          <a:noFill/>
          <a:ln/>
        </p:spPr>
        <p:txBody>
          <a:bodyPr wrap="none" lIns="0" tIns="0" rIns="0" bIns="0" rtlCol="0" anchor="ctr">
            <a:spAutoFit/>
          </a:bodyPr>
          <a:lstStyle/>
          <a:p>
            <a:pPr indent="0" marL="0">
              <a:buNone/>
            </a:pPr>
            <a:r>
              <a:rPr lang="en-US" sz="675" dirty="0">
                <a:solidFill>
                  <a:srgbClr val="DBEAFE"/>
                </a:solidFill>
                <a:latin typeface="Consolas" pitchFamily="34" charset="0"/>
                <a:ea typeface="Consolas" pitchFamily="34" charset="-122"/>
                <a:cs typeface="Consolas" pitchFamily="34" charset="-120"/>
              </a:rPr>
              <a:t>*</a:t>
            </a:r>
            <a:endParaRPr lang="en-US" sz="675" dirty="0"/>
          </a:p>
        </p:txBody>
      </p:sp>
      <p:sp>
        <p:nvSpPr>
          <p:cNvPr id="99" name="Text 93"/>
          <p:cNvSpPr/>
          <p:nvPr/>
        </p:nvSpPr>
        <p:spPr>
          <a:xfrm>
            <a:off x="5057775" y="6084689"/>
            <a:ext cx="1871969" cy="96441"/>
          </a:xfrm>
          <a:prstGeom prst="rect">
            <a:avLst/>
          </a:prstGeom>
          <a:noFill/>
          <a:ln/>
        </p:spPr>
        <p:txBody>
          <a:bodyPr wrap="square" lIns="0" tIns="0" rIns="0" bIns="0" rtlCol="0" anchor="ctr">
            <a:spAutoFit/>
          </a:bodyPr>
          <a:lstStyle/>
          <a:p>
            <a:pPr indent="0" marL="0">
              <a:buNone/>
            </a:pPr>
            <a:r>
              <a:rPr lang="en-US" sz="675" dirty="0">
                <a:solidFill>
                  <a:srgbClr val="DBEAFE"/>
                </a:solidFill>
                <a:latin typeface="Consolas" pitchFamily="34" charset="0"/>
                <a:ea typeface="Consolas" pitchFamily="34" charset="-122"/>
                <a:cs typeface="Consolas" pitchFamily="34" charset="-120"/>
              </a:rPr>
              <a:t>* @param name The student's name</a:t>
            </a:r>
            <a:endParaRPr lang="en-US" sz="675" dirty="0"/>
          </a:p>
        </p:txBody>
      </p:sp>
      <p:sp>
        <p:nvSpPr>
          <p:cNvPr id="100" name="Text 94"/>
          <p:cNvSpPr/>
          <p:nvPr/>
        </p:nvSpPr>
        <p:spPr>
          <a:xfrm>
            <a:off x="5057775" y="6256139"/>
            <a:ext cx="1769083" cy="96441"/>
          </a:xfrm>
          <a:prstGeom prst="rect">
            <a:avLst/>
          </a:prstGeom>
          <a:noFill/>
          <a:ln/>
        </p:spPr>
        <p:txBody>
          <a:bodyPr wrap="square" lIns="0" tIns="0" rIns="0" bIns="0" rtlCol="0" anchor="ctr">
            <a:spAutoFit/>
          </a:bodyPr>
          <a:lstStyle/>
          <a:p>
            <a:pPr indent="0" marL="0">
              <a:buNone/>
            </a:pPr>
            <a:r>
              <a:rPr lang="en-US" sz="675" dirty="0">
                <a:solidFill>
                  <a:srgbClr val="DBEAFE"/>
                </a:solidFill>
                <a:latin typeface="Consolas" pitchFamily="34" charset="0"/>
                <a:ea typeface="Consolas" pitchFamily="34" charset="-122"/>
                <a:cs typeface="Consolas" pitchFamily="34" charset="-120"/>
              </a:rPr>
              <a:t>* @param age The student's age</a:t>
            </a:r>
            <a:endParaRPr lang="en-US" sz="675" dirty="0"/>
          </a:p>
        </p:txBody>
      </p:sp>
      <p:sp>
        <p:nvSpPr>
          <p:cNvPr id="101" name="Text 95"/>
          <p:cNvSpPr/>
          <p:nvPr/>
        </p:nvSpPr>
        <p:spPr>
          <a:xfrm>
            <a:off x="5057775" y="6427589"/>
            <a:ext cx="2952266" cy="96441"/>
          </a:xfrm>
          <a:prstGeom prst="rect">
            <a:avLst/>
          </a:prstGeom>
          <a:noFill/>
          <a:ln/>
        </p:spPr>
        <p:txBody>
          <a:bodyPr wrap="square" lIns="0" tIns="0" rIns="0" bIns="0" rtlCol="0" anchor="ctr">
            <a:spAutoFit/>
          </a:bodyPr>
          <a:lstStyle/>
          <a:p>
            <a:pPr indent="0" marL="0">
              <a:buNone/>
            </a:pPr>
            <a:r>
              <a:rPr lang="en-US" sz="675" dirty="0">
                <a:solidFill>
                  <a:srgbClr val="DBEAFE"/>
                </a:solidFill>
                <a:latin typeface="Consolas" pitchFamily="34" charset="0"/>
                <a:ea typeface="Consolas" pitchFamily="34" charset="-122"/>
                <a:cs typeface="Consolas" pitchFamily="34" charset="-120"/>
              </a:rPr>
              <a:t>* @throws IllegalArgumentException If age is negative</a:t>
            </a:r>
            <a:endParaRPr lang="en-US" sz="675" dirty="0"/>
          </a:p>
        </p:txBody>
      </p:sp>
      <p:sp>
        <p:nvSpPr>
          <p:cNvPr id="102" name="Text 96"/>
          <p:cNvSpPr/>
          <p:nvPr/>
        </p:nvSpPr>
        <p:spPr>
          <a:xfrm>
            <a:off x="5057775" y="6599039"/>
            <a:ext cx="328668" cy="96441"/>
          </a:xfrm>
          <a:prstGeom prst="rect">
            <a:avLst/>
          </a:prstGeom>
          <a:noFill/>
          <a:ln/>
        </p:spPr>
        <p:txBody>
          <a:bodyPr wrap="none" lIns="0" tIns="0" rIns="0" bIns="0" rtlCol="0" anchor="ctr">
            <a:spAutoFit/>
          </a:bodyPr>
          <a:lstStyle/>
          <a:p>
            <a:pPr indent="0" marL="0">
              <a:buNone/>
            </a:pPr>
            <a:r>
              <a:rPr lang="en-US" sz="675" dirty="0">
                <a:solidFill>
                  <a:srgbClr val="DBEAFE"/>
                </a:solidFill>
                <a:latin typeface="Consolas" pitchFamily="34" charset="0"/>
                <a:ea typeface="Consolas" pitchFamily="34" charset="-122"/>
                <a:cs typeface="Consolas" pitchFamily="34" charset="-120"/>
              </a:rPr>
              <a:t>*/</a:t>
            </a:r>
            <a:endParaRPr lang="en-US" sz="675" dirty="0"/>
          </a:p>
        </p:txBody>
      </p:sp>
      <p:sp>
        <p:nvSpPr>
          <p:cNvPr id="103" name="Text 97"/>
          <p:cNvSpPr/>
          <p:nvPr/>
        </p:nvSpPr>
        <p:spPr>
          <a:xfrm>
            <a:off x="5057775" y="6770489"/>
            <a:ext cx="2129172" cy="96441"/>
          </a:xfrm>
          <a:prstGeom prst="rect">
            <a:avLst/>
          </a:prstGeom>
          <a:noFill/>
          <a:ln/>
        </p:spPr>
        <p:txBody>
          <a:bodyPr wrap="square" lIns="0" tIns="0" rIns="0" bIns="0" rtlCol="0" anchor="ctr">
            <a:spAutoFit/>
          </a:bodyPr>
          <a:lstStyle/>
          <a:p>
            <a:pPr indent="0" marL="0">
              <a:buNone/>
            </a:pPr>
            <a:r>
              <a:rPr lang="en-US" sz="675" dirty="0">
                <a:solidFill>
                  <a:srgbClr val="DBEAFE"/>
                </a:solidFill>
                <a:latin typeface="Consolas" pitchFamily="34" charset="0"/>
                <a:ea typeface="Consolas" pitchFamily="34" charset="-122"/>
                <a:cs typeface="Consolas" pitchFamily="34" charset="-120"/>
              </a:rPr>
              <a:t>public Student(String name, int age) {</a:t>
            </a:r>
            <a:endParaRPr lang="en-US" sz="675" dirty="0"/>
          </a:p>
        </p:txBody>
      </p:sp>
      <p:sp>
        <p:nvSpPr>
          <p:cNvPr id="104" name="Text 98"/>
          <p:cNvSpPr/>
          <p:nvPr/>
        </p:nvSpPr>
        <p:spPr>
          <a:xfrm>
            <a:off x="5057775" y="6941939"/>
            <a:ext cx="1769083" cy="96441"/>
          </a:xfrm>
          <a:prstGeom prst="rect">
            <a:avLst/>
          </a:prstGeom>
          <a:noFill/>
          <a:ln/>
        </p:spPr>
        <p:txBody>
          <a:bodyPr wrap="square" lIns="0" tIns="0" rIns="0" bIns="0" rtlCol="0" anchor="ctr">
            <a:spAutoFit/>
          </a:bodyPr>
          <a:lstStyle/>
          <a:p>
            <a:pPr indent="0" marL="0">
              <a:buNone/>
            </a:pPr>
            <a:r>
              <a:rPr lang="en-US" sz="675" dirty="0">
                <a:solidFill>
                  <a:srgbClr val="DBEAFE"/>
                </a:solidFill>
                <a:latin typeface="Consolas" pitchFamily="34" charset="0"/>
                <a:ea typeface="Consolas" pitchFamily="34" charset="-122"/>
                <a:cs typeface="Consolas" pitchFamily="34" charset="-120"/>
              </a:rPr>
              <a:t>// Constructor implementation</a:t>
            </a:r>
            <a:endParaRPr lang="en-US" sz="675" dirty="0"/>
          </a:p>
        </p:txBody>
      </p:sp>
      <p:sp>
        <p:nvSpPr>
          <p:cNvPr id="105" name="Text 99"/>
          <p:cNvSpPr/>
          <p:nvPr/>
        </p:nvSpPr>
        <p:spPr>
          <a:xfrm>
            <a:off x="5057775" y="7113389"/>
            <a:ext cx="225782" cy="96441"/>
          </a:xfrm>
          <a:prstGeom prst="rect">
            <a:avLst/>
          </a:prstGeom>
          <a:noFill/>
          <a:ln/>
        </p:spPr>
        <p:txBody>
          <a:bodyPr wrap="none" lIns="0" tIns="0" rIns="0" bIns="0" rtlCol="0" anchor="ctr">
            <a:spAutoFit/>
          </a:bodyPr>
          <a:lstStyle/>
          <a:p>
            <a:pPr indent="0" marL="0">
              <a:buNone/>
            </a:pPr>
            <a:r>
              <a:rPr lang="en-US" sz="675" dirty="0">
                <a:solidFill>
                  <a:srgbClr val="DBEAFE"/>
                </a:solidFill>
                <a:latin typeface="Consolas" pitchFamily="34" charset="0"/>
                <a:ea typeface="Consolas" pitchFamily="34" charset="-122"/>
                <a:cs typeface="Consolas" pitchFamily="34" charset="-120"/>
              </a:rPr>
              <a:t>}</a:t>
            </a:r>
            <a:endParaRPr lang="en-US" sz="675" dirty="0"/>
          </a:p>
        </p:txBody>
      </p:sp>
      <p:sp>
        <p:nvSpPr>
          <p:cNvPr id="106" name="Text 100"/>
          <p:cNvSpPr/>
          <p:nvPr/>
        </p:nvSpPr>
        <p:spPr>
          <a:xfrm>
            <a:off x="5057775" y="7284839"/>
            <a:ext cx="122895" cy="96441"/>
          </a:xfrm>
          <a:prstGeom prst="rect">
            <a:avLst/>
          </a:prstGeom>
          <a:noFill/>
          <a:ln/>
        </p:spPr>
        <p:txBody>
          <a:bodyPr wrap="none" lIns="0" tIns="0" rIns="0" bIns="0" rtlCol="0" anchor="ctr">
            <a:spAutoFit/>
          </a:bodyPr>
          <a:lstStyle/>
          <a:p>
            <a:pPr indent="0" marL="0">
              <a:buNone/>
            </a:pPr>
            <a:r>
              <a:rPr lang="en-US" sz="675" dirty="0">
                <a:solidFill>
                  <a:srgbClr val="DBEAFE"/>
                </a:solidFill>
                <a:latin typeface="Consolas" pitchFamily="34" charset="0"/>
                <a:ea typeface="Consolas" pitchFamily="34" charset="-122"/>
                <a:cs typeface="Consolas" pitchFamily="34" charset="-120"/>
              </a:rPr>
              <a:t>}</a:t>
            </a:r>
            <a:endParaRPr lang="en-US" sz="675" dirty="0"/>
          </a:p>
        </p:txBody>
      </p:sp>
      <p:sp>
        <p:nvSpPr>
          <p:cNvPr id="107" name="Shape 101"/>
          <p:cNvSpPr/>
          <p:nvPr/>
        </p:nvSpPr>
        <p:spPr>
          <a:xfrm>
            <a:off x="4686300" y="7943850"/>
            <a:ext cx="4000500" cy="3443288"/>
          </a:xfrm>
          <a:prstGeom prst="rect">
            <a:avLst/>
          </a:prstGeom>
          <a:solidFill>
            <a:srgbClr val="FFFFFF">
              <a:alpha val="10000"/>
            </a:srgbClr>
          </a:solidFill>
          <a:ln w="99">
            <a:solidFill>
              <a:srgbClr val="60A5FA">
                <a:alpha val="30000"/>
              </a:srgbClr>
            </a:solidFill>
            <a:prstDash val="solid"/>
          </a:ln>
        </p:spPr>
      </p:sp>
      <p:sp>
        <p:nvSpPr>
          <p:cNvPr id="108" name="Text 102"/>
          <p:cNvSpPr/>
          <p:nvPr/>
        </p:nvSpPr>
        <p:spPr>
          <a:xfrm>
            <a:off x="4857750" y="8115300"/>
            <a:ext cx="3729038" cy="228600"/>
          </a:xfrm>
          <a:prstGeom prst="rect">
            <a:avLst/>
          </a:prstGeom>
          <a:noFill/>
          <a:ln/>
        </p:spPr>
        <p:txBody>
          <a:bodyPr wrap="square" lIns="0" tIns="0" rIns="0" bIns="0" rtlCol="0" anchor="ctr">
            <a:spAutoFit/>
          </a:bodyPr>
          <a:lstStyle/>
          <a:p>
            <a:pPr indent="0" marL="0">
              <a:buNone/>
            </a:pPr>
            <a:r>
              <a:rPr lang="en-US" sz="1350" b="1" dirty="0">
                <a:solidFill>
                  <a:srgbClr val="BFDBFE"/>
                </a:solidFill>
                <a:latin typeface="Segoe UI" pitchFamily="34" charset="0"/>
                <a:ea typeface="Segoe UI" pitchFamily="34" charset="-122"/>
                <a:cs typeface="Segoe UI" pitchFamily="34" charset="-120"/>
              </a:rPr>
              <a:t>Comment Best Practices</a:t>
            </a:r>
            <a:endParaRPr lang="en-US" sz="1350" dirty="0"/>
          </a:p>
        </p:txBody>
      </p:sp>
      <p:sp>
        <p:nvSpPr>
          <p:cNvPr id="109" name="Shape 103"/>
          <p:cNvSpPr/>
          <p:nvPr/>
        </p:nvSpPr>
        <p:spPr>
          <a:xfrm>
            <a:off x="4857750" y="8458200"/>
            <a:ext cx="3657600" cy="1314450"/>
          </a:xfrm>
          <a:prstGeom prst="rect">
            <a:avLst/>
          </a:prstGeom>
          <a:solidFill>
            <a:srgbClr val="1E3A8A">
              <a:alpha val="30000"/>
            </a:srgbClr>
          </a:solidFill>
          <a:ln/>
        </p:spPr>
      </p:sp>
      <p:sp>
        <p:nvSpPr>
          <p:cNvPr id="110" name="Text 104"/>
          <p:cNvSpPr/>
          <p:nvPr/>
        </p:nvSpPr>
        <p:spPr>
          <a:xfrm>
            <a:off x="4972050" y="8572500"/>
            <a:ext cx="3500438" cy="200025"/>
          </a:xfrm>
          <a:prstGeom prst="rect">
            <a:avLst/>
          </a:prstGeom>
          <a:noFill/>
          <a:ln/>
        </p:spPr>
        <p:txBody>
          <a:bodyPr wrap="square" lIns="0" tIns="0" rIns="0" bIns="0" rtlCol="0" anchor="ctr">
            <a:spAutoFit/>
          </a:bodyPr>
          <a:lstStyle/>
          <a:p>
            <a:pPr indent="0" marL="0">
              <a:buNone/>
            </a:pPr>
            <a:r>
              <a:rPr lang="en-US" sz="1125" b="1" dirty="0">
                <a:solidFill>
                  <a:srgbClr val="F1F5F9"/>
                </a:solidFill>
                <a:latin typeface="Segoe UI" pitchFamily="34" charset="0"/>
                <a:ea typeface="Segoe UI" pitchFamily="34" charset="-122"/>
                <a:cs typeface="Segoe UI" pitchFamily="34" charset="-120"/>
              </a:rPr>
              <a:t>Do's</a:t>
            </a:r>
            <a:endParaRPr lang="en-US" sz="1125" dirty="0"/>
          </a:p>
        </p:txBody>
      </p:sp>
      <p:pic>
        <p:nvPicPr>
          <p:cNvPr id="111" name="Image 4" descr="preencoded.png">    </p:cNvPr>
          <p:cNvPicPr>
            <a:picLocks noChangeAspect="1"/>
          </p:cNvPicPr>
          <p:nvPr/>
        </p:nvPicPr>
        <p:blipFill>
          <a:blip r:embed="rId5"/>
          <a:stretch>
            <a:fillRect/>
          </a:stretch>
        </p:blipFill>
        <p:spPr>
          <a:xfrm>
            <a:off x="4972050" y="8858250"/>
            <a:ext cx="100013" cy="100013"/>
          </a:xfrm>
          <a:prstGeom prst="rect">
            <a:avLst/>
          </a:prstGeom>
        </p:spPr>
      </p:pic>
      <p:sp>
        <p:nvSpPr>
          <p:cNvPr id="112" name="Text 105"/>
          <p:cNvSpPr/>
          <p:nvPr/>
        </p:nvSpPr>
        <p:spPr>
          <a:xfrm>
            <a:off x="5129213" y="8829675"/>
            <a:ext cx="1744470" cy="142875"/>
          </a:xfrm>
          <a:prstGeom prst="rect">
            <a:avLst/>
          </a:prstGeom>
          <a:noFill/>
          <a:ln/>
        </p:spPr>
        <p:txBody>
          <a:bodyPr wrap="square" lIns="0" tIns="0" rIns="0" bIns="0" rtlCol="0" anchor="ctr">
            <a:spAutoFit/>
          </a:bodyPr>
          <a:lstStyle/>
          <a:p>
            <a:pPr algn="l" indent="0" marL="0">
              <a:buNone/>
            </a:pPr>
            <a:r>
              <a:rPr lang="en-US" sz="788" dirty="0">
                <a:solidFill>
                  <a:srgbClr val="F1F5F9"/>
                </a:solidFill>
                <a:latin typeface="Segoe UI" pitchFamily="34" charset="0"/>
                <a:ea typeface="Segoe UI" pitchFamily="34" charset="-122"/>
                <a:cs typeface="Segoe UI" pitchFamily="34" charset="-120"/>
              </a:rPr>
              <a:t>Comment complex logic or algorithms</a:t>
            </a:r>
            <a:endParaRPr lang="en-US" sz="788" dirty="0"/>
          </a:p>
        </p:txBody>
      </p:sp>
      <p:pic>
        <p:nvPicPr>
          <p:cNvPr id="113" name="Image 5" descr="preencoded.png">    </p:cNvPr>
          <p:cNvPicPr>
            <a:picLocks noChangeAspect="1"/>
          </p:cNvPicPr>
          <p:nvPr/>
        </p:nvPicPr>
        <p:blipFill>
          <a:blip r:embed="rId6"/>
          <a:stretch>
            <a:fillRect/>
          </a:stretch>
        </p:blipFill>
        <p:spPr>
          <a:xfrm>
            <a:off x="4972050" y="9029700"/>
            <a:ext cx="100013" cy="100013"/>
          </a:xfrm>
          <a:prstGeom prst="rect">
            <a:avLst/>
          </a:prstGeom>
        </p:spPr>
      </p:pic>
      <p:sp>
        <p:nvSpPr>
          <p:cNvPr id="114" name="Text 106"/>
          <p:cNvSpPr/>
          <p:nvPr/>
        </p:nvSpPr>
        <p:spPr>
          <a:xfrm>
            <a:off x="5129213" y="9001125"/>
            <a:ext cx="2050507" cy="142875"/>
          </a:xfrm>
          <a:prstGeom prst="rect">
            <a:avLst/>
          </a:prstGeom>
          <a:noFill/>
          <a:ln/>
        </p:spPr>
        <p:txBody>
          <a:bodyPr wrap="square" lIns="0" tIns="0" rIns="0" bIns="0" rtlCol="0" anchor="ctr">
            <a:spAutoFit/>
          </a:bodyPr>
          <a:lstStyle/>
          <a:p>
            <a:pPr algn="l" indent="0" marL="0">
              <a:buNone/>
            </a:pPr>
            <a:r>
              <a:rPr lang="en-US" sz="788" dirty="0">
                <a:solidFill>
                  <a:srgbClr val="F1F5F9"/>
                </a:solidFill>
                <a:latin typeface="Segoe UI" pitchFamily="34" charset="0"/>
                <a:ea typeface="Segoe UI" pitchFamily="34" charset="-122"/>
                <a:cs typeface="Segoe UI" pitchFamily="34" charset="-120"/>
              </a:rPr>
              <a:t>Use Javadoc for public methods and classes</a:t>
            </a:r>
            <a:endParaRPr lang="en-US" sz="788" dirty="0"/>
          </a:p>
        </p:txBody>
      </p:sp>
      <p:pic>
        <p:nvPicPr>
          <p:cNvPr id="115" name="Image 6" descr="preencoded.png">    </p:cNvPr>
          <p:cNvPicPr>
            <a:picLocks noChangeAspect="1"/>
          </p:cNvPicPr>
          <p:nvPr/>
        </p:nvPicPr>
        <p:blipFill>
          <a:blip r:embed="rId7"/>
          <a:stretch>
            <a:fillRect/>
          </a:stretch>
        </p:blipFill>
        <p:spPr>
          <a:xfrm>
            <a:off x="4972050" y="9201150"/>
            <a:ext cx="100013" cy="100013"/>
          </a:xfrm>
          <a:prstGeom prst="rect">
            <a:avLst/>
          </a:prstGeom>
        </p:spPr>
      </p:pic>
      <p:sp>
        <p:nvSpPr>
          <p:cNvPr id="116" name="Text 107"/>
          <p:cNvSpPr/>
          <p:nvPr/>
        </p:nvSpPr>
        <p:spPr>
          <a:xfrm>
            <a:off x="5129213" y="9172575"/>
            <a:ext cx="2153785" cy="142875"/>
          </a:xfrm>
          <a:prstGeom prst="rect">
            <a:avLst/>
          </a:prstGeom>
          <a:noFill/>
          <a:ln/>
        </p:spPr>
        <p:txBody>
          <a:bodyPr wrap="square" lIns="0" tIns="0" rIns="0" bIns="0" rtlCol="0" anchor="ctr">
            <a:spAutoFit/>
          </a:bodyPr>
          <a:lstStyle/>
          <a:p>
            <a:pPr algn="l" indent="0" marL="0">
              <a:buNone/>
            </a:pPr>
            <a:r>
              <a:rPr lang="en-US" sz="788" dirty="0">
                <a:solidFill>
                  <a:srgbClr val="F1F5F9"/>
                </a:solidFill>
                <a:latin typeface="Segoe UI" pitchFamily="34" charset="0"/>
                <a:ea typeface="Segoe UI" pitchFamily="34" charset="-122"/>
                <a:cs typeface="Segoe UI" pitchFamily="34" charset="-120"/>
              </a:rPr>
              <a:t>Explain "why" rather than "what" the code does</a:t>
            </a:r>
            <a:endParaRPr lang="en-US" sz="788" dirty="0"/>
          </a:p>
        </p:txBody>
      </p:sp>
      <p:pic>
        <p:nvPicPr>
          <p:cNvPr id="117" name="Image 7" descr="preencoded.png">    </p:cNvPr>
          <p:cNvPicPr>
            <a:picLocks noChangeAspect="1"/>
          </p:cNvPicPr>
          <p:nvPr/>
        </p:nvPicPr>
        <p:blipFill>
          <a:blip r:embed="rId8"/>
          <a:stretch>
            <a:fillRect/>
          </a:stretch>
        </p:blipFill>
        <p:spPr>
          <a:xfrm>
            <a:off x="4972050" y="9372600"/>
            <a:ext cx="100013" cy="100013"/>
          </a:xfrm>
          <a:prstGeom prst="rect">
            <a:avLst/>
          </a:prstGeom>
        </p:spPr>
      </p:pic>
      <p:sp>
        <p:nvSpPr>
          <p:cNvPr id="118" name="Text 108"/>
          <p:cNvSpPr/>
          <p:nvPr/>
        </p:nvSpPr>
        <p:spPr>
          <a:xfrm>
            <a:off x="5129213" y="9344025"/>
            <a:ext cx="2134000" cy="142875"/>
          </a:xfrm>
          <a:prstGeom prst="rect">
            <a:avLst/>
          </a:prstGeom>
          <a:noFill/>
          <a:ln/>
        </p:spPr>
        <p:txBody>
          <a:bodyPr wrap="square" lIns="0" tIns="0" rIns="0" bIns="0" rtlCol="0" anchor="ctr">
            <a:spAutoFit/>
          </a:bodyPr>
          <a:lstStyle/>
          <a:p>
            <a:pPr algn="l" indent="0" marL="0">
              <a:buNone/>
            </a:pPr>
            <a:r>
              <a:rPr lang="en-US" sz="788" dirty="0">
                <a:solidFill>
                  <a:srgbClr val="F1F5F9"/>
                </a:solidFill>
                <a:latin typeface="Segoe UI" pitchFamily="34" charset="0"/>
                <a:ea typeface="Segoe UI" pitchFamily="34" charset="-122"/>
                <a:cs typeface="Segoe UI" pitchFamily="34" charset="-120"/>
              </a:rPr>
              <a:t>Keep comments up-to-date with code changes</a:t>
            </a:r>
            <a:endParaRPr lang="en-US" sz="788" dirty="0"/>
          </a:p>
        </p:txBody>
      </p:sp>
      <p:pic>
        <p:nvPicPr>
          <p:cNvPr id="119" name="Image 8" descr="preencoded.png">    </p:cNvPr>
          <p:cNvPicPr>
            <a:picLocks noChangeAspect="1"/>
          </p:cNvPicPr>
          <p:nvPr/>
        </p:nvPicPr>
        <p:blipFill>
          <a:blip r:embed="rId9"/>
          <a:stretch>
            <a:fillRect/>
          </a:stretch>
        </p:blipFill>
        <p:spPr>
          <a:xfrm>
            <a:off x="4972050" y="9544050"/>
            <a:ext cx="100013" cy="100013"/>
          </a:xfrm>
          <a:prstGeom prst="rect">
            <a:avLst/>
          </a:prstGeom>
        </p:spPr>
      </p:pic>
      <p:sp>
        <p:nvSpPr>
          <p:cNvPr id="120" name="Text 109"/>
          <p:cNvSpPr/>
          <p:nvPr/>
        </p:nvSpPr>
        <p:spPr>
          <a:xfrm>
            <a:off x="5129213" y="9515475"/>
            <a:ext cx="2518786" cy="142875"/>
          </a:xfrm>
          <a:prstGeom prst="rect">
            <a:avLst/>
          </a:prstGeom>
          <a:noFill/>
          <a:ln/>
        </p:spPr>
        <p:txBody>
          <a:bodyPr wrap="square" lIns="0" tIns="0" rIns="0" bIns="0" rtlCol="0" anchor="ctr">
            <a:spAutoFit/>
          </a:bodyPr>
          <a:lstStyle/>
          <a:p>
            <a:pPr algn="l" indent="0" marL="0">
              <a:buNone/>
            </a:pPr>
            <a:r>
              <a:rPr lang="en-US" sz="788" dirty="0">
                <a:solidFill>
                  <a:srgbClr val="F1F5F9"/>
                </a:solidFill>
                <a:latin typeface="Segoe UI" pitchFamily="34" charset="0"/>
                <a:ea typeface="Segoe UI" pitchFamily="34" charset="-122"/>
                <a:cs typeface="Segoe UI" pitchFamily="34" charset="-120"/>
              </a:rPr>
              <a:t>Use comments to mark TODOs or future improvements</a:t>
            </a:r>
            <a:endParaRPr lang="en-US" sz="788" dirty="0"/>
          </a:p>
        </p:txBody>
      </p:sp>
      <p:sp>
        <p:nvSpPr>
          <p:cNvPr id="121" name="Shape 110"/>
          <p:cNvSpPr/>
          <p:nvPr/>
        </p:nvSpPr>
        <p:spPr>
          <a:xfrm>
            <a:off x="4857750" y="9886950"/>
            <a:ext cx="3657600" cy="1314450"/>
          </a:xfrm>
          <a:prstGeom prst="rect">
            <a:avLst/>
          </a:prstGeom>
          <a:solidFill>
            <a:srgbClr val="1E3A8A">
              <a:alpha val="30000"/>
            </a:srgbClr>
          </a:solidFill>
          <a:ln/>
        </p:spPr>
      </p:sp>
      <p:sp>
        <p:nvSpPr>
          <p:cNvPr id="122" name="Text 111"/>
          <p:cNvSpPr/>
          <p:nvPr/>
        </p:nvSpPr>
        <p:spPr>
          <a:xfrm>
            <a:off x="4972050" y="10001250"/>
            <a:ext cx="3500438" cy="200025"/>
          </a:xfrm>
          <a:prstGeom prst="rect">
            <a:avLst/>
          </a:prstGeom>
          <a:noFill/>
          <a:ln/>
        </p:spPr>
        <p:txBody>
          <a:bodyPr wrap="square" lIns="0" tIns="0" rIns="0" bIns="0" rtlCol="0" anchor="ctr">
            <a:spAutoFit/>
          </a:bodyPr>
          <a:lstStyle/>
          <a:p>
            <a:pPr indent="0" marL="0">
              <a:buNone/>
            </a:pPr>
            <a:r>
              <a:rPr lang="en-US" sz="1125" b="1" dirty="0">
                <a:solidFill>
                  <a:srgbClr val="F1F5F9"/>
                </a:solidFill>
                <a:latin typeface="Segoe UI" pitchFamily="34" charset="0"/>
                <a:ea typeface="Segoe UI" pitchFamily="34" charset="-122"/>
                <a:cs typeface="Segoe UI" pitchFamily="34" charset="-120"/>
              </a:rPr>
              <a:t>Don'ts</a:t>
            </a:r>
            <a:endParaRPr lang="en-US" sz="1125" dirty="0"/>
          </a:p>
        </p:txBody>
      </p:sp>
      <p:pic>
        <p:nvPicPr>
          <p:cNvPr id="123" name="Image 9" descr="preencoded.png">    </p:cNvPr>
          <p:cNvPicPr>
            <a:picLocks noChangeAspect="1"/>
          </p:cNvPicPr>
          <p:nvPr/>
        </p:nvPicPr>
        <p:blipFill>
          <a:blip r:embed="rId10"/>
          <a:stretch>
            <a:fillRect/>
          </a:stretch>
        </p:blipFill>
        <p:spPr>
          <a:xfrm>
            <a:off x="4972050" y="10287000"/>
            <a:ext cx="100013" cy="100013"/>
          </a:xfrm>
          <a:prstGeom prst="rect">
            <a:avLst/>
          </a:prstGeom>
        </p:spPr>
      </p:pic>
      <p:sp>
        <p:nvSpPr>
          <p:cNvPr id="124" name="Text 112"/>
          <p:cNvSpPr/>
          <p:nvPr/>
        </p:nvSpPr>
        <p:spPr>
          <a:xfrm>
            <a:off x="5129213" y="10258425"/>
            <a:ext cx="1680428" cy="142875"/>
          </a:xfrm>
          <a:prstGeom prst="rect">
            <a:avLst/>
          </a:prstGeom>
          <a:noFill/>
          <a:ln/>
        </p:spPr>
        <p:txBody>
          <a:bodyPr wrap="square" lIns="0" tIns="0" rIns="0" bIns="0" rtlCol="0" anchor="ctr">
            <a:spAutoFit/>
          </a:bodyPr>
          <a:lstStyle/>
          <a:p>
            <a:pPr algn="l" indent="0" marL="0">
              <a:buNone/>
            </a:pPr>
            <a:r>
              <a:rPr lang="en-US" sz="788" dirty="0">
                <a:solidFill>
                  <a:srgbClr val="F1F5F9"/>
                </a:solidFill>
                <a:latin typeface="Segoe UI" pitchFamily="34" charset="0"/>
                <a:ea typeface="Segoe UI" pitchFamily="34" charset="-122"/>
                <a:cs typeface="Segoe UI" pitchFamily="34" charset="-120"/>
              </a:rPr>
              <a:t>Don't state the obvious in comments</a:t>
            </a:r>
            <a:endParaRPr lang="en-US" sz="788" dirty="0"/>
          </a:p>
        </p:txBody>
      </p:sp>
      <p:pic>
        <p:nvPicPr>
          <p:cNvPr id="125" name="Image 10" descr="preencoded.png">    </p:cNvPr>
          <p:cNvPicPr>
            <a:picLocks noChangeAspect="1"/>
          </p:cNvPicPr>
          <p:nvPr/>
        </p:nvPicPr>
        <p:blipFill>
          <a:blip r:embed="rId11"/>
          <a:stretch>
            <a:fillRect/>
          </a:stretch>
        </p:blipFill>
        <p:spPr>
          <a:xfrm>
            <a:off x="4972050" y="10458450"/>
            <a:ext cx="100013" cy="100013"/>
          </a:xfrm>
          <a:prstGeom prst="rect">
            <a:avLst/>
          </a:prstGeom>
        </p:spPr>
      </p:pic>
      <p:sp>
        <p:nvSpPr>
          <p:cNvPr id="126" name="Text 113"/>
          <p:cNvSpPr/>
          <p:nvPr/>
        </p:nvSpPr>
        <p:spPr>
          <a:xfrm>
            <a:off x="5129213" y="10429875"/>
            <a:ext cx="1887596" cy="142875"/>
          </a:xfrm>
          <a:prstGeom prst="rect">
            <a:avLst/>
          </a:prstGeom>
          <a:noFill/>
          <a:ln/>
        </p:spPr>
        <p:txBody>
          <a:bodyPr wrap="square" lIns="0" tIns="0" rIns="0" bIns="0" rtlCol="0" anchor="ctr">
            <a:spAutoFit/>
          </a:bodyPr>
          <a:lstStyle/>
          <a:p>
            <a:pPr algn="l" indent="0" marL="0">
              <a:buNone/>
            </a:pPr>
            <a:r>
              <a:rPr lang="en-US" sz="788" dirty="0">
                <a:solidFill>
                  <a:srgbClr val="F1F5F9"/>
                </a:solidFill>
                <a:latin typeface="Segoe UI" pitchFamily="34" charset="0"/>
                <a:ea typeface="Segoe UI" pitchFamily="34" charset="-122"/>
                <a:cs typeface="Segoe UI" pitchFamily="34" charset="-120"/>
              </a:rPr>
              <a:t>Avoid commented-out code in production</a:t>
            </a:r>
            <a:endParaRPr lang="en-US" sz="788" dirty="0"/>
          </a:p>
        </p:txBody>
      </p:sp>
      <p:pic>
        <p:nvPicPr>
          <p:cNvPr id="127" name="Image 11" descr="preencoded.png">    </p:cNvPr>
          <p:cNvPicPr>
            <a:picLocks noChangeAspect="1"/>
          </p:cNvPicPr>
          <p:nvPr/>
        </p:nvPicPr>
        <p:blipFill>
          <a:blip r:embed="rId12"/>
          <a:stretch>
            <a:fillRect/>
          </a:stretch>
        </p:blipFill>
        <p:spPr>
          <a:xfrm>
            <a:off x="4972050" y="10629900"/>
            <a:ext cx="100013" cy="100013"/>
          </a:xfrm>
          <a:prstGeom prst="rect">
            <a:avLst/>
          </a:prstGeom>
        </p:spPr>
      </p:pic>
      <p:sp>
        <p:nvSpPr>
          <p:cNvPr id="128" name="Text 114"/>
          <p:cNvSpPr/>
          <p:nvPr/>
        </p:nvSpPr>
        <p:spPr>
          <a:xfrm>
            <a:off x="5129213" y="10601325"/>
            <a:ext cx="2069511" cy="142875"/>
          </a:xfrm>
          <a:prstGeom prst="rect">
            <a:avLst/>
          </a:prstGeom>
          <a:noFill/>
          <a:ln/>
        </p:spPr>
        <p:txBody>
          <a:bodyPr wrap="square" lIns="0" tIns="0" rIns="0" bIns="0" rtlCol="0" anchor="ctr">
            <a:spAutoFit/>
          </a:bodyPr>
          <a:lstStyle/>
          <a:p>
            <a:pPr algn="l" indent="0" marL="0">
              <a:buNone/>
            </a:pPr>
            <a:r>
              <a:rPr lang="en-US" sz="788" dirty="0">
                <a:solidFill>
                  <a:srgbClr val="F1F5F9"/>
                </a:solidFill>
                <a:latin typeface="Segoe UI" pitchFamily="34" charset="0"/>
                <a:ea typeface="Segoe UI" pitchFamily="34" charset="-122"/>
                <a:cs typeface="Segoe UI" pitchFamily="34" charset="-120"/>
              </a:rPr>
              <a:t>Don't write misleading or outdated comments</a:t>
            </a:r>
            <a:endParaRPr lang="en-US" sz="788" dirty="0"/>
          </a:p>
        </p:txBody>
      </p:sp>
      <p:pic>
        <p:nvPicPr>
          <p:cNvPr id="129" name="Image 12" descr="preencoded.png">    </p:cNvPr>
          <p:cNvPicPr>
            <a:picLocks noChangeAspect="1"/>
          </p:cNvPicPr>
          <p:nvPr/>
        </p:nvPicPr>
        <p:blipFill>
          <a:blip r:embed="rId13"/>
          <a:stretch>
            <a:fillRect/>
          </a:stretch>
        </p:blipFill>
        <p:spPr>
          <a:xfrm>
            <a:off x="4972050" y="10801350"/>
            <a:ext cx="100013" cy="100013"/>
          </a:xfrm>
          <a:prstGeom prst="rect">
            <a:avLst/>
          </a:prstGeom>
        </p:spPr>
      </p:pic>
      <p:sp>
        <p:nvSpPr>
          <p:cNvPr id="130" name="Text 115"/>
          <p:cNvSpPr/>
          <p:nvPr/>
        </p:nvSpPr>
        <p:spPr>
          <a:xfrm>
            <a:off x="5129213" y="10772775"/>
            <a:ext cx="2015207" cy="142875"/>
          </a:xfrm>
          <a:prstGeom prst="rect">
            <a:avLst/>
          </a:prstGeom>
          <a:noFill/>
          <a:ln/>
        </p:spPr>
        <p:txBody>
          <a:bodyPr wrap="square" lIns="0" tIns="0" rIns="0" bIns="0" rtlCol="0" anchor="ctr">
            <a:spAutoFit/>
          </a:bodyPr>
          <a:lstStyle/>
          <a:p>
            <a:pPr algn="l" indent="0" marL="0">
              <a:buNone/>
            </a:pPr>
            <a:r>
              <a:rPr lang="en-US" sz="788" dirty="0">
                <a:solidFill>
                  <a:srgbClr val="F1F5F9"/>
                </a:solidFill>
                <a:latin typeface="Segoe UI" pitchFamily="34" charset="0"/>
                <a:ea typeface="Segoe UI" pitchFamily="34" charset="-122"/>
                <a:cs typeface="Segoe UI" pitchFamily="34" charset="-120"/>
              </a:rPr>
              <a:t>Avoid excessive comments that clutter code</a:t>
            </a:r>
            <a:endParaRPr lang="en-US" sz="788" dirty="0"/>
          </a:p>
        </p:txBody>
      </p:sp>
      <p:pic>
        <p:nvPicPr>
          <p:cNvPr id="131" name="Image 13" descr="preencoded.png">    </p:cNvPr>
          <p:cNvPicPr>
            <a:picLocks noChangeAspect="1"/>
          </p:cNvPicPr>
          <p:nvPr/>
        </p:nvPicPr>
        <p:blipFill>
          <a:blip r:embed="rId14"/>
          <a:stretch>
            <a:fillRect/>
          </a:stretch>
        </p:blipFill>
        <p:spPr>
          <a:xfrm>
            <a:off x="4972050" y="10972800"/>
            <a:ext cx="100013" cy="100013"/>
          </a:xfrm>
          <a:prstGeom prst="rect">
            <a:avLst/>
          </a:prstGeom>
        </p:spPr>
      </p:pic>
      <p:sp>
        <p:nvSpPr>
          <p:cNvPr id="132" name="Text 116"/>
          <p:cNvSpPr/>
          <p:nvPr/>
        </p:nvSpPr>
        <p:spPr>
          <a:xfrm>
            <a:off x="5129213" y="10944225"/>
            <a:ext cx="1802569" cy="142875"/>
          </a:xfrm>
          <a:prstGeom prst="rect">
            <a:avLst/>
          </a:prstGeom>
          <a:noFill/>
          <a:ln/>
        </p:spPr>
        <p:txBody>
          <a:bodyPr wrap="square" lIns="0" tIns="0" rIns="0" bIns="0" rtlCol="0" anchor="ctr">
            <a:spAutoFit/>
          </a:bodyPr>
          <a:lstStyle/>
          <a:p>
            <a:pPr algn="l" indent="0" marL="0">
              <a:buNone/>
            </a:pPr>
            <a:r>
              <a:rPr lang="en-US" sz="788" dirty="0">
                <a:solidFill>
                  <a:srgbClr val="F1F5F9"/>
                </a:solidFill>
                <a:latin typeface="Segoe UI" pitchFamily="34" charset="0"/>
                <a:ea typeface="Segoe UI" pitchFamily="34" charset="-122"/>
                <a:cs typeface="Segoe UI" pitchFamily="34" charset="-120"/>
              </a:rPr>
              <a:t>Don't use comments for version control</a:t>
            </a:r>
            <a:endParaRPr lang="en-US" sz="788" dirty="0"/>
          </a:p>
        </p:txBody>
      </p:sp>
      <p:sp>
        <p:nvSpPr>
          <p:cNvPr id="133" name="Shape 117"/>
          <p:cNvSpPr/>
          <p:nvPr/>
        </p:nvSpPr>
        <p:spPr>
          <a:xfrm>
            <a:off x="457200" y="11601450"/>
            <a:ext cx="8229600" cy="2957513"/>
          </a:xfrm>
          <a:prstGeom prst="rect">
            <a:avLst/>
          </a:prstGeom>
          <a:solidFill>
            <a:srgbClr val="FFFFFF">
              <a:alpha val="10000"/>
            </a:srgbClr>
          </a:solidFill>
          <a:ln w="99">
            <a:solidFill>
              <a:srgbClr val="60A5FA">
                <a:alpha val="30000"/>
              </a:srgbClr>
            </a:solidFill>
            <a:prstDash val="solid"/>
          </a:ln>
        </p:spPr>
      </p:sp>
      <p:sp>
        <p:nvSpPr>
          <p:cNvPr id="134" name="Text 118"/>
          <p:cNvSpPr/>
          <p:nvPr/>
        </p:nvSpPr>
        <p:spPr>
          <a:xfrm>
            <a:off x="628650" y="11772900"/>
            <a:ext cx="7958138" cy="228600"/>
          </a:xfrm>
          <a:prstGeom prst="rect">
            <a:avLst/>
          </a:prstGeom>
          <a:noFill/>
          <a:ln/>
        </p:spPr>
        <p:txBody>
          <a:bodyPr wrap="square" lIns="0" tIns="0" rIns="0" bIns="0" rtlCol="0" anchor="ctr">
            <a:spAutoFit/>
          </a:bodyPr>
          <a:lstStyle/>
          <a:p>
            <a:pPr indent="0" marL="0">
              <a:buNone/>
            </a:pPr>
            <a:r>
              <a:rPr lang="en-US" sz="1350" b="1" dirty="0">
                <a:solidFill>
                  <a:srgbClr val="BFDBFE"/>
                </a:solidFill>
                <a:latin typeface="Segoe UI" pitchFamily="34" charset="0"/>
                <a:ea typeface="Segoe UI" pitchFamily="34" charset="-122"/>
                <a:cs typeface="Segoe UI" pitchFamily="34" charset="-120"/>
              </a:rPr>
              <a:t>Comments in VS Code</a:t>
            </a:r>
            <a:endParaRPr lang="en-US" sz="1350" dirty="0"/>
          </a:p>
        </p:txBody>
      </p:sp>
      <p:sp>
        <p:nvSpPr>
          <p:cNvPr id="135" name="Shape 119"/>
          <p:cNvSpPr/>
          <p:nvPr/>
        </p:nvSpPr>
        <p:spPr>
          <a:xfrm>
            <a:off x="628650" y="12115800"/>
            <a:ext cx="2514600" cy="1514475"/>
          </a:xfrm>
          <a:prstGeom prst="rect">
            <a:avLst/>
          </a:prstGeom>
          <a:solidFill>
            <a:srgbClr val="1E3A8A">
              <a:alpha val="30000"/>
            </a:srgbClr>
          </a:solidFill>
          <a:ln/>
        </p:spPr>
      </p:sp>
      <p:sp>
        <p:nvSpPr>
          <p:cNvPr id="136" name="Text 120"/>
          <p:cNvSpPr/>
          <p:nvPr/>
        </p:nvSpPr>
        <p:spPr>
          <a:xfrm>
            <a:off x="742950" y="12230100"/>
            <a:ext cx="2357438" cy="200025"/>
          </a:xfrm>
          <a:prstGeom prst="rect">
            <a:avLst/>
          </a:prstGeom>
          <a:noFill/>
          <a:ln/>
        </p:spPr>
        <p:txBody>
          <a:bodyPr wrap="square" lIns="0" tIns="0" rIns="0" bIns="0" rtlCol="0" anchor="ctr">
            <a:spAutoFit/>
          </a:bodyPr>
          <a:lstStyle/>
          <a:p>
            <a:pPr indent="0" marL="0">
              <a:buNone/>
            </a:pPr>
            <a:r>
              <a:rPr lang="en-US" sz="1125" b="1" dirty="0">
                <a:solidFill>
                  <a:srgbClr val="F1F5F9"/>
                </a:solidFill>
                <a:latin typeface="Segoe UI" pitchFamily="34" charset="0"/>
                <a:ea typeface="Segoe UI" pitchFamily="34" charset="-122"/>
                <a:cs typeface="Segoe UI" pitchFamily="34" charset="-120"/>
              </a:rPr>
              <a:t>Keyboard Shortcuts</a:t>
            </a:r>
            <a:endParaRPr lang="en-US" sz="1125" dirty="0"/>
          </a:p>
        </p:txBody>
      </p:sp>
      <p:pic>
        <p:nvPicPr>
          <p:cNvPr id="137" name="Image 14" descr="preencoded.png">    </p:cNvPr>
          <p:cNvPicPr>
            <a:picLocks noChangeAspect="1"/>
          </p:cNvPicPr>
          <p:nvPr/>
        </p:nvPicPr>
        <p:blipFill>
          <a:blip r:embed="rId15"/>
          <a:stretch>
            <a:fillRect/>
          </a:stretch>
        </p:blipFill>
        <p:spPr>
          <a:xfrm>
            <a:off x="742950" y="12544425"/>
            <a:ext cx="112514" cy="100013"/>
          </a:xfrm>
          <a:prstGeom prst="rect">
            <a:avLst/>
          </a:prstGeom>
        </p:spPr>
      </p:pic>
      <p:sp>
        <p:nvSpPr>
          <p:cNvPr id="138" name="Text 121"/>
          <p:cNvSpPr/>
          <p:nvPr/>
        </p:nvSpPr>
        <p:spPr>
          <a:xfrm>
            <a:off x="912614" y="12530138"/>
            <a:ext cx="329868" cy="112514"/>
          </a:xfrm>
          <a:prstGeom prst="rect">
            <a:avLst/>
          </a:prstGeom>
          <a:noFill/>
          <a:ln/>
        </p:spPr>
        <p:txBody>
          <a:bodyPr wrap="none" lIns="0" tIns="0" rIns="0" bIns="0" rtlCol="0" anchor="ctr">
            <a:spAutoFit/>
          </a:bodyPr>
          <a:lstStyle/>
          <a:p>
            <a:pPr algn="l" indent="0" marL="0">
              <a:buNone/>
            </a:pPr>
            <a:r>
              <a:rPr lang="en-US" sz="788" b="1" dirty="0">
                <a:solidFill>
                  <a:srgbClr val="60A5FA"/>
                </a:solidFill>
                <a:latin typeface="Segoe UI" pitchFamily="34" charset="0"/>
                <a:ea typeface="Segoe UI" pitchFamily="34" charset="-122"/>
                <a:cs typeface="Segoe UI" pitchFamily="34" charset="-120"/>
              </a:rPr>
              <a:t>Ctrl+/</a:t>
            </a:r>
            <a:endParaRPr lang="en-US" sz="788" dirty="0"/>
          </a:p>
        </p:txBody>
      </p:sp>
      <p:sp>
        <p:nvSpPr>
          <p:cNvPr id="139" name="Text 122"/>
          <p:cNvSpPr/>
          <p:nvPr/>
        </p:nvSpPr>
        <p:spPr>
          <a:xfrm>
            <a:off x="1171045" y="12530138"/>
            <a:ext cx="1075776" cy="112514"/>
          </a:xfrm>
          <a:prstGeom prst="rect">
            <a:avLst/>
          </a:prstGeom>
          <a:noFill/>
          <a:ln/>
        </p:spPr>
        <p:txBody>
          <a:bodyPr wrap="none" lIns="0" tIns="0" rIns="0" bIns="0" rtlCol="0" anchor="ctr">
            <a:spAutoFit/>
          </a:bodyPr>
          <a:lstStyle/>
          <a:p>
            <a:pPr algn="l" indent="0" marL="0">
              <a:buNone/>
            </a:pPr>
            <a:r>
              <a:rPr lang="en-US" sz="788" dirty="0">
                <a:solidFill>
                  <a:srgbClr val="F1F5F9"/>
                </a:solidFill>
                <a:latin typeface="Segoe UI" pitchFamily="34" charset="0"/>
                <a:ea typeface="Segoe UI" pitchFamily="34" charset="-122"/>
                <a:cs typeface="Segoe UI" pitchFamily="34" charset="-120"/>
              </a:rPr>
              <a:t>- Toggle line comment</a:t>
            </a:r>
            <a:endParaRPr lang="en-US" sz="788" dirty="0"/>
          </a:p>
        </p:txBody>
      </p:sp>
      <p:pic>
        <p:nvPicPr>
          <p:cNvPr id="140" name="Image 15" descr="preencoded.png">    </p:cNvPr>
          <p:cNvPicPr>
            <a:picLocks noChangeAspect="1"/>
          </p:cNvPicPr>
          <p:nvPr/>
        </p:nvPicPr>
        <p:blipFill>
          <a:blip r:embed="rId16"/>
          <a:stretch>
            <a:fillRect/>
          </a:stretch>
        </p:blipFill>
        <p:spPr>
          <a:xfrm>
            <a:off x="742950" y="12715875"/>
            <a:ext cx="112514" cy="100013"/>
          </a:xfrm>
          <a:prstGeom prst="rect">
            <a:avLst/>
          </a:prstGeom>
        </p:spPr>
      </p:pic>
      <p:sp>
        <p:nvSpPr>
          <p:cNvPr id="141" name="Text 123"/>
          <p:cNvSpPr/>
          <p:nvPr/>
        </p:nvSpPr>
        <p:spPr>
          <a:xfrm>
            <a:off x="912614" y="12701588"/>
            <a:ext cx="616009" cy="112514"/>
          </a:xfrm>
          <a:prstGeom prst="rect">
            <a:avLst/>
          </a:prstGeom>
          <a:noFill/>
          <a:ln/>
        </p:spPr>
        <p:txBody>
          <a:bodyPr wrap="none" lIns="0" tIns="0" rIns="0" bIns="0" rtlCol="0" anchor="ctr">
            <a:spAutoFit/>
          </a:bodyPr>
          <a:lstStyle/>
          <a:p>
            <a:pPr algn="l" indent="0" marL="0">
              <a:buNone/>
            </a:pPr>
            <a:r>
              <a:rPr lang="en-US" sz="788" b="1" dirty="0">
                <a:solidFill>
                  <a:srgbClr val="60A5FA"/>
                </a:solidFill>
                <a:latin typeface="Segoe UI" pitchFamily="34" charset="0"/>
                <a:ea typeface="Segoe UI" pitchFamily="34" charset="-122"/>
                <a:cs typeface="Segoe UI" pitchFamily="34" charset="-120"/>
              </a:rPr>
              <a:t>Shift+Alt+A</a:t>
            </a:r>
            <a:endParaRPr lang="en-US" sz="788" dirty="0"/>
          </a:p>
        </p:txBody>
      </p:sp>
      <p:sp>
        <p:nvSpPr>
          <p:cNvPr id="142" name="Text 124"/>
          <p:cNvSpPr/>
          <p:nvPr/>
        </p:nvSpPr>
        <p:spPr>
          <a:xfrm>
            <a:off x="1457185" y="12701588"/>
            <a:ext cx="1153576" cy="112514"/>
          </a:xfrm>
          <a:prstGeom prst="rect">
            <a:avLst/>
          </a:prstGeom>
          <a:noFill/>
          <a:ln/>
        </p:spPr>
        <p:txBody>
          <a:bodyPr wrap="none" lIns="0" tIns="0" rIns="0" bIns="0" rtlCol="0" anchor="ctr">
            <a:spAutoFit/>
          </a:bodyPr>
          <a:lstStyle/>
          <a:p>
            <a:pPr algn="l" indent="0" marL="0">
              <a:buNone/>
            </a:pPr>
            <a:r>
              <a:rPr lang="en-US" sz="788" dirty="0">
                <a:solidFill>
                  <a:srgbClr val="F1F5F9"/>
                </a:solidFill>
                <a:latin typeface="Segoe UI" pitchFamily="34" charset="0"/>
                <a:ea typeface="Segoe UI" pitchFamily="34" charset="-122"/>
                <a:cs typeface="Segoe UI" pitchFamily="34" charset="-120"/>
              </a:rPr>
              <a:t>- Toggle block comment</a:t>
            </a:r>
            <a:endParaRPr lang="en-US" sz="788" dirty="0"/>
          </a:p>
        </p:txBody>
      </p:sp>
      <p:pic>
        <p:nvPicPr>
          <p:cNvPr id="143" name="Image 16" descr="preencoded.png">    </p:cNvPr>
          <p:cNvPicPr>
            <a:picLocks noChangeAspect="1"/>
          </p:cNvPicPr>
          <p:nvPr/>
        </p:nvPicPr>
        <p:blipFill>
          <a:blip r:embed="rId17"/>
          <a:stretch>
            <a:fillRect/>
          </a:stretch>
        </p:blipFill>
        <p:spPr>
          <a:xfrm>
            <a:off x="742950" y="12887325"/>
            <a:ext cx="112514" cy="100013"/>
          </a:xfrm>
          <a:prstGeom prst="rect">
            <a:avLst/>
          </a:prstGeom>
        </p:spPr>
      </p:pic>
      <p:sp>
        <p:nvSpPr>
          <p:cNvPr id="144" name="Text 125"/>
          <p:cNvSpPr/>
          <p:nvPr/>
        </p:nvSpPr>
        <p:spPr>
          <a:xfrm>
            <a:off x="912614" y="12873038"/>
            <a:ext cx="177087" cy="112514"/>
          </a:xfrm>
          <a:prstGeom prst="rect">
            <a:avLst/>
          </a:prstGeom>
          <a:noFill/>
          <a:ln/>
        </p:spPr>
        <p:txBody>
          <a:bodyPr wrap="none" lIns="0" tIns="0" rIns="0" bIns="0" rtlCol="0" anchor="ctr">
            <a:spAutoFit/>
          </a:bodyPr>
          <a:lstStyle/>
          <a:p>
            <a:pPr algn="l" indent="0" marL="0">
              <a:buNone/>
            </a:pPr>
            <a:r>
              <a:rPr lang="en-US" sz="788" b="1" dirty="0">
                <a:solidFill>
                  <a:srgbClr val="60A5FA"/>
                </a:solidFill>
                <a:latin typeface="Segoe UI" pitchFamily="34" charset="0"/>
                <a:ea typeface="Segoe UI" pitchFamily="34" charset="-122"/>
                <a:cs typeface="Segoe UI" pitchFamily="34" charset="-120"/>
              </a:rPr>
              <a:t>/**</a:t>
            </a:r>
            <a:endParaRPr lang="en-US" sz="788" dirty="0"/>
          </a:p>
        </p:txBody>
      </p:sp>
      <p:sp>
        <p:nvSpPr>
          <p:cNvPr id="145" name="Text 126"/>
          <p:cNvSpPr/>
          <p:nvPr/>
        </p:nvSpPr>
        <p:spPr>
          <a:xfrm>
            <a:off x="1018263" y="12873038"/>
            <a:ext cx="1330635" cy="112514"/>
          </a:xfrm>
          <a:prstGeom prst="rect">
            <a:avLst/>
          </a:prstGeom>
          <a:noFill/>
          <a:ln/>
        </p:spPr>
        <p:txBody>
          <a:bodyPr wrap="square" lIns="0" tIns="0" rIns="0" bIns="0" rtlCol="0" anchor="ctr">
            <a:spAutoFit/>
          </a:bodyPr>
          <a:lstStyle/>
          <a:p>
            <a:pPr algn="l" indent="0" marL="0">
              <a:buNone/>
            </a:pPr>
            <a:r>
              <a:rPr lang="en-US" sz="788" dirty="0">
                <a:solidFill>
                  <a:srgbClr val="F1F5F9"/>
                </a:solidFill>
                <a:latin typeface="Segoe UI" pitchFamily="34" charset="0"/>
                <a:ea typeface="Segoe UI" pitchFamily="34" charset="-122"/>
                <a:cs typeface="Segoe UI" pitchFamily="34" charset="-120"/>
              </a:rPr>
              <a:t>+ Enter - Generate Javadoc</a:t>
            </a:r>
            <a:endParaRPr lang="en-US" sz="788" dirty="0"/>
          </a:p>
        </p:txBody>
      </p:sp>
      <p:sp>
        <p:nvSpPr>
          <p:cNvPr id="146" name="Shape 127"/>
          <p:cNvSpPr/>
          <p:nvPr/>
        </p:nvSpPr>
        <p:spPr>
          <a:xfrm>
            <a:off x="3314700" y="12115800"/>
            <a:ext cx="2514600" cy="1514475"/>
          </a:xfrm>
          <a:prstGeom prst="rect">
            <a:avLst/>
          </a:prstGeom>
          <a:solidFill>
            <a:srgbClr val="1E3A8A">
              <a:alpha val="30000"/>
            </a:srgbClr>
          </a:solidFill>
          <a:ln/>
        </p:spPr>
      </p:sp>
      <p:sp>
        <p:nvSpPr>
          <p:cNvPr id="147" name="Text 128"/>
          <p:cNvSpPr/>
          <p:nvPr/>
        </p:nvSpPr>
        <p:spPr>
          <a:xfrm>
            <a:off x="3429000" y="12230100"/>
            <a:ext cx="2357438" cy="200025"/>
          </a:xfrm>
          <a:prstGeom prst="rect">
            <a:avLst/>
          </a:prstGeom>
          <a:noFill/>
          <a:ln/>
        </p:spPr>
        <p:txBody>
          <a:bodyPr wrap="square" lIns="0" tIns="0" rIns="0" bIns="0" rtlCol="0" anchor="ctr">
            <a:spAutoFit/>
          </a:bodyPr>
          <a:lstStyle/>
          <a:p>
            <a:pPr indent="0" marL="0">
              <a:buNone/>
            </a:pPr>
            <a:r>
              <a:rPr lang="en-US" sz="1125" b="1" dirty="0">
                <a:solidFill>
                  <a:srgbClr val="F1F5F9"/>
                </a:solidFill>
                <a:latin typeface="Segoe UI" pitchFamily="34" charset="0"/>
                <a:ea typeface="Segoe UI" pitchFamily="34" charset="-122"/>
                <a:cs typeface="Segoe UI" pitchFamily="34" charset="-120"/>
              </a:rPr>
              <a:t>Javadoc Generation</a:t>
            </a:r>
            <a:endParaRPr lang="en-US" sz="1125" dirty="0"/>
          </a:p>
        </p:txBody>
      </p:sp>
      <p:sp>
        <p:nvSpPr>
          <p:cNvPr id="148" name="Text 129"/>
          <p:cNvSpPr/>
          <p:nvPr/>
        </p:nvSpPr>
        <p:spPr>
          <a:xfrm>
            <a:off x="3429000" y="12515850"/>
            <a:ext cx="2357438" cy="285750"/>
          </a:xfrm>
          <a:prstGeom prst="rect">
            <a:avLst/>
          </a:prstGeom>
          <a:noFill/>
          <a:ln/>
        </p:spPr>
        <p:txBody>
          <a:bodyPr wrap="square" lIns="0" tIns="0" rIns="0" bIns="0" rtlCol="0" anchor="ctr">
            <a:spAutoFit/>
          </a:bodyPr>
          <a:lstStyle/>
          <a:p>
            <a:pPr indent="0" marL="0">
              <a:buNone/>
            </a:pPr>
            <a:r>
              <a:rPr lang="en-US" sz="788" dirty="0">
                <a:solidFill>
                  <a:srgbClr val="F1F5F9"/>
                </a:solidFill>
                <a:latin typeface="Segoe UI" pitchFamily="34" charset="0"/>
                <a:ea typeface="Segoe UI" pitchFamily="34" charset="-122"/>
                <a:cs typeface="Segoe UI" pitchFamily="34" charset="-120"/>
              </a:rPr>
              <a:t>VS Code can automatically generate Javadoc templates:</a:t>
            </a:r>
            <a:endParaRPr lang="en-US" sz="788" dirty="0"/>
          </a:p>
        </p:txBody>
      </p:sp>
      <p:sp>
        <p:nvSpPr>
          <p:cNvPr id="149" name="Text 130"/>
          <p:cNvSpPr/>
          <p:nvPr/>
        </p:nvSpPr>
        <p:spPr>
          <a:xfrm>
            <a:off x="3543300" y="12858750"/>
            <a:ext cx="2243138" cy="142875"/>
          </a:xfrm>
          <a:prstGeom prst="rect">
            <a:avLst/>
          </a:prstGeom>
          <a:noFill/>
          <a:ln/>
        </p:spPr>
        <p:txBody>
          <a:bodyPr wrap="square" lIns="0" tIns="0" rIns="0" bIns="0" rtlCol="0" anchor="ctr">
            <a:spAutoFit/>
          </a:bodyPr>
          <a:lstStyle/>
          <a:p>
            <a:pPr algn="l" indent="0" marL="0">
              <a:buNone/>
            </a:pPr>
            <a:r>
              <a:rPr lang="en-US" sz="788" dirty="0">
                <a:solidFill>
                  <a:srgbClr val="F1F5F9"/>
                </a:solidFill>
                <a:latin typeface="Segoe UI" pitchFamily="34" charset="0"/>
                <a:ea typeface="Segoe UI" pitchFamily="34" charset="-122"/>
                <a:cs typeface="Segoe UI" pitchFamily="34" charset="-120"/>
              </a:rPr>
              <a:t>Position cursor above method/class</a:t>
            </a:r>
            <a:endParaRPr lang="en-US" sz="788" dirty="0"/>
          </a:p>
        </p:txBody>
      </p:sp>
      <p:sp>
        <p:nvSpPr>
          <p:cNvPr id="150" name="Text 131"/>
          <p:cNvSpPr/>
          <p:nvPr/>
        </p:nvSpPr>
        <p:spPr>
          <a:xfrm>
            <a:off x="3543300" y="13030200"/>
            <a:ext cx="2243138" cy="142875"/>
          </a:xfrm>
          <a:prstGeom prst="rect">
            <a:avLst/>
          </a:prstGeom>
          <a:noFill/>
          <a:ln/>
        </p:spPr>
        <p:txBody>
          <a:bodyPr wrap="square" lIns="0" tIns="0" rIns="0" bIns="0" rtlCol="0" anchor="ctr">
            <a:spAutoFit/>
          </a:bodyPr>
          <a:lstStyle/>
          <a:p>
            <a:pPr algn="l" indent="0" marL="0">
              <a:buNone/>
            </a:pPr>
            <a:r>
              <a:rPr lang="en-US" sz="788" dirty="0">
                <a:solidFill>
                  <a:srgbClr val="F1F5F9"/>
                </a:solidFill>
                <a:latin typeface="Segoe UI" pitchFamily="34" charset="0"/>
                <a:ea typeface="Segoe UI" pitchFamily="34" charset="-122"/>
                <a:cs typeface="Segoe UI" pitchFamily="34" charset="-120"/>
              </a:rPr>
              <a:t>Type /** and press Enter</a:t>
            </a:r>
            <a:endParaRPr lang="en-US" sz="788" dirty="0"/>
          </a:p>
        </p:txBody>
      </p:sp>
      <p:sp>
        <p:nvSpPr>
          <p:cNvPr id="151" name="Text 132"/>
          <p:cNvSpPr/>
          <p:nvPr/>
        </p:nvSpPr>
        <p:spPr>
          <a:xfrm>
            <a:off x="3543300" y="13201650"/>
            <a:ext cx="2243138" cy="142875"/>
          </a:xfrm>
          <a:prstGeom prst="rect">
            <a:avLst/>
          </a:prstGeom>
          <a:noFill/>
          <a:ln/>
        </p:spPr>
        <p:txBody>
          <a:bodyPr wrap="square" lIns="0" tIns="0" rIns="0" bIns="0" rtlCol="0" anchor="ctr">
            <a:spAutoFit/>
          </a:bodyPr>
          <a:lstStyle/>
          <a:p>
            <a:pPr algn="l" indent="0" marL="0">
              <a:buNone/>
            </a:pPr>
            <a:r>
              <a:rPr lang="en-US" sz="788" dirty="0">
                <a:solidFill>
                  <a:srgbClr val="F1F5F9"/>
                </a:solidFill>
                <a:latin typeface="Segoe UI" pitchFamily="34" charset="0"/>
                <a:ea typeface="Segoe UI" pitchFamily="34" charset="-122"/>
                <a:cs typeface="Segoe UI" pitchFamily="34" charset="-120"/>
              </a:rPr>
              <a:t>VS Code generates template with parameters</a:t>
            </a:r>
            <a:endParaRPr lang="en-US" sz="788" dirty="0"/>
          </a:p>
        </p:txBody>
      </p:sp>
      <p:sp>
        <p:nvSpPr>
          <p:cNvPr id="152" name="Text 133"/>
          <p:cNvSpPr/>
          <p:nvPr/>
        </p:nvSpPr>
        <p:spPr>
          <a:xfrm>
            <a:off x="3543300" y="13373100"/>
            <a:ext cx="2243138" cy="142875"/>
          </a:xfrm>
          <a:prstGeom prst="rect">
            <a:avLst/>
          </a:prstGeom>
          <a:noFill/>
          <a:ln/>
        </p:spPr>
        <p:txBody>
          <a:bodyPr wrap="square" lIns="0" tIns="0" rIns="0" bIns="0" rtlCol="0" anchor="ctr">
            <a:spAutoFit/>
          </a:bodyPr>
          <a:lstStyle/>
          <a:p>
            <a:pPr algn="l" indent="0" marL="0">
              <a:buNone/>
            </a:pPr>
            <a:r>
              <a:rPr lang="en-US" sz="788" dirty="0">
                <a:solidFill>
                  <a:srgbClr val="F1F5F9"/>
                </a:solidFill>
                <a:latin typeface="Segoe UI" pitchFamily="34" charset="0"/>
                <a:ea typeface="Segoe UI" pitchFamily="34" charset="-122"/>
                <a:cs typeface="Segoe UI" pitchFamily="34" charset="-120"/>
              </a:rPr>
              <a:t>Fill in the descriptions</a:t>
            </a:r>
            <a:endParaRPr lang="en-US" sz="788" dirty="0"/>
          </a:p>
        </p:txBody>
      </p:sp>
      <p:sp>
        <p:nvSpPr>
          <p:cNvPr id="153" name="Shape 134"/>
          <p:cNvSpPr/>
          <p:nvPr/>
        </p:nvSpPr>
        <p:spPr>
          <a:xfrm>
            <a:off x="6000750" y="12115800"/>
            <a:ext cx="2514600" cy="1514475"/>
          </a:xfrm>
          <a:prstGeom prst="rect">
            <a:avLst/>
          </a:prstGeom>
          <a:solidFill>
            <a:srgbClr val="1E3A8A">
              <a:alpha val="30000"/>
            </a:srgbClr>
          </a:solidFill>
          <a:ln/>
        </p:spPr>
      </p:sp>
      <p:sp>
        <p:nvSpPr>
          <p:cNvPr id="154" name="Text 135"/>
          <p:cNvSpPr/>
          <p:nvPr/>
        </p:nvSpPr>
        <p:spPr>
          <a:xfrm>
            <a:off x="6115050" y="12230100"/>
            <a:ext cx="2357438" cy="200025"/>
          </a:xfrm>
          <a:prstGeom prst="rect">
            <a:avLst/>
          </a:prstGeom>
          <a:noFill/>
          <a:ln/>
        </p:spPr>
        <p:txBody>
          <a:bodyPr wrap="square" lIns="0" tIns="0" rIns="0" bIns="0" rtlCol="0" anchor="ctr">
            <a:spAutoFit/>
          </a:bodyPr>
          <a:lstStyle/>
          <a:p>
            <a:pPr indent="0" marL="0">
              <a:buNone/>
            </a:pPr>
            <a:r>
              <a:rPr lang="en-US" sz="1125" b="1" dirty="0">
                <a:solidFill>
                  <a:srgbClr val="F1F5F9"/>
                </a:solidFill>
                <a:latin typeface="Segoe UI" pitchFamily="34" charset="0"/>
                <a:ea typeface="Segoe UI" pitchFamily="34" charset="-122"/>
                <a:cs typeface="Segoe UI" pitchFamily="34" charset="-120"/>
              </a:rPr>
              <a:t>Comment Navigation</a:t>
            </a:r>
            <a:endParaRPr lang="en-US" sz="1125" dirty="0"/>
          </a:p>
        </p:txBody>
      </p:sp>
      <p:pic>
        <p:nvPicPr>
          <p:cNvPr id="155" name="Image 17" descr="preencoded.png">    </p:cNvPr>
          <p:cNvPicPr>
            <a:picLocks noChangeAspect="1"/>
          </p:cNvPicPr>
          <p:nvPr/>
        </p:nvPicPr>
        <p:blipFill>
          <a:blip r:embed="rId18"/>
          <a:stretch>
            <a:fillRect/>
          </a:stretch>
        </p:blipFill>
        <p:spPr>
          <a:xfrm>
            <a:off x="6115050" y="12544425"/>
            <a:ext cx="100013" cy="100013"/>
          </a:xfrm>
          <a:prstGeom prst="rect">
            <a:avLst/>
          </a:prstGeom>
        </p:spPr>
      </p:pic>
      <p:sp>
        <p:nvSpPr>
          <p:cNvPr id="156" name="Text 136"/>
          <p:cNvSpPr/>
          <p:nvPr/>
        </p:nvSpPr>
        <p:spPr>
          <a:xfrm>
            <a:off x="6272213" y="12515850"/>
            <a:ext cx="2011440" cy="142875"/>
          </a:xfrm>
          <a:prstGeom prst="rect">
            <a:avLst/>
          </a:prstGeom>
          <a:noFill/>
          <a:ln/>
        </p:spPr>
        <p:txBody>
          <a:bodyPr wrap="square" lIns="0" tIns="0" rIns="0" bIns="0" rtlCol="0" anchor="ctr">
            <a:spAutoFit/>
          </a:bodyPr>
          <a:lstStyle/>
          <a:p>
            <a:pPr algn="l" indent="0" marL="0">
              <a:buNone/>
            </a:pPr>
            <a:r>
              <a:rPr lang="en-US" sz="788" dirty="0">
                <a:solidFill>
                  <a:srgbClr val="F1F5F9"/>
                </a:solidFill>
                <a:latin typeface="Segoe UI" pitchFamily="34" charset="0"/>
                <a:ea typeface="Segoe UI" pitchFamily="34" charset="-122"/>
                <a:cs typeface="Segoe UI" pitchFamily="34" charset="-120"/>
              </a:rPr>
              <a:t>Use Outline view to see Javadoc comments</a:t>
            </a:r>
            <a:endParaRPr lang="en-US" sz="788" dirty="0"/>
          </a:p>
        </p:txBody>
      </p:sp>
      <p:pic>
        <p:nvPicPr>
          <p:cNvPr id="157" name="Image 18" descr="preencoded.png">    </p:cNvPr>
          <p:cNvPicPr>
            <a:picLocks noChangeAspect="1"/>
          </p:cNvPicPr>
          <p:nvPr/>
        </p:nvPicPr>
        <p:blipFill>
          <a:blip r:embed="rId19"/>
          <a:stretch>
            <a:fillRect/>
          </a:stretch>
        </p:blipFill>
        <p:spPr>
          <a:xfrm>
            <a:off x="6115050" y="12715875"/>
            <a:ext cx="100013" cy="100013"/>
          </a:xfrm>
          <a:prstGeom prst="rect">
            <a:avLst/>
          </a:prstGeom>
        </p:spPr>
      </p:pic>
      <p:sp>
        <p:nvSpPr>
          <p:cNvPr id="158" name="Text 137"/>
          <p:cNvSpPr/>
          <p:nvPr/>
        </p:nvSpPr>
        <p:spPr>
          <a:xfrm>
            <a:off x="6272213" y="12687300"/>
            <a:ext cx="1672475" cy="142875"/>
          </a:xfrm>
          <a:prstGeom prst="rect">
            <a:avLst/>
          </a:prstGeom>
          <a:noFill/>
          <a:ln/>
        </p:spPr>
        <p:txBody>
          <a:bodyPr wrap="square" lIns="0" tIns="0" rIns="0" bIns="0" rtlCol="0" anchor="ctr">
            <a:spAutoFit/>
          </a:bodyPr>
          <a:lstStyle/>
          <a:p>
            <a:pPr algn="l" indent="0" marL="0">
              <a:buNone/>
            </a:pPr>
            <a:r>
              <a:rPr lang="en-US" sz="788" dirty="0">
                <a:solidFill>
                  <a:srgbClr val="F1F5F9"/>
                </a:solidFill>
                <a:latin typeface="Segoe UI" pitchFamily="34" charset="0"/>
                <a:ea typeface="Segoe UI" pitchFamily="34" charset="-122"/>
                <a:cs typeface="Segoe UI" pitchFamily="34" charset="-120"/>
              </a:rPr>
              <a:t>Hover over methods to see Javadoc</a:t>
            </a:r>
            <a:endParaRPr lang="en-US" sz="788" dirty="0"/>
          </a:p>
        </p:txBody>
      </p:sp>
      <p:pic>
        <p:nvPicPr>
          <p:cNvPr id="159" name="Image 19" descr="preencoded.png">    </p:cNvPr>
          <p:cNvPicPr>
            <a:picLocks noChangeAspect="1"/>
          </p:cNvPicPr>
          <p:nvPr/>
        </p:nvPicPr>
        <p:blipFill>
          <a:blip r:embed="rId20"/>
          <a:stretch>
            <a:fillRect/>
          </a:stretch>
        </p:blipFill>
        <p:spPr>
          <a:xfrm>
            <a:off x="6115050" y="12887325"/>
            <a:ext cx="100013" cy="100013"/>
          </a:xfrm>
          <a:prstGeom prst="rect">
            <a:avLst/>
          </a:prstGeom>
        </p:spPr>
      </p:pic>
      <p:sp>
        <p:nvSpPr>
          <p:cNvPr id="160" name="Text 138"/>
          <p:cNvSpPr/>
          <p:nvPr/>
        </p:nvSpPr>
        <p:spPr>
          <a:xfrm>
            <a:off x="6272213" y="12858750"/>
            <a:ext cx="1785128" cy="142875"/>
          </a:xfrm>
          <a:prstGeom prst="rect">
            <a:avLst/>
          </a:prstGeom>
          <a:noFill/>
          <a:ln/>
        </p:spPr>
        <p:txBody>
          <a:bodyPr wrap="square" lIns="0" tIns="0" rIns="0" bIns="0" rtlCol="0" anchor="ctr">
            <a:spAutoFit/>
          </a:bodyPr>
          <a:lstStyle/>
          <a:p>
            <a:pPr algn="l" indent="0" marL="0">
              <a:buNone/>
            </a:pPr>
            <a:r>
              <a:rPr lang="en-US" sz="788" dirty="0">
                <a:solidFill>
                  <a:srgbClr val="F1F5F9"/>
                </a:solidFill>
                <a:latin typeface="Segoe UI" pitchFamily="34" charset="0"/>
                <a:ea typeface="Segoe UI" pitchFamily="34" charset="-122"/>
                <a:cs typeface="Segoe UI" pitchFamily="34" charset="-120"/>
              </a:rPr>
              <a:t>Use TODO comments for task tracking</a:t>
            </a:r>
            <a:endParaRPr lang="en-US" sz="788" dirty="0"/>
          </a:p>
        </p:txBody>
      </p:sp>
      <p:pic>
        <p:nvPicPr>
          <p:cNvPr id="161" name="Image 20" descr="preencoded.png">    </p:cNvPr>
          <p:cNvPicPr>
            <a:picLocks noChangeAspect="1"/>
          </p:cNvPicPr>
          <p:nvPr/>
        </p:nvPicPr>
        <p:blipFill>
          <a:blip r:embed="rId21"/>
          <a:stretch>
            <a:fillRect/>
          </a:stretch>
        </p:blipFill>
        <p:spPr>
          <a:xfrm>
            <a:off x="6115050" y="13058775"/>
            <a:ext cx="100013" cy="100013"/>
          </a:xfrm>
          <a:prstGeom prst="rect">
            <a:avLst/>
          </a:prstGeom>
        </p:spPr>
      </p:pic>
      <p:sp>
        <p:nvSpPr>
          <p:cNvPr id="162" name="Text 139"/>
          <p:cNvSpPr/>
          <p:nvPr/>
        </p:nvSpPr>
        <p:spPr>
          <a:xfrm>
            <a:off x="6272213" y="13030200"/>
            <a:ext cx="2163301" cy="142875"/>
          </a:xfrm>
          <a:prstGeom prst="rect">
            <a:avLst/>
          </a:prstGeom>
          <a:noFill/>
          <a:ln/>
        </p:spPr>
        <p:txBody>
          <a:bodyPr wrap="square" lIns="0" tIns="0" rIns="0" bIns="0" rtlCol="0" anchor="ctr">
            <a:spAutoFit/>
          </a:bodyPr>
          <a:lstStyle/>
          <a:p>
            <a:pPr algn="l" indent="0" marL="0">
              <a:buNone/>
            </a:pPr>
            <a:r>
              <a:rPr lang="en-US" sz="788" dirty="0">
                <a:solidFill>
                  <a:srgbClr val="F1F5F9"/>
                </a:solidFill>
                <a:latin typeface="Segoe UI" pitchFamily="34" charset="0"/>
                <a:ea typeface="Segoe UI" pitchFamily="34" charset="-122"/>
                <a:cs typeface="Segoe UI" pitchFamily="34" charset="-120"/>
              </a:rPr>
              <a:t>Search for TODO comments in Problems panel</a:t>
            </a:r>
            <a:endParaRPr lang="en-US" sz="788" dirty="0"/>
          </a:p>
        </p:txBody>
      </p:sp>
      <p:sp>
        <p:nvSpPr>
          <p:cNvPr id="163" name="Shape 140"/>
          <p:cNvSpPr/>
          <p:nvPr/>
        </p:nvSpPr>
        <p:spPr>
          <a:xfrm>
            <a:off x="628650" y="13801725"/>
            <a:ext cx="7886700" cy="571500"/>
          </a:xfrm>
          <a:prstGeom prst="rect">
            <a:avLst/>
          </a:prstGeom>
          <a:solidFill>
            <a:srgbClr val="1E3A8A">
              <a:alpha val="30000"/>
            </a:srgbClr>
          </a:solidFill>
          <a:ln/>
        </p:spPr>
      </p:sp>
      <p:pic>
        <p:nvPicPr>
          <p:cNvPr id="164" name="Image 21" descr="preencoded.png">    </p:cNvPr>
          <p:cNvPicPr>
            <a:picLocks noChangeAspect="1"/>
          </p:cNvPicPr>
          <p:nvPr/>
        </p:nvPicPr>
        <p:blipFill>
          <a:blip r:embed="rId22"/>
          <a:stretch>
            <a:fillRect/>
          </a:stretch>
        </p:blipFill>
        <p:spPr>
          <a:xfrm>
            <a:off x="742950" y="14001750"/>
            <a:ext cx="128588" cy="171450"/>
          </a:xfrm>
          <a:prstGeom prst="rect">
            <a:avLst/>
          </a:prstGeom>
        </p:spPr>
      </p:pic>
      <p:sp>
        <p:nvSpPr>
          <p:cNvPr id="165" name="Text 141"/>
          <p:cNvSpPr/>
          <p:nvPr/>
        </p:nvSpPr>
        <p:spPr>
          <a:xfrm>
            <a:off x="985838" y="13916025"/>
            <a:ext cx="7486650" cy="342900"/>
          </a:xfrm>
          <a:prstGeom prst="rect">
            <a:avLst/>
          </a:prstGeom>
          <a:noFill/>
          <a:ln/>
        </p:spPr>
        <p:txBody>
          <a:bodyPr wrap="square" lIns="0" tIns="0" rIns="0" bIns="0" rtlCol="0" anchor="ctr">
            <a:spAutoFit/>
          </a:bodyPr>
          <a:lstStyle/>
          <a:p>
            <a:pPr indent="0" marL="0">
              <a:buNone/>
            </a:pPr>
            <a:r>
              <a:rPr lang="en-US" sz="900" dirty="0">
                <a:solidFill>
                  <a:srgbClr val="F1F5F9"/>
                </a:solidFill>
                <a:latin typeface="Segoe UI" pitchFamily="34" charset="0"/>
                <a:ea typeface="Segoe UI" pitchFamily="34" charset="-122"/>
                <a:cs typeface="Segoe UI" pitchFamily="34" charset="-120"/>
              </a:rPr>
              <a:t>Comments are an essential part of writing maintainable code. They help other developers (and your future self) understand your code's purpose and functionality. Well-commented code is easier to maintain, debug, and extend.</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12676584"/>
          </a:xfrm>
          <a:prstGeom prst="rect">
            <a:avLst/>
          </a:prstGeom>
        </p:spPr>
      </p:pic>
      <p:sp>
        <p:nvSpPr>
          <p:cNvPr id="3" name="Text 0"/>
          <p:cNvSpPr/>
          <p:nvPr/>
        </p:nvSpPr>
        <p:spPr>
          <a:xfrm>
            <a:off x="457200" y="455414"/>
            <a:ext cx="1257244" cy="287536"/>
          </a:xfrm>
          <a:prstGeom prst="rect">
            <a:avLst/>
          </a:prstGeom>
          <a:noFill/>
          <a:ln/>
        </p:spPr>
        <p:txBody>
          <a:bodyPr wrap="none" lIns="0" tIns="0" rIns="0" bIns="0" rtlCol="0" anchor="ctr">
            <a:spAutoFit/>
          </a:bodyPr>
          <a:lstStyle/>
          <a:p>
            <a:pPr indent="0" marL="0">
              <a:buNone/>
            </a:pPr>
            <a:r>
              <a:rPr lang="en-US" sz="2025" b="1" dirty="0">
                <a:solidFill>
                  <a:srgbClr val="F1F5F9"/>
                </a:solidFill>
                <a:latin typeface="Segoe UI" pitchFamily="34" charset="0"/>
                <a:ea typeface="Segoe UI" pitchFamily="34" charset="-122"/>
                <a:cs typeface="Segoe UI" pitchFamily="34" charset="-120"/>
              </a:rPr>
              <a:t>Common</a:t>
            </a:r>
            <a:endParaRPr lang="en-US" sz="2025" dirty="0"/>
          </a:p>
        </p:txBody>
      </p:sp>
      <p:sp>
        <p:nvSpPr>
          <p:cNvPr id="4" name="Text 1"/>
          <p:cNvSpPr/>
          <p:nvPr/>
        </p:nvSpPr>
        <p:spPr>
          <a:xfrm>
            <a:off x="1643007" y="455414"/>
            <a:ext cx="843353" cy="287536"/>
          </a:xfrm>
          <a:prstGeom prst="rect">
            <a:avLst/>
          </a:prstGeom>
          <a:noFill/>
          <a:ln/>
        </p:spPr>
        <p:txBody>
          <a:bodyPr wrap="none" lIns="0" tIns="0" rIns="0" bIns="0" rtlCol="0" anchor="ctr">
            <a:spAutoFit/>
          </a:bodyPr>
          <a:lstStyle/>
          <a:p>
            <a:pPr indent="0" marL="0">
              <a:buNone/>
            </a:pPr>
            <a:r>
              <a:rPr lang="en-US" sz="2025" b="1" dirty="0">
                <a:solidFill>
                  <a:srgbClr val="60A5FA"/>
                </a:solidFill>
                <a:latin typeface="Segoe UI" pitchFamily="34" charset="0"/>
                <a:ea typeface="Segoe UI" pitchFamily="34" charset="-122"/>
                <a:cs typeface="Segoe UI" pitchFamily="34" charset="-120"/>
              </a:rPr>
              <a:t>Errors</a:t>
            </a:r>
            <a:endParaRPr lang="en-US" sz="2025" dirty="0"/>
          </a:p>
        </p:txBody>
      </p:sp>
      <p:sp>
        <p:nvSpPr>
          <p:cNvPr id="5" name="Text 2"/>
          <p:cNvSpPr/>
          <p:nvPr/>
        </p:nvSpPr>
        <p:spPr>
          <a:xfrm>
            <a:off x="2414922" y="455414"/>
            <a:ext cx="2685883" cy="287536"/>
          </a:xfrm>
          <a:prstGeom prst="rect">
            <a:avLst/>
          </a:prstGeom>
          <a:noFill/>
          <a:ln/>
        </p:spPr>
        <p:txBody>
          <a:bodyPr wrap="square" lIns="0" tIns="0" rIns="0" bIns="0" rtlCol="0" anchor="ctr">
            <a:spAutoFit/>
          </a:bodyPr>
          <a:lstStyle/>
          <a:p>
            <a:pPr indent="0" marL="0">
              <a:buNone/>
            </a:pPr>
            <a:r>
              <a:rPr lang="en-US" sz="2025" b="1" dirty="0">
                <a:solidFill>
                  <a:srgbClr val="F1F5F9"/>
                </a:solidFill>
                <a:latin typeface="Segoe UI" pitchFamily="34" charset="0"/>
                <a:ea typeface="Segoe UI" pitchFamily="34" charset="-122"/>
                <a:cs typeface="Segoe UI" pitchFamily="34" charset="-120"/>
              </a:rPr>
              <a:t>and Troubleshooting</a:t>
            </a:r>
            <a:endParaRPr lang="en-US" sz="2025" dirty="0"/>
          </a:p>
        </p:txBody>
      </p:sp>
      <p:sp>
        <p:nvSpPr>
          <p:cNvPr id="6" name="Shape 3"/>
          <p:cNvSpPr/>
          <p:nvPr/>
        </p:nvSpPr>
        <p:spPr>
          <a:xfrm>
            <a:off x="457200" y="971550"/>
            <a:ext cx="4000500" cy="4173736"/>
          </a:xfrm>
          <a:prstGeom prst="rect">
            <a:avLst/>
          </a:prstGeom>
          <a:solidFill>
            <a:srgbClr val="FFFFFF">
              <a:alpha val="10000"/>
            </a:srgbClr>
          </a:solidFill>
          <a:ln w="99">
            <a:solidFill>
              <a:srgbClr val="60A5FA">
                <a:alpha val="30000"/>
              </a:srgbClr>
            </a:solidFill>
            <a:prstDash val="solid"/>
          </a:ln>
        </p:spPr>
      </p:sp>
      <p:sp>
        <p:nvSpPr>
          <p:cNvPr id="7" name="Text 4"/>
          <p:cNvSpPr/>
          <p:nvPr/>
        </p:nvSpPr>
        <p:spPr>
          <a:xfrm>
            <a:off x="628650" y="1143000"/>
            <a:ext cx="3729038" cy="228600"/>
          </a:xfrm>
          <a:prstGeom prst="rect">
            <a:avLst/>
          </a:prstGeom>
          <a:noFill/>
          <a:ln/>
        </p:spPr>
        <p:txBody>
          <a:bodyPr wrap="square" lIns="0" tIns="0" rIns="0" bIns="0" rtlCol="0" anchor="ctr">
            <a:spAutoFit/>
          </a:bodyPr>
          <a:lstStyle/>
          <a:p>
            <a:pPr indent="0" marL="0">
              <a:buNone/>
            </a:pPr>
            <a:r>
              <a:rPr lang="en-US" sz="1350" b="1" dirty="0">
                <a:solidFill>
                  <a:srgbClr val="FCA5A5"/>
                </a:solidFill>
                <a:latin typeface="Segoe UI" pitchFamily="34" charset="0"/>
                <a:ea typeface="Segoe UI" pitchFamily="34" charset="-122"/>
                <a:cs typeface="Segoe UI" pitchFamily="34" charset="-120"/>
              </a:rPr>
              <a:t>Compilation Errors</a:t>
            </a:r>
            <a:endParaRPr lang="en-US" sz="1350" dirty="0"/>
          </a:p>
        </p:txBody>
      </p:sp>
      <p:sp>
        <p:nvSpPr>
          <p:cNvPr id="8" name="Text 5"/>
          <p:cNvSpPr/>
          <p:nvPr/>
        </p:nvSpPr>
        <p:spPr>
          <a:xfrm>
            <a:off x="628650" y="1485900"/>
            <a:ext cx="3729038" cy="285750"/>
          </a:xfrm>
          <a:prstGeom prst="rect">
            <a:avLst/>
          </a:prstGeom>
          <a:noFill/>
          <a:ln/>
        </p:spPr>
        <p:txBody>
          <a:bodyPr wrap="square" lIns="0" tIns="0" rIns="0" bIns="0" rtlCol="0" anchor="ctr">
            <a:spAutoFit/>
          </a:bodyPr>
          <a:lstStyle/>
          <a:p>
            <a:pPr indent="0" marL="0">
              <a:buNone/>
            </a:pPr>
            <a:r>
              <a:rPr lang="en-US" sz="788" dirty="0">
                <a:solidFill>
                  <a:srgbClr val="F1F5F9"/>
                </a:solidFill>
                <a:latin typeface="Segoe UI" pitchFamily="34" charset="0"/>
                <a:ea typeface="Segoe UI" pitchFamily="34" charset="-122"/>
                <a:cs typeface="Segoe UI" pitchFamily="34" charset="-120"/>
              </a:rPr>
              <a:t>These errors occur when the Java compiler cannot understand your code. VS Code will usually highlight these directly.</a:t>
            </a:r>
            <a:endParaRPr lang="en-US" sz="788" dirty="0"/>
          </a:p>
        </p:txBody>
      </p:sp>
      <p:sp>
        <p:nvSpPr>
          <p:cNvPr id="9" name="Shape 6"/>
          <p:cNvSpPr/>
          <p:nvPr/>
        </p:nvSpPr>
        <p:spPr>
          <a:xfrm>
            <a:off x="628650" y="1885950"/>
            <a:ext cx="3657600" cy="1459111"/>
          </a:xfrm>
          <a:prstGeom prst="rect">
            <a:avLst/>
          </a:prstGeom>
          <a:solidFill>
            <a:srgbClr val="7F1D1D">
              <a:alpha val="30000"/>
            </a:srgbClr>
          </a:solidFill>
          <a:ln/>
        </p:spPr>
      </p:sp>
      <p:sp>
        <p:nvSpPr>
          <p:cNvPr id="10" name="Shape 7"/>
          <p:cNvSpPr/>
          <p:nvPr/>
        </p:nvSpPr>
        <p:spPr>
          <a:xfrm>
            <a:off x="628650" y="1885950"/>
            <a:ext cx="28575" cy="1459111"/>
          </a:xfrm>
          <a:prstGeom prst="rect">
            <a:avLst/>
          </a:prstGeom>
          <a:solidFill>
            <a:srgbClr val="F87171"/>
          </a:solidFill>
          <a:ln/>
        </p:spPr>
      </p:sp>
      <p:sp>
        <p:nvSpPr>
          <p:cNvPr id="11" name="Text 8"/>
          <p:cNvSpPr/>
          <p:nvPr/>
        </p:nvSpPr>
        <p:spPr>
          <a:xfrm>
            <a:off x="742950" y="1971675"/>
            <a:ext cx="3614738" cy="200025"/>
          </a:xfrm>
          <a:prstGeom prst="rect">
            <a:avLst/>
          </a:prstGeom>
          <a:noFill/>
          <a:ln/>
        </p:spPr>
        <p:txBody>
          <a:bodyPr wrap="square" lIns="0" tIns="0" rIns="0" bIns="0" rtlCol="0" anchor="ctr">
            <a:spAutoFit/>
          </a:bodyPr>
          <a:lstStyle/>
          <a:p>
            <a:pPr indent="0" marL="0">
              <a:buNone/>
            </a:pPr>
            <a:r>
              <a:rPr lang="en-US" sz="1125" b="1" dirty="0">
                <a:solidFill>
                  <a:srgbClr val="F1F5F9"/>
                </a:solidFill>
                <a:latin typeface="Segoe UI" pitchFamily="34" charset="0"/>
                <a:ea typeface="Segoe UI" pitchFamily="34" charset="-122"/>
                <a:cs typeface="Segoe UI" pitchFamily="34" charset="-120"/>
              </a:rPr>
              <a:t>Syntax Errors</a:t>
            </a:r>
            <a:endParaRPr lang="en-US" sz="1125" dirty="0"/>
          </a:p>
        </p:txBody>
      </p:sp>
      <p:pic>
        <p:nvPicPr>
          <p:cNvPr id="12" name="Image 1" descr="preencoded.png">    </p:cNvPr>
          <p:cNvPicPr>
            <a:picLocks noChangeAspect="1"/>
          </p:cNvPicPr>
          <p:nvPr/>
        </p:nvPicPr>
        <p:blipFill>
          <a:blip r:embed="rId2"/>
          <a:stretch>
            <a:fillRect/>
          </a:stretch>
        </p:blipFill>
        <p:spPr>
          <a:xfrm>
            <a:off x="742950" y="2209205"/>
            <a:ext cx="85725" cy="85725"/>
          </a:xfrm>
          <a:prstGeom prst="rect">
            <a:avLst/>
          </a:prstGeom>
        </p:spPr>
      </p:pic>
      <p:sp>
        <p:nvSpPr>
          <p:cNvPr id="13" name="Text 9"/>
          <p:cNvSpPr/>
          <p:nvPr/>
        </p:nvSpPr>
        <p:spPr>
          <a:xfrm>
            <a:off x="885825" y="2209205"/>
            <a:ext cx="866989" cy="94655"/>
          </a:xfrm>
          <a:prstGeom prst="rect">
            <a:avLst/>
          </a:prstGeom>
          <a:noFill/>
          <a:ln/>
        </p:spPr>
        <p:txBody>
          <a:bodyPr wrap="none" lIns="0" tIns="0" rIns="0" bIns="0" rtlCol="0" anchor="ctr">
            <a:spAutoFit/>
          </a:bodyPr>
          <a:lstStyle/>
          <a:p>
            <a:pPr algn="l" indent="0" marL="0">
              <a:buNone/>
            </a:pPr>
            <a:r>
              <a:rPr lang="en-US" sz="675" dirty="0">
                <a:solidFill>
                  <a:srgbClr val="F1F5F9"/>
                </a:solidFill>
                <a:latin typeface="Segoe UI" pitchFamily="34" charset="0"/>
                <a:ea typeface="Segoe UI" pitchFamily="34" charset="-122"/>
                <a:cs typeface="Segoe UI" pitchFamily="34" charset="-120"/>
              </a:rPr>
              <a:t>Missing semicolons (</a:t>
            </a:r>
            <a:endParaRPr lang="en-US" sz="675" dirty="0"/>
          </a:p>
        </p:txBody>
      </p:sp>
      <p:sp>
        <p:nvSpPr>
          <p:cNvPr id="14" name="Text 10"/>
          <p:cNvSpPr/>
          <p:nvPr/>
        </p:nvSpPr>
        <p:spPr>
          <a:xfrm>
            <a:off x="1681376" y="2214563"/>
            <a:ext cx="122895" cy="96441"/>
          </a:xfrm>
          <a:prstGeom prst="rect">
            <a:avLst/>
          </a:prstGeom>
          <a:noFill/>
          <a:ln/>
        </p:spPr>
        <p:txBody>
          <a:bodyPr wrap="none" lIns="0" tIns="0" rIns="0" bIns="0" rtlCol="0" anchor="ctr">
            <a:spAutoFit/>
          </a:bodyPr>
          <a:lstStyle/>
          <a:p>
            <a:pPr algn="l" indent="0" marL="0">
              <a:buNone/>
            </a:pPr>
            <a:r>
              <a:rPr lang="en-US" sz="675" dirty="0">
                <a:solidFill>
                  <a:srgbClr val="F1F5F9"/>
                </a:solidFill>
                <a:latin typeface="Consolas" pitchFamily="34" charset="0"/>
                <a:ea typeface="Consolas" pitchFamily="34" charset="-122"/>
                <a:cs typeface="Consolas" pitchFamily="34" charset="-120"/>
              </a:rPr>
              <a:t>;</a:t>
            </a:r>
            <a:endParaRPr lang="en-US" sz="675" dirty="0"/>
          </a:p>
        </p:txBody>
      </p:sp>
      <p:sp>
        <p:nvSpPr>
          <p:cNvPr id="15" name="Text 11"/>
          <p:cNvSpPr/>
          <p:nvPr/>
        </p:nvSpPr>
        <p:spPr>
          <a:xfrm>
            <a:off x="1732834" y="2209205"/>
            <a:ext cx="99985" cy="94655"/>
          </a:xfrm>
          <a:prstGeom prst="rect">
            <a:avLst/>
          </a:prstGeom>
          <a:noFill/>
          <a:ln/>
        </p:spPr>
        <p:txBody>
          <a:bodyPr wrap="none" lIns="0" tIns="0" rIns="0" bIns="0" rtlCol="0" anchor="ctr">
            <a:spAutoFit/>
          </a:bodyPr>
          <a:lstStyle/>
          <a:p>
            <a:pPr algn="l" indent="0" marL="0">
              <a:buNone/>
            </a:pPr>
            <a:r>
              <a:rPr lang="en-US" sz="675" dirty="0">
                <a:solidFill>
                  <a:srgbClr val="F1F5F9"/>
                </a:solidFill>
                <a:latin typeface="Segoe UI" pitchFamily="34" charset="0"/>
                <a:ea typeface="Segoe UI" pitchFamily="34" charset="-122"/>
                <a:cs typeface="Segoe UI" pitchFamily="34" charset="-120"/>
              </a:rPr>
              <a:t>)</a:t>
            </a:r>
            <a:endParaRPr lang="en-US" sz="675" dirty="0"/>
          </a:p>
        </p:txBody>
      </p:sp>
      <p:pic>
        <p:nvPicPr>
          <p:cNvPr id="16" name="Image 2" descr="preencoded.png">    </p:cNvPr>
          <p:cNvPicPr>
            <a:picLocks noChangeAspect="1"/>
          </p:cNvPicPr>
          <p:nvPr/>
        </p:nvPicPr>
        <p:blipFill>
          <a:blip r:embed="rId3"/>
          <a:stretch>
            <a:fillRect/>
          </a:stretch>
        </p:blipFill>
        <p:spPr>
          <a:xfrm>
            <a:off x="742950" y="2357438"/>
            <a:ext cx="85725" cy="85725"/>
          </a:xfrm>
          <a:prstGeom prst="rect">
            <a:avLst/>
          </a:prstGeom>
        </p:spPr>
      </p:pic>
      <p:sp>
        <p:nvSpPr>
          <p:cNvPr id="17" name="Text 12"/>
          <p:cNvSpPr/>
          <p:nvPr/>
        </p:nvSpPr>
        <p:spPr>
          <a:xfrm>
            <a:off x="885825" y="2357438"/>
            <a:ext cx="1053005" cy="94655"/>
          </a:xfrm>
          <a:prstGeom prst="rect">
            <a:avLst/>
          </a:prstGeom>
          <a:noFill/>
          <a:ln/>
        </p:spPr>
        <p:txBody>
          <a:bodyPr wrap="none" lIns="0" tIns="0" rIns="0" bIns="0" rtlCol="0" anchor="ctr">
            <a:spAutoFit/>
          </a:bodyPr>
          <a:lstStyle/>
          <a:p>
            <a:pPr algn="l" indent="0" marL="0">
              <a:buNone/>
            </a:pPr>
            <a:r>
              <a:rPr lang="en-US" sz="675" dirty="0">
                <a:solidFill>
                  <a:srgbClr val="F1F5F9"/>
                </a:solidFill>
                <a:latin typeface="Segoe UI" pitchFamily="34" charset="0"/>
                <a:ea typeface="Segoe UI" pitchFamily="34" charset="-122"/>
                <a:cs typeface="Segoe UI" pitchFamily="34" charset="-120"/>
              </a:rPr>
              <a:t>Mismatched parentheses</a:t>
            </a:r>
            <a:endParaRPr lang="en-US" sz="675" dirty="0"/>
          </a:p>
        </p:txBody>
      </p:sp>
      <p:sp>
        <p:nvSpPr>
          <p:cNvPr id="18" name="Text 13"/>
          <p:cNvSpPr/>
          <p:nvPr/>
        </p:nvSpPr>
        <p:spPr>
          <a:xfrm>
            <a:off x="1867393" y="2362795"/>
            <a:ext cx="174324" cy="96441"/>
          </a:xfrm>
          <a:prstGeom prst="rect">
            <a:avLst/>
          </a:prstGeom>
          <a:noFill/>
          <a:ln/>
        </p:spPr>
        <p:txBody>
          <a:bodyPr wrap="none" lIns="0" tIns="0" rIns="0" bIns="0" rtlCol="0" anchor="ctr">
            <a:spAutoFit/>
          </a:bodyPr>
          <a:lstStyle/>
          <a:p>
            <a:pPr algn="l" indent="0" marL="0">
              <a:buNone/>
            </a:pPr>
            <a:r>
              <a:rPr lang="en-US" sz="675" dirty="0">
                <a:solidFill>
                  <a:srgbClr val="F1F5F9"/>
                </a:solidFill>
                <a:latin typeface="Consolas" pitchFamily="34" charset="0"/>
                <a:ea typeface="Consolas" pitchFamily="34" charset="-122"/>
                <a:cs typeface="Consolas" pitchFamily="34" charset="-120"/>
              </a:rPr>
              <a:t>()</a:t>
            </a:r>
            <a:endParaRPr lang="en-US" sz="675" dirty="0"/>
          </a:p>
        </p:txBody>
      </p:sp>
      <p:sp>
        <p:nvSpPr>
          <p:cNvPr id="19" name="Text 14"/>
          <p:cNvSpPr/>
          <p:nvPr/>
        </p:nvSpPr>
        <p:spPr>
          <a:xfrm>
            <a:off x="1970280" y="2357438"/>
            <a:ext cx="400190" cy="94655"/>
          </a:xfrm>
          <a:prstGeom prst="rect">
            <a:avLst/>
          </a:prstGeom>
          <a:noFill/>
          <a:ln/>
        </p:spPr>
        <p:txBody>
          <a:bodyPr wrap="none" lIns="0" tIns="0" rIns="0" bIns="0" rtlCol="0" anchor="ctr">
            <a:spAutoFit/>
          </a:bodyPr>
          <a:lstStyle/>
          <a:p>
            <a:pPr algn="l" indent="0" marL="0">
              <a:buNone/>
            </a:pPr>
            <a:r>
              <a:rPr lang="en-US" sz="675" dirty="0">
                <a:solidFill>
                  <a:srgbClr val="F1F5F9"/>
                </a:solidFill>
                <a:latin typeface="Segoe UI" pitchFamily="34" charset="0"/>
                <a:ea typeface="Segoe UI" pitchFamily="34" charset="-122"/>
                <a:cs typeface="Segoe UI" pitchFamily="34" charset="-120"/>
              </a:rPr>
              <a:t>, braces</a:t>
            </a:r>
            <a:endParaRPr lang="en-US" sz="675" dirty="0"/>
          </a:p>
        </p:txBody>
      </p:sp>
      <p:sp>
        <p:nvSpPr>
          <p:cNvPr id="20" name="Text 15"/>
          <p:cNvSpPr/>
          <p:nvPr/>
        </p:nvSpPr>
        <p:spPr>
          <a:xfrm>
            <a:off x="2299032" y="2362795"/>
            <a:ext cx="174324" cy="96441"/>
          </a:xfrm>
          <a:prstGeom prst="rect">
            <a:avLst/>
          </a:prstGeom>
          <a:noFill/>
          <a:ln/>
        </p:spPr>
        <p:txBody>
          <a:bodyPr wrap="none" lIns="0" tIns="0" rIns="0" bIns="0" rtlCol="0" anchor="ctr">
            <a:spAutoFit/>
          </a:bodyPr>
          <a:lstStyle/>
          <a:p>
            <a:pPr algn="l" indent="0" marL="0">
              <a:buNone/>
            </a:pPr>
            <a:r>
              <a:rPr lang="en-US" sz="675" dirty="0">
                <a:solidFill>
                  <a:srgbClr val="F1F5F9"/>
                </a:solidFill>
                <a:latin typeface="Consolas" pitchFamily="34" charset="0"/>
                <a:ea typeface="Consolas" pitchFamily="34" charset="-122"/>
                <a:cs typeface="Consolas" pitchFamily="34" charset="-120"/>
              </a:rPr>
              <a:t>{}</a:t>
            </a:r>
            <a:endParaRPr lang="en-US" sz="675" dirty="0"/>
          </a:p>
        </p:txBody>
      </p:sp>
      <p:sp>
        <p:nvSpPr>
          <p:cNvPr id="21" name="Text 16"/>
          <p:cNvSpPr/>
          <p:nvPr/>
        </p:nvSpPr>
        <p:spPr>
          <a:xfrm>
            <a:off x="2401919" y="2357438"/>
            <a:ext cx="566924" cy="94655"/>
          </a:xfrm>
          <a:prstGeom prst="rect">
            <a:avLst/>
          </a:prstGeom>
          <a:noFill/>
          <a:ln/>
        </p:spPr>
        <p:txBody>
          <a:bodyPr wrap="none" lIns="0" tIns="0" rIns="0" bIns="0" rtlCol="0" anchor="ctr">
            <a:spAutoFit/>
          </a:bodyPr>
          <a:lstStyle/>
          <a:p>
            <a:pPr algn="l" indent="0" marL="0">
              <a:buNone/>
            </a:pPr>
            <a:r>
              <a:rPr lang="en-US" sz="675" dirty="0">
                <a:solidFill>
                  <a:srgbClr val="F1F5F9"/>
                </a:solidFill>
                <a:latin typeface="Segoe UI" pitchFamily="34" charset="0"/>
                <a:ea typeface="Segoe UI" pitchFamily="34" charset="-122"/>
                <a:cs typeface="Segoe UI" pitchFamily="34" charset="-120"/>
              </a:rPr>
              <a:t>, or brackets</a:t>
            </a:r>
            <a:endParaRPr lang="en-US" sz="675" dirty="0"/>
          </a:p>
        </p:txBody>
      </p:sp>
      <p:sp>
        <p:nvSpPr>
          <p:cNvPr id="22" name="Text 17"/>
          <p:cNvSpPr/>
          <p:nvPr/>
        </p:nvSpPr>
        <p:spPr>
          <a:xfrm>
            <a:off x="2897405" y="2362795"/>
            <a:ext cx="174324" cy="96441"/>
          </a:xfrm>
          <a:prstGeom prst="rect">
            <a:avLst/>
          </a:prstGeom>
          <a:noFill/>
          <a:ln/>
        </p:spPr>
        <p:txBody>
          <a:bodyPr wrap="none" lIns="0" tIns="0" rIns="0" bIns="0" rtlCol="0" anchor="ctr">
            <a:spAutoFit/>
          </a:bodyPr>
          <a:lstStyle/>
          <a:p>
            <a:pPr algn="l" indent="0" marL="0">
              <a:buNone/>
            </a:pPr>
            <a:r>
              <a:rPr lang="en-US" sz="675" dirty="0">
                <a:solidFill>
                  <a:srgbClr val="F1F5F9"/>
                </a:solidFill>
                <a:latin typeface="Consolas" pitchFamily="34" charset="0"/>
                <a:ea typeface="Consolas" pitchFamily="34" charset="-122"/>
                <a:cs typeface="Consolas" pitchFamily="34" charset="-120"/>
              </a:rPr>
              <a:t>[]</a:t>
            </a:r>
            <a:endParaRPr lang="en-US" sz="675" dirty="0"/>
          </a:p>
        </p:txBody>
      </p:sp>
      <p:pic>
        <p:nvPicPr>
          <p:cNvPr id="23" name="Image 3" descr="preencoded.png">    </p:cNvPr>
          <p:cNvPicPr>
            <a:picLocks noChangeAspect="1"/>
          </p:cNvPicPr>
          <p:nvPr/>
        </p:nvPicPr>
        <p:blipFill>
          <a:blip r:embed="rId4"/>
          <a:stretch>
            <a:fillRect/>
          </a:stretch>
        </p:blipFill>
        <p:spPr>
          <a:xfrm>
            <a:off x="742950" y="2505670"/>
            <a:ext cx="85725" cy="85725"/>
          </a:xfrm>
          <a:prstGeom prst="rect">
            <a:avLst/>
          </a:prstGeom>
        </p:spPr>
      </p:pic>
      <p:sp>
        <p:nvSpPr>
          <p:cNvPr id="24" name="Text 18"/>
          <p:cNvSpPr/>
          <p:nvPr/>
        </p:nvSpPr>
        <p:spPr>
          <a:xfrm>
            <a:off x="885825" y="2505670"/>
            <a:ext cx="1033807" cy="94655"/>
          </a:xfrm>
          <a:prstGeom prst="rect">
            <a:avLst/>
          </a:prstGeom>
          <a:noFill/>
          <a:ln/>
        </p:spPr>
        <p:txBody>
          <a:bodyPr wrap="none" lIns="0" tIns="0" rIns="0" bIns="0" rtlCol="0" anchor="ctr">
            <a:spAutoFit/>
          </a:bodyPr>
          <a:lstStyle/>
          <a:p>
            <a:pPr algn="l" indent="0" marL="0">
              <a:buNone/>
            </a:pPr>
            <a:r>
              <a:rPr lang="en-US" sz="675" dirty="0">
                <a:solidFill>
                  <a:srgbClr val="F1F5F9"/>
                </a:solidFill>
                <a:latin typeface="Segoe UI" pitchFamily="34" charset="0"/>
                <a:ea typeface="Segoe UI" pitchFamily="34" charset="-122"/>
                <a:cs typeface="Segoe UI" pitchFamily="34" charset="-120"/>
              </a:rPr>
              <a:t>Incorrect keywords (e.g.,</a:t>
            </a:r>
            <a:endParaRPr lang="en-US" sz="675" dirty="0"/>
          </a:p>
        </p:txBody>
      </p:sp>
      <p:sp>
        <p:nvSpPr>
          <p:cNvPr id="25" name="Text 19"/>
          <p:cNvSpPr/>
          <p:nvPr/>
        </p:nvSpPr>
        <p:spPr>
          <a:xfrm>
            <a:off x="1848194" y="2511028"/>
            <a:ext cx="328668" cy="96441"/>
          </a:xfrm>
          <a:prstGeom prst="rect">
            <a:avLst/>
          </a:prstGeom>
          <a:noFill/>
          <a:ln/>
        </p:spPr>
        <p:txBody>
          <a:bodyPr wrap="none" lIns="0" tIns="0" rIns="0" bIns="0" rtlCol="0" anchor="ctr">
            <a:spAutoFit/>
          </a:bodyPr>
          <a:lstStyle/>
          <a:p>
            <a:pPr algn="l" indent="0" marL="0">
              <a:buNone/>
            </a:pPr>
            <a:r>
              <a:rPr lang="en-US" sz="675" dirty="0">
                <a:solidFill>
                  <a:srgbClr val="F1F5F9"/>
                </a:solidFill>
                <a:latin typeface="Consolas" pitchFamily="34" charset="0"/>
                <a:ea typeface="Consolas" pitchFamily="34" charset="-122"/>
                <a:cs typeface="Consolas" pitchFamily="34" charset="-120"/>
              </a:rPr>
              <a:t>pubic</a:t>
            </a:r>
            <a:endParaRPr lang="en-US" sz="675" dirty="0"/>
          </a:p>
        </p:txBody>
      </p:sp>
      <p:sp>
        <p:nvSpPr>
          <p:cNvPr id="26" name="Text 20"/>
          <p:cNvSpPr/>
          <p:nvPr/>
        </p:nvSpPr>
        <p:spPr>
          <a:xfrm>
            <a:off x="2105425" y="2505670"/>
            <a:ext cx="490826" cy="94655"/>
          </a:xfrm>
          <a:prstGeom prst="rect">
            <a:avLst/>
          </a:prstGeom>
          <a:noFill/>
          <a:ln/>
        </p:spPr>
        <p:txBody>
          <a:bodyPr wrap="none" lIns="0" tIns="0" rIns="0" bIns="0" rtlCol="0" anchor="ctr">
            <a:spAutoFit/>
          </a:bodyPr>
          <a:lstStyle/>
          <a:p>
            <a:pPr algn="l" indent="0" marL="0">
              <a:buNone/>
            </a:pPr>
            <a:r>
              <a:rPr lang="en-US" sz="675" dirty="0">
                <a:solidFill>
                  <a:srgbClr val="F1F5F9"/>
                </a:solidFill>
                <a:latin typeface="Segoe UI" pitchFamily="34" charset="0"/>
                <a:ea typeface="Segoe UI" pitchFamily="34" charset="-122"/>
                <a:cs typeface="Segoe UI" pitchFamily="34" charset="-120"/>
              </a:rPr>
              <a:t>instead of</a:t>
            </a:r>
            <a:endParaRPr lang="en-US" sz="675" dirty="0"/>
          </a:p>
        </p:txBody>
      </p:sp>
      <p:sp>
        <p:nvSpPr>
          <p:cNvPr id="27" name="Text 21"/>
          <p:cNvSpPr/>
          <p:nvPr/>
        </p:nvSpPr>
        <p:spPr>
          <a:xfrm>
            <a:off x="2524813" y="2511028"/>
            <a:ext cx="380098" cy="96441"/>
          </a:xfrm>
          <a:prstGeom prst="rect">
            <a:avLst/>
          </a:prstGeom>
          <a:noFill/>
          <a:ln/>
        </p:spPr>
        <p:txBody>
          <a:bodyPr wrap="none" lIns="0" tIns="0" rIns="0" bIns="0" rtlCol="0" anchor="ctr">
            <a:spAutoFit/>
          </a:bodyPr>
          <a:lstStyle/>
          <a:p>
            <a:pPr algn="l" indent="0" marL="0">
              <a:buNone/>
            </a:pPr>
            <a:r>
              <a:rPr lang="en-US" sz="675" dirty="0">
                <a:solidFill>
                  <a:srgbClr val="F1F5F9"/>
                </a:solidFill>
                <a:latin typeface="Consolas" pitchFamily="34" charset="0"/>
                <a:ea typeface="Consolas" pitchFamily="34" charset="-122"/>
                <a:cs typeface="Consolas" pitchFamily="34" charset="-120"/>
              </a:rPr>
              <a:t>public</a:t>
            </a:r>
            <a:endParaRPr lang="en-US" sz="675" dirty="0"/>
          </a:p>
        </p:txBody>
      </p:sp>
      <p:sp>
        <p:nvSpPr>
          <p:cNvPr id="28" name="Text 22"/>
          <p:cNvSpPr/>
          <p:nvPr/>
        </p:nvSpPr>
        <p:spPr>
          <a:xfrm>
            <a:off x="2833474" y="2505670"/>
            <a:ext cx="99985" cy="94655"/>
          </a:xfrm>
          <a:prstGeom prst="rect">
            <a:avLst/>
          </a:prstGeom>
          <a:noFill/>
          <a:ln/>
        </p:spPr>
        <p:txBody>
          <a:bodyPr wrap="none" lIns="0" tIns="0" rIns="0" bIns="0" rtlCol="0" anchor="ctr">
            <a:spAutoFit/>
          </a:bodyPr>
          <a:lstStyle/>
          <a:p>
            <a:pPr algn="l" indent="0" marL="0">
              <a:buNone/>
            </a:pPr>
            <a:r>
              <a:rPr lang="en-US" sz="675" dirty="0">
                <a:solidFill>
                  <a:srgbClr val="F1F5F9"/>
                </a:solidFill>
                <a:latin typeface="Segoe UI" pitchFamily="34" charset="0"/>
                <a:ea typeface="Segoe UI" pitchFamily="34" charset="-122"/>
                <a:cs typeface="Segoe UI" pitchFamily="34" charset="-120"/>
              </a:rPr>
              <a:t>)</a:t>
            </a:r>
            <a:endParaRPr lang="en-US" sz="675" dirty="0"/>
          </a:p>
        </p:txBody>
      </p:sp>
      <p:pic>
        <p:nvPicPr>
          <p:cNvPr id="29" name="Image 4" descr="preencoded.png">    </p:cNvPr>
          <p:cNvPicPr>
            <a:picLocks noChangeAspect="1"/>
          </p:cNvPicPr>
          <p:nvPr/>
        </p:nvPicPr>
        <p:blipFill>
          <a:blip r:embed="rId5"/>
          <a:stretch>
            <a:fillRect/>
          </a:stretch>
        </p:blipFill>
        <p:spPr>
          <a:xfrm>
            <a:off x="742950" y="2653903"/>
            <a:ext cx="85725" cy="85725"/>
          </a:xfrm>
          <a:prstGeom prst="rect">
            <a:avLst/>
          </a:prstGeom>
        </p:spPr>
      </p:pic>
      <p:sp>
        <p:nvSpPr>
          <p:cNvPr id="30" name="Text 23"/>
          <p:cNvSpPr/>
          <p:nvPr/>
        </p:nvSpPr>
        <p:spPr>
          <a:xfrm>
            <a:off x="885825" y="2653903"/>
            <a:ext cx="876756" cy="94655"/>
          </a:xfrm>
          <a:prstGeom prst="rect">
            <a:avLst/>
          </a:prstGeom>
          <a:noFill/>
          <a:ln/>
        </p:spPr>
        <p:txBody>
          <a:bodyPr wrap="none" lIns="0" tIns="0" rIns="0" bIns="0" rtlCol="0" anchor="ctr">
            <a:spAutoFit/>
          </a:bodyPr>
          <a:lstStyle/>
          <a:p>
            <a:pPr algn="l" indent="0" marL="0">
              <a:buNone/>
            </a:pPr>
            <a:r>
              <a:rPr lang="en-US" sz="675" dirty="0">
                <a:solidFill>
                  <a:srgbClr val="F1F5F9"/>
                </a:solidFill>
                <a:latin typeface="Segoe UI" pitchFamily="34" charset="0"/>
                <a:ea typeface="Segoe UI" pitchFamily="34" charset="-122"/>
                <a:cs typeface="Segoe UI" pitchFamily="34" charset="-120"/>
              </a:rPr>
              <a:t>Undeclared variables</a:t>
            </a:r>
            <a:endParaRPr lang="en-US" sz="675" dirty="0"/>
          </a:p>
        </p:txBody>
      </p:sp>
      <p:pic>
        <p:nvPicPr>
          <p:cNvPr id="31" name="Image 5" descr="preencoded.png">    </p:cNvPr>
          <p:cNvPicPr>
            <a:picLocks noChangeAspect="1"/>
          </p:cNvPicPr>
          <p:nvPr/>
        </p:nvPicPr>
        <p:blipFill>
          <a:blip r:embed="rId6"/>
          <a:stretch>
            <a:fillRect/>
          </a:stretch>
        </p:blipFill>
        <p:spPr>
          <a:xfrm>
            <a:off x="742950" y="2796778"/>
            <a:ext cx="85725" cy="85725"/>
          </a:xfrm>
          <a:prstGeom prst="rect">
            <a:avLst/>
          </a:prstGeom>
        </p:spPr>
      </p:pic>
      <p:sp>
        <p:nvSpPr>
          <p:cNvPr id="32" name="Text 24"/>
          <p:cNvSpPr/>
          <p:nvPr/>
        </p:nvSpPr>
        <p:spPr>
          <a:xfrm>
            <a:off x="885825" y="2796778"/>
            <a:ext cx="2020230" cy="94655"/>
          </a:xfrm>
          <a:prstGeom prst="rect">
            <a:avLst/>
          </a:prstGeom>
          <a:noFill/>
          <a:ln/>
        </p:spPr>
        <p:txBody>
          <a:bodyPr wrap="square" lIns="0" tIns="0" rIns="0" bIns="0" rtlCol="0" anchor="ctr">
            <a:spAutoFit/>
          </a:bodyPr>
          <a:lstStyle/>
          <a:p>
            <a:pPr algn="l" indent="0" marL="0">
              <a:buNone/>
            </a:pPr>
            <a:r>
              <a:rPr lang="en-US" sz="675" dirty="0">
                <a:solidFill>
                  <a:srgbClr val="F1F5F9"/>
                </a:solidFill>
                <a:latin typeface="Segoe UI" pitchFamily="34" charset="0"/>
                <a:ea typeface="Segoe UI" pitchFamily="34" charset="-122"/>
                <a:cs typeface="Segoe UI" pitchFamily="34" charset="-120"/>
              </a:rPr>
              <a:t>Type mismatches (e.g., assigning a String to an int)</a:t>
            </a:r>
            <a:endParaRPr lang="en-US" sz="675" dirty="0"/>
          </a:p>
        </p:txBody>
      </p:sp>
      <p:sp>
        <p:nvSpPr>
          <p:cNvPr id="33" name="Shape 25"/>
          <p:cNvSpPr/>
          <p:nvPr/>
        </p:nvSpPr>
        <p:spPr>
          <a:xfrm>
            <a:off x="742950" y="2959298"/>
            <a:ext cx="3543300" cy="300038"/>
          </a:xfrm>
          <a:prstGeom prst="rect">
            <a:avLst/>
          </a:prstGeom>
          <a:solidFill>
            <a:srgbClr val="1E293B">
              <a:alpha val="80000"/>
            </a:srgbClr>
          </a:solidFill>
          <a:ln w="99">
            <a:solidFill>
              <a:srgbClr val="60A5FA">
                <a:alpha val="30000"/>
              </a:srgbClr>
            </a:solidFill>
            <a:prstDash val="solid"/>
          </a:ln>
        </p:spPr>
      </p:sp>
      <p:sp>
        <p:nvSpPr>
          <p:cNvPr id="34" name="Text 26"/>
          <p:cNvSpPr/>
          <p:nvPr/>
        </p:nvSpPr>
        <p:spPr>
          <a:xfrm>
            <a:off x="800100" y="3071813"/>
            <a:ext cx="2129172" cy="96441"/>
          </a:xfrm>
          <a:prstGeom prst="rect">
            <a:avLst/>
          </a:prstGeom>
          <a:noFill/>
          <a:ln/>
        </p:spPr>
        <p:txBody>
          <a:bodyPr wrap="square" lIns="0" tIns="0" rIns="0" bIns="0" rtlCol="0" anchor="ctr">
            <a:spAutoFit/>
          </a:bodyPr>
          <a:lstStyle/>
          <a:p>
            <a:pPr indent="0" marL="0">
              <a:buNone/>
            </a:pPr>
            <a:r>
              <a:rPr lang="en-US" sz="675" dirty="0">
                <a:solidFill>
                  <a:srgbClr val="FEE2E2"/>
                </a:solidFill>
                <a:latin typeface="Consolas" pitchFamily="34" charset="0"/>
                <a:ea typeface="Consolas" pitchFamily="34" charset="-122"/>
                <a:cs typeface="Consolas" pitchFamily="34" charset="-120"/>
              </a:rPr>
              <a:t>// Example: Missing semicolon</a:t>
            </a:r>
            <a:endParaRPr lang="en-US" sz="675" dirty="0"/>
          </a:p>
          <a:p>
            <a:pPr indent="0" marL="0">
              <a:buNone/>
            </a:pPr>
            <a:r>
              <a:rPr lang="en-US" sz="675" dirty="0">
                <a:solidFill>
                  <a:srgbClr val="FEE2E2"/>
                </a:solidFill>
                <a:latin typeface="Consolas" pitchFamily="34" charset="0"/>
                <a:ea typeface="Consolas" pitchFamily="34" charset="-122"/>
                <a:cs typeface="Consolas" pitchFamily="34" charset="-120"/>
              </a:rPr>
              <a:t>                    int x = 5</a:t>
            </a:r>
            <a:endParaRPr lang="en-US" sz="675" dirty="0"/>
          </a:p>
        </p:txBody>
      </p:sp>
      <p:sp>
        <p:nvSpPr>
          <p:cNvPr id="35" name="Text 27"/>
          <p:cNvSpPr/>
          <p:nvPr/>
        </p:nvSpPr>
        <p:spPr>
          <a:xfrm>
            <a:off x="2857835" y="3071813"/>
            <a:ext cx="1203192" cy="96441"/>
          </a:xfrm>
          <a:prstGeom prst="rect">
            <a:avLst/>
          </a:prstGeom>
          <a:noFill/>
          <a:ln/>
        </p:spPr>
        <p:txBody>
          <a:bodyPr wrap="none" lIns="0" tIns="0" rIns="0" bIns="0" rtlCol="0" anchor="ctr">
            <a:spAutoFit/>
          </a:bodyPr>
          <a:lstStyle/>
          <a:p>
            <a:pPr indent="0" marL="0">
              <a:buNone/>
            </a:pPr>
            <a:r>
              <a:rPr lang="en-US" sz="675" b="1" dirty="0">
                <a:solidFill>
                  <a:srgbClr val="F87171"/>
                </a:solidFill>
                <a:latin typeface="Consolas" pitchFamily="34" charset="0"/>
                <a:ea typeface="Consolas" pitchFamily="34" charset="-122"/>
                <a:cs typeface="Consolas" pitchFamily="34" charset="-120"/>
              </a:rPr>
              <a:t>// Error: ';' expected</a:t>
            </a:r>
            <a:endParaRPr lang="en-US" sz="675" dirty="0"/>
          </a:p>
        </p:txBody>
      </p:sp>
      <p:sp>
        <p:nvSpPr>
          <p:cNvPr id="36" name="Shape 28"/>
          <p:cNvSpPr/>
          <p:nvPr/>
        </p:nvSpPr>
        <p:spPr>
          <a:xfrm>
            <a:off x="628650" y="3445073"/>
            <a:ext cx="3657600" cy="1500188"/>
          </a:xfrm>
          <a:prstGeom prst="rect">
            <a:avLst/>
          </a:prstGeom>
          <a:solidFill>
            <a:srgbClr val="7F1D1D">
              <a:alpha val="30000"/>
            </a:srgbClr>
          </a:solidFill>
          <a:ln/>
        </p:spPr>
      </p:sp>
      <p:sp>
        <p:nvSpPr>
          <p:cNvPr id="37" name="Shape 29"/>
          <p:cNvSpPr/>
          <p:nvPr/>
        </p:nvSpPr>
        <p:spPr>
          <a:xfrm>
            <a:off x="628650" y="3445073"/>
            <a:ext cx="28575" cy="1500188"/>
          </a:xfrm>
          <a:prstGeom prst="rect">
            <a:avLst/>
          </a:prstGeom>
          <a:solidFill>
            <a:srgbClr val="F87171"/>
          </a:solidFill>
          <a:ln/>
        </p:spPr>
      </p:sp>
      <p:sp>
        <p:nvSpPr>
          <p:cNvPr id="38" name="Text 30"/>
          <p:cNvSpPr/>
          <p:nvPr/>
        </p:nvSpPr>
        <p:spPr>
          <a:xfrm>
            <a:off x="742950" y="3530798"/>
            <a:ext cx="3614738" cy="200025"/>
          </a:xfrm>
          <a:prstGeom prst="rect">
            <a:avLst/>
          </a:prstGeom>
          <a:noFill/>
          <a:ln/>
        </p:spPr>
        <p:txBody>
          <a:bodyPr wrap="square" lIns="0" tIns="0" rIns="0" bIns="0" rtlCol="0" anchor="ctr">
            <a:spAutoFit/>
          </a:bodyPr>
          <a:lstStyle/>
          <a:p>
            <a:pPr indent="0" marL="0">
              <a:buNone/>
            </a:pPr>
            <a:r>
              <a:rPr lang="en-US" sz="1125" b="1" dirty="0">
                <a:solidFill>
                  <a:srgbClr val="F1F5F9"/>
                </a:solidFill>
                <a:latin typeface="Segoe UI" pitchFamily="34" charset="0"/>
                <a:ea typeface="Segoe UI" pitchFamily="34" charset="-122"/>
                <a:cs typeface="Segoe UI" pitchFamily="34" charset="-120"/>
              </a:rPr>
              <a:t>Class Not Found / Symbol Not Found</a:t>
            </a:r>
            <a:endParaRPr lang="en-US" sz="1125" dirty="0"/>
          </a:p>
        </p:txBody>
      </p:sp>
      <p:pic>
        <p:nvPicPr>
          <p:cNvPr id="39" name="Image 6" descr="preencoded.png">    </p:cNvPr>
          <p:cNvPicPr>
            <a:picLocks noChangeAspect="1"/>
          </p:cNvPicPr>
          <p:nvPr/>
        </p:nvPicPr>
        <p:blipFill>
          <a:blip r:embed="rId7"/>
          <a:stretch>
            <a:fillRect/>
          </a:stretch>
        </p:blipFill>
        <p:spPr>
          <a:xfrm>
            <a:off x="742950" y="3768328"/>
            <a:ext cx="85725" cy="85725"/>
          </a:xfrm>
          <a:prstGeom prst="rect">
            <a:avLst/>
          </a:prstGeom>
        </p:spPr>
      </p:pic>
      <p:sp>
        <p:nvSpPr>
          <p:cNvPr id="40" name="Text 31"/>
          <p:cNvSpPr/>
          <p:nvPr/>
        </p:nvSpPr>
        <p:spPr>
          <a:xfrm>
            <a:off x="885825" y="3768328"/>
            <a:ext cx="1842948" cy="94655"/>
          </a:xfrm>
          <a:prstGeom prst="rect">
            <a:avLst/>
          </a:prstGeom>
          <a:noFill/>
          <a:ln/>
        </p:spPr>
        <p:txBody>
          <a:bodyPr wrap="square" lIns="0" tIns="0" rIns="0" bIns="0" rtlCol="0" anchor="ctr">
            <a:spAutoFit/>
          </a:bodyPr>
          <a:lstStyle/>
          <a:p>
            <a:pPr algn="l" indent="0" marL="0">
              <a:buNone/>
            </a:pPr>
            <a:r>
              <a:rPr lang="en-US" sz="675" dirty="0">
                <a:solidFill>
                  <a:srgbClr val="F1F5F9"/>
                </a:solidFill>
                <a:latin typeface="Segoe UI" pitchFamily="34" charset="0"/>
                <a:ea typeface="Segoe UI" pitchFamily="34" charset="-122"/>
                <a:cs typeface="Segoe UI" pitchFamily="34" charset="-120"/>
              </a:rPr>
              <a:t>Trying to use a class that hasn't been imported</a:t>
            </a:r>
            <a:endParaRPr lang="en-US" sz="675" dirty="0"/>
          </a:p>
        </p:txBody>
      </p:sp>
      <p:pic>
        <p:nvPicPr>
          <p:cNvPr id="41" name="Image 7" descr="preencoded.png">    </p:cNvPr>
          <p:cNvPicPr>
            <a:picLocks noChangeAspect="1"/>
          </p:cNvPicPr>
          <p:nvPr/>
        </p:nvPicPr>
        <p:blipFill>
          <a:blip r:embed="rId8"/>
          <a:stretch>
            <a:fillRect/>
          </a:stretch>
        </p:blipFill>
        <p:spPr>
          <a:xfrm>
            <a:off x="742950" y="3911203"/>
            <a:ext cx="85725" cy="85725"/>
          </a:xfrm>
          <a:prstGeom prst="rect">
            <a:avLst/>
          </a:prstGeom>
        </p:spPr>
      </p:pic>
      <p:sp>
        <p:nvSpPr>
          <p:cNvPr id="42" name="Text 32"/>
          <p:cNvSpPr/>
          <p:nvPr/>
        </p:nvSpPr>
        <p:spPr>
          <a:xfrm>
            <a:off x="885825" y="3911203"/>
            <a:ext cx="1758116" cy="94655"/>
          </a:xfrm>
          <a:prstGeom prst="rect">
            <a:avLst/>
          </a:prstGeom>
          <a:noFill/>
          <a:ln/>
        </p:spPr>
        <p:txBody>
          <a:bodyPr wrap="square" lIns="0" tIns="0" rIns="0" bIns="0" rtlCol="0" anchor="ctr">
            <a:spAutoFit/>
          </a:bodyPr>
          <a:lstStyle/>
          <a:p>
            <a:pPr algn="l" indent="0" marL="0">
              <a:buNone/>
            </a:pPr>
            <a:r>
              <a:rPr lang="en-US" sz="675" dirty="0">
                <a:solidFill>
                  <a:srgbClr val="F1F5F9"/>
                </a:solidFill>
                <a:latin typeface="Segoe UI" pitchFamily="34" charset="0"/>
                <a:ea typeface="Segoe UI" pitchFamily="34" charset="-122"/>
                <a:cs typeface="Segoe UI" pitchFamily="34" charset="-120"/>
              </a:rPr>
              <a:t>Misspelled class, method, or variable names</a:t>
            </a:r>
            <a:endParaRPr lang="en-US" sz="675" dirty="0"/>
          </a:p>
        </p:txBody>
      </p:sp>
      <p:pic>
        <p:nvPicPr>
          <p:cNvPr id="43" name="Image 8" descr="preencoded.png">    </p:cNvPr>
          <p:cNvPicPr>
            <a:picLocks noChangeAspect="1"/>
          </p:cNvPicPr>
          <p:nvPr/>
        </p:nvPicPr>
        <p:blipFill>
          <a:blip r:embed="rId9"/>
          <a:stretch>
            <a:fillRect/>
          </a:stretch>
        </p:blipFill>
        <p:spPr>
          <a:xfrm>
            <a:off x="742950" y="4054078"/>
            <a:ext cx="85725" cy="85725"/>
          </a:xfrm>
          <a:prstGeom prst="rect">
            <a:avLst/>
          </a:prstGeom>
        </p:spPr>
      </p:pic>
      <p:sp>
        <p:nvSpPr>
          <p:cNvPr id="44" name="Text 33"/>
          <p:cNvSpPr/>
          <p:nvPr/>
        </p:nvSpPr>
        <p:spPr>
          <a:xfrm>
            <a:off x="885825" y="4054078"/>
            <a:ext cx="2005692" cy="94655"/>
          </a:xfrm>
          <a:prstGeom prst="rect">
            <a:avLst/>
          </a:prstGeom>
          <a:noFill/>
          <a:ln/>
        </p:spPr>
        <p:txBody>
          <a:bodyPr wrap="square" lIns="0" tIns="0" rIns="0" bIns="0" rtlCol="0" anchor="ctr">
            <a:spAutoFit/>
          </a:bodyPr>
          <a:lstStyle/>
          <a:p>
            <a:pPr algn="l" indent="0" marL="0">
              <a:buNone/>
            </a:pPr>
            <a:r>
              <a:rPr lang="en-US" sz="675" dirty="0">
                <a:solidFill>
                  <a:srgbClr val="F1F5F9"/>
                </a:solidFill>
                <a:latin typeface="Segoe UI" pitchFamily="34" charset="0"/>
                <a:ea typeface="Segoe UI" pitchFamily="34" charset="-122"/>
                <a:cs typeface="Segoe UI" pitchFamily="34" charset="-120"/>
              </a:rPr>
              <a:t>Incorrect file name (must match public class name)</a:t>
            </a:r>
            <a:endParaRPr lang="en-US" sz="675" dirty="0"/>
          </a:p>
        </p:txBody>
      </p:sp>
      <p:sp>
        <p:nvSpPr>
          <p:cNvPr id="45" name="Shape 34"/>
          <p:cNvSpPr/>
          <p:nvPr/>
        </p:nvSpPr>
        <p:spPr>
          <a:xfrm>
            <a:off x="742950" y="4216598"/>
            <a:ext cx="3543300" cy="471488"/>
          </a:xfrm>
          <a:prstGeom prst="rect">
            <a:avLst/>
          </a:prstGeom>
          <a:solidFill>
            <a:srgbClr val="1E293B">
              <a:alpha val="80000"/>
            </a:srgbClr>
          </a:solidFill>
          <a:ln w="99">
            <a:solidFill>
              <a:srgbClr val="60A5FA">
                <a:alpha val="30000"/>
              </a:srgbClr>
            </a:solidFill>
            <a:prstDash val="solid"/>
          </a:ln>
        </p:spPr>
      </p:sp>
      <p:sp>
        <p:nvSpPr>
          <p:cNvPr id="46" name="Text 35"/>
          <p:cNvSpPr/>
          <p:nvPr/>
        </p:nvSpPr>
        <p:spPr>
          <a:xfrm>
            <a:off x="800100" y="4329113"/>
            <a:ext cx="3158040" cy="267891"/>
          </a:xfrm>
          <a:prstGeom prst="rect">
            <a:avLst/>
          </a:prstGeom>
          <a:noFill/>
          <a:ln/>
        </p:spPr>
        <p:txBody>
          <a:bodyPr wrap="square" lIns="0" tIns="0" rIns="0" bIns="0" rtlCol="0" anchor="ctr">
            <a:spAutoFit/>
          </a:bodyPr>
          <a:lstStyle/>
          <a:p>
            <a:pPr indent="0" marL="0">
              <a:buNone/>
            </a:pPr>
            <a:r>
              <a:rPr lang="en-US" sz="675" dirty="0">
                <a:solidFill>
                  <a:srgbClr val="FEE2E2"/>
                </a:solidFill>
                <a:latin typeface="Consolas" pitchFamily="34" charset="0"/>
                <a:ea typeface="Consolas" pitchFamily="34" charset="-122"/>
                <a:cs typeface="Consolas" pitchFamily="34" charset="-120"/>
              </a:rPr>
              <a:t>// Example: Using Scanner without import</a:t>
            </a:r>
            <a:endParaRPr lang="en-US" sz="675" dirty="0"/>
          </a:p>
          <a:p>
            <a:pPr indent="0" marL="0">
              <a:buNone/>
            </a:pPr>
            <a:r>
              <a:rPr lang="en-US" sz="675" dirty="0">
                <a:solidFill>
                  <a:srgbClr val="FEE2E2"/>
                </a:solidFill>
                <a:latin typeface="Consolas" pitchFamily="34" charset="0"/>
                <a:ea typeface="Consolas" pitchFamily="34" charset="-122"/>
                <a:cs typeface="Consolas" pitchFamily="34" charset="-120"/>
              </a:rPr>
              <a:t>                    Scanner input = new Scanner(System.in);</a:t>
            </a:r>
            <a:endParaRPr lang="en-US" sz="675" dirty="0"/>
          </a:p>
        </p:txBody>
      </p:sp>
      <p:sp>
        <p:nvSpPr>
          <p:cNvPr id="47" name="Text 36"/>
          <p:cNvSpPr/>
          <p:nvPr/>
        </p:nvSpPr>
        <p:spPr>
          <a:xfrm>
            <a:off x="1828967" y="4500563"/>
            <a:ext cx="2437833" cy="96441"/>
          </a:xfrm>
          <a:prstGeom prst="rect">
            <a:avLst/>
          </a:prstGeom>
          <a:noFill/>
          <a:ln/>
        </p:spPr>
        <p:txBody>
          <a:bodyPr wrap="square" lIns="0" tIns="0" rIns="0" bIns="0" rtlCol="0" anchor="ctr">
            <a:spAutoFit/>
          </a:bodyPr>
          <a:lstStyle/>
          <a:p>
            <a:pPr indent="0" marL="0">
              <a:buNone/>
            </a:pPr>
            <a:r>
              <a:rPr lang="en-US" sz="675" b="1" dirty="0">
                <a:solidFill>
                  <a:srgbClr val="F87171"/>
                </a:solidFill>
                <a:latin typeface="Consolas" pitchFamily="34" charset="0"/>
                <a:ea typeface="Consolas" pitchFamily="34" charset="-122"/>
                <a:cs typeface="Consolas" pitchFamily="34" charset="-120"/>
              </a:rPr>
              <a:t>// Error: Scanner cannot be resolved to a type</a:t>
            </a:r>
            <a:endParaRPr lang="en-US" sz="675" dirty="0"/>
          </a:p>
        </p:txBody>
      </p:sp>
      <p:sp>
        <p:nvSpPr>
          <p:cNvPr id="48" name="Shape 37"/>
          <p:cNvSpPr/>
          <p:nvPr/>
        </p:nvSpPr>
        <p:spPr>
          <a:xfrm>
            <a:off x="457200" y="5102423"/>
            <a:ext cx="4000500" cy="5973961"/>
          </a:xfrm>
          <a:prstGeom prst="rect">
            <a:avLst/>
          </a:prstGeom>
          <a:solidFill>
            <a:srgbClr val="FFFFFF">
              <a:alpha val="10000"/>
            </a:srgbClr>
          </a:solidFill>
          <a:ln w="99">
            <a:solidFill>
              <a:srgbClr val="60A5FA">
                <a:alpha val="30000"/>
              </a:srgbClr>
            </a:solidFill>
            <a:prstDash val="solid"/>
          </a:ln>
        </p:spPr>
      </p:sp>
      <p:sp>
        <p:nvSpPr>
          <p:cNvPr id="49" name="Text 38"/>
          <p:cNvSpPr/>
          <p:nvPr/>
        </p:nvSpPr>
        <p:spPr>
          <a:xfrm>
            <a:off x="628650" y="5273873"/>
            <a:ext cx="3729038" cy="228600"/>
          </a:xfrm>
          <a:prstGeom prst="rect">
            <a:avLst/>
          </a:prstGeom>
          <a:noFill/>
          <a:ln/>
        </p:spPr>
        <p:txBody>
          <a:bodyPr wrap="square" lIns="0" tIns="0" rIns="0" bIns="0" rtlCol="0" anchor="ctr">
            <a:spAutoFit/>
          </a:bodyPr>
          <a:lstStyle/>
          <a:p>
            <a:pPr indent="0" marL="0">
              <a:buNone/>
            </a:pPr>
            <a:r>
              <a:rPr lang="en-US" sz="1350" b="1" dirty="0">
                <a:solidFill>
                  <a:srgbClr val="FCA5A5"/>
                </a:solidFill>
                <a:latin typeface="Segoe UI" pitchFamily="34" charset="0"/>
                <a:ea typeface="Segoe UI" pitchFamily="34" charset="-122"/>
                <a:cs typeface="Segoe UI" pitchFamily="34" charset="-120"/>
              </a:rPr>
              <a:t>Runtime Errors (Exceptions)</a:t>
            </a:r>
            <a:endParaRPr lang="en-US" sz="1350" dirty="0"/>
          </a:p>
        </p:txBody>
      </p:sp>
      <p:sp>
        <p:nvSpPr>
          <p:cNvPr id="50" name="Text 39"/>
          <p:cNvSpPr/>
          <p:nvPr/>
        </p:nvSpPr>
        <p:spPr>
          <a:xfrm>
            <a:off x="628650" y="5616773"/>
            <a:ext cx="3729038" cy="285750"/>
          </a:xfrm>
          <a:prstGeom prst="rect">
            <a:avLst/>
          </a:prstGeom>
          <a:noFill/>
          <a:ln/>
        </p:spPr>
        <p:txBody>
          <a:bodyPr wrap="square" lIns="0" tIns="0" rIns="0" bIns="0" rtlCol="0" anchor="ctr">
            <a:spAutoFit/>
          </a:bodyPr>
          <a:lstStyle/>
          <a:p>
            <a:pPr indent="0" marL="0">
              <a:buNone/>
            </a:pPr>
            <a:r>
              <a:rPr lang="en-US" sz="788" dirty="0">
                <a:solidFill>
                  <a:srgbClr val="F1F5F9"/>
                </a:solidFill>
                <a:latin typeface="Segoe UI" pitchFamily="34" charset="0"/>
                <a:ea typeface="Segoe UI" pitchFamily="34" charset="-122"/>
                <a:cs typeface="Segoe UI" pitchFamily="34" charset="-120"/>
              </a:rPr>
              <a:t>These errors occur while your program is running. They often cause the program to crash if not handled.</a:t>
            </a:r>
            <a:endParaRPr lang="en-US" sz="788" dirty="0"/>
          </a:p>
        </p:txBody>
      </p:sp>
      <p:sp>
        <p:nvSpPr>
          <p:cNvPr id="51" name="Shape 40"/>
          <p:cNvSpPr/>
          <p:nvPr/>
        </p:nvSpPr>
        <p:spPr>
          <a:xfrm>
            <a:off x="628650" y="6016823"/>
            <a:ext cx="3657600" cy="1019770"/>
          </a:xfrm>
          <a:prstGeom prst="rect">
            <a:avLst/>
          </a:prstGeom>
          <a:solidFill>
            <a:srgbClr val="7F1D1D">
              <a:alpha val="30000"/>
            </a:srgbClr>
          </a:solidFill>
          <a:ln/>
        </p:spPr>
      </p:sp>
      <p:sp>
        <p:nvSpPr>
          <p:cNvPr id="52" name="Shape 41"/>
          <p:cNvSpPr/>
          <p:nvPr/>
        </p:nvSpPr>
        <p:spPr>
          <a:xfrm>
            <a:off x="628650" y="6016823"/>
            <a:ext cx="28575" cy="1019770"/>
          </a:xfrm>
          <a:prstGeom prst="rect">
            <a:avLst/>
          </a:prstGeom>
          <a:solidFill>
            <a:srgbClr val="F87171"/>
          </a:solidFill>
          <a:ln/>
        </p:spPr>
      </p:sp>
      <p:sp>
        <p:nvSpPr>
          <p:cNvPr id="53" name="Text 42"/>
          <p:cNvSpPr/>
          <p:nvPr/>
        </p:nvSpPr>
        <p:spPr>
          <a:xfrm>
            <a:off x="742950" y="6102548"/>
            <a:ext cx="3614738" cy="200025"/>
          </a:xfrm>
          <a:prstGeom prst="rect">
            <a:avLst/>
          </a:prstGeom>
          <a:noFill/>
          <a:ln/>
        </p:spPr>
        <p:txBody>
          <a:bodyPr wrap="square" lIns="0" tIns="0" rIns="0" bIns="0" rtlCol="0" anchor="ctr">
            <a:spAutoFit/>
          </a:bodyPr>
          <a:lstStyle/>
          <a:p>
            <a:pPr indent="0" marL="0">
              <a:buNone/>
            </a:pPr>
            <a:r>
              <a:rPr lang="en-US" sz="1125" b="1" dirty="0">
                <a:solidFill>
                  <a:srgbClr val="F1F5F9"/>
                </a:solidFill>
                <a:latin typeface="Segoe UI" pitchFamily="34" charset="0"/>
                <a:ea typeface="Segoe UI" pitchFamily="34" charset="-122"/>
                <a:cs typeface="Segoe UI" pitchFamily="34" charset="-120"/>
              </a:rPr>
              <a:t>NullPointerException</a:t>
            </a:r>
            <a:endParaRPr lang="en-US" sz="1125" dirty="0"/>
          </a:p>
        </p:txBody>
      </p:sp>
      <p:sp>
        <p:nvSpPr>
          <p:cNvPr id="54" name="Text 43"/>
          <p:cNvSpPr/>
          <p:nvPr/>
        </p:nvSpPr>
        <p:spPr>
          <a:xfrm>
            <a:off x="742950" y="6340078"/>
            <a:ext cx="1597828" cy="94655"/>
          </a:xfrm>
          <a:prstGeom prst="rect">
            <a:avLst/>
          </a:prstGeom>
          <a:noFill/>
          <a:ln/>
        </p:spPr>
        <p:txBody>
          <a:bodyPr wrap="square" lIns="0" tIns="0" rIns="0" bIns="0" rtlCol="0" anchor="ctr">
            <a:spAutoFit/>
          </a:bodyPr>
          <a:lstStyle/>
          <a:p>
            <a:pPr indent="0" marL="0">
              <a:buNone/>
            </a:pPr>
            <a:r>
              <a:rPr lang="en-US" sz="675" dirty="0">
                <a:solidFill>
                  <a:srgbClr val="F1F5F9"/>
                </a:solidFill>
                <a:latin typeface="Segoe UI" pitchFamily="34" charset="0"/>
                <a:ea typeface="Segoe UI" pitchFamily="34" charset="-122"/>
                <a:cs typeface="Segoe UI" pitchFamily="34" charset="-120"/>
              </a:rPr>
              <a:t>Trying to use an object reference that is</a:t>
            </a:r>
            <a:endParaRPr lang="en-US" sz="675" dirty="0"/>
          </a:p>
        </p:txBody>
      </p:sp>
      <p:sp>
        <p:nvSpPr>
          <p:cNvPr id="55" name="Text 44"/>
          <p:cNvSpPr/>
          <p:nvPr/>
        </p:nvSpPr>
        <p:spPr>
          <a:xfrm>
            <a:off x="2269341" y="6345436"/>
            <a:ext cx="277211" cy="96441"/>
          </a:xfrm>
          <a:prstGeom prst="rect">
            <a:avLst/>
          </a:prstGeom>
          <a:noFill/>
          <a:ln/>
        </p:spPr>
        <p:txBody>
          <a:bodyPr wrap="none" lIns="0" tIns="0" rIns="0" bIns="0" rtlCol="0" anchor="ctr">
            <a:spAutoFit/>
          </a:bodyPr>
          <a:lstStyle/>
          <a:p>
            <a:pPr indent="0" marL="0">
              <a:buNone/>
            </a:pPr>
            <a:r>
              <a:rPr lang="en-US" sz="675" dirty="0">
                <a:solidFill>
                  <a:srgbClr val="F1F5F9"/>
                </a:solidFill>
                <a:latin typeface="Consolas" pitchFamily="34" charset="0"/>
                <a:ea typeface="Consolas" pitchFamily="34" charset="-122"/>
                <a:cs typeface="Consolas" pitchFamily="34" charset="-120"/>
              </a:rPr>
              <a:t>null</a:t>
            </a:r>
            <a:endParaRPr lang="en-US" sz="675" dirty="0"/>
          </a:p>
        </p:txBody>
      </p:sp>
      <p:sp>
        <p:nvSpPr>
          <p:cNvPr id="56" name="Text 45"/>
          <p:cNvSpPr/>
          <p:nvPr/>
        </p:nvSpPr>
        <p:spPr>
          <a:xfrm>
            <a:off x="2475114" y="6340078"/>
            <a:ext cx="95269" cy="94655"/>
          </a:xfrm>
          <a:prstGeom prst="rect">
            <a:avLst/>
          </a:prstGeom>
          <a:noFill/>
          <a:ln/>
        </p:spPr>
        <p:txBody>
          <a:bodyPr wrap="none" lIns="0" tIns="0" rIns="0" bIns="0" rtlCol="0" anchor="ctr">
            <a:spAutoFit/>
          </a:bodyPr>
          <a:lstStyle/>
          <a:p>
            <a:pPr indent="0" marL="0">
              <a:buNone/>
            </a:pPr>
            <a:r>
              <a:rPr lang="en-US" sz="675" dirty="0">
                <a:solidFill>
                  <a:srgbClr val="F1F5F9"/>
                </a:solidFill>
                <a:latin typeface="Segoe UI" pitchFamily="34" charset="0"/>
                <a:ea typeface="Segoe UI" pitchFamily="34" charset="-122"/>
                <a:cs typeface="Segoe UI" pitchFamily="34" charset="-120"/>
              </a:rPr>
              <a:t>.</a:t>
            </a:r>
            <a:endParaRPr lang="en-US" sz="675" dirty="0"/>
          </a:p>
        </p:txBody>
      </p:sp>
      <p:sp>
        <p:nvSpPr>
          <p:cNvPr id="57" name="Shape 46"/>
          <p:cNvSpPr/>
          <p:nvPr/>
        </p:nvSpPr>
        <p:spPr>
          <a:xfrm>
            <a:off x="742950" y="6479381"/>
            <a:ext cx="3543300" cy="471488"/>
          </a:xfrm>
          <a:prstGeom prst="rect">
            <a:avLst/>
          </a:prstGeom>
          <a:solidFill>
            <a:srgbClr val="1E293B">
              <a:alpha val="80000"/>
            </a:srgbClr>
          </a:solidFill>
          <a:ln w="99">
            <a:solidFill>
              <a:srgbClr val="60A5FA">
                <a:alpha val="30000"/>
              </a:srgbClr>
            </a:solidFill>
            <a:prstDash val="solid"/>
          </a:ln>
        </p:spPr>
      </p:sp>
      <p:sp>
        <p:nvSpPr>
          <p:cNvPr id="58" name="Text 47"/>
          <p:cNvSpPr/>
          <p:nvPr/>
        </p:nvSpPr>
        <p:spPr>
          <a:xfrm>
            <a:off x="800100" y="6591895"/>
            <a:ext cx="1048876" cy="96441"/>
          </a:xfrm>
          <a:prstGeom prst="rect">
            <a:avLst/>
          </a:prstGeom>
          <a:noFill/>
          <a:ln/>
        </p:spPr>
        <p:txBody>
          <a:bodyPr wrap="none" lIns="0" tIns="0" rIns="0" bIns="0" rtlCol="0" anchor="ctr">
            <a:spAutoFit/>
          </a:bodyPr>
          <a:lstStyle/>
          <a:p>
            <a:pPr indent="0" marL="0">
              <a:buNone/>
            </a:pPr>
            <a:r>
              <a:rPr lang="en-US" sz="675" dirty="0">
                <a:solidFill>
                  <a:srgbClr val="FEE2E2"/>
                </a:solidFill>
                <a:latin typeface="Consolas" pitchFamily="34" charset="0"/>
                <a:ea typeface="Consolas" pitchFamily="34" charset="-122"/>
                <a:cs typeface="Consolas" pitchFamily="34" charset="-120"/>
              </a:rPr>
              <a:t>String name = null;</a:t>
            </a:r>
            <a:endParaRPr lang="en-US" sz="675" dirty="0"/>
          </a:p>
        </p:txBody>
      </p:sp>
      <p:sp>
        <p:nvSpPr>
          <p:cNvPr id="59" name="Text 48"/>
          <p:cNvSpPr/>
          <p:nvPr/>
        </p:nvSpPr>
        <p:spPr>
          <a:xfrm>
            <a:off x="800100" y="6763345"/>
            <a:ext cx="1871969" cy="96441"/>
          </a:xfrm>
          <a:prstGeom prst="rect">
            <a:avLst/>
          </a:prstGeom>
          <a:noFill/>
          <a:ln/>
        </p:spPr>
        <p:txBody>
          <a:bodyPr wrap="square" lIns="0" tIns="0" rIns="0" bIns="0" rtlCol="0" anchor="ctr">
            <a:spAutoFit/>
          </a:bodyPr>
          <a:lstStyle/>
          <a:p>
            <a:pPr indent="0" marL="0">
              <a:buNone/>
            </a:pPr>
            <a:r>
              <a:rPr lang="en-US" sz="675" dirty="0">
                <a:solidFill>
                  <a:srgbClr val="FEE2E2"/>
                </a:solidFill>
                <a:latin typeface="Consolas" pitchFamily="34" charset="0"/>
                <a:ea typeface="Consolas" pitchFamily="34" charset="-122"/>
                <a:cs typeface="Consolas" pitchFamily="34" charset="-120"/>
              </a:rPr>
              <a:t>System.out.println(name.length());</a:t>
            </a:r>
            <a:endParaRPr lang="en-US" sz="675" dirty="0"/>
          </a:p>
        </p:txBody>
      </p:sp>
      <p:sp>
        <p:nvSpPr>
          <p:cNvPr id="60" name="Text 49"/>
          <p:cNvSpPr/>
          <p:nvPr/>
        </p:nvSpPr>
        <p:spPr>
          <a:xfrm>
            <a:off x="2600632" y="6763345"/>
            <a:ext cx="1614739" cy="96441"/>
          </a:xfrm>
          <a:prstGeom prst="rect">
            <a:avLst/>
          </a:prstGeom>
          <a:noFill/>
          <a:ln/>
        </p:spPr>
        <p:txBody>
          <a:bodyPr wrap="square" lIns="0" tIns="0" rIns="0" bIns="0" rtlCol="0" anchor="ctr">
            <a:spAutoFit/>
          </a:bodyPr>
          <a:lstStyle/>
          <a:p>
            <a:pPr indent="0" marL="0">
              <a:buNone/>
            </a:pPr>
            <a:r>
              <a:rPr lang="en-US" sz="675" b="1" dirty="0">
                <a:solidFill>
                  <a:srgbClr val="F87171"/>
                </a:solidFill>
                <a:latin typeface="Consolas" pitchFamily="34" charset="0"/>
                <a:ea typeface="Consolas" pitchFamily="34" charset="-122"/>
                <a:cs typeface="Consolas" pitchFamily="34" charset="-120"/>
              </a:rPr>
              <a:t>// Throws NullPointerException</a:t>
            </a:r>
            <a:endParaRPr lang="en-US" sz="675" dirty="0"/>
          </a:p>
        </p:txBody>
      </p:sp>
      <p:sp>
        <p:nvSpPr>
          <p:cNvPr id="61" name="Shape 50"/>
          <p:cNvSpPr/>
          <p:nvPr/>
        </p:nvSpPr>
        <p:spPr>
          <a:xfrm>
            <a:off x="628650" y="7136606"/>
            <a:ext cx="3657600" cy="1185863"/>
          </a:xfrm>
          <a:prstGeom prst="rect">
            <a:avLst/>
          </a:prstGeom>
          <a:solidFill>
            <a:srgbClr val="7F1D1D">
              <a:alpha val="30000"/>
            </a:srgbClr>
          </a:solidFill>
          <a:ln/>
        </p:spPr>
      </p:sp>
      <p:sp>
        <p:nvSpPr>
          <p:cNvPr id="62" name="Shape 51"/>
          <p:cNvSpPr/>
          <p:nvPr/>
        </p:nvSpPr>
        <p:spPr>
          <a:xfrm>
            <a:off x="628650" y="7136606"/>
            <a:ext cx="28575" cy="1185863"/>
          </a:xfrm>
          <a:prstGeom prst="rect">
            <a:avLst/>
          </a:prstGeom>
          <a:solidFill>
            <a:srgbClr val="F87171"/>
          </a:solidFill>
          <a:ln/>
        </p:spPr>
      </p:sp>
      <p:sp>
        <p:nvSpPr>
          <p:cNvPr id="63" name="Text 52"/>
          <p:cNvSpPr/>
          <p:nvPr/>
        </p:nvSpPr>
        <p:spPr>
          <a:xfrm>
            <a:off x="742950" y="7222331"/>
            <a:ext cx="3614738" cy="200025"/>
          </a:xfrm>
          <a:prstGeom prst="rect">
            <a:avLst/>
          </a:prstGeom>
          <a:noFill/>
          <a:ln/>
        </p:spPr>
        <p:txBody>
          <a:bodyPr wrap="square" lIns="0" tIns="0" rIns="0" bIns="0" rtlCol="0" anchor="ctr">
            <a:spAutoFit/>
          </a:bodyPr>
          <a:lstStyle/>
          <a:p>
            <a:pPr indent="0" marL="0">
              <a:buNone/>
            </a:pPr>
            <a:r>
              <a:rPr lang="en-US" sz="1125" b="1" dirty="0">
                <a:solidFill>
                  <a:srgbClr val="F1F5F9"/>
                </a:solidFill>
                <a:latin typeface="Segoe UI" pitchFamily="34" charset="0"/>
                <a:ea typeface="Segoe UI" pitchFamily="34" charset="-122"/>
                <a:cs typeface="Segoe UI" pitchFamily="34" charset="-120"/>
              </a:rPr>
              <a:t>ArrayIndexOutOfBoundsException</a:t>
            </a:r>
            <a:endParaRPr lang="en-US" sz="1125" dirty="0"/>
          </a:p>
        </p:txBody>
      </p:sp>
      <p:sp>
        <p:nvSpPr>
          <p:cNvPr id="64" name="Text 53"/>
          <p:cNvSpPr/>
          <p:nvPr/>
        </p:nvSpPr>
        <p:spPr>
          <a:xfrm>
            <a:off x="742950" y="7450931"/>
            <a:ext cx="3614738" cy="114300"/>
          </a:xfrm>
          <a:prstGeom prst="rect">
            <a:avLst/>
          </a:prstGeom>
          <a:noFill/>
          <a:ln/>
        </p:spPr>
        <p:txBody>
          <a:bodyPr wrap="square" lIns="0" tIns="0" rIns="0" bIns="0" rtlCol="0" anchor="ctr">
            <a:spAutoFit/>
          </a:bodyPr>
          <a:lstStyle/>
          <a:p>
            <a:pPr indent="0" marL="0">
              <a:buNone/>
            </a:pPr>
            <a:r>
              <a:rPr lang="en-US" sz="675" dirty="0">
                <a:solidFill>
                  <a:srgbClr val="F1F5F9"/>
                </a:solidFill>
                <a:latin typeface="Segoe UI" pitchFamily="34" charset="0"/>
                <a:ea typeface="Segoe UI" pitchFamily="34" charset="-122"/>
                <a:cs typeface="Segoe UI" pitchFamily="34" charset="-120"/>
              </a:rPr>
              <a:t>Trying to access an array element with an invalid index (e.g., negative or too large).</a:t>
            </a:r>
            <a:endParaRPr lang="en-US" sz="675" dirty="0"/>
          </a:p>
        </p:txBody>
      </p:sp>
      <p:sp>
        <p:nvSpPr>
          <p:cNvPr id="65" name="Shape 54"/>
          <p:cNvSpPr/>
          <p:nvPr/>
        </p:nvSpPr>
        <p:spPr>
          <a:xfrm>
            <a:off x="742950" y="7593806"/>
            <a:ext cx="3543300" cy="642938"/>
          </a:xfrm>
          <a:prstGeom prst="rect">
            <a:avLst/>
          </a:prstGeom>
          <a:solidFill>
            <a:srgbClr val="1E293B">
              <a:alpha val="80000"/>
            </a:srgbClr>
          </a:solidFill>
          <a:ln w="99">
            <a:solidFill>
              <a:srgbClr val="60A5FA">
                <a:alpha val="30000"/>
              </a:srgbClr>
            </a:solidFill>
            <a:prstDash val="solid"/>
          </a:ln>
        </p:spPr>
      </p:sp>
      <p:sp>
        <p:nvSpPr>
          <p:cNvPr id="66" name="Text 55"/>
          <p:cNvSpPr/>
          <p:nvPr/>
        </p:nvSpPr>
        <p:spPr>
          <a:xfrm>
            <a:off x="800100" y="7706320"/>
            <a:ext cx="1408965" cy="96441"/>
          </a:xfrm>
          <a:prstGeom prst="rect">
            <a:avLst/>
          </a:prstGeom>
          <a:noFill/>
          <a:ln/>
        </p:spPr>
        <p:txBody>
          <a:bodyPr wrap="square" lIns="0" tIns="0" rIns="0" bIns="0" rtlCol="0" anchor="ctr">
            <a:spAutoFit/>
          </a:bodyPr>
          <a:lstStyle/>
          <a:p>
            <a:pPr indent="0" marL="0">
              <a:buNone/>
            </a:pPr>
            <a:r>
              <a:rPr lang="en-US" sz="675" dirty="0">
                <a:solidFill>
                  <a:srgbClr val="FEE2E2"/>
                </a:solidFill>
                <a:latin typeface="Consolas" pitchFamily="34" charset="0"/>
                <a:ea typeface="Consolas" pitchFamily="34" charset="-122"/>
                <a:cs typeface="Consolas" pitchFamily="34" charset="-120"/>
              </a:rPr>
              <a:t>int[] numbers = {1, 2, 3};</a:t>
            </a:r>
            <a:endParaRPr lang="en-US" sz="675" dirty="0"/>
          </a:p>
        </p:txBody>
      </p:sp>
      <p:sp>
        <p:nvSpPr>
          <p:cNvPr id="67" name="Text 56"/>
          <p:cNvSpPr/>
          <p:nvPr/>
        </p:nvSpPr>
        <p:spPr>
          <a:xfrm>
            <a:off x="800100" y="7877770"/>
            <a:ext cx="1717625" cy="96441"/>
          </a:xfrm>
          <a:prstGeom prst="rect">
            <a:avLst/>
          </a:prstGeom>
          <a:noFill/>
          <a:ln/>
        </p:spPr>
        <p:txBody>
          <a:bodyPr wrap="square" lIns="0" tIns="0" rIns="0" bIns="0" rtlCol="0" anchor="ctr">
            <a:spAutoFit/>
          </a:bodyPr>
          <a:lstStyle/>
          <a:p>
            <a:pPr indent="0" marL="0">
              <a:buNone/>
            </a:pPr>
            <a:r>
              <a:rPr lang="en-US" sz="675" dirty="0">
                <a:solidFill>
                  <a:srgbClr val="FEE2E2"/>
                </a:solidFill>
                <a:latin typeface="Consolas" pitchFamily="34" charset="0"/>
                <a:ea typeface="Consolas" pitchFamily="34" charset="-122"/>
                <a:cs typeface="Consolas" pitchFamily="34" charset="-120"/>
              </a:rPr>
              <a:t>System.out.println(numbers[3]);</a:t>
            </a:r>
            <a:endParaRPr lang="en-US" sz="675" dirty="0"/>
          </a:p>
        </p:txBody>
      </p:sp>
      <p:sp>
        <p:nvSpPr>
          <p:cNvPr id="68" name="Text 57"/>
          <p:cNvSpPr/>
          <p:nvPr/>
        </p:nvSpPr>
        <p:spPr>
          <a:xfrm>
            <a:off x="800100" y="7877770"/>
            <a:ext cx="2180630" cy="267891"/>
          </a:xfrm>
          <a:prstGeom prst="rect">
            <a:avLst/>
          </a:prstGeom>
          <a:noFill/>
          <a:ln/>
        </p:spPr>
        <p:txBody>
          <a:bodyPr wrap="square" lIns="0" tIns="0" rIns="0" bIns="0" rtlCol="0" anchor="ctr">
            <a:spAutoFit/>
          </a:bodyPr>
          <a:lstStyle/>
          <a:p>
            <a:pPr indent="0" marL="0">
              <a:buNone/>
            </a:pPr>
            <a:r>
              <a:rPr lang="en-US" sz="675" b="1" dirty="0">
                <a:solidFill>
                  <a:srgbClr val="F87171"/>
                </a:solidFill>
                <a:latin typeface="Consolas" pitchFamily="34" charset="0"/>
                <a:ea typeface="Consolas" pitchFamily="34" charset="-122"/>
                <a:cs typeface="Consolas" pitchFamily="34" charset="-120"/>
              </a:rPr>
              <a:t>// Throws ArrayIndexOutOfBoundsException</a:t>
            </a:r>
            <a:endParaRPr lang="en-US" sz="675" dirty="0"/>
          </a:p>
        </p:txBody>
      </p:sp>
      <p:sp>
        <p:nvSpPr>
          <p:cNvPr id="69" name="Shape 58"/>
          <p:cNvSpPr/>
          <p:nvPr/>
        </p:nvSpPr>
        <p:spPr>
          <a:xfrm>
            <a:off x="628650" y="8422481"/>
            <a:ext cx="3657600" cy="842963"/>
          </a:xfrm>
          <a:prstGeom prst="rect">
            <a:avLst/>
          </a:prstGeom>
          <a:solidFill>
            <a:srgbClr val="7F1D1D">
              <a:alpha val="30000"/>
            </a:srgbClr>
          </a:solidFill>
          <a:ln/>
        </p:spPr>
      </p:sp>
      <p:sp>
        <p:nvSpPr>
          <p:cNvPr id="70" name="Shape 59"/>
          <p:cNvSpPr/>
          <p:nvPr/>
        </p:nvSpPr>
        <p:spPr>
          <a:xfrm>
            <a:off x="628650" y="8422481"/>
            <a:ext cx="28575" cy="842963"/>
          </a:xfrm>
          <a:prstGeom prst="rect">
            <a:avLst/>
          </a:prstGeom>
          <a:solidFill>
            <a:srgbClr val="F87171"/>
          </a:solidFill>
          <a:ln/>
        </p:spPr>
      </p:sp>
      <p:sp>
        <p:nvSpPr>
          <p:cNvPr id="71" name="Text 60"/>
          <p:cNvSpPr/>
          <p:nvPr/>
        </p:nvSpPr>
        <p:spPr>
          <a:xfrm>
            <a:off x="742950" y="8508206"/>
            <a:ext cx="3614738" cy="200025"/>
          </a:xfrm>
          <a:prstGeom prst="rect">
            <a:avLst/>
          </a:prstGeom>
          <a:noFill/>
          <a:ln/>
        </p:spPr>
        <p:txBody>
          <a:bodyPr wrap="square" lIns="0" tIns="0" rIns="0" bIns="0" rtlCol="0" anchor="ctr">
            <a:spAutoFit/>
          </a:bodyPr>
          <a:lstStyle/>
          <a:p>
            <a:pPr indent="0" marL="0">
              <a:buNone/>
            </a:pPr>
            <a:r>
              <a:rPr lang="en-US" sz="1125" b="1" dirty="0">
                <a:solidFill>
                  <a:srgbClr val="F1F5F9"/>
                </a:solidFill>
                <a:latin typeface="Segoe UI" pitchFamily="34" charset="0"/>
                <a:ea typeface="Segoe UI" pitchFamily="34" charset="-122"/>
                <a:cs typeface="Segoe UI" pitchFamily="34" charset="-120"/>
              </a:rPr>
              <a:t>ArithmeticException</a:t>
            </a:r>
            <a:endParaRPr lang="en-US" sz="1125" dirty="0"/>
          </a:p>
        </p:txBody>
      </p:sp>
      <p:sp>
        <p:nvSpPr>
          <p:cNvPr id="72" name="Text 61"/>
          <p:cNvSpPr/>
          <p:nvPr/>
        </p:nvSpPr>
        <p:spPr>
          <a:xfrm>
            <a:off x="742950" y="8736806"/>
            <a:ext cx="3614738" cy="114300"/>
          </a:xfrm>
          <a:prstGeom prst="rect">
            <a:avLst/>
          </a:prstGeom>
          <a:noFill/>
          <a:ln/>
        </p:spPr>
        <p:txBody>
          <a:bodyPr wrap="square" lIns="0" tIns="0" rIns="0" bIns="0" rtlCol="0" anchor="ctr">
            <a:spAutoFit/>
          </a:bodyPr>
          <a:lstStyle/>
          <a:p>
            <a:pPr indent="0" marL="0">
              <a:buNone/>
            </a:pPr>
            <a:r>
              <a:rPr lang="en-US" sz="675" dirty="0">
                <a:solidFill>
                  <a:srgbClr val="F1F5F9"/>
                </a:solidFill>
                <a:latin typeface="Segoe UI" pitchFamily="34" charset="0"/>
                <a:ea typeface="Segoe UI" pitchFamily="34" charset="-122"/>
                <a:cs typeface="Segoe UI" pitchFamily="34" charset="-120"/>
              </a:rPr>
              <a:t>An arithmetic error occurs, like division by zero.</a:t>
            </a:r>
            <a:endParaRPr lang="en-US" sz="675" dirty="0"/>
          </a:p>
        </p:txBody>
      </p:sp>
      <p:sp>
        <p:nvSpPr>
          <p:cNvPr id="73" name="Shape 62"/>
          <p:cNvSpPr/>
          <p:nvPr/>
        </p:nvSpPr>
        <p:spPr>
          <a:xfrm>
            <a:off x="742950" y="8879681"/>
            <a:ext cx="3543300" cy="300038"/>
          </a:xfrm>
          <a:prstGeom prst="rect">
            <a:avLst/>
          </a:prstGeom>
          <a:solidFill>
            <a:srgbClr val="1E293B">
              <a:alpha val="80000"/>
            </a:srgbClr>
          </a:solidFill>
          <a:ln w="99">
            <a:solidFill>
              <a:srgbClr val="60A5FA">
                <a:alpha val="30000"/>
              </a:srgbClr>
            </a:solidFill>
            <a:prstDash val="solid"/>
          </a:ln>
        </p:spPr>
      </p:sp>
      <p:sp>
        <p:nvSpPr>
          <p:cNvPr id="74" name="Text 63"/>
          <p:cNvSpPr/>
          <p:nvPr/>
        </p:nvSpPr>
        <p:spPr>
          <a:xfrm>
            <a:off x="800100" y="8992195"/>
            <a:ext cx="1151762" cy="96441"/>
          </a:xfrm>
          <a:prstGeom prst="rect">
            <a:avLst/>
          </a:prstGeom>
          <a:noFill/>
          <a:ln/>
        </p:spPr>
        <p:txBody>
          <a:bodyPr wrap="none" lIns="0" tIns="0" rIns="0" bIns="0" rtlCol="0" anchor="ctr">
            <a:spAutoFit/>
          </a:bodyPr>
          <a:lstStyle/>
          <a:p>
            <a:pPr indent="0" marL="0">
              <a:buNone/>
            </a:pPr>
            <a:r>
              <a:rPr lang="en-US" sz="675" dirty="0">
                <a:solidFill>
                  <a:srgbClr val="FEE2E2"/>
                </a:solidFill>
                <a:latin typeface="Consolas" pitchFamily="34" charset="0"/>
                <a:ea typeface="Consolas" pitchFamily="34" charset="-122"/>
                <a:cs typeface="Consolas" pitchFamily="34" charset="-120"/>
              </a:rPr>
              <a:t>int result = 10 / 0;</a:t>
            </a:r>
            <a:endParaRPr lang="en-US" sz="675" dirty="0"/>
          </a:p>
        </p:txBody>
      </p:sp>
      <p:sp>
        <p:nvSpPr>
          <p:cNvPr id="75" name="Text 64"/>
          <p:cNvSpPr/>
          <p:nvPr/>
        </p:nvSpPr>
        <p:spPr>
          <a:xfrm>
            <a:off x="1880425" y="8992195"/>
            <a:ext cx="2129172" cy="96441"/>
          </a:xfrm>
          <a:prstGeom prst="rect">
            <a:avLst/>
          </a:prstGeom>
          <a:noFill/>
          <a:ln/>
        </p:spPr>
        <p:txBody>
          <a:bodyPr wrap="square" lIns="0" tIns="0" rIns="0" bIns="0" rtlCol="0" anchor="ctr">
            <a:spAutoFit/>
          </a:bodyPr>
          <a:lstStyle/>
          <a:p>
            <a:pPr indent="0" marL="0">
              <a:buNone/>
            </a:pPr>
            <a:r>
              <a:rPr lang="en-US" sz="675" b="1" dirty="0">
                <a:solidFill>
                  <a:srgbClr val="F87171"/>
                </a:solidFill>
                <a:latin typeface="Consolas" pitchFamily="34" charset="0"/>
                <a:ea typeface="Consolas" pitchFamily="34" charset="-122"/>
                <a:cs typeface="Consolas" pitchFamily="34" charset="-120"/>
              </a:rPr>
              <a:t>// Throws ArithmeticException: / by zero</a:t>
            </a:r>
            <a:endParaRPr lang="en-US" sz="675" dirty="0"/>
          </a:p>
        </p:txBody>
      </p:sp>
      <p:sp>
        <p:nvSpPr>
          <p:cNvPr id="76" name="Shape 65"/>
          <p:cNvSpPr/>
          <p:nvPr/>
        </p:nvSpPr>
        <p:spPr>
          <a:xfrm>
            <a:off x="628650" y="9365456"/>
            <a:ext cx="3657600" cy="1482328"/>
          </a:xfrm>
          <a:prstGeom prst="rect">
            <a:avLst/>
          </a:prstGeom>
          <a:solidFill>
            <a:srgbClr val="7F1D1D">
              <a:alpha val="30000"/>
            </a:srgbClr>
          </a:solidFill>
          <a:ln/>
        </p:spPr>
      </p:sp>
      <p:sp>
        <p:nvSpPr>
          <p:cNvPr id="77" name="Shape 66"/>
          <p:cNvSpPr/>
          <p:nvPr/>
        </p:nvSpPr>
        <p:spPr>
          <a:xfrm>
            <a:off x="628650" y="9365456"/>
            <a:ext cx="28575" cy="1482328"/>
          </a:xfrm>
          <a:prstGeom prst="rect">
            <a:avLst/>
          </a:prstGeom>
          <a:solidFill>
            <a:srgbClr val="F87171"/>
          </a:solidFill>
          <a:ln/>
        </p:spPr>
      </p:sp>
      <p:sp>
        <p:nvSpPr>
          <p:cNvPr id="78" name="Text 67"/>
          <p:cNvSpPr/>
          <p:nvPr/>
        </p:nvSpPr>
        <p:spPr>
          <a:xfrm>
            <a:off x="742950" y="9451181"/>
            <a:ext cx="3614738" cy="200025"/>
          </a:xfrm>
          <a:prstGeom prst="rect">
            <a:avLst/>
          </a:prstGeom>
          <a:noFill/>
          <a:ln/>
        </p:spPr>
        <p:txBody>
          <a:bodyPr wrap="square" lIns="0" tIns="0" rIns="0" bIns="0" rtlCol="0" anchor="ctr">
            <a:spAutoFit/>
          </a:bodyPr>
          <a:lstStyle/>
          <a:p>
            <a:pPr indent="0" marL="0">
              <a:buNone/>
            </a:pPr>
            <a:r>
              <a:rPr lang="en-US" sz="1125" b="1" dirty="0">
                <a:solidFill>
                  <a:srgbClr val="F1F5F9"/>
                </a:solidFill>
                <a:latin typeface="Segoe UI" pitchFamily="34" charset="0"/>
                <a:ea typeface="Segoe UI" pitchFamily="34" charset="-122"/>
                <a:cs typeface="Segoe UI" pitchFamily="34" charset="-120"/>
              </a:rPr>
              <a:t>InputMismatchException</a:t>
            </a:r>
            <a:endParaRPr lang="en-US" sz="1125" dirty="0"/>
          </a:p>
        </p:txBody>
      </p:sp>
      <p:sp>
        <p:nvSpPr>
          <p:cNvPr id="79" name="Text 68"/>
          <p:cNvSpPr/>
          <p:nvPr/>
        </p:nvSpPr>
        <p:spPr>
          <a:xfrm>
            <a:off x="742950" y="9688711"/>
            <a:ext cx="547948" cy="94655"/>
          </a:xfrm>
          <a:prstGeom prst="rect">
            <a:avLst/>
          </a:prstGeom>
          <a:noFill/>
          <a:ln/>
        </p:spPr>
        <p:txBody>
          <a:bodyPr wrap="none" lIns="0" tIns="0" rIns="0" bIns="0" rtlCol="0" anchor="ctr">
            <a:spAutoFit/>
          </a:bodyPr>
          <a:lstStyle/>
          <a:p>
            <a:pPr indent="0" marL="0">
              <a:buNone/>
            </a:pPr>
            <a:r>
              <a:rPr lang="en-US" sz="675" dirty="0">
                <a:solidFill>
                  <a:srgbClr val="F1F5F9"/>
                </a:solidFill>
                <a:latin typeface="Segoe UI" pitchFamily="34" charset="0"/>
                <a:ea typeface="Segoe UI" pitchFamily="34" charset="-122"/>
                <a:cs typeface="Segoe UI" pitchFamily="34" charset="-120"/>
              </a:rPr>
              <a:t>When using</a:t>
            </a:r>
            <a:endParaRPr lang="en-US" sz="675" dirty="0"/>
          </a:p>
        </p:txBody>
      </p:sp>
      <p:sp>
        <p:nvSpPr>
          <p:cNvPr id="80" name="Text 69"/>
          <p:cNvSpPr/>
          <p:nvPr/>
        </p:nvSpPr>
        <p:spPr>
          <a:xfrm>
            <a:off x="1219460" y="9694069"/>
            <a:ext cx="431555" cy="96441"/>
          </a:xfrm>
          <a:prstGeom prst="rect">
            <a:avLst/>
          </a:prstGeom>
          <a:noFill/>
          <a:ln/>
        </p:spPr>
        <p:txBody>
          <a:bodyPr wrap="none" lIns="0" tIns="0" rIns="0" bIns="0" rtlCol="0" anchor="ctr">
            <a:spAutoFit/>
          </a:bodyPr>
          <a:lstStyle/>
          <a:p>
            <a:pPr indent="0" marL="0">
              <a:buNone/>
            </a:pPr>
            <a:r>
              <a:rPr lang="en-US" sz="675" dirty="0">
                <a:solidFill>
                  <a:srgbClr val="F1F5F9"/>
                </a:solidFill>
                <a:latin typeface="Consolas" pitchFamily="34" charset="0"/>
                <a:ea typeface="Consolas" pitchFamily="34" charset="-122"/>
                <a:cs typeface="Consolas" pitchFamily="34" charset="-120"/>
              </a:rPr>
              <a:t>Scanner</a:t>
            </a:r>
            <a:endParaRPr lang="en-US" sz="675" dirty="0"/>
          </a:p>
        </p:txBody>
      </p:sp>
      <p:sp>
        <p:nvSpPr>
          <p:cNvPr id="81" name="Text 70"/>
          <p:cNvSpPr/>
          <p:nvPr/>
        </p:nvSpPr>
        <p:spPr>
          <a:xfrm>
            <a:off x="742950" y="9688711"/>
            <a:ext cx="3507274" cy="214313"/>
          </a:xfrm>
          <a:prstGeom prst="rect">
            <a:avLst/>
          </a:prstGeom>
          <a:noFill/>
          <a:ln/>
        </p:spPr>
        <p:txBody>
          <a:bodyPr wrap="square" lIns="0" tIns="0" rIns="0" bIns="0" rtlCol="0" anchor="ctr">
            <a:spAutoFit/>
          </a:bodyPr>
          <a:lstStyle/>
          <a:p>
            <a:pPr indent="0" marL="0">
              <a:buNone/>
            </a:pPr>
            <a:r>
              <a:rPr lang="en-US" sz="675" dirty="0">
                <a:solidFill>
                  <a:srgbClr val="F1F5F9"/>
                </a:solidFill>
                <a:latin typeface="Segoe UI" pitchFamily="34" charset="0"/>
                <a:ea typeface="Segoe UI" pitchFamily="34" charset="-122"/>
                <a:cs typeface="Segoe UI" pitchFamily="34" charset="-120"/>
              </a:rPr>
              <a:t>, if the input type doesn't match the expected type (e.g., entering text for</a:t>
            </a:r>
            <a:endParaRPr lang="en-US" sz="675" dirty="0"/>
          </a:p>
        </p:txBody>
      </p:sp>
      <p:sp>
        <p:nvSpPr>
          <p:cNvPr id="82" name="Text 71"/>
          <p:cNvSpPr/>
          <p:nvPr/>
        </p:nvSpPr>
        <p:spPr>
          <a:xfrm>
            <a:off x="866822" y="9813727"/>
            <a:ext cx="534442" cy="96441"/>
          </a:xfrm>
          <a:prstGeom prst="rect">
            <a:avLst/>
          </a:prstGeom>
          <a:noFill/>
          <a:ln/>
        </p:spPr>
        <p:txBody>
          <a:bodyPr wrap="none" lIns="0" tIns="0" rIns="0" bIns="0" rtlCol="0" anchor="ctr">
            <a:spAutoFit/>
          </a:bodyPr>
          <a:lstStyle/>
          <a:p>
            <a:pPr indent="0" marL="0">
              <a:buNone/>
            </a:pPr>
            <a:r>
              <a:rPr lang="en-US" sz="675" dirty="0">
                <a:solidFill>
                  <a:srgbClr val="F1F5F9"/>
                </a:solidFill>
                <a:latin typeface="Consolas" pitchFamily="34" charset="0"/>
                <a:ea typeface="Consolas" pitchFamily="34" charset="-122"/>
                <a:cs typeface="Consolas" pitchFamily="34" charset="-120"/>
              </a:rPr>
              <a:t>nextInt()</a:t>
            </a:r>
            <a:endParaRPr lang="en-US" sz="675" dirty="0"/>
          </a:p>
        </p:txBody>
      </p:sp>
      <p:sp>
        <p:nvSpPr>
          <p:cNvPr id="83" name="Text 72"/>
          <p:cNvSpPr/>
          <p:nvPr/>
        </p:nvSpPr>
        <p:spPr>
          <a:xfrm>
            <a:off x="1329826" y="9808369"/>
            <a:ext cx="123816" cy="94655"/>
          </a:xfrm>
          <a:prstGeom prst="rect">
            <a:avLst/>
          </a:prstGeom>
          <a:noFill/>
          <a:ln/>
        </p:spPr>
        <p:txBody>
          <a:bodyPr wrap="none" lIns="0" tIns="0" rIns="0" bIns="0" rtlCol="0" anchor="ctr">
            <a:spAutoFit/>
          </a:bodyPr>
          <a:lstStyle/>
          <a:p>
            <a:pPr indent="0" marL="0">
              <a:buNone/>
            </a:pPr>
            <a:r>
              <a:rPr lang="en-US" sz="675" dirty="0">
                <a:solidFill>
                  <a:srgbClr val="F1F5F9"/>
                </a:solidFill>
                <a:latin typeface="Segoe UI" pitchFamily="34" charset="0"/>
                <a:ea typeface="Segoe UI" pitchFamily="34" charset="-122"/>
                <a:cs typeface="Segoe UI" pitchFamily="34" charset="-120"/>
              </a:rPr>
              <a:t>).</a:t>
            </a:r>
            <a:endParaRPr lang="en-US" sz="675" dirty="0"/>
          </a:p>
        </p:txBody>
      </p:sp>
      <p:sp>
        <p:nvSpPr>
          <p:cNvPr id="84" name="Shape 73"/>
          <p:cNvSpPr/>
          <p:nvPr/>
        </p:nvSpPr>
        <p:spPr>
          <a:xfrm>
            <a:off x="742950" y="9947672"/>
            <a:ext cx="3543300" cy="814388"/>
          </a:xfrm>
          <a:prstGeom prst="rect">
            <a:avLst/>
          </a:prstGeom>
          <a:solidFill>
            <a:srgbClr val="1E293B">
              <a:alpha val="80000"/>
            </a:srgbClr>
          </a:solidFill>
          <a:ln w="99">
            <a:solidFill>
              <a:srgbClr val="60A5FA">
                <a:alpha val="30000"/>
              </a:srgbClr>
            </a:solidFill>
            <a:prstDash val="solid"/>
          </a:ln>
        </p:spPr>
      </p:sp>
      <p:sp>
        <p:nvSpPr>
          <p:cNvPr id="85" name="Text 74"/>
          <p:cNvSpPr/>
          <p:nvPr/>
        </p:nvSpPr>
        <p:spPr>
          <a:xfrm>
            <a:off x="800100" y="10060186"/>
            <a:ext cx="2077743" cy="96441"/>
          </a:xfrm>
          <a:prstGeom prst="rect">
            <a:avLst/>
          </a:prstGeom>
          <a:noFill/>
          <a:ln/>
        </p:spPr>
        <p:txBody>
          <a:bodyPr wrap="square" lIns="0" tIns="0" rIns="0" bIns="0" rtlCol="0" anchor="ctr">
            <a:spAutoFit/>
          </a:bodyPr>
          <a:lstStyle/>
          <a:p>
            <a:pPr indent="0" marL="0">
              <a:buNone/>
            </a:pPr>
            <a:r>
              <a:rPr lang="en-US" sz="675" dirty="0">
                <a:solidFill>
                  <a:srgbClr val="FEE2E2"/>
                </a:solidFill>
                <a:latin typeface="Consolas" pitchFamily="34" charset="0"/>
                <a:ea typeface="Consolas" pitchFamily="34" charset="-122"/>
                <a:cs typeface="Consolas" pitchFamily="34" charset="-120"/>
              </a:rPr>
              <a:t>Scanner input = new Scanner(System.in);</a:t>
            </a:r>
            <a:endParaRPr lang="en-US" sz="675" dirty="0"/>
          </a:p>
        </p:txBody>
      </p:sp>
      <p:sp>
        <p:nvSpPr>
          <p:cNvPr id="86" name="Text 75"/>
          <p:cNvSpPr/>
          <p:nvPr/>
        </p:nvSpPr>
        <p:spPr>
          <a:xfrm>
            <a:off x="800100" y="10231636"/>
            <a:ext cx="2077743" cy="96441"/>
          </a:xfrm>
          <a:prstGeom prst="rect">
            <a:avLst/>
          </a:prstGeom>
          <a:noFill/>
          <a:ln/>
        </p:spPr>
        <p:txBody>
          <a:bodyPr wrap="square" lIns="0" tIns="0" rIns="0" bIns="0" rtlCol="0" anchor="ctr">
            <a:spAutoFit/>
          </a:bodyPr>
          <a:lstStyle/>
          <a:p>
            <a:pPr indent="0" marL="0">
              <a:buNone/>
            </a:pPr>
            <a:r>
              <a:rPr lang="en-US" sz="675" dirty="0">
                <a:solidFill>
                  <a:srgbClr val="FEE2E2"/>
                </a:solidFill>
                <a:latin typeface="Consolas" pitchFamily="34" charset="0"/>
                <a:ea typeface="Consolas" pitchFamily="34" charset="-122"/>
                <a:cs typeface="Consolas" pitchFamily="34" charset="-120"/>
              </a:rPr>
              <a:t>System.out.print("Enter an integer: ");</a:t>
            </a:r>
            <a:endParaRPr lang="en-US" sz="675" dirty="0"/>
          </a:p>
        </p:txBody>
      </p:sp>
      <p:sp>
        <p:nvSpPr>
          <p:cNvPr id="87" name="Text 76"/>
          <p:cNvSpPr/>
          <p:nvPr/>
        </p:nvSpPr>
        <p:spPr>
          <a:xfrm>
            <a:off x="800100" y="10403086"/>
            <a:ext cx="1460422" cy="96441"/>
          </a:xfrm>
          <a:prstGeom prst="rect">
            <a:avLst/>
          </a:prstGeom>
          <a:noFill/>
          <a:ln/>
        </p:spPr>
        <p:txBody>
          <a:bodyPr wrap="square" lIns="0" tIns="0" rIns="0" bIns="0" rtlCol="0" anchor="ctr">
            <a:spAutoFit/>
          </a:bodyPr>
          <a:lstStyle/>
          <a:p>
            <a:pPr indent="0" marL="0">
              <a:buNone/>
            </a:pPr>
            <a:r>
              <a:rPr lang="en-US" sz="675" dirty="0">
                <a:solidFill>
                  <a:srgbClr val="FEE2E2"/>
                </a:solidFill>
                <a:latin typeface="Consolas" pitchFamily="34" charset="0"/>
                <a:ea typeface="Consolas" pitchFamily="34" charset="-122"/>
                <a:cs typeface="Consolas" pitchFamily="34" charset="-120"/>
              </a:rPr>
              <a:t>int num = input.nextInt();</a:t>
            </a:r>
            <a:endParaRPr lang="en-US" sz="675" dirty="0"/>
          </a:p>
        </p:txBody>
      </p:sp>
      <p:sp>
        <p:nvSpPr>
          <p:cNvPr id="88" name="Text 77"/>
          <p:cNvSpPr/>
          <p:nvPr/>
        </p:nvSpPr>
        <p:spPr>
          <a:xfrm>
            <a:off x="800100" y="10403086"/>
            <a:ext cx="3260954" cy="267891"/>
          </a:xfrm>
          <a:prstGeom prst="rect">
            <a:avLst/>
          </a:prstGeom>
          <a:noFill/>
          <a:ln/>
        </p:spPr>
        <p:txBody>
          <a:bodyPr wrap="square" lIns="0" tIns="0" rIns="0" bIns="0" rtlCol="0" anchor="ctr">
            <a:spAutoFit/>
          </a:bodyPr>
          <a:lstStyle/>
          <a:p>
            <a:pPr indent="0" marL="0">
              <a:buNone/>
            </a:pPr>
            <a:r>
              <a:rPr lang="en-US" sz="675" b="1" dirty="0">
                <a:solidFill>
                  <a:srgbClr val="F87171"/>
                </a:solidFill>
                <a:latin typeface="Consolas" pitchFamily="34" charset="0"/>
                <a:ea typeface="Consolas" pitchFamily="34" charset="-122"/>
                <a:cs typeface="Consolas" pitchFamily="34" charset="-120"/>
              </a:rPr>
              <a:t>// Throws InputMismatchException if non-integer is entered</a:t>
            </a:r>
            <a:endParaRPr lang="en-US" sz="675" dirty="0"/>
          </a:p>
        </p:txBody>
      </p:sp>
      <p:sp>
        <p:nvSpPr>
          <p:cNvPr id="89" name="Shape 78"/>
          <p:cNvSpPr/>
          <p:nvPr/>
        </p:nvSpPr>
        <p:spPr>
          <a:xfrm>
            <a:off x="4686300" y="971550"/>
            <a:ext cx="4000500" cy="6500813"/>
          </a:xfrm>
          <a:prstGeom prst="rect">
            <a:avLst/>
          </a:prstGeom>
          <a:solidFill>
            <a:srgbClr val="FFFFFF">
              <a:alpha val="10000"/>
            </a:srgbClr>
          </a:solidFill>
          <a:ln w="99">
            <a:solidFill>
              <a:srgbClr val="60A5FA">
                <a:alpha val="30000"/>
              </a:srgbClr>
            </a:solidFill>
            <a:prstDash val="solid"/>
          </a:ln>
        </p:spPr>
      </p:sp>
      <p:sp>
        <p:nvSpPr>
          <p:cNvPr id="90" name="Text 79"/>
          <p:cNvSpPr/>
          <p:nvPr/>
        </p:nvSpPr>
        <p:spPr>
          <a:xfrm>
            <a:off x="4857750" y="1143000"/>
            <a:ext cx="3729038" cy="228600"/>
          </a:xfrm>
          <a:prstGeom prst="rect">
            <a:avLst/>
          </a:prstGeom>
          <a:noFill/>
          <a:ln/>
        </p:spPr>
        <p:txBody>
          <a:bodyPr wrap="square" lIns="0" tIns="0" rIns="0" bIns="0" rtlCol="0" anchor="ctr">
            <a:spAutoFit/>
          </a:bodyPr>
          <a:lstStyle/>
          <a:p>
            <a:pPr indent="0" marL="0">
              <a:buNone/>
            </a:pPr>
            <a:r>
              <a:rPr lang="en-US" sz="1350" b="1" dirty="0">
                <a:solidFill>
                  <a:srgbClr val="BFDBFE"/>
                </a:solidFill>
                <a:latin typeface="Segoe UI" pitchFamily="34" charset="0"/>
                <a:ea typeface="Segoe UI" pitchFamily="34" charset="-122"/>
                <a:cs typeface="Segoe UI" pitchFamily="34" charset="-120"/>
              </a:rPr>
              <a:t>Troubleshooting Tips</a:t>
            </a:r>
            <a:endParaRPr lang="en-US" sz="1350" dirty="0"/>
          </a:p>
        </p:txBody>
      </p:sp>
      <p:sp>
        <p:nvSpPr>
          <p:cNvPr id="91" name="Shape 80"/>
          <p:cNvSpPr/>
          <p:nvPr/>
        </p:nvSpPr>
        <p:spPr>
          <a:xfrm>
            <a:off x="4857750" y="1485900"/>
            <a:ext cx="3657600" cy="771525"/>
          </a:xfrm>
          <a:prstGeom prst="rect">
            <a:avLst/>
          </a:prstGeom>
          <a:solidFill>
            <a:srgbClr val="1E3A8A">
              <a:alpha val="30000"/>
            </a:srgbClr>
          </a:solidFill>
          <a:ln/>
        </p:spPr>
      </p:sp>
      <p:pic>
        <p:nvPicPr>
          <p:cNvPr id="92" name="Image 9" descr="preencoded.png">    </p:cNvPr>
          <p:cNvPicPr>
            <a:picLocks noChangeAspect="1"/>
          </p:cNvPicPr>
          <p:nvPr/>
        </p:nvPicPr>
        <p:blipFill>
          <a:blip r:embed="rId10"/>
          <a:stretch>
            <a:fillRect/>
          </a:stretch>
        </p:blipFill>
        <p:spPr>
          <a:xfrm>
            <a:off x="4972050" y="1623417"/>
            <a:ext cx="142875" cy="142875"/>
          </a:xfrm>
          <a:prstGeom prst="rect">
            <a:avLst/>
          </a:prstGeom>
        </p:spPr>
      </p:pic>
      <p:sp>
        <p:nvSpPr>
          <p:cNvPr id="93" name="Text 81"/>
          <p:cNvSpPr/>
          <p:nvPr/>
        </p:nvSpPr>
        <p:spPr>
          <a:xfrm>
            <a:off x="5172075" y="1619845"/>
            <a:ext cx="2183727" cy="158948"/>
          </a:xfrm>
          <a:prstGeom prst="rect">
            <a:avLst/>
          </a:prstGeom>
          <a:noFill/>
          <a:ln/>
        </p:spPr>
        <p:txBody>
          <a:bodyPr wrap="square" lIns="0" tIns="0" rIns="0" bIns="0" rtlCol="0" anchor="ctr">
            <a:spAutoFit/>
          </a:bodyPr>
          <a:lstStyle/>
          <a:p>
            <a:pPr indent="0" marL="0">
              <a:buNone/>
            </a:pPr>
            <a:r>
              <a:rPr lang="en-US" sz="1125" b="1" dirty="0">
                <a:solidFill>
                  <a:srgbClr val="F1F5F9"/>
                </a:solidFill>
                <a:latin typeface="Segoe UI" pitchFamily="34" charset="0"/>
                <a:ea typeface="Segoe UI" pitchFamily="34" charset="-122"/>
                <a:cs typeface="Segoe UI" pitchFamily="34" charset="-120"/>
              </a:rPr>
              <a:t>Read Error Messages Carefully</a:t>
            </a:r>
            <a:endParaRPr lang="en-US" sz="1125" dirty="0"/>
          </a:p>
        </p:txBody>
      </p:sp>
      <p:sp>
        <p:nvSpPr>
          <p:cNvPr id="94" name="Text 82"/>
          <p:cNvSpPr/>
          <p:nvPr/>
        </p:nvSpPr>
        <p:spPr>
          <a:xfrm>
            <a:off x="4972050" y="1857375"/>
            <a:ext cx="3500438" cy="285750"/>
          </a:xfrm>
          <a:prstGeom prst="rect">
            <a:avLst/>
          </a:prstGeom>
          <a:noFill/>
          <a:ln/>
        </p:spPr>
        <p:txBody>
          <a:bodyPr wrap="square" lIns="0" tIns="0" rIns="0" bIns="0" rtlCol="0" anchor="ctr">
            <a:spAutoFit/>
          </a:bodyPr>
          <a:lstStyle/>
          <a:p>
            <a:pPr indent="0" marL="0">
              <a:buNone/>
            </a:pPr>
            <a:r>
              <a:rPr lang="en-US" sz="788" dirty="0">
                <a:solidFill>
                  <a:srgbClr val="F1F5F9"/>
                </a:solidFill>
                <a:latin typeface="Segoe UI" pitchFamily="34" charset="0"/>
                <a:ea typeface="Segoe UI" pitchFamily="34" charset="-122"/>
                <a:cs typeface="Segoe UI" pitchFamily="34" charset="-120"/>
              </a:rPr>
              <a:t>Error messages provide clues: type of error, line number, and sometimes a description.</a:t>
            </a:r>
            <a:endParaRPr lang="en-US" sz="788" dirty="0"/>
          </a:p>
        </p:txBody>
      </p:sp>
      <p:sp>
        <p:nvSpPr>
          <p:cNvPr id="95" name="Shape 83"/>
          <p:cNvSpPr/>
          <p:nvPr/>
        </p:nvSpPr>
        <p:spPr>
          <a:xfrm>
            <a:off x="4857750" y="2371725"/>
            <a:ext cx="3657600" cy="771525"/>
          </a:xfrm>
          <a:prstGeom prst="rect">
            <a:avLst/>
          </a:prstGeom>
          <a:solidFill>
            <a:srgbClr val="1E3A8A">
              <a:alpha val="30000"/>
            </a:srgbClr>
          </a:solidFill>
          <a:ln/>
        </p:spPr>
      </p:sp>
      <p:pic>
        <p:nvPicPr>
          <p:cNvPr id="96" name="Image 10" descr="preencoded.png">    </p:cNvPr>
          <p:cNvPicPr>
            <a:picLocks noChangeAspect="1"/>
          </p:cNvPicPr>
          <p:nvPr/>
        </p:nvPicPr>
        <p:blipFill>
          <a:blip r:embed="rId11"/>
          <a:stretch>
            <a:fillRect/>
          </a:stretch>
        </p:blipFill>
        <p:spPr>
          <a:xfrm>
            <a:off x="4972050" y="2509242"/>
            <a:ext cx="142875" cy="142875"/>
          </a:xfrm>
          <a:prstGeom prst="rect">
            <a:avLst/>
          </a:prstGeom>
        </p:spPr>
      </p:pic>
      <p:sp>
        <p:nvSpPr>
          <p:cNvPr id="97" name="Text 84"/>
          <p:cNvSpPr/>
          <p:nvPr/>
        </p:nvSpPr>
        <p:spPr>
          <a:xfrm>
            <a:off x="5172075" y="2505670"/>
            <a:ext cx="1294051" cy="158948"/>
          </a:xfrm>
          <a:prstGeom prst="rect">
            <a:avLst/>
          </a:prstGeom>
          <a:noFill/>
          <a:ln/>
        </p:spPr>
        <p:txBody>
          <a:bodyPr wrap="square" lIns="0" tIns="0" rIns="0" bIns="0" rtlCol="0" anchor="ctr">
            <a:spAutoFit/>
          </a:bodyPr>
          <a:lstStyle/>
          <a:p>
            <a:pPr indent="0" marL="0">
              <a:buNone/>
            </a:pPr>
            <a:r>
              <a:rPr lang="en-US" sz="1125" b="1" dirty="0">
                <a:solidFill>
                  <a:srgbClr val="F1F5F9"/>
                </a:solidFill>
                <a:latin typeface="Segoe UI" pitchFamily="34" charset="0"/>
                <a:ea typeface="Segoe UI" pitchFamily="34" charset="-122"/>
                <a:cs typeface="Segoe UI" pitchFamily="34" charset="-120"/>
              </a:rPr>
              <a:t>Use the Debugger</a:t>
            </a:r>
            <a:endParaRPr lang="en-US" sz="1125" dirty="0"/>
          </a:p>
        </p:txBody>
      </p:sp>
      <p:sp>
        <p:nvSpPr>
          <p:cNvPr id="98" name="Text 85"/>
          <p:cNvSpPr/>
          <p:nvPr/>
        </p:nvSpPr>
        <p:spPr>
          <a:xfrm>
            <a:off x="4972050" y="2743200"/>
            <a:ext cx="3500438" cy="285750"/>
          </a:xfrm>
          <a:prstGeom prst="rect">
            <a:avLst/>
          </a:prstGeom>
          <a:noFill/>
          <a:ln/>
        </p:spPr>
        <p:txBody>
          <a:bodyPr wrap="square" lIns="0" tIns="0" rIns="0" bIns="0" rtlCol="0" anchor="ctr">
            <a:spAutoFit/>
          </a:bodyPr>
          <a:lstStyle/>
          <a:p>
            <a:pPr indent="0" marL="0">
              <a:buNone/>
            </a:pPr>
            <a:r>
              <a:rPr lang="en-US" sz="788" dirty="0">
                <a:solidFill>
                  <a:srgbClr val="F1F5F9"/>
                </a:solidFill>
                <a:latin typeface="Segoe UI" pitchFamily="34" charset="0"/>
                <a:ea typeface="Segoe UI" pitchFamily="34" charset="-122"/>
                <a:cs typeface="Segoe UI" pitchFamily="34" charset="-120"/>
              </a:rPr>
              <a:t>Step through your code, inspect variables, and understand the execution flow.</a:t>
            </a:r>
            <a:endParaRPr lang="en-US" sz="788" dirty="0"/>
          </a:p>
        </p:txBody>
      </p:sp>
      <p:sp>
        <p:nvSpPr>
          <p:cNvPr id="99" name="Shape 86"/>
          <p:cNvSpPr/>
          <p:nvPr/>
        </p:nvSpPr>
        <p:spPr>
          <a:xfrm>
            <a:off x="4857750" y="3257550"/>
            <a:ext cx="3657600" cy="771525"/>
          </a:xfrm>
          <a:prstGeom prst="rect">
            <a:avLst/>
          </a:prstGeom>
          <a:solidFill>
            <a:srgbClr val="1E3A8A">
              <a:alpha val="30000"/>
            </a:srgbClr>
          </a:solidFill>
          <a:ln/>
        </p:spPr>
      </p:sp>
      <p:pic>
        <p:nvPicPr>
          <p:cNvPr id="100" name="Image 11" descr="preencoded.png">    </p:cNvPr>
          <p:cNvPicPr>
            <a:picLocks noChangeAspect="1"/>
          </p:cNvPicPr>
          <p:nvPr/>
        </p:nvPicPr>
        <p:blipFill>
          <a:blip r:embed="rId12"/>
          <a:stretch>
            <a:fillRect/>
          </a:stretch>
        </p:blipFill>
        <p:spPr>
          <a:xfrm>
            <a:off x="4972050" y="3395067"/>
            <a:ext cx="142875" cy="142875"/>
          </a:xfrm>
          <a:prstGeom prst="rect">
            <a:avLst/>
          </a:prstGeom>
        </p:spPr>
      </p:pic>
      <p:sp>
        <p:nvSpPr>
          <p:cNvPr id="101" name="Text 87"/>
          <p:cNvSpPr/>
          <p:nvPr/>
        </p:nvSpPr>
        <p:spPr>
          <a:xfrm>
            <a:off x="5172075" y="3391495"/>
            <a:ext cx="2595832" cy="158948"/>
          </a:xfrm>
          <a:prstGeom prst="rect">
            <a:avLst/>
          </a:prstGeom>
          <a:noFill/>
          <a:ln/>
        </p:spPr>
        <p:txBody>
          <a:bodyPr wrap="square" lIns="0" tIns="0" rIns="0" bIns="0" rtlCol="0" anchor="ctr">
            <a:spAutoFit/>
          </a:bodyPr>
          <a:lstStyle/>
          <a:p>
            <a:pPr indent="0" marL="0">
              <a:buNone/>
            </a:pPr>
            <a:r>
              <a:rPr lang="en-US" sz="1125" b="1" dirty="0">
                <a:solidFill>
                  <a:srgbClr val="F1F5F9"/>
                </a:solidFill>
                <a:latin typeface="Segoe UI" pitchFamily="34" charset="0"/>
                <a:ea typeface="Segoe UI" pitchFamily="34" charset="-122"/>
                <a:cs typeface="Segoe UI" pitchFamily="34" charset="-120"/>
              </a:rPr>
              <a:t>Print Statements (System.out.println)</a:t>
            </a:r>
            <a:endParaRPr lang="en-US" sz="1125" dirty="0"/>
          </a:p>
        </p:txBody>
      </p:sp>
      <p:sp>
        <p:nvSpPr>
          <p:cNvPr id="102" name="Text 88"/>
          <p:cNvSpPr/>
          <p:nvPr/>
        </p:nvSpPr>
        <p:spPr>
          <a:xfrm>
            <a:off x="4972050" y="3629025"/>
            <a:ext cx="3500438" cy="285750"/>
          </a:xfrm>
          <a:prstGeom prst="rect">
            <a:avLst/>
          </a:prstGeom>
          <a:noFill/>
          <a:ln/>
        </p:spPr>
        <p:txBody>
          <a:bodyPr wrap="square" lIns="0" tIns="0" rIns="0" bIns="0" rtlCol="0" anchor="ctr">
            <a:spAutoFit/>
          </a:bodyPr>
          <a:lstStyle/>
          <a:p>
            <a:pPr indent="0" marL="0">
              <a:buNone/>
            </a:pPr>
            <a:r>
              <a:rPr lang="en-US" sz="788" dirty="0">
                <a:solidFill>
                  <a:srgbClr val="F1F5F9"/>
                </a:solidFill>
                <a:latin typeface="Segoe UI" pitchFamily="34" charset="0"/>
                <a:ea typeface="Segoe UI" pitchFamily="34" charset="-122"/>
                <a:cs typeface="Segoe UI" pitchFamily="34" charset="-120"/>
              </a:rPr>
              <a:t>Insert print statements to check variable values at different points in your code (a simpler form of debugging).</a:t>
            </a:r>
            <a:endParaRPr lang="en-US" sz="788" dirty="0"/>
          </a:p>
        </p:txBody>
      </p:sp>
      <p:sp>
        <p:nvSpPr>
          <p:cNvPr id="103" name="Shape 89"/>
          <p:cNvSpPr/>
          <p:nvPr/>
        </p:nvSpPr>
        <p:spPr>
          <a:xfrm>
            <a:off x="4857750" y="4143375"/>
            <a:ext cx="3657600" cy="628650"/>
          </a:xfrm>
          <a:prstGeom prst="rect">
            <a:avLst/>
          </a:prstGeom>
          <a:solidFill>
            <a:srgbClr val="1E3A8A">
              <a:alpha val="30000"/>
            </a:srgbClr>
          </a:solidFill>
          <a:ln/>
        </p:spPr>
      </p:sp>
      <p:pic>
        <p:nvPicPr>
          <p:cNvPr id="104" name="Image 12" descr="preencoded.png">    </p:cNvPr>
          <p:cNvPicPr>
            <a:picLocks noChangeAspect="1"/>
          </p:cNvPicPr>
          <p:nvPr/>
        </p:nvPicPr>
        <p:blipFill>
          <a:blip r:embed="rId13"/>
          <a:stretch>
            <a:fillRect/>
          </a:stretch>
        </p:blipFill>
        <p:spPr>
          <a:xfrm>
            <a:off x="4972050" y="4280892"/>
            <a:ext cx="142875" cy="142875"/>
          </a:xfrm>
          <a:prstGeom prst="rect">
            <a:avLst/>
          </a:prstGeom>
        </p:spPr>
      </p:pic>
      <p:sp>
        <p:nvSpPr>
          <p:cNvPr id="105" name="Text 90"/>
          <p:cNvSpPr/>
          <p:nvPr/>
        </p:nvSpPr>
        <p:spPr>
          <a:xfrm>
            <a:off x="5172075" y="4277320"/>
            <a:ext cx="1389404" cy="158948"/>
          </a:xfrm>
          <a:prstGeom prst="rect">
            <a:avLst/>
          </a:prstGeom>
          <a:noFill/>
          <a:ln/>
        </p:spPr>
        <p:txBody>
          <a:bodyPr wrap="square" lIns="0" tIns="0" rIns="0" bIns="0" rtlCol="0" anchor="ctr">
            <a:spAutoFit/>
          </a:bodyPr>
          <a:lstStyle/>
          <a:p>
            <a:pPr indent="0" marL="0">
              <a:buNone/>
            </a:pPr>
            <a:r>
              <a:rPr lang="en-US" sz="1125" b="1" dirty="0">
                <a:solidFill>
                  <a:srgbClr val="F1F5F9"/>
                </a:solidFill>
                <a:latin typeface="Segoe UI" pitchFamily="34" charset="0"/>
                <a:ea typeface="Segoe UI" pitchFamily="34" charset="-122"/>
                <a:cs typeface="Segoe UI" pitchFamily="34" charset="-120"/>
              </a:rPr>
              <a:t>Isolate the Problem</a:t>
            </a:r>
            <a:endParaRPr lang="en-US" sz="1125" dirty="0"/>
          </a:p>
        </p:txBody>
      </p:sp>
      <p:sp>
        <p:nvSpPr>
          <p:cNvPr id="106" name="Text 91"/>
          <p:cNvSpPr/>
          <p:nvPr/>
        </p:nvSpPr>
        <p:spPr>
          <a:xfrm>
            <a:off x="4972050" y="4514850"/>
            <a:ext cx="3500438" cy="142875"/>
          </a:xfrm>
          <a:prstGeom prst="rect">
            <a:avLst/>
          </a:prstGeom>
          <a:noFill/>
          <a:ln/>
        </p:spPr>
        <p:txBody>
          <a:bodyPr wrap="square" lIns="0" tIns="0" rIns="0" bIns="0" rtlCol="0" anchor="ctr">
            <a:spAutoFit/>
          </a:bodyPr>
          <a:lstStyle/>
          <a:p>
            <a:pPr indent="0" marL="0">
              <a:buNone/>
            </a:pPr>
            <a:r>
              <a:rPr lang="en-US" sz="788" dirty="0">
                <a:solidFill>
                  <a:srgbClr val="F1F5F9"/>
                </a:solidFill>
                <a:latin typeface="Segoe UI" pitchFamily="34" charset="0"/>
                <a:ea typeface="Segoe UI" pitchFamily="34" charset="-122"/>
                <a:cs typeface="Segoe UI" pitchFamily="34" charset="-120"/>
              </a:rPr>
              <a:t>Comment out sections of code to narrow down where the error is occurring.</a:t>
            </a:r>
            <a:endParaRPr lang="en-US" sz="788" dirty="0"/>
          </a:p>
        </p:txBody>
      </p:sp>
      <p:sp>
        <p:nvSpPr>
          <p:cNvPr id="107" name="Shape 92"/>
          <p:cNvSpPr/>
          <p:nvPr/>
        </p:nvSpPr>
        <p:spPr>
          <a:xfrm>
            <a:off x="4857750" y="4886325"/>
            <a:ext cx="3657600" cy="771525"/>
          </a:xfrm>
          <a:prstGeom prst="rect">
            <a:avLst/>
          </a:prstGeom>
          <a:solidFill>
            <a:srgbClr val="1E3A8A">
              <a:alpha val="30000"/>
            </a:srgbClr>
          </a:solidFill>
          <a:ln/>
        </p:spPr>
      </p:sp>
      <p:pic>
        <p:nvPicPr>
          <p:cNvPr id="108" name="Image 13" descr="preencoded.png">    </p:cNvPr>
          <p:cNvPicPr>
            <a:picLocks noChangeAspect="1"/>
          </p:cNvPicPr>
          <p:nvPr/>
        </p:nvPicPr>
        <p:blipFill>
          <a:blip r:embed="rId14"/>
          <a:stretch>
            <a:fillRect/>
          </a:stretch>
        </p:blipFill>
        <p:spPr>
          <a:xfrm>
            <a:off x="4972050" y="5023842"/>
            <a:ext cx="125016" cy="142875"/>
          </a:xfrm>
          <a:prstGeom prst="rect">
            <a:avLst/>
          </a:prstGeom>
        </p:spPr>
      </p:pic>
      <p:sp>
        <p:nvSpPr>
          <p:cNvPr id="109" name="Text 93"/>
          <p:cNvSpPr/>
          <p:nvPr/>
        </p:nvSpPr>
        <p:spPr>
          <a:xfrm>
            <a:off x="5154216" y="5020270"/>
            <a:ext cx="2913729" cy="158948"/>
          </a:xfrm>
          <a:prstGeom prst="rect">
            <a:avLst/>
          </a:prstGeom>
          <a:noFill/>
          <a:ln/>
        </p:spPr>
        <p:txBody>
          <a:bodyPr wrap="square" lIns="0" tIns="0" rIns="0" bIns="0" rtlCol="0" anchor="ctr">
            <a:spAutoFit/>
          </a:bodyPr>
          <a:lstStyle/>
          <a:p>
            <a:pPr indent="0" marL="0">
              <a:buNone/>
            </a:pPr>
            <a:r>
              <a:rPr lang="en-US" sz="1125" b="1" dirty="0">
                <a:solidFill>
                  <a:srgbClr val="F1F5F9"/>
                </a:solidFill>
                <a:latin typeface="Segoe UI" pitchFamily="34" charset="0"/>
                <a:ea typeface="Segoe UI" pitchFamily="34" charset="-122"/>
                <a:cs typeface="Segoe UI" pitchFamily="34" charset="-120"/>
              </a:rPr>
              <a:t>Check Documentation / Online Resources</a:t>
            </a:r>
            <a:endParaRPr lang="en-US" sz="1125" dirty="0"/>
          </a:p>
        </p:txBody>
      </p:sp>
      <p:sp>
        <p:nvSpPr>
          <p:cNvPr id="110" name="Text 94"/>
          <p:cNvSpPr/>
          <p:nvPr/>
        </p:nvSpPr>
        <p:spPr>
          <a:xfrm>
            <a:off x="4972050" y="5257800"/>
            <a:ext cx="3500438" cy="285750"/>
          </a:xfrm>
          <a:prstGeom prst="rect">
            <a:avLst/>
          </a:prstGeom>
          <a:noFill/>
          <a:ln/>
        </p:spPr>
        <p:txBody>
          <a:bodyPr wrap="square" lIns="0" tIns="0" rIns="0" bIns="0" rtlCol="0" anchor="ctr">
            <a:spAutoFit/>
          </a:bodyPr>
          <a:lstStyle/>
          <a:p>
            <a:pPr indent="0" marL="0">
              <a:buNone/>
            </a:pPr>
            <a:r>
              <a:rPr lang="en-US" sz="788" dirty="0">
                <a:solidFill>
                  <a:srgbClr val="F1F5F9"/>
                </a:solidFill>
                <a:latin typeface="Segoe UI" pitchFamily="34" charset="0"/>
                <a:ea typeface="Segoe UI" pitchFamily="34" charset="-122"/>
                <a:cs typeface="Segoe UI" pitchFamily="34" charset="-120"/>
              </a:rPr>
              <a:t>Look up error messages or consult Java documentation (e.g., Oracle, Stack Overflow).</a:t>
            </a:r>
            <a:endParaRPr lang="en-US" sz="788" dirty="0"/>
          </a:p>
        </p:txBody>
      </p:sp>
      <p:sp>
        <p:nvSpPr>
          <p:cNvPr id="111" name="Shape 95"/>
          <p:cNvSpPr/>
          <p:nvPr/>
        </p:nvSpPr>
        <p:spPr>
          <a:xfrm>
            <a:off x="4857750" y="5772150"/>
            <a:ext cx="3657600" cy="771525"/>
          </a:xfrm>
          <a:prstGeom prst="rect">
            <a:avLst/>
          </a:prstGeom>
          <a:solidFill>
            <a:srgbClr val="1E3A8A">
              <a:alpha val="30000"/>
            </a:srgbClr>
          </a:solidFill>
          <a:ln/>
        </p:spPr>
      </p:sp>
      <p:pic>
        <p:nvPicPr>
          <p:cNvPr id="112" name="Image 14" descr="preencoded.png">    </p:cNvPr>
          <p:cNvPicPr>
            <a:picLocks noChangeAspect="1"/>
          </p:cNvPicPr>
          <p:nvPr/>
        </p:nvPicPr>
        <p:blipFill>
          <a:blip r:embed="rId15"/>
          <a:stretch>
            <a:fillRect/>
          </a:stretch>
        </p:blipFill>
        <p:spPr>
          <a:xfrm>
            <a:off x="4972050" y="5909667"/>
            <a:ext cx="160734" cy="142875"/>
          </a:xfrm>
          <a:prstGeom prst="rect">
            <a:avLst/>
          </a:prstGeom>
        </p:spPr>
      </p:pic>
      <p:sp>
        <p:nvSpPr>
          <p:cNvPr id="113" name="Text 96"/>
          <p:cNvSpPr/>
          <p:nvPr/>
        </p:nvSpPr>
        <p:spPr>
          <a:xfrm>
            <a:off x="5189934" y="5906095"/>
            <a:ext cx="1452693" cy="158948"/>
          </a:xfrm>
          <a:prstGeom prst="rect">
            <a:avLst/>
          </a:prstGeom>
          <a:noFill/>
          <a:ln/>
        </p:spPr>
        <p:txBody>
          <a:bodyPr wrap="square" lIns="0" tIns="0" rIns="0" bIns="0" rtlCol="0" anchor="ctr">
            <a:spAutoFit/>
          </a:bodyPr>
          <a:lstStyle/>
          <a:p>
            <a:pPr indent="0" marL="0">
              <a:buNone/>
            </a:pPr>
            <a:r>
              <a:rPr lang="en-US" sz="1125" b="1" dirty="0">
                <a:solidFill>
                  <a:srgbClr val="F1F5F9"/>
                </a:solidFill>
                <a:latin typeface="Segoe UI" pitchFamily="34" charset="0"/>
                <a:ea typeface="Segoe UI" pitchFamily="34" charset="-122"/>
                <a:cs typeface="Segoe UI" pitchFamily="34" charset="-120"/>
              </a:rPr>
              <a:t>Double-Check Logic</a:t>
            </a:r>
            <a:endParaRPr lang="en-US" sz="1125" dirty="0"/>
          </a:p>
        </p:txBody>
      </p:sp>
      <p:sp>
        <p:nvSpPr>
          <p:cNvPr id="114" name="Text 97"/>
          <p:cNvSpPr/>
          <p:nvPr/>
        </p:nvSpPr>
        <p:spPr>
          <a:xfrm>
            <a:off x="4972050" y="6143625"/>
            <a:ext cx="3500438" cy="285750"/>
          </a:xfrm>
          <a:prstGeom prst="rect">
            <a:avLst/>
          </a:prstGeom>
          <a:noFill/>
          <a:ln/>
        </p:spPr>
        <p:txBody>
          <a:bodyPr wrap="square" lIns="0" tIns="0" rIns="0" bIns="0" rtlCol="0" anchor="ctr">
            <a:spAutoFit/>
          </a:bodyPr>
          <a:lstStyle/>
          <a:p>
            <a:pPr indent="0" marL="0">
              <a:buNone/>
            </a:pPr>
            <a:r>
              <a:rPr lang="en-US" sz="788" dirty="0">
                <a:solidFill>
                  <a:srgbClr val="F1F5F9"/>
                </a:solidFill>
                <a:latin typeface="Segoe UI" pitchFamily="34" charset="0"/>
                <a:ea typeface="Segoe UI" pitchFamily="34" charset="-122"/>
                <a:cs typeface="Segoe UI" pitchFamily="34" charset="-120"/>
              </a:rPr>
              <a:t>Sometimes the code is syntactically correct but logically flawed. Dry run your code manually.</a:t>
            </a:r>
            <a:endParaRPr lang="en-US" sz="788" dirty="0"/>
          </a:p>
        </p:txBody>
      </p:sp>
      <p:sp>
        <p:nvSpPr>
          <p:cNvPr id="115" name="Shape 98"/>
          <p:cNvSpPr/>
          <p:nvPr/>
        </p:nvSpPr>
        <p:spPr>
          <a:xfrm>
            <a:off x="4857750" y="6657975"/>
            <a:ext cx="3657600" cy="628650"/>
          </a:xfrm>
          <a:prstGeom prst="rect">
            <a:avLst/>
          </a:prstGeom>
          <a:solidFill>
            <a:srgbClr val="1E3A8A">
              <a:alpha val="30000"/>
            </a:srgbClr>
          </a:solidFill>
          <a:ln/>
        </p:spPr>
      </p:sp>
      <p:pic>
        <p:nvPicPr>
          <p:cNvPr id="116" name="Image 15" descr="preencoded.png">    </p:cNvPr>
          <p:cNvPicPr>
            <a:picLocks noChangeAspect="1"/>
          </p:cNvPicPr>
          <p:nvPr/>
        </p:nvPicPr>
        <p:blipFill>
          <a:blip r:embed="rId16"/>
          <a:stretch>
            <a:fillRect/>
          </a:stretch>
        </p:blipFill>
        <p:spPr>
          <a:xfrm>
            <a:off x="4972050" y="6795492"/>
            <a:ext cx="178594" cy="142875"/>
          </a:xfrm>
          <a:prstGeom prst="rect">
            <a:avLst/>
          </a:prstGeom>
        </p:spPr>
      </p:pic>
      <p:sp>
        <p:nvSpPr>
          <p:cNvPr id="117" name="Text 99"/>
          <p:cNvSpPr/>
          <p:nvPr/>
        </p:nvSpPr>
        <p:spPr>
          <a:xfrm>
            <a:off x="5207794" y="6791920"/>
            <a:ext cx="942501" cy="158948"/>
          </a:xfrm>
          <a:prstGeom prst="rect">
            <a:avLst/>
          </a:prstGeom>
          <a:noFill/>
          <a:ln/>
        </p:spPr>
        <p:txBody>
          <a:bodyPr wrap="none" lIns="0" tIns="0" rIns="0" bIns="0" rtlCol="0" anchor="ctr">
            <a:spAutoFit/>
          </a:bodyPr>
          <a:lstStyle/>
          <a:p>
            <a:pPr indent="0" marL="0">
              <a:buNone/>
            </a:pPr>
            <a:r>
              <a:rPr lang="en-US" sz="1125" b="1" dirty="0">
                <a:solidFill>
                  <a:srgbClr val="F1F5F9"/>
                </a:solidFill>
                <a:latin typeface="Segoe UI" pitchFamily="34" charset="0"/>
                <a:ea typeface="Segoe UI" pitchFamily="34" charset="-122"/>
                <a:cs typeface="Segoe UI" pitchFamily="34" charset="-120"/>
              </a:rPr>
              <a:t>Take a Break</a:t>
            </a:r>
            <a:endParaRPr lang="en-US" sz="1125" dirty="0"/>
          </a:p>
        </p:txBody>
      </p:sp>
      <p:sp>
        <p:nvSpPr>
          <p:cNvPr id="118" name="Text 100"/>
          <p:cNvSpPr/>
          <p:nvPr/>
        </p:nvSpPr>
        <p:spPr>
          <a:xfrm>
            <a:off x="4972050" y="7029450"/>
            <a:ext cx="3500438" cy="142875"/>
          </a:xfrm>
          <a:prstGeom prst="rect">
            <a:avLst/>
          </a:prstGeom>
          <a:noFill/>
          <a:ln/>
        </p:spPr>
        <p:txBody>
          <a:bodyPr wrap="square" lIns="0" tIns="0" rIns="0" bIns="0" rtlCol="0" anchor="ctr">
            <a:spAutoFit/>
          </a:bodyPr>
          <a:lstStyle/>
          <a:p>
            <a:pPr indent="0" marL="0">
              <a:buNone/>
            </a:pPr>
            <a:r>
              <a:rPr lang="en-US" sz="788" dirty="0">
                <a:solidFill>
                  <a:srgbClr val="F1F5F9"/>
                </a:solidFill>
                <a:latin typeface="Segoe UI" pitchFamily="34" charset="0"/>
                <a:ea typeface="Segoe UI" pitchFamily="34" charset="-122"/>
                <a:cs typeface="Segoe UI" pitchFamily="34" charset="-120"/>
              </a:rPr>
              <a:t>Stepping away can often help you see the problem with fresh eyes.</a:t>
            </a:r>
            <a:endParaRPr lang="en-US" sz="788" dirty="0"/>
          </a:p>
        </p:txBody>
      </p:sp>
      <p:sp>
        <p:nvSpPr>
          <p:cNvPr id="119" name="Shape 101"/>
          <p:cNvSpPr/>
          <p:nvPr/>
        </p:nvSpPr>
        <p:spPr>
          <a:xfrm>
            <a:off x="4686300" y="7629525"/>
            <a:ext cx="4000500" cy="1814513"/>
          </a:xfrm>
          <a:prstGeom prst="rect">
            <a:avLst/>
          </a:prstGeom>
          <a:solidFill>
            <a:srgbClr val="FFFFFF">
              <a:alpha val="10000"/>
            </a:srgbClr>
          </a:solidFill>
          <a:ln w="99">
            <a:solidFill>
              <a:srgbClr val="60A5FA">
                <a:alpha val="30000"/>
              </a:srgbClr>
            </a:solidFill>
            <a:prstDash val="solid"/>
          </a:ln>
        </p:spPr>
      </p:sp>
      <p:sp>
        <p:nvSpPr>
          <p:cNvPr id="120" name="Text 102"/>
          <p:cNvSpPr/>
          <p:nvPr/>
        </p:nvSpPr>
        <p:spPr>
          <a:xfrm>
            <a:off x="4857750" y="7800975"/>
            <a:ext cx="3729038" cy="228600"/>
          </a:xfrm>
          <a:prstGeom prst="rect">
            <a:avLst/>
          </a:prstGeom>
          <a:noFill/>
          <a:ln/>
        </p:spPr>
        <p:txBody>
          <a:bodyPr wrap="square" lIns="0" tIns="0" rIns="0" bIns="0" rtlCol="0" anchor="ctr">
            <a:spAutoFit/>
          </a:bodyPr>
          <a:lstStyle/>
          <a:p>
            <a:pPr indent="0" marL="0">
              <a:buNone/>
            </a:pPr>
            <a:r>
              <a:rPr lang="en-US" sz="1350" b="1" dirty="0">
                <a:solidFill>
                  <a:srgbClr val="BFDBFE"/>
                </a:solidFill>
                <a:latin typeface="Segoe UI" pitchFamily="34" charset="0"/>
                <a:ea typeface="Segoe UI" pitchFamily="34" charset="-122"/>
                <a:cs typeface="Segoe UI" pitchFamily="34" charset="-120"/>
              </a:rPr>
              <a:t>VS Code Error Highlighting</a:t>
            </a:r>
            <a:endParaRPr lang="en-US" sz="1350" dirty="0"/>
          </a:p>
        </p:txBody>
      </p:sp>
      <p:sp>
        <p:nvSpPr>
          <p:cNvPr id="121" name="Shape 103"/>
          <p:cNvSpPr/>
          <p:nvPr/>
        </p:nvSpPr>
        <p:spPr>
          <a:xfrm>
            <a:off x="4857750" y="8143875"/>
            <a:ext cx="3657600" cy="1114425"/>
          </a:xfrm>
          <a:prstGeom prst="rect">
            <a:avLst/>
          </a:prstGeom>
          <a:solidFill>
            <a:srgbClr val="1E3A8A">
              <a:alpha val="30000"/>
            </a:srgbClr>
          </a:solidFill>
          <a:ln/>
        </p:spPr>
      </p:sp>
      <p:pic>
        <p:nvPicPr>
          <p:cNvPr id="122" name="Image 16" descr="preencoded.png">    </p:cNvPr>
          <p:cNvPicPr>
            <a:picLocks noChangeAspect="1"/>
          </p:cNvPicPr>
          <p:nvPr/>
        </p:nvPicPr>
        <p:blipFill>
          <a:blip r:embed="rId17"/>
          <a:stretch>
            <a:fillRect/>
          </a:stretch>
        </p:blipFill>
        <p:spPr>
          <a:xfrm>
            <a:off x="4972050" y="8286750"/>
            <a:ext cx="75009" cy="100013"/>
          </a:xfrm>
          <a:prstGeom prst="rect">
            <a:avLst/>
          </a:prstGeom>
        </p:spPr>
      </p:pic>
      <p:sp>
        <p:nvSpPr>
          <p:cNvPr id="123" name="Text 104"/>
          <p:cNvSpPr/>
          <p:nvPr/>
        </p:nvSpPr>
        <p:spPr>
          <a:xfrm>
            <a:off x="5104209" y="8258175"/>
            <a:ext cx="2072664" cy="142875"/>
          </a:xfrm>
          <a:prstGeom prst="rect">
            <a:avLst/>
          </a:prstGeom>
          <a:noFill/>
          <a:ln/>
        </p:spPr>
        <p:txBody>
          <a:bodyPr wrap="square" lIns="0" tIns="0" rIns="0" bIns="0" rtlCol="0" anchor="ctr">
            <a:spAutoFit/>
          </a:bodyPr>
          <a:lstStyle/>
          <a:p>
            <a:pPr algn="l" indent="0" marL="0">
              <a:buNone/>
            </a:pPr>
            <a:r>
              <a:rPr lang="en-US" sz="788" dirty="0">
                <a:solidFill>
                  <a:srgbClr val="F1F5F9"/>
                </a:solidFill>
                <a:latin typeface="Segoe UI" pitchFamily="34" charset="0"/>
                <a:ea typeface="Segoe UI" pitchFamily="34" charset="-122"/>
                <a:cs typeface="Segoe UI" pitchFamily="34" charset="-120"/>
              </a:rPr>
              <a:t>VS Code underlines errors in red (squiggles).</a:t>
            </a:r>
            <a:endParaRPr lang="en-US" sz="788" dirty="0"/>
          </a:p>
        </p:txBody>
      </p:sp>
      <p:pic>
        <p:nvPicPr>
          <p:cNvPr id="124" name="Image 17" descr="preencoded.png">    </p:cNvPr>
          <p:cNvPicPr>
            <a:picLocks noChangeAspect="1"/>
          </p:cNvPicPr>
          <p:nvPr/>
        </p:nvPicPr>
        <p:blipFill>
          <a:blip r:embed="rId18"/>
          <a:stretch>
            <a:fillRect/>
          </a:stretch>
        </p:blipFill>
        <p:spPr>
          <a:xfrm>
            <a:off x="4972050" y="8486775"/>
            <a:ext cx="75009" cy="100013"/>
          </a:xfrm>
          <a:prstGeom prst="rect">
            <a:avLst/>
          </a:prstGeom>
        </p:spPr>
      </p:pic>
      <p:sp>
        <p:nvSpPr>
          <p:cNvPr id="125" name="Text 105"/>
          <p:cNvSpPr/>
          <p:nvPr/>
        </p:nvSpPr>
        <p:spPr>
          <a:xfrm>
            <a:off x="5104209" y="8458200"/>
            <a:ext cx="2295125" cy="142875"/>
          </a:xfrm>
          <a:prstGeom prst="rect">
            <a:avLst/>
          </a:prstGeom>
          <a:noFill/>
          <a:ln/>
        </p:spPr>
        <p:txBody>
          <a:bodyPr wrap="square" lIns="0" tIns="0" rIns="0" bIns="0" rtlCol="0" anchor="ctr">
            <a:spAutoFit/>
          </a:bodyPr>
          <a:lstStyle/>
          <a:p>
            <a:pPr algn="l" indent="0" marL="0">
              <a:buNone/>
            </a:pPr>
            <a:r>
              <a:rPr lang="en-US" sz="788" dirty="0">
                <a:solidFill>
                  <a:srgbClr val="F1F5F9"/>
                </a:solidFill>
                <a:latin typeface="Segoe UI" pitchFamily="34" charset="0"/>
                <a:ea typeface="Segoe UI" pitchFamily="34" charset="-122"/>
                <a:cs typeface="Segoe UI" pitchFamily="34" charset="-120"/>
              </a:rPr>
              <a:t>Hover over the squiggle to see the error message.</a:t>
            </a:r>
            <a:endParaRPr lang="en-US" sz="788" dirty="0"/>
          </a:p>
        </p:txBody>
      </p:sp>
      <p:pic>
        <p:nvPicPr>
          <p:cNvPr id="126" name="Image 18" descr="preencoded.png">    </p:cNvPr>
          <p:cNvPicPr>
            <a:picLocks noChangeAspect="1"/>
          </p:cNvPicPr>
          <p:nvPr/>
        </p:nvPicPr>
        <p:blipFill>
          <a:blip r:embed="rId19"/>
          <a:stretch>
            <a:fillRect/>
          </a:stretch>
        </p:blipFill>
        <p:spPr>
          <a:xfrm>
            <a:off x="4972050" y="8686800"/>
            <a:ext cx="75009" cy="100013"/>
          </a:xfrm>
          <a:prstGeom prst="rect">
            <a:avLst/>
          </a:prstGeom>
        </p:spPr>
      </p:pic>
      <p:sp>
        <p:nvSpPr>
          <p:cNvPr id="127" name="Text 106"/>
          <p:cNvSpPr/>
          <p:nvPr/>
        </p:nvSpPr>
        <p:spPr>
          <a:xfrm>
            <a:off x="5104209" y="8658225"/>
            <a:ext cx="3150533" cy="142875"/>
          </a:xfrm>
          <a:prstGeom prst="rect">
            <a:avLst/>
          </a:prstGeom>
          <a:noFill/>
          <a:ln/>
        </p:spPr>
        <p:txBody>
          <a:bodyPr wrap="square" lIns="0" tIns="0" rIns="0" bIns="0" rtlCol="0" anchor="ctr">
            <a:spAutoFit/>
          </a:bodyPr>
          <a:lstStyle/>
          <a:p>
            <a:pPr algn="l" indent="0" marL="0">
              <a:buNone/>
            </a:pPr>
            <a:r>
              <a:rPr lang="en-US" sz="788" dirty="0">
                <a:solidFill>
                  <a:srgbClr val="F1F5F9"/>
                </a:solidFill>
                <a:latin typeface="Segoe UI" pitchFamily="34" charset="0"/>
                <a:ea typeface="Segoe UI" pitchFamily="34" charset="-122"/>
                <a:cs typeface="Segoe UI" pitchFamily="34" charset="-120"/>
              </a:rPr>
              <a:t>The "Problems" panel (View &gt; Problems) lists all errors and warnings.</a:t>
            </a:r>
            <a:endParaRPr lang="en-US" sz="788" dirty="0"/>
          </a:p>
        </p:txBody>
      </p:sp>
      <p:pic>
        <p:nvPicPr>
          <p:cNvPr id="128" name="Image 19" descr="preencoded.png">    </p:cNvPr>
          <p:cNvPicPr>
            <a:picLocks noChangeAspect="1"/>
          </p:cNvPicPr>
          <p:nvPr/>
        </p:nvPicPr>
        <p:blipFill>
          <a:blip r:embed="rId20"/>
          <a:stretch>
            <a:fillRect/>
          </a:stretch>
        </p:blipFill>
        <p:spPr>
          <a:xfrm>
            <a:off x="4972050" y="8886825"/>
            <a:ext cx="75009" cy="100013"/>
          </a:xfrm>
          <a:prstGeom prst="rect">
            <a:avLst/>
          </a:prstGeom>
        </p:spPr>
      </p:pic>
      <p:sp>
        <p:nvSpPr>
          <p:cNvPr id="129" name="Text 107"/>
          <p:cNvSpPr/>
          <p:nvPr/>
        </p:nvSpPr>
        <p:spPr>
          <a:xfrm>
            <a:off x="5104209" y="8858250"/>
            <a:ext cx="3368278" cy="285750"/>
          </a:xfrm>
          <a:prstGeom prst="rect">
            <a:avLst/>
          </a:prstGeom>
          <a:noFill/>
          <a:ln/>
        </p:spPr>
        <p:txBody>
          <a:bodyPr wrap="square" lIns="0" tIns="0" rIns="0" bIns="0" rtlCol="0" anchor="ctr">
            <a:spAutoFit/>
          </a:bodyPr>
          <a:lstStyle/>
          <a:p>
            <a:pPr algn="l" indent="0" marL="0">
              <a:buNone/>
            </a:pPr>
            <a:r>
              <a:rPr lang="en-US" sz="788" dirty="0">
                <a:solidFill>
                  <a:srgbClr val="F1F5F9"/>
                </a:solidFill>
                <a:latin typeface="Segoe UI" pitchFamily="34" charset="0"/>
                <a:ea typeface="Segoe UI" pitchFamily="34" charset="-122"/>
                <a:cs typeface="Segoe UI" pitchFamily="34" charset="-120"/>
              </a:rPr>
              <a:t>Pay attention to warnings (yellow squiggles) as they can indicate potential issues.</a:t>
            </a:r>
            <a:endParaRPr lang="en-US" sz="788" dirty="0"/>
          </a:p>
        </p:txBody>
      </p:sp>
      <p:sp>
        <p:nvSpPr>
          <p:cNvPr id="130" name="Shape 108"/>
          <p:cNvSpPr/>
          <p:nvPr/>
        </p:nvSpPr>
        <p:spPr>
          <a:xfrm>
            <a:off x="457200" y="11233547"/>
            <a:ext cx="8229600" cy="700088"/>
          </a:xfrm>
          <a:prstGeom prst="rect">
            <a:avLst/>
          </a:prstGeom>
          <a:solidFill>
            <a:srgbClr val="FFFFFF">
              <a:alpha val="10000"/>
            </a:srgbClr>
          </a:solidFill>
          <a:ln w="99">
            <a:solidFill>
              <a:srgbClr val="60A5FA">
                <a:alpha val="30000"/>
              </a:srgbClr>
            </a:solidFill>
            <a:prstDash val="solid"/>
          </a:ln>
        </p:spPr>
      </p:sp>
      <p:pic>
        <p:nvPicPr>
          <p:cNvPr id="131" name="Image 20" descr="preencoded.png">    </p:cNvPr>
          <p:cNvPicPr>
            <a:picLocks noChangeAspect="1"/>
          </p:cNvPicPr>
          <p:nvPr/>
        </p:nvPicPr>
        <p:blipFill>
          <a:blip r:embed="rId21"/>
          <a:stretch>
            <a:fillRect/>
          </a:stretch>
        </p:blipFill>
        <p:spPr>
          <a:xfrm>
            <a:off x="628650" y="11490722"/>
            <a:ext cx="171450" cy="171450"/>
          </a:xfrm>
          <a:prstGeom prst="rect">
            <a:avLst/>
          </a:prstGeom>
        </p:spPr>
      </p:pic>
      <p:sp>
        <p:nvSpPr>
          <p:cNvPr id="132" name="Text 109"/>
          <p:cNvSpPr/>
          <p:nvPr/>
        </p:nvSpPr>
        <p:spPr>
          <a:xfrm>
            <a:off x="914400" y="11404997"/>
            <a:ext cx="7672388" cy="342900"/>
          </a:xfrm>
          <a:prstGeom prst="rect">
            <a:avLst/>
          </a:prstGeom>
          <a:noFill/>
          <a:ln/>
        </p:spPr>
        <p:txBody>
          <a:bodyPr wrap="square" lIns="0" tIns="0" rIns="0" bIns="0" rtlCol="0" anchor="ctr">
            <a:spAutoFit/>
          </a:bodyPr>
          <a:lstStyle/>
          <a:p>
            <a:pPr indent="0" marL="0">
              <a:buNone/>
            </a:pPr>
            <a:r>
              <a:rPr lang="en-US" sz="900" dirty="0">
                <a:solidFill>
                  <a:srgbClr val="F1F5F9"/>
                </a:solidFill>
                <a:latin typeface="Segoe UI" pitchFamily="34" charset="0"/>
                <a:ea typeface="Segoe UI" pitchFamily="34" charset="-122"/>
                <a:cs typeface="Segoe UI" pitchFamily="34" charset="-120"/>
              </a:rPr>
              <a:t>Encountering errors is a normal part of programming. Learning to effectively troubleshoot and debug is a crucial skill for any developer. Don't get discouraged by errors; see them as learning opportunities!</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7286625"/>
          </a:xfrm>
          <a:prstGeom prst="rect">
            <a:avLst/>
          </a:prstGeom>
        </p:spPr>
      </p:pic>
      <p:sp>
        <p:nvSpPr>
          <p:cNvPr id="3" name="Text 0"/>
          <p:cNvSpPr/>
          <p:nvPr/>
        </p:nvSpPr>
        <p:spPr>
          <a:xfrm>
            <a:off x="2504387" y="435769"/>
            <a:ext cx="2434400" cy="383977"/>
          </a:xfrm>
          <a:prstGeom prst="rect">
            <a:avLst/>
          </a:prstGeom>
          <a:noFill/>
          <a:ln/>
        </p:spPr>
        <p:txBody>
          <a:bodyPr wrap="square" lIns="0" tIns="0" rIns="0" bIns="0" rtlCol="0" anchor="ctr">
            <a:spAutoFit/>
          </a:bodyPr>
          <a:lstStyle/>
          <a:p>
            <a:pPr algn="ctr" indent="0" marL="0">
              <a:buNone/>
            </a:pPr>
            <a:r>
              <a:rPr lang="en-US" sz="2700" b="1" dirty="0">
                <a:solidFill>
                  <a:srgbClr val="F1F5F9"/>
                </a:solidFill>
                <a:latin typeface="Segoe UI" pitchFamily="34" charset="0"/>
                <a:ea typeface="Segoe UI" pitchFamily="34" charset="-122"/>
                <a:cs typeface="Segoe UI" pitchFamily="34" charset="-120"/>
              </a:rPr>
              <a:t>Summary and</a:t>
            </a:r>
            <a:endParaRPr lang="en-US" sz="2700" dirty="0"/>
          </a:p>
        </p:txBody>
      </p:sp>
      <p:sp>
        <p:nvSpPr>
          <p:cNvPr id="4" name="Text 1"/>
          <p:cNvSpPr/>
          <p:nvPr/>
        </p:nvSpPr>
        <p:spPr>
          <a:xfrm>
            <a:off x="4867349" y="435769"/>
            <a:ext cx="1843701" cy="383977"/>
          </a:xfrm>
          <a:prstGeom prst="rect">
            <a:avLst/>
          </a:prstGeom>
          <a:noFill/>
          <a:ln/>
        </p:spPr>
        <p:txBody>
          <a:bodyPr wrap="square" lIns="0" tIns="0" rIns="0" bIns="0" rtlCol="0" anchor="ctr">
            <a:spAutoFit/>
          </a:bodyPr>
          <a:lstStyle/>
          <a:p>
            <a:pPr algn="ctr" indent="0" marL="0">
              <a:buNone/>
            </a:pPr>
            <a:r>
              <a:rPr lang="en-US" sz="2700" b="1" dirty="0">
                <a:solidFill>
                  <a:srgbClr val="60A5FA"/>
                </a:solidFill>
                <a:latin typeface="Segoe UI" pitchFamily="34" charset="0"/>
                <a:ea typeface="Segoe UI" pitchFamily="34" charset="-122"/>
                <a:cs typeface="Segoe UI" pitchFamily="34" charset="-120"/>
              </a:rPr>
              <a:t>Next Steps</a:t>
            </a:r>
            <a:endParaRPr lang="en-US" sz="2700" dirty="0"/>
          </a:p>
        </p:txBody>
      </p:sp>
      <p:sp>
        <p:nvSpPr>
          <p:cNvPr id="5" name="Shape 2"/>
          <p:cNvSpPr/>
          <p:nvPr/>
        </p:nvSpPr>
        <p:spPr>
          <a:xfrm>
            <a:off x="1371600" y="1143000"/>
            <a:ext cx="3086100" cy="4414838"/>
          </a:xfrm>
          <a:prstGeom prst="rect">
            <a:avLst/>
          </a:prstGeom>
          <a:solidFill>
            <a:srgbClr val="FFFFFF">
              <a:alpha val="10000"/>
            </a:srgbClr>
          </a:solidFill>
          <a:ln w="99">
            <a:solidFill>
              <a:srgbClr val="60A5FA">
                <a:alpha val="30000"/>
              </a:srgbClr>
            </a:solidFill>
            <a:prstDash val="solid"/>
          </a:ln>
        </p:spPr>
      </p:sp>
      <p:pic>
        <p:nvPicPr>
          <p:cNvPr id="6" name="Image 1" descr="preencoded.png">    </p:cNvPr>
          <p:cNvPicPr>
            <a:picLocks noChangeAspect="1"/>
          </p:cNvPicPr>
          <p:nvPr/>
        </p:nvPicPr>
        <p:blipFill>
          <a:blip r:embed="rId2"/>
          <a:stretch>
            <a:fillRect/>
          </a:stretch>
        </p:blipFill>
        <p:spPr>
          <a:xfrm>
            <a:off x="1600200" y="1385888"/>
            <a:ext cx="214313" cy="214313"/>
          </a:xfrm>
          <a:prstGeom prst="rect">
            <a:avLst/>
          </a:prstGeom>
        </p:spPr>
      </p:pic>
      <p:sp>
        <p:nvSpPr>
          <p:cNvPr id="7" name="Text 3"/>
          <p:cNvSpPr/>
          <p:nvPr/>
        </p:nvSpPr>
        <p:spPr>
          <a:xfrm>
            <a:off x="1900238" y="1380530"/>
            <a:ext cx="1640188" cy="239316"/>
          </a:xfrm>
          <a:prstGeom prst="rect">
            <a:avLst/>
          </a:prstGeom>
          <a:noFill/>
          <a:ln/>
        </p:spPr>
        <p:txBody>
          <a:bodyPr wrap="square" lIns="0" tIns="0" rIns="0" bIns="0" rtlCol="0" anchor="ctr">
            <a:spAutoFit/>
          </a:bodyPr>
          <a:lstStyle/>
          <a:p>
            <a:pPr algn="l" indent="0" marL="0">
              <a:buNone/>
            </a:pPr>
            <a:r>
              <a:rPr lang="en-US" sz="1688" b="1" dirty="0">
                <a:solidFill>
                  <a:srgbClr val="BFDBFE"/>
                </a:solidFill>
                <a:latin typeface="Segoe UI" pitchFamily="34" charset="0"/>
                <a:ea typeface="Segoe UI" pitchFamily="34" charset="-122"/>
                <a:cs typeface="Segoe UI" pitchFamily="34" charset="-120"/>
              </a:rPr>
              <a:t>Key Takeaways</a:t>
            </a:r>
            <a:endParaRPr lang="en-US" sz="1688" dirty="0"/>
          </a:p>
        </p:txBody>
      </p:sp>
      <p:pic>
        <p:nvPicPr>
          <p:cNvPr id="8" name="Image 2" descr="preencoded.png">    </p:cNvPr>
          <p:cNvPicPr>
            <a:picLocks noChangeAspect="1"/>
          </p:cNvPicPr>
          <p:nvPr/>
        </p:nvPicPr>
        <p:blipFill>
          <a:blip r:embed="rId3"/>
          <a:stretch>
            <a:fillRect/>
          </a:stretch>
        </p:blipFill>
        <p:spPr>
          <a:xfrm>
            <a:off x="1600200" y="1828800"/>
            <a:ext cx="144661" cy="128588"/>
          </a:xfrm>
          <a:prstGeom prst="rect">
            <a:avLst/>
          </a:prstGeom>
        </p:spPr>
      </p:pic>
      <p:sp>
        <p:nvSpPr>
          <p:cNvPr id="9" name="Text 4"/>
          <p:cNvSpPr/>
          <p:nvPr/>
        </p:nvSpPr>
        <p:spPr>
          <a:xfrm>
            <a:off x="1830586" y="1800225"/>
            <a:ext cx="2469952" cy="400050"/>
          </a:xfrm>
          <a:prstGeom prst="rect">
            <a:avLst/>
          </a:prstGeom>
          <a:noFill/>
          <a:ln/>
        </p:spPr>
        <p:txBody>
          <a:bodyPr wrap="square" lIns="0" tIns="0" rIns="0" bIns="0" rtlCol="0" anchor="ctr">
            <a:spAutoFit/>
          </a:bodyPr>
          <a:lstStyle/>
          <a:p>
            <a:pPr algn="l" indent="0" marL="0">
              <a:buNone/>
            </a:pPr>
            <a:r>
              <a:rPr lang="en-US" sz="1013" dirty="0">
                <a:solidFill>
                  <a:srgbClr val="F1F5F9"/>
                </a:solidFill>
                <a:latin typeface="Segoe UI" pitchFamily="34" charset="0"/>
                <a:ea typeface="Segoe UI" pitchFamily="34" charset="-122"/>
                <a:cs typeface="Segoe UI" pitchFamily="34" charset="-120"/>
              </a:rPr>
              <a:t>Java is a powerful, platform-independent language.</a:t>
            </a:r>
            <a:endParaRPr lang="en-US" sz="1013" dirty="0"/>
          </a:p>
        </p:txBody>
      </p:sp>
      <p:pic>
        <p:nvPicPr>
          <p:cNvPr id="10" name="Image 3" descr="preencoded.png">    </p:cNvPr>
          <p:cNvPicPr>
            <a:picLocks noChangeAspect="1"/>
          </p:cNvPicPr>
          <p:nvPr/>
        </p:nvPicPr>
        <p:blipFill>
          <a:blip r:embed="rId4"/>
          <a:stretch>
            <a:fillRect/>
          </a:stretch>
        </p:blipFill>
        <p:spPr>
          <a:xfrm>
            <a:off x="1600200" y="2314575"/>
            <a:ext cx="144661" cy="128588"/>
          </a:xfrm>
          <a:prstGeom prst="rect">
            <a:avLst/>
          </a:prstGeom>
        </p:spPr>
      </p:pic>
      <p:sp>
        <p:nvSpPr>
          <p:cNvPr id="11" name="Text 5"/>
          <p:cNvSpPr/>
          <p:nvPr/>
        </p:nvSpPr>
        <p:spPr>
          <a:xfrm>
            <a:off x="1830586" y="2286000"/>
            <a:ext cx="2469952" cy="400050"/>
          </a:xfrm>
          <a:prstGeom prst="rect">
            <a:avLst/>
          </a:prstGeom>
          <a:noFill/>
          <a:ln/>
        </p:spPr>
        <p:txBody>
          <a:bodyPr wrap="square" lIns="0" tIns="0" rIns="0" bIns="0" rtlCol="0" anchor="ctr">
            <a:spAutoFit/>
          </a:bodyPr>
          <a:lstStyle/>
          <a:p>
            <a:pPr algn="l" indent="0" marL="0">
              <a:buNone/>
            </a:pPr>
            <a:r>
              <a:rPr lang="en-US" sz="1013" dirty="0">
                <a:solidFill>
                  <a:srgbClr val="F1F5F9"/>
                </a:solidFill>
                <a:latin typeface="Segoe UI" pitchFamily="34" charset="0"/>
                <a:ea typeface="Segoe UI" pitchFamily="34" charset="-122"/>
                <a:cs typeface="Segoe UI" pitchFamily="34" charset="-120"/>
              </a:rPr>
              <a:t>JDK, JRE, and JVM are core to Java development.</a:t>
            </a:r>
            <a:endParaRPr lang="en-US" sz="1013" dirty="0"/>
          </a:p>
        </p:txBody>
      </p:sp>
      <p:pic>
        <p:nvPicPr>
          <p:cNvPr id="12" name="Image 4" descr="preencoded.png">    </p:cNvPr>
          <p:cNvPicPr>
            <a:picLocks noChangeAspect="1"/>
          </p:cNvPicPr>
          <p:nvPr/>
        </p:nvPicPr>
        <p:blipFill>
          <a:blip r:embed="rId5"/>
          <a:stretch>
            <a:fillRect/>
          </a:stretch>
        </p:blipFill>
        <p:spPr>
          <a:xfrm>
            <a:off x="1600200" y="2800350"/>
            <a:ext cx="144661" cy="128588"/>
          </a:xfrm>
          <a:prstGeom prst="rect">
            <a:avLst/>
          </a:prstGeom>
        </p:spPr>
      </p:pic>
      <p:sp>
        <p:nvSpPr>
          <p:cNvPr id="13" name="Text 6"/>
          <p:cNvSpPr/>
          <p:nvPr/>
        </p:nvSpPr>
        <p:spPr>
          <a:xfrm>
            <a:off x="1830586" y="2771775"/>
            <a:ext cx="2469952" cy="400050"/>
          </a:xfrm>
          <a:prstGeom prst="rect">
            <a:avLst/>
          </a:prstGeom>
          <a:noFill/>
          <a:ln/>
        </p:spPr>
        <p:txBody>
          <a:bodyPr wrap="square" lIns="0" tIns="0" rIns="0" bIns="0" rtlCol="0" anchor="ctr">
            <a:spAutoFit/>
          </a:bodyPr>
          <a:lstStyle/>
          <a:p>
            <a:pPr algn="l" indent="0" marL="0">
              <a:buNone/>
            </a:pPr>
            <a:r>
              <a:rPr lang="en-US" sz="1013" dirty="0">
                <a:solidFill>
                  <a:srgbClr val="F1F5F9"/>
                </a:solidFill>
                <a:latin typeface="Segoe UI" pitchFamily="34" charset="0"/>
                <a:ea typeface="Segoe UI" pitchFamily="34" charset="-122"/>
                <a:cs typeface="Segoe UI" pitchFamily="34" charset="-120"/>
              </a:rPr>
              <a:t>VS Code is a versatile IDE for Java with useful extensions.</a:t>
            </a:r>
            <a:endParaRPr lang="en-US" sz="1013" dirty="0"/>
          </a:p>
        </p:txBody>
      </p:sp>
      <p:pic>
        <p:nvPicPr>
          <p:cNvPr id="14" name="Image 5" descr="preencoded.png">    </p:cNvPr>
          <p:cNvPicPr>
            <a:picLocks noChangeAspect="1"/>
          </p:cNvPicPr>
          <p:nvPr/>
        </p:nvPicPr>
        <p:blipFill>
          <a:blip r:embed="rId6"/>
          <a:stretch>
            <a:fillRect/>
          </a:stretch>
        </p:blipFill>
        <p:spPr>
          <a:xfrm>
            <a:off x="1600200" y="3286125"/>
            <a:ext cx="144661" cy="128588"/>
          </a:xfrm>
          <a:prstGeom prst="rect">
            <a:avLst/>
          </a:prstGeom>
        </p:spPr>
      </p:pic>
      <p:sp>
        <p:nvSpPr>
          <p:cNvPr id="15" name="Text 7"/>
          <p:cNvSpPr/>
          <p:nvPr/>
        </p:nvSpPr>
        <p:spPr>
          <a:xfrm>
            <a:off x="1830586" y="3257550"/>
            <a:ext cx="2469952" cy="400050"/>
          </a:xfrm>
          <a:prstGeom prst="rect">
            <a:avLst/>
          </a:prstGeom>
          <a:noFill/>
          <a:ln/>
        </p:spPr>
        <p:txBody>
          <a:bodyPr wrap="square" lIns="0" tIns="0" rIns="0" bIns="0" rtlCol="0" anchor="ctr">
            <a:spAutoFit/>
          </a:bodyPr>
          <a:lstStyle/>
          <a:p>
            <a:pPr algn="l" indent="0" marL="0">
              <a:buNone/>
            </a:pPr>
            <a:r>
              <a:rPr lang="en-US" sz="1013" dirty="0">
                <a:solidFill>
                  <a:srgbClr val="F1F5F9"/>
                </a:solidFill>
                <a:latin typeface="Segoe UI" pitchFamily="34" charset="0"/>
                <a:ea typeface="Segoe UI" pitchFamily="34" charset="-122"/>
                <a:cs typeface="Segoe UI" pitchFamily="34" charset="-120"/>
              </a:rPr>
              <a:t>Your first "Hello, World!" program is a great start!</a:t>
            </a:r>
            <a:endParaRPr lang="en-US" sz="1013" dirty="0"/>
          </a:p>
        </p:txBody>
      </p:sp>
      <p:pic>
        <p:nvPicPr>
          <p:cNvPr id="16" name="Image 6" descr="preencoded.png">    </p:cNvPr>
          <p:cNvPicPr>
            <a:picLocks noChangeAspect="1"/>
          </p:cNvPicPr>
          <p:nvPr/>
        </p:nvPicPr>
        <p:blipFill>
          <a:blip r:embed="rId7"/>
          <a:stretch>
            <a:fillRect/>
          </a:stretch>
        </p:blipFill>
        <p:spPr>
          <a:xfrm>
            <a:off x="1600200" y="3771900"/>
            <a:ext cx="144661" cy="128588"/>
          </a:xfrm>
          <a:prstGeom prst="rect">
            <a:avLst/>
          </a:prstGeom>
        </p:spPr>
      </p:pic>
      <p:sp>
        <p:nvSpPr>
          <p:cNvPr id="17" name="Text 8"/>
          <p:cNvSpPr/>
          <p:nvPr/>
        </p:nvSpPr>
        <p:spPr>
          <a:xfrm>
            <a:off x="1830586" y="3743325"/>
            <a:ext cx="2469952" cy="400050"/>
          </a:xfrm>
          <a:prstGeom prst="rect">
            <a:avLst/>
          </a:prstGeom>
          <a:noFill/>
          <a:ln/>
        </p:spPr>
        <p:txBody>
          <a:bodyPr wrap="square" lIns="0" tIns="0" rIns="0" bIns="0" rtlCol="0" anchor="ctr">
            <a:spAutoFit/>
          </a:bodyPr>
          <a:lstStyle/>
          <a:p>
            <a:pPr algn="l" indent="0" marL="0">
              <a:buNone/>
            </a:pPr>
            <a:r>
              <a:rPr lang="en-US" sz="1013" dirty="0">
                <a:solidFill>
                  <a:srgbClr val="F1F5F9"/>
                </a:solidFill>
                <a:latin typeface="Segoe UI" pitchFamily="34" charset="0"/>
                <a:ea typeface="Segoe UI" pitchFamily="34" charset="-122"/>
                <a:cs typeface="Segoe UI" pitchFamily="34" charset="-120"/>
              </a:rPr>
              <a:t>Understanding basic syntax, compilation, and debugging is crucial.</a:t>
            </a:r>
            <a:endParaRPr lang="en-US" sz="1013" dirty="0"/>
          </a:p>
        </p:txBody>
      </p:sp>
      <p:pic>
        <p:nvPicPr>
          <p:cNvPr id="18" name="Image 7" descr="preencoded.png">    </p:cNvPr>
          <p:cNvPicPr>
            <a:picLocks noChangeAspect="1"/>
          </p:cNvPicPr>
          <p:nvPr/>
        </p:nvPicPr>
        <p:blipFill>
          <a:blip r:embed="rId8"/>
          <a:stretch>
            <a:fillRect/>
          </a:stretch>
        </p:blipFill>
        <p:spPr>
          <a:xfrm>
            <a:off x="1600200" y="4257675"/>
            <a:ext cx="144661" cy="128588"/>
          </a:xfrm>
          <a:prstGeom prst="rect">
            <a:avLst/>
          </a:prstGeom>
        </p:spPr>
      </p:pic>
      <p:sp>
        <p:nvSpPr>
          <p:cNvPr id="19" name="Text 9"/>
          <p:cNvSpPr/>
          <p:nvPr/>
        </p:nvSpPr>
        <p:spPr>
          <a:xfrm>
            <a:off x="1830586" y="4229100"/>
            <a:ext cx="2469952" cy="400050"/>
          </a:xfrm>
          <a:prstGeom prst="rect">
            <a:avLst/>
          </a:prstGeom>
          <a:noFill/>
          <a:ln/>
        </p:spPr>
        <p:txBody>
          <a:bodyPr wrap="square" lIns="0" tIns="0" rIns="0" bIns="0" rtlCol="0" anchor="ctr">
            <a:spAutoFit/>
          </a:bodyPr>
          <a:lstStyle/>
          <a:p>
            <a:pPr algn="l" indent="0" marL="0">
              <a:buNone/>
            </a:pPr>
            <a:r>
              <a:rPr lang="en-US" sz="1013" dirty="0">
                <a:solidFill>
                  <a:srgbClr val="F1F5F9"/>
                </a:solidFill>
                <a:latin typeface="Segoe UI" pitchFamily="34" charset="0"/>
                <a:ea typeface="Segoe UI" pitchFamily="34" charset="-122"/>
                <a:cs typeface="Segoe UI" pitchFamily="34" charset="-120"/>
              </a:rPr>
              <a:t>Comments make your code understandable.</a:t>
            </a:r>
            <a:endParaRPr lang="en-US" sz="1013" dirty="0"/>
          </a:p>
        </p:txBody>
      </p:sp>
      <p:pic>
        <p:nvPicPr>
          <p:cNvPr id="20" name="Image 8" descr="preencoded.png">    </p:cNvPr>
          <p:cNvPicPr>
            <a:picLocks noChangeAspect="1"/>
          </p:cNvPicPr>
          <p:nvPr/>
        </p:nvPicPr>
        <p:blipFill>
          <a:blip r:embed="rId9"/>
          <a:stretch>
            <a:fillRect/>
          </a:stretch>
        </p:blipFill>
        <p:spPr>
          <a:xfrm>
            <a:off x="1600200" y="4743450"/>
            <a:ext cx="144661" cy="128588"/>
          </a:xfrm>
          <a:prstGeom prst="rect">
            <a:avLst/>
          </a:prstGeom>
        </p:spPr>
      </p:pic>
      <p:sp>
        <p:nvSpPr>
          <p:cNvPr id="21" name="Text 10"/>
          <p:cNvSpPr/>
          <p:nvPr/>
        </p:nvSpPr>
        <p:spPr>
          <a:xfrm>
            <a:off x="1830586" y="4714875"/>
            <a:ext cx="2469952" cy="400050"/>
          </a:xfrm>
          <a:prstGeom prst="rect">
            <a:avLst/>
          </a:prstGeom>
          <a:noFill/>
          <a:ln/>
        </p:spPr>
        <p:txBody>
          <a:bodyPr wrap="square" lIns="0" tIns="0" rIns="0" bIns="0" rtlCol="0" anchor="ctr">
            <a:spAutoFit/>
          </a:bodyPr>
          <a:lstStyle/>
          <a:p>
            <a:pPr algn="l" indent="0" marL="0">
              <a:buNone/>
            </a:pPr>
            <a:r>
              <a:rPr lang="en-US" sz="1013" dirty="0">
                <a:solidFill>
                  <a:srgbClr val="F1F5F9"/>
                </a:solidFill>
                <a:latin typeface="Segoe UI" pitchFamily="34" charset="0"/>
                <a:ea typeface="Segoe UI" pitchFamily="34" charset="-122"/>
                <a:cs typeface="Segoe UI" pitchFamily="34" charset="-120"/>
              </a:rPr>
              <a:t>Errors are part of learning; debugging is a key skill.</a:t>
            </a:r>
            <a:endParaRPr lang="en-US" sz="1013" dirty="0"/>
          </a:p>
        </p:txBody>
      </p:sp>
      <p:sp>
        <p:nvSpPr>
          <p:cNvPr id="22" name="Shape 11"/>
          <p:cNvSpPr/>
          <p:nvPr/>
        </p:nvSpPr>
        <p:spPr>
          <a:xfrm>
            <a:off x="4686300" y="1143000"/>
            <a:ext cx="3086100" cy="4414838"/>
          </a:xfrm>
          <a:prstGeom prst="rect">
            <a:avLst/>
          </a:prstGeom>
          <a:solidFill>
            <a:srgbClr val="FFFFFF">
              <a:alpha val="10000"/>
            </a:srgbClr>
          </a:solidFill>
          <a:ln w="99">
            <a:solidFill>
              <a:srgbClr val="60A5FA">
                <a:alpha val="30000"/>
              </a:srgbClr>
            </a:solidFill>
            <a:prstDash val="solid"/>
          </a:ln>
        </p:spPr>
      </p:sp>
      <p:pic>
        <p:nvPicPr>
          <p:cNvPr id="23" name="Image 9" descr="preencoded.png">    </p:cNvPr>
          <p:cNvPicPr>
            <a:picLocks noChangeAspect="1"/>
          </p:cNvPicPr>
          <p:nvPr/>
        </p:nvPicPr>
        <p:blipFill>
          <a:blip r:embed="rId10"/>
          <a:stretch>
            <a:fillRect/>
          </a:stretch>
        </p:blipFill>
        <p:spPr>
          <a:xfrm>
            <a:off x="4914900" y="1385888"/>
            <a:ext cx="214313" cy="214313"/>
          </a:xfrm>
          <a:prstGeom prst="rect">
            <a:avLst/>
          </a:prstGeom>
        </p:spPr>
      </p:pic>
      <p:sp>
        <p:nvSpPr>
          <p:cNvPr id="24" name="Text 12"/>
          <p:cNvSpPr/>
          <p:nvPr/>
        </p:nvSpPr>
        <p:spPr>
          <a:xfrm>
            <a:off x="5214938" y="1380530"/>
            <a:ext cx="1179109" cy="239316"/>
          </a:xfrm>
          <a:prstGeom prst="rect">
            <a:avLst/>
          </a:prstGeom>
          <a:noFill/>
          <a:ln/>
        </p:spPr>
        <p:txBody>
          <a:bodyPr wrap="none" lIns="0" tIns="0" rIns="0" bIns="0" rtlCol="0" anchor="ctr">
            <a:spAutoFit/>
          </a:bodyPr>
          <a:lstStyle/>
          <a:p>
            <a:pPr algn="l" indent="0" marL="0">
              <a:buNone/>
            </a:pPr>
            <a:r>
              <a:rPr lang="en-US" sz="1688" b="1" dirty="0">
                <a:solidFill>
                  <a:srgbClr val="BFDBFE"/>
                </a:solidFill>
                <a:latin typeface="Segoe UI" pitchFamily="34" charset="0"/>
                <a:ea typeface="Segoe UI" pitchFamily="34" charset="-122"/>
                <a:cs typeface="Segoe UI" pitchFamily="34" charset="-120"/>
              </a:rPr>
              <a:t>Next Steps</a:t>
            </a:r>
            <a:endParaRPr lang="en-US" sz="1688" dirty="0"/>
          </a:p>
        </p:txBody>
      </p:sp>
      <p:pic>
        <p:nvPicPr>
          <p:cNvPr id="25" name="Image 10" descr="preencoded.png">    </p:cNvPr>
          <p:cNvPicPr>
            <a:picLocks noChangeAspect="1"/>
          </p:cNvPicPr>
          <p:nvPr/>
        </p:nvPicPr>
        <p:blipFill>
          <a:blip r:embed="rId11"/>
          <a:stretch>
            <a:fillRect/>
          </a:stretch>
        </p:blipFill>
        <p:spPr>
          <a:xfrm>
            <a:off x="4914900" y="1828800"/>
            <a:ext cx="144661" cy="128588"/>
          </a:xfrm>
          <a:prstGeom prst="rect">
            <a:avLst/>
          </a:prstGeom>
        </p:spPr>
      </p:pic>
      <p:sp>
        <p:nvSpPr>
          <p:cNvPr id="26" name="Text 13"/>
          <p:cNvSpPr/>
          <p:nvPr/>
        </p:nvSpPr>
        <p:spPr>
          <a:xfrm>
            <a:off x="5145286" y="1828800"/>
            <a:ext cx="1236399" cy="142875"/>
          </a:xfrm>
          <a:prstGeom prst="rect">
            <a:avLst/>
          </a:prstGeom>
          <a:noFill/>
          <a:ln/>
        </p:spPr>
        <p:txBody>
          <a:bodyPr wrap="none" lIns="0" tIns="0" rIns="0" bIns="0" rtlCol="0" anchor="ctr">
            <a:spAutoFit/>
          </a:bodyPr>
          <a:lstStyle/>
          <a:p>
            <a:pPr algn="l" indent="0" marL="0">
              <a:buNone/>
            </a:pPr>
            <a:r>
              <a:rPr lang="en-US" sz="1013" b="1" dirty="0">
                <a:solidFill>
                  <a:srgbClr val="F1F5F9"/>
                </a:solidFill>
                <a:latin typeface="Segoe UI" pitchFamily="34" charset="0"/>
                <a:ea typeface="Segoe UI" pitchFamily="34" charset="-122"/>
                <a:cs typeface="Segoe UI" pitchFamily="34" charset="-120"/>
              </a:rPr>
              <a:t>Practice Regularly:</a:t>
            </a:r>
            <a:endParaRPr lang="en-US" sz="1013" dirty="0"/>
          </a:p>
        </p:txBody>
      </p:sp>
      <p:sp>
        <p:nvSpPr>
          <p:cNvPr id="27" name="Text 14"/>
          <p:cNvSpPr/>
          <p:nvPr/>
        </p:nvSpPr>
        <p:spPr>
          <a:xfrm>
            <a:off x="5145286" y="1828800"/>
            <a:ext cx="1905595" cy="342900"/>
          </a:xfrm>
          <a:prstGeom prst="rect">
            <a:avLst/>
          </a:prstGeom>
          <a:noFill/>
          <a:ln/>
        </p:spPr>
        <p:txBody>
          <a:bodyPr wrap="square" lIns="0" tIns="0" rIns="0" bIns="0" rtlCol="0" anchor="ctr">
            <a:spAutoFit/>
          </a:bodyPr>
          <a:lstStyle/>
          <a:p>
            <a:pPr algn="l" indent="0" marL="0">
              <a:buNone/>
            </a:pPr>
            <a:r>
              <a:rPr lang="en-US" sz="1013" dirty="0">
                <a:solidFill>
                  <a:srgbClr val="F1F5F9"/>
                </a:solidFill>
                <a:latin typeface="Segoe UI" pitchFamily="34" charset="0"/>
                <a:ea typeface="Segoe UI" pitchFamily="34" charset="-122"/>
                <a:cs typeface="Segoe UI" pitchFamily="34" charset="-120"/>
              </a:rPr>
              <a:t>Write small programs daily.</a:t>
            </a:r>
            <a:endParaRPr lang="en-US" sz="1013" dirty="0"/>
          </a:p>
        </p:txBody>
      </p:sp>
      <p:pic>
        <p:nvPicPr>
          <p:cNvPr id="28" name="Image 11" descr="preencoded.png">    </p:cNvPr>
          <p:cNvPicPr>
            <a:picLocks noChangeAspect="1"/>
          </p:cNvPicPr>
          <p:nvPr/>
        </p:nvPicPr>
        <p:blipFill>
          <a:blip r:embed="rId12"/>
          <a:stretch>
            <a:fillRect/>
          </a:stretch>
        </p:blipFill>
        <p:spPr>
          <a:xfrm>
            <a:off x="4914900" y="2314575"/>
            <a:ext cx="144661" cy="128588"/>
          </a:xfrm>
          <a:prstGeom prst="rect">
            <a:avLst/>
          </a:prstGeom>
        </p:spPr>
      </p:pic>
      <p:sp>
        <p:nvSpPr>
          <p:cNvPr id="29" name="Text 15"/>
          <p:cNvSpPr/>
          <p:nvPr/>
        </p:nvSpPr>
        <p:spPr>
          <a:xfrm>
            <a:off x="5145286" y="2314575"/>
            <a:ext cx="1358066" cy="142875"/>
          </a:xfrm>
          <a:prstGeom prst="rect">
            <a:avLst/>
          </a:prstGeom>
          <a:noFill/>
          <a:ln/>
        </p:spPr>
        <p:txBody>
          <a:bodyPr wrap="square" lIns="0" tIns="0" rIns="0" bIns="0" rtlCol="0" anchor="ctr">
            <a:spAutoFit/>
          </a:bodyPr>
          <a:lstStyle/>
          <a:p>
            <a:pPr algn="l" indent="0" marL="0">
              <a:buNone/>
            </a:pPr>
            <a:r>
              <a:rPr lang="en-US" sz="1013" b="1" dirty="0">
                <a:solidFill>
                  <a:srgbClr val="F1F5F9"/>
                </a:solidFill>
                <a:latin typeface="Segoe UI" pitchFamily="34" charset="0"/>
                <a:ea typeface="Segoe UI" pitchFamily="34" charset="-122"/>
                <a:cs typeface="Segoe UI" pitchFamily="34" charset="-120"/>
              </a:rPr>
              <a:t>Explore Java Basics:</a:t>
            </a:r>
            <a:endParaRPr lang="en-US" sz="1013" dirty="0"/>
          </a:p>
        </p:txBody>
      </p:sp>
      <p:sp>
        <p:nvSpPr>
          <p:cNvPr id="30" name="Text 16"/>
          <p:cNvSpPr/>
          <p:nvPr/>
        </p:nvSpPr>
        <p:spPr>
          <a:xfrm>
            <a:off x="5145286" y="2314575"/>
            <a:ext cx="2330202" cy="342900"/>
          </a:xfrm>
          <a:prstGeom prst="rect">
            <a:avLst/>
          </a:prstGeom>
          <a:noFill/>
          <a:ln/>
        </p:spPr>
        <p:txBody>
          <a:bodyPr wrap="square" lIns="0" tIns="0" rIns="0" bIns="0" rtlCol="0" anchor="ctr">
            <a:spAutoFit/>
          </a:bodyPr>
          <a:lstStyle/>
          <a:p>
            <a:pPr algn="l" indent="0" marL="0">
              <a:buNone/>
            </a:pPr>
            <a:r>
              <a:rPr lang="en-US" sz="1013" dirty="0">
                <a:solidFill>
                  <a:srgbClr val="F1F5F9"/>
                </a:solidFill>
                <a:latin typeface="Segoe UI" pitchFamily="34" charset="0"/>
                <a:ea typeface="Segoe UI" pitchFamily="34" charset="-122"/>
                <a:cs typeface="Segoe UI" pitchFamily="34" charset="-120"/>
              </a:rPr>
              <a:t>Dive deeper into variables, operators, control flow.</a:t>
            </a:r>
            <a:endParaRPr lang="en-US" sz="1013" dirty="0"/>
          </a:p>
        </p:txBody>
      </p:sp>
      <p:pic>
        <p:nvPicPr>
          <p:cNvPr id="31" name="Image 12" descr="preencoded.png">    </p:cNvPr>
          <p:cNvPicPr>
            <a:picLocks noChangeAspect="1"/>
          </p:cNvPicPr>
          <p:nvPr/>
        </p:nvPicPr>
        <p:blipFill>
          <a:blip r:embed="rId13"/>
          <a:stretch>
            <a:fillRect/>
          </a:stretch>
        </p:blipFill>
        <p:spPr>
          <a:xfrm>
            <a:off x="4914900" y="2800350"/>
            <a:ext cx="144661" cy="128588"/>
          </a:xfrm>
          <a:prstGeom prst="rect">
            <a:avLst/>
          </a:prstGeom>
        </p:spPr>
      </p:pic>
      <p:sp>
        <p:nvSpPr>
          <p:cNvPr id="32" name="Text 17"/>
          <p:cNvSpPr/>
          <p:nvPr/>
        </p:nvSpPr>
        <p:spPr>
          <a:xfrm>
            <a:off x="5145286" y="2800350"/>
            <a:ext cx="2364804" cy="142875"/>
          </a:xfrm>
          <a:prstGeom prst="rect">
            <a:avLst/>
          </a:prstGeom>
          <a:noFill/>
          <a:ln/>
        </p:spPr>
        <p:txBody>
          <a:bodyPr wrap="square" lIns="0" tIns="0" rIns="0" bIns="0" rtlCol="0" anchor="ctr">
            <a:spAutoFit/>
          </a:bodyPr>
          <a:lstStyle/>
          <a:p>
            <a:pPr algn="l" indent="0" marL="0">
              <a:buNone/>
            </a:pPr>
            <a:r>
              <a:rPr lang="en-US" sz="1013" b="1" dirty="0">
                <a:solidFill>
                  <a:srgbClr val="F1F5F9"/>
                </a:solidFill>
                <a:latin typeface="Segoe UI" pitchFamily="34" charset="0"/>
                <a:ea typeface="Segoe UI" pitchFamily="34" charset="-122"/>
                <a:cs typeface="Segoe UI" pitchFamily="34" charset="-120"/>
              </a:rPr>
              <a:t>Object-Oriented Programming (OOP):</a:t>
            </a:r>
            <a:endParaRPr lang="en-US" sz="1013" dirty="0"/>
          </a:p>
        </p:txBody>
      </p:sp>
      <p:sp>
        <p:nvSpPr>
          <p:cNvPr id="33" name="Text 18"/>
          <p:cNvSpPr/>
          <p:nvPr/>
        </p:nvSpPr>
        <p:spPr>
          <a:xfrm>
            <a:off x="5145286" y="3000375"/>
            <a:ext cx="2437442" cy="342900"/>
          </a:xfrm>
          <a:prstGeom prst="rect">
            <a:avLst/>
          </a:prstGeom>
          <a:noFill/>
          <a:ln/>
        </p:spPr>
        <p:txBody>
          <a:bodyPr wrap="square" lIns="0" tIns="0" rIns="0" bIns="0" rtlCol="0" anchor="ctr">
            <a:spAutoFit/>
          </a:bodyPr>
          <a:lstStyle/>
          <a:p>
            <a:pPr algn="l" indent="0" marL="0">
              <a:buNone/>
            </a:pPr>
            <a:r>
              <a:rPr lang="en-US" sz="1013" dirty="0">
                <a:solidFill>
                  <a:srgbClr val="F1F5F9"/>
                </a:solidFill>
                <a:latin typeface="Segoe UI" pitchFamily="34" charset="0"/>
                <a:ea typeface="Segoe UI" pitchFamily="34" charset="-122"/>
                <a:cs typeface="Segoe UI" pitchFamily="34" charset="-120"/>
              </a:rPr>
              <a:t>Learn about classes, objects, inheritance, polymorphism.</a:t>
            </a:r>
            <a:endParaRPr lang="en-US" sz="1013" dirty="0"/>
          </a:p>
        </p:txBody>
      </p:sp>
      <p:pic>
        <p:nvPicPr>
          <p:cNvPr id="34" name="Image 13" descr="preencoded.png">    </p:cNvPr>
          <p:cNvPicPr>
            <a:picLocks noChangeAspect="1"/>
          </p:cNvPicPr>
          <p:nvPr/>
        </p:nvPicPr>
        <p:blipFill>
          <a:blip r:embed="rId14"/>
          <a:stretch>
            <a:fillRect/>
          </a:stretch>
        </p:blipFill>
        <p:spPr>
          <a:xfrm>
            <a:off x="4914900" y="3486150"/>
            <a:ext cx="144661" cy="128588"/>
          </a:xfrm>
          <a:prstGeom prst="rect">
            <a:avLst/>
          </a:prstGeom>
        </p:spPr>
      </p:pic>
      <p:sp>
        <p:nvSpPr>
          <p:cNvPr id="35" name="Text 19"/>
          <p:cNvSpPr/>
          <p:nvPr/>
        </p:nvSpPr>
        <p:spPr>
          <a:xfrm>
            <a:off x="5145286" y="3486150"/>
            <a:ext cx="1071842" cy="142875"/>
          </a:xfrm>
          <a:prstGeom prst="rect">
            <a:avLst/>
          </a:prstGeom>
          <a:noFill/>
          <a:ln/>
        </p:spPr>
        <p:txBody>
          <a:bodyPr wrap="none" lIns="0" tIns="0" rIns="0" bIns="0" rtlCol="0" anchor="ctr">
            <a:spAutoFit/>
          </a:bodyPr>
          <a:lstStyle/>
          <a:p>
            <a:pPr algn="l" indent="0" marL="0">
              <a:buNone/>
            </a:pPr>
            <a:r>
              <a:rPr lang="en-US" sz="1013" b="1" dirty="0">
                <a:solidFill>
                  <a:srgbClr val="F1F5F9"/>
                </a:solidFill>
                <a:latin typeface="Segoe UI" pitchFamily="34" charset="0"/>
                <a:ea typeface="Segoe UI" pitchFamily="34" charset="-122"/>
                <a:cs typeface="Segoe UI" pitchFamily="34" charset="-120"/>
              </a:rPr>
              <a:t>Data Structures:</a:t>
            </a:r>
            <a:endParaRPr lang="en-US" sz="1013" dirty="0"/>
          </a:p>
        </p:txBody>
      </p:sp>
      <p:sp>
        <p:nvSpPr>
          <p:cNvPr id="36" name="Text 20"/>
          <p:cNvSpPr/>
          <p:nvPr/>
        </p:nvSpPr>
        <p:spPr>
          <a:xfrm>
            <a:off x="5145286" y="3486150"/>
            <a:ext cx="2201084" cy="342900"/>
          </a:xfrm>
          <a:prstGeom prst="rect">
            <a:avLst/>
          </a:prstGeom>
          <a:noFill/>
          <a:ln/>
        </p:spPr>
        <p:txBody>
          <a:bodyPr wrap="square" lIns="0" tIns="0" rIns="0" bIns="0" rtlCol="0" anchor="ctr">
            <a:spAutoFit/>
          </a:bodyPr>
          <a:lstStyle/>
          <a:p>
            <a:pPr algn="l" indent="0" marL="0">
              <a:buNone/>
            </a:pPr>
            <a:r>
              <a:rPr lang="en-US" sz="1013" dirty="0">
                <a:solidFill>
                  <a:srgbClr val="F1F5F9"/>
                </a:solidFill>
                <a:latin typeface="Segoe UI" pitchFamily="34" charset="0"/>
                <a:ea typeface="Segoe UI" pitchFamily="34" charset="-122"/>
                <a:cs typeface="Segoe UI" pitchFamily="34" charset="-120"/>
              </a:rPr>
              <a:t>Understand arrays, lists, maps, etc.</a:t>
            </a:r>
            <a:endParaRPr lang="en-US" sz="1013" dirty="0"/>
          </a:p>
        </p:txBody>
      </p:sp>
      <p:pic>
        <p:nvPicPr>
          <p:cNvPr id="37" name="Image 14" descr="preencoded.png">    </p:cNvPr>
          <p:cNvPicPr>
            <a:picLocks noChangeAspect="1"/>
          </p:cNvPicPr>
          <p:nvPr/>
        </p:nvPicPr>
        <p:blipFill>
          <a:blip r:embed="rId15"/>
          <a:stretch>
            <a:fillRect/>
          </a:stretch>
        </p:blipFill>
        <p:spPr>
          <a:xfrm>
            <a:off x="4914900" y="3971925"/>
            <a:ext cx="144661" cy="128588"/>
          </a:xfrm>
          <a:prstGeom prst="rect">
            <a:avLst/>
          </a:prstGeom>
        </p:spPr>
      </p:pic>
      <p:sp>
        <p:nvSpPr>
          <p:cNvPr id="38" name="Text 21"/>
          <p:cNvSpPr/>
          <p:nvPr/>
        </p:nvSpPr>
        <p:spPr>
          <a:xfrm>
            <a:off x="5145286" y="3971925"/>
            <a:ext cx="1436173" cy="142875"/>
          </a:xfrm>
          <a:prstGeom prst="rect">
            <a:avLst/>
          </a:prstGeom>
          <a:noFill/>
          <a:ln/>
        </p:spPr>
        <p:txBody>
          <a:bodyPr wrap="square" lIns="0" tIns="0" rIns="0" bIns="0" rtlCol="0" anchor="ctr">
            <a:spAutoFit/>
          </a:bodyPr>
          <a:lstStyle/>
          <a:p>
            <a:pPr algn="l" indent="0" marL="0">
              <a:buNone/>
            </a:pPr>
            <a:r>
              <a:rPr lang="en-US" sz="1013" b="1" dirty="0">
                <a:solidFill>
                  <a:srgbClr val="F1F5F9"/>
                </a:solidFill>
                <a:latin typeface="Segoe UI" pitchFamily="34" charset="0"/>
                <a:ea typeface="Segoe UI" pitchFamily="34" charset="-122"/>
                <a:cs typeface="Segoe UI" pitchFamily="34" charset="-120"/>
              </a:rPr>
              <a:t>Build Simple Projects:</a:t>
            </a:r>
            <a:endParaRPr lang="en-US" sz="1013" dirty="0"/>
          </a:p>
        </p:txBody>
      </p:sp>
      <p:sp>
        <p:nvSpPr>
          <p:cNvPr id="39" name="Text 22"/>
          <p:cNvSpPr/>
          <p:nvPr/>
        </p:nvSpPr>
        <p:spPr>
          <a:xfrm>
            <a:off x="5145286" y="3971925"/>
            <a:ext cx="2458287" cy="342900"/>
          </a:xfrm>
          <a:prstGeom prst="rect">
            <a:avLst/>
          </a:prstGeom>
          <a:noFill/>
          <a:ln/>
        </p:spPr>
        <p:txBody>
          <a:bodyPr wrap="square" lIns="0" tIns="0" rIns="0" bIns="0" rtlCol="0" anchor="ctr">
            <a:spAutoFit/>
          </a:bodyPr>
          <a:lstStyle/>
          <a:p>
            <a:pPr algn="l" indent="0" marL="0">
              <a:buNone/>
            </a:pPr>
            <a:r>
              <a:rPr lang="en-US" sz="1013" dirty="0">
                <a:solidFill>
                  <a:srgbClr val="F1F5F9"/>
                </a:solidFill>
                <a:latin typeface="Segoe UI" pitchFamily="34" charset="0"/>
                <a:ea typeface="Segoe UI" pitchFamily="34" charset="-122"/>
                <a:cs typeface="Segoe UI" pitchFamily="34" charset="-120"/>
              </a:rPr>
              <a:t>E.g., a calculator, a to-do list app.</a:t>
            </a:r>
            <a:endParaRPr lang="en-US" sz="1013" dirty="0"/>
          </a:p>
        </p:txBody>
      </p:sp>
      <p:pic>
        <p:nvPicPr>
          <p:cNvPr id="40" name="Image 15" descr="preencoded.png">    </p:cNvPr>
          <p:cNvPicPr>
            <a:picLocks noChangeAspect="1"/>
          </p:cNvPicPr>
          <p:nvPr/>
        </p:nvPicPr>
        <p:blipFill>
          <a:blip r:embed="rId16"/>
          <a:stretch>
            <a:fillRect/>
          </a:stretch>
        </p:blipFill>
        <p:spPr>
          <a:xfrm>
            <a:off x="4914900" y="4457700"/>
            <a:ext cx="144661" cy="128588"/>
          </a:xfrm>
          <a:prstGeom prst="rect">
            <a:avLst/>
          </a:prstGeom>
        </p:spPr>
      </p:pic>
      <p:sp>
        <p:nvSpPr>
          <p:cNvPr id="41" name="Text 23"/>
          <p:cNvSpPr/>
          <p:nvPr/>
        </p:nvSpPr>
        <p:spPr>
          <a:xfrm>
            <a:off x="5145286" y="4457700"/>
            <a:ext cx="785896" cy="142875"/>
          </a:xfrm>
          <a:prstGeom prst="rect">
            <a:avLst/>
          </a:prstGeom>
          <a:noFill/>
          <a:ln/>
        </p:spPr>
        <p:txBody>
          <a:bodyPr wrap="none" lIns="0" tIns="0" rIns="0" bIns="0" rtlCol="0" anchor="ctr">
            <a:spAutoFit/>
          </a:bodyPr>
          <a:lstStyle/>
          <a:p>
            <a:pPr algn="l" indent="0" marL="0">
              <a:buNone/>
            </a:pPr>
            <a:r>
              <a:rPr lang="en-US" sz="1013" b="1" dirty="0">
                <a:solidFill>
                  <a:srgbClr val="F1F5F9"/>
                </a:solidFill>
                <a:latin typeface="Segoe UI" pitchFamily="34" charset="0"/>
                <a:ea typeface="Segoe UI" pitchFamily="34" charset="-122"/>
                <a:cs typeface="Segoe UI" pitchFamily="34" charset="-120"/>
              </a:rPr>
              <a:t>Read Code:</a:t>
            </a:r>
            <a:endParaRPr lang="en-US" sz="1013" dirty="0"/>
          </a:p>
        </p:txBody>
      </p:sp>
      <p:sp>
        <p:nvSpPr>
          <p:cNvPr id="42" name="Text 24"/>
          <p:cNvSpPr/>
          <p:nvPr/>
        </p:nvSpPr>
        <p:spPr>
          <a:xfrm>
            <a:off x="5145286" y="4457700"/>
            <a:ext cx="2315524" cy="342900"/>
          </a:xfrm>
          <a:prstGeom prst="rect">
            <a:avLst/>
          </a:prstGeom>
          <a:noFill/>
          <a:ln/>
        </p:spPr>
        <p:txBody>
          <a:bodyPr wrap="square" lIns="0" tIns="0" rIns="0" bIns="0" rtlCol="0" anchor="ctr">
            <a:spAutoFit/>
          </a:bodyPr>
          <a:lstStyle/>
          <a:p>
            <a:pPr algn="l" indent="0" marL="0">
              <a:buNone/>
            </a:pPr>
            <a:r>
              <a:rPr lang="en-US" sz="1013" dirty="0">
                <a:solidFill>
                  <a:srgbClr val="F1F5F9"/>
                </a:solidFill>
                <a:latin typeface="Segoe UI" pitchFamily="34" charset="0"/>
                <a:ea typeface="Segoe UI" pitchFamily="34" charset="-122"/>
                <a:cs typeface="Segoe UI" pitchFamily="34" charset="-120"/>
              </a:rPr>
              <a:t>Explore open-source Java projects on GitHub.</a:t>
            </a:r>
            <a:endParaRPr lang="en-US" sz="1013" dirty="0"/>
          </a:p>
        </p:txBody>
      </p:sp>
      <p:pic>
        <p:nvPicPr>
          <p:cNvPr id="43" name="Image 16" descr="preencoded.png">    </p:cNvPr>
          <p:cNvPicPr>
            <a:picLocks noChangeAspect="1"/>
          </p:cNvPicPr>
          <p:nvPr/>
        </p:nvPicPr>
        <p:blipFill>
          <a:blip r:embed="rId17"/>
          <a:stretch>
            <a:fillRect/>
          </a:stretch>
        </p:blipFill>
        <p:spPr>
          <a:xfrm>
            <a:off x="4914900" y="4943475"/>
            <a:ext cx="144661" cy="128588"/>
          </a:xfrm>
          <a:prstGeom prst="rect">
            <a:avLst/>
          </a:prstGeom>
        </p:spPr>
      </p:pic>
      <p:sp>
        <p:nvSpPr>
          <p:cNvPr id="44" name="Text 25"/>
          <p:cNvSpPr/>
          <p:nvPr/>
        </p:nvSpPr>
        <p:spPr>
          <a:xfrm>
            <a:off x="5145286" y="4943475"/>
            <a:ext cx="1228809" cy="142875"/>
          </a:xfrm>
          <a:prstGeom prst="rect">
            <a:avLst/>
          </a:prstGeom>
          <a:noFill/>
          <a:ln/>
        </p:spPr>
        <p:txBody>
          <a:bodyPr wrap="none" lIns="0" tIns="0" rIns="0" bIns="0" rtlCol="0" anchor="ctr">
            <a:spAutoFit/>
          </a:bodyPr>
          <a:lstStyle/>
          <a:p>
            <a:pPr algn="l" indent="0" marL="0">
              <a:buNone/>
            </a:pPr>
            <a:r>
              <a:rPr lang="en-US" sz="1013" b="1" dirty="0">
                <a:solidFill>
                  <a:srgbClr val="F1F5F9"/>
                </a:solidFill>
                <a:latin typeface="Segoe UI" pitchFamily="34" charset="0"/>
                <a:ea typeface="Segoe UI" pitchFamily="34" charset="-122"/>
                <a:cs typeface="Segoe UI" pitchFamily="34" charset="-120"/>
              </a:rPr>
              <a:t>Join Communities:</a:t>
            </a:r>
            <a:endParaRPr lang="en-US" sz="1013" dirty="0"/>
          </a:p>
        </p:txBody>
      </p:sp>
      <p:sp>
        <p:nvSpPr>
          <p:cNvPr id="45" name="Text 26"/>
          <p:cNvSpPr/>
          <p:nvPr/>
        </p:nvSpPr>
        <p:spPr>
          <a:xfrm>
            <a:off x="5145286" y="4943475"/>
            <a:ext cx="2272410" cy="342900"/>
          </a:xfrm>
          <a:prstGeom prst="rect">
            <a:avLst/>
          </a:prstGeom>
          <a:noFill/>
          <a:ln/>
        </p:spPr>
        <p:txBody>
          <a:bodyPr wrap="square" lIns="0" tIns="0" rIns="0" bIns="0" rtlCol="0" anchor="ctr">
            <a:spAutoFit/>
          </a:bodyPr>
          <a:lstStyle/>
          <a:p>
            <a:pPr algn="l" indent="0" marL="0">
              <a:buNone/>
            </a:pPr>
            <a:r>
              <a:rPr lang="en-US" sz="1013" dirty="0">
                <a:solidFill>
                  <a:srgbClr val="F1F5F9"/>
                </a:solidFill>
                <a:latin typeface="Segoe UI" pitchFamily="34" charset="0"/>
                <a:ea typeface="Segoe UI" pitchFamily="34" charset="-122"/>
                <a:cs typeface="Segoe UI" pitchFamily="34" charset="-120"/>
              </a:rPr>
              <a:t>Engage in forums like Stack Overflow, Reddit (r/java).</a:t>
            </a:r>
            <a:endParaRPr lang="en-US" sz="1013" dirty="0"/>
          </a:p>
        </p:txBody>
      </p:sp>
      <p:sp>
        <p:nvSpPr>
          <p:cNvPr id="46" name="Shape 27"/>
          <p:cNvSpPr/>
          <p:nvPr/>
        </p:nvSpPr>
        <p:spPr>
          <a:xfrm>
            <a:off x="1371600" y="5886450"/>
            <a:ext cx="6400800" cy="928688"/>
          </a:xfrm>
          <a:prstGeom prst="rect">
            <a:avLst/>
          </a:prstGeom>
          <a:solidFill>
            <a:srgbClr val="FFFFFF">
              <a:alpha val="10000"/>
            </a:srgbClr>
          </a:solidFill>
          <a:ln w="99">
            <a:solidFill>
              <a:srgbClr val="60A5FA">
                <a:alpha val="30000"/>
              </a:srgbClr>
            </a:solidFill>
            <a:prstDash val="solid"/>
          </a:ln>
        </p:spPr>
      </p:sp>
      <p:pic>
        <p:nvPicPr>
          <p:cNvPr id="47" name="Image 17" descr="preencoded.png">    </p:cNvPr>
          <p:cNvPicPr>
            <a:picLocks noChangeAspect="1"/>
          </p:cNvPicPr>
          <p:nvPr/>
        </p:nvPicPr>
        <p:blipFill>
          <a:blip r:embed="rId18"/>
          <a:stretch>
            <a:fillRect/>
          </a:stretch>
        </p:blipFill>
        <p:spPr>
          <a:xfrm>
            <a:off x="1600200" y="6215063"/>
            <a:ext cx="257175" cy="257175"/>
          </a:xfrm>
          <a:prstGeom prst="rect">
            <a:avLst/>
          </a:prstGeom>
        </p:spPr>
      </p:pic>
      <p:sp>
        <p:nvSpPr>
          <p:cNvPr id="48" name="Text 28"/>
          <p:cNvSpPr/>
          <p:nvPr/>
        </p:nvSpPr>
        <p:spPr>
          <a:xfrm>
            <a:off x="1971675" y="6115050"/>
            <a:ext cx="5643563" cy="457200"/>
          </a:xfrm>
          <a:prstGeom prst="rect">
            <a:avLst/>
          </a:prstGeom>
          <a:noFill/>
          <a:ln/>
        </p:spPr>
        <p:txBody>
          <a:bodyPr wrap="square" lIns="0" tIns="0" rIns="0" bIns="0" rtlCol="0" anchor="ctr">
            <a:spAutoFit/>
          </a:bodyPr>
          <a:lstStyle/>
          <a:p>
            <a:pPr algn="ctr" indent="0" marL="0">
              <a:buNone/>
            </a:pPr>
            <a:r>
              <a:rPr lang="en-US" sz="1350" b="1" dirty="0">
                <a:solidFill>
                  <a:srgbClr val="F1F5F9"/>
                </a:solidFill>
                <a:latin typeface="Segoe UI" pitchFamily="34" charset="0"/>
                <a:ea typeface="Segoe UI" pitchFamily="34" charset="-122"/>
                <a:cs typeface="Segoe UI" pitchFamily="34" charset="-120"/>
              </a:rPr>
              <a:t>Your Java journey has just begun! Keep learning, keep coding, and enjoy the process!</a:t>
            </a:r>
            <a:endParaRPr lang="en-US" sz="13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9144000" cy="10629956"/>
          </a:xfrm>
          <a:prstGeom prst="rect">
            <a:avLst/>
          </a:prstGeom>
        </p:spPr>
      </p:pic>
      <p:sp>
        <p:nvSpPr>
          <p:cNvPr id="3" name="Shape 0"/>
          <p:cNvSpPr/>
          <p:nvPr/>
        </p:nvSpPr>
        <p:spPr>
          <a:xfrm>
            <a:off x="571500" y="285750"/>
            <a:ext cx="8001000" cy="10058456"/>
          </a:xfrm>
          <a:prstGeom prst="rect">
            <a:avLst/>
          </a:prstGeom>
          <a:solidFill>
            <a:srgbClr val="FFFFFF"/>
          </a:solidFill>
          <a:ln/>
        </p:spPr>
      </p:sp>
      <p:sp>
        <p:nvSpPr>
          <p:cNvPr id="4" name="Text 1"/>
          <p:cNvSpPr/>
          <p:nvPr/>
        </p:nvSpPr>
        <p:spPr>
          <a:xfrm>
            <a:off x="1000125" y="944091"/>
            <a:ext cx="7215188" cy="637580"/>
          </a:xfrm>
          <a:prstGeom prst="rect">
            <a:avLst/>
          </a:prstGeom>
          <a:noFill/>
          <a:ln/>
        </p:spPr>
        <p:txBody>
          <a:bodyPr wrap="square" lIns="0" tIns="0" rIns="0" bIns="170053" rtlCol="0" anchor="ctr">
            <a:spAutoFit/>
          </a:bodyPr>
          <a:lstStyle/>
          <a:p>
            <a:pPr algn="ctr" indent="0" marL="0">
              <a:buNone/>
            </a:pPr>
            <a:r>
              <a:rPr lang="en-US" sz="2700" b="1" dirty="0">
                <a:solidFill>
                  <a:srgbClr val="2C3E50"/>
                </a:solidFill>
                <a:latin typeface="Noto Sans" pitchFamily="34" charset="0"/>
                <a:ea typeface="Noto Sans" pitchFamily="34" charset="-122"/>
                <a:cs typeface="Noto Sans" pitchFamily="34" charset="-120"/>
              </a:rPr>
              <a:t>Questions &amp; Answers</a:t>
            </a:r>
            <a:endParaRPr lang="en-US" sz="2700" dirty="0"/>
          </a:p>
        </p:txBody>
      </p:sp>
      <p:sp>
        <p:nvSpPr>
          <p:cNvPr id="5" name="Shape 2"/>
          <p:cNvSpPr/>
          <p:nvPr/>
        </p:nvSpPr>
        <p:spPr>
          <a:xfrm>
            <a:off x="1000125" y="1867421"/>
            <a:ext cx="7143750" cy="1120285"/>
          </a:xfrm>
          <a:prstGeom prst="rect">
            <a:avLst/>
          </a:prstGeom>
          <a:solidFill>
            <a:srgbClr val="F8F9FA"/>
          </a:solidFill>
          <a:ln/>
        </p:spPr>
      </p:sp>
      <p:sp>
        <p:nvSpPr>
          <p:cNvPr id="6" name="Shape 3"/>
          <p:cNvSpPr/>
          <p:nvPr/>
        </p:nvSpPr>
        <p:spPr>
          <a:xfrm>
            <a:off x="1000125" y="1867421"/>
            <a:ext cx="35719" cy="1120285"/>
          </a:xfrm>
          <a:prstGeom prst="rect">
            <a:avLst/>
          </a:prstGeom>
          <a:solidFill>
            <a:srgbClr val="3498DB"/>
          </a:solidFill>
          <a:ln/>
        </p:spPr>
      </p:sp>
      <p:sp>
        <p:nvSpPr>
          <p:cNvPr id="7" name="Text 4"/>
          <p:cNvSpPr/>
          <p:nvPr/>
        </p:nvSpPr>
        <p:spPr>
          <a:xfrm>
            <a:off x="1178719" y="2046015"/>
            <a:ext cx="6858000" cy="253603"/>
          </a:xfrm>
          <a:prstGeom prst="rect">
            <a:avLst/>
          </a:prstGeom>
          <a:noFill/>
          <a:ln/>
        </p:spPr>
        <p:txBody>
          <a:bodyPr wrap="square" lIns="0" tIns="0" rIns="0" bIns="0" rtlCol="0" anchor="ctr">
            <a:spAutoFit/>
          </a:bodyPr>
          <a:lstStyle/>
          <a:p>
            <a:pPr indent="0" marL="0">
              <a:buNone/>
            </a:pPr>
            <a:r>
              <a:rPr lang="en-US" sz="1170" b="1" dirty="0">
                <a:solidFill>
                  <a:srgbClr val="2C3E50"/>
                </a:solidFill>
                <a:latin typeface="Noto Sans" pitchFamily="34" charset="0"/>
                <a:ea typeface="Noto Sans" pitchFamily="34" charset="-122"/>
                <a:cs typeface="Noto Sans" pitchFamily="34" charset="-120"/>
              </a:rPr>
              <a:t>What if I get a "java: command not found" error?</a:t>
            </a:r>
            <a:endParaRPr lang="en-US" sz="1170" dirty="0"/>
          </a:p>
        </p:txBody>
      </p:sp>
      <p:sp>
        <p:nvSpPr>
          <p:cNvPr id="8" name="Text 5"/>
          <p:cNvSpPr/>
          <p:nvPr/>
        </p:nvSpPr>
        <p:spPr>
          <a:xfrm>
            <a:off x="1500188" y="2406774"/>
            <a:ext cx="6536531" cy="402338"/>
          </a:xfrm>
          <a:prstGeom prst="rect">
            <a:avLst/>
          </a:prstGeom>
          <a:noFill/>
          <a:ln/>
        </p:spPr>
        <p:txBody>
          <a:bodyPr wrap="square" lIns="0" tIns="0" rIns="0" bIns="0" rtlCol="0" anchor="ctr">
            <a:spAutoFit/>
          </a:bodyPr>
          <a:lstStyle/>
          <a:p>
            <a:pPr indent="0" marL="0">
              <a:buNone/>
            </a:pPr>
            <a:r>
              <a:rPr lang="en-US" sz="990" dirty="0">
                <a:solidFill>
                  <a:srgbClr val="555555"/>
                </a:solidFill>
                <a:latin typeface="Noto Sans" pitchFamily="34" charset="0"/>
                <a:ea typeface="Noto Sans" pitchFamily="34" charset="-122"/>
                <a:cs typeface="Noto Sans" pitchFamily="34" charset="-120"/>
              </a:rPr>
              <a:t>This means Java is not properly installed or not in your system PATH. Reinstall the JDK and ensure you select "Add to PATH" during installation, or manually add the Java bin directory to your system PATH.</a:t>
            </a:r>
            <a:endParaRPr lang="en-US" sz="990" dirty="0"/>
          </a:p>
        </p:txBody>
      </p:sp>
      <p:sp>
        <p:nvSpPr>
          <p:cNvPr id="9" name="Shape 6"/>
          <p:cNvSpPr/>
          <p:nvPr/>
        </p:nvSpPr>
        <p:spPr>
          <a:xfrm>
            <a:off x="1000125" y="3202019"/>
            <a:ext cx="7143750" cy="1120285"/>
          </a:xfrm>
          <a:prstGeom prst="rect">
            <a:avLst/>
          </a:prstGeom>
          <a:solidFill>
            <a:srgbClr val="F8F9FA"/>
          </a:solidFill>
          <a:ln/>
        </p:spPr>
      </p:sp>
      <p:sp>
        <p:nvSpPr>
          <p:cNvPr id="10" name="Shape 7"/>
          <p:cNvSpPr/>
          <p:nvPr/>
        </p:nvSpPr>
        <p:spPr>
          <a:xfrm>
            <a:off x="1000125" y="3202019"/>
            <a:ext cx="35719" cy="1120285"/>
          </a:xfrm>
          <a:prstGeom prst="rect">
            <a:avLst/>
          </a:prstGeom>
          <a:solidFill>
            <a:srgbClr val="3498DB"/>
          </a:solidFill>
          <a:ln/>
        </p:spPr>
      </p:sp>
      <p:sp>
        <p:nvSpPr>
          <p:cNvPr id="11" name="Text 8"/>
          <p:cNvSpPr/>
          <p:nvPr/>
        </p:nvSpPr>
        <p:spPr>
          <a:xfrm>
            <a:off x="1178719" y="3380612"/>
            <a:ext cx="6858000" cy="253603"/>
          </a:xfrm>
          <a:prstGeom prst="rect">
            <a:avLst/>
          </a:prstGeom>
          <a:noFill/>
          <a:ln/>
        </p:spPr>
        <p:txBody>
          <a:bodyPr wrap="square" lIns="0" tIns="0" rIns="0" bIns="0" rtlCol="0" anchor="ctr">
            <a:spAutoFit/>
          </a:bodyPr>
          <a:lstStyle/>
          <a:p>
            <a:pPr indent="0" marL="0">
              <a:buNone/>
            </a:pPr>
            <a:r>
              <a:rPr lang="en-US" sz="1170" b="1" dirty="0">
                <a:solidFill>
                  <a:srgbClr val="2C3E50"/>
                </a:solidFill>
                <a:latin typeface="Noto Sans" pitchFamily="34" charset="0"/>
                <a:ea typeface="Noto Sans" pitchFamily="34" charset="-122"/>
                <a:cs typeface="Noto Sans" pitchFamily="34" charset="-120"/>
              </a:rPr>
              <a:t>Why doesn't VS Code recognize my Java files?</a:t>
            </a:r>
            <a:endParaRPr lang="en-US" sz="1170" dirty="0"/>
          </a:p>
        </p:txBody>
      </p:sp>
      <p:sp>
        <p:nvSpPr>
          <p:cNvPr id="12" name="Text 9"/>
          <p:cNvSpPr/>
          <p:nvPr/>
        </p:nvSpPr>
        <p:spPr>
          <a:xfrm>
            <a:off x="1500188" y="3741372"/>
            <a:ext cx="6536531" cy="402338"/>
          </a:xfrm>
          <a:prstGeom prst="rect">
            <a:avLst/>
          </a:prstGeom>
          <a:noFill/>
          <a:ln/>
        </p:spPr>
        <p:txBody>
          <a:bodyPr wrap="square" lIns="0" tIns="0" rIns="0" bIns="0" rtlCol="0" anchor="ctr">
            <a:spAutoFit/>
          </a:bodyPr>
          <a:lstStyle/>
          <a:p>
            <a:pPr indent="0" marL="0">
              <a:buNone/>
            </a:pPr>
            <a:r>
              <a:rPr lang="en-US" sz="990" dirty="0">
                <a:solidFill>
                  <a:srgbClr val="555555"/>
                </a:solidFill>
                <a:latin typeface="Noto Sans" pitchFamily="34" charset="0"/>
                <a:ea typeface="Noto Sans" pitchFamily="34" charset="-122"/>
                <a:cs typeface="Noto Sans" pitchFamily="34" charset="-120"/>
              </a:rPr>
              <a:t>Make sure you have installed the Extension Pack for Java. Also, ensure your .java files are in a proper project structure with a src folder, and that VS Code has opened the correct project folder.</a:t>
            </a:r>
            <a:endParaRPr lang="en-US" sz="990" dirty="0"/>
          </a:p>
        </p:txBody>
      </p:sp>
      <p:sp>
        <p:nvSpPr>
          <p:cNvPr id="13" name="Shape 10"/>
          <p:cNvSpPr/>
          <p:nvPr/>
        </p:nvSpPr>
        <p:spPr>
          <a:xfrm>
            <a:off x="1000125" y="4536616"/>
            <a:ext cx="7143750" cy="1120285"/>
          </a:xfrm>
          <a:prstGeom prst="rect">
            <a:avLst/>
          </a:prstGeom>
          <a:solidFill>
            <a:srgbClr val="F8F9FA"/>
          </a:solidFill>
          <a:ln/>
        </p:spPr>
      </p:sp>
      <p:sp>
        <p:nvSpPr>
          <p:cNvPr id="14" name="Shape 11"/>
          <p:cNvSpPr/>
          <p:nvPr/>
        </p:nvSpPr>
        <p:spPr>
          <a:xfrm>
            <a:off x="1000125" y="4536616"/>
            <a:ext cx="35719" cy="1120285"/>
          </a:xfrm>
          <a:prstGeom prst="rect">
            <a:avLst/>
          </a:prstGeom>
          <a:solidFill>
            <a:srgbClr val="3498DB"/>
          </a:solidFill>
          <a:ln/>
        </p:spPr>
      </p:sp>
      <p:sp>
        <p:nvSpPr>
          <p:cNvPr id="15" name="Text 12"/>
          <p:cNvSpPr/>
          <p:nvPr/>
        </p:nvSpPr>
        <p:spPr>
          <a:xfrm>
            <a:off x="1178719" y="4715210"/>
            <a:ext cx="6858000" cy="253603"/>
          </a:xfrm>
          <a:prstGeom prst="rect">
            <a:avLst/>
          </a:prstGeom>
          <a:noFill/>
          <a:ln/>
        </p:spPr>
        <p:txBody>
          <a:bodyPr wrap="square" lIns="0" tIns="0" rIns="0" bIns="0" rtlCol="0" anchor="ctr">
            <a:spAutoFit/>
          </a:bodyPr>
          <a:lstStyle/>
          <a:p>
            <a:pPr indent="0" marL="0">
              <a:buNone/>
            </a:pPr>
            <a:r>
              <a:rPr lang="en-US" sz="1170" b="1" dirty="0">
                <a:solidFill>
                  <a:srgbClr val="2C3E50"/>
                </a:solidFill>
                <a:latin typeface="Noto Sans" pitchFamily="34" charset="0"/>
                <a:ea typeface="Noto Sans" pitchFamily="34" charset="-122"/>
                <a:cs typeface="Noto Sans" pitchFamily="34" charset="-120"/>
              </a:rPr>
              <a:t>What's the difference between JDK, JRE, and JVM?</a:t>
            </a:r>
            <a:endParaRPr lang="en-US" sz="1170" dirty="0"/>
          </a:p>
        </p:txBody>
      </p:sp>
      <p:sp>
        <p:nvSpPr>
          <p:cNvPr id="16" name="Text 13"/>
          <p:cNvSpPr/>
          <p:nvPr/>
        </p:nvSpPr>
        <p:spPr>
          <a:xfrm>
            <a:off x="1500188" y="5075969"/>
            <a:ext cx="6536531" cy="402338"/>
          </a:xfrm>
          <a:prstGeom prst="rect">
            <a:avLst/>
          </a:prstGeom>
          <a:noFill/>
          <a:ln/>
        </p:spPr>
        <p:txBody>
          <a:bodyPr wrap="square" lIns="0" tIns="0" rIns="0" bIns="0" rtlCol="0" anchor="ctr">
            <a:spAutoFit/>
          </a:bodyPr>
          <a:lstStyle/>
          <a:p>
            <a:pPr indent="0" marL="0">
              <a:buNone/>
            </a:pPr>
            <a:r>
              <a:rPr lang="en-US" sz="990" dirty="0">
                <a:solidFill>
                  <a:srgbClr val="555555"/>
                </a:solidFill>
                <a:latin typeface="Noto Sans" pitchFamily="34" charset="0"/>
                <a:ea typeface="Noto Sans" pitchFamily="34" charset="-122"/>
                <a:cs typeface="Noto Sans" pitchFamily="34" charset="-120"/>
              </a:rPr>
              <a:t>JVM runs Java programs, JRE includes JVM plus libraries for running Java apps, and JDK includes JRE plus development tools like compiler. For development, you need the full JDK.</a:t>
            </a:r>
            <a:endParaRPr lang="en-US" sz="990" dirty="0"/>
          </a:p>
        </p:txBody>
      </p:sp>
      <p:sp>
        <p:nvSpPr>
          <p:cNvPr id="17" name="Shape 14"/>
          <p:cNvSpPr/>
          <p:nvPr/>
        </p:nvSpPr>
        <p:spPr>
          <a:xfrm>
            <a:off x="1000125" y="5871214"/>
            <a:ext cx="7143750" cy="1120285"/>
          </a:xfrm>
          <a:prstGeom prst="rect">
            <a:avLst/>
          </a:prstGeom>
          <a:solidFill>
            <a:srgbClr val="F8F9FA"/>
          </a:solidFill>
          <a:ln/>
        </p:spPr>
      </p:sp>
      <p:sp>
        <p:nvSpPr>
          <p:cNvPr id="18" name="Shape 15"/>
          <p:cNvSpPr/>
          <p:nvPr/>
        </p:nvSpPr>
        <p:spPr>
          <a:xfrm>
            <a:off x="1000125" y="5871214"/>
            <a:ext cx="35719" cy="1120285"/>
          </a:xfrm>
          <a:prstGeom prst="rect">
            <a:avLst/>
          </a:prstGeom>
          <a:solidFill>
            <a:srgbClr val="3498DB"/>
          </a:solidFill>
          <a:ln/>
        </p:spPr>
      </p:sp>
      <p:sp>
        <p:nvSpPr>
          <p:cNvPr id="19" name="Text 16"/>
          <p:cNvSpPr/>
          <p:nvPr/>
        </p:nvSpPr>
        <p:spPr>
          <a:xfrm>
            <a:off x="1178719" y="6049807"/>
            <a:ext cx="6858000" cy="253603"/>
          </a:xfrm>
          <a:prstGeom prst="rect">
            <a:avLst/>
          </a:prstGeom>
          <a:noFill/>
          <a:ln/>
        </p:spPr>
        <p:txBody>
          <a:bodyPr wrap="square" lIns="0" tIns="0" rIns="0" bIns="0" rtlCol="0" anchor="ctr">
            <a:spAutoFit/>
          </a:bodyPr>
          <a:lstStyle/>
          <a:p>
            <a:pPr indent="0" marL="0">
              <a:buNone/>
            </a:pPr>
            <a:r>
              <a:rPr lang="en-US" sz="1170" b="1" dirty="0">
                <a:solidFill>
                  <a:srgbClr val="2C3E50"/>
                </a:solidFill>
                <a:latin typeface="Noto Sans" pitchFamily="34" charset="0"/>
                <a:ea typeface="Noto Sans" pitchFamily="34" charset="-122"/>
                <a:cs typeface="Noto Sans" pitchFamily="34" charset="-120"/>
              </a:rPr>
              <a:t>Can I use other IDEs instead of VS Code?</a:t>
            </a:r>
            <a:endParaRPr lang="en-US" sz="1170" dirty="0"/>
          </a:p>
        </p:txBody>
      </p:sp>
      <p:sp>
        <p:nvSpPr>
          <p:cNvPr id="20" name="Text 17"/>
          <p:cNvSpPr/>
          <p:nvPr/>
        </p:nvSpPr>
        <p:spPr>
          <a:xfrm>
            <a:off x="1500188" y="6410567"/>
            <a:ext cx="6536531" cy="402338"/>
          </a:xfrm>
          <a:prstGeom prst="rect">
            <a:avLst/>
          </a:prstGeom>
          <a:noFill/>
          <a:ln/>
        </p:spPr>
        <p:txBody>
          <a:bodyPr wrap="square" lIns="0" tIns="0" rIns="0" bIns="0" rtlCol="0" anchor="ctr">
            <a:spAutoFit/>
          </a:bodyPr>
          <a:lstStyle/>
          <a:p>
            <a:pPr indent="0" marL="0">
              <a:buNone/>
            </a:pPr>
            <a:r>
              <a:rPr lang="en-US" sz="990" dirty="0">
                <a:solidFill>
                  <a:srgbClr val="555555"/>
                </a:solidFill>
                <a:latin typeface="Noto Sans" pitchFamily="34" charset="0"/>
                <a:ea typeface="Noto Sans" pitchFamily="34" charset="-122"/>
                <a:cs typeface="Noto Sans" pitchFamily="34" charset="-120"/>
              </a:rPr>
              <a:t>Yes! Popular alternatives include IntelliJ IDEA, Eclipse, and NetBeans. VS Code is lightweight and beginner-friendly, but you can choose any IDE that suits your preferences.</a:t>
            </a:r>
            <a:endParaRPr lang="en-US" sz="990" dirty="0"/>
          </a:p>
        </p:txBody>
      </p:sp>
      <p:sp>
        <p:nvSpPr>
          <p:cNvPr id="21" name="Shape 18"/>
          <p:cNvSpPr/>
          <p:nvPr/>
        </p:nvSpPr>
        <p:spPr>
          <a:xfrm>
            <a:off x="1000125" y="7205811"/>
            <a:ext cx="7143750" cy="1120285"/>
          </a:xfrm>
          <a:prstGeom prst="rect">
            <a:avLst/>
          </a:prstGeom>
          <a:solidFill>
            <a:srgbClr val="F8F9FA"/>
          </a:solidFill>
          <a:ln/>
        </p:spPr>
      </p:sp>
      <p:sp>
        <p:nvSpPr>
          <p:cNvPr id="22" name="Shape 19"/>
          <p:cNvSpPr/>
          <p:nvPr/>
        </p:nvSpPr>
        <p:spPr>
          <a:xfrm>
            <a:off x="1000125" y="7205811"/>
            <a:ext cx="35719" cy="1120285"/>
          </a:xfrm>
          <a:prstGeom prst="rect">
            <a:avLst/>
          </a:prstGeom>
          <a:solidFill>
            <a:srgbClr val="3498DB"/>
          </a:solidFill>
          <a:ln/>
        </p:spPr>
      </p:sp>
      <p:sp>
        <p:nvSpPr>
          <p:cNvPr id="23" name="Text 20"/>
          <p:cNvSpPr/>
          <p:nvPr/>
        </p:nvSpPr>
        <p:spPr>
          <a:xfrm>
            <a:off x="1178719" y="7384405"/>
            <a:ext cx="6858000" cy="253603"/>
          </a:xfrm>
          <a:prstGeom prst="rect">
            <a:avLst/>
          </a:prstGeom>
          <a:noFill/>
          <a:ln/>
        </p:spPr>
        <p:txBody>
          <a:bodyPr wrap="square" lIns="0" tIns="0" rIns="0" bIns="0" rtlCol="0" anchor="ctr">
            <a:spAutoFit/>
          </a:bodyPr>
          <a:lstStyle/>
          <a:p>
            <a:pPr indent="0" marL="0">
              <a:buNone/>
            </a:pPr>
            <a:r>
              <a:rPr lang="en-US" sz="1170" b="1" dirty="0">
                <a:solidFill>
                  <a:srgbClr val="2C3E50"/>
                </a:solidFill>
                <a:latin typeface="Noto Sans" pitchFamily="34" charset="0"/>
                <a:ea typeface="Noto Sans" pitchFamily="34" charset="-122"/>
                <a:cs typeface="Noto Sans" pitchFamily="34" charset="-120"/>
              </a:rPr>
              <a:t>How do I fix compilation errors in my first program?</a:t>
            </a:r>
            <a:endParaRPr lang="en-US" sz="1170" dirty="0"/>
          </a:p>
        </p:txBody>
      </p:sp>
      <p:sp>
        <p:nvSpPr>
          <p:cNvPr id="24" name="Text 21"/>
          <p:cNvSpPr/>
          <p:nvPr/>
        </p:nvSpPr>
        <p:spPr>
          <a:xfrm>
            <a:off x="1500188" y="7745164"/>
            <a:ext cx="6536531" cy="402338"/>
          </a:xfrm>
          <a:prstGeom prst="rect">
            <a:avLst/>
          </a:prstGeom>
          <a:noFill/>
          <a:ln/>
        </p:spPr>
        <p:txBody>
          <a:bodyPr wrap="square" lIns="0" tIns="0" rIns="0" bIns="0" rtlCol="0" anchor="ctr">
            <a:spAutoFit/>
          </a:bodyPr>
          <a:lstStyle/>
          <a:p>
            <a:pPr indent="0" marL="0">
              <a:buNone/>
            </a:pPr>
            <a:r>
              <a:rPr lang="en-US" sz="990" dirty="0">
                <a:solidFill>
                  <a:srgbClr val="555555"/>
                </a:solidFill>
                <a:latin typeface="Noto Sans" pitchFamily="34" charset="0"/>
                <a:ea typeface="Noto Sans" pitchFamily="34" charset="-122"/>
                <a:cs typeface="Noto Sans" pitchFamily="34" charset="-120"/>
              </a:rPr>
              <a:t>Common issues include: incorrect class name (must match filename), missing semicolons, wrong capitalization (Java is case-sensitive), or missing curly braces. Check the error message carefully for clues.</a:t>
            </a:r>
            <a:endParaRPr lang="en-US" sz="990" dirty="0"/>
          </a:p>
        </p:txBody>
      </p:sp>
      <p:sp>
        <p:nvSpPr>
          <p:cNvPr id="25" name="Shape 22"/>
          <p:cNvSpPr/>
          <p:nvPr/>
        </p:nvSpPr>
        <p:spPr>
          <a:xfrm>
            <a:off x="1000125" y="8683284"/>
            <a:ext cx="7143750" cy="934045"/>
          </a:xfrm>
          <a:prstGeom prst="rect">
            <a:avLst/>
          </a:prstGeom>
          <a:solidFill>
            <a:srgbClr val="2980B9"/>
          </a:solidFill>
          <a:ln/>
        </p:spPr>
      </p:sp>
      <p:sp>
        <p:nvSpPr>
          <p:cNvPr id="26" name="Text 23"/>
          <p:cNvSpPr/>
          <p:nvPr/>
        </p:nvSpPr>
        <p:spPr>
          <a:xfrm>
            <a:off x="1214438" y="8897596"/>
            <a:ext cx="6786563" cy="233958"/>
          </a:xfrm>
          <a:prstGeom prst="rect">
            <a:avLst/>
          </a:prstGeom>
          <a:noFill/>
          <a:ln/>
        </p:spPr>
        <p:txBody>
          <a:bodyPr wrap="square" lIns="0" tIns="0" rIns="0" bIns="0" rtlCol="0" anchor="ctr">
            <a:spAutoFit/>
          </a:bodyPr>
          <a:lstStyle/>
          <a:p>
            <a:pPr algn="ctr" indent="0" marL="0">
              <a:buNone/>
            </a:pPr>
            <a:r>
              <a:rPr lang="en-US" sz="1350" dirty="0">
                <a:solidFill>
                  <a:srgbClr val="FFFFFF"/>
                </a:solidFill>
                <a:latin typeface="Noto Sans" pitchFamily="34" charset="0"/>
                <a:ea typeface="Noto Sans" pitchFamily="34" charset="-122"/>
                <a:cs typeface="Noto Sans" pitchFamily="34" charset="-120"/>
              </a:rPr>
              <a:t>Thank You!</a:t>
            </a:r>
            <a:endParaRPr lang="en-US" sz="1350" dirty="0"/>
          </a:p>
        </p:txBody>
      </p:sp>
      <p:sp>
        <p:nvSpPr>
          <p:cNvPr id="27" name="Text 24"/>
          <p:cNvSpPr/>
          <p:nvPr/>
        </p:nvSpPr>
        <p:spPr>
          <a:xfrm>
            <a:off x="1214438" y="9238710"/>
            <a:ext cx="6786563" cy="164306"/>
          </a:xfrm>
          <a:prstGeom prst="rect">
            <a:avLst/>
          </a:prstGeom>
          <a:noFill/>
          <a:ln/>
        </p:spPr>
        <p:txBody>
          <a:bodyPr wrap="square" lIns="0" tIns="0" rIns="0" bIns="0" rtlCol="0" anchor="ctr">
            <a:spAutoFit/>
          </a:bodyPr>
          <a:lstStyle/>
          <a:p>
            <a:pPr algn="ctr" indent="0" marL="0">
              <a:buNone/>
            </a:pPr>
            <a:r>
              <a:rPr lang="en-US" sz="945" dirty="0">
                <a:solidFill>
                  <a:srgbClr val="FFFFFF"/>
                </a:solidFill>
                <a:latin typeface="Noto Sans" pitchFamily="34" charset="0"/>
                <a:ea typeface="Noto Sans" pitchFamily="34" charset="-122"/>
                <a:cs typeface="Noto Sans" pitchFamily="34" charset="-120"/>
              </a:rPr>
              <a:t>Happy Coding with Java! 🚀</a:t>
            </a:r>
            <a:endParaRPr lang="en-US" sz="945" dirty="0"/>
          </a:p>
        </p:txBody>
      </p:sp>
      <p:sp>
        <p:nvSpPr>
          <p:cNvPr id="28" name="Text 25"/>
          <p:cNvSpPr/>
          <p:nvPr/>
        </p:nvSpPr>
        <p:spPr>
          <a:xfrm>
            <a:off x="1000125" y="9760204"/>
            <a:ext cx="7215188" cy="155377"/>
          </a:xfrm>
          <a:prstGeom prst="rect">
            <a:avLst/>
          </a:prstGeom>
          <a:noFill/>
          <a:ln/>
        </p:spPr>
        <p:txBody>
          <a:bodyPr wrap="square" lIns="0" tIns="0" rIns="0" bIns="0" rtlCol="0" anchor="ctr">
            <a:spAutoFit/>
          </a:bodyPr>
          <a:lstStyle/>
          <a:p>
            <a:pPr algn="ctr" indent="0" marL="0">
              <a:buNone/>
            </a:pPr>
            <a:r>
              <a:rPr lang="en-US" sz="900" i="1" dirty="0">
                <a:solidFill>
                  <a:srgbClr val="7F8C8D"/>
                </a:solidFill>
                <a:latin typeface="Noto Sans" pitchFamily="34" charset="0"/>
                <a:ea typeface="Noto Sans" pitchFamily="34" charset="-122"/>
                <a:cs typeface="Noto Sans" pitchFamily="34" charset="-120"/>
              </a:rPr>
              <a:t>Feel free to ask more questions as you continue your Java journey!</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2025-06-11T11:10:52Z</dcterms:created>
  <dcterms:modified xsi:type="dcterms:W3CDTF">2025-06-11T11:10:52Z</dcterms:modified>
</cp:coreProperties>
</file>