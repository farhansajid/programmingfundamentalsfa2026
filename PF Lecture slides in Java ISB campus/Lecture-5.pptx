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444" r:id="rId2"/>
    <p:sldId id="257" r:id="rId3"/>
    <p:sldId id="408" r:id="rId4"/>
    <p:sldId id="409" r:id="rId5"/>
    <p:sldId id="410" r:id="rId6"/>
    <p:sldId id="411" r:id="rId7"/>
    <p:sldId id="340" r:id="rId8"/>
    <p:sldId id="324" r:id="rId9"/>
    <p:sldId id="325" r:id="rId10"/>
    <p:sldId id="326" r:id="rId11"/>
    <p:sldId id="327" r:id="rId12"/>
    <p:sldId id="328" r:id="rId13"/>
    <p:sldId id="335" r:id="rId14"/>
    <p:sldId id="453" r:id="rId15"/>
    <p:sldId id="295" r:id="rId16"/>
    <p:sldId id="281" r:id="rId17"/>
    <p:sldId id="273" r:id="rId18"/>
    <p:sldId id="341" r:id="rId19"/>
    <p:sldId id="448" r:id="rId20"/>
    <p:sldId id="451" r:id="rId21"/>
    <p:sldId id="337" r:id="rId22"/>
    <p:sldId id="296" r:id="rId23"/>
    <p:sldId id="450" r:id="rId24"/>
    <p:sldId id="452" r:id="rId25"/>
    <p:sldId id="45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653D8-8B79-4C4D-85F4-3DC6A18B7E03}" v="19" dt="2025-02-25T07:19:23.286"/>
    <p1510:client id="{45F977AE-7E8C-4D6A-BCFC-9CDBD457DF20}" v="3" dt="2025-02-25T07:57:25.0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770" autoAdjust="0"/>
  </p:normalViewPr>
  <p:slideViewPr>
    <p:cSldViewPr>
      <p:cViewPr varScale="1">
        <p:scale>
          <a:sx n="58" d="100"/>
          <a:sy n="58" d="100"/>
        </p:scale>
        <p:origin x="152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rram Iqbal" userId="af32904b-6c78-4cff-8330-5f3a20d540de" providerId="ADAL" clId="{45F977AE-7E8C-4D6A-BCFC-9CDBD457DF20}"/>
    <pc:docChg chg="undo custSel modSld">
      <pc:chgData name="Khurram Iqbal" userId="af32904b-6c78-4cff-8330-5f3a20d540de" providerId="ADAL" clId="{45F977AE-7E8C-4D6A-BCFC-9CDBD457DF20}" dt="2025-02-25T07:57:25.020" v="9"/>
      <pc:docMkLst>
        <pc:docMk/>
      </pc:docMkLst>
      <pc:sldChg chg="addSp delSp modSp mod setBg">
        <pc:chgData name="Khurram Iqbal" userId="af32904b-6c78-4cff-8330-5f3a20d540de" providerId="ADAL" clId="{45F977AE-7E8C-4D6A-BCFC-9CDBD457DF20}" dt="2025-02-25T07:53:10.926" v="2" actId="26606"/>
        <pc:sldMkLst>
          <pc:docMk/>
          <pc:sldMk cId="307388253" sldId="257"/>
        </pc:sldMkLst>
        <pc:spChg chg="mod">
          <ac:chgData name="Khurram Iqbal" userId="af32904b-6c78-4cff-8330-5f3a20d540de" providerId="ADAL" clId="{45F977AE-7E8C-4D6A-BCFC-9CDBD457DF20}" dt="2025-02-25T07:53:10.926" v="2" actId="26606"/>
          <ac:spMkLst>
            <pc:docMk/>
            <pc:sldMk cId="307388253" sldId="257"/>
            <ac:spMk id="2" creationId="{00000000-0000-0000-0000-000000000000}"/>
          </ac:spMkLst>
        </pc:spChg>
        <pc:spChg chg="add del">
          <ac:chgData name="Khurram Iqbal" userId="af32904b-6c78-4cff-8330-5f3a20d540de" providerId="ADAL" clId="{45F977AE-7E8C-4D6A-BCFC-9CDBD457DF20}" dt="2025-02-25T07:53:10.926" v="2" actId="26606"/>
          <ac:spMkLst>
            <pc:docMk/>
            <pc:sldMk cId="307388253" sldId="257"/>
            <ac:spMk id="3" creationId="{00000000-0000-0000-0000-000000000000}"/>
          </ac:spMkLst>
        </pc:spChg>
        <pc:spChg chg="add del">
          <ac:chgData name="Khurram Iqbal" userId="af32904b-6c78-4cff-8330-5f3a20d540de" providerId="ADAL" clId="{45F977AE-7E8C-4D6A-BCFC-9CDBD457DF20}" dt="2025-02-25T07:53:10.895" v="1" actId="26606"/>
          <ac:spMkLst>
            <pc:docMk/>
            <pc:sldMk cId="307388253" sldId="257"/>
            <ac:spMk id="9" creationId="{BACC6370-2D7E-4714-9D71-7542949D7D5D}"/>
          </ac:spMkLst>
        </pc:spChg>
        <pc:spChg chg="add del">
          <ac:chgData name="Khurram Iqbal" userId="af32904b-6c78-4cff-8330-5f3a20d540de" providerId="ADAL" clId="{45F977AE-7E8C-4D6A-BCFC-9CDBD457DF20}" dt="2025-02-25T07:53:10.895" v="1" actId="26606"/>
          <ac:spMkLst>
            <pc:docMk/>
            <pc:sldMk cId="307388253" sldId="257"/>
            <ac:spMk id="11" creationId="{256B2C21-A230-48C0-8DF1-C46611373C44}"/>
          </ac:spMkLst>
        </pc:spChg>
        <pc:spChg chg="add del">
          <ac:chgData name="Khurram Iqbal" userId="af32904b-6c78-4cff-8330-5f3a20d540de" providerId="ADAL" clId="{45F977AE-7E8C-4D6A-BCFC-9CDBD457DF20}" dt="2025-02-25T07:53:10.895" v="1" actId="26606"/>
          <ac:spMkLst>
            <pc:docMk/>
            <pc:sldMk cId="307388253" sldId="257"/>
            <ac:spMk id="13" creationId="{3847E18C-932D-4C95-AABA-FEC7C9499AD7}"/>
          </ac:spMkLst>
        </pc:spChg>
        <pc:spChg chg="add del">
          <ac:chgData name="Khurram Iqbal" userId="af32904b-6c78-4cff-8330-5f3a20d540de" providerId="ADAL" clId="{45F977AE-7E8C-4D6A-BCFC-9CDBD457DF20}" dt="2025-02-25T07:53:10.895" v="1" actId="26606"/>
          <ac:spMkLst>
            <pc:docMk/>
            <pc:sldMk cId="307388253" sldId="257"/>
            <ac:spMk id="15" creationId="{3150CB11-0C61-439E-910F-5787759E72A0}"/>
          </ac:spMkLst>
        </pc:spChg>
        <pc:spChg chg="add del">
          <ac:chgData name="Khurram Iqbal" userId="af32904b-6c78-4cff-8330-5f3a20d540de" providerId="ADAL" clId="{45F977AE-7E8C-4D6A-BCFC-9CDBD457DF20}" dt="2025-02-25T07:53:10.895" v="1" actId="26606"/>
          <ac:spMkLst>
            <pc:docMk/>
            <pc:sldMk cId="307388253" sldId="257"/>
            <ac:spMk id="17" creationId="{43F8A58B-5155-44CE-A5FF-7647B47D0A7A}"/>
          </ac:spMkLst>
        </pc:spChg>
        <pc:spChg chg="add del">
          <ac:chgData name="Khurram Iqbal" userId="af32904b-6c78-4cff-8330-5f3a20d540de" providerId="ADAL" clId="{45F977AE-7E8C-4D6A-BCFC-9CDBD457DF20}" dt="2025-02-25T07:53:10.895" v="1" actId="26606"/>
          <ac:spMkLst>
            <pc:docMk/>
            <pc:sldMk cId="307388253" sldId="257"/>
            <ac:spMk id="19" creationId="{443F2ACA-E6D6-4028-82DD-F03C262D5DE6}"/>
          </ac:spMkLst>
        </pc:spChg>
        <pc:spChg chg="add">
          <ac:chgData name="Khurram Iqbal" userId="af32904b-6c78-4cff-8330-5f3a20d540de" providerId="ADAL" clId="{45F977AE-7E8C-4D6A-BCFC-9CDBD457DF20}" dt="2025-02-25T07:53:10.926" v="2" actId="26606"/>
          <ac:spMkLst>
            <pc:docMk/>
            <pc:sldMk cId="307388253" sldId="257"/>
            <ac:spMk id="21" creationId="{2E442304-DDBD-4F7B-8017-36BCC863FB40}"/>
          </ac:spMkLst>
        </pc:spChg>
        <pc:spChg chg="add">
          <ac:chgData name="Khurram Iqbal" userId="af32904b-6c78-4cff-8330-5f3a20d540de" providerId="ADAL" clId="{45F977AE-7E8C-4D6A-BCFC-9CDBD457DF20}" dt="2025-02-25T07:53:10.926" v="2" actId="26606"/>
          <ac:spMkLst>
            <pc:docMk/>
            <pc:sldMk cId="307388253" sldId="257"/>
            <ac:spMk id="22" creationId="{5E107275-3853-46FD-A241-DE4355A42675}"/>
          </ac:spMkLst>
        </pc:spChg>
        <pc:graphicFrameChg chg="add del">
          <ac:chgData name="Khurram Iqbal" userId="af32904b-6c78-4cff-8330-5f3a20d540de" providerId="ADAL" clId="{45F977AE-7E8C-4D6A-BCFC-9CDBD457DF20}" dt="2025-02-25T07:53:10.895" v="1" actId="26606"/>
          <ac:graphicFrameMkLst>
            <pc:docMk/>
            <pc:sldMk cId="307388253" sldId="257"/>
            <ac:graphicFrameMk id="5" creationId="{46891E23-CB93-2317-C4A8-5B801B38E12F}"/>
          </ac:graphicFrameMkLst>
        </pc:graphicFrameChg>
        <pc:graphicFrameChg chg="add">
          <ac:chgData name="Khurram Iqbal" userId="af32904b-6c78-4cff-8330-5f3a20d540de" providerId="ADAL" clId="{45F977AE-7E8C-4D6A-BCFC-9CDBD457DF20}" dt="2025-02-25T07:53:10.926" v="2" actId="26606"/>
          <ac:graphicFrameMkLst>
            <pc:docMk/>
            <pc:sldMk cId="307388253" sldId="257"/>
            <ac:graphicFrameMk id="23" creationId="{ECD46CE2-A96F-B27F-63F6-A0822507D43A}"/>
          </ac:graphicFrameMkLst>
        </pc:graphicFrameChg>
      </pc:sldChg>
      <pc:sldChg chg="delSp modAnim">
        <pc:chgData name="Khurram Iqbal" userId="af32904b-6c78-4cff-8330-5f3a20d540de" providerId="ADAL" clId="{45F977AE-7E8C-4D6A-BCFC-9CDBD457DF20}" dt="2025-02-25T07:57:25.020" v="9"/>
        <pc:sldMkLst>
          <pc:docMk/>
          <pc:sldMk cId="1482850785" sldId="335"/>
        </pc:sldMkLst>
        <pc:picChg chg="del">
          <ac:chgData name="Khurram Iqbal" userId="af32904b-6c78-4cff-8330-5f3a20d540de" providerId="ADAL" clId="{45F977AE-7E8C-4D6A-BCFC-9CDBD457DF20}" dt="2025-02-25T07:57:17.306" v="8" actId="478"/>
          <ac:picMkLst>
            <pc:docMk/>
            <pc:sldMk cId="1482850785" sldId="335"/>
            <ac:picMk id="1025" creationId="{340EBEAA-ED56-C877-D540-0F88FFC8B7B6}"/>
          </ac:picMkLst>
        </pc:picChg>
        <pc:picChg chg="del">
          <ac:chgData name="Khurram Iqbal" userId="af32904b-6c78-4cff-8330-5f3a20d540de" providerId="ADAL" clId="{45F977AE-7E8C-4D6A-BCFC-9CDBD457DF20}" dt="2025-02-25T07:57:13.993" v="7" actId="478"/>
          <ac:picMkLst>
            <pc:docMk/>
            <pc:sldMk cId="1482850785" sldId="335"/>
            <ac:picMk id="1026" creationId="{FF5CBEF9-31C6-496A-0D9F-FC8E81868034}"/>
          </ac:picMkLst>
        </pc:picChg>
      </pc:sldChg>
      <pc:sldChg chg="modSp mod">
        <pc:chgData name="Khurram Iqbal" userId="af32904b-6c78-4cff-8330-5f3a20d540de" providerId="ADAL" clId="{45F977AE-7E8C-4D6A-BCFC-9CDBD457DF20}" dt="2025-02-25T07:53:53.143" v="6" actId="207"/>
        <pc:sldMkLst>
          <pc:docMk/>
          <pc:sldMk cId="0" sldId="408"/>
        </pc:sldMkLst>
        <pc:spChg chg="mod">
          <ac:chgData name="Khurram Iqbal" userId="af32904b-6c78-4cff-8330-5f3a20d540de" providerId="ADAL" clId="{45F977AE-7E8C-4D6A-BCFC-9CDBD457DF20}" dt="2025-02-25T07:53:43.945" v="4" actId="113"/>
          <ac:spMkLst>
            <pc:docMk/>
            <pc:sldMk cId="0" sldId="408"/>
            <ac:spMk id="19460" creationId="{FC3321B9-E6FC-9654-BCA7-4317520A2182}"/>
          </ac:spMkLst>
        </pc:spChg>
        <pc:spChg chg="mod">
          <ac:chgData name="Khurram Iqbal" userId="af32904b-6c78-4cff-8330-5f3a20d540de" providerId="ADAL" clId="{45F977AE-7E8C-4D6A-BCFC-9CDBD457DF20}" dt="2025-02-25T07:53:53.143" v="6" actId="207"/>
          <ac:spMkLst>
            <pc:docMk/>
            <pc:sldMk cId="0" sldId="408"/>
            <ac:spMk id="19464" creationId="{D53DF379-2483-229B-32F8-06C24464ABF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4CE017-4C05-4857-A560-0953395C5F5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8E68589-C7F8-4AFA-AD95-1A56F4C8F1DF}">
      <dgm:prSet/>
      <dgm:spPr/>
      <dgm:t>
        <a:bodyPr/>
        <a:lstStyle/>
        <a:p>
          <a:r>
            <a:rPr lang="en-US"/>
            <a:t>Trace a Program Execution</a:t>
          </a:r>
        </a:p>
      </dgm:t>
    </dgm:pt>
    <dgm:pt modelId="{8C94EBB9-0A1C-4D7E-BC17-06DDAE5815D0}" type="parTrans" cxnId="{158BF403-F36A-45B5-99F7-64D36D5653B2}">
      <dgm:prSet/>
      <dgm:spPr/>
      <dgm:t>
        <a:bodyPr/>
        <a:lstStyle/>
        <a:p>
          <a:endParaRPr lang="en-US"/>
        </a:p>
      </dgm:t>
    </dgm:pt>
    <dgm:pt modelId="{2CD7D5E9-604D-4E21-83B6-61649E0EDEEF}" type="sibTrans" cxnId="{158BF403-F36A-45B5-99F7-64D36D5653B2}">
      <dgm:prSet/>
      <dgm:spPr/>
      <dgm:t>
        <a:bodyPr/>
        <a:lstStyle/>
        <a:p>
          <a:endParaRPr lang="en-US"/>
        </a:p>
      </dgm:t>
    </dgm:pt>
    <dgm:pt modelId="{0F129BBE-DEF3-4813-83FB-B0BC5CE7FFCE}">
      <dgm:prSet/>
      <dgm:spPr/>
      <dgm:t>
        <a:bodyPr/>
        <a:lstStyle/>
        <a:p>
          <a:r>
            <a:rPr lang="en-US"/>
            <a:t>Variables, Constants</a:t>
          </a:r>
        </a:p>
      </dgm:t>
    </dgm:pt>
    <dgm:pt modelId="{F572B9E1-7BFF-461B-BC5E-07566860FD66}" type="parTrans" cxnId="{D53CF231-8223-4E14-AA1C-BB88BDA246BB}">
      <dgm:prSet/>
      <dgm:spPr/>
      <dgm:t>
        <a:bodyPr/>
        <a:lstStyle/>
        <a:p>
          <a:endParaRPr lang="en-US"/>
        </a:p>
      </dgm:t>
    </dgm:pt>
    <dgm:pt modelId="{8D3ADE74-CE43-437C-86C7-753125191823}" type="sibTrans" cxnId="{D53CF231-8223-4E14-AA1C-BB88BDA246BB}">
      <dgm:prSet/>
      <dgm:spPr/>
      <dgm:t>
        <a:bodyPr/>
        <a:lstStyle/>
        <a:p>
          <a:endParaRPr lang="en-US"/>
        </a:p>
      </dgm:t>
    </dgm:pt>
    <dgm:pt modelId="{601BCF51-EF03-49E9-8441-B88EF1693894}">
      <dgm:prSet/>
      <dgm:spPr/>
      <dgm:t>
        <a:bodyPr/>
        <a:lstStyle/>
        <a:p>
          <a:r>
            <a:rPr lang="en-US"/>
            <a:t>Standard Output Stream Object (System.out)</a:t>
          </a:r>
        </a:p>
      </dgm:t>
    </dgm:pt>
    <dgm:pt modelId="{EB3586F7-07C9-4233-AD44-7A80117BC0E1}" type="parTrans" cxnId="{558EDFC6-8BFA-4BC6-A312-FBD2D6D27C35}">
      <dgm:prSet/>
      <dgm:spPr/>
      <dgm:t>
        <a:bodyPr/>
        <a:lstStyle/>
        <a:p>
          <a:endParaRPr lang="en-US"/>
        </a:p>
      </dgm:t>
    </dgm:pt>
    <dgm:pt modelId="{E7C42B65-D005-4636-A921-938068B6A2B3}" type="sibTrans" cxnId="{558EDFC6-8BFA-4BC6-A312-FBD2D6D27C35}">
      <dgm:prSet/>
      <dgm:spPr/>
      <dgm:t>
        <a:bodyPr/>
        <a:lstStyle/>
        <a:p>
          <a:endParaRPr lang="en-US"/>
        </a:p>
      </dgm:t>
    </dgm:pt>
    <dgm:pt modelId="{236403F0-8559-4AE5-A688-3A460208A549}">
      <dgm:prSet/>
      <dgm:spPr/>
      <dgm:t>
        <a:bodyPr/>
        <a:lstStyle/>
        <a:p>
          <a:r>
            <a:rPr lang="en-US"/>
            <a:t>Reading Input using the Scanner class</a:t>
          </a:r>
        </a:p>
      </dgm:t>
    </dgm:pt>
    <dgm:pt modelId="{886A2C34-AA85-4656-B2FE-FEF99FD074B2}" type="parTrans" cxnId="{FB95396D-BA53-4C97-AC63-EF2441277ACE}">
      <dgm:prSet/>
      <dgm:spPr/>
      <dgm:t>
        <a:bodyPr/>
        <a:lstStyle/>
        <a:p>
          <a:endParaRPr lang="en-US"/>
        </a:p>
      </dgm:t>
    </dgm:pt>
    <dgm:pt modelId="{F73277DB-9516-4F11-9927-EFB0487CB487}" type="sibTrans" cxnId="{FB95396D-BA53-4C97-AC63-EF2441277ACE}">
      <dgm:prSet/>
      <dgm:spPr/>
      <dgm:t>
        <a:bodyPr/>
        <a:lstStyle/>
        <a:p>
          <a:endParaRPr lang="en-US"/>
        </a:p>
      </dgm:t>
    </dgm:pt>
    <dgm:pt modelId="{F9212934-6D8A-4489-A12A-EBFD4322370A}">
      <dgm:prSet/>
      <dgm:spPr/>
      <dgm:t>
        <a:bodyPr/>
        <a:lstStyle/>
        <a:p>
          <a:r>
            <a:rPr lang="en-US"/>
            <a:t>Package, Classes, Methods and import</a:t>
          </a:r>
        </a:p>
      </dgm:t>
    </dgm:pt>
    <dgm:pt modelId="{03365E05-6861-4C55-8E6E-3898D4247E2C}" type="parTrans" cxnId="{B0A0AD2D-119C-42D4-9FE9-A14CD87AF4B9}">
      <dgm:prSet/>
      <dgm:spPr/>
      <dgm:t>
        <a:bodyPr/>
        <a:lstStyle/>
        <a:p>
          <a:endParaRPr lang="en-US"/>
        </a:p>
      </dgm:t>
    </dgm:pt>
    <dgm:pt modelId="{BB68C4FB-EEA2-4337-AA8E-29747C91FBBC}" type="sibTrans" cxnId="{B0A0AD2D-119C-42D4-9FE9-A14CD87AF4B9}">
      <dgm:prSet/>
      <dgm:spPr/>
      <dgm:t>
        <a:bodyPr/>
        <a:lstStyle/>
        <a:p>
          <a:endParaRPr lang="en-US"/>
        </a:p>
      </dgm:t>
    </dgm:pt>
    <dgm:pt modelId="{830E080E-D0FC-4509-8861-3AC25F9DAEE7}" type="pres">
      <dgm:prSet presAssocID="{714CE017-4C05-4857-A560-0953395C5F52}" presName="linear" presStyleCnt="0">
        <dgm:presLayoutVars>
          <dgm:animLvl val="lvl"/>
          <dgm:resizeHandles val="exact"/>
        </dgm:presLayoutVars>
      </dgm:prSet>
      <dgm:spPr/>
    </dgm:pt>
    <dgm:pt modelId="{6901DACB-424C-49A3-8E6A-A2DCD2E21833}" type="pres">
      <dgm:prSet presAssocID="{48E68589-C7F8-4AFA-AD95-1A56F4C8F1DF}" presName="parentText" presStyleLbl="node1" presStyleIdx="0" presStyleCnt="5">
        <dgm:presLayoutVars>
          <dgm:chMax val="0"/>
          <dgm:bulletEnabled val="1"/>
        </dgm:presLayoutVars>
      </dgm:prSet>
      <dgm:spPr/>
    </dgm:pt>
    <dgm:pt modelId="{F79C6B2A-2295-409A-8CF2-8B0213B07224}" type="pres">
      <dgm:prSet presAssocID="{2CD7D5E9-604D-4E21-83B6-61649E0EDEEF}" presName="spacer" presStyleCnt="0"/>
      <dgm:spPr/>
    </dgm:pt>
    <dgm:pt modelId="{8FB7EB5C-1E8A-498E-B792-D6AE112C316B}" type="pres">
      <dgm:prSet presAssocID="{0F129BBE-DEF3-4813-83FB-B0BC5CE7FFCE}" presName="parentText" presStyleLbl="node1" presStyleIdx="1" presStyleCnt="5">
        <dgm:presLayoutVars>
          <dgm:chMax val="0"/>
          <dgm:bulletEnabled val="1"/>
        </dgm:presLayoutVars>
      </dgm:prSet>
      <dgm:spPr/>
    </dgm:pt>
    <dgm:pt modelId="{C7D90611-F6FF-4BE2-A1AB-B89F5A8D39E0}" type="pres">
      <dgm:prSet presAssocID="{8D3ADE74-CE43-437C-86C7-753125191823}" presName="spacer" presStyleCnt="0"/>
      <dgm:spPr/>
    </dgm:pt>
    <dgm:pt modelId="{36CF7AE5-3AAE-47ED-A0EF-20F87802382F}" type="pres">
      <dgm:prSet presAssocID="{601BCF51-EF03-49E9-8441-B88EF1693894}" presName="parentText" presStyleLbl="node1" presStyleIdx="2" presStyleCnt="5">
        <dgm:presLayoutVars>
          <dgm:chMax val="0"/>
          <dgm:bulletEnabled val="1"/>
        </dgm:presLayoutVars>
      </dgm:prSet>
      <dgm:spPr/>
    </dgm:pt>
    <dgm:pt modelId="{F132D9B7-EF2B-4696-B68B-9967C1B4CCB4}" type="pres">
      <dgm:prSet presAssocID="{E7C42B65-D005-4636-A921-938068B6A2B3}" presName="spacer" presStyleCnt="0"/>
      <dgm:spPr/>
    </dgm:pt>
    <dgm:pt modelId="{57CE0F1A-447A-4303-9279-D24F5978EA09}" type="pres">
      <dgm:prSet presAssocID="{236403F0-8559-4AE5-A688-3A460208A549}" presName="parentText" presStyleLbl="node1" presStyleIdx="3" presStyleCnt="5">
        <dgm:presLayoutVars>
          <dgm:chMax val="0"/>
          <dgm:bulletEnabled val="1"/>
        </dgm:presLayoutVars>
      </dgm:prSet>
      <dgm:spPr/>
    </dgm:pt>
    <dgm:pt modelId="{E81BAC40-8EBB-4130-9F6B-B1DBAFD9F622}" type="pres">
      <dgm:prSet presAssocID="{F73277DB-9516-4F11-9927-EFB0487CB487}" presName="spacer" presStyleCnt="0"/>
      <dgm:spPr/>
    </dgm:pt>
    <dgm:pt modelId="{0F355E8D-186F-4970-BFA9-E831340BA87C}" type="pres">
      <dgm:prSet presAssocID="{F9212934-6D8A-4489-A12A-EBFD4322370A}" presName="parentText" presStyleLbl="node1" presStyleIdx="4" presStyleCnt="5">
        <dgm:presLayoutVars>
          <dgm:chMax val="0"/>
          <dgm:bulletEnabled val="1"/>
        </dgm:presLayoutVars>
      </dgm:prSet>
      <dgm:spPr/>
    </dgm:pt>
  </dgm:ptLst>
  <dgm:cxnLst>
    <dgm:cxn modelId="{158BF403-F36A-45B5-99F7-64D36D5653B2}" srcId="{714CE017-4C05-4857-A560-0953395C5F52}" destId="{48E68589-C7F8-4AFA-AD95-1A56F4C8F1DF}" srcOrd="0" destOrd="0" parTransId="{8C94EBB9-0A1C-4D7E-BC17-06DDAE5815D0}" sibTransId="{2CD7D5E9-604D-4E21-83B6-61649E0EDEEF}"/>
    <dgm:cxn modelId="{04A1DC04-B5B2-4D91-80D1-884E82EB8621}" type="presOf" srcId="{0F129BBE-DEF3-4813-83FB-B0BC5CE7FFCE}" destId="{8FB7EB5C-1E8A-498E-B792-D6AE112C316B}" srcOrd="0" destOrd="0" presId="urn:microsoft.com/office/officeart/2005/8/layout/vList2"/>
    <dgm:cxn modelId="{648E0023-0095-4996-8984-4D3A1163B7D1}" type="presOf" srcId="{714CE017-4C05-4857-A560-0953395C5F52}" destId="{830E080E-D0FC-4509-8861-3AC25F9DAEE7}" srcOrd="0" destOrd="0" presId="urn:microsoft.com/office/officeart/2005/8/layout/vList2"/>
    <dgm:cxn modelId="{B0A0AD2D-119C-42D4-9FE9-A14CD87AF4B9}" srcId="{714CE017-4C05-4857-A560-0953395C5F52}" destId="{F9212934-6D8A-4489-A12A-EBFD4322370A}" srcOrd="4" destOrd="0" parTransId="{03365E05-6861-4C55-8E6E-3898D4247E2C}" sibTransId="{BB68C4FB-EEA2-4337-AA8E-29747C91FBBC}"/>
    <dgm:cxn modelId="{C0CBCC2E-9890-44B0-BE5D-54F2D183D582}" type="presOf" srcId="{601BCF51-EF03-49E9-8441-B88EF1693894}" destId="{36CF7AE5-3AAE-47ED-A0EF-20F87802382F}" srcOrd="0" destOrd="0" presId="urn:microsoft.com/office/officeart/2005/8/layout/vList2"/>
    <dgm:cxn modelId="{D53CF231-8223-4E14-AA1C-BB88BDA246BB}" srcId="{714CE017-4C05-4857-A560-0953395C5F52}" destId="{0F129BBE-DEF3-4813-83FB-B0BC5CE7FFCE}" srcOrd="1" destOrd="0" parTransId="{F572B9E1-7BFF-461B-BC5E-07566860FD66}" sibTransId="{8D3ADE74-CE43-437C-86C7-753125191823}"/>
    <dgm:cxn modelId="{FB95396D-BA53-4C97-AC63-EF2441277ACE}" srcId="{714CE017-4C05-4857-A560-0953395C5F52}" destId="{236403F0-8559-4AE5-A688-3A460208A549}" srcOrd="3" destOrd="0" parTransId="{886A2C34-AA85-4656-B2FE-FEF99FD074B2}" sibTransId="{F73277DB-9516-4F11-9927-EFB0487CB487}"/>
    <dgm:cxn modelId="{FF753CB9-2D3F-4B04-A9AD-5570F46BEEE9}" type="presOf" srcId="{236403F0-8559-4AE5-A688-3A460208A549}" destId="{57CE0F1A-447A-4303-9279-D24F5978EA09}" srcOrd="0" destOrd="0" presId="urn:microsoft.com/office/officeart/2005/8/layout/vList2"/>
    <dgm:cxn modelId="{520DF5B9-49CD-428D-B10F-AD5FFA6F39A4}" type="presOf" srcId="{48E68589-C7F8-4AFA-AD95-1A56F4C8F1DF}" destId="{6901DACB-424C-49A3-8E6A-A2DCD2E21833}" srcOrd="0" destOrd="0" presId="urn:microsoft.com/office/officeart/2005/8/layout/vList2"/>
    <dgm:cxn modelId="{558EDFC6-8BFA-4BC6-A312-FBD2D6D27C35}" srcId="{714CE017-4C05-4857-A560-0953395C5F52}" destId="{601BCF51-EF03-49E9-8441-B88EF1693894}" srcOrd="2" destOrd="0" parTransId="{EB3586F7-07C9-4233-AD44-7A80117BC0E1}" sibTransId="{E7C42B65-D005-4636-A921-938068B6A2B3}"/>
    <dgm:cxn modelId="{823188DB-F716-4F8F-8153-31E74322DD83}" type="presOf" srcId="{F9212934-6D8A-4489-A12A-EBFD4322370A}" destId="{0F355E8D-186F-4970-BFA9-E831340BA87C}" srcOrd="0" destOrd="0" presId="urn:microsoft.com/office/officeart/2005/8/layout/vList2"/>
    <dgm:cxn modelId="{5DD96C2F-E822-4642-A41F-D40598C4C888}" type="presParOf" srcId="{830E080E-D0FC-4509-8861-3AC25F9DAEE7}" destId="{6901DACB-424C-49A3-8E6A-A2DCD2E21833}" srcOrd="0" destOrd="0" presId="urn:microsoft.com/office/officeart/2005/8/layout/vList2"/>
    <dgm:cxn modelId="{192130F1-5F2C-44E7-BF11-9D477F5B7FFD}" type="presParOf" srcId="{830E080E-D0FC-4509-8861-3AC25F9DAEE7}" destId="{F79C6B2A-2295-409A-8CF2-8B0213B07224}" srcOrd="1" destOrd="0" presId="urn:microsoft.com/office/officeart/2005/8/layout/vList2"/>
    <dgm:cxn modelId="{2057FF7F-8BCF-462B-9FB7-0F48270928FB}" type="presParOf" srcId="{830E080E-D0FC-4509-8861-3AC25F9DAEE7}" destId="{8FB7EB5C-1E8A-498E-B792-D6AE112C316B}" srcOrd="2" destOrd="0" presId="urn:microsoft.com/office/officeart/2005/8/layout/vList2"/>
    <dgm:cxn modelId="{B3F63FE0-65AB-46DF-89E0-E95819B3AB09}" type="presParOf" srcId="{830E080E-D0FC-4509-8861-3AC25F9DAEE7}" destId="{C7D90611-F6FF-4BE2-A1AB-B89F5A8D39E0}" srcOrd="3" destOrd="0" presId="urn:microsoft.com/office/officeart/2005/8/layout/vList2"/>
    <dgm:cxn modelId="{19DDDAF9-950E-4732-954C-478227AA0E18}" type="presParOf" srcId="{830E080E-D0FC-4509-8861-3AC25F9DAEE7}" destId="{36CF7AE5-3AAE-47ED-A0EF-20F87802382F}" srcOrd="4" destOrd="0" presId="urn:microsoft.com/office/officeart/2005/8/layout/vList2"/>
    <dgm:cxn modelId="{E4EE6F67-F34F-4755-B5DE-7AEC1B32F399}" type="presParOf" srcId="{830E080E-D0FC-4509-8861-3AC25F9DAEE7}" destId="{F132D9B7-EF2B-4696-B68B-9967C1B4CCB4}" srcOrd="5" destOrd="0" presId="urn:microsoft.com/office/officeart/2005/8/layout/vList2"/>
    <dgm:cxn modelId="{DAB1AEAB-F4CB-478C-966E-ABE4F1EC30D2}" type="presParOf" srcId="{830E080E-D0FC-4509-8861-3AC25F9DAEE7}" destId="{57CE0F1A-447A-4303-9279-D24F5978EA09}" srcOrd="6" destOrd="0" presId="urn:microsoft.com/office/officeart/2005/8/layout/vList2"/>
    <dgm:cxn modelId="{5323F597-FD61-48D7-83AA-BB5588A2662A}" type="presParOf" srcId="{830E080E-D0FC-4509-8861-3AC25F9DAEE7}" destId="{E81BAC40-8EBB-4130-9F6B-B1DBAFD9F622}" srcOrd="7" destOrd="0" presId="urn:microsoft.com/office/officeart/2005/8/layout/vList2"/>
    <dgm:cxn modelId="{7584D6B3-EF9E-4B7E-96F5-51824D4D7985}" type="presParOf" srcId="{830E080E-D0FC-4509-8861-3AC25F9DAEE7}" destId="{0F355E8D-186F-4970-BFA9-E831340BA87C}"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01DACB-424C-49A3-8E6A-A2DCD2E21833}">
      <dsp:nvSpPr>
        <dsp:cNvPr id="0" name=""/>
        <dsp:cNvSpPr/>
      </dsp:nvSpPr>
      <dsp:spPr>
        <a:xfrm>
          <a:off x="0" y="36175"/>
          <a:ext cx="5175384" cy="103285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Trace a Program Execution</a:t>
          </a:r>
        </a:p>
      </dsp:txBody>
      <dsp:txXfrm>
        <a:off x="50420" y="86595"/>
        <a:ext cx="5074544" cy="932014"/>
      </dsp:txXfrm>
    </dsp:sp>
    <dsp:sp modelId="{8FB7EB5C-1E8A-498E-B792-D6AE112C316B}">
      <dsp:nvSpPr>
        <dsp:cNvPr id="0" name=""/>
        <dsp:cNvSpPr/>
      </dsp:nvSpPr>
      <dsp:spPr>
        <a:xfrm>
          <a:off x="0" y="1143909"/>
          <a:ext cx="5175384" cy="1032854"/>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Variables, Constants</a:t>
          </a:r>
        </a:p>
      </dsp:txBody>
      <dsp:txXfrm>
        <a:off x="50420" y="1194329"/>
        <a:ext cx="5074544" cy="932014"/>
      </dsp:txXfrm>
    </dsp:sp>
    <dsp:sp modelId="{36CF7AE5-3AAE-47ED-A0EF-20F87802382F}">
      <dsp:nvSpPr>
        <dsp:cNvPr id="0" name=""/>
        <dsp:cNvSpPr/>
      </dsp:nvSpPr>
      <dsp:spPr>
        <a:xfrm>
          <a:off x="0" y="2251643"/>
          <a:ext cx="5175384" cy="1032854"/>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Standard Output Stream Object (System.out)</a:t>
          </a:r>
        </a:p>
      </dsp:txBody>
      <dsp:txXfrm>
        <a:off x="50420" y="2302063"/>
        <a:ext cx="5074544" cy="932014"/>
      </dsp:txXfrm>
    </dsp:sp>
    <dsp:sp modelId="{57CE0F1A-447A-4303-9279-D24F5978EA09}">
      <dsp:nvSpPr>
        <dsp:cNvPr id="0" name=""/>
        <dsp:cNvSpPr/>
      </dsp:nvSpPr>
      <dsp:spPr>
        <a:xfrm>
          <a:off x="0" y="3359377"/>
          <a:ext cx="5175384" cy="1032854"/>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Reading Input using the Scanner class</a:t>
          </a:r>
        </a:p>
      </dsp:txBody>
      <dsp:txXfrm>
        <a:off x="50420" y="3409797"/>
        <a:ext cx="5074544" cy="932014"/>
      </dsp:txXfrm>
    </dsp:sp>
    <dsp:sp modelId="{0F355E8D-186F-4970-BFA9-E831340BA87C}">
      <dsp:nvSpPr>
        <dsp:cNvPr id="0" name=""/>
        <dsp:cNvSpPr/>
      </dsp:nvSpPr>
      <dsp:spPr>
        <a:xfrm>
          <a:off x="0" y="4467111"/>
          <a:ext cx="5175384" cy="1032854"/>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Package, Classes, Methods and import</a:t>
          </a:r>
        </a:p>
      </dsp:txBody>
      <dsp:txXfrm>
        <a:off x="50420" y="4517531"/>
        <a:ext cx="5074544" cy="9320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016B81-293F-432D-A7DB-6B4EFD58CD03}" type="datetimeFigureOut">
              <a:rPr lang="en-US" smtClean="0"/>
              <a:t>2/25/2025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3A60CD-DC3B-499F-A9F7-16F2CF058DCD}" type="slidenum">
              <a:rPr lang="en-US" smtClean="0"/>
              <a:t>‹#›</a:t>
            </a:fld>
            <a:endParaRPr lang="en-US"/>
          </a:p>
        </p:txBody>
      </p:sp>
    </p:spTree>
    <p:extLst>
      <p:ext uri="{BB962C8B-B14F-4D97-AF65-F5344CB8AC3E}">
        <p14:creationId xmlns:p14="http://schemas.microsoft.com/office/powerpoint/2010/main" val="2779020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3A60CD-DC3B-499F-A9F7-16F2CF058DCD}" type="slidenum">
              <a:rPr lang="en-US" smtClean="0"/>
              <a:t>1</a:t>
            </a:fld>
            <a:endParaRPr lang="en-US"/>
          </a:p>
        </p:txBody>
      </p:sp>
    </p:spTree>
    <p:extLst>
      <p:ext uri="{BB962C8B-B14F-4D97-AF65-F5344CB8AC3E}">
        <p14:creationId xmlns:p14="http://schemas.microsoft.com/office/powerpoint/2010/main" val="3622314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3A60CD-DC3B-499F-A9F7-16F2CF058DCD}" type="slidenum">
              <a:rPr lang="en-US" smtClean="0"/>
              <a:t>2</a:t>
            </a:fld>
            <a:endParaRPr lang="en-US"/>
          </a:p>
        </p:txBody>
      </p:sp>
    </p:spTree>
    <p:extLst>
      <p:ext uri="{BB962C8B-B14F-4D97-AF65-F5344CB8AC3E}">
        <p14:creationId xmlns:p14="http://schemas.microsoft.com/office/powerpoint/2010/main" val="509107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6C90FD58-78A7-247A-A0BC-55AD2AB8606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Rectangle 3">
            <a:extLst>
              <a:ext uri="{FF2B5EF4-FFF2-40B4-BE49-F238E27FC236}">
                <a16:creationId xmlns:a16="http://schemas.microsoft.com/office/drawing/2014/main" id="{FC85AB9A-B38C-308F-9502-66757745AA4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71E53D8-0BB8-1DFD-ADA5-794FC3FF408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Rectangle 3">
            <a:extLst>
              <a:ext uri="{FF2B5EF4-FFF2-40B4-BE49-F238E27FC236}">
                <a16:creationId xmlns:a16="http://schemas.microsoft.com/office/drawing/2014/main" id="{96ED3611-6023-6ADF-0855-4F5AFB033B6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3A60CD-DC3B-499F-A9F7-16F2CF058DCD}" type="slidenum">
              <a:rPr lang="en-US" smtClean="0"/>
              <a:t>25</a:t>
            </a:fld>
            <a:endParaRPr lang="en-US"/>
          </a:p>
        </p:txBody>
      </p:sp>
    </p:spTree>
    <p:extLst>
      <p:ext uri="{BB962C8B-B14F-4D97-AF65-F5344CB8AC3E}">
        <p14:creationId xmlns:p14="http://schemas.microsoft.com/office/powerpoint/2010/main" val="2599411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7C4F55-6C10-566B-C8DE-39CE82462F7D}"/>
              </a:ext>
            </a:extLst>
          </p:cNvPr>
          <p:cNvPicPr>
            <a:picLocks noChangeAspect="1"/>
          </p:cNvPicPr>
          <p:nvPr/>
        </p:nvPicPr>
        <p:blipFill>
          <a:blip r:embed="rId3"/>
          <a:srcRect b="19"/>
          <a:stretch/>
        </p:blipFill>
        <p:spPr>
          <a:xfrm>
            <a:off x="20" y="1282"/>
            <a:ext cx="9143980" cy="6856718"/>
          </a:xfrm>
          <a:prstGeom prst="rect">
            <a:avLst/>
          </a:prstGeom>
        </p:spPr>
      </p:pic>
    </p:spTree>
    <p:extLst>
      <p:ext uri="{BB962C8B-B14F-4D97-AF65-F5344CB8AC3E}">
        <p14:creationId xmlns:p14="http://schemas.microsoft.com/office/powerpoint/2010/main" val="559856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700"/>
              <a:t>Lecture Outline</a:t>
            </a:r>
          </a:p>
        </p:txBody>
      </p:sp>
      <p:sp>
        <p:nvSpPr>
          <p:cNvPr id="2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Content Placeholder 2">
            <a:extLst>
              <a:ext uri="{FF2B5EF4-FFF2-40B4-BE49-F238E27FC236}">
                <a16:creationId xmlns:a16="http://schemas.microsoft.com/office/drawing/2014/main" id="{ECD46CE2-A96F-B27F-63F6-A0822507D43A}"/>
              </a:ext>
            </a:extLst>
          </p:cNvPr>
          <p:cNvGraphicFramePr>
            <a:graphicFrameLocks noGrp="1"/>
          </p:cNvGraphicFramePr>
          <p:nvPr>
            <p:ph idx="1"/>
            <p:extLst>
              <p:ext uri="{D42A27DB-BD31-4B8C-83A1-F6EECF244321}">
                <p14:modId xmlns:p14="http://schemas.microsoft.com/office/powerpoint/2010/main" val="1096890025"/>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388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4">
            <a:extLst>
              <a:ext uri="{FF2B5EF4-FFF2-40B4-BE49-F238E27FC236}">
                <a16:creationId xmlns:a16="http://schemas.microsoft.com/office/drawing/2014/main" id="{55D6714A-E1D1-0B93-C491-5EC56A94FBEE}"/>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CA7A699-A82B-4D23-98BE-3FD585A7E445}" type="slidenum">
              <a:rPr lang="en-US" altLang="en-US" sz="1400"/>
              <a:pPr>
                <a:spcBef>
                  <a:spcPct val="0"/>
                </a:spcBef>
                <a:buClrTx/>
                <a:buSzTx/>
                <a:buFontTx/>
                <a:buNone/>
              </a:pPr>
              <a:t>3</a:t>
            </a:fld>
            <a:endParaRPr lang="en-US" altLang="en-US" sz="1400"/>
          </a:p>
        </p:txBody>
      </p:sp>
      <p:sp>
        <p:nvSpPr>
          <p:cNvPr id="19458" name="Rectangle 2">
            <a:extLst>
              <a:ext uri="{FF2B5EF4-FFF2-40B4-BE49-F238E27FC236}">
                <a16:creationId xmlns:a16="http://schemas.microsoft.com/office/drawing/2014/main" id="{097AB145-E534-4799-B3D5-389234F97FA6}"/>
              </a:ext>
            </a:extLst>
          </p:cNvPr>
          <p:cNvSpPr>
            <a:spLocks noGrp="1" noChangeArrowheads="1"/>
          </p:cNvSpPr>
          <p:nvPr>
            <p:ph type="title"/>
          </p:nvPr>
        </p:nvSpPr>
        <p:spPr>
          <a:xfrm>
            <a:off x="685800" y="304800"/>
            <a:ext cx="7772400" cy="533400"/>
          </a:xfrm>
        </p:spPr>
        <p:txBody>
          <a:bodyPr>
            <a:normAutofit fontScale="90000"/>
          </a:bodyPr>
          <a:lstStyle/>
          <a:p>
            <a:r>
              <a:rPr lang="en-US" altLang="en-US" sz="4300" dirty="0"/>
              <a:t>Trace a Program Execution</a:t>
            </a:r>
          </a:p>
        </p:txBody>
      </p:sp>
      <p:sp>
        <p:nvSpPr>
          <p:cNvPr id="19459" name="Rectangle 3">
            <a:extLst>
              <a:ext uri="{FF2B5EF4-FFF2-40B4-BE49-F238E27FC236}">
                <a16:creationId xmlns:a16="http://schemas.microsoft.com/office/drawing/2014/main" id="{031E89D8-AC8A-A26E-77C8-475A84A7F94F}"/>
              </a:ext>
            </a:extLst>
          </p:cNvPr>
          <p:cNvSpPr>
            <a:spLocks noGrp="1" noChangeArrowheads="1"/>
          </p:cNvSpPr>
          <p:nvPr>
            <p:ph type="body" idx="1"/>
          </p:nvPr>
        </p:nvSpPr>
        <p:spPr>
          <a:xfrm>
            <a:off x="152400" y="1066800"/>
            <a:ext cx="5562600" cy="5181600"/>
          </a:xfrm>
        </p:spPr>
        <p:txBody>
          <a:bodyPr/>
          <a:lstStyle/>
          <a:p>
            <a:pPr>
              <a:lnSpc>
                <a:spcPct val="80000"/>
              </a:lnSpc>
              <a:buFont typeface="Monotype Sorts"/>
              <a:buNone/>
            </a:pPr>
            <a:r>
              <a:rPr lang="en-US" altLang="en-US" sz="1800"/>
              <a:t>public class ComputeArea {</a:t>
            </a:r>
          </a:p>
          <a:p>
            <a:pPr>
              <a:lnSpc>
                <a:spcPct val="80000"/>
              </a:lnSpc>
              <a:buFont typeface="Monotype Sorts"/>
              <a:buNone/>
            </a:pPr>
            <a:r>
              <a:rPr lang="en-US" altLang="en-US" sz="1800"/>
              <a:t>  /** Main method */</a:t>
            </a:r>
          </a:p>
          <a:p>
            <a:pPr>
              <a:lnSpc>
                <a:spcPct val="80000"/>
              </a:lnSpc>
              <a:buFont typeface="Monotype Sorts"/>
              <a:buNone/>
            </a:pPr>
            <a:r>
              <a:rPr lang="en-US" altLang="en-US" sz="1800"/>
              <a:t>  public static void main(String[] args) {</a:t>
            </a:r>
          </a:p>
          <a:p>
            <a:pPr>
              <a:lnSpc>
                <a:spcPct val="80000"/>
              </a:lnSpc>
              <a:buFont typeface="Monotype Sorts"/>
              <a:buNone/>
            </a:pPr>
            <a:r>
              <a:rPr lang="en-US" altLang="en-US" sz="1800"/>
              <a:t>    double radius;</a:t>
            </a:r>
          </a:p>
          <a:p>
            <a:pPr>
              <a:lnSpc>
                <a:spcPct val="80000"/>
              </a:lnSpc>
              <a:buFont typeface="Monotype Sorts"/>
              <a:buNone/>
            </a:pPr>
            <a:r>
              <a:rPr lang="en-US" altLang="en-US" sz="1800"/>
              <a:t>    double area;</a:t>
            </a:r>
          </a:p>
          <a:p>
            <a:pPr>
              <a:lnSpc>
                <a:spcPct val="80000"/>
              </a:lnSpc>
              <a:buFont typeface="Monotype Sorts"/>
              <a:buNone/>
            </a:pPr>
            <a:r>
              <a:rPr lang="en-US" altLang="en-US" sz="1800"/>
              <a:t>    </a:t>
            </a:r>
          </a:p>
          <a:p>
            <a:pPr>
              <a:lnSpc>
                <a:spcPct val="80000"/>
              </a:lnSpc>
              <a:buFont typeface="Monotype Sorts"/>
              <a:buNone/>
            </a:pPr>
            <a:r>
              <a:rPr lang="en-US" altLang="en-US" sz="1800"/>
              <a:t>    // Assign a radius</a:t>
            </a:r>
          </a:p>
          <a:p>
            <a:pPr>
              <a:lnSpc>
                <a:spcPct val="80000"/>
              </a:lnSpc>
              <a:buFont typeface="Monotype Sorts"/>
              <a:buNone/>
            </a:pPr>
            <a:r>
              <a:rPr lang="en-US" altLang="en-US" sz="1800"/>
              <a:t>    radius = 20;</a:t>
            </a:r>
          </a:p>
          <a:p>
            <a:pPr>
              <a:lnSpc>
                <a:spcPct val="80000"/>
              </a:lnSpc>
              <a:buFont typeface="Monotype Sorts"/>
              <a:buNone/>
            </a:pPr>
            <a:r>
              <a:rPr lang="en-US" altLang="en-US" sz="1800"/>
              <a:t>    </a:t>
            </a:r>
          </a:p>
          <a:p>
            <a:pPr>
              <a:lnSpc>
                <a:spcPct val="80000"/>
              </a:lnSpc>
              <a:buFont typeface="Monotype Sorts"/>
              <a:buNone/>
            </a:pPr>
            <a:r>
              <a:rPr lang="en-US" altLang="en-US" sz="1800"/>
              <a:t>    // Compute area</a:t>
            </a:r>
          </a:p>
          <a:p>
            <a:pPr>
              <a:lnSpc>
                <a:spcPct val="80000"/>
              </a:lnSpc>
              <a:buFont typeface="Monotype Sorts"/>
              <a:buNone/>
            </a:pPr>
            <a:r>
              <a:rPr lang="en-US" altLang="en-US" sz="1800"/>
              <a:t>    area = radius * radius * 3.14159;</a:t>
            </a:r>
          </a:p>
          <a:p>
            <a:pPr>
              <a:lnSpc>
                <a:spcPct val="80000"/>
              </a:lnSpc>
              <a:buFont typeface="Monotype Sorts"/>
              <a:buNone/>
            </a:pPr>
            <a:r>
              <a:rPr lang="en-US" altLang="en-US" sz="1800"/>
              <a:t>    </a:t>
            </a:r>
          </a:p>
          <a:p>
            <a:pPr>
              <a:lnSpc>
                <a:spcPct val="80000"/>
              </a:lnSpc>
              <a:buFont typeface="Monotype Sorts"/>
              <a:buNone/>
            </a:pPr>
            <a:r>
              <a:rPr lang="en-US" altLang="en-US" sz="1800"/>
              <a:t>    // Display results</a:t>
            </a:r>
          </a:p>
          <a:p>
            <a:pPr>
              <a:lnSpc>
                <a:spcPct val="80000"/>
              </a:lnSpc>
              <a:buFont typeface="Monotype Sorts"/>
              <a:buNone/>
            </a:pPr>
            <a:r>
              <a:rPr lang="en-US" altLang="en-US" sz="1800"/>
              <a:t>    System.out.println("The area for the circle of radius " +</a:t>
            </a:r>
          </a:p>
          <a:p>
            <a:pPr>
              <a:lnSpc>
                <a:spcPct val="80000"/>
              </a:lnSpc>
              <a:buFont typeface="Monotype Sorts"/>
              <a:buNone/>
            </a:pPr>
            <a:r>
              <a:rPr lang="en-US" altLang="en-US" sz="1800"/>
              <a:t>      radius + " is " + area);</a:t>
            </a:r>
          </a:p>
          <a:p>
            <a:pPr>
              <a:lnSpc>
                <a:spcPct val="80000"/>
              </a:lnSpc>
              <a:buFont typeface="Monotype Sorts"/>
              <a:buNone/>
            </a:pPr>
            <a:r>
              <a:rPr lang="en-US" altLang="en-US" sz="1800"/>
              <a:t>  }</a:t>
            </a:r>
          </a:p>
          <a:p>
            <a:pPr>
              <a:lnSpc>
                <a:spcPct val="80000"/>
              </a:lnSpc>
              <a:buFont typeface="Monotype Sorts"/>
              <a:buNone/>
            </a:pPr>
            <a:r>
              <a:rPr lang="en-US" altLang="en-US" sz="1800"/>
              <a:t>}</a:t>
            </a:r>
          </a:p>
        </p:txBody>
      </p:sp>
      <p:sp>
        <p:nvSpPr>
          <p:cNvPr id="19460" name="Rectangle 4">
            <a:extLst>
              <a:ext uri="{FF2B5EF4-FFF2-40B4-BE49-F238E27FC236}">
                <a16:creationId xmlns:a16="http://schemas.microsoft.com/office/drawing/2014/main" id="{FC3321B9-E6FC-9654-BCA7-4317520A2182}"/>
              </a:ext>
            </a:extLst>
          </p:cNvPr>
          <p:cNvSpPr>
            <a:spLocks noChangeArrowheads="1"/>
          </p:cNvSpPr>
          <p:nvPr/>
        </p:nvSpPr>
        <p:spPr bwMode="auto">
          <a:xfrm>
            <a:off x="6858000" y="1816100"/>
            <a:ext cx="1524000" cy="268288"/>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solidFill>
                  <a:srgbClr val="FF0000"/>
                </a:solidFill>
              </a:rPr>
              <a:t>no value</a:t>
            </a:r>
          </a:p>
        </p:txBody>
      </p:sp>
      <p:sp>
        <p:nvSpPr>
          <p:cNvPr id="19461" name="Text Box 5">
            <a:extLst>
              <a:ext uri="{FF2B5EF4-FFF2-40B4-BE49-F238E27FC236}">
                <a16:creationId xmlns:a16="http://schemas.microsoft.com/office/drawing/2014/main" id="{96B12A8F-FB75-F5BB-7278-054007ED3DF4}"/>
              </a:ext>
            </a:extLst>
          </p:cNvPr>
          <p:cNvSpPr txBox="1">
            <a:spLocks noChangeArrowheads="1"/>
          </p:cNvSpPr>
          <p:nvPr/>
        </p:nvSpPr>
        <p:spPr bwMode="auto">
          <a:xfrm>
            <a:off x="6019800" y="17526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radius</a:t>
            </a:r>
          </a:p>
        </p:txBody>
      </p:sp>
      <p:sp>
        <p:nvSpPr>
          <p:cNvPr id="19462" name="Rectangle 6">
            <a:extLst>
              <a:ext uri="{FF2B5EF4-FFF2-40B4-BE49-F238E27FC236}">
                <a16:creationId xmlns:a16="http://schemas.microsoft.com/office/drawing/2014/main" id="{E4671516-866C-1FF0-AF33-FA9E90C57643}"/>
              </a:ext>
            </a:extLst>
          </p:cNvPr>
          <p:cNvSpPr>
            <a:spLocks noChangeArrowheads="1"/>
          </p:cNvSpPr>
          <p:nvPr/>
        </p:nvSpPr>
        <p:spPr bwMode="auto">
          <a:xfrm>
            <a:off x="457200" y="2162175"/>
            <a:ext cx="5105400" cy="306388"/>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600"/>
          </a:p>
        </p:txBody>
      </p:sp>
      <p:sp>
        <p:nvSpPr>
          <p:cNvPr id="19463" name="Text Box 7">
            <a:extLst>
              <a:ext uri="{FF2B5EF4-FFF2-40B4-BE49-F238E27FC236}">
                <a16:creationId xmlns:a16="http://schemas.microsoft.com/office/drawing/2014/main" id="{17956F72-8D73-3A51-6499-5209CD71A5FE}"/>
              </a:ext>
            </a:extLst>
          </p:cNvPr>
          <p:cNvSpPr txBox="1">
            <a:spLocks noChangeArrowheads="1"/>
          </p:cNvSpPr>
          <p:nvPr/>
        </p:nvSpPr>
        <p:spPr bwMode="auto">
          <a:xfrm>
            <a:off x="6858000" y="1219200"/>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memory</a:t>
            </a:r>
          </a:p>
        </p:txBody>
      </p:sp>
      <p:sp>
        <p:nvSpPr>
          <p:cNvPr id="19464" name="Rectangle 8">
            <a:extLst>
              <a:ext uri="{FF2B5EF4-FFF2-40B4-BE49-F238E27FC236}">
                <a16:creationId xmlns:a16="http://schemas.microsoft.com/office/drawing/2014/main" id="{D53DF379-2483-229B-32F8-06C24464ABF7}"/>
              </a:ext>
            </a:extLst>
          </p:cNvPr>
          <p:cNvSpPr>
            <a:spLocks noChangeArrowheads="1"/>
          </p:cNvSpPr>
          <p:nvPr/>
        </p:nvSpPr>
        <p:spPr bwMode="auto">
          <a:xfrm>
            <a:off x="6837363" y="2200275"/>
            <a:ext cx="1563687" cy="2698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4" tIns="9144" rIns="9144" bIns="9144"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solidFill>
                  <a:srgbClr val="FF0000"/>
                </a:solidFill>
              </a:rPr>
              <a:t>no value</a:t>
            </a:r>
          </a:p>
        </p:txBody>
      </p:sp>
      <p:sp>
        <p:nvSpPr>
          <p:cNvPr id="19465" name="Text Box 9">
            <a:extLst>
              <a:ext uri="{FF2B5EF4-FFF2-40B4-BE49-F238E27FC236}">
                <a16:creationId xmlns:a16="http://schemas.microsoft.com/office/drawing/2014/main" id="{21B65F90-8496-5688-AF64-645D4F859D0A}"/>
              </a:ext>
            </a:extLst>
          </p:cNvPr>
          <p:cNvSpPr txBox="1">
            <a:spLocks noChangeArrowheads="1"/>
          </p:cNvSpPr>
          <p:nvPr/>
        </p:nvSpPr>
        <p:spPr bwMode="auto">
          <a:xfrm>
            <a:off x="6019800" y="21336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area</a:t>
            </a:r>
          </a:p>
        </p:txBody>
      </p:sp>
      <p:sp>
        <p:nvSpPr>
          <p:cNvPr id="187403" name="AutoShape 11">
            <a:extLst>
              <a:ext uri="{FF2B5EF4-FFF2-40B4-BE49-F238E27FC236}">
                <a16:creationId xmlns:a16="http://schemas.microsoft.com/office/drawing/2014/main" id="{0933D1FC-7E92-6B7C-2F0B-3D3FDD960FB1}"/>
              </a:ext>
            </a:extLst>
          </p:cNvPr>
          <p:cNvSpPr>
            <a:spLocks noChangeArrowheads="1"/>
          </p:cNvSpPr>
          <p:nvPr/>
        </p:nvSpPr>
        <p:spPr bwMode="auto">
          <a:xfrm>
            <a:off x="6569075" y="3082925"/>
            <a:ext cx="1881188" cy="615950"/>
          </a:xfrm>
          <a:prstGeom prst="wedgeRoundRectCallout">
            <a:avLst>
              <a:gd name="adj1" fmla="val -26880"/>
              <a:gd name="adj2" fmla="val -170102"/>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allocate memory for area</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withEffect">
                                  <p:stCondLst>
                                    <p:cond delay="0"/>
                                  </p:stCondLst>
                                  <p:childTnLst>
                                    <p:set>
                                      <p:cBhvr>
                                        <p:cTn id="6" dur="1" fill="hold">
                                          <p:stCondLst>
                                            <p:cond delay="0"/>
                                          </p:stCondLst>
                                        </p:cTn>
                                        <p:tgtEl>
                                          <p:spTgt spid="187403"/>
                                        </p:tgtEl>
                                        <p:attrNameLst>
                                          <p:attrName>style.visibility</p:attrName>
                                        </p:attrNameLst>
                                      </p:cBhvr>
                                      <p:to>
                                        <p:strVal val="visible"/>
                                      </p:to>
                                    </p:set>
                                    <p:anim to="" calcmode="lin" valueType="num">
                                      <p:cBhvr>
                                        <p:cTn id="7" dur="1" fill="hold"/>
                                        <p:tgtEl>
                                          <p:spTgt spid="18740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0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Number Placeholder 4">
            <a:extLst>
              <a:ext uri="{FF2B5EF4-FFF2-40B4-BE49-F238E27FC236}">
                <a16:creationId xmlns:a16="http://schemas.microsoft.com/office/drawing/2014/main" id="{33BC2B3F-655F-FCFC-7F0A-294B83BB0F42}"/>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7BE45A9-C04F-476D-B0B4-73A01FA00B75}" type="slidenum">
              <a:rPr lang="en-US" altLang="en-US" sz="1400"/>
              <a:pPr>
                <a:spcBef>
                  <a:spcPct val="0"/>
                </a:spcBef>
                <a:buClrTx/>
                <a:buSzTx/>
                <a:buFontTx/>
                <a:buNone/>
              </a:pPr>
              <a:t>4</a:t>
            </a:fld>
            <a:endParaRPr lang="en-US" altLang="en-US" sz="1400"/>
          </a:p>
        </p:txBody>
      </p:sp>
      <p:sp>
        <p:nvSpPr>
          <p:cNvPr id="20482" name="Rectangle 2">
            <a:extLst>
              <a:ext uri="{FF2B5EF4-FFF2-40B4-BE49-F238E27FC236}">
                <a16:creationId xmlns:a16="http://schemas.microsoft.com/office/drawing/2014/main" id="{827374B3-FEF9-8442-2325-5763170C5F1F}"/>
              </a:ext>
            </a:extLst>
          </p:cNvPr>
          <p:cNvSpPr>
            <a:spLocks noGrp="1" noChangeArrowheads="1"/>
          </p:cNvSpPr>
          <p:nvPr>
            <p:ph type="title"/>
          </p:nvPr>
        </p:nvSpPr>
        <p:spPr>
          <a:xfrm>
            <a:off x="685800" y="304800"/>
            <a:ext cx="7772400" cy="533400"/>
          </a:xfrm>
        </p:spPr>
        <p:txBody>
          <a:bodyPr>
            <a:normAutofit fontScale="90000"/>
          </a:bodyPr>
          <a:lstStyle/>
          <a:p>
            <a:r>
              <a:rPr lang="en-US" altLang="en-US" sz="4300"/>
              <a:t>Trace a Program Execution</a:t>
            </a:r>
          </a:p>
        </p:txBody>
      </p:sp>
      <p:sp>
        <p:nvSpPr>
          <p:cNvPr id="20483" name="Rectangle 3">
            <a:extLst>
              <a:ext uri="{FF2B5EF4-FFF2-40B4-BE49-F238E27FC236}">
                <a16:creationId xmlns:a16="http://schemas.microsoft.com/office/drawing/2014/main" id="{F2E2B9FB-4DCF-8600-766A-3ACD997951C6}"/>
              </a:ext>
            </a:extLst>
          </p:cNvPr>
          <p:cNvSpPr>
            <a:spLocks noGrp="1" noChangeArrowheads="1"/>
          </p:cNvSpPr>
          <p:nvPr>
            <p:ph type="body" idx="1"/>
          </p:nvPr>
        </p:nvSpPr>
        <p:spPr>
          <a:xfrm>
            <a:off x="152400" y="1066800"/>
            <a:ext cx="5562600" cy="5181600"/>
          </a:xfrm>
        </p:spPr>
        <p:txBody>
          <a:bodyPr/>
          <a:lstStyle/>
          <a:p>
            <a:pPr>
              <a:lnSpc>
                <a:spcPct val="80000"/>
              </a:lnSpc>
              <a:buFont typeface="Monotype Sorts"/>
              <a:buNone/>
            </a:pPr>
            <a:r>
              <a:rPr lang="en-US" altLang="en-US" sz="1800"/>
              <a:t>public class ComputeArea {</a:t>
            </a:r>
          </a:p>
          <a:p>
            <a:pPr>
              <a:lnSpc>
                <a:spcPct val="80000"/>
              </a:lnSpc>
              <a:buFont typeface="Monotype Sorts"/>
              <a:buNone/>
            </a:pPr>
            <a:r>
              <a:rPr lang="en-US" altLang="en-US" sz="1800"/>
              <a:t>  /** Main method */</a:t>
            </a:r>
          </a:p>
          <a:p>
            <a:pPr>
              <a:lnSpc>
                <a:spcPct val="80000"/>
              </a:lnSpc>
              <a:buFont typeface="Monotype Sorts"/>
              <a:buNone/>
            </a:pPr>
            <a:r>
              <a:rPr lang="en-US" altLang="en-US" sz="1800"/>
              <a:t>  public static void main(String[] args) {</a:t>
            </a:r>
          </a:p>
          <a:p>
            <a:pPr>
              <a:lnSpc>
                <a:spcPct val="80000"/>
              </a:lnSpc>
              <a:buFont typeface="Monotype Sorts"/>
              <a:buNone/>
            </a:pPr>
            <a:r>
              <a:rPr lang="en-US" altLang="en-US" sz="1800"/>
              <a:t>    double radius;</a:t>
            </a:r>
          </a:p>
          <a:p>
            <a:pPr>
              <a:lnSpc>
                <a:spcPct val="80000"/>
              </a:lnSpc>
              <a:buFont typeface="Monotype Sorts"/>
              <a:buNone/>
            </a:pPr>
            <a:r>
              <a:rPr lang="en-US" altLang="en-US" sz="1800"/>
              <a:t>    double area;</a:t>
            </a:r>
          </a:p>
          <a:p>
            <a:pPr>
              <a:lnSpc>
                <a:spcPct val="80000"/>
              </a:lnSpc>
              <a:buFont typeface="Monotype Sorts"/>
              <a:buNone/>
            </a:pPr>
            <a:r>
              <a:rPr lang="en-US" altLang="en-US" sz="1800"/>
              <a:t>    </a:t>
            </a:r>
          </a:p>
          <a:p>
            <a:pPr>
              <a:lnSpc>
                <a:spcPct val="80000"/>
              </a:lnSpc>
              <a:buFont typeface="Monotype Sorts"/>
              <a:buNone/>
            </a:pPr>
            <a:r>
              <a:rPr lang="en-US" altLang="en-US" sz="1800"/>
              <a:t>    // Assign a radius</a:t>
            </a:r>
          </a:p>
          <a:p>
            <a:pPr>
              <a:lnSpc>
                <a:spcPct val="80000"/>
              </a:lnSpc>
              <a:buFont typeface="Monotype Sorts"/>
              <a:buNone/>
            </a:pPr>
            <a:r>
              <a:rPr lang="en-US" altLang="en-US" sz="1800"/>
              <a:t>    radius = 20;</a:t>
            </a:r>
          </a:p>
          <a:p>
            <a:pPr>
              <a:lnSpc>
                <a:spcPct val="80000"/>
              </a:lnSpc>
              <a:buFont typeface="Monotype Sorts"/>
              <a:buNone/>
            </a:pPr>
            <a:r>
              <a:rPr lang="en-US" altLang="en-US" sz="1800"/>
              <a:t>    </a:t>
            </a:r>
          </a:p>
          <a:p>
            <a:pPr>
              <a:lnSpc>
                <a:spcPct val="80000"/>
              </a:lnSpc>
              <a:buFont typeface="Monotype Sorts"/>
              <a:buNone/>
            </a:pPr>
            <a:r>
              <a:rPr lang="en-US" altLang="en-US" sz="1800"/>
              <a:t>    // Compute area</a:t>
            </a:r>
          </a:p>
          <a:p>
            <a:pPr>
              <a:lnSpc>
                <a:spcPct val="80000"/>
              </a:lnSpc>
              <a:buFont typeface="Monotype Sorts"/>
              <a:buNone/>
            </a:pPr>
            <a:r>
              <a:rPr lang="en-US" altLang="en-US" sz="1800"/>
              <a:t>    area = radius * radius * 3.14159;</a:t>
            </a:r>
          </a:p>
          <a:p>
            <a:pPr>
              <a:lnSpc>
                <a:spcPct val="80000"/>
              </a:lnSpc>
              <a:buFont typeface="Monotype Sorts"/>
              <a:buNone/>
            </a:pPr>
            <a:r>
              <a:rPr lang="en-US" altLang="en-US" sz="1800"/>
              <a:t>    </a:t>
            </a:r>
          </a:p>
          <a:p>
            <a:pPr>
              <a:lnSpc>
                <a:spcPct val="80000"/>
              </a:lnSpc>
              <a:buFont typeface="Monotype Sorts"/>
              <a:buNone/>
            </a:pPr>
            <a:r>
              <a:rPr lang="en-US" altLang="en-US" sz="1800"/>
              <a:t>    // Display results</a:t>
            </a:r>
          </a:p>
          <a:p>
            <a:pPr>
              <a:lnSpc>
                <a:spcPct val="80000"/>
              </a:lnSpc>
              <a:buFont typeface="Monotype Sorts"/>
              <a:buNone/>
            </a:pPr>
            <a:r>
              <a:rPr lang="en-US" altLang="en-US" sz="1800"/>
              <a:t>    System.out.println("The area for the circle of radius " +</a:t>
            </a:r>
          </a:p>
          <a:p>
            <a:pPr>
              <a:lnSpc>
                <a:spcPct val="80000"/>
              </a:lnSpc>
              <a:buFont typeface="Monotype Sorts"/>
              <a:buNone/>
            </a:pPr>
            <a:r>
              <a:rPr lang="en-US" altLang="en-US" sz="1800"/>
              <a:t>      radius + " is " + area);</a:t>
            </a:r>
          </a:p>
          <a:p>
            <a:pPr>
              <a:lnSpc>
                <a:spcPct val="80000"/>
              </a:lnSpc>
              <a:buFont typeface="Monotype Sorts"/>
              <a:buNone/>
            </a:pPr>
            <a:r>
              <a:rPr lang="en-US" altLang="en-US" sz="1800"/>
              <a:t>  }</a:t>
            </a:r>
          </a:p>
          <a:p>
            <a:pPr>
              <a:lnSpc>
                <a:spcPct val="80000"/>
              </a:lnSpc>
              <a:buFont typeface="Monotype Sorts"/>
              <a:buNone/>
            </a:pPr>
            <a:r>
              <a:rPr lang="en-US" altLang="en-US" sz="1800"/>
              <a:t>}</a:t>
            </a:r>
          </a:p>
        </p:txBody>
      </p:sp>
      <p:sp>
        <p:nvSpPr>
          <p:cNvPr id="20484" name="Rectangle 4">
            <a:extLst>
              <a:ext uri="{FF2B5EF4-FFF2-40B4-BE49-F238E27FC236}">
                <a16:creationId xmlns:a16="http://schemas.microsoft.com/office/drawing/2014/main" id="{F838CB8C-F5B5-F5F6-6C86-C32E77265780}"/>
              </a:ext>
            </a:extLst>
          </p:cNvPr>
          <p:cNvSpPr>
            <a:spLocks noChangeArrowheads="1"/>
          </p:cNvSpPr>
          <p:nvPr/>
        </p:nvSpPr>
        <p:spPr bwMode="auto">
          <a:xfrm>
            <a:off x="6858000" y="1752600"/>
            <a:ext cx="1524000" cy="381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accent2"/>
                </a:solidFill>
              </a:rPr>
              <a:t>20</a:t>
            </a:r>
          </a:p>
        </p:txBody>
      </p:sp>
      <p:sp>
        <p:nvSpPr>
          <p:cNvPr id="20485" name="Text Box 5">
            <a:extLst>
              <a:ext uri="{FF2B5EF4-FFF2-40B4-BE49-F238E27FC236}">
                <a16:creationId xmlns:a16="http://schemas.microsoft.com/office/drawing/2014/main" id="{44ADF69E-80CF-1A0A-756F-AE57FB3F863E}"/>
              </a:ext>
            </a:extLst>
          </p:cNvPr>
          <p:cNvSpPr txBox="1">
            <a:spLocks noChangeArrowheads="1"/>
          </p:cNvSpPr>
          <p:nvPr/>
        </p:nvSpPr>
        <p:spPr bwMode="auto">
          <a:xfrm>
            <a:off x="6019800" y="17526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radius</a:t>
            </a:r>
          </a:p>
        </p:txBody>
      </p:sp>
      <p:sp>
        <p:nvSpPr>
          <p:cNvPr id="20486" name="Rectangle 6">
            <a:extLst>
              <a:ext uri="{FF2B5EF4-FFF2-40B4-BE49-F238E27FC236}">
                <a16:creationId xmlns:a16="http://schemas.microsoft.com/office/drawing/2014/main" id="{0B5B5E79-7F8B-D555-A76E-39FC2705D2E2}"/>
              </a:ext>
            </a:extLst>
          </p:cNvPr>
          <p:cNvSpPr>
            <a:spLocks noChangeArrowheads="1"/>
          </p:cNvSpPr>
          <p:nvPr/>
        </p:nvSpPr>
        <p:spPr bwMode="auto">
          <a:xfrm>
            <a:off x="457200" y="3048000"/>
            <a:ext cx="5105400" cy="22860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600"/>
          </a:p>
        </p:txBody>
      </p:sp>
      <p:sp>
        <p:nvSpPr>
          <p:cNvPr id="20487" name="Rectangle 8">
            <a:extLst>
              <a:ext uri="{FF2B5EF4-FFF2-40B4-BE49-F238E27FC236}">
                <a16:creationId xmlns:a16="http://schemas.microsoft.com/office/drawing/2014/main" id="{E217BAC1-96FB-72A8-DF3C-2D38767C85B2}"/>
              </a:ext>
            </a:extLst>
          </p:cNvPr>
          <p:cNvSpPr>
            <a:spLocks noChangeArrowheads="1"/>
          </p:cNvSpPr>
          <p:nvPr/>
        </p:nvSpPr>
        <p:spPr bwMode="auto">
          <a:xfrm>
            <a:off x="6858000" y="2209800"/>
            <a:ext cx="1524000" cy="381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rPr>
              <a:t>no value</a:t>
            </a:r>
          </a:p>
        </p:txBody>
      </p:sp>
      <p:sp>
        <p:nvSpPr>
          <p:cNvPr id="20488" name="Text Box 9">
            <a:extLst>
              <a:ext uri="{FF2B5EF4-FFF2-40B4-BE49-F238E27FC236}">
                <a16:creationId xmlns:a16="http://schemas.microsoft.com/office/drawing/2014/main" id="{78D85793-6FB1-29FE-0512-D4CF6BEEA3DC}"/>
              </a:ext>
            </a:extLst>
          </p:cNvPr>
          <p:cNvSpPr txBox="1">
            <a:spLocks noChangeArrowheads="1"/>
          </p:cNvSpPr>
          <p:nvPr/>
        </p:nvSpPr>
        <p:spPr bwMode="auto">
          <a:xfrm>
            <a:off x="6019800" y="2209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area</a:t>
            </a:r>
          </a:p>
        </p:txBody>
      </p:sp>
      <p:sp>
        <p:nvSpPr>
          <p:cNvPr id="188429" name="AutoShape 13">
            <a:extLst>
              <a:ext uri="{FF2B5EF4-FFF2-40B4-BE49-F238E27FC236}">
                <a16:creationId xmlns:a16="http://schemas.microsoft.com/office/drawing/2014/main" id="{AAED488B-1743-677D-38F9-F0ABE059AAFE}"/>
              </a:ext>
            </a:extLst>
          </p:cNvPr>
          <p:cNvSpPr>
            <a:spLocks noChangeArrowheads="1"/>
          </p:cNvSpPr>
          <p:nvPr/>
        </p:nvSpPr>
        <p:spPr bwMode="auto">
          <a:xfrm>
            <a:off x="6723063" y="931863"/>
            <a:ext cx="2265362" cy="384175"/>
          </a:xfrm>
          <a:prstGeom prst="wedgeRoundRectCallout">
            <a:avLst>
              <a:gd name="adj1" fmla="val -27718"/>
              <a:gd name="adj2" fmla="val 214875"/>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assign 20 to radius</a:t>
            </a:r>
          </a:p>
        </p:txBody>
      </p:sp>
      <p:sp>
        <p:nvSpPr>
          <p:cNvPr id="20490" name="Line 14">
            <a:extLst>
              <a:ext uri="{FF2B5EF4-FFF2-40B4-BE49-F238E27FC236}">
                <a16:creationId xmlns:a16="http://schemas.microsoft.com/office/drawing/2014/main" id="{C6E4408E-69FF-EDE1-3FD1-898030124D6B}"/>
              </a:ext>
            </a:extLst>
          </p:cNvPr>
          <p:cNvSpPr>
            <a:spLocks noChangeShapeType="1"/>
          </p:cNvSpPr>
          <p:nvPr/>
        </p:nvSpPr>
        <p:spPr bwMode="auto">
          <a:xfrm flipV="1">
            <a:off x="3305175" y="1970088"/>
            <a:ext cx="2725738" cy="1190625"/>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withEffect">
                                  <p:stCondLst>
                                    <p:cond delay="0"/>
                                  </p:stCondLst>
                                  <p:childTnLst>
                                    <p:set>
                                      <p:cBhvr>
                                        <p:cTn id="6" dur="1" fill="hold">
                                          <p:stCondLst>
                                            <p:cond delay="0"/>
                                          </p:stCondLst>
                                        </p:cTn>
                                        <p:tgtEl>
                                          <p:spTgt spid="188429"/>
                                        </p:tgtEl>
                                        <p:attrNameLst>
                                          <p:attrName>style.visibility</p:attrName>
                                        </p:attrNameLst>
                                      </p:cBhvr>
                                      <p:to>
                                        <p:strVal val="visible"/>
                                      </p:to>
                                    </p:set>
                                    <p:anim to="" calcmode="lin" valueType="num">
                                      <p:cBhvr>
                                        <p:cTn id="7" dur="1" fill="hold"/>
                                        <p:tgtEl>
                                          <p:spTgt spid="18842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4">
            <a:extLst>
              <a:ext uri="{FF2B5EF4-FFF2-40B4-BE49-F238E27FC236}">
                <a16:creationId xmlns:a16="http://schemas.microsoft.com/office/drawing/2014/main" id="{D21B3460-6E0C-9CBD-30BD-1A707E585DC4}"/>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F4F139F-F317-407E-A25E-819A693AF1C5}" type="slidenum">
              <a:rPr lang="en-US" altLang="en-US" sz="1400"/>
              <a:pPr>
                <a:spcBef>
                  <a:spcPct val="0"/>
                </a:spcBef>
                <a:buClrTx/>
                <a:buSzTx/>
                <a:buFontTx/>
                <a:buNone/>
              </a:pPr>
              <a:t>5</a:t>
            </a:fld>
            <a:endParaRPr lang="en-US" altLang="en-US" sz="1400"/>
          </a:p>
        </p:txBody>
      </p:sp>
      <p:sp>
        <p:nvSpPr>
          <p:cNvPr id="21506" name="Rectangle 2">
            <a:extLst>
              <a:ext uri="{FF2B5EF4-FFF2-40B4-BE49-F238E27FC236}">
                <a16:creationId xmlns:a16="http://schemas.microsoft.com/office/drawing/2014/main" id="{C0587C9A-AF71-644E-59C2-460DC586871C}"/>
              </a:ext>
            </a:extLst>
          </p:cNvPr>
          <p:cNvSpPr>
            <a:spLocks noGrp="1" noChangeArrowheads="1"/>
          </p:cNvSpPr>
          <p:nvPr>
            <p:ph type="title"/>
          </p:nvPr>
        </p:nvSpPr>
        <p:spPr>
          <a:xfrm>
            <a:off x="685800" y="304800"/>
            <a:ext cx="7772400" cy="533400"/>
          </a:xfrm>
        </p:spPr>
        <p:txBody>
          <a:bodyPr>
            <a:normAutofit fontScale="90000"/>
          </a:bodyPr>
          <a:lstStyle/>
          <a:p>
            <a:r>
              <a:rPr lang="en-US" altLang="en-US" sz="4300"/>
              <a:t>Trace a Program Execution</a:t>
            </a:r>
          </a:p>
        </p:txBody>
      </p:sp>
      <p:sp>
        <p:nvSpPr>
          <p:cNvPr id="21507" name="Rectangle 3">
            <a:extLst>
              <a:ext uri="{FF2B5EF4-FFF2-40B4-BE49-F238E27FC236}">
                <a16:creationId xmlns:a16="http://schemas.microsoft.com/office/drawing/2014/main" id="{306133E0-29DD-35CB-D60A-30FC80FB77E8}"/>
              </a:ext>
            </a:extLst>
          </p:cNvPr>
          <p:cNvSpPr>
            <a:spLocks noGrp="1" noChangeArrowheads="1"/>
          </p:cNvSpPr>
          <p:nvPr>
            <p:ph type="body" idx="1"/>
          </p:nvPr>
        </p:nvSpPr>
        <p:spPr>
          <a:xfrm>
            <a:off x="152400" y="1066800"/>
            <a:ext cx="5562600" cy="5181600"/>
          </a:xfrm>
        </p:spPr>
        <p:txBody>
          <a:bodyPr/>
          <a:lstStyle/>
          <a:p>
            <a:pPr>
              <a:lnSpc>
                <a:spcPct val="80000"/>
              </a:lnSpc>
              <a:buFont typeface="Monotype Sorts"/>
              <a:buNone/>
            </a:pPr>
            <a:r>
              <a:rPr lang="en-US" altLang="en-US" sz="1800"/>
              <a:t>public class ComputeArea {</a:t>
            </a:r>
          </a:p>
          <a:p>
            <a:pPr>
              <a:lnSpc>
                <a:spcPct val="80000"/>
              </a:lnSpc>
              <a:buFont typeface="Monotype Sorts"/>
              <a:buNone/>
            </a:pPr>
            <a:r>
              <a:rPr lang="en-US" altLang="en-US" sz="1800"/>
              <a:t>  /** Main method */</a:t>
            </a:r>
          </a:p>
          <a:p>
            <a:pPr>
              <a:lnSpc>
                <a:spcPct val="80000"/>
              </a:lnSpc>
              <a:buFont typeface="Monotype Sorts"/>
              <a:buNone/>
            </a:pPr>
            <a:r>
              <a:rPr lang="en-US" altLang="en-US" sz="1800"/>
              <a:t>  public static void main(String[] args) {</a:t>
            </a:r>
          </a:p>
          <a:p>
            <a:pPr>
              <a:lnSpc>
                <a:spcPct val="80000"/>
              </a:lnSpc>
              <a:buFont typeface="Monotype Sorts"/>
              <a:buNone/>
            </a:pPr>
            <a:r>
              <a:rPr lang="en-US" altLang="en-US" sz="1800"/>
              <a:t>    double radius;</a:t>
            </a:r>
          </a:p>
          <a:p>
            <a:pPr>
              <a:lnSpc>
                <a:spcPct val="80000"/>
              </a:lnSpc>
              <a:buFont typeface="Monotype Sorts"/>
              <a:buNone/>
            </a:pPr>
            <a:r>
              <a:rPr lang="en-US" altLang="en-US" sz="1800"/>
              <a:t>    double area;</a:t>
            </a:r>
          </a:p>
          <a:p>
            <a:pPr>
              <a:lnSpc>
                <a:spcPct val="80000"/>
              </a:lnSpc>
              <a:buFont typeface="Monotype Sorts"/>
              <a:buNone/>
            </a:pPr>
            <a:r>
              <a:rPr lang="en-US" altLang="en-US" sz="1800"/>
              <a:t>    </a:t>
            </a:r>
          </a:p>
          <a:p>
            <a:pPr>
              <a:lnSpc>
                <a:spcPct val="80000"/>
              </a:lnSpc>
              <a:buFont typeface="Monotype Sorts"/>
              <a:buNone/>
            </a:pPr>
            <a:r>
              <a:rPr lang="en-US" altLang="en-US" sz="1800"/>
              <a:t>    // Assign a radius</a:t>
            </a:r>
          </a:p>
          <a:p>
            <a:pPr>
              <a:lnSpc>
                <a:spcPct val="80000"/>
              </a:lnSpc>
              <a:buFont typeface="Monotype Sorts"/>
              <a:buNone/>
            </a:pPr>
            <a:r>
              <a:rPr lang="en-US" altLang="en-US" sz="1800"/>
              <a:t>    radius = 20;</a:t>
            </a:r>
          </a:p>
          <a:p>
            <a:pPr>
              <a:lnSpc>
                <a:spcPct val="80000"/>
              </a:lnSpc>
              <a:buFont typeface="Monotype Sorts"/>
              <a:buNone/>
            </a:pPr>
            <a:r>
              <a:rPr lang="en-US" altLang="en-US" sz="1800"/>
              <a:t>    </a:t>
            </a:r>
          </a:p>
          <a:p>
            <a:pPr>
              <a:lnSpc>
                <a:spcPct val="80000"/>
              </a:lnSpc>
              <a:buFont typeface="Monotype Sorts"/>
              <a:buNone/>
            </a:pPr>
            <a:r>
              <a:rPr lang="en-US" altLang="en-US" sz="1800"/>
              <a:t>    // Compute area</a:t>
            </a:r>
          </a:p>
          <a:p>
            <a:pPr>
              <a:lnSpc>
                <a:spcPct val="80000"/>
              </a:lnSpc>
              <a:buFont typeface="Monotype Sorts"/>
              <a:buNone/>
            </a:pPr>
            <a:r>
              <a:rPr lang="en-US" altLang="en-US" sz="1800"/>
              <a:t>    area = radius * radius * 3.14159;</a:t>
            </a:r>
          </a:p>
          <a:p>
            <a:pPr>
              <a:lnSpc>
                <a:spcPct val="80000"/>
              </a:lnSpc>
              <a:buFont typeface="Monotype Sorts"/>
              <a:buNone/>
            </a:pPr>
            <a:r>
              <a:rPr lang="en-US" altLang="en-US" sz="1800"/>
              <a:t>    </a:t>
            </a:r>
          </a:p>
          <a:p>
            <a:pPr>
              <a:lnSpc>
                <a:spcPct val="80000"/>
              </a:lnSpc>
              <a:buFont typeface="Monotype Sorts"/>
              <a:buNone/>
            </a:pPr>
            <a:r>
              <a:rPr lang="en-US" altLang="en-US" sz="1800"/>
              <a:t>    // Display results</a:t>
            </a:r>
          </a:p>
          <a:p>
            <a:pPr>
              <a:lnSpc>
                <a:spcPct val="80000"/>
              </a:lnSpc>
              <a:buFont typeface="Monotype Sorts"/>
              <a:buNone/>
            </a:pPr>
            <a:r>
              <a:rPr lang="en-US" altLang="en-US" sz="1800"/>
              <a:t>    System.out.println("The area for the circle of radius " +</a:t>
            </a:r>
          </a:p>
          <a:p>
            <a:pPr>
              <a:lnSpc>
                <a:spcPct val="80000"/>
              </a:lnSpc>
              <a:buFont typeface="Monotype Sorts"/>
              <a:buNone/>
            </a:pPr>
            <a:r>
              <a:rPr lang="en-US" altLang="en-US" sz="1800"/>
              <a:t>      radius + " is " + area);</a:t>
            </a:r>
          </a:p>
          <a:p>
            <a:pPr>
              <a:lnSpc>
                <a:spcPct val="80000"/>
              </a:lnSpc>
              <a:buFont typeface="Monotype Sorts"/>
              <a:buNone/>
            </a:pPr>
            <a:r>
              <a:rPr lang="en-US" altLang="en-US" sz="1800"/>
              <a:t>  }</a:t>
            </a:r>
          </a:p>
          <a:p>
            <a:pPr>
              <a:lnSpc>
                <a:spcPct val="80000"/>
              </a:lnSpc>
              <a:buFont typeface="Monotype Sorts"/>
              <a:buNone/>
            </a:pPr>
            <a:r>
              <a:rPr lang="en-US" altLang="en-US" sz="1800"/>
              <a:t>}</a:t>
            </a:r>
          </a:p>
        </p:txBody>
      </p:sp>
      <p:sp>
        <p:nvSpPr>
          <p:cNvPr id="21508" name="Rectangle 4">
            <a:extLst>
              <a:ext uri="{FF2B5EF4-FFF2-40B4-BE49-F238E27FC236}">
                <a16:creationId xmlns:a16="http://schemas.microsoft.com/office/drawing/2014/main" id="{67639FE0-DB30-50CA-427E-5E3B8BC6FC9F}"/>
              </a:ext>
            </a:extLst>
          </p:cNvPr>
          <p:cNvSpPr>
            <a:spLocks noChangeArrowheads="1"/>
          </p:cNvSpPr>
          <p:nvPr/>
        </p:nvSpPr>
        <p:spPr bwMode="auto">
          <a:xfrm>
            <a:off x="6858000" y="1752600"/>
            <a:ext cx="1524000" cy="381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b="1" dirty="0">
                <a:solidFill>
                  <a:srgbClr val="FF0000"/>
                </a:solidFill>
              </a:rPr>
              <a:t>20</a:t>
            </a:r>
          </a:p>
        </p:txBody>
      </p:sp>
      <p:sp>
        <p:nvSpPr>
          <p:cNvPr id="21509" name="Text Box 5">
            <a:extLst>
              <a:ext uri="{FF2B5EF4-FFF2-40B4-BE49-F238E27FC236}">
                <a16:creationId xmlns:a16="http://schemas.microsoft.com/office/drawing/2014/main" id="{BD59C57B-1B04-68A6-C4F7-25056CAEB767}"/>
              </a:ext>
            </a:extLst>
          </p:cNvPr>
          <p:cNvSpPr txBox="1">
            <a:spLocks noChangeArrowheads="1"/>
          </p:cNvSpPr>
          <p:nvPr/>
        </p:nvSpPr>
        <p:spPr bwMode="auto">
          <a:xfrm>
            <a:off x="6019800" y="17526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radius</a:t>
            </a:r>
          </a:p>
        </p:txBody>
      </p:sp>
      <p:sp>
        <p:nvSpPr>
          <p:cNvPr id="21510" name="Text Box 7">
            <a:extLst>
              <a:ext uri="{FF2B5EF4-FFF2-40B4-BE49-F238E27FC236}">
                <a16:creationId xmlns:a16="http://schemas.microsoft.com/office/drawing/2014/main" id="{6A38CA6F-D116-9FC7-0E2D-D57834A5CD67}"/>
              </a:ext>
            </a:extLst>
          </p:cNvPr>
          <p:cNvSpPr txBox="1">
            <a:spLocks noChangeArrowheads="1"/>
          </p:cNvSpPr>
          <p:nvPr/>
        </p:nvSpPr>
        <p:spPr bwMode="auto">
          <a:xfrm>
            <a:off x="6858000" y="1219200"/>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memory</a:t>
            </a:r>
          </a:p>
        </p:txBody>
      </p:sp>
      <p:sp>
        <p:nvSpPr>
          <p:cNvPr id="21511" name="Rectangle 8">
            <a:extLst>
              <a:ext uri="{FF2B5EF4-FFF2-40B4-BE49-F238E27FC236}">
                <a16:creationId xmlns:a16="http://schemas.microsoft.com/office/drawing/2014/main" id="{81DC4567-AEDD-E9AB-5410-0D84052C71A5}"/>
              </a:ext>
            </a:extLst>
          </p:cNvPr>
          <p:cNvSpPr>
            <a:spLocks noChangeArrowheads="1"/>
          </p:cNvSpPr>
          <p:nvPr/>
        </p:nvSpPr>
        <p:spPr bwMode="auto">
          <a:xfrm>
            <a:off x="6858000" y="2209800"/>
            <a:ext cx="1524000" cy="381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b="1" dirty="0">
                <a:solidFill>
                  <a:srgbClr val="FF0000"/>
                </a:solidFill>
              </a:rPr>
              <a:t>1256.636</a:t>
            </a:r>
          </a:p>
        </p:txBody>
      </p:sp>
      <p:sp>
        <p:nvSpPr>
          <p:cNvPr id="21512" name="Text Box 9">
            <a:extLst>
              <a:ext uri="{FF2B5EF4-FFF2-40B4-BE49-F238E27FC236}">
                <a16:creationId xmlns:a16="http://schemas.microsoft.com/office/drawing/2014/main" id="{374F73D1-F84F-83D2-CC85-D287D5E0FAF1}"/>
              </a:ext>
            </a:extLst>
          </p:cNvPr>
          <p:cNvSpPr txBox="1">
            <a:spLocks noChangeArrowheads="1"/>
          </p:cNvSpPr>
          <p:nvPr/>
        </p:nvSpPr>
        <p:spPr bwMode="auto">
          <a:xfrm>
            <a:off x="6019800" y="2209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area</a:t>
            </a:r>
          </a:p>
        </p:txBody>
      </p:sp>
      <p:sp>
        <p:nvSpPr>
          <p:cNvPr id="21513" name="Rectangle 10">
            <a:extLst>
              <a:ext uri="{FF2B5EF4-FFF2-40B4-BE49-F238E27FC236}">
                <a16:creationId xmlns:a16="http://schemas.microsoft.com/office/drawing/2014/main" id="{ACCBB6C7-704E-3423-D651-B5EE313AE839}"/>
              </a:ext>
            </a:extLst>
          </p:cNvPr>
          <p:cNvSpPr>
            <a:spLocks noChangeArrowheads="1"/>
          </p:cNvSpPr>
          <p:nvPr/>
        </p:nvSpPr>
        <p:spPr bwMode="auto">
          <a:xfrm>
            <a:off x="457200" y="3810000"/>
            <a:ext cx="5105400" cy="309563"/>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600"/>
          </a:p>
        </p:txBody>
      </p:sp>
      <p:sp>
        <p:nvSpPr>
          <p:cNvPr id="21514" name="Line 12">
            <a:extLst>
              <a:ext uri="{FF2B5EF4-FFF2-40B4-BE49-F238E27FC236}">
                <a16:creationId xmlns:a16="http://schemas.microsoft.com/office/drawing/2014/main" id="{F9C94664-9A32-53C7-8EA6-34A175C0E219}"/>
              </a:ext>
            </a:extLst>
          </p:cNvPr>
          <p:cNvSpPr>
            <a:spLocks noChangeShapeType="1"/>
          </p:cNvSpPr>
          <p:nvPr/>
        </p:nvSpPr>
        <p:spPr bwMode="auto">
          <a:xfrm flipV="1">
            <a:off x="4071938" y="2430463"/>
            <a:ext cx="2919412" cy="1498600"/>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
        <p:nvSpPr>
          <p:cNvPr id="189453" name="AutoShape 13">
            <a:extLst>
              <a:ext uri="{FF2B5EF4-FFF2-40B4-BE49-F238E27FC236}">
                <a16:creationId xmlns:a16="http://schemas.microsoft.com/office/drawing/2014/main" id="{D53371CF-4CBA-DD92-0F88-19DE2D7C5BEC}"/>
              </a:ext>
            </a:extLst>
          </p:cNvPr>
          <p:cNvSpPr>
            <a:spLocks noChangeArrowheads="1"/>
          </p:cNvSpPr>
          <p:nvPr/>
        </p:nvSpPr>
        <p:spPr bwMode="auto">
          <a:xfrm>
            <a:off x="6338888" y="3313113"/>
            <a:ext cx="2687637" cy="692150"/>
          </a:xfrm>
          <a:prstGeom prst="wedgeRoundRectCallout">
            <a:avLst>
              <a:gd name="adj1" fmla="val -25134"/>
              <a:gd name="adj2" fmla="val -163991"/>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compute area and assign it to variable area</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withEffect">
                                  <p:stCondLst>
                                    <p:cond delay="0"/>
                                  </p:stCondLst>
                                  <p:childTnLst>
                                    <p:set>
                                      <p:cBhvr>
                                        <p:cTn id="6" dur="1" fill="hold">
                                          <p:stCondLst>
                                            <p:cond delay="0"/>
                                          </p:stCondLst>
                                        </p:cTn>
                                        <p:tgtEl>
                                          <p:spTgt spid="189453"/>
                                        </p:tgtEl>
                                        <p:attrNameLst>
                                          <p:attrName>style.visibility</p:attrName>
                                        </p:attrNameLst>
                                      </p:cBhvr>
                                      <p:to>
                                        <p:strVal val="visible"/>
                                      </p:to>
                                    </p:set>
                                    <p:anim to="" calcmode="lin" valueType="num">
                                      <p:cBhvr>
                                        <p:cTn id="7" dur="1" fill="hold"/>
                                        <p:tgtEl>
                                          <p:spTgt spid="18945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5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4">
            <a:extLst>
              <a:ext uri="{FF2B5EF4-FFF2-40B4-BE49-F238E27FC236}">
                <a16:creationId xmlns:a16="http://schemas.microsoft.com/office/drawing/2014/main" id="{F6E98AF0-E266-14E1-4BBD-D18AF38E3319}"/>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C356EC5-CF9B-4497-970A-5E0D147336E2}" type="slidenum">
              <a:rPr lang="en-US" altLang="en-US" sz="1400"/>
              <a:pPr>
                <a:spcBef>
                  <a:spcPct val="0"/>
                </a:spcBef>
                <a:buClrTx/>
                <a:buSzTx/>
                <a:buFontTx/>
                <a:buNone/>
              </a:pPr>
              <a:t>6</a:t>
            </a:fld>
            <a:endParaRPr lang="en-US" altLang="en-US" sz="1400"/>
          </a:p>
        </p:txBody>
      </p:sp>
      <p:sp>
        <p:nvSpPr>
          <p:cNvPr id="22530" name="Rectangle 2">
            <a:extLst>
              <a:ext uri="{FF2B5EF4-FFF2-40B4-BE49-F238E27FC236}">
                <a16:creationId xmlns:a16="http://schemas.microsoft.com/office/drawing/2014/main" id="{0D00FB21-1C66-7500-90D8-24698CB912EE}"/>
              </a:ext>
            </a:extLst>
          </p:cNvPr>
          <p:cNvSpPr>
            <a:spLocks noGrp="1" noChangeArrowheads="1"/>
          </p:cNvSpPr>
          <p:nvPr>
            <p:ph type="title"/>
          </p:nvPr>
        </p:nvSpPr>
        <p:spPr>
          <a:xfrm>
            <a:off x="685800" y="304800"/>
            <a:ext cx="7772400" cy="533400"/>
          </a:xfrm>
        </p:spPr>
        <p:txBody>
          <a:bodyPr>
            <a:normAutofit fontScale="90000"/>
          </a:bodyPr>
          <a:lstStyle/>
          <a:p>
            <a:r>
              <a:rPr lang="en-US" altLang="en-US" sz="4300"/>
              <a:t>Trace a Program Execution</a:t>
            </a:r>
          </a:p>
        </p:txBody>
      </p:sp>
      <p:sp>
        <p:nvSpPr>
          <p:cNvPr id="22531" name="Rectangle 3">
            <a:extLst>
              <a:ext uri="{FF2B5EF4-FFF2-40B4-BE49-F238E27FC236}">
                <a16:creationId xmlns:a16="http://schemas.microsoft.com/office/drawing/2014/main" id="{F767FC84-333A-CD50-FD2A-F196DD09D757}"/>
              </a:ext>
            </a:extLst>
          </p:cNvPr>
          <p:cNvSpPr>
            <a:spLocks noGrp="1" noChangeArrowheads="1"/>
          </p:cNvSpPr>
          <p:nvPr>
            <p:ph type="body" idx="1"/>
          </p:nvPr>
        </p:nvSpPr>
        <p:spPr>
          <a:xfrm>
            <a:off x="152400" y="1066800"/>
            <a:ext cx="5562600" cy="5181600"/>
          </a:xfrm>
        </p:spPr>
        <p:txBody>
          <a:bodyPr/>
          <a:lstStyle/>
          <a:p>
            <a:pPr>
              <a:lnSpc>
                <a:spcPct val="80000"/>
              </a:lnSpc>
              <a:buFont typeface="Monotype Sorts"/>
              <a:buNone/>
            </a:pPr>
            <a:r>
              <a:rPr lang="en-US" altLang="en-US" sz="1800" dirty="0"/>
              <a:t>public class </a:t>
            </a:r>
            <a:r>
              <a:rPr lang="en-US" altLang="en-US" sz="1800" dirty="0" err="1"/>
              <a:t>ComputeArea</a:t>
            </a:r>
            <a:r>
              <a:rPr lang="en-US" altLang="en-US" sz="1800" dirty="0"/>
              <a:t> {</a:t>
            </a:r>
          </a:p>
          <a:p>
            <a:pPr>
              <a:lnSpc>
                <a:spcPct val="80000"/>
              </a:lnSpc>
              <a:buFont typeface="Monotype Sorts"/>
              <a:buNone/>
            </a:pPr>
            <a:r>
              <a:rPr lang="en-US" altLang="en-US" sz="1800" dirty="0"/>
              <a:t>  /** Main method */</a:t>
            </a:r>
          </a:p>
          <a:p>
            <a:pPr>
              <a:lnSpc>
                <a:spcPct val="80000"/>
              </a:lnSpc>
              <a:buFont typeface="Monotype Sorts"/>
              <a:buNone/>
            </a:pPr>
            <a:r>
              <a:rPr lang="en-US" altLang="en-US" sz="1800" dirty="0"/>
              <a:t>  public static void main(String[] </a:t>
            </a:r>
            <a:r>
              <a:rPr lang="en-US" altLang="en-US" sz="1800" dirty="0" err="1"/>
              <a:t>args</a:t>
            </a:r>
            <a:r>
              <a:rPr lang="en-US" altLang="en-US" sz="1800" dirty="0"/>
              <a:t>) {</a:t>
            </a:r>
          </a:p>
          <a:p>
            <a:pPr>
              <a:lnSpc>
                <a:spcPct val="80000"/>
              </a:lnSpc>
              <a:buFont typeface="Monotype Sorts"/>
              <a:buNone/>
            </a:pPr>
            <a:r>
              <a:rPr lang="en-US" altLang="en-US" sz="1800" dirty="0"/>
              <a:t>    double radius;</a:t>
            </a:r>
          </a:p>
          <a:p>
            <a:pPr>
              <a:lnSpc>
                <a:spcPct val="80000"/>
              </a:lnSpc>
              <a:buFont typeface="Monotype Sorts"/>
              <a:buNone/>
            </a:pPr>
            <a:r>
              <a:rPr lang="en-US" altLang="en-US" sz="1800" dirty="0"/>
              <a:t>    double area;</a:t>
            </a:r>
          </a:p>
          <a:p>
            <a:pPr>
              <a:lnSpc>
                <a:spcPct val="80000"/>
              </a:lnSpc>
              <a:buFont typeface="Monotype Sorts"/>
              <a:buNone/>
            </a:pPr>
            <a:r>
              <a:rPr lang="en-US" altLang="en-US" sz="1800" dirty="0"/>
              <a:t>    </a:t>
            </a:r>
          </a:p>
          <a:p>
            <a:pPr>
              <a:lnSpc>
                <a:spcPct val="80000"/>
              </a:lnSpc>
              <a:buFont typeface="Monotype Sorts"/>
              <a:buNone/>
            </a:pPr>
            <a:r>
              <a:rPr lang="en-US" altLang="en-US" sz="1800" dirty="0"/>
              <a:t>    // Assign a radius</a:t>
            </a:r>
          </a:p>
          <a:p>
            <a:pPr>
              <a:lnSpc>
                <a:spcPct val="80000"/>
              </a:lnSpc>
              <a:buFont typeface="Monotype Sorts"/>
              <a:buNone/>
            </a:pPr>
            <a:r>
              <a:rPr lang="en-US" altLang="en-US" sz="1800" dirty="0"/>
              <a:t>    radius = 20;</a:t>
            </a:r>
          </a:p>
          <a:p>
            <a:pPr>
              <a:lnSpc>
                <a:spcPct val="80000"/>
              </a:lnSpc>
              <a:buFont typeface="Monotype Sorts"/>
              <a:buNone/>
            </a:pPr>
            <a:r>
              <a:rPr lang="en-US" altLang="en-US" sz="1800" dirty="0"/>
              <a:t>    </a:t>
            </a:r>
          </a:p>
          <a:p>
            <a:pPr>
              <a:lnSpc>
                <a:spcPct val="80000"/>
              </a:lnSpc>
              <a:buFont typeface="Monotype Sorts"/>
              <a:buNone/>
            </a:pPr>
            <a:r>
              <a:rPr lang="en-US" altLang="en-US" sz="1800" dirty="0"/>
              <a:t>    // Compute area</a:t>
            </a:r>
          </a:p>
          <a:p>
            <a:pPr>
              <a:lnSpc>
                <a:spcPct val="80000"/>
              </a:lnSpc>
              <a:buFont typeface="Monotype Sorts"/>
              <a:buNone/>
            </a:pPr>
            <a:r>
              <a:rPr lang="en-US" altLang="en-US" sz="1800" dirty="0"/>
              <a:t>    area = radius * radius * 3.14159;</a:t>
            </a:r>
          </a:p>
          <a:p>
            <a:pPr>
              <a:lnSpc>
                <a:spcPct val="80000"/>
              </a:lnSpc>
              <a:buFont typeface="Monotype Sorts"/>
              <a:buNone/>
            </a:pPr>
            <a:r>
              <a:rPr lang="en-US" altLang="en-US" sz="1800" dirty="0"/>
              <a:t>    </a:t>
            </a:r>
          </a:p>
          <a:p>
            <a:pPr>
              <a:lnSpc>
                <a:spcPct val="80000"/>
              </a:lnSpc>
              <a:buFont typeface="Monotype Sorts"/>
              <a:buNone/>
            </a:pPr>
            <a:r>
              <a:rPr lang="en-US" altLang="en-US" sz="1800" dirty="0"/>
              <a:t>    // Display results</a:t>
            </a:r>
          </a:p>
          <a:p>
            <a:pPr>
              <a:lnSpc>
                <a:spcPct val="80000"/>
              </a:lnSpc>
              <a:buFont typeface="Monotype Sorts"/>
              <a:buNone/>
            </a:pPr>
            <a:r>
              <a:rPr lang="en-US" altLang="en-US" sz="1800" dirty="0"/>
              <a:t>    </a:t>
            </a:r>
            <a:r>
              <a:rPr lang="en-US" altLang="en-US" sz="1800" dirty="0" err="1"/>
              <a:t>System.out.println</a:t>
            </a:r>
            <a:r>
              <a:rPr lang="en-US" altLang="en-US" sz="1800" dirty="0"/>
              <a:t>("The area for the circle of radius " +</a:t>
            </a:r>
          </a:p>
          <a:p>
            <a:pPr>
              <a:lnSpc>
                <a:spcPct val="80000"/>
              </a:lnSpc>
              <a:buFont typeface="Monotype Sorts"/>
              <a:buNone/>
            </a:pPr>
            <a:r>
              <a:rPr lang="en-US" altLang="en-US" sz="1800" dirty="0"/>
              <a:t>      radius + " is " + area);</a:t>
            </a:r>
          </a:p>
          <a:p>
            <a:pPr>
              <a:lnSpc>
                <a:spcPct val="80000"/>
              </a:lnSpc>
              <a:buFont typeface="Monotype Sorts"/>
              <a:buNone/>
            </a:pPr>
            <a:r>
              <a:rPr lang="en-US" altLang="en-US" sz="1800" dirty="0"/>
              <a:t>  }</a:t>
            </a:r>
          </a:p>
          <a:p>
            <a:pPr>
              <a:lnSpc>
                <a:spcPct val="80000"/>
              </a:lnSpc>
              <a:buFont typeface="Monotype Sorts"/>
              <a:buNone/>
            </a:pPr>
            <a:r>
              <a:rPr lang="en-US" altLang="en-US" sz="1800" dirty="0"/>
              <a:t>}</a:t>
            </a:r>
          </a:p>
        </p:txBody>
      </p:sp>
      <p:sp>
        <p:nvSpPr>
          <p:cNvPr id="22532" name="Rectangle 4">
            <a:extLst>
              <a:ext uri="{FF2B5EF4-FFF2-40B4-BE49-F238E27FC236}">
                <a16:creationId xmlns:a16="http://schemas.microsoft.com/office/drawing/2014/main" id="{A0043C74-9E1C-3B27-A30E-C2FAC52F1688}"/>
              </a:ext>
            </a:extLst>
          </p:cNvPr>
          <p:cNvSpPr>
            <a:spLocks noChangeArrowheads="1"/>
          </p:cNvSpPr>
          <p:nvPr/>
        </p:nvSpPr>
        <p:spPr bwMode="auto">
          <a:xfrm>
            <a:off x="6858000" y="1752600"/>
            <a:ext cx="1524000" cy="381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solidFill>
                  <a:srgbClr val="FF0000"/>
                </a:solidFill>
              </a:rPr>
              <a:t>20</a:t>
            </a:r>
          </a:p>
        </p:txBody>
      </p:sp>
      <p:sp>
        <p:nvSpPr>
          <p:cNvPr id="22533" name="Text Box 5">
            <a:extLst>
              <a:ext uri="{FF2B5EF4-FFF2-40B4-BE49-F238E27FC236}">
                <a16:creationId xmlns:a16="http://schemas.microsoft.com/office/drawing/2014/main" id="{AB3AE80A-9EB3-059C-CAB8-B41FB84F70AB}"/>
              </a:ext>
            </a:extLst>
          </p:cNvPr>
          <p:cNvSpPr txBox="1">
            <a:spLocks noChangeArrowheads="1"/>
          </p:cNvSpPr>
          <p:nvPr/>
        </p:nvSpPr>
        <p:spPr bwMode="auto">
          <a:xfrm>
            <a:off x="6019800" y="17526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radius</a:t>
            </a:r>
          </a:p>
        </p:txBody>
      </p:sp>
      <p:sp>
        <p:nvSpPr>
          <p:cNvPr id="22534" name="Text Box 6">
            <a:extLst>
              <a:ext uri="{FF2B5EF4-FFF2-40B4-BE49-F238E27FC236}">
                <a16:creationId xmlns:a16="http://schemas.microsoft.com/office/drawing/2014/main" id="{65A34520-14A2-3AD0-80A9-E6A7374E3017}"/>
              </a:ext>
            </a:extLst>
          </p:cNvPr>
          <p:cNvSpPr txBox="1">
            <a:spLocks noChangeArrowheads="1"/>
          </p:cNvSpPr>
          <p:nvPr/>
        </p:nvSpPr>
        <p:spPr bwMode="auto">
          <a:xfrm>
            <a:off x="6858000" y="1219200"/>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memory</a:t>
            </a:r>
          </a:p>
        </p:txBody>
      </p:sp>
      <p:sp>
        <p:nvSpPr>
          <p:cNvPr id="22535" name="Rectangle 7">
            <a:extLst>
              <a:ext uri="{FF2B5EF4-FFF2-40B4-BE49-F238E27FC236}">
                <a16:creationId xmlns:a16="http://schemas.microsoft.com/office/drawing/2014/main" id="{E5754DF7-66BA-D723-92AB-0E6D899B2121}"/>
              </a:ext>
            </a:extLst>
          </p:cNvPr>
          <p:cNvSpPr>
            <a:spLocks noChangeArrowheads="1"/>
          </p:cNvSpPr>
          <p:nvPr/>
        </p:nvSpPr>
        <p:spPr bwMode="auto">
          <a:xfrm>
            <a:off x="6858000" y="2209800"/>
            <a:ext cx="1524000" cy="381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dirty="0">
                <a:solidFill>
                  <a:srgbClr val="FF0000"/>
                </a:solidFill>
              </a:rPr>
              <a:t>1256.636</a:t>
            </a:r>
          </a:p>
        </p:txBody>
      </p:sp>
      <p:sp>
        <p:nvSpPr>
          <p:cNvPr id="22536" name="Text Box 8">
            <a:extLst>
              <a:ext uri="{FF2B5EF4-FFF2-40B4-BE49-F238E27FC236}">
                <a16:creationId xmlns:a16="http://schemas.microsoft.com/office/drawing/2014/main" id="{238D5AB5-86DC-3877-3FFD-278F1B866EEA}"/>
              </a:ext>
            </a:extLst>
          </p:cNvPr>
          <p:cNvSpPr txBox="1">
            <a:spLocks noChangeArrowheads="1"/>
          </p:cNvSpPr>
          <p:nvPr/>
        </p:nvSpPr>
        <p:spPr bwMode="auto">
          <a:xfrm>
            <a:off x="6019800" y="2209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area</a:t>
            </a:r>
          </a:p>
        </p:txBody>
      </p:sp>
      <p:sp>
        <p:nvSpPr>
          <p:cNvPr id="22537" name="Rectangle 10">
            <a:extLst>
              <a:ext uri="{FF2B5EF4-FFF2-40B4-BE49-F238E27FC236}">
                <a16:creationId xmlns:a16="http://schemas.microsoft.com/office/drawing/2014/main" id="{8DF6F85B-75A3-2EC1-F190-AF979BF5325D}"/>
              </a:ext>
            </a:extLst>
          </p:cNvPr>
          <p:cNvSpPr>
            <a:spLocks noChangeArrowheads="1"/>
          </p:cNvSpPr>
          <p:nvPr/>
        </p:nvSpPr>
        <p:spPr bwMode="auto">
          <a:xfrm>
            <a:off x="457200" y="4648200"/>
            <a:ext cx="5105400" cy="53340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1600"/>
          </a:p>
        </p:txBody>
      </p:sp>
      <p:pic>
        <p:nvPicPr>
          <p:cNvPr id="22538" name="Picture 12">
            <a:extLst>
              <a:ext uri="{FF2B5EF4-FFF2-40B4-BE49-F238E27FC236}">
                <a16:creationId xmlns:a16="http://schemas.microsoft.com/office/drawing/2014/main" id="{D2E495EE-53B9-04ED-3A54-D46B3F27E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5105400"/>
            <a:ext cx="33528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22539" name="Line 13">
            <a:extLst>
              <a:ext uri="{FF2B5EF4-FFF2-40B4-BE49-F238E27FC236}">
                <a16:creationId xmlns:a16="http://schemas.microsoft.com/office/drawing/2014/main" id="{07FF56B0-45A1-0FA8-F3B5-6863F05DC587}"/>
              </a:ext>
            </a:extLst>
          </p:cNvPr>
          <p:cNvSpPr>
            <a:spLocks noChangeShapeType="1"/>
          </p:cNvSpPr>
          <p:nvPr/>
        </p:nvSpPr>
        <p:spPr bwMode="auto">
          <a:xfrm>
            <a:off x="3035300" y="5081588"/>
            <a:ext cx="2765425" cy="420687"/>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
        <p:nvSpPr>
          <p:cNvPr id="190478" name="AutoShape 14">
            <a:extLst>
              <a:ext uri="{FF2B5EF4-FFF2-40B4-BE49-F238E27FC236}">
                <a16:creationId xmlns:a16="http://schemas.microsoft.com/office/drawing/2014/main" id="{ACB32D8E-DB27-DA3E-17ED-1075A65A18BF}"/>
              </a:ext>
            </a:extLst>
          </p:cNvPr>
          <p:cNvSpPr>
            <a:spLocks noChangeArrowheads="1"/>
          </p:cNvSpPr>
          <p:nvPr/>
        </p:nvSpPr>
        <p:spPr bwMode="auto">
          <a:xfrm>
            <a:off x="6108700" y="3736975"/>
            <a:ext cx="2687638" cy="692150"/>
          </a:xfrm>
          <a:prstGeom prst="wedgeRoundRectCallout">
            <a:avLst>
              <a:gd name="adj1" fmla="val -54134"/>
              <a:gd name="adj2" fmla="val 201606"/>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a:t>print a message to the console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4" presetClass="entr" presetSubtype="0" fill="hold" grpId="0" nodeType="withEffect">
                                  <p:stCondLst>
                                    <p:cond delay="0"/>
                                  </p:stCondLst>
                                  <p:childTnLst>
                                    <p:set>
                                      <p:cBhvr>
                                        <p:cTn id="6" dur="1" fill="hold">
                                          <p:stCondLst>
                                            <p:cond delay="0"/>
                                          </p:stCondLst>
                                        </p:cTn>
                                        <p:tgtEl>
                                          <p:spTgt spid="190478"/>
                                        </p:tgtEl>
                                        <p:attrNameLst>
                                          <p:attrName>style.visibility</p:attrName>
                                        </p:attrNameLst>
                                      </p:cBhvr>
                                      <p:to>
                                        <p:strVal val="visible"/>
                                      </p:to>
                                    </p:set>
                                    <p:anim to="" calcmode="lin" valueType="num">
                                      <p:cBhvr>
                                        <p:cTn id="7" dur="1" fill="hold"/>
                                        <p:tgtEl>
                                          <p:spTgt spid="19047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38442-3B71-09E0-96DA-51CD27BF1714}"/>
              </a:ext>
            </a:extLst>
          </p:cNvPr>
          <p:cNvSpPr>
            <a:spLocks noGrp="1"/>
          </p:cNvSpPr>
          <p:nvPr>
            <p:ph type="title"/>
          </p:nvPr>
        </p:nvSpPr>
        <p:spPr/>
        <p:txBody>
          <a:bodyPr/>
          <a:lstStyle/>
          <a:p>
            <a:r>
              <a:rPr lang="en-US" dirty="0"/>
              <a:t>Input </a:t>
            </a:r>
          </a:p>
        </p:txBody>
      </p:sp>
      <p:sp>
        <p:nvSpPr>
          <p:cNvPr id="3" name="Content Placeholder 2">
            <a:extLst>
              <a:ext uri="{FF2B5EF4-FFF2-40B4-BE49-F238E27FC236}">
                <a16:creationId xmlns:a16="http://schemas.microsoft.com/office/drawing/2014/main" id="{65A1AE92-7ECE-E5E7-087E-9F6FCBBAA37C}"/>
              </a:ext>
            </a:extLst>
          </p:cNvPr>
          <p:cNvSpPr>
            <a:spLocks noGrp="1"/>
          </p:cNvSpPr>
          <p:nvPr>
            <p:ph idx="1"/>
          </p:nvPr>
        </p:nvSpPr>
        <p:spPr/>
        <p:txBody>
          <a:bodyPr/>
          <a:lstStyle/>
          <a:p>
            <a:r>
              <a:rPr lang="en-US" dirty="0"/>
              <a:t>Storing data in the computer’s memory is a two-step process:</a:t>
            </a:r>
          </a:p>
          <a:p>
            <a:pPr lvl="1"/>
            <a:r>
              <a:rPr lang="en-US" dirty="0"/>
              <a:t>Instruct the computer to allocate memory</a:t>
            </a:r>
          </a:p>
          <a:p>
            <a:pPr lvl="1"/>
            <a:r>
              <a:rPr lang="en-US" dirty="0"/>
              <a:t>Include statements in the program to put the data into to allocated memory</a:t>
            </a:r>
          </a:p>
        </p:txBody>
      </p:sp>
    </p:spTree>
    <p:extLst>
      <p:ext uri="{BB962C8B-B14F-4D97-AF65-F5344CB8AC3E}">
        <p14:creationId xmlns:p14="http://schemas.microsoft.com/office/powerpoint/2010/main" val="93381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a:xfrm>
            <a:off x="457200" y="1371600"/>
            <a:ext cx="8229600" cy="3195656"/>
          </a:xfrm>
        </p:spPr>
        <p:txBody>
          <a:bodyPr>
            <a:normAutofit/>
          </a:bodyPr>
          <a:lstStyle/>
          <a:p>
            <a:r>
              <a:rPr lang="en-US" sz="2400" dirty="0">
                <a:sym typeface="Cabin"/>
              </a:rPr>
              <a:t>A </a:t>
            </a:r>
            <a:r>
              <a:rPr lang="en-US" sz="2400" b="1" dirty="0">
                <a:solidFill>
                  <a:schemeClr val="accent1"/>
                </a:solidFill>
                <a:sym typeface="Cabin"/>
              </a:rPr>
              <a:t>variable</a:t>
            </a:r>
            <a:r>
              <a:rPr lang="en-US" sz="2400" dirty="0">
                <a:sym typeface="Cabin"/>
              </a:rPr>
              <a:t> is a named place in the memory where a programmer can store data (e.g. numbers and letters) and later retrieve the data using the variable </a:t>
            </a:r>
            <a:r>
              <a:rPr lang="en-US" sz="2400" dirty="0">
                <a:sym typeface="Arial"/>
              </a:rPr>
              <a:t>“</a:t>
            </a:r>
            <a:r>
              <a:rPr lang="en-US" sz="2400" dirty="0">
                <a:sym typeface="Cabin"/>
              </a:rPr>
              <a:t>name</a:t>
            </a:r>
            <a:r>
              <a:rPr lang="en-US" sz="2400" dirty="0">
                <a:sym typeface="Arial"/>
              </a:rPr>
              <a:t>”</a:t>
            </a:r>
          </a:p>
          <a:p>
            <a:r>
              <a:rPr lang="en-US" sz="2400" dirty="0">
                <a:sym typeface="Arial"/>
              </a:rPr>
              <a:t>Data item in a variable is called its </a:t>
            </a:r>
            <a:r>
              <a:rPr lang="en-US" sz="2400" b="1" dirty="0">
                <a:solidFill>
                  <a:schemeClr val="accent1"/>
                </a:solidFill>
                <a:sym typeface="Arial"/>
              </a:rPr>
              <a:t>value </a:t>
            </a:r>
          </a:p>
          <a:p>
            <a:r>
              <a:rPr lang="en-US" sz="2400" dirty="0">
                <a:sym typeface="Cabin"/>
              </a:rPr>
              <a:t>You can change the contents of a </a:t>
            </a:r>
            <a:r>
              <a:rPr lang="en-US" sz="2400" b="1" dirty="0">
                <a:solidFill>
                  <a:schemeClr val="accent1"/>
                </a:solidFill>
                <a:sym typeface="Cabin"/>
              </a:rPr>
              <a:t>variable</a:t>
            </a:r>
            <a:r>
              <a:rPr lang="en-US" sz="2400" dirty="0">
                <a:sym typeface="Cabin"/>
              </a:rPr>
              <a:t> in a later statement</a:t>
            </a:r>
          </a:p>
          <a:p>
            <a:endParaRPr lang="en-US" sz="2400" dirty="0"/>
          </a:p>
        </p:txBody>
      </p:sp>
      <p:grpSp>
        <p:nvGrpSpPr>
          <p:cNvPr id="4" name="Group 3"/>
          <p:cNvGrpSpPr/>
          <p:nvPr/>
        </p:nvGrpSpPr>
        <p:grpSpPr>
          <a:xfrm>
            <a:off x="0" y="4114800"/>
            <a:ext cx="9144000" cy="2743200"/>
            <a:chOff x="0" y="4114800"/>
            <a:chExt cx="9144000" cy="2743200"/>
          </a:xfrm>
        </p:grpSpPr>
        <p:sp>
          <p:nvSpPr>
            <p:cNvPr id="14" name="Rectangle 13"/>
            <p:cNvSpPr/>
            <p:nvPr/>
          </p:nvSpPr>
          <p:spPr>
            <a:xfrm>
              <a:off x="0" y="4114800"/>
              <a:ext cx="9144000" cy="2743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16" name="Group 15"/>
            <p:cNvGrpSpPr/>
            <p:nvPr/>
          </p:nvGrpSpPr>
          <p:grpSpPr>
            <a:xfrm>
              <a:off x="258418" y="4419600"/>
              <a:ext cx="8428382" cy="2264222"/>
              <a:chOff x="258418" y="4419600"/>
              <a:chExt cx="8428382" cy="2264222"/>
            </a:xfrm>
          </p:grpSpPr>
          <p:sp>
            <p:nvSpPr>
              <p:cNvPr id="17" name="Shape 259"/>
              <p:cNvSpPr txBox="1"/>
              <p:nvPr/>
            </p:nvSpPr>
            <p:spPr>
              <a:xfrm>
                <a:off x="4924425" y="4533918"/>
                <a:ext cx="3762375" cy="952500"/>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buClr>
                    <a:srgbClr val="FF7F00"/>
                  </a:buClr>
                  <a:buSzPct val="25000"/>
                </a:pPr>
                <a:r>
                  <a:rPr lang="en-US" sz="3700" dirty="0">
                    <a:solidFill>
                      <a:schemeClr val="lt1"/>
                    </a:solidFill>
                    <a:latin typeface="Arial" charset="0"/>
                    <a:ea typeface="Arial" charset="0"/>
                    <a:cs typeface="Arial" charset="0"/>
                    <a:sym typeface="Cabin"/>
                  </a:rPr>
                  <a:t> 12.2</a:t>
                </a:r>
              </a:p>
            </p:txBody>
          </p:sp>
          <p:sp>
            <p:nvSpPr>
              <p:cNvPr id="18" name="Shape 260"/>
              <p:cNvSpPr txBox="1"/>
              <p:nvPr/>
            </p:nvSpPr>
            <p:spPr>
              <a:xfrm>
                <a:off x="4405312" y="4643456"/>
                <a:ext cx="333375" cy="647699"/>
              </a:xfrm>
              <a:prstGeom prst="rect">
                <a:avLst/>
              </a:prstGeom>
              <a:noFill/>
              <a:ln>
                <a:noFill/>
              </a:ln>
            </p:spPr>
            <p:txBody>
              <a:bodyPr lIns="0" tIns="0" rIns="0" bIns="0" anchor="ctr" anchorCtr="0">
                <a:noAutofit/>
              </a:bodyPr>
              <a:lstStyle/>
              <a:p>
                <a:pPr algn="ctr">
                  <a:buClr>
                    <a:srgbClr val="00FF00"/>
                  </a:buClr>
                  <a:buSzPct val="25000"/>
                </a:pPr>
                <a:r>
                  <a:rPr lang="en-US" sz="3900" dirty="0">
                    <a:solidFill>
                      <a:srgbClr val="00FF00"/>
                    </a:solidFill>
                    <a:latin typeface="Arial" charset="0"/>
                    <a:ea typeface="Arial" charset="0"/>
                    <a:cs typeface="Arial" charset="0"/>
                    <a:sym typeface="Cabin"/>
                  </a:rPr>
                  <a:t>x</a:t>
                </a:r>
              </a:p>
            </p:txBody>
          </p:sp>
          <p:sp>
            <p:nvSpPr>
              <p:cNvPr id="19" name="Shape 261"/>
              <p:cNvSpPr txBox="1"/>
              <p:nvPr/>
            </p:nvSpPr>
            <p:spPr>
              <a:xfrm>
                <a:off x="4924425" y="5731322"/>
                <a:ext cx="3762375" cy="952500"/>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buClr>
                    <a:srgbClr val="FF7F00"/>
                  </a:buClr>
                  <a:buSzPct val="25000"/>
                </a:pPr>
                <a:r>
                  <a:rPr lang="en-US" sz="3700" dirty="0">
                    <a:solidFill>
                      <a:schemeClr val="lt1"/>
                    </a:solidFill>
                    <a:latin typeface="Arial" charset="0"/>
                    <a:ea typeface="Arial" charset="0"/>
                    <a:cs typeface="Arial" charset="0"/>
                    <a:sym typeface="Cabin"/>
                  </a:rPr>
                  <a:t> 14               </a:t>
                </a:r>
              </a:p>
            </p:txBody>
          </p:sp>
          <p:sp>
            <p:nvSpPr>
              <p:cNvPr id="20" name="Shape 262"/>
              <p:cNvSpPr txBox="1"/>
              <p:nvPr/>
            </p:nvSpPr>
            <p:spPr>
              <a:xfrm>
                <a:off x="4435079" y="5872181"/>
                <a:ext cx="303608" cy="647699"/>
              </a:xfrm>
              <a:prstGeom prst="rect">
                <a:avLst/>
              </a:prstGeom>
              <a:noFill/>
              <a:ln>
                <a:noFill/>
              </a:ln>
            </p:spPr>
            <p:txBody>
              <a:bodyPr lIns="0" tIns="0" rIns="0" bIns="0" anchor="ctr" anchorCtr="0">
                <a:noAutofit/>
              </a:bodyPr>
              <a:lstStyle/>
              <a:p>
                <a:pPr algn="ctr">
                  <a:buClr>
                    <a:srgbClr val="00FF00"/>
                  </a:buClr>
                  <a:buSzPct val="25000"/>
                </a:pPr>
                <a:r>
                  <a:rPr lang="en-US" sz="3900" dirty="0">
                    <a:solidFill>
                      <a:srgbClr val="00FF00"/>
                    </a:solidFill>
                    <a:latin typeface="Arial" charset="0"/>
                    <a:ea typeface="Arial" charset="0"/>
                    <a:cs typeface="Arial" charset="0"/>
                    <a:sym typeface="Cabin"/>
                  </a:rPr>
                  <a:t>y</a:t>
                </a:r>
              </a:p>
            </p:txBody>
          </p:sp>
          <p:sp>
            <p:nvSpPr>
              <p:cNvPr id="21" name="Shape 263"/>
              <p:cNvSpPr txBox="1"/>
              <p:nvPr/>
            </p:nvSpPr>
            <p:spPr>
              <a:xfrm>
                <a:off x="258418" y="4419600"/>
                <a:ext cx="3029175" cy="2252681"/>
              </a:xfrm>
              <a:prstGeom prst="rect">
                <a:avLst/>
              </a:prstGeom>
              <a:noFill/>
              <a:ln>
                <a:noFill/>
              </a:ln>
            </p:spPr>
            <p:txBody>
              <a:bodyPr lIns="0" tIns="0" rIns="0" bIns="0" anchor="ctr" anchorCtr="0">
                <a:noAutofit/>
              </a:bodyPr>
              <a:lstStyle/>
              <a:p>
                <a:pPr>
                  <a:buClr>
                    <a:srgbClr val="00FF00"/>
                  </a:buClr>
                  <a:buSzPct val="25000"/>
                </a:pPr>
                <a:endParaRPr lang="en-US" sz="3600" dirty="0">
                  <a:solidFill>
                    <a:srgbClr val="00FF00"/>
                  </a:solidFill>
                  <a:latin typeface="Courier"/>
                  <a:ea typeface="Courier"/>
                  <a:cs typeface="Courier"/>
                  <a:sym typeface="Courier New"/>
                </a:endParaRPr>
              </a:p>
              <a:p>
                <a:pPr>
                  <a:buClr>
                    <a:srgbClr val="00FF00"/>
                  </a:buClr>
                  <a:buSzPct val="25000"/>
                </a:pPr>
                <a:r>
                  <a:rPr lang="en-US" sz="3600" dirty="0">
                    <a:solidFill>
                      <a:srgbClr val="00FF00"/>
                    </a:solidFill>
                    <a:latin typeface="Courier"/>
                    <a:ea typeface="Courier"/>
                    <a:cs typeface="Courier"/>
                    <a:sym typeface="Courier New"/>
                  </a:rPr>
                  <a:t>double x;</a:t>
                </a:r>
              </a:p>
              <a:p>
                <a:pPr>
                  <a:buClr>
                    <a:srgbClr val="00FF00"/>
                  </a:buClr>
                  <a:buSzPct val="25000"/>
                </a:pPr>
                <a:r>
                  <a:rPr lang="en-US" sz="3600" dirty="0" err="1">
                    <a:solidFill>
                      <a:srgbClr val="00FF00"/>
                    </a:solidFill>
                    <a:latin typeface="Courier"/>
                    <a:ea typeface="Courier"/>
                    <a:cs typeface="Courier"/>
                    <a:sym typeface="Courier New"/>
                  </a:rPr>
                  <a:t>int</a:t>
                </a:r>
                <a:r>
                  <a:rPr lang="en-US" sz="3600" dirty="0">
                    <a:solidFill>
                      <a:srgbClr val="00FF00"/>
                    </a:solidFill>
                    <a:latin typeface="Courier"/>
                    <a:ea typeface="Courier"/>
                    <a:cs typeface="Courier"/>
                    <a:sym typeface="Courier New"/>
                  </a:rPr>
                  <a:t> y;</a:t>
                </a:r>
              </a:p>
              <a:p>
                <a:pPr>
                  <a:buClr>
                    <a:srgbClr val="00FF00"/>
                  </a:buClr>
                  <a:buSzPct val="25000"/>
                </a:pPr>
                <a:r>
                  <a:rPr lang="en-US" sz="3600" dirty="0">
                    <a:solidFill>
                      <a:srgbClr val="00FF00"/>
                    </a:solidFill>
                    <a:latin typeface="Courier"/>
                    <a:ea typeface="Courier"/>
                    <a:cs typeface="Courier"/>
                    <a:sym typeface="Courier New"/>
                  </a:rPr>
                  <a:t>x </a:t>
                </a:r>
                <a:r>
                  <a:rPr lang="en-US" sz="3600" dirty="0">
                    <a:solidFill>
                      <a:srgbClr val="FFFFFF"/>
                    </a:solidFill>
                    <a:latin typeface="Courier"/>
                    <a:ea typeface="Courier"/>
                    <a:cs typeface="Courier"/>
                    <a:sym typeface="Courier New"/>
                  </a:rPr>
                  <a:t>=</a:t>
                </a:r>
                <a:r>
                  <a:rPr lang="en-US" sz="3600" dirty="0">
                    <a:solidFill>
                      <a:srgbClr val="FFFF00"/>
                    </a:solidFill>
                    <a:latin typeface="Courier"/>
                    <a:ea typeface="Courier"/>
                    <a:cs typeface="Courier"/>
                    <a:sym typeface="Courier New"/>
                  </a:rPr>
                  <a:t> </a:t>
                </a:r>
                <a:r>
                  <a:rPr lang="en-US" sz="3600" dirty="0">
                    <a:solidFill>
                      <a:srgbClr val="FF9900"/>
                    </a:solidFill>
                    <a:latin typeface="Courier"/>
                    <a:ea typeface="Courier"/>
                    <a:cs typeface="Courier"/>
                    <a:sym typeface="Courier New"/>
                  </a:rPr>
                  <a:t>12.2;</a:t>
                </a:r>
              </a:p>
              <a:p>
                <a:pPr>
                  <a:buClr>
                    <a:srgbClr val="00FF00"/>
                  </a:buClr>
                  <a:buSzPct val="25000"/>
                </a:pPr>
                <a:r>
                  <a:rPr lang="en-US" sz="3600" dirty="0">
                    <a:solidFill>
                      <a:srgbClr val="00FF00"/>
                    </a:solidFill>
                    <a:latin typeface="Courier"/>
                    <a:ea typeface="Courier"/>
                    <a:cs typeface="Courier"/>
                    <a:sym typeface="Courier New"/>
                  </a:rPr>
                  <a:t>y</a:t>
                </a:r>
                <a:r>
                  <a:rPr lang="en-US" sz="3600" dirty="0">
                    <a:solidFill>
                      <a:srgbClr val="FFFF00"/>
                    </a:solidFill>
                    <a:latin typeface="Courier"/>
                    <a:ea typeface="Courier"/>
                    <a:cs typeface="Courier"/>
                    <a:sym typeface="Courier New"/>
                  </a:rPr>
                  <a:t> </a:t>
                </a:r>
                <a:r>
                  <a:rPr lang="en-US" sz="3600" dirty="0">
                    <a:solidFill>
                      <a:srgbClr val="FFFFFF"/>
                    </a:solidFill>
                    <a:latin typeface="Courier"/>
                    <a:ea typeface="Courier"/>
                    <a:cs typeface="Courier"/>
                    <a:sym typeface="Courier New"/>
                  </a:rPr>
                  <a:t>=</a:t>
                </a:r>
                <a:r>
                  <a:rPr lang="en-US" sz="3600" dirty="0">
                    <a:solidFill>
                      <a:srgbClr val="FFFF00"/>
                    </a:solidFill>
                    <a:latin typeface="Courier"/>
                    <a:ea typeface="Courier"/>
                    <a:cs typeface="Courier"/>
                    <a:sym typeface="Courier New"/>
                  </a:rPr>
                  <a:t> </a:t>
                </a:r>
                <a:r>
                  <a:rPr lang="en-US" sz="3600" dirty="0">
                    <a:solidFill>
                      <a:srgbClr val="FF9900"/>
                    </a:solidFill>
                    <a:latin typeface="Courier"/>
                    <a:ea typeface="Courier"/>
                    <a:cs typeface="Courier"/>
                    <a:sym typeface="Courier New"/>
                  </a:rPr>
                  <a:t>14;</a:t>
                </a:r>
              </a:p>
              <a:p>
                <a:pPr algn="ctr"/>
                <a:endParaRPr sz="3600" b="1" dirty="0">
                  <a:latin typeface="Courier"/>
                  <a:ea typeface="Courier"/>
                  <a:cs typeface="Courier"/>
                  <a:sym typeface="Courier New"/>
                </a:endParaRPr>
              </a:p>
            </p:txBody>
          </p:sp>
        </p:grpSp>
      </p:grpSp>
    </p:spTree>
    <p:extLst>
      <p:ext uri="{BB962C8B-B14F-4D97-AF65-F5344CB8AC3E}">
        <p14:creationId xmlns:p14="http://schemas.microsoft.com/office/powerpoint/2010/main" val="105766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a:xfrm>
            <a:off x="457200" y="1446925"/>
            <a:ext cx="8229600" cy="2667876"/>
          </a:xfrm>
        </p:spPr>
        <p:txBody>
          <a:bodyPr>
            <a:normAutofit/>
          </a:bodyPr>
          <a:lstStyle/>
          <a:p>
            <a:r>
              <a:rPr lang="en-US" sz="2400" dirty="0">
                <a:sym typeface="Cabin"/>
              </a:rPr>
              <a:t>A </a:t>
            </a:r>
            <a:r>
              <a:rPr lang="en-US" sz="2400" b="1" dirty="0">
                <a:solidFill>
                  <a:schemeClr val="accent1"/>
                </a:solidFill>
                <a:sym typeface="Cabin"/>
              </a:rPr>
              <a:t>variable</a:t>
            </a:r>
            <a:r>
              <a:rPr lang="en-US" sz="2400" dirty="0">
                <a:sym typeface="Cabin"/>
              </a:rPr>
              <a:t> is a named place in the memory where a programmer can store data (e.g. numbers and letters) and later retrieve the data using the variable </a:t>
            </a:r>
            <a:r>
              <a:rPr lang="en-US" sz="2400" dirty="0">
                <a:sym typeface="Arial"/>
              </a:rPr>
              <a:t>“</a:t>
            </a:r>
            <a:r>
              <a:rPr lang="en-US" sz="2400" dirty="0">
                <a:sym typeface="Cabin"/>
              </a:rPr>
              <a:t>name</a:t>
            </a:r>
            <a:r>
              <a:rPr lang="en-US" sz="2400" dirty="0">
                <a:sym typeface="Arial"/>
              </a:rPr>
              <a:t>”</a:t>
            </a:r>
          </a:p>
          <a:p>
            <a:r>
              <a:rPr lang="en-US" sz="2400" dirty="0">
                <a:sym typeface="Arial"/>
              </a:rPr>
              <a:t>Data item in a variable is called its </a:t>
            </a:r>
            <a:r>
              <a:rPr lang="en-US" sz="2400" b="1" dirty="0">
                <a:solidFill>
                  <a:schemeClr val="accent1"/>
                </a:solidFill>
                <a:sym typeface="Arial"/>
              </a:rPr>
              <a:t>value </a:t>
            </a:r>
          </a:p>
          <a:p>
            <a:r>
              <a:rPr lang="en-US" sz="2400" dirty="0">
                <a:sym typeface="Cabin"/>
              </a:rPr>
              <a:t>You can change the contents of a </a:t>
            </a:r>
            <a:r>
              <a:rPr lang="en-US" sz="2400" b="1" dirty="0">
                <a:solidFill>
                  <a:schemeClr val="accent1"/>
                </a:solidFill>
                <a:sym typeface="Cabin"/>
              </a:rPr>
              <a:t>variable</a:t>
            </a:r>
            <a:r>
              <a:rPr lang="en-US" sz="2400" dirty="0">
                <a:sym typeface="Cabin"/>
              </a:rPr>
              <a:t> in a later statement</a:t>
            </a:r>
          </a:p>
          <a:p>
            <a:endParaRPr lang="en-US" sz="2400" dirty="0"/>
          </a:p>
        </p:txBody>
      </p:sp>
      <p:grpSp>
        <p:nvGrpSpPr>
          <p:cNvPr id="4" name="Group 3"/>
          <p:cNvGrpSpPr/>
          <p:nvPr/>
        </p:nvGrpSpPr>
        <p:grpSpPr>
          <a:xfrm>
            <a:off x="0" y="4114800"/>
            <a:ext cx="9144000" cy="2743200"/>
            <a:chOff x="0" y="4114800"/>
            <a:chExt cx="9144000" cy="2743200"/>
          </a:xfrm>
        </p:grpSpPr>
        <p:grpSp>
          <p:nvGrpSpPr>
            <p:cNvPr id="15" name="Group 14"/>
            <p:cNvGrpSpPr/>
            <p:nvPr/>
          </p:nvGrpSpPr>
          <p:grpSpPr>
            <a:xfrm>
              <a:off x="0" y="4114800"/>
              <a:ext cx="9144000" cy="2743200"/>
              <a:chOff x="0" y="4114800"/>
              <a:chExt cx="9144000" cy="2743200"/>
            </a:xfrm>
          </p:grpSpPr>
          <p:sp>
            <p:nvSpPr>
              <p:cNvPr id="14" name="Rectangle 13"/>
              <p:cNvSpPr/>
              <p:nvPr/>
            </p:nvSpPr>
            <p:spPr>
              <a:xfrm>
                <a:off x="0" y="4114800"/>
                <a:ext cx="9144000" cy="2743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5" name="Group 4"/>
              <p:cNvGrpSpPr/>
              <p:nvPr/>
            </p:nvGrpSpPr>
            <p:grpSpPr>
              <a:xfrm>
                <a:off x="3886200" y="4515562"/>
                <a:ext cx="4414837" cy="2181225"/>
                <a:chOff x="7138988" y="3812373"/>
                <a:chExt cx="4414837" cy="2181225"/>
              </a:xfrm>
            </p:grpSpPr>
            <p:sp>
              <p:nvSpPr>
                <p:cNvPr id="6" name="Shape 259"/>
                <p:cNvSpPr txBox="1"/>
                <p:nvPr/>
              </p:nvSpPr>
              <p:spPr>
                <a:xfrm>
                  <a:off x="7791450" y="3812373"/>
                  <a:ext cx="3762375" cy="952500"/>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buClr>
                      <a:srgbClr val="FF7F00"/>
                    </a:buClr>
                    <a:buSzPct val="25000"/>
                  </a:pPr>
                  <a:r>
                    <a:rPr lang="en-US" sz="3700" dirty="0">
                      <a:solidFill>
                        <a:schemeClr val="lt1"/>
                      </a:solidFill>
                      <a:latin typeface="Arial" charset="0"/>
                      <a:ea typeface="Arial" charset="0"/>
                      <a:cs typeface="Arial" charset="0"/>
                      <a:sym typeface="Cabin"/>
                    </a:rPr>
                    <a:t> 12.2</a:t>
                  </a:r>
                </a:p>
              </p:txBody>
            </p:sp>
            <p:sp>
              <p:nvSpPr>
                <p:cNvPr id="7" name="Shape 260"/>
                <p:cNvSpPr txBox="1"/>
                <p:nvPr/>
              </p:nvSpPr>
              <p:spPr>
                <a:xfrm>
                  <a:off x="7150894" y="3960011"/>
                  <a:ext cx="333375" cy="647699"/>
                </a:xfrm>
                <a:prstGeom prst="rect">
                  <a:avLst/>
                </a:prstGeom>
                <a:noFill/>
                <a:ln>
                  <a:noFill/>
                </a:ln>
              </p:spPr>
              <p:txBody>
                <a:bodyPr lIns="0" tIns="0" rIns="0" bIns="0" anchor="ctr" anchorCtr="0">
                  <a:noAutofit/>
                </a:bodyPr>
                <a:lstStyle/>
                <a:p>
                  <a:pPr algn="ctr">
                    <a:buClr>
                      <a:srgbClr val="00FF00"/>
                    </a:buClr>
                    <a:buSzPct val="25000"/>
                  </a:pPr>
                  <a:r>
                    <a:rPr lang="en-US" sz="3900" dirty="0">
                      <a:solidFill>
                        <a:srgbClr val="00FF00"/>
                      </a:solidFill>
                      <a:latin typeface="Arial" charset="0"/>
                      <a:ea typeface="Arial" charset="0"/>
                      <a:cs typeface="Arial" charset="0"/>
                      <a:sym typeface="Cabin"/>
                    </a:rPr>
                    <a:t>x</a:t>
                  </a:r>
                </a:p>
              </p:txBody>
            </p:sp>
            <p:sp>
              <p:nvSpPr>
                <p:cNvPr id="8" name="Shape 261"/>
                <p:cNvSpPr txBox="1"/>
                <p:nvPr/>
              </p:nvSpPr>
              <p:spPr>
                <a:xfrm>
                  <a:off x="7762875" y="5041098"/>
                  <a:ext cx="3762375" cy="952500"/>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buClr>
                      <a:srgbClr val="FF7F00"/>
                    </a:buClr>
                    <a:buSzPct val="25000"/>
                  </a:pPr>
                  <a:r>
                    <a:rPr lang="en-US" sz="3700" dirty="0">
                      <a:solidFill>
                        <a:schemeClr val="lt1"/>
                      </a:solidFill>
                      <a:latin typeface="Arial" charset="0"/>
                      <a:ea typeface="Arial" charset="0"/>
                      <a:cs typeface="Arial" charset="0"/>
                      <a:sym typeface="Cabin"/>
                    </a:rPr>
                    <a:t> 14               </a:t>
                  </a:r>
                </a:p>
              </p:txBody>
            </p:sp>
            <p:sp>
              <p:nvSpPr>
                <p:cNvPr id="9" name="Shape 262"/>
                <p:cNvSpPr txBox="1"/>
                <p:nvPr/>
              </p:nvSpPr>
              <p:spPr>
                <a:xfrm>
                  <a:off x="7138988" y="5193499"/>
                  <a:ext cx="303608" cy="647699"/>
                </a:xfrm>
                <a:prstGeom prst="rect">
                  <a:avLst/>
                </a:prstGeom>
                <a:noFill/>
                <a:ln>
                  <a:noFill/>
                </a:ln>
              </p:spPr>
              <p:txBody>
                <a:bodyPr lIns="0" tIns="0" rIns="0" bIns="0" anchor="ctr" anchorCtr="0">
                  <a:noAutofit/>
                </a:bodyPr>
                <a:lstStyle/>
                <a:p>
                  <a:pPr algn="ctr">
                    <a:buClr>
                      <a:srgbClr val="00FF00"/>
                    </a:buClr>
                    <a:buSzPct val="25000"/>
                  </a:pPr>
                  <a:r>
                    <a:rPr lang="en-US" sz="3900" dirty="0">
                      <a:solidFill>
                        <a:srgbClr val="00FF00"/>
                      </a:solidFill>
                      <a:latin typeface="Arial" charset="0"/>
                      <a:ea typeface="Arial" charset="0"/>
                      <a:cs typeface="Arial" charset="0"/>
                      <a:sym typeface="Cabin"/>
                    </a:rPr>
                    <a:t>y</a:t>
                  </a:r>
                </a:p>
              </p:txBody>
            </p:sp>
            <p:grpSp>
              <p:nvGrpSpPr>
                <p:cNvPr id="10" name="Shape 276"/>
                <p:cNvGrpSpPr/>
                <p:nvPr/>
              </p:nvGrpSpPr>
              <p:grpSpPr>
                <a:xfrm>
                  <a:off x="8017668" y="3989776"/>
                  <a:ext cx="572700" cy="677549"/>
                  <a:chOff x="0" y="0"/>
                  <a:chExt cx="762000" cy="901775"/>
                </a:xfrm>
              </p:grpSpPr>
              <p:cxnSp>
                <p:nvCxnSpPr>
                  <p:cNvPr id="11" name="Shape 277"/>
                  <p:cNvCxnSpPr/>
                  <p:nvPr/>
                </p:nvCxnSpPr>
                <p:spPr>
                  <a:xfrm flipH="1">
                    <a:off x="0" y="15875"/>
                    <a:ext cx="762000" cy="885900"/>
                  </a:xfrm>
                  <a:prstGeom prst="straightConnector1">
                    <a:avLst/>
                  </a:prstGeom>
                  <a:noFill/>
                  <a:ln w="63500" cap="rnd" cmpd="sng">
                    <a:solidFill>
                      <a:srgbClr val="FFFF00"/>
                    </a:solidFill>
                    <a:prstDash val="solid"/>
                    <a:miter/>
                    <a:headEnd type="none" w="med" len="med"/>
                    <a:tailEnd type="none" w="med" len="med"/>
                  </a:ln>
                </p:spPr>
              </p:cxnSp>
              <p:cxnSp>
                <p:nvCxnSpPr>
                  <p:cNvPr id="12" name="Shape 278"/>
                  <p:cNvCxnSpPr/>
                  <p:nvPr/>
                </p:nvCxnSpPr>
                <p:spPr>
                  <a:xfrm>
                    <a:off x="0" y="0"/>
                    <a:ext cx="571500" cy="796799"/>
                  </a:xfrm>
                  <a:prstGeom prst="straightConnector1">
                    <a:avLst/>
                  </a:prstGeom>
                  <a:noFill/>
                  <a:ln w="63500" cap="rnd" cmpd="sng">
                    <a:solidFill>
                      <a:srgbClr val="FFFF00"/>
                    </a:solidFill>
                    <a:prstDash val="solid"/>
                    <a:miter/>
                    <a:headEnd type="none" w="med" len="med"/>
                    <a:tailEnd type="none" w="med" len="med"/>
                  </a:ln>
                </p:spPr>
              </p:cxnSp>
            </p:grpSp>
          </p:grpSp>
          <p:sp>
            <p:nvSpPr>
              <p:cNvPr id="13" name="Shape 263"/>
              <p:cNvSpPr txBox="1"/>
              <p:nvPr/>
            </p:nvSpPr>
            <p:spPr>
              <a:xfrm>
                <a:off x="152400" y="4114800"/>
                <a:ext cx="3352799" cy="2743200"/>
              </a:xfrm>
              <a:prstGeom prst="rect">
                <a:avLst/>
              </a:prstGeom>
              <a:noFill/>
              <a:ln>
                <a:noFill/>
              </a:ln>
            </p:spPr>
            <p:txBody>
              <a:bodyPr lIns="0" tIns="0" rIns="0" bIns="0" anchor="ctr" anchorCtr="0">
                <a:noAutofit/>
              </a:bodyPr>
              <a:lstStyle/>
              <a:p>
                <a:pPr>
                  <a:buClr>
                    <a:srgbClr val="00FF00"/>
                  </a:buClr>
                  <a:buSzPct val="25000"/>
                </a:pPr>
                <a:r>
                  <a:rPr lang="en-US" sz="3600" dirty="0">
                    <a:solidFill>
                      <a:srgbClr val="00FF00"/>
                    </a:solidFill>
                    <a:latin typeface="Courier"/>
                    <a:ea typeface="Courier"/>
                    <a:cs typeface="Courier"/>
                    <a:sym typeface="Courier New"/>
                  </a:rPr>
                  <a:t>double x;</a:t>
                </a:r>
              </a:p>
              <a:p>
                <a:pPr>
                  <a:buClr>
                    <a:srgbClr val="00FF00"/>
                  </a:buClr>
                  <a:buSzPct val="25000"/>
                </a:pPr>
                <a:r>
                  <a:rPr lang="en-US" sz="3600" dirty="0" err="1">
                    <a:solidFill>
                      <a:srgbClr val="00FF00"/>
                    </a:solidFill>
                    <a:latin typeface="Courier"/>
                    <a:ea typeface="Courier"/>
                    <a:cs typeface="Courier"/>
                    <a:sym typeface="Courier New"/>
                  </a:rPr>
                  <a:t>int</a:t>
                </a:r>
                <a:r>
                  <a:rPr lang="en-US" sz="3600" dirty="0">
                    <a:solidFill>
                      <a:srgbClr val="00FF00"/>
                    </a:solidFill>
                    <a:latin typeface="Courier"/>
                    <a:ea typeface="Courier"/>
                    <a:cs typeface="Courier"/>
                    <a:sym typeface="Courier New"/>
                  </a:rPr>
                  <a:t> y;</a:t>
                </a:r>
              </a:p>
              <a:p>
                <a:pPr>
                  <a:buClr>
                    <a:srgbClr val="00FF00"/>
                  </a:buClr>
                  <a:buSzPct val="25000"/>
                </a:pPr>
                <a:r>
                  <a:rPr lang="en-US" sz="3600" dirty="0">
                    <a:solidFill>
                      <a:srgbClr val="00FF00"/>
                    </a:solidFill>
                    <a:latin typeface="Courier"/>
                    <a:ea typeface="Courier"/>
                    <a:cs typeface="Courier"/>
                    <a:sym typeface="Courier New"/>
                  </a:rPr>
                  <a:t>x </a:t>
                </a:r>
                <a:r>
                  <a:rPr lang="en-US" sz="3600" dirty="0">
                    <a:solidFill>
                      <a:srgbClr val="FFFFFF"/>
                    </a:solidFill>
                    <a:latin typeface="Courier"/>
                    <a:ea typeface="Courier"/>
                    <a:cs typeface="Courier"/>
                    <a:sym typeface="Courier New"/>
                  </a:rPr>
                  <a:t>=</a:t>
                </a:r>
                <a:r>
                  <a:rPr lang="en-US" sz="3600" dirty="0">
                    <a:solidFill>
                      <a:srgbClr val="FFFF00"/>
                    </a:solidFill>
                    <a:latin typeface="Courier"/>
                    <a:ea typeface="Courier"/>
                    <a:cs typeface="Courier"/>
                    <a:sym typeface="Courier New"/>
                  </a:rPr>
                  <a:t> </a:t>
                </a:r>
                <a:r>
                  <a:rPr lang="en-US" sz="3600" dirty="0">
                    <a:solidFill>
                      <a:srgbClr val="FF9900"/>
                    </a:solidFill>
                    <a:latin typeface="Courier"/>
                    <a:ea typeface="Courier"/>
                    <a:cs typeface="Courier"/>
                    <a:sym typeface="Courier New"/>
                  </a:rPr>
                  <a:t>12.2;</a:t>
                </a:r>
              </a:p>
              <a:p>
                <a:pPr>
                  <a:buClr>
                    <a:srgbClr val="00FF00"/>
                  </a:buClr>
                  <a:buSzPct val="25000"/>
                </a:pPr>
                <a:r>
                  <a:rPr lang="en-US" sz="3600" dirty="0">
                    <a:solidFill>
                      <a:srgbClr val="00FF00"/>
                    </a:solidFill>
                    <a:latin typeface="Courier"/>
                    <a:ea typeface="Courier"/>
                    <a:cs typeface="Courier"/>
                    <a:sym typeface="Courier New"/>
                  </a:rPr>
                  <a:t>y</a:t>
                </a:r>
                <a:r>
                  <a:rPr lang="en-US" sz="3600" dirty="0">
                    <a:solidFill>
                      <a:srgbClr val="FFFF00"/>
                    </a:solidFill>
                    <a:latin typeface="Courier"/>
                    <a:ea typeface="Courier"/>
                    <a:cs typeface="Courier"/>
                    <a:sym typeface="Courier New"/>
                  </a:rPr>
                  <a:t> </a:t>
                </a:r>
                <a:r>
                  <a:rPr lang="en-US" sz="3600" dirty="0">
                    <a:solidFill>
                      <a:srgbClr val="FFFFFF"/>
                    </a:solidFill>
                    <a:latin typeface="Courier"/>
                    <a:ea typeface="Courier"/>
                    <a:cs typeface="Courier"/>
                    <a:sym typeface="Courier New"/>
                  </a:rPr>
                  <a:t>=</a:t>
                </a:r>
                <a:r>
                  <a:rPr lang="en-US" sz="3600" dirty="0">
                    <a:solidFill>
                      <a:srgbClr val="FFFF00"/>
                    </a:solidFill>
                    <a:latin typeface="Courier"/>
                    <a:ea typeface="Courier"/>
                    <a:cs typeface="Courier"/>
                    <a:sym typeface="Courier New"/>
                  </a:rPr>
                  <a:t> </a:t>
                </a:r>
                <a:r>
                  <a:rPr lang="en-US" sz="3600" dirty="0">
                    <a:solidFill>
                      <a:srgbClr val="FF9900"/>
                    </a:solidFill>
                    <a:latin typeface="Courier"/>
                    <a:ea typeface="Courier"/>
                    <a:cs typeface="Courier"/>
                    <a:sym typeface="Courier New"/>
                  </a:rPr>
                  <a:t>14;</a:t>
                </a:r>
              </a:p>
              <a:p>
                <a:r>
                  <a:rPr lang="en-US" sz="3600" dirty="0">
                    <a:solidFill>
                      <a:srgbClr val="00FF00"/>
                    </a:solidFill>
                    <a:latin typeface="Courier"/>
                    <a:ea typeface="Courier"/>
                    <a:cs typeface="Courier"/>
                    <a:sym typeface="Courier New"/>
                  </a:rPr>
                  <a:t>x </a:t>
                </a:r>
                <a:r>
                  <a:rPr lang="en-US" sz="3600" dirty="0">
                    <a:solidFill>
                      <a:srgbClr val="FFFFFF"/>
                    </a:solidFill>
                    <a:latin typeface="Courier"/>
                    <a:ea typeface="Courier"/>
                    <a:cs typeface="Courier"/>
                    <a:sym typeface="Courier New"/>
                  </a:rPr>
                  <a:t>=</a:t>
                </a:r>
                <a:r>
                  <a:rPr lang="en-US" sz="3600" dirty="0">
                    <a:solidFill>
                      <a:srgbClr val="FFFF00"/>
                    </a:solidFill>
                    <a:latin typeface="Courier"/>
                    <a:ea typeface="Courier"/>
                    <a:cs typeface="Courier"/>
                    <a:sym typeface="Courier New"/>
                  </a:rPr>
                  <a:t> </a:t>
                </a:r>
                <a:r>
                  <a:rPr lang="en-US" sz="3600" dirty="0">
                    <a:solidFill>
                      <a:srgbClr val="FF9900"/>
                    </a:solidFill>
                    <a:latin typeface="Courier"/>
                    <a:ea typeface="Courier"/>
                    <a:cs typeface="Courier"/>
                    <a:sym typeface="Courier New"/>
                  </a:rPr>
                  <a:t>10.2;</a:t>
                </a:r>
              </a:p>
            </p:txBody>
          </p:sp>
        </p:grpSp>
        <p:sp>
          <p:nvSpPr>
            <p:cNvPr id="16" name="Shape 279"/>
            <p:cNvSpPr txBox="1"/>
            <p:nvPr/>
          </p:nvSpPr>
          <p:spPr>
            <a:xfrm>
              <a:off x="6419849" y="4639839"/>
              <a:ext cx="1252349" cy="704925"/>
            </a:xfrm>
            <a:prstGeom prst="rect">
              <a:avLst/>
            </a:prstGeom>
            <a:noFill/>
            <a:ln>
              <a:noFill/>
            </a:ln>
          </p:spPr>
          <p:txBody>
            <a:bodyPr lIns="0" tIns="0" rIns="0" bIns="0" anchor="ctr" anchorCtr="0">
              <a:noAutofit/>
            </a:bodyPr>
            <a:lstStyle/>
            <a:p>
              <a:pPr algn="ctr">
                <a:buClr>
                  <a:srgbClr val="FF7F00"/>
                </a:buClr>
                <a:buSzPct val="25000"/>
              </a:pPr>
              <a:r>
                <a:rPr lang="en-US" sz="4400" dirty="0">
                  <a:solidFill>
                    <a:schemeClr val="lt1"/>
                  </a:solidFill>
                  <a:latin typeface="Arial" charset="0"/>
                  <a:ea typeface="Arial" charset="0"/>
                  <a:cs typeface="Arial" charset="0"/>
                  <a:sym typeface="Cabin"/>
                </a:rPr>
                <a:t>10.2</a:t>
              </a:r>
            </a:p>
          </p:txBody>
        </p:sp>
      </p:grpSp>
    </p:spTree>
    <p:extLst>
      <p:ext uri="{BB962C8B-B14F-4D97-AF65-F5344CB8AC3E}">
        <p14:creationId xmlns:p14="http://schemas.microsoft.com/office/powerpoint/2010/main" val="35880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grpSp>
        <p:nvGrpSpPr>
          <p:cNvPr id="4" name="Group 3"/>
          <p:cNvGrpSpPr/>
          <p:nvPr/>
        </p:nvGrpSpPr>
        <p:grpSpPr>
          <a:xfrm>
            <a:off x="457200" y="1472453"/>
            <a:ext cx="2847976" cy="1714500"/>
            <a:chOff x="862011" y="3543300"/>
            <a:chExt cx="2847976" cy="1714500"/>
          </a:xfrm>
        </p:grpSpPr>
        <p:sp>
          <p:nvSpPr>
            <p:cNvPr id="5" name="Rectangle 3"/>
            <p:cNvSpPr txBox="1">
              <a:spLocks noChangeArrowheads="1"/>
            </p:cNvSpPr>
            <p:nvPr/>
          </p:nvSpPr>
          <p:spPr>
            <a:xfrm>
              <a:off x="862012" y="4114800"/>
              <a:ext cx="2847975" cy="1143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Monotype Sorts" pitchFamily="2" charset="2"/>
                <a:buNone/>
              </a:pPr>
              <a:r>
                <a:rPr lang="en-US" altLang="en-US" sz="2600" b="1" dirty="0" err="1">
                  <a:latin typeface="+mj-lt"/>
                </a:rPr>
                <a:t>int</a:t>
              </a:r>
              <a:r>
                <a:rPr lang="en-US" altLang="en-US" sz="2600" b="1" dirty="0">
                  <a:latin typeface="+mj-lt"/>
                </a:rPr>
                <a:t> x; </a:t>
              </a:r>
            </a:p>
            <a:p>
              <a:pPr>
                <a:lnSpc>
                  <a:spcPct val="90000"/>
                </a:lnSpc>
                <a:buFont typeface="Monotype Sorts" pitchFamily="2" charset="2"/>
                <a:buNone/>
              </a:pPr>
              <a:r>
                <a:rPr lang="en-US" altLang="en-US" sz="2600" b="1" dirty="0">
                  <a:latin typeface="+mj-lt"/>
                </a:rPr>
                <a:t>double radius;</a:t>
              </a:r>
            </a:p>
            <a:p>
              <a:pPr>
                <a:lnSpc>
                  <a:spcPct val="90000"/>
                </a:lnSpc>
                <a:buFont typeface="Monotype Sorts" pitchFamily="2" charset="2"/>
                <a:buNone/>
              </a:pPr>
              <a:r>
                <a:rPr lang="en-US" altLang="en-US" sz="2600" b="1" dirty="0">
                  <a:latin typeface="+mj-lt"/>
                </a:rPr>
                <a:t>char a; </a:t>
              </a:r>
              <a:endParaRPr lang="en-US" altLang="en-US" sz="2800" b="1" dirty="0">
                <a:latin typeface="+mj-lt"/>
              </a:endParaRPr>
            </a:p>
          </p:txBody>
        </p:sp>
        <p:sp>
          <p:nvSpPr>
            <p:cNvPr id="6" name="Rectangle 3"/>
            <p:cNvSpPr txBox="1">
              <a:spLocks noChangeArrowheads="1"/>
            </p:cNvSpPr>
            <p:nvPr/>
          </p:nvSpPr>
          <p:spPr>
            <a:xfrm>
              <a:off x="862011" y="3543300"/>
              <a:ext cx="2847975" cy="5715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Monotype Sorts" pitchFamily="2" charset="2"/>
                <a:buNone/>
              </a:pPr>
              <a:r>
                <a:rPr lang="en-US" altLang="en-US" sz="2600" b="1" dirty="0">
                  <a:latin typeface="+mj-lt"/>
                </a:rPr>
                <a:t>Declaration</a:t>
              </a:r>
              <a:endParaRPr lang="en-US" altLang="en-US" sz="2800" b="1" dirty="0">
                <a:latin typeface="+mj-lt"/>
              </a:endParaRPr>
            </a:p>
          </p:txBody>
        </p:sp>
      </p:grpSp>
      <p:grpSp>
        <p:nvGrpSpPr>
          <p:cNvPr id="7" name="Group 6"/>
          <p:cNvGrpSpPr/>
          <p:nvPr/>
        </p:nvGrpSpPr>
        <p:grpSpPr>
          <a:xfrm>
            <a:off x="5029200" y="1447800"/>
            <a:ext cx="3138488" cy="1719263"/>
            <a:chOff x="4100512" y="3538537"/>
            <a:chExt cx="3138488" cy="1719263"/>
          </a:xfrm>
        </p:grpSpPr>
        <p:sp>
          <p:nvSpPr>
            <p:cNvPr id="8" name="Rectangle 3"/>
            <p:cNvSpPr txBox="1">
              <a:spLocks noChangeArrowheads="1"/>
            </p:cNvSpPr>
            <p:nvPr/>
          </p:nvSpPr>
          <p:spPr>
            <a:xfrm>
              <a:off x="4100512" y="4114800"/>
              <a:ext cx="3138488" cy="1143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Monotype Sorts" pitchFamily="2" charset="2"/>
                <a:buNone/>
              </a:pPr>
              <a:r>
                <a:rPr lang="en-US" altLang="en-US" sz="2600" b="1" dirty="0">
                  <a:latin typeface="+mj-lt"/>
                </a:rPr>
                <a:t>x = 1; </a:t>
              </a:r>
            </a:p>
            <a:p>
              <a:pPr>
                <a:lnSpc>
                  <a:spcPct val="90000"/>
                </a:lnSpc>
                <a:buFont typeface="Monotype Sorts" pitchFamily="2" charset="2"/>
                <a:buNone/>
              </a:pPr>
              <a:r>
                <a:rPr lang="en-US" altLang="en-US" sz="2600" b="1" dirty="0">
                  <a:latin typeface="+mj-lt"/>
                </a:rPr>
                <a:t>radius = 1.2;</a:t>
              </a:r>
            </a:p>
            <a:p>
              <a:pPr>
                <a:lnSpc>
                  <a:spcPct val="90000"/>
                </a:lnSpc>
                <a:buFont typeface="Monotype Sorts" pitchFamily="2" charset="2"/>
                <a:buNone/>
              </a:pPr>
              <a:r>
                <a:rPr lang="en-US" altLang="en-US" sz="2600" b="1" dirty="0">
                  <a:latin typeface="+mj-lt"/>
                </a:rPr>
                <a:t>a = ‘A’; </a:t>
              </a:r>
              <a:endParaRPr lang="en-US" altLang="en-US" sz="2800" b="1" dirty="0">
                <a:latin typeface="+mj-lt"/>
              </a:endParaRPr>
            </a:p>
          </p:txBody>
        </p:sp>
        <p:sp>
          <p:nvSpPr>
            <p:cNvPr id="9" name="Rectangle 3"/>
            <p:cNvSpPr txBox="1">
              <a:spLocks noChangeArrowheads="1"/>
            </p:cNvSpPr>
            <p:nvPr/>
          </p:nvSpPr>
          <p:spPr>
            <a:xfrm>
              <a:off x="4100512" y="3538537"/>
              <a:ext cx="3138488" cy="5715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Monotype Sorts" pitchFamily="2" charset="2"/>
                <a:buNone/>
              </a:pPr>
              <a:r>
                <a:rPr lang="en-US" altLang="en-US" sz="2600" b="1" dirty="0">
                  <a:latin typeface="+mj-lt"/>
                </a:rPr>
                <a:t>Assignment Statement</a:t>
              </a:r>
              <a:endParaRPr lang="en-US" altLang="en-US" sz="2800" b="1" dirty="0">
                <a:latin typeface="+mj-lt"/>
              </a:endParaRPr>
            </a:p>
          </p:txBody>
        </p:sp>
      </p:grpSp>
      <p:grpSp>
        <p:nvGrpSpPr>
          <p:cNvPr id="10" name="Group 9"/>
          <p:cNvGrpSpPr/>
          <p:nvPr/>
        </p:nvGrpSpPr>
        <p:grpSpPr>
          <a:xfrm>
            <a:off x="2209800" y="4013806"/>
            <a:ext cx="4152899" cy="1361480"/>
            <a:chOff x="838200" y="5524500"/>
            <a:chExt cx="4152899" cy="1361480"/>
          </a:xfrm>
        </p:grpSpPr>
        <p:sp>
          <p:nvSpPr>
            <p:cNvPr id="11" name="Rectangle 10"/>
            <p:cNvSpPr/>
            <p:nvPr/>
          </p:nvSpPr>
          <p:spPr>
            <a:xfrm>
              <a:off x="838201" y="5962650"/>
              <a:ext cx="4152898"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90000"/>
                </a:lnSpc>
                <a:buFont typeface="Monotype Sorts" pitchFamily="2" charset="2"/>
                <a:buNone/>
              </a:pPr>
              <a:endParaRPr lang="en-US" altLang="en-US" sz="2000" b="1" dirty="0"/>
            </a:p>
            <a:p>
              <a:pPr>
                <a:lnSpc>
                  <a:spcPct val="90000"/>
                </a:lnSpc>
                <a:buFont typeface="Monotype Sorts" pitchFamily="2" charset="2"/>
                <a:buNone/>
              </a:pPr>
              <a:r>
                <a:rPr lang="en-US" altLang="en-US" sz="2000" b="1" dirty="0" err="1"/>
                <a:t>int</a:t>
              </a:r>
              <a:r>
                <a:rPr lang="en-US" altLang="en-US" sz="2000" b="1" dirty="0"/>
                <a:t> x = 10; </a:t>
              </a:r>
            </a:p>
            <a:p>
              <a:pPr>
                <a:lnSpc>
                  <a:spcPct val="90000"/>
                </a:lnSpc>
                <a:buFont typeface="Monotype Sorts" pitchFamily="2" charset="2"/>
                <a:buNone/>
              </a:pPr>
              <a:r>
                <a:rPr lang="en-US" altLang="en-US" sz="2000" b="1" dirty="0"/>
                <a:t>double radius = 1.2;</a:t>
              </a:r>
            </a:p>
          </p:txBody>
        </p:sp>
        <p:sp>
          <p:nvSpPr>
            <p:cNvPr id="12" name="Rectangle 3"/>
            <p:cNvSpPr txBox="1">
              <a:spLocks noChangeArrowheads="1"/>
            </p:cNvSpPr>
            <p:nvPr/>
          </p:nvSpPr>
          <p:spPr>
            <a:xfrm>
              <a:off x="838200" y="5524500"/>
              <a:ext cx="4152898" cy="5715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Monotype Sorts" pitchFamily="2" charset="2"/>
                <a:buNone/>
              </a:pPr>
              <a:r>
                <a:rPr lang="en-US" altLang="en-US" sz="2600" b="1" dirty="0">
                  <a:latin typeface="+mj-lt"/>
                </a:rPr>
                <a:t>Declaration and Assignment</a:t>
              </a:r>
              <a:endParaRPr lang="en-US" altLang="en-US" sz="2800" b="1" dirty="0">
                <a:latin typeface="+mj-lt"/>
              </a:endParaRPr>
            </a:p>
          </p:txBody>
        </p:sp>
      </p:grpSp>
    </p:spTree>
    <p:extLst>
      <p:ext uri="{BB962C8B-B14F-4D97-AF65-F5344CB8AC3E}">
        <p14:creationId xmlns:p14="http://schemas.microsoft.com/office/powerpoint/2010/main" val="889340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08038"/>
            <a:ext cx="8229600" cy="1020762"/>
          </a:xfrm>
        </p:spPr>
        <p:txBody>
          <a:bodyPr>
            <a:noAutofit/>
          </a:bodyPr>
          <a:lstStyle/>
          <a:p>
            <a:r>
              <a:rPr lang="en-US" sz="3200" dirty="0"/>
              <a:t>Identify and fix the errors in the following code</a:t>
            </a:r>
          </a:p>
        </p:txBody>
      </p:sp>
      <p:sp>
        <p:nvSpPr>
          <p:cNvPr id="4" name="Rectangle 3"/>
          <p:cNvSpPr/>
          <p:nvPr/>
        </p:nvSpPr>
        <p:spPr>
          <a:xfrm>
            <a:off x="336176" y="2590800"/>
            <a:ext cx="8305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latin typeface="Courier" pitchFamily="49" charset="0"/>
              </a:rPr>
              <a:t>1 public class Test {</a:t>
            </a:r>
          </a:p>
          <a:p>
            <a:r>
              <a:rPr lang="en-US" sz="2400" dirty="0">
                <a:latin typeface="Courier" pitchFamily="49" charset="0"/>
              </a:rPr>
              <a:t>2 public static void main(String[] </a:t>
            </a:r>
            <a:r>
              <a:rPr lang="en-US" sz="2400" dirty="0" err="1">
                <a:latin typeface="Courier" pitchFamily="49" charset="0"/>
              </a:rPr>
              <a:t>args</a:t>
            </a:r>
            <a:r>
              <a:rPr lang="en-US" sz="2400" dirty="0">
                <a:latin typeface="Courier" pitchFamily="49" charset="0"/>
              </a:rPr>
              <a:t>) {</a:t>
            </a:r>
          </a:p>
          <a:p>
            <a:r>
              <a:rPr lang="en-US" sz="2400" dirty="0">
                <a:latin typeface="Courier" pitchFamily="49" charset="0"/>
              </a:rPr>
              <a:t>3 </a:t>
            </a:r>
            <a:r>
              <a:rPr lang="en-US" sz="2400" dirty="0" err="1">
                <a:latin typeface="Courier" pitchFamily="49" charset="0"/>
              </a:rPr>
              <a:t>int</a:t>
            </a:r>
            <a:r>
              <a:rPr lang="en-US" sz="2400" dirty="0">
                <a:latin typeface="Courier" pitchFamily="49" charset="0"/>
              </a:rPr>
              <a:t> i = k + 2;</a:t>
            </a:r>
          </a:p>
          <a:p>
            <a:r>
              <a:rPr lang="en-US" sz="2400" dirty="0">
                <a:latin typeface="Courier" pitchFamily="49" charset="0"/>
              </a:rPr>
              <a:t>4      </a:t>
            </a:r>
            <a:r>
              <a:rPr lang="en-US" sz="2400" dirty="0" err="1">
                <a:latin typeface="Courier" pitchFamily="49" charset="0"/>
              </a:rPr>
              <a:t>System.out.println</a:t>
            </a:r>
            <a:r>
              <a:rPr lang="en-US" sz="2400" dirty="0">
                <a:latin typeface="Courier" pitchFamily="49" charset="0"/>
              </a:rPr>
              <a:t>(i);</a:t>
            </a:r>
          </a:p>
          <a:p>
            <a:r>
              <a:rPr lang="en-US" sz="2400" dirty="0">
                <a:latin typeface="Courier" pitchFamily="49" charset="0"/>
              </a:rPr>
              <a:t>5    }</a:t>
            </a:r>
          </a:p>
          <a:p>
            <a:r>
              <a:rPr lang="en-US" sz="2400" dirty="0">
                <a:latin typeface="Courier" pitchFamily="49" charset="0"/>
              </a:rPr>
              <a:t>6  }</a:t>
            </a:r>
          </a:p>
        </p:txBody>
      </p:sp>
    </p:spTree>
    <p:extLst>
      <p:ext uri="{BB962C8B-B14F-4D97-AF65-F5344CB8AC3E}">
        <p14:creationId xmlns:p14="http://schemas.microsoft.com/office/powerpoint/2010/main" val="3931174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noFill/>
        </p:spPr>
        <p:txBody>
          <a:bodyPr/>
          <a:lstStyle/>
          <a:p>
            <a:r>
              <a:rPr lang="en-US" altLang="en-US" dirty="0"/>
              <a:t>Named Constants</a:t>
            </a:r>
          </a:p>
        </p:txBody>
      </p:sp>
      <p:sp>
        <p:nvSpPr>
          <p:cNvPr id="19460" name="Rectangle 3"/>
          <p:cNvSpPr>
            <a:spLocks noGrp="1" noChangeArrowheads="1"/>
          </p:cNvSpPr>
          <p:nvPr>
            <p:ph idx="1"/>
          </p:nvPr>
        </p:nvSpPr>
        <p:spPr>
          <a:xfrm>
            <a:off x="495300" y="2292994"/>
            <a:ext cx="8229600" cy="3124200"/>
          </a:xfrm>
          <a:noFill/>
        </p:spPr>
        <p:txBody>
          <a:bodyPr/>
          <a:lstStyle/>
          <a:p>
            <a:r>
              <a:rPr lang="en-US" altLang="en-US" sz="2600" b="1" dirty="0">
                <a:latin typeface="+mj-lt"/>
              </a:rPr>
              <a:t>Syntax</a:t>
            </a:r>
          </a:p>
          <a:p>
            <a:endParaRPr lang="en-US" altLang="en-US" sz="2600" b="1" dirty="0">
              <a:latin typeface="+mj-lt"/>
            </a:endParaRPr>
          </a:p>
          <a:p>
            <a:r>
              <a:rPr lang="en-US" altLang="en-US" sz="2600" b="1" dirty="0">
                <a:latin typeface="+mj-lt"/>
              </a:rPr>
              <a:t>Example</a:t>
            </a:r>
            <a:endParaRPr lang="en-US" altLang="en-US" sz="2600" b="1" dirty="0">
              <a:latin typeface="Courier New" pitchFamily="49" charset="0"/>
            </a:endParaRPr>
          </a:p>
          <a:p>
            <a:pPr>
              <a:buFont typeface="Monotype Sorts" pitchFamily="2" charset="2"/>
              <a:buNone/>
            </a:pPr>
            <a:endParaRPr lang="en-US" altLang="en-US" sz="2600" b="1" dirty="0">
              <a:latin typeface="Courier New" pitchFamily="49" charset="0"/>
            </a:endParaRPr>
          </a:p>
          <a:p>
            <a:pPr>
              <a:buFont typeface="Monotype Sorts" pitchFamily="2" charset="2"/>
              <a:buNone/>
            </a:pPr>
            <a:endParaRPr lang="en-US" altLang="en-US" sz="2600" b="1" dirty="0">
              <a:latin typeface="Courier New" pitchFamily="49" charset="0"/>
            </a:endParaRPr>
          </a:p>
        </p:txBody>
      </p:sp>
      <p:sp>
        <p:nvSpPr>
          <p:cNvPr id="2" name="Rectangle 1"/>
          <p:cNvSpPr/>
          <p:nvPr/>
        </p:nvSpPr>
        <p:spPr>
          <a:xfrm>
            <a:off x="152400" y="1450032"/>
            <a:ext cx="89154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A named constant is an identifier that represents a permanent value.</a:t>
            </a:r>
          </a:p>
        </p:txBody>
      </p:sp>
      <p:sp>
        <p:nvSpPr>
          <p:cNvPr id="3" name="Rectangle 2"/>
          <p:cNvSpPr/>
          <p:nvPr/>
        </p:nvSpPr>
        <p:spPr>
          <a:xfrm>
            <a:off x="2290762" y="2212032"/>
            <a:ext cx="5163978" cy="461665"/>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sz="2400" dirty="0"/>
              <a:t>final </a:t>
            </a:r>
            <a:r>
              <a:rPr lang="en-US" sz="2400" dirty="0" err="1"/>
              <a:t>datatype</a:t>
            </a:r>
            <a:r>
              <a:rPr lang="en-US" sz="2400" dirty="0"/>
              <a:t> CONSTANTNAME = value;</a:t>
            </a:r>
          </a:p>
        </p:txBody>
      </p:sp>
      <p:sp>
        <p:nvSpPr>
          <p:cNvPr id="4" name="Rectangle 3"/>
          <p:cNvSpPr/>
          <p:nvPr/>
        </p:nvSpPr>
        <p:spPr>
          <a:xfrm>
            <a:off x="2324100" y="3399830"/>
            <a:ext cx="513064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Font typeface="Monotype Sorts" pitchFamily="2" charset="2"/>
              <a:buNone/>
            </a:pPr>
            <a:r>
              <a:rPr lang="en-US" altLang="en-US" b="1" dirty="0">
                <a:latin typeface="Courier New" pitchFamily="49" charset="0"/>
              </a:rPr>
              <a:t>final </a:t>
            </a:r>
            <a:r>
              <a:rPr lang="en-US" altLang="en-US" b="1" dirty="0" err="1">
                <a:latin typeface="Courier New" pitchFamily="49" charset="0"/>
              </a:rPr>
              <a:t>datatype</a:t>
            </a:r>
            <a:r>
              <a:rPr lang="en-US" altLang="en-US" b="1" dirty="0">
                <a:latin typeface="Courier New" pitchFamily="49" charset="0"/>
              </a:rPr>
              <a:t> CONSTANTNAME = VALUE;   </a:t>
            </a:r>
          </a:p>
          <a:p>
            <a:pPr>
              <a:buFont typeface="Monotype Sorts" pitchFamily="2" charset="2"/>
              <a:buNone/>
            </a:pPr>
            <a:r>
              <a:rPr lang="en-US" altLang="en-US" b="1" dirty="0">
                <a:latin typeface="Courier New" pitchFamily="49" charset="0"/>
              </a:rPr>
              <a:t>final double PI = 3.14159; </a:t>
            </a:r>
          </a:p>
          <a:p>
            <a:pPr>
              <a:buFont typeface="Monotype Sorts" pitchFamily="2" charset="2"/>
              <a:buNone/>
            </a:pPr>
            <a:r>
              <a:rPr lang="en-US" altLang="en-US" b="1" dirty="0">
                <a:latin typeface="Courier New" pitchFamily="49" charset="0"/>
              </a:rPr>
              <a:t>final </a:t>
            </a:r>
            <a:r>
              <a:rPr lang="en-US" altLang="en-US" b="1" dirty="0" err="1">
                <a:latin typeface="Courier New" pitchFamily="49" charset="0"/>
              </a:rPr>
              <a:t>int</a:t>
            </a:r>
            <a:r>
              <a:rPr lang="en-US" altLang="en-US" b="1" dirty="0">
                <a:latin typeface="Courier New" pitchFamily="49" charset="0"/>
              </a:rPr>
              <a:t> SIZE = 3;</a:t>
            </a:r>
          </a:p>
        </p:txBody>
      </p:sp>
    </p:spTree>
    <p:extLst>
      <p:ext uri="{BB962C8B-B14F-4D97-AF65-F5344CB8AC3E}">
        <p14:creationId xmlns:p14="http://schemas.microsoft.com/office/powerpoint/2010/main" val="241384781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r>
              <a:rPr lang="en-US" dirty="0" err="1"/>
              <a:t>System.out</a:t>
            </a:r>
            <a:r>
              <a:rPr lang="en-US" dirty="0"/>
              <a:t>)</a:t>
            </a:r>
          </a:p>
        </p:txBody>
      </p:sp>
      <p:sp>
        <p:nvSpPr>
          <p:cNvPr id="3" name="Content Placeholder 2"/>
          <p:cNvSpPr>
            <a:spLocks noGrp="1"/>
          </p:cNvSpPr>
          <p:nvPr>
            <p:ph idx="1"/>
          </p:nvPr>
        </p:nvSpPr>
        <p:spPr/>
        <p:txBody>
          <a:bodyPr/>
          <a:lstStyle/>
          <a:p>
            <a:r>
              <a:rPr lang="en-US" dirty="0"/>
              <a:t>Standard output stream object (</a:t>
            </a:r>
            <a:r>
              <a:rPr lang="en-US" dirty="0" err="1">
                <a:solidFill>
                  <a:schemeClr val="accent1"/>
                </a:solidFill>
              </a:rPr>
              <a:t>System.out</a:t>
            </a:r>
            <a:r>
              <a:rPr lang="en-US" dirty="0"/>
              <a:t>)</a:t>
            </a:r>
          </a:p>
        </p:txBody>
      </p:sp>
      <p:sp>
        <p:nvSpPr>
          <p:cNvPr id="4" name="Rectangle 3"/>
          <p:cNvSpPr/>
          <p:nvPr/>
        </p:nvSpPr>
        <p:spPr>
          <a:xfrm>
            <a:off x="1600200" y="2487758"/>
            <a:ext cx="6324600" cy="1200329"/>
          </a:xfrm>
          <a:prstGeom prst="rect">
            <a:avLst/>
          </a:prstGeom>
        </p:spPr>
        <p:txBody>
          <a:bodyPr wrap="square">
            <a:spAutoFit/>
          </a:bodyPr>
          <a:lstStyle/>
          <a:p>
            <a:r>
              <a:rPr lang="en-US" sz="2400" dirty="0" err="1">
                <a:latin typeface="Courier" pitchFamily="49" charset="0"/>
              </a:rPr>
              <a:t>System.out.print</a:t>
            </a:r>
            <a:r>
              <a:rPr lang="en-US" sz="2400" dirty="0">
                <a:latin typeface="Courier" pitchFamily="49" charset="0"/>
              </a:rPr>
              <a:t>(expression);</a:t>
            </a:r>
          </a:p>
          <a:p>
            <a:r>
              <a:rPr lang="en-US" sz="2400" dirty="0" err="1">
                <a:latin typeface="Courier" pitchFamily="49" charset="0"/>
              </a:rPr>
              <a:t>System.out.println</a:t>
            </a:r>
            <a:r>
              <a:rPr lang="en-US" sz="2400" dirty="0">
                <a:latin typeface="Courier" pitchFamily="49" charset="0"/>
              </a:rPr>
              <a:t>(expression);</a:t>
            </a:r>
          </a:p>
          <a:p>
            <a:r>
              <a:rPr lang="en-US" sz="2400" dirty="0" err="1">
                <a:latin typeface="Courier" pitchFamily="49" charset="0"/>
              </a:rPr>
              <a:t>System.out.println</a:t>
            </a:r>
            <a:r>
              <a:rPr lang="en-US" sz="2400" dirty="0">
                <a:latin typeface="Courier" pitchFamily="49" charset="0"/>
              </a:rPr>
              <a:t>();</a:t>
            </a:r>
          </a:p>
        </p:txBody>
      </p:sp>
      <p:graphicFrame>
        <p:nvGraphicFramePr>
          <p:cNvPr id="7" name="Table 6">
            <a:extLst>
              <a:ext uri="{FF2B5EF4-FFF2-40B4-BE49-F238E27FC236}">
                <a16:creationId xmlns:a16="http://schemas.microsoft.com/office/drawing/2014/main" id="{BD9AE04B-11BA-9B57-625E-6450F6E6CEB8}"/>
              </a:ext>
            </a:extLst>
          </p:cNvPr>
          <p:cNvGraphicFramePr>
            <a:graphicFrameLocks noGrp="1"/>
          </p:cNvGraphicFramePr>
          <p:nvPr>
            <p:extLst>
              <p:ext uri="{D42A27DB-BD31-4B8C-83A1-F6EECF244321}">
                <p14:modId xmlns:p14="http://schemas.microsoft.com/office/powerpoint/2010/main" val="1010792625"/>
              </p:ext>
            </p:extLst>
          </p:nvPr>
        </p:nvGraphicFramePr>
        <p:xfrm>
          <a:off x="1225550" y="4953000"/>
          <a:ext cx="6096000" cy="37084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3576081118"/>
                    </a:ext>
                  </a:extLst>
                </a:gridCol>
                <a:gridCol w="3048000">
                  <a:extLst>
                    <a:ext uri="{9D8B030D-6E8A-4147-A177-3AD203B41FA5}">
                      <a16:colId xmlns:a16="http://schemas.microsoft.com/office/drawing/2014/main" val="864437625"/>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96458620"/>
                  </a:ext>
                </a:extLst>
              </a:tr>
            </a:tbl>
          </a:graphicData>
        </a:graphic>
      </p:graphicFrame>
      <p:pic>
        <p:nvPicPr>
          <p:cNvPr id="8" name="Picture 7" descr="A white background with black text&#10;&#10;AI-generated content may be incorrect.">
            <a:extLst>
              <a:ext uri="{FF2B5EF4-FFF2-40B4-BE49-F238E27FC236}">
                <a16:creationId xmlns:a16="http://schemas.microsoft.com/office/drawing/2014/main" id="{ED31225A-B1FB-BEFD-59D5-89A4808DA20C}"/>
              </a:ext>
            </a:extLst>
          </p:cNvPr>
          <p:cNvPicPr>
            <a:picLocks noChangeAspect="1"/>
          </p:cNvPicPr>
          <p:nvPr/>
        </p:nvPicPr>
        <p:blipFill rotWithShape="1">
          <a:blip r:embed="rId2">
            <a:extLst>
              <a:ext uri="{28A0092B-C50C-407E-A947-70E740481C1C}">
                <a14:useLocalDpi xmlns:a14="http://schemas.microsoft.com/office/drawing/2010/main" val="0"/>
              </a:ext>
            </a:extLst>
          </a:blip>
          <a:srcRect l="-317" t="-543" r="28416" b="543"/>
          <a:stretch/>
        </p:blipFill>
        <p:spPr bwMode="auto">
          <a:xfrm>
            <a:off x="914400" y="3968750"/>
            <a:ext cx="4273550" cy="2339975"/>
          </a:xfrm>
          <a:prstGeom prst="rect">
            <a:avLst/>
          </a:prstGeom>
          <a:noFill/>
          <a:ln>
            <a:noFill/>
          </a:ln>
          <a:effectLst/>
          <a:extLst>
            <a:ext uri="{53640926-AAD7-44D8-BBD7-CCE9431645EC}">
              <a14:shadowObscured xmlns:a14="http://schemas.microsoft.com/office/drawing/2010/main"/>
            </a:ext>
          </a:extLst>
        </p:spPr>
      </p:pic>
      <p:pic>
        <p:nvPicPr>
          <p:cNvPr id="9" name="Picture 8" descr="A white background with black text&#10;&#10;AI-generated content may be incorrect.">
            <a:extLst>
              <a:ext uri="{FF2B5EF4-FFF2-40B4-BE49-F238E27FC236}">
                <a16:creationId xmlns:a16="http://schemas.microsoft.com/office/drawing/2014/main" id="{55ED653C-C56B-3D15-28B6-16F02B3FB386}"/>
              </a:ext>
            </a:extLst>
          </p:cNvPr>
          <p:cNvPicPr>
            <a:picLocks noChangeAspect="1"/>
          </p:cNvPicPr>
          <p:nvPr/>
        </p:nvPicPr>
        <p:blipFill rotWithShape="1">
          <a:blip r:embed="rId2">
            <a:extLst>
              <a:ext uri="{28A0092B-C50C-407E-A947-70E740481C1C}">
                <a14:useLocalDpi xmlns:a14="http://schemas.microsoft.com/office/drawing/2010/main" val="0"/>
              </a:ext>
            </a:extLst>
          </a:blip>
          <a:srcRect l="76642" t="-543" r="-2" b="543"/>
          <a:stretch/>
        </p:blipFill>
        <p:spPr bwMode="auto">
          <a:xfrm>
            <a:off x="6006637" y="3976370"/>
            <a:ext cx="1383665" cy="2332355"/>
          </a:xfrm>
          <a:prstGeom prst="rect">
            <a:avLst/>
          </a:prstGeom>
          <a:noFill/>
          <a:ln>
            <a:noFill/>
          </a:ln>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4828507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F1A4-67EF-48FC-EB7A-195F03B37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A7F4B-7AED-1067-18D3-CF745FFFB2AC}"/>
              </a:ext>
            </a:extLst>
          </p:cNvPr>
          <p:cNvSpPr>
            <a:spLocks noGrp="1"/>
          </p:cNvSpPr>
          <p:nvPr>
            <p:ph type="title"/>
          </p:nvPr>
        </p:nvSpPr>
        <p:spPr/>
        <p:txBody>
          <a:bodyPr/>
          <a:lstStyle/>
          <a:p>
            <a:r>
              <a:rPr lang="en-US" dirty="0"/>
              <a:t>Output(</a:t>
            </a:r>
            <a:r>
              <a:rPr lang="en-US" dirty="0" err="1"/>
              <a:t>System.out</a:t>
            </a:r>
            <a:r>
              <a:rPr lang="en-US" dirty="0"/>
              <a:t>)</a:t>
            </a:r>
          </a:p>
        </p:txBody>
      </p:sp>
      <p:sp>
        <p:nvSpPr>
          <p:cNvPr id="3" name="Content Placeholder 2">
            <a:extLst>
              <a:ext uri="{FF2B5EF4-FFF2-40B4-BE49-F238E27FC236}">
                <a16:creationId xmlns:a16="http://schemas.microsoft.com/office/drawing/2014/main" id="{A249240C-225B-E22D-4353-55523BD58A1F}"/>
              </a:ext>
            </a:extLst>
          </p:cNvPr>
          <p:cNvSpPr>
            <a:spLocks noGrp="1"/>
          </p:cNvSpPr>
          <p:nvPr>
            <p:ph idx="1"/>
          </p:nvPr>
        </p:nvSpPr>
        <p:spPr/>
        <p:txBody>
          <a:bodyPr/>
          <a:lstStyle/>
          <a:p>
            <a:r>
              <a:rPr lang="en-US" dirty="0"/>
              <a:t>Standard output stream object (</a:t>
            </a:r>
            <a:r>
              <a:rPr lang="en-US" dirty="0" err="1">
                <a:solidFill>
                  <a:schemeClr val="accent1"/>
                </a:solidFill>
              </a:rPr>
              <a:t>System.out</a:t>
            </a:r>
            <a:r>
              <a:rPr lang="en-US" dirty="0"/>
              <a:t>)</a:t>
            </a:r>
          </a:p>
        </p:txBody>
      </p:sp>
      <p:graphicFrame>
        <p:nvGraphicFramePr>
          <p:cNvPr id="7" name="Table 6">
            <a:extLst>
              <a:ext uri="{FF2B5EF4-FFF2-40B4-BE49-F238E27FC236}">
                <a16:creationId xmlns:a16="http://schemas.microsoft.com/office/drawing/2014/main" id="{5C057643-3A55-2858-96BD-6DDE791F1CAA}"/>
              </a:ext>
            </a:extLst>
          </p:cNvPr>
          <p:cNvGraphicFramePr>
            <a:graphicFrameLocks noGrp="1"/>
          </p:cNvGraphicFramePr>
          <p:nvPr/>
        </p:nvGraphicFramePr>
        <p:xfrm>
          <a:off x="1225550" y="4953000"/>
          <a:ext cx="6096000" cy="37084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3576081118"/>
                    </a:ext>
                  </a:extLst>
                </a:gridCol>
                <a:gridCol w="3048000">
                  <a:extLst>
                    <a:ext uri="{9D8B030D-6E8A-4147-A177-3AD203B41FA5}">
                      <a16:colId xmlns:a16="http://schemas.microsoft.com/office/drawing/2014/main" val="864437625"/>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96458620"/>
                  </a:ext>
                </a:extLst>
              </a:tr>
            </a:tbl>
          </a:graphicData>
        </a:graphic>
      </p:graphicFrame>
      <p:pic>
        <p:nvPicPr>
          <p:cNvPr id="6" name="Picture 5">
            <a:extLst>
              <a:ext uri="{FF2B5EF4-FFF2-40B4-BE49-F238E27FC236}">
                <a16:creationId xmlns:a16="http://schemas.microsoft.com/office/drawing/2014/main" id="{2878E607-9CB9-A0C8-4ADD-2C9C936897E1}"/>
              </a:ext>
            </a:extLst>
          </p:cNvPr>
          <p:cNvPicPr>
            <a:picLocks noChangeAspect="1"/>
          </p:cNvPicPr>
          <p:nvPr/>
        </p:nvPicPr>
        <p:blipFill>
          <a:blip r:embed="rId2"/>
          <a:stretch>
            <a:fillRect/>
          </a:stretch>
        </p:blipFill>
        <p:spPr>
          <a:xfrm>
            <a:off x="758880" y="2255837"/>
            <a:ext cx="7626240" cy="3840163"/>
          </a:xfrm>
          <a:prstGeom prst="rect">
            <a:avLst/>
          </a:prstGeom>
        </p:spPr>
      </p:pic>
    </p:spTree>
    <p:extLst>
      <p:ext uri="{BB962C8B-B14F-4D97-AF65-F5344CB8AC3E}">
        <p14:creationId xmlns:p14="http://schemas.microsoft.com/office/powerpoint/2010/main" val="162639949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381952" y="381000"/>
            <a:ext cx="8334375" cy="685800"/>
          </a:xfrm>
        </p:spPr>
        <p:txBody>
          <a:bodyPr>
            <a:normAutofit fontScale="90000"/>
          </a:bodyPr>
          <a:lstStyle/>
          <a:p>
            <a:r>
              <a:rPr lang="en-US" altLang="en-US" dirty="0"/>
              <a:t>Reading Input from the Console</a:t>
            </a:r>
            <a:endParaRPr lang="en-US" altLang="en-US" dirty="0">
              <a:cs typeface="Times New Roman" pitchFamily="18" charset="0"/>
            </a:endParaRPr>
          </a:p>
        </p:txBody>
      </p:sp>
      <p:sp>
        <p:nvSpPr>
          <p:cNvPr id="13317" name="Text Box 4"/>
          <p:cNvSpPr txBox="1">
            <a:spLocks noChangeArrowheads="1"/>
          </p:cNvSpPr>
          <p:nvPr/>
        </p:nvSpPr>
        <p:spPr bwMode="auto">
          <a:xfrm>
            <a:off x="167640" y="2438400"/>
            <a:ext cx="8763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itchFamily="18" charset="0"/>
              </a:defRPr>
            </a:lvl1pPr>
            <a:lvl2pPr marL="457200">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fontAlgn="base" hangingPunct="0">
              <a:spcBef>
                <a:spcPct val="20000"/>
              </a:spcBef>
              <a:spcAft>
                <a:spcPct val="0"/>
              </a:spcAft>
              <a:buClr>
                <a:schemeClr val="tx2"/>
              </a:buClr>
              <a:defRPr sz="2000">
                <a:solidFill>
                  <a:schemeClr val="tx1"/>
                </a:solidFill>
                <a:latin typeface="Times New Roman" pitchFamily="18" charset="0"/>
              </a:defRPr>
            </a:lvl6pPr>
            <a:lvl7pPr eaLnBrk="0" fontAlgn="base" hangingPunct="0">
              <a:spcBef>
                <a:spcPct val="20000"/>
              </a:spcBef>
              <a:spcAft>
                <a:spcPct val="0"/>
              </a:spcAft>
              <a:buClr>
                <a:schemeClr val="tx2"/>
              </a:buClr>
              <a:defRPr sz="2000">
                <a:solidFill>
                  <a:schemeClr val="tx1"/>
                </a:solidFill>
                <a:latin typeface="Times New Roman" pitchFamily="18" charset="0"/>
              </a:defRPr>
            </a:lvl7pPr>
            <a:lvl8pPr eaLnBrk="0" fontAlgn="base" hangingPunct="0">
              <a:spcBef>
                <a:spcPct val="20000"/>
              </a:spcBef>
              <a:spcAft>
                <a:spcPct val="0"/>
              </a:spcAft>
              <a:buClr>
                <a:schemeClr val="tx2"/>
              </a:buClr>
              <a:defRPr sz="2000">
                <a:solidFill>
                  <a:schemeClr val="tx1"/>
                </a:solidFill>
                <a:latin typeface="Times New Roman" pitchFamily="18" charset="0"/>
              </a:defRPr>
            </a:lvl8pPr>
            <a:lvl9pPr eaLnBrk="0" fontAlgn="base" hangingPunct="0">
              <a:spcBef>
                <a:spcPct val="20000"/>
              </a:spcBef>
              <a:spcAft>
                <a:spcPct val="0"/>
              </a:spcAft>
              <a:buClr>
                <a:schemeClr val="tx2"/>
              </a:buClr>
              <a:defRPr sz="2000">
                <a:solidFill>
                  <a:schemeClr val="tx1"/>
                </a:solidFill>
                <a:latin typeface="Times New Roman" pitchFamily="18" charset="0"/>
              </a:defRPr>
            </a:lvl9pPr>
          </a:lstStyle>
          <a:p>
            <a:pPr>
              <a:spcBef>
                <a:spcPct val="50000"/>
              </a:spcBef>
            </a:pPr>
            <a:r>
              <a:rPr lang="en-US" altLang="en-US" sz="2800" dirty="0">
                <a:latin typeface="+mj-lt"/>
                <a:cs typeface="Courier New" pitchFamily="49" charset="0"/>
              </a:rPr>
              <a:t>1. </a:t>
            </a:r>
            <a:r>
              <a:rPr lang="en-US" altLang="en-US" sz="2800" b="1" dirty="0">
                <a:latin typeface="+mj-lt"/>
                <a:cs typeface="Courier New" pitchFamily="49" charset="0"/>
              </a:rPr>
              <a:t>Create a Scanner object </a:t>
            </a:r>
          </a:p>
          <a:p>
            <a:pPr lvl="1">
              <a:spcBef>
                <a:spcPct val="50000"/>
              </a:spcBef>
            </a:pPr>
            <a:r>
              <a:rPr lang="en-US" altLang="en-US" sz="2400" b="1" dirty="0">
                <a:latin typeface="Courier New" pitchFamily="49" charset="0"/>
                <a:cs typeface="Courier New" pitchFamily="49" charset="0"/>
              </a:rPr>
              <a:t>Scanner input = new Scanner(System.in);</a:t>
            </a:r>
            <a:endParaRPr lang="en-US" altLang="en-US" sz="2400" b="1" dirty="0">
              <a:latin typeface="Courier" charset="0"/>
              <a:ea typeface="PMingLiU" pitchFamily="18" charset="-120"/>
            </a:endParaRPr>
          </a:p>
          <a:p>
            <a:pPr>
              <a:spcBef>
                <a:spcPct val="50000"/>
              </a:spcBef>
            </a:pPr>
            <a:r>
              <a:rPr lang="en-US" altLang="en-US" sz="2800" dirty="0">
                <a:latin typeface="+mj-lt"/>
                <a:cs typeface="Courier New" pitchFamily="49" charset="0"/>
              </a:rPr>
              <a:t>2. Use the method</a:t>
            </a:r>
            <a:r>
              <a:rPr lang="en-US" altLang="en-US" sz="2800" dirty="0">
                <a:latin typeface="+mj-lt"/>
                <a:ea typeface="PMingLiU" pitchFamily="18" charset="-120"/>
              </a:rPr>
              <a:t> </a:t>
            </a:r>
            <a:r>
              <a:rPr lang="en-US" altLang="en-US" sz="2800" b="1" dirty="0" err="1">
                <a:latin typeface="+mj-lt"/>
                <a:ea typeface="PMingLiU" pitchFamily="18" charset="-120"/>
              </a:rPr>
              <a:t>nextDouble</a:t>
            </a:r>
            <a:r>
              <a:rPr lang="en-US" altLang="en-US" sz="2800" b="1" dirty="0">
                <a:latin typeface="+mj-lt"/>
                <a:ea typeface="PMingLiU" pitchFamily="18" charset="-120"/>
              </a:rPr>
              <a:t>() </a:t>
            </a:r>
            <a:r>
              <a:rPr lang="en-US" altLang="en-US" sz="2800" dirty="0">
                <a:latin typeface="+mj-lt"/>
                <a:ea typeface="PMingLiU" pitchFamily="18" charset="-120"/>
              </a:rPr>
              <a:t>to obtain to a double value. For example,</a:t>
            </a:r>
          </a:p>
          <a:p>
            <a:pPr lvl="1">
              <a:spcBef>
                <a:spcPct val="50000"/>
              </a:spcBef>
            </a:pPr>
            <a:r>
              <a:rPr lang="en-US" altLang="en-US" sz="2000" b="1" dirty="0" err="1">
                <a:latin typeface="Courier New" pitchFamily="49" charset="0"/>
                <a:cs typeface="Courier New" pitchFamily="49" charset="0"/>
              </a:rPr>
              <a:t>System.out.println</a:t>
            </a:r>
            <a:r>
              <a:rPr lang="en-US" altLang="en-US" sz="2000" b="1" dirty="0">
                <a:latin typeface="Courier New" pitchFamily="49" charset="0"/>
                <a:cs typeface="Courier New" pitchFamily="49" charset="0"/>
              </a:rPr>
              <a:t>("Enter the radius of Circle");</a:t>
            </a:r>
          </a:p>
          <a:p>
            <a:pPr lvl="1">
              <a:spcBef>
                <a:spcPct val="50000"/>
              </a:spcBef>
            </a:pPr>
            <a:r>
              <a:rPr lang="en-US" altLang="en-US" sz="2000" b="1" dirty="0">
                <a:latin typeface="Courier New" pitchFamily="49" charset="0"/>
                <a:cs typeface="Courier New" pitchFamily="49" charset="0"/>
              </a:rPr>
              <a:t>double radius = </a:t>
            </a:r>
            <a:r>
              <a:rPr lang="en-US" altLang="en-US" sz="2000" b="1" dirty="0" err="1">
                <a:latin typeface="Courier New" pitchFamily="49" charset="0"/>
                <a:cs typeface="Courier New" pitchFamily="49" charset="0"/>
              </a:rPr>
              <a:t>input.nextDouble</a:t>
            </a:r>
            <a:r>
              <a:rPr lang="en-US" altLang="en-US" sz="2000" b="1" dirty="0">
                <a:latin typeface="Courier New" pitchFamily="49" charset="0"/>
                <a:cs typeface="Courier New" pitchFamily="49" charset="0"/>
              </a:rPr>
              <a:t>();</a:t>
            </a:r>
            <a:endParaRPr lang="en-US" altLang="en-US" sz="2000" b="1" dirty="0">
              <a:cs typeface="Courier New" pitchFamily="49" charset="0"/>
            </a:endParaRPr>
          </a:p>
          <a:p>
            <a:pPr lvl="1"/>
            <a:endParaRPr lang="en-US" altLang="en-US" sz="2400" b="1" dirty="0">
              <a:latin typeface="Courier New" pitchFamily="49" charset="0"/>
              <a:cs typeface="Courier New" pitchFamily="49" charset="0"/>
            </a:endParaRPr>
          </a:p>
        </p:txBody>
      </p:sp>
      <p:sp>
        <p:nvSpPr>
          <p:cNvPr id="2" name="Rectangle 1"/>
          <p:cNvSpPr/>
          <p:nvPr/>
        </p:nvSpPr>
        <p:spPr>
          <a:xfrm>
            <a:off x="167640" y="1331893"/>
            <a:ext cx="8763000"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800" dirty="0"/>
              <a:t>Reading input from the console enables the program to accept input from the user.</a:t>
            </a:r>
          </a:p>
        </p:txBody>
      </p:sp>
      <p:sp>
        <p:nvSpPr>
          <p:cNvPr id="3" name="Rectangle 2"/>
          <p:cNvSpPr/>
          <p:nvPr/>
        </p:nvSpPr>
        <p:spPr>
          <a:xfrm>
            <a:off x="4328160" y="2362200"/>
            <a:ext cx="466344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en-US" b="1" dirty="0">
                <a:solidFill>
                  <a:schemeClr val="accent1"/>
                </a:solidFill>
                <a:latin typeface="Courier New" pitchFamily="49" charset="0"/>
                <a:cs typeface="Courier New" pitchFamily="49" charset="0"/>
              </a:rPr>
              <a:t>System.in</a:t>
            </a:r>
            <a:r>
              <a:rPr lang="en-US" altLang="en-US" b="1" dirty="0">
                <a:latin typeface="Courier New" pitchFamily="49" charset="0"/>
                <a:cs typeface="Courier New" pitchFamily="49" charset="0"/>
              </a:rPr>
              <a:t> - standard input stream object</a:t>
            </a:r>
            <a:endParaRPr lang="en-US" dirty="0"/>
          </a:p>
        </p:txBody>
      </p:sp>
    </p:spTree>
    <p:extLst>
      <p:ext uri="{BB962C8B-B14F-4D97-AF65-F5344CB8AC3E}">
        <p14:creationId xmlns:p14="http://schemas.microsoft.com/office/powerpoint/2010/main" val="153366654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231775" y="152400"/>
            <a:ext cx="8642350" cy="762000"/>
          </a:xfrm>
          <a:noFill/>
        </p:spPr>
        <p:txBody>
          <a:bodyPr/>
          <a:lstStyle/>
          <a:p>
            <a:r>
              <a:rPr lang="en-US" altLang="en-US" dirty="0"/>
              <a:t>Reading Numbers from the Keyboard</a:t>
            </a:r>
          </a:p>
        </p:txBody>
      </p:sp>
      <p:sp>
        <p:nvSpPr>
          <p:cNvPr id="23556" name="Rectangle 3"/>
          <p:cNvSpPr>
            <a:spLocks noGrp="1" noChangeArrowheads="1"/>
          </p:cNvSpPr>
          <p:nvPr>
            <p:ph type="body" idx="1"/>
          </p:nvPr>
        </p:nvSpPr>
        <p:spPr>
          <a:xfrm>
            <a:off x="193675" y="1123950"/>
            <a:ext cx="8756650" cy="1460500"/>
          </a:xfrm>
          <a:noFill/>
        </p:spPr>
        <p:txBody>
          <a:bodyPr/>
          <a:lstStyle/>
          <a:p>
            <a:pPr marL="0" indent="0">
              <a:spcBef>
                <a:spcPct val="0"/>
              </a:spcBef>
              <a:buFont typeface="Monotype Sorts" pitchFamily="2" charset="2"/>
              <a:buNone/>
            </a:pPr>
            <a:r>
              <a:rPr lang="en-US" altLang="en-US" sz="2800" b="1">
                <a:latin typeface="Courier New" pitchFamily="49" charset="0"/>
                <a:cs typeface="Courier New" pitchFamily="49" charset="0"/>
              </a:rPr>
              <a:t>Scanner input = new Scanner(System.in);</a:t>
            </a:r>
          </a:p>
          <a:p>
            <a:pPr marL="0" indent="0">
              <a:spcBef>
                <a:spcPct val="0"/>
              </a:spcBef>
              <a:buFont typeface="Monotype Sorts" pitchFamily="2" charset="2"/>
              <a:buNone/>
            </a:pPr>
            <a:r>
              <a:rPr lang="en-US" altLang="en-US" sz="2800" b="1">
                <a:latin typeface="Courier New" pitchFamily="49" charset="0"/>
                <a:cs typeface="Courier New" pitchFamily="49" charset="0"/>
              </a:rPr>
              <a:t>int value = input.nextInt();</a:t>
            </a:r>
          </a:p>
        </p:txBody>
      </p:sp>
      <p:sp>
        <p:nvSpPr>
          <p:cNvPr id="23557" name="Rectangle 4"/>
          <p:cNvSpPr>
            <a:spLocks noChangeArrowheads="1"/>
          </p:cNvSpPr>
          <p:nvPr/>
        </p:nvSpPr>
        <p:spPr bwMode="auto">
          <a:xfrm>
            <a:off x="2190750" y="2881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en-US"/>
          </a:p>
        </p:txBody>
      </p:sp>
      <p:sp>
        <p:nvSpPr>
          <p:cNvPr id="3" name="Rectangle 2"/>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p:spPr>
        <p:txBody>
          <a:bodyPr wrap="none" anchor="ctr">
            <a:spAutoFit/>
          </a:bodyPr>
          <a:lstStyle/>
          <a:p>
            <a:pPr>
              <a:defRPr/>
            </a:pPr>
            <a:endParaRPr lang="en-US"/>
          </a:p>
        </p:txBody>
      </p:sp>
      <p:graphicFrame>
        <p:nvGraphicFramePr>
          <p:cNvPr id="23559" name="Object 3"/>
          <p:cNvGraphicFramePr>
            <a:graphicFrameLocks noChangeAspect="1"/>
          </p:cNvGraphicFramePr>
          <p:nvPr/>
        </p:nvGraphicFramePr>
        <p:xfrm>
          <a:off x="1000125" y="2546350"/>
          <a:ext cx="7491413" cy="4070350"/>
        </p:xfrm>
        <a:graphic>
          <a:graphicData uri="http://schemas.openxmlformats.org/presentationml/2006/ole">
            <mc:AlternateContent xmlns:mc="http://schemas.openxmlformats.org/markup-compatibility/2006">
              <mc:Choice xmlns:v="urn:schemas-microsoft-com:vml" Requires="v">
                <p:oleObj name="Picture" r:id="rId2" imgW="3249295" imgH="1767611" progId="Word.Picture.8">
                  <p:embed/>
                </p:oleObj>
              </mc:Choice>
              <mc:Fallback>
                <p:oleObj name="Picture" r:id="rId2" imgW="3249295" imgH="1767611" progId="Word.Picture.8">
                  <p:embed/>
                  <p:pic>
                    <p:nvPicPr>
                      <p:cNvPr id="2355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2546350"/>
                        <a:ext cx="7491413" cy="407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4022877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Reading Numbers from the Keyboard</a:t>
            </a:r>
            <a:endParaRPr lang="en-US" dirty="0"/>
          </a:p>
        </p:txBody>
      </p:sp>
      <p:sp>
        <p:nvSpPr>
          <p:cNvPr id="3" name="Content Placeholder 2"/>
          <p:cNvSpPr>
            <a:spLocks noGrp="1"/>
          </p:cNvSpPr>
          <p:nvPr>
            <p:ph idx="1"/>
          </p:nvPr>
        </p:nvSpPr>
        <p:spPr/>
        <p:txBody>
          <a:bodyPr/>
          <a:lstStyle/>
          <a:p>
            <a:endParaRPr 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00199"/>
            <a:ext cx="6781800" cy="5053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2830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18962-C769-C93A-CEB1-D67B0C5D5085}"/>
              </a:ext>
            </a:extLst>
          </p:cNvPr>
          <p:cNvSpPr>
            <a:spLocks noGrp="1"/>
          </p:cNvSpPr>
          <p:nvPr>
            <p:ph type="title"/>
          </p:nvPr>
        </p:nvSpPr>
        <p:spPr/>
        <p:txBody>
          <a:bodyPr/>
          <a:lstStyle/>
          <a:p>
            <a:r>
              <a:rPr lang="en-US" dirty="0"/>
              <a:t>Reading a character</a:t>
            </a:r>
          </a:p>
        </p:txBody>
      </p:sp>
      <p:sp>
        <p:nvSpPr>
          <p:cNvPr id="5" name="TextBox 4">
            <a:extLst>
              <a:ext uri="{FF2B5EF4-FFF2-40B4-BE49-F238E27FC236}">
                <a16:creationId xmlns:a16="http://schemas.microsoft.com/office/drawing/2014/main" id="{52EBE0F3-78C5-8FFB-4968-F176D178B7D1}"/>
              </a:ext>
            </a:extLst>
          </p:cNvPr>
          <p:cNvSpPr txBox="1"/>
          <p:nvPr/>
        </p:nvSpPr>
        <p:spPr>
          <a:xfrm>
            <a:off x="304800" y="1402398"/>
            <a:ext cx="8610600" cy="3724096"/>
          </a:xfrm>
          <a:prstGeom prst="rect">
            <a:avLst/>
          </a:prstGeom>
          <a:noFill/>
        </p:spPr>
        <p:txBody>
          <a:bodyPr wrap="square">
            <a:spAutoFit/>
          </a:bodyPr>
          <a:lstStyle/>
          <a:p>
            <a:pPr algn="ctr"/>
            <a:r>
              <a:rPr lang="en-US" sz="2800" dirty="0">
                <a:latin typeface="Courier"/>
              </a:rPr>
              <a:t>Scanner input = new Scanner(System.in);</a:t>
            </a:r>
          </a:p>
          <a:p>
            <a:pPr marL="0" indent="0">
              <a:buNone/>
            </a:pPr>
            <a:endParaRPr lang="en-US" sz="2800" dirty="0">
              <a:latin typeface="Courier"/>
            </a:endParaRPr>
          </a:p>
          <a:p>
            <a:pPr marL="0" indent="0">
              <a:buNone/>
            </a:pPr>
            <a:r>
              <a:rPr lang="en-US" sz="2800" dirty="0" err="1">
                <a:latin typeface="Courier"/>
              </a:rPr>
              <a:t>input.next</a:t>
            </a:r>
            <a:r>
              <a:rPr lang="en-US" sz="2800" dirty="0">
                <a:latin typeface="Courier"/>
              </a:rPr>
              <a:t>(): </a:t>
            </a:r>
            <a:r>
              <a:rPr lang="en-US" sz="3200" dirty="0"/>
              <a:t>get the next input token as string</a:t>
            </a:r>
          </a:p>
          <a:p>
            <a:pPr marL="0" indent="0">
              <a:buNone/>
            </a:pPr>
            <a:endParaRPr lang="en-US" sz="2800" dirty="0">
              <a:latin typeface="Courier"/>
            </a:endParaRPr>
          </a:p>
          <a:p>
            <a:pPr marL="0" indent="0">
              <a:buNone/>
            </a:pPr>
            <a:r>
              <a:rPr lang="en-US" sz="2800" dirty="0" err="1">
                <a:latin typeface="Courier"/>
              </a:rPr>
              <a:t>input.nextLine</a:t>
            </a:r>
            <a:r>
              <a:rPr lang="en-US" sz="2800" dirty="0">
                <a:latin typeface="Courier"/>
              </a:rPr>
              <a:t>(): </a:t>
            </a:r>
            <a:r>
              <a:rPr lang="en-US" sz="3200" dirty="0"/>
              <a:t>get the next input as a string until the end of line</a:t>
            </a:r>
          </a:p>
          <a:p>
            <a:pPr marL="0" indent="0" algn="ctr">
              <a:buNone/>
            </a:pPr>
            <a:endParaRPr lang="en-US" sz="2800" dirty="0">
              <a:latin typeface="Courier"/>
            </a:endParaRPr>
          </a:p>
          <a:p>
            <a:pPr marL="0" indent="0" algn="ctr">
              <a:buNone/>
            </a:pPr>
            <a:r>
              <a:rPr lang="en-US" sz="2800" dirty="0">
                <a:latin typeface="Courier"/>
              </a:rPr>
              <a:t>char </a:t>
            </a:r>
            <a:r>
              <a:rPr lang="en-US" sz="2800" dirty="0" err="1">
                <a:latin typeface="Courier"/>
              </a:rPr>
              <a:t>ch</a:t>
            </a:r>
            <a:r>
              <a:rPr lang="en-US" sz="2800" dirty="0">
                <a:latin typeface="Courier"/>
              </a:rPr>
              <a:t> = </a:t>
            </a:r>
            <a:r>
              <a:rPr lang="en-US" sz="2800" dirty="0" err="1">
                <a:latin typeface="Courier"/>
              </a:rPr>
              <a:t>input.next</a:t>
            </a:r>
            <a:r>
              <a:rPr lang="en-US" sz="2800" dirty="0">
                <a:latin typeface="Courier"/>
              </a:rPr>
              <a:t>().</a:t>
            </a:r>
            <a:r>
              <a:rPr lang="en-US" sz="2800" dirty="0" err="1">
                <a:latin typeface="Courier"/>
              </a:rPr>
              <a:t>charAt</a:t>
            </a:r>
            <a:r>
              <a:rPr lang="en-US" sz="2800" dirty="0">
                <a:latin typeface="Courier"/>
              </a:rPr>
              <a:t>(0);</a:t>
            </a:r>
          </a:p>
        </p:txBody>
      </p:sp>
    </p:spTree>
    <p:extLst>
      <p:ext uri="{BB962C8B-B14F-4D97-AF65-F5344CB8AC3E}">
        <p14:creationId xmlns:p14="http://schemas.microsoft.com/office/powerpoint/2010/main" val="4082841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4">
            <a:extLst>
              <a:ext uri="{FF2B5EF4-FFF2-40B4-BE49-F238E27FC236}">
                <a16:creationId xmlns:a16="http://schemas.microsoft.com/office/drawing/2014/main" id="{48E3703A-9BF5-413D-4C0B-75C0E88E98CD}"/>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35AA28F-7588-431F-868E-24EA25FC092D}" type="slidenum">
              <a:rPr lang="en-US" altLang="en-US" sz="1400"/>
              <a:pPr>
                <a:spcBef>
                  <a:spcPct val="0"/>
                </a:spcBef>
                <a:buClrTx/>
                <a:buSzTx/>
                <a:buFontTx/>
                <a:buNone/>
              </a:pPr>
              <a:t>19</a:t>
            </a:fld>
            <a:endParaRPr lang="en-US" altLang="en-US" sz="1400"/>
          </a:p>
        </p:txBody>
      </p:sp>
      <p:sp>
        <p:nvSpPr>
          <p:cNvPr id="26626" name="Rectangle 2">
            <a:extLst>
              <a:ext uri="{FF2B5EF4-FFF2-40B4-BE49-F238E27FC236}">
                <a16:creationId xmlns:a16="http://schemas.microsoft.com/office/drawing/2014/main" id="{DE9CFDA7-09BD-E616-CE17-92107E62F9F1}"/>
              </a:ext>
            </a:extLst>
          </p:cNvPr>
          <p:cNvSpPr>
            <a:spLocks noGrp="1" noChangeArrowheads="1"/>
          </p:cNvSpPr>
          <p:nvPr>
            <p:ph type="title"/>
          </p:nvPr>
        </p:nvSpPr>
        <p:spPr>
          <a:xfrm>
            <a:off x="304800" y="228600"/>
            <a:ext cx="8458200" cy="762000"/>
          </a:xfrm>
          <a:noFill/>
        </p:spPr>
        <p:txBody>
          <a:bodyPr/>
          <a:lstStyle/>
          <a:p>
            <a:r>
              <a:rPr lang="en-US" altLang="en-US"/>
              <a:t>Implicit Import and Explicit Import</a:t>
            </a:r>
          </a:p>
        </p:txBody>
      </p:sp>
      <p:sp>
        <p:nvSpPr>
          <p:cNvPr id="35844" name="Rectangle 3">
            <a:extLst>
              <a:ext uri="{FF2B5EF4-FFF2-40B4-BE49-F238E27FC236}">
                <a16:creationId xmlns:a16="http://schemas.microsoft.com/office/drawing/2014/main" id="{F1E78137-046A-A40A-00DB-F17A861F1F85}"/>
              </a:ext>
            </a:extLst>
          </p:cNvPr>
          <p:cNvSpPr>
            <a:spLocks noGrp="1" noChangeArrowheads="1"/>
          </p:cNvSpPr>
          <p:nvPr>
            <p:ph type="body" idx="1"/>
          </p:nvPr>
        </p:nvSpPr>
        <p:spPr>
          <a:xfrm>
            <a:off x="152400" y="1524000"/>
            <a:ext cx="8839200" cy="4343400"/>
          </a:xfrm>
        </p:spPr>
        <p:txBody>
          <a:bodyPr/>
          <a:lstStyle/>
          <a:p>
            <a:pPr>
              <a:buFont typeface="Monotype Sorts" pitchFamily="2" charset="2"/>
              <a:buChar char="F"/>
              <a:defRPr/>
            </a:pPr>
            <a:r>
              <a:rPr lang="en-US" sz="2400" dirty="0">
                <a:solidFill>
                  <a:srgbClr val="000000"/>
                </a:solidFill>
                <a:latin typeface="TimesLTStd-Roman"/>
              </a:rPr>
              <a:t>There are two types of </a:t>
            </a:r>
            <a:r>
              <a:rPr lang="en-US" sz="2000" b="1" dirty="0">
                <a:solidFill>
                  <a:srgbClr val="00AFF0"/>
                </a:solidFill>
                <a:latin typeface="LucidaSansTypewriterStd-Bd"/>
              </a:rPr>
              <a:t>import </a:t>
            </a:r>
            <a:r>
              <a:rPr lang="en-US" sz="2400" dirty="0">
                <a:solidFill>
                  <a:srgbClr val="000000"/>
                </a:solidFill>
                <a:latin typeface="TimesLTStd-Roman"/>
              </a:rPr>
              <a:t>statements: </a:t>
            </a:r>
            <a:r>
              <a:rPr lang="en-US" sz="2400" i="1" dirty="0">
                <a:solidFill>
                  <a:srgbClr val="000000"/>
                </a:solidFill>
                <a:latin typeface="TimesLTStd-Italic"/>
              </a:rPr>
              <a:t>specific import </a:t>
            </a:r>
            <a:r>
              <a:rPr lang="en-US" sz="2400" dirty="0">
                <a:solidFill>
                  <a:srgbClr val="000000"/>
                </a:solidFill>
                <a:latin typeface="TimesLTStd-Roman"/>
              </a:rPr>
              <a:t>and </a:t>
            </a:r>
            <a:r>
              <a:rPr lang="en-US" sz="2400" i="1" dirty="0">
                <a:solidFill>
                  <a:srgbClr val="000000"/>
                </a:solidFill>
                <a:latin typeface="TimesLTStd-Italic"/>
              </a:rPr>
              <a:t>wildcard import</a:t>
            </a:r>
            <a:r>
              <a:rPr lang="en-US" sz="2400" dirty="0">
                <a:solidFill>
                  <a:srgbClr val="000000"/>
                </a:solidFill>
                <a:latin typeface="TimesLTStd-Roman"/>
              </a:rPr>
              <a:t>. The </a:t>
            </a:r>
            <a:r>
              <a:rPr lang="en-US" sz="2400" i="1" dirty="0">
                <a:solidFill>
                  <a:srgbClr val="000000"/>
                </a:solidFill>
                <a:latin typeface="TimesLTStd-Italic"/>
              </a:rPr>
              <a:t>specific import </a:t>
            </a:r>
            <a:r>
              <a:rPr lang="en-US" sz="2400" dirty="0">
                <a:solidFill>
                  <a:srgbClr val="000000"/>
                </a:solidFill>
                <a:latin typeface="TimesLTStd-Roman"/>
              </a:rPr>
              <a:t>specifies a single class in the import statement. For example, the following statement imports </a:t>
            </a:r>
            <a:r>
              <a:rPr lang="en-US" sz="2000" b="1" dirty="0">
                <a:solidFill>
                  <a:srgbClr val="00AFF0"/>
                </a:solidFill>
                <a:latin typeface="LucidaSansTypewriterStd-Bd"/>
              </a:rPr>
              <a:t>Scanner </a:t>
            </a:r>
            <a:r>
              <a:rPr lang="en-US" sz="2400" dirty="0">
                <a:solidFill>
                  <a:srgbClr val="000000"/>
                </a:solidFill>
                <a:latin typeface="TimesLTStd-Roman"/>
              </a:rPr>
              <a:t>from the package </a:t>
            </a:r>
            <a:r>
              <a:rPr lang="en-US" sz="2000" b="1" dirty="0" err="1">
                <a:solidFill>
                  <a:srgbClr val="00AFF0"/>
                </a:solidFill>
                <a:latin typeface="LucidaSansTypewriterStd-Bd"/>
              </a:rPr>
              <a:t>java.util</a:t>
            </a:r>
            <a:r>
              <a:rPr lang="en-US" sz="2400" dirty="0">
                <a:solidFill>
                  <a:srgbClr val="000000"/>
                </a:solidFill>
                <a:latin typeface="TimesLTStd-Roman"/>
              </a:rPr>
              <a:t>. </a:t>
            </a:r>
          </a:p>
          <a:p>
            <a:pPr marL="0" indent="0">
              <a:buFont typeface="Monotype Sorts" pitchFamily="2" charset="2"/>
              <a:buNone/>
              <a:defRPr/>
            </a:pPr>
            <a:r>
              <a:rPr lang="en-US" sz="2400" b="1" dirty="0">
                <a:solidFill>
                  <a:srgbClr val="000000"/>
                </a:solidFill>
                <a:latin typeface="TimesLTStd-Roman"/>
              </a:rPr>
              <a:t>	</a:t>
            </a:r>
            <a:r>
              <a:rPr lang="en-US" sz="1800" b="1" dirty="0">
                <a:solidFill>
                  <a:srgbClr val="005B80"/>
                </a:solidFill>
                <a:latin typeface="LucidaSansTypewriterStd-Bd"/>
              </a:rPr>
              <a:t>import </a:t>
            </a:r>
            <a:r>
              <a:rPr lang="en-US" sz="1800" dirty="0" err="1">
                <a:solidFill>
                  <a:srgbClr val="000000"/>
                </a:solidFill>
                <a:latin typeface="LucidaSansTypewriterStd"/>
              </a:rPr>
              <a:t>java.util.Scanner</a:t>
            </a:r>
            <a:r>
              <a:rPr lang="en-US" sz="1800" dirty="0">
                <a:solidFill>
                  <a:srgbClr val="000000"/>
                </a:solidFill>
                <a:latin typeface="LucidaSansTypewriterStd"/>
              </a:rPr>
              <a:t>; </a:t>
            </a:r>
          </a:p>
          <a:p>
            <a:pPr>
              <a:buFont typeface="Monotype Sorts" pitchFamily="2" charset="2"/>
              <a:buChar char="F"/>
              <a:defRPr/>
            </a:pPr>
            <a:endParaRPr lang="en-US" sz="1800" dirty="0">
              <a:solidFill>
                <a:srgbClr val="000000"/>
              </a:solidFill>
              <a:latin typeface="LucidaSansTypewriterStd"/>
            </a:endParaRPr>
          </a:p>
          <a:p>
            <a:pPr>
              <a:buFont typeface="Monotype Sorts" pitchFamily="2" charset="2"/>
              <a:buChar char="F"/>
              <a:defRPr/>
            </a:pPr>
            <a:r>
              <a:rPr lang="en-US" sz="2400" dirty="0">
                <a:solidFill>
                  <a:srgbClr val="000000"/>
                </a:solidFill>
                <a:latin typeface="TimesLTStd-Roman"/>
              </a:rPr>
              <a:t>The </a:t>
            </a:r>
            <a:r>
              <a:rPr lang="en-US" sz="2400" i="1" dirty="0">
                <a:solidFill>
                  <a:srgbClr val="000000"/>
                </a:solidFill>
                <a:latin typeface="TimesLTStd-Italic"/>
              </a:rPr>
              <a:t>wildcard import </a:t>
            </a:r>
            <a:r>
              <a:rPr lang="en-US" sz="2400" dirty="0">
                <a:solidFill>
                  <a:srgbClr val="000000"/>
                </a:solidFill>
                <a:latin typeface="TimesLTStd-Roman"/>
              </a:rPr>
              <a:t>imports all the classes in a package by using the asterisk as the wildcard. For example, the following statement imports all the classes from the package </a:t>
            </a:r>
            <a:r>
              <a:rPr lang="en-US" sz="2000" b="1" dirty="0" err="1">
                <a:solidFill>
                  <a:srgbClr val="00AFF0"/>
                </a:solidFill>
                <a:latin typeface="LucidaSansTypewriterStd-Bd"/>
              </a:rPr>
              <a:t>java.util</a:t>
            </a:r>
            <a:r>
              <a:rPr lang="en-US" sz="2400" dirty="0">
                <a:solidFill>
                  <a:srgbClr val="000000"/>
                </a:solidFill>
                <a:latin typeface="TimesLTStd-Roman"/>
              </a:rPr>
              <a:t>.</a:t>
            </a:r>
          </a:p>
          <a:p>
            <a:pPr marL="0" indent="0">
              <a:buFont typeface="Monotype Sorts" pitchFamily="2" charset="2"/>
              <a:buNone/>
              <a:defRPr/>
            </a:pPr>
            <a:r>
              <a:rPr lang="en-US" sz="1800" b="1" dirty="0">
                <a:solidFill>
                  <a:srgbClr val="005B80"/>
                </a:solidFill>
                <a:latin typeface="LucidaSansTypewriterStd-Bd"/>
              </a:rPr>
              <a:t> 	import </a:t>
            </a:r>
            <a:r>
              <a:rPr lang="en-US" sz="1800" dirty="0" err="1">
                <a:solidFill>
                  <a:srgbClr val="000000"/>
                </a:solidFill>
                <a:latin typeface="LucidaSansTypewriterStd"/>
              </a:rPr>
              <a:t>java.util</a:t>
            </a:r>
            <a:r>
              <a:rPr lang="en-US" sz="1800" dirty="0">
                <a:solidFill>
                  <a:srgbClr val="000000"/>
                </a:solidFill>
                <a:latin typeface="LucidaSansTypewriterStd"/>
              </a:rPr>
              <a:t>.*;</a:t>
            </a:r>
          </a:p>
        </p:txBody>
      </p:sp>
      <p:sp>
        <p:nvSpPr>
          <p:cNvPr id="26628" name="Rectangle 4">
            <a:extLst>
              <a:ext uri="{FF2B5EF4-FFF2-40B4-BE49-F238E27FC236}">
                <a16:creationId xmlns:a16="http://schemas.microsoft.com/office/drawing/2014/main" id="{03D10C50-3E39-3FF2-043E-B265D80827D1}"/>
              </a:ext>
            </a:extLst>
          </p:cNvPr>
          <p:cNvSpPr>
            <a:spLocks noChangeArrowheads="1"/>
          </p:cNvSpPr>
          <p:nvPr/>
        </p:nvSpPr>
        <p:spPr bwMode="auto">
          <a:xfrm>
            <a:off x="3543300" y="2617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4">
            <a:extLst>
              <a:ext uri="{FF2B5EF4-FFF2-40B4-BE49-F238E27FC236}">
                <a16:creationId xmlns:a16="http://schemas.microsoft.com/office/drawing/2014/main" id="{9B911270-AAFB-7D22-959A-5D1BDA16F799}"/>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DB7B370-B50A-4140-9338-06C26A1606C7}" type="slidenum">
              <a:rPr lang="en-US" altLang="en-US" sz="1400"/>
              <a:pPr>
                <a:spcBef>
                  <a:spcPct val="0"/>
                </a:spcBef>
                <a:buClrTx/>
                <a:buSzTx/>
                <a:buFontTx/>
                <a:buNone/>
              </a:pPr>
              <a:t>20</a:t>
            </a:fld>
            <a:endParaRPr lang="en-US" altLang="en-US" sz="1400"/>
          </a:p>
        </p:txBody>
      </p:sp>
      <p:sp>
        <p:nvSpPr>
          <p:cNvPr id="28674" name="Rectangle 2">
            <a:extLst>
              <a:ext uri="{FF2B5EF4-FFF2-40B4-BE49-F238E27FC236}">
                <a16:creationId xmlns:a16="http://schemas.microsoft.com/office/drawing/2014/main" id="{B7F913EE-410C-AD21-7903-BC373CC9E58E}"/>
              </a:ext>
            </a:extLst>
          </p:cNvPr>
          <p:cNvSpPr>
            <a:spLocks noGrp="1" noChangeArrowheads="1"/>
          </p:cNvSpPr>
          <p:nvPr>
            <p:ph type="title"/>
          </p:nvPr>
        </p:nvSpPr>
        <p:spPr>
          <a:xfrm>
            <a:off x="304800" y="228600"/>
            <a:ext cx="8458200" cy="762000"/>
          </a:xfrm>
          <a:noFill/>
        </p:spPr>
        <p:txBody>
          <a:bodyPr/>
          <a:lstStyle/>
          <a:p>
            <a:r>
              <a:rPr lang="en-US" altLang="en-US"/>
              <a:t>Implicit Import and Explicit Import</a:t>
            </a:r>
          </a:p>
        </p:txBody>
      </p:sp>
      <p:sp>
        <p:nvSpPr>
          <p:cNvPr id="28675" name="Rectangle 3">
            <a:extLst>
              <a:ext uri="{FF2B5EF4-FFF2-40B4-BE49-F238E27FC236}">
                <a16:creationId xmlns:a16="http://schemas.microsoft.com/office/drawing/2014/main" id="{D3DFAE60-89B5-CEF3-9CA2-8A83ECEF9BC5}"/>
              </a:ext>
            </a:extLst>
          </p:cNvPr>
          <p:cNvSpPr>
            <a:spLocks noGrp="1" noChangeArrowheads="1"/>
          </p:cNvSpPr>
          <p:nvPr>
            <p:ph type="body" idx="1"/>
          </p:nvPr>
        </p:nvSpPr>
        <p:spPr>
          <a:xfrm>
            <a:off x="152400" y="1524000"/>
            <a:ext cx="8839200" cy="4343400"/>
          </a:xfrm>
          <a:noFill/>
        </p:spPr>
        <p:txBody>
          <a:bodyPr/>
          <a:lstStyle/>
          <a:p>
            <a:r>
              <a:rPr lang="en-US" altLang="en-US" sz="2400">
                <a:solidFill>
                  <a:srgbClr val="000000"/>
                </a:solidFill>
                <a:latin typeface="TimesLTStd-Roman"/>
              </a:rPr>
              <a:t>The information for the classes in an imported package is not read at compile time or runtime unless the class is used in the program. The import statement simply tells the compiler where to locate the classes. </a:t>
            </a:r>
          </a:p>
          <a:p>
            <a:endParaRPr lang="en-US" altLang="en-US" sz="2400">
              <a:solidFill>
                <a:srgbClr val="000000"/>
              </a:solidFill>
              <a:latin typeface="TimesLTStd-Roman"/>
            </a:endParaRPr>
          </a:p>
          <a:p>
            <a:r>
              <a:rPr lang="en-US" altLang="en-US" sz="2400">
                <a:solidFill>
                  <a:srgbClr val="000000"/>
                </a:solidFill>
                <a:latin typeface="TimesLTStd-Roman"/>
              </a:rPr>
              <a:t>There is no performance difference between a specific import and a wildcard import declaration.</a:t>
            </a:r>
            <a:endParaRPr lang="en-US" altLang="en-US" sz="3000"/>
          </a:p>
        </p:txBody>
      </p:sp>
      <p:sp>
        <p:nvSpPr>
          <p:cNvPr id="28676" name="Rectangle 4">
            <a:extLst>
              <a:ext uri="{FF2B5EF4-FFF2-40B4-BE49-F238E27FC236}">
                <a16:creationId xmlns:a16="http://schemas.microsoft.com/office/drawing/2014/main" id="{ED55E0D6-5664-5075-4E45-21F9BE932CA3}"/>
              </a:ext>
            </a:extLst>
          </p:cNvPr>
          <p:cNvSpPr>
            <a:spLocks noChangeArrowheads="1"/>
          </p:cNvSpPr>
          <p:nvPr/>
        </p:nvSpPr>
        <p:spPr bwMode="auto">
          <a:xfrm>
            <a:off x="3543300" y="2617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Package, Classes, Methods and </a:t>
            </a:r>
            <a:r>
              <a:rPr lang="en-US" sz="3600" dirty="0">
                <a:solidFill>
                  <a:schemeClr val="accent1"/>
                </a:solidFill>
              </a:rPr>
              <a:t>import</a:t>
            </a:r>
          </a:p>
        </p:txBody>
      </p:sp>
      <p:sp>
        <p:nvSpPr>
          <p:cNvPr id="3" name="Content Placeholder 2"/>
          <p:cNvSpPr>
            <a:spLocks noGrp="1"/>
          </p:cNvSpPr>
          <p:nvPr>
            <p:ph idx="1"/>
          </p:nvPr>
        </p:nvSpPr>
        <p:spPr/>
        <p:txBody>
          <a:bodyPr/>
          <a:lstStyle/>
          <a:p>
            <a:r>
              <a:rPr lang="en-US" dirty="0"/>
              <a:t>A package is a collection of related classes</a:t>
            </a:r>
          </a:p>
          <a:p>
            <a:pPr lvl="1"/>
            <a:r>
              <a:rPr lang="en-US" dirty="0" err="1">
                <a:solidFill>
                  <a:schemeClr val="accent1"/>
                </a:solidFill>
              </a:rPr>
              <a:t>java.lang</a:t>
            </a:r>
            <a:r>
              <a:rPr lang="en-US" dirty="0"/>
              <a:t> package contain many classes e.g. Math, System</a:t>
            </a:r>
          </a:p>
          <a:p>
            <a:pPr lvl="1"/>
            <a:r>
              <a:rPr lang="en-US" dirty="0" err="1">
                <a:solidFill>
                  <a:schemeClr val="accent1"/>
                </a:solidFill>
              </a:rPr>
              <a:t>java.util</a:t>
            </a:r>
            <a:r>
              <a:rPr lang="en-US" dirty="0"/>
              <a:t> package contain </a:t>
            </a:r>
            <a:r>
              <a:rPr lang="en-US" dirty="0">
                <a:solidFill>
                  <a:schemeClr val="accent1"/>
                </a:solidFill>
              </a:rPr>
              <a:t>Scanner</a:t>
            </a:r>
            <a:r>
              <a:rPr lang="en-US" dirty="0"/>
              <a:t> class</a:t>
            </a:r>
          </a:p>
          <a:p>
            <a:pPr lvl="1"/>
            <a:endParaRPr lang="en-US" dirty="0"/>
          </a:p>
          <a:p>
            <a:endParaRPr lang="en-US" dirty="0"/>
          </a:p>
          <a:p>
            <a:r>
              <a:rPr lang="en-US" dirty="0">
                <a:solidFill>
                  <a:schemeClr val="accent1"/>
                </a:solidFill>
              </a:rPr>
              <a:t>class</a:t>
            </a:r>
            <a:r>
              <a:rPr lang="en-US" dirty="0"/>
              <a:t> is used to create Java programs</a:t>
            </a:r>
          </a:p>
          <a:p>
            <a:pPr lvl="1"/>
            <a:r>
              <a:rPr lang="en-US" dirty="0"/>
              <a:t>Use to group set of related operations(methods)</a:t>
            </a:r>
          </a:p>
          <a:p>
            <a:endParaRPr lang="en-US" dirty="0"/>
          </a:p>
        </p:txBody>
      </p:sp>
      <p:sp>
        <p:nvSpPr>
          <p:cNvPr id="4" name="Rectangle 3"/>
          <p:cNvSpPr/>
          <p:nvPr/>
        </p:nvSpPr>
        <p:spPr>
          <a:xfrm>
            <a:off x="1143000" y="3886200"/>
            <a:ext cx="2590800" cy="671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Specific Import:</a:t>
            </a:r>
          </a:p>
          <a:p>
            <a:pPr algn="ctr"/>
            <a:r>
              <a:rPr lang="en-US" b="1" dirty="0"/>
              <a:t>import </a:t>
            </a:r>
            <a:r>
              <a:rPr lang="en-US" b="1" dirty="0" err="1"/>
              <a:t>java.util.Scanner</a:t>
            </a:r>
            <a:r>
              <a:rPr lang="en-US" b="1" dirty="0"/>
              <a:t>;</a:t>
            </a:r>
          </a:p>
        </p:txBody>
      </p:sp>
      <p:sp>
        <p:nvSpPr>
          <p:cNvPr id="5" name="Rectangle 4"/>
          <p:cNvSpPr/>
          <p:nvPr/>
        </p:nvSpPr>
        <p:spPr>
          <a:xfrm>
            <a:off x="4343400" y="3886200"/>
            <a:ext cx="2590800" cy="671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Wildcard Import:</a:t>
            </a:r>
          </a:p>
          <a:p>
            <a:pPr algn="ctr"/>
            <a:r>
              <a:rPr lang="en-US" b="1" dirty="0"/>
              <a:t>import </a:t>
            </a:r>
            <a:r>
              <a:rPr lang="en-US" b="1" dirty="0" err="1"/>
              <a:t>java.util</a:t>
            </a:r>
            <a:r>
              <a:rPr lang="en-US" b="1" dirty="0"/>
              <a:t>.*;</a:t>
            </a:r>
          </a:p>
        </p:txBody>
      </p:sp>
    </p:spTree>
    <p:extLst>
      <p:ext uri="{BB962C8B-B14F-4D97-AF65-F5344CB8AC3E}">
        <p14:creationId xmlns:p14="http://schemas.microsoft.com/office/powerpoint/2010/main" val="123489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76400" y="2438400"/>
            <a:ext cx="5715000" cy="6477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676400" y="3505200"/>
            <a:ext cx="5715000" cy="6858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47650" y="862016"/>
            <a:ext cx="6000750" cy="5334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47650" y="1000662"/>
            <a:ext cx="8686800" cy="5632311"/>
          </a:xfrm>
          <a:prstGeom prst="rect">
            <a:avLst/>
          </a:prstGeom>
        </p:spPr>
        <p:txBody>
          <a:bodyPr wrap="square">
            <a:spAutoFit/>
          </a:bodyPr>
          <a:lstStyle/>
          <a:p>
            <a:r>
              <a:rPr lang="en-US" dirty="0"/>
              <a:t>import </a:t>
            </a:r>
            <a:r>
              <a:rPr lang="en-US" dirty="0" err="1"/>
              <a:t>java.util.Scanner</a:t>
            </a:r>
            <a:r>
              <a:rPr lang="en-US" dirty="0"/>
              <a:t>; // Scanner is in the </a:t>
            </a:r>
            <a:r>
              <a:rPr lang="en-US" dirty="0" err="1"/>
              <a:t>java.util</a:t>
            </a:r>
            <a:r>
              <a:rPr lang="en-US" dirty="0"/>
              <a:t> package</a:t>
            </a:r>
          </a:p>
          <a:p>
            <a:endParaRPr lang="en-US" dirty="0"/>
          </a:p>
          <a:p>
            <a:r>
              <a:rPr lang="en-US" dirty="0"/>
              <a:t>public class </a:t>
            </a:r>
            <a:r>
              <a:rPr lang="en-US" altLang="en-US" dirty="0" err="1"/>
              <a:t>ComputeArea</a:t>
            </a:r>
            <a:r>
              <a:rPr lang="en-US" altLang="en-US" dirty="0"/>
              <a:t> </a:t>
            </a:r>
            <a:r>
              <a:rPr lang="en-US" dirty="0"/>
              <a:t>{</a:t>
            </a:r>
          </a:p>
          <a:p>
            <a:r>
              <a:rPr lang="en-US" dirty="0"/>
              <a:t>	public static void main(String[] </a:t>
            </a:r>
            <a:r>
              <a:rPr lang="en-US" dirty="0" err="1"/>
              <a:t>args</a:t>
            </a:r>
            <a:r>
              <a:rPr lang="en-US" dirty="0"/>
              <a:t>){</a:t>
            </a:r>
          </a:p>
          <a:p>
            <a:r>
              <a:rPr lang="en-US" dirty="0"/>
              <a:t>		</a:t>
            </a:r>
          </a:p>
          <a:p>
            <a:r>
              <a:rPr lang="en-US" dirty="0"/>
              <a:t>		// Create a Scanner object</a:t>
            </a:r>
          </a:p>
          <a:p>
            <a:r>
              <a:rPr lang="en-US" dirty="0"/>
              <a:t>		Scanner input = new Scanner(System.in);</a:t>
            </a:r>
          </a:p>
          <a:p>
            <a:endParaRPr lang="en-US" dirty="0"/>
          </a:p>
          <a:p>
            <a:r>
              <a:rPr lang="en-US" dirty="0"/>
              <a:t>		// Prompt the user to enter a radius</a:t>
            </a:r>
          </a:p>
          <a:p>
            <a:r>
              <a:rPr lang="en-US" dirty="0"/>
              <a:t>		</a:t>
            </a:r>
            <a:r>
              <a:rPr lang="en-US" dirty="0" err="1"/>
              <a:t>System.out.println</a:t>
            </a:r>
            <a:r>
              <a:rPr lang="en-US" dirty="0"/>
              <a:t>("Enter the radius of Circle");</a:t>
            </a:r>
          </a:p>
          <a:p>
            <a:r>
              <a:rPr lang="en-US" dirty="0"/>
              <a:t>		double radius = </a:t>
            </a:r>
            <a:r>
              <a:rPr lang="en-US" dirty="0" err="1"/>
              <a:t>input.nextDouble</a:t>
            </a:r>
            <a:r>
              <a:rPr lang="en-US" dirty="0"/>
              <a:t>();</a:t>
            </a:r>
          </a:p>
          <a:p>
            <a:endParaRPr lang="en-US" dirty="0"/>
          </a:p>
          <a:p>
            <a:r>
              <a:rPr lang="en-US" dirty="0"/>
              <a:t>		// Compute area</a:t>
            </a:r>
          </a:p>
          <a:p>
            <a:r>
              <a:rPr lang="en-US" dirty="0"/>
              <a:t>		double area   = 3.14159 * radius * radius;</a:t>
            </a:r>
          </a:p>
          <a:p>
            <a:endParaRPr lang="en-US" dirty="0"/>
          </a:p>
          <a:p>
            <a:r>
              <a:rPr lang="en-US" dirty="0"/>
              <a:t>		// Display results</a:t>
            </a:r>
          </a:p>
          <a:p>
            <a:r>
              <a:rPr lang="en-US" dirty="0"/>
              <a:t>		</a:t>
            </a:r>
            <a:r>
              <a:rPr lang="en-US" dirty="0" err="1"/>
              <a:t>System.out.print</a:t>
            </a:r>
            <a:r>
              <a:rPr lang="en-US" dirty="0"/>
              <a:t>("The area of Circle is: "+area);</a:t>
            </a:r>
          </a:p>
          <a:p>
            <a:r>
              <a:rPr lang="en-US" dirty="0"/>
              <a:t>	}</a:t>
            </a:r>
          </a:p>
          <a:p>
            <a:r>
              <a:rPr lang="en-US" dirty="0"/>
              <a:t>	</a:t>
            </a:r>
          </a:p>
          <a:p>
            <a:r>
              <a:rPr lang="en-US" dirty="0"/>
              <a:t>}</a:t>
            </a:r>
          </a:p>
        </p:txBody>
      </p:sp>
    </p:spTree>
    <p:extLst>
      <p:ext uri="{BB962C8B-B14F-4D97-AF65-F5344CB8AC3E}">
        <p14:creationId xmlns:p14="http://schemas.microsoft.com/office/powerpoint/2010/main" val="223239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4">
            <a:extLst>
              <a:ext uri="{FF2B5EF4-FFF2-40B4-BE49-F238E27FC236}">
                <a16:creationId xmlns:a16="http://schemas.microsoft.com/office/drawing/2014/main" id="{557E7F51-7082-67EE-77B1-C9040EB029B0}"/>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C75F6EF-46DA-46EF-8BB3-52BFE93C8A17}" type="slidenum">
              <a:rPr lang="en-US" altLang="en-US" sz="1400"/>
              <a:pPr>
                <a:spcBef>
                  <a:spcPct val="0"/>
                </a:spcBef>
                <a:buClrTx/>
                <a:buSzTx/>
                <a:buFontTx/>
                <a:buNone/>
              </a:pPr>
              <a:t>23</a:t>
            </a:fld>
            <a:endParaRPr lang="en-US" altLang="en-US" sz="1400"/>
          </a:p>
        </p:txBody>
      </p:sp>
      <p:sp>
        <p:nvSpPr>
          <p:cNvPr id="25602" name="Rectangle 2">
            <a:extLst>
              <a:ext uri="{FF2B5EF4-FFF2-40B4-BE49-F238E27FC236}">
                <a16:creationId xmlns:a16="http://schemas.microsoft.com/office/drawing/2014/main" id="{73772EB8-9DBE-6A6E-E669-462132E640A0}"/>
              </a:ext>
            </a:extLst>
          </p:cNvPr>
          <p:cNvSpPr>
            <a:spLocks noGrp="1" noChangeArrowheads="1"/>
          </p:cNvSpPr>
          <p:nvPr>
            <p:ph type="title"/>
          </p:nvPr>
        </p:nvSpPr>
        <p:spPr>
          <a:xfrm>
            <a:off x="423863" y="296863"/>
            <a:ext cx="8334375" cy="417512"/>
          </a:xfrm>
        </p:spPr>
        <p:txBody>
          <a:bodyPr>
            <a:normAutofit fontScale="90000"/>
          </a:bodyPr>
          <a:lstStyle/>
          <a:p>
            <a:r>
              <a:rPr lang="en-US" altLang="en-US"/>
              <a:t>Reading Input from the Console</a:t>
            </a:r>
            <a:endParaRPr lang="en-US" altLang="en-US">
              <a:cs typeface="Times New Roman" panose="02020603050405020304" pitchFamily="18" charset="0"/>
            </a:endParaRPr>
          </a:p>
        </p:txBody>
      </p:sp>
      <p:sp>
        <p:nvSpPr>
          <p:cNvPr id="25603" name="Text Box 3">
            <a:extLst>
              <a:ext uri="{FF2B5EF4-FFF2-40B4-BE49-F238E27FC236}">
                <a16:creationId xmlns:a16="http://schemas.microsoft.com/office/drawing/2014/main" id="{86A9E0FD-CBD0-97B8-8440-37B1844DA140}"/>
              </a:ext>
            </a:extLst>
          </p:cNvPr>
          <p:cNvSpPr txBox="1">
            <a:spLocks noChangeArrowheads="1"/>
          </p:cNvSpPr>
          <p:nvPr/>
        </p:nvSpPr>
        <p:spPr bwMode="auto">
          <a:xfrm>
            <a:off x="914400" y="15240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25604" name="Text Box 4">
            <a:extLst>
              <a:ext uri="{FF2B5EF4-FFF2-40B4-BE49-F238E27FC236}">
                <a16:creationId xmlns:a16="http://schemas.microsoft.com/office/drawing/2014/main" id="{388BD1B5-8029-0C52-758E-7E92214B92E8}"/>
              </a:ext>
            </a:extLst>
          </p:cNvPr>
          <p:cNvSpPr txBox="1">
            <a:spLocks noChangeArrowheads="1"/>
          </p:cNvSpPr>
          <p:nvPr/>
        </p:nvSpPr>
        <p:spPr bwMode="auto">
          <a:xfrm>
            <a:off x="423863" y="733425"/>
            <a:ext cx="8763000"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800">
              <a:cs typeface="Courier New" panose="02070309020205020404" pitchFamily="49" charset="0"/>
            </a:endParaRPr>
          </a:p>
          <a:p>
            <a:pPr>
              <a:spcBef>
                <a:spcPct val="0"/>
              </a:spcBef>
              <a:buClrTx/>
              <a:buSzTx/>
              <a:buFontTx/>
              <a:buNone/>
            </a:pPr>
            <a:r>
              <a:rPr lang="en-US" altLang="en-US" sz="1800" b="1">
                <a:solidFill>
                  <a:srgbClr val="005B80"/>
                </a:solidFill>
                <a:latin typeface="LucidaSansTypewriterStd-Bd"/>
              </a:rPr>
              <a:t>import </a:t>
            </a:r>
            <a:r>
              <a:rPr lang="en-US" altLang="en-US" sz="1800">
                <a:solidFill>
                  <a:srgbClr val="000000"/>
                </a:solidFill>
                <a:latin typeface="LucidaSansTypewriterStd"/>
              </a:rPr>
              <a:t>java.util.Scanner; // </a:t>
            </a:r>
            <a:r>
              <a:rPr lang="en-US" altLang="en-US" sz="1600" i="1">
                <a:solidFill>
                  <a:srgbClr val="FF0000"/>
                </a:solidFill>
                <a:latin typeface="LucidaSansTypewriterStd"/>
              </a:rPr>
              <a:t>Scanner is in the java.util package</a:t>
            </a:r>
            <a:endParaRPr lang="en-US" altLang="en-US" sz="1800" i="1">
              <a:solidFill>
                <a:srgbClr val="FF0000"/>
              </a:solidFill>
              <a:latin typeface="LucidaSansTypewriterStd"/>
            </a:endParaRPr>
          </a:p>
          <a:p>
            <a:pPr>
              <a:spcBef>
                <a:spcPct val="0"/>
              </a:spcBef>
              <a:buClrTx/>
              <a:buSzTx/>
              <a:buFontTx/>
              <a:buNone/>
            </a:pPr>
            <a:endParaRPr lang="en-US" altLang="en-US" sz="1800">
              <a:solidFill>
                <a:srgbClr val="000000"/>
              </a:solidFill>
              <a:latin typeface="LucidaSansTypewriterStd"/>
            </a:endParaRPr>
          </a:p>
          <a:p>
            <a:pPr>
              <a:spcBef>
                <a:spcPct val="0"/>
              </a:spcBef>
              <a:buClrTx/>
              <a:buSzTx/>
              <a:buFontTx/>
              <a:buNone/>
            </a:pPr>
            <a:r>
              <a:rPr lang="en-US" altLang="en-US" sz="1800">
                <a:solidFill>
                  <a:srgbClr val="000000"/>
                </a:solidFill>
                <a:latin typeface="LucidaSansTypewriterStd"/>
              </a:rPr>
              <a:t> </a:t>
            </a:r>
            <a:r>
              <a:rPr lang="en-US" altLang="en-US" sz="1800" b="1">
                <a:solidFill>
                  <a:srgbClr val="005B80"/>
                </a:solidFill>
                <a:latin typeface="LucidaSansTypewriterStd-Bd"/>
              </a:rPr>
              <a:t>public class </a:t>
            </a:r>
            <a:r>
              <a:rPr lang="en-US" altLang="en-US" sz="1800">
                <a:solidFill>
                  <a:srgbClr val="000000"/>
                </a:solidFill>
                <a:latin typeface="LucidaSansTypewriterStd"/>
              </a:rPr>
              <a:t>ComputeAreaWithConsoleInput {</a:t>
            </a:r>
          </a:p>
          <a:p>
            <a:pPr>
              <a:spcBef>
                <a:spcPct val="0"/>
              </a:spcBef>
              <a:buClrTx/>
              <a:buSzTx/>
              <a:buFontTx/>
              <a:buNone/>
            </a:pPr>
            <a:r>
              <a:rPr lang="en-US" altLang="en-US" sz="1800">
                <a:solidFill>
                  <a:srgbClr val="000000"/>
                </a:solidFill>
                <a:latin typeface="LucidaSansTypewriterStd"/>
              </a:rPr>
              <a:t>   </a:t>
            </a:r>
            <a:r>
              <a:rPr lang="en-US" altLang="en-US" sz="1800" b="1">
                <a:solidFill>
                  <a:srgbClr val="005B80"/>
                </a:solidFill>
                <a:latin typeface="LucidaSansTypewriterStd-Bd"/>
              </a:rPr>
              <a:t>public static void </a:t>
            </a:r>
            <a:r>
              <a:rPr lang="en-US" altLang="en-US" sz="1800">
                <a:solidFill>
                  <a:srgbClr val="000000"/>
                </a:solidFill>
                <a:latin typeface="LucidaSansTypewriterStd"/>
              </a:rPr>
              <a:t>main(String[] args) {</a:t>
            </a:r>
          </a:p>
          <a:p>
            <a:pPr>
              <a:spcBef>
                <a:spcPct val="0"/>
              </a:spcBef>
              <a:buClrTx/>
              <a:buSzTx/>
              <a:buFontTx/>
              <a:buNone/>
            </a:pPr>
            <a:r>
              <a:rPr lang="en-US" altLang="en-US" sz="1800" i="1">
                <a:solidFill>
                  <a:srgbClr val="000000"/>
                </a:solidFill>
                <a:latin typeface="LucidaSansTypewriterStd"/>
              </a:rPr>
              <a:t>     // Create a Scanner object</a:t>
            </a:r>
          </a:p>
          <a:p>
            <a:pPr>
              <a:spcBef>
                <a:spcPct val="0"/>
              </a:spcBef>
              <a:buClrTx/>
              <a:buSzTx/>
              <a:buFontTx/>
              <a:buNone/>
            </a:pPr>
            <a:r>
              <a:rPr lang="en-US" altLang="en-US" sz="1800">
                <a:solidFill>
                  <a:srgbClr val="000000"/>
                </a:solidFill>
                <a:latin typeface="LucidaSansTypewriterStd"/>
              </a:rPr>
              <a:t>     Scanner input = </a:t>
            </a:r>
            <a:r>
              <a:rPr lang="en-US" altLang="en-US" sz="1800" b="1">
                <a:solidFill>
                  <a:srgbClr val="005B80"/>
                </a:solidFill>
                <a:latin typeface="LucidaSansTypewriterStd-Bd"/>
              </a:rPr>
              <a:t>new </a:t>
            </a:r>
            <a:r>
              <a:rPr lang="en-US" altLang="en-US" sz="1800">
                <a:solidFill>
                  <a:srgbClr val="000000"/>
                </a:solidFill>
                <a:latin typeface="LucidaSansTypewriterStd"/>
              </a:rPr>
              <a:t>Scanner(System.in);</a:t>
            </a:r>
          </a:p>
          <a:p>
            <a:pPr>
              <a:spcBef>
                <a:spcPct val="0"/>
              </a:spcBef>
              <a:buClrTx/>
              <a:buSzTx/>
              <a:buFontTx/>
              <a:buNone/>
            </a:pPr>
            <a:endParaRPr lang="en-US" altLang="en-US" sz="1800">
              <a:solidFill>
                <a:srgbClr val="000000"/>
              </a:solidFill>
              <a:latin typeface="LucidaSansTypewriterStd"/>
            </a:endParaRPr>
          </a:p>
          <a:p>
            <a:pPr>
              <a:spcBef>
                <a:spcPct val="0"/>
              </a:spcBef>
              <a:buClrTx/>
              <a:buSzTx/>
              <a:buFontTx/>
              <a:buNone/>
            </a:pPr>
            <a:r>
              <a:rPr lang="en-US" altLang="en-US" sz="1800" i="1">
                <a:solidFill>
                  <a:srgbClr val="000000"/>
                </a:solidFill>
                <a:latin typeface="LucidaSansTypewriterStd"/>
              </a:rPr>
              <a:t>     // Prompt the user to enter a radius</a:t>
            </a:r>
          </a:p>
          <a:p>
            <a:pPr>
              <a:spcBef>
                <a:spcPct val="0"/>
              </a:spcBef>
              <a:buClrTx/>
              <a:buSzTx/>
              <a:buFontTx/>
              <a:buNone/>
            </a:pPr>
            <a:r>
              <a:rPr lang="en-US" altLang="en-US" sz="1800">
                <a:solidFill>
                  <a:srgbClr val="000000"/>
                </a:solidFill>
                <a:latin typeface="LucidaSansTypewriterStd"/>
              </a:rPr>
              <a:t>     System.out.print(</a:t>
            </a:r>
            <a:r>
              <a:rPr lang="en-US" altLang="en-US" sz="1800" b="1">
                <a:solidFill>
                  <a:srgbClr val="00AFF0"/>
                </a:solidFill>
                <a:latin typeface="LucidaSansTypewriterStd-Bd"/>
              </a:rPr>
              <a:t>"Enter a number for radius: "</a:t>
            </a:r>
            <a:r>
              <a:rPr lang="en-US" altLang="en-US" sz="1800">
                <a:solidFill>
                  <a:srgbClr val="000000"/>
                </a:solidFill>
                <a:latin typeface="LucidaSansTypewriterStd"/>
              </a:rPr>
              <a:t>);</a:t>
            </a:r>
          </a:p>
          <a:p>
            <a:pPr>
              <a:spcBef>
                <a:spcPct val="0"/>
              </a:spcBef>
              <a:buClrTx/>
              <a:buSzTx/>
              <a:buFontTx/>
              <a:buNone/>
            </a:pPr>
            <a:r>
              <a:rPr lang="en-US" altLang="en-US" sz="1800">
                <a:solidFill>
                  <a:srgbClr val="000000"/>
                </a:solidFill>
                <a:latin typeface="LucidaSansTypewriterStd"/>
              </a:rPr>
              <a:t>     </a:t>
            </a:r>
            <a:r>
              <a:rPr lang="en-US" altLang="en-US" sz="1800" b="1">
                <a:solidFill>
                  <a:srgbClr val="005B80"/>
                </a:solidFill>
                <a:latin typeface="LucidaSansTypewriterStd-Bd"/>
              </a:rPr>
              <a:t>double </a:t>
            </a:r>
            <a:r>
              <a:rPr lang="en-US" altLang="en-US" sz="1800">
                <a:solidFill>
                  <a:srgbClr val="000000"/>
                </a:solidFill>
                <a:latin typeface="LucidaSansTypewriterStd"/>
              </a:rPr>
              <a:t>radius = input.nextDouble(); //</a:t>
            </a:r>
            <a:r>
              <a:rPr lang="en-US" altLang="en-US" sz="1800" i="1">
                <a:solidFill>
                  <a:srgbClr val="FF0000"/>
                </a:solidFill>
                <a:latin typeface="LucidaSansTypewriterStd"/>
              </a:rPr>
              <a:t>method in Scanner class</a:t>
            </a:r>
          </a:p>
          <a:p>
            <a:pPr>
              <a:spcBef>
                <a:spcPct val="0"/>
              </a:spcBef>
              <a:buClrTx/>
              <a:buSzTx/>
              <a:buFontTx/>
              <a:buNone/>
            </a:pPr>
            <a:endParaRPr lang="en-US" altLang="en-US" sz="1800">
              <a:solidFill>
                <a:srgbClr val="000000"/>
              </a:solidFill>
              <a:latin typeface="LucidaSansTypewriterStd"/>
            </a:endParaRPr>
          </a:p>
          <a:p>
            <a:pPr>
              <a:spcBef>
                <a:spcPct val="0"/>
              </a:spcBef>
              <a:buClrTx/>
              <a:buSzTx/>
              <a:buFontTx/>
              <a:buNone/>
            </a:pPr>
            <a:r>
              <a:rPr lang="en-US" altLang="en-US" sz="1800" i="1">
                <a:solidFill>
                  <a:srgbClr val="000000"/>
                </a:solidFill>
                <a:latin typeface="LucidaSansTypewriterStd"/>
              </a:rPr>
              <a:t>     // Compute area</a:t>
            </a:r>
          </a:p>
          <a:p>
            <a:pPr>
              <a:spcBef>
                <a:spcPct val="0"/>
              </a:spcBef>
              <a:buClrTx/>
              <a:buSzTx/>
              <a:buFontTx/>
              <a:buNone/>
            </a:pPr>
            <a:r>
              <a:rPr lang="en-US" altLang="en-US" sz="1800">
                <a:solidFill>
                  <a:srgbClr val="000000"/>
                </a:solidFill>
                <a:latin typeface="LucidaSansTypewriterStd"/>
              </a:rPr>
              <a:t>     </a:t>
            </a:r>
            <a:r>
              <a:rPr lang="en-US" altLang="en-US" sz="1800" b="1">
                <a:solidFill>
                  <a:srgbClr val="005B80"/>
                </a:solidFill>
                <a:latin typeface="LucidaSansTypewriterStd-Bd"/>
              </a:rPr>
              <a:t>double </a:t>
            </a:r>
            <a:r>
              <a:rPr lang="en-US" altLang="en-US" sz="1800">
                <a:solidFill>
                  <a:srgbClr val="000000"/>
                </a:solidFill>
                <a:latin typeface="LucidaSansTypewriterStd"/>
              </a:rPr>
              <a:t>area = radius * radius * 3.14159;</a:t>
            </a:r>
          </a:p>
          <a:p>
            <a:pPr>
              <a:spcBef>
                <a:spcPct val="0"/>
              </a:spcBef>
              <a:buClrTx/>
              <a:buSzTx/>
              <a:buFontTx/>
              <a:buNone/>
            </a:pPr>
            <a:endParaRPr lang="en-US" altLang="en-US" sz="1800">
              <a:solidFill>
                <a:srgbClr val="000000"/>
              </a:solidFill>
              <a:latin typeface="LucidaSansTypewriterStd"/>
            </a:endParaRPr>
          </a:p>
          <a:p>
            <a:pPr>
              <a:spcBef>
                <a:spcPct val="0"/>
              </a:spcBef>
              <a:buClrTx/>
              <a:buSzTx/>
              <a:buFontTx/>
              <a:buNone/>
            </a:pPr>
            <a:r>
              <a:rPr lang="en-US" altLang="en-US" sz="1800">
                <a:solidFill>
                  <a:srgbClr val="000000"/>
                </a:solidFill>
                <a:latin typeface="LucidaSansTypewriterStd"/>
              </a:rPr>
              <a:t>     </a:t>
            </a:r>
            <a:r>
              <a:rPr lang="en-US" altLang="en-US" sz="1800" i="1">
                <a:solidFill>
                  <a:srgbClr val="000000"/>
                </a:solidFill>
                <a:latin typeface="LucidaSansTypewriterStd"/>
              </a:rPr>
              <a:t>// Display results</a:t>
            </a:r>
          </a:p>
          <a:p>
            <a:pPr>
              <a:spcBef>
                <a:spcPct val="0"/>
              </a:spcBef>
              <a:buClrTx/>
              <a:buSzTx/>
              <a:buFontTx/>
              <a:buNone/>
            </a:pPr>
            <a:r>
              <a:rPr lang="en-US" altLang="en-US" sz="1600">
                <a:solidFill>
                  <a:srgbClr val="000000"/>
                </a:solidFill>
                <a:latin typeface="LucidaSansTypewriterStd"/>
              </a:rPr>
              <a:t>      System.out.println(</a:t>
            </a:r>
            <a:r>
              <a:rPr lang="en-US" altLang="en-US" sz="1600" b="1">
                <a:solidFill>
                  <a:srgbClr val="00AFF0"/>
                </a:solidFill>
                <a:latin typeface="LucidaSansTypewriterStd-Bd"/>
              </a:rPr>
              <a:t>"The area for the circle of radius " </a:t>
            </a:r>
            <a:r>
              <a:rPr lang="en-US" altLang="en-US" sz="1600">
                <a:solidFill>
                  <a:srgbClr val="000000"/>
                </a:solidFill>
                <a:latin typeface="LucidaSansTypewriterStd"/>
              </a:rPr>
              <a:t>+  radius + </a:t>
            </a:r>
            <a:r>
              <a:rPr lang="en-US" altLang="en-US" sz="1600" b="1">
                <a:solidFill>
                  <a:srgbClr val="00AFF0"/>
                </a:solidFill>
                <a:latin typeface="LucidaSansTypewriterStd-Bd"/>
              </a:rPr>
              <a:t>" is " </a:t>
            </a:r>
            <a:r>
              <a:rPr lang="en-US" altLang="en-US" sz="1600">
                <a:solidFill>
                  <a:srgbClr val="000000"/>
                </a:solidFill>
                <a:latin typeface="LucidaSansTypewriterStd"/>
              </a:rPr>
              <a:t>+ area);</a:t>
            </a:r>
          </a:p>
          <a:p>
            <a:pPr>
              <a:spcBef>
                <a:spcPct val="0"/>
              </a:spcBef>
              <a:buClrTx/>
              <a:buSzTx/>
              <a:buFontTx/>
              <a:buNone/>
            </a:pPr>
            <a:r>
              <a:rPr lang="en-US" altLang="en-US" sz="1600">
                <a:solidFill>
                  <a:srgbClr val="000000"/>
                </a:solidFill>
                <a:latin typeface="LucidaSansTypewriterStd"/>
              </a:rPr>
              <a:t>   }</a:t>
            </a:r>
          </a:p>
          <a:p>
            <a:pPr>
              <a:spcBef>
                <a:spcPct val="0"/>
              </a:spcBef>
              <a:buClrTx/>
              <a:buSzTx/>
              <a:buFontTx/>
              <a:buNone/>
            </a:pPr>
            <a:r>
              <a:rPr lang="en-US" altLang="en-US" sz="1600">
                <a:solidFill>
                  <a:srgbClr val="000000"/>
                </a:solidFill>
                <a:latin typeface="LucidaSansTypewriterStd"/>
              </a:rPr>
              <a:t>}</a:t>
            </a:r>
            <a:endParaRPr lang="en-US" altLang="en-US" sz="1600" b="1">
              <a:cs typeface="Courier New" panose="02070309020205020404" pitchFamily="49"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F6FC-DBC3-8C4A-4718-C897FAD157F9}"/>
              </a:ext>
            </a:extLst>
          </p:cNvPr>
          <p:cNvSpPr>
            <a:spLocks noGrp="1"/>
          </p:cNvSpPr>
          <p:nvPr>
            <p:ph type="title"/>
          </p:nvPr>
        </p:nvSpPr>
        <p:spPr/>
        <p:txBody>
          <a:bodyPr/>
          <a:lstStyle/>
          <a:p>
            <a:r>
              <a:rPr lang="en-US" dirty="0"/>
              <a:t>Find Compilation Errors</a:t>
            </a:r>
          </a:p>
        </p:txBody>
      </p:sp>
      <p:sp>
        <p:nvSpPr>
          <p:cNvPr id="3" name="Content Placeholder 2">
            <a:extLst>
              <a:ext uri="{FF2B5EF4-FFF2-40B4-BE49-F238E27FC236}">
                <a16:creationId xmlns:a16="http://schemas.microsoft.com/office/drawing/2014/main" id="{3450F0B8-FD60-DF0C-DA05-E8D08C919CAF}"/>
              </a:ext>
            </a:extLst>
          </p:cNvPr>
          <p:cNvSpPr>
            <a:spLocks noGrp="1"/>
          </p:cNvSpPr>
          <p:nvPr>
            <p:ph idx="1"/>
          </p:nvPr>
        </p:nvSpPr>
        <p:spPr/>
        <p:txBody>
          <a:bodyPr>
            <a:normAutofit fontScale="70000" lnSpcReduction="20000"/>
          </a:bodyPr>
          <a:lstStyle/>
          <a:p>
            <a:pPr marL="0" indent="0">
              <a:buNone/>
            </a:pPr>
            <a:r>
              <a:rPr lang="en-US" dirty="0" err="1"/>
              <a:t>improt</a:t>
            </a:r>
            <a:r>
              <a:rPr lang="en-US" dirty="0"/>
              <a:t> </a:t>
            </a:r>
            <a:r>
              <a:rPr lang="en-US" dirty="0" err="1"/>
              <a:t>java.util.Scanner</a:t>
            </a:r>
            <a:r>
              <a:rPr lang="en-US" dirty="0"/>
              <a:t>; </a:t>
            </a:r>
          </a:p>
          <a:p>
            <a:pPr marL="0" indent="0">
              <a:buNone/>
            </a:pPr>
            <a:r>
              <a:rPr lang="en-US" dirty="0"/>
              <a:t>public class </a:t>
            </a:r>
            <a:r>
              <a:rPr lang="en-US" dirty="0" err="1"/>
              <a:t>SyntaxErrorExample</a:t>
            </a:r>
            <a:r>
              <a:rPr lang="en-US" dirty="0"/>
              <a:t> </a:t>
            </a:r>
          </a:p>
          <a:p>
            <a:pPr marL="0" indent="0">
              <a:buNone/>
            </a:pPr>
            <a:r>
              <a:rPr lang="en-US" dirty="0"/>
              <a:t>	public static double PI = 3.14159; </a:t>
            </a:r>
          </a:p>
          <a:p>
            <a:pPr marL="0" indent="0">
              <a:buNone/>
            </a:pPr>
            <a:r>
              <a:rPr lang="en-US" dirty="0"/>
              <a:t>	public void main(String[] </a:t>
            </a:r>
            <a:r>
              <a:rPr lang="en-US" dirty="0" err="1"/>
              <a:t>args</a:t>
            </a:r>
            <a:r>
              <a:rPr lang="en-US" dirty="0"/>
              <a:t>) {</a:t>
            </a:r>
          </a:p>
          <a:p>
            <a:pPr marL="0" indent="0">
              <a:buNone/>
            </a:pPr>
            <a:r>
              <a:rPr lang="en-US" dirty="0"/>
              <a:t>		number = 10;</a:t>
            </a:r>
          </a:p>
          <a:p>
            <a:pPr marL="0" indent="0">
              <a:buNone/>
            </a:pPr>
            <a:r>
              <a:rPr lang="en-US" dirty="0"/>
              <a:t>		Scanner </a:t>
            </a:r>
            <a:r>
              <a:rPr lang="en-US" dirty="0" err="1"/>
              <a:t>inputScanner</a:t>
            </a:r>
            <a:r>
              <a:rPr lang="en-US" dirty="0"/>
              <a:t> = new scanner(System.in); </a:t>
            </a:r>
          </a:p>
          <a:p>
            <a:pPr marL="0" indent="0">
              <a:buNone/>
            </a:pPr>
            <a:r>
              <a:rPr lang="en-US" dirty="0"/>
              <a:t>		</a:t>
            </a:r>
            <a:r>
              <a:rPr lang="en-US" dirty="0" err="1"/>
              <a:t>System.out.print</a:t>
            </a:r>
            <a:r>
              <a:rPr lang="en-US" dirty="0"/>
              <a:t>("Enter a number: ") </a:t>
            </a:r>
          </a:p>
          <a:p>
            <a:pPr marL="0" indent="0">
              <a:buNone/>
            </a:pPr>
            <a:r>
              <a:rPr lang="en-US" dirty="0"/>
              <a:t>		int </a:t>
            </a:r>
            <a:r>
              <a:rPr lang="en-US" dirty="0" err="1"/>
              <a:t>userNumber</a:t>
            </a:r>
            <a:r>
              <a:rPr lang="en-US" dirty="0"/>
              <a:t> = </a:t>
            </a:r>
            <a:r>
              <a:rPr lang="en-US" dirty="0" err="1"/>
              <a:t>inputScanner.nextinteger</a:t>
            </a:r>
            <a:r>
              <a:rPr lang="en-US" dirty="0"/>
              <a:t>();</a:t>
            </a:r>
          </a:p>
          <a:p>
            <a:pPr marL="0" indent="0">
              <a:buNone/>
            </a:pPr>
            <a:r>
              <a:rPr lang="en-US" dirty="0"/>
              <a:t>		</a:t>
            </a:r>
            <a:r>
              <a:rPr lang="en-US" dirty="0" err="1"/>
              <a:t>System.out.println</a:t>
            </a:r>
            <a:r>
              <a:rPr lang="en-US" dirty="0"/>
              <a:t>("You entered: " + </a:t>
            </a:r>
            <a:r>
              <a:rPr lang="en-US" dirty="0" err="1"/>
              <a:t>userNumber</a:t>
            </a:r>
            <a:r>
              <a:rPr lang="en-US" dirty="0"/>
              <a:t>)</a:t>
            </a:r>
          </a:p>
          <a:p>
            <a:pPr marL="0" indent="0">
              <a:buNone/>
            </a:pPr>
            <a:r>
              <a:rPr lang="en-US" dirty="0"/>
              <a:t>		</a:t>
            </a:r>
            <a:r>
              <a:rPr lang="en-US" dirty="0" err="1"/>
              <a:t>inputScanner.closeScanner</a:t>
            </a:r>
            <a:r>
              <a:rPr lang="en-US" dirty="0"/>
              <a:t>(); </a:t>
            </a:r>
          </a:p>
          <a:p>
            <a:pPr marL="0" indent="0">
              <a:buNone/>
            </a:pPr>
            <a:r>
              <a:rPr lang="en-US" dirty="0"/>
              <a:t>	} </a:t>
            </a:r>
          </a:p>
          <a:p>
            <a:pPr marL="0" indent="0">
              <a:buNone/>
            </a:pPr>
            <a:r>
              <a:rPr lang="en-US" dirty="0"/>
              <a:t>}</a:t>
            </a:r>
          </a:p>
        </p:txBody>
      </p:sp>
    </p:spTree>
    <p:extLst>
      <p:ext uri="{BB962C8B-B14F-4D97-AF65-F5344CB8AC3E}">
        <p14:creationId xmlns:p14="http://schemas.microsoft.com/office/powerpoint/2010/main" val="4050207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6931-010C-1988-0E29-E6FF9B2E3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C944F-EEF7-FFDB-0892-ED5590B8C2F3}"/>
              </a:ext>
            </a:extLst>
          </p:cNvPr>
          <p:cNvSpPr>
            <a:spLocks noGrp="1"/>
          </p:cNvSpPr>
          <p:nvPr>
            <p:ph type="title"/>
          </p:nvPr>
        </p:nvSpPr>
        <p:spPr>
          <a:xfrm>
            <a:off x="0" y="274638"/>
            <a:ext cx="8686800" cy="1143000"/>
          </a:xfrm>
        </p:spPr>
        <p:txBody>
          <a:bodyPr>
            <a:normAutofit fontScale="90000"/>
          </a:bodyPr>
          <a:lstStyle/>
          <a:p>
            <a:r>
              <a:rPr lang="en-US" sz="4400" dirty="0"/>
              <a:t>Identify and fix the errors in the following code</a:t>
            </a:r>
            <a:endParaRPr lang="en-US" dirty="0"/>
          </a:p>
        </p:txBody>
      </p:sp>
      <p:pic>
        <p:nvPicPr>
          <p:cNvPr id="7" name="Content Placeholder 6">
            <a:extLst>
              <a:ext uri="{FF2B5EF4-FFF2-40B4-BE49-F238E27FC236}">
                <a16:creationId xmlns:a16="http://schemas.microsoft.com/office/drawing/2014/main" id="{E27DBB46-4460-9118-9BC3-1E3D192ACEFE}"/>
              </a:ext>
            </a:extLst>
          </p:cNvPr>
          <p:cNvPicPr>
            <a:picLocks noGrp="1" noChangeAspect="1"/>
          </p:cNvPicPr>
          <p:nvPr>
            <p:ph idx="1"/>
          </p:nvPr>
        </p:nvPicPr>
        <p:blipFill>
          <a:blip r:embed="rId3"/>
          <a:stretch>
            <a:fillRect/>
          </a:stretch>
        </p:blipFill>
        <p:spPr>
          <a:xfrm>
            <a:off x="894418" y="1600199"/>
            <a:ext cx="7335181" cy="5061449"/>
          </a:xfrm>
        </p:spPr>
      </p:pic>
    </p:spTree>
    <p:extLst>
      <p:ext uri="{BB962C8B-B14F-4D97-AF65-F5344CB8AC3E}">
        <p14:creationId xmlns:p14="http://schemas.microsoft.com/office/powerpoint/2010/main" val="1133017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22298</TotalTime>
  <Words>1561</Words>
  <Application>Microsoft Office PowerPoint</Application>
  <PresentationFormat>On-screen Show (4:3)</PresentationFormat>
  <Paragraphs>274</Paragraphs>
  <Slides>25</Slides>
  <Notes>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8" baseType="lpstr">
      <vt:lpstr>Arial</vt:lpstr>
      <vt:lpstr>Cabin</vt:lpstr>
      <vt:lpstr>Calibri</vt:lpstr>
      <vt:lpstr>Courier</vt:lpstr>
      <vt:lpstr>Courier New</vt:lpstr>
      <vt:lpstr>LucidaSansTypewriterStd</vt:lpstr>
      <vt:lpstr>LucidaSansTypewriterStd-Bd</vt:lpstr>
      <vt:lpstr>Monotype Sorts</vt:lpstr>
      <vt:lpstr>Times New Roman</vt:lpstr>
      <vt:lpstr>TimesLTStd-Italic</vt:lpstr>
      <vt:lpstr>TimesLTStd-Roman</vt:lpstr>
      <vt:lpstr>Office Theme</vt:lpstr>
      <vt:lpstr>Picture</vt:lpstr>
      <vt:lpstr>PowerPoint Presentation</vt:lpstr>
      <vt:lpstr>Lecture Outline</vt:lpstr>
      <vt:lpstr>Trace a Program Execution</vt:lpstr>
      <vt:lpstr>Trace a Program Execution</vt:lpstr>
      <vt:lpstr>Trace a Program Execution</vt:lpstr>
      <vt:lpstr>Trace a Program Execution</vt:lpstr>
      <vt:lpstr>Input </vt:lpstr>
      <vt:lpstr>Variables</vt:lpstr>
      <vt:lpstr>Variables</vt:lpstr>
      <vt:lpstr>Variables</vt:lpstr>
      <vt:lpstr>Identify and fix the errors in the following code</vt:lpstr>
      <vt:lpstr>Named Constants</vt:lpstr>
      <vt:lpstr>Output(System.out)</vt:lpstr>
      <vt:lpstr>Output(System.out)</vt:lpstr>
      <vt:lpstr>Reading Input from the Console</vt:lpstr>
      <vt:lpstr>Reading Numbers from the Keyboard</vt:lpstr>
      <vt:lpstr>Reading Numbers from the Keyboard</vt:lpstr>
      <vt:lpstr>Reading a character</vt:lpstr>
      <vt:lpstr>Implicit Import and Explicit Import</vt:lpstr>
      <vt:lpstr>Implicit Import and Explicit Import</vt:lpstr>
      <vt:lpstr>Package, Classes, Methods and import</vt:lpstr>
      <vt:lpstr>PowerPoint Presentation</vt:lpstr>
      <vt:lpstr>Reading Input from the Console</vt:lpstr>
      <vt:lpstr>Find Compilation Errors</vt:lpstr>
      <vt:lpstr>Identify and fix the errors in the following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CSC103-Programming Fundamentals</dc:title>
  <dc:creator>Rizwan</dc:creator>
  <cp:lastModifiedBy>Khurram Iqbal</cp:lastModifiedBy>
  <cp:revision>83</cp:revision>
  <dcterms:created xsi:type="dcterms:W3CDTF">2006-08-16T00:00:00Z</dcterms:created>
  <dcterms:modified xsi:type="dcterms:W3CDTF">2025-02-25T08:14:09Z</dcterms:modified>
</cp:coreProperties>
</file>