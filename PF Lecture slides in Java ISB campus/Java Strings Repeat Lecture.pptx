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66A0FA1A-D85E-4C58-8269-D269B26C7570}"/>
    <pc:docChg chg="modSld">
      <pc:chgData name="Khurram Iqbal" userId="af32904b-6c78-4cff-8330-5f3a20d540de" providerId="ADAL" clId="{66A0FA1A-D85E-4C58-8269-D269B26C7570}" dt="2025-10-14T13:21:59.971" v="10" actId="1038"/>
      <pc:docMkLst>
        <pc:docMk/>
      </pc:docMkLst>
      <pc:sldChg chg="modSp mod">
        <pc:chgData name="Khurram Iqbal" userId="af32904b-6c78-4cff-8330-5f3a20d540de" providerId="ADAL" clId="{66A0FA1A-D85E-4C58-8269-D269B26C7570}" dt="2025-10-14T13:21:59.971" v="10" actId="1038"/>
        <pc:sldMkLst>
          <pc:docMk/>
          <pc:sldMk cId="0" sldId="257"/>
        </pc:sldMkLst>
        <pc:spChg chg="mod">
          <ac:chgData name="Khurram Iqbal" userId="af32904b-6c78-4cff-8330-5f3a20d540de" providerId="ADAL" clId="{66A0FA1A-D85E-4C58-8269-D269B26C7570}" dt="2025-10-14T13:21:59.971" v="10" actId="1038"/>
          <ac:spMkLst>
            <pc:docMk/>
            <pc:sldMk cId="0" sldId="257"/>
            <ac:spMk id="40" creationId="{00000000-0000-0000-0000-000000000000}"/>
          </ac:spMkLst>
        </pc:spChg>
        <pc:spChg chg="mod">
          <ac:chgData name="Khurram Iqbal" userId="af32904b-6c78-4cff-8330-5f3a20d540de" providerId="ADAL" clId="{66A0FA1A-D85E-4C58-8269-D269B26C7570}" dt="2025-10-14T13:21:45.049" v="8" actId="1037"/>
          <ac:spMkLst>
            <pc:docMk/>
            <pc:sldMk cId="0" sldId="257"/>
            <ac:spMk id="42" creationId="{00000000-0000-0000-0000-000000000000}"/>
          </ac:spMkLst>
        </pc:spChg>
        <pc:spChg chg="mod">
          <ac:chgData name="Khurram Iqbal" userId="af32904b-6c78-4cff-8330-5f3a20d540de" providerId="ADAL" clId="{66A0FA1A-D85E-4C58-8269-D269B26C7570}" dt="2025-10-14T13:21:45.049" v="8" actId="1037"/>
          <ac:spMkLst>
            <pc:docMk/>
            <pc:sldMk cId="0" sldId="257"/>
            <ac:spMk id="44" creationId="{00000000-0000-0000-0000-000000000000}"/>
          </ac:spMkLst>
        </pc:spChg>
        <pc:spChg chg="mod">
          <ac:chgData name="Khurram Iqbal" userId="af32904b-6c78-4cff-8330-5f3a20d540de" providerId="ADAL" clId="{66A0FA1A-D85E-4C58-8269-D269B26C7570}" dt="2025-10-14T13:21:45.049" v="8" actId="1037"/>
          <ac:spMkLst>
            <pc:docMk/>
            <pc:sldMk cId="0" sldId="257"/>
            <ac:spMk id="46" creationId="{00000000-0000-0000-0000-000000000000}"/>
          </ac:spMkLst>
        </pc:spChg>
        <pc:spChg chg="mod">
          <ac:chgData name="Khurram Iqbal" userId="af32904b-6c78-4cff-8330-5f3a20d540de" providerId="ADAL" clId="{66A0FA1A-D85E-4C58-8269-D269B26C7570}" dt="2025-10-14T13:21:45.049" v="8" actId="1037"/>
          <ac:spMkLst>
            <pc:docMk/>
            <pc:sldMk cId="0" sldId="257"/>
            <ac:spMk id="4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994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3000375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97399" y="1375172"/>
            <a:ext cx="1144060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3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</a:t>
            </a:r>
            <a:endParaRPr lang="en-US" sz="3375" dirty="0"/>
          </a:p>
        </p:txBody>
      </p:sp>
      <p:sp>
        <p:nvSpPr>
          <p:cNvPr id="5" name="Text 1"/>
          <p:cNvSpPr/>
          <p:nvPr/>
        </p:nvSpPr>
        <p:spPr>
          <a:xfrm>
            <a:off x="4370022" y="1375172"/>
            <a:ext cx="1547989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37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</a:t>
            </a:r>
            <a:endParaRPr lang="en-US" sz="3375" dirty="0"/>
          </a:p>
        </p:txBody>
      </p:sp>
      <p:sp>
        <p:nvSpPr>
          <p:cNvPr id="6" name="Text 2"/>
          <p:cNvSpPr/>
          <p:nvPr/>
        </p:nvSpPr>
        <p:spPr>
          <a:xfrm>
            <a:off x="2609980" y="2000250"/>
            <a:ext cx="39954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Fundamentals and Usage</a:t>
            </a:r>
            <a:endParaRPr lang="en-US" sz="2025" dirty="0"/>
          </a:p>
        </p:txBody>
      </p:sp>
      <p:sp>
        <p:nvSpPr>
          <p:cNvPr id="7" name="Shape 3"/>
          <p:cNvSpPr/>
          <p:nvPr/>
        </p:nvSpPr>
        <p:spPr>
          <a:xfrm>
            <a:off x="2609980" y="2743200"/>
            <a:ext cx="3924040" cy="100012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2838580" y="2971800"/>
            <a:ext cx="35382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Comprehensive Guide to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8580" y="3257550"/>
            <a:ext cx="225028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177908" y="3257550"/>
            <a:ext cx="28578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88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Manipulation in Java</a:t>
            </a:r>
            <a:endParaRPr lang="en-US" sz="1688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606" y="3257550"/>
            <a:ext cx="226814" cy="2571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4600575"/>
            <a:ext cx="9144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Programming Lecture Series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578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3314700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1228976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are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1614739" y="455414"/>
            <a:ext cx="957374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</a:t>
            </a:r>
            <a:endParaRPr lang="en-US" sz="2025" dirty="0"/>
          </a:p>
        </p:txBody>
      </p:sp>
      <p:sp>
        <p:nvSpPr>
          <p:cNvPr id="6" name="Text 2"/>
          <p:cNvSpPr/>
          <p:nvPr/>
        </p:nvSpPr>
        <p:spPr>
          <a:xfrm>
            <a:off x="2500675" y="455414"/>
            <a:ext cx="117210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Java?</a:t>
            </a:r>
            <a:endParaRPr lang="en-US" sz="2025" dirty="0"/>
          </a:p>
        </p:txBody>
      </p:sp>
      <p:sp>
        <p:nvSpPr>
          <p:cNvPr id="7" name="Shape 3"/>
          <p:cNvSpPr/>
          <p:nvPr/>
        </p:nvSpPr>
        <p:spPr>
          <a:xfrm>
            <a:off x="457200" y="971550"/>
            <a:ext cx="4000500" cy="27432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 &amp; Characteristics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1514475"/>
            <a:ext cx="128588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388" y="1514475"/>
            <a:ext cx="18584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013" dirty="0"/>
          </a:p>
        </p:txBody>
      </p:sp>
      <p:sp>
        <p:nvSpPr>
          <p:cNvPr id="11" name="Text 6"/>
          <p:cNvSpPr/>
          <p:nvPr/>
        </p:nvSpPr>
        <p:spPr>
          <a:xfrm>
            <a:off x="928799" y="1514475"/>
            <a:ext cx="44288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</a:t>
            </a:r>
            <a:endParaRPr lang="en-US" sz="1013" dirty="0"/>
          </a:p>
        </p:txBody>
      </p:sp>
      <p:sp>
        <p:nvSpPr>
          <p:cNvPr id="12" name="Text 7"/>
          <p:cNvSpPr/>
          <p:nvPr/>
        </p:nvSpPr>
        <p:spPr>
          <a:xfrm>
            <a:off x="1300246" y="1514475"/>
            <a:ext cx="16796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a sequence of characters</a:t>
            </a:r>
            <a:endParaRPr lang="en-US" sz="1013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1800225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4388" y="1800225"/>
            <a:ext cx="48597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of</a:t>
            </a:r>
            <a:endParaRPr lang="en-US" sz="1013" dirty="0"/>
          </a:p>
        </p:txBody>
      </p:sp>
      <p:sp>
        <p:nvSpPr>
          <p:cNvPr id="15" name="Text 9"/>
          <p:cNvSpPr/>
          <p:nvPr/>
        </p:nvSpPr>
        <p:spPr>
          <a:xfrm>
            <a:off x="1228920" y="1800225"/>
            <a:ext cx="62178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java.lang</a:t>
            </a:r>
            <a:endParaRPr lang="en-US" sz="1013" dirty="0"/>
          </a:p>
        </p:txBody>
      </p:sp>
      <p:sp>
        <p:nvSpPr>
          <p:cNvPr id="16" name="Text 10"/>
          <p:cNvSpPr/>
          <p:nvPr/>
        </p:nvSpPr>
        <p:spPr>
          <a:xfrm>
            <a:off x="1779268" y="1800225"/>
            <a:ext cx="20011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(automatically imported)</a:t>
            </a:r>
            <a:endParaRPr lang="en-US" sz="1013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085975"/>
            <a:ext cx="128588" cy="128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4388" y="2057400"/>
            <a:ext cx="28301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of the most commonly used classes in Java</a:t>
            </a:r>
            <a:endParaRPr lang="en-US" sz="1013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371725"/>
            <a:ext cx="128588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14388" y="2371725"/>
            <a:ext cx="71451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</a:t>
            </a:r>
            <a:endParaRPr lang="en-US" sz="1013" dirty="0"/>
          </a:p>
        </p:txBody>
      </p:sp>
      <p:sp>
        <p:nvSpPr>
          <p:cNvPr id="21" name="Text 13"/>
          <p:cNvSpPr/>
          <p:nvPr/>
        </p:nvSpPr>
        <p:spPr>
          <a:xfrm>
            <a:off x="1457465" y="2371725"/>
            <a:ext cx="2080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Once created, cannot be changed</a:t>
            </a:r>
            <a:endParaRPr lang="en-US" sz="1013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657475"/>
            <a:ext cx="128588" cy="12858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14388" y="2657475"/>
            <a:ext cx="77177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Implements</a:t>
            </a:r>
            <a:endParaRPr lang="en-US" sz="1013" dirty="0"/>
          </a:p>
        </p:txBody>
      </p:sp>
      <p:sp>
        <p:nvSpPr>
          <p:cNvPr id="24" name="Text 15"/>
          <p:cNvSpPr/>
          <p:nvPr/>
        </p:nvSpPr>
        <p:spPr>
          <a:xfrm>
            <a:off x="1514726" y="2657475"/>
            <a:ext cx="97188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CharSequence</a:t>
            </a:r>
            <a:endParaRPr lang="en-US" sz="1013" dirty="0"/>
          </a:p>
        </p:txBody>
      </p:sp>
      <p:sp>
        <p:nvSpPr>
          <p:cNvPr id="25" name="Text 16"/>
          <p:cNvSpPr/>
          <p:nvPr/>
        </p:nvSpPr>
        <p:spPr>
          <a:xfrm>
            <a:off x="2415174" y="2657475"/>
            <a:ext cx="14290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</a:t>
            </a:r>
            <a:endParaRPr lang="en-US" sz="1013" dirty="0"/>
          </a:p>
        </p:txBody>
      </p:sp>
      <p:sp>
        <p:nvSpPr>
          <p:cNvPr id="26" name="Text 17"/>
          <p:cNvSpPr/>
          <p:nvPr/>
        </p:nvSpPr>
        <p:spPr>
          <a:xfrm>
            <a:off x="2486639" y="2657475"/>
            <a:ext cx="81458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Comparable</a:t>
            </a:r>
            <a:endParaRPr lang="en-US" sz="1013" dirty="0"/>
          </a:p>
        </p:txBody>
      </p:sp>
      <p:sp>
        <p:nvSpPr>
          <p:cNvPr id="27" name="Text 18"/>
          <p:cNvSpPr/>
          <p:nvPr/>
        </p:nvSpPr>
        <p:spPr>
          <a:xfrm>
            <a:off x="3229784" y="2657475"/>
            <a:ext cx="39315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</a:t>
            </a:r>
            <a:endParaRPr lang="en-US" sz="1013" dirty="0"/>
          </a:p>
        </p:txBody>
      </p:sp>
      <p:sp>
        <p:nvSpPr>
          <p:cNvPr id="28" name="Text 19"/>
          <p:cNvSpPr/>
          <p:nvPr/>
        </p:nvSpPr>
        <p:spPr>
          <a:xfrm>
            <a:off x="3551504" y="2657475"/>
            <a:ext cx="77905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Serializable</a:t>
            </a:r>
            <a:endParaRPr lang="en-US" sz="1013" dirty="0"/>
          </a:p>
        </p:txBody>
      </p:sp>
      <p:sp>
        <p:nvSpPr>
          <p:cNvPr id="29" name="Text 20"/>
          <p:cNvSpPr/>
          <p:nvPr/>
        </p:nvSpPr>
        <p:spPr>
          <a:xfrm>
            <a:off x="814388" y="2857500"/>
            <a:ext cx="62892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interfaces</a:t>
            </a:r>
            <a:endParaRPr lang="en-US" sz="1013" dirty="0"/>
          </a:p>
        </p:txBody>
      </p:sp>
      <p:sp>
        <p:nvSpPr>
          <p:cNvPr id="30" name="Shape 21"/>
          <p:cNvSpPr/>
          <p:nvPr/>
        </p:nvSpPr>
        <p:spPr>
          <a:xfrm>
            <a:off x="4686300" y="971550"/>
            <a:ext cx="4000500" cy="13144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2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Declaration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4857750" y="1485900"/>
            <a:ext cx="3657600" cy="6286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4"/>
          <p:cNvSpPr/>
          <p:nvPr/>
        </p:nvSpPr>
        <p:spPr>
          <a:xfrm>
            <a:off x="4972050" y="16127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34" name="Text 25"/>
          <p:cNvSpPr/>
          <p:nvPr/>
        </p:nvSpPr>
        <p:spPr>
          <a:xfrm>
            <a:off x="5434971" y="161270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=</a:t>
            </a:r>
            <a:endParaRPr lang="en-US" sz="1013" dirty="0"/>
          </a:p>
        </p:txBody>
      </p:sp>
      <p:sp>
        <p:nvSpPr>
          <p:cNvPr id="35" name="Text 26"/>
          <p:cNvSpPr/>
          <p:nvPr/>
        </p:nvSpPr>
        <p:spPr>
          <a:xfrm>
            <a:off x="6283654" y="1612702"/>
            <a:ext cx="11515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Java!"</a:t>
            </a:r>
            <a:endParaRPr lang="en-US" sz="1013" dirty="0"/>
          </a:p>
        </p:txBody>
      </p:sp>
      <p:sp>
        <p:nvSpPr>
          <p:cNvPr id="36" name="Text 27"/>
          <p:cNvSpPr/>
          <p:nvPr/>
        </p:nvSpPr>
        <p:spPr>
          <a:xfrm>
            <a:off x="7363811" y="16127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37" name="Text 28"/>
          <p:cNvSpPr/>
          <p:nvPr/>
        </p:nvSpPr>
        <p:spPr>
          <a:xfrm>
            <a:off x="4972050" y="1812727"/>
            <a:ext cx="346617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 is a reference type, not primitive</a:t>
            </a:r>
            <a:endParaRPr lang="en-US" sz="1013" dirty="0"/>
          </a:p>
        </p:txBody>
      </p:sp>
      <p:sp>
        <p:nvSpPr>
          <p:cNvPr id="38" name="Shape 29"/>
          <p:cNvSpPr/>
          <p:nvPr/>
        </p:nvSpPr>
        <p:spPr>
          <a:xfrm>
            <a:off x="4686300" y="2457450"/>
            <a:ext cx="4000500" cy="12573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/>
          <p:nvPr/>
        </p:nvSpPr>
        <p:spPr>
          <a:xfrm>
            <a:off x="4857750" y="26289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Representation</a:t>
            </a:r>
            <a:endParaRPr lang="en-US" sz="1350" dirty="0"/>
          </a:p>
        </p:txBody>
      </p:sp>
      <p:sp>
        <p:nvSpPr>
          <p:cNvPr id="40" name="Shape 31"/>
          <p:cNvSpPr/>
          <p:nvPr/>
        </p:nvSpPr>
        <p:spPr>
          <a:xfrm>
            <a:off x="5774961" y="2971800"/>
            <a:ext cx="342900" cy="342900"/>
          </a:xfrm>
          <a:prstGeom prst="rect">
            <a:avLst/>
          </a:prstGeom>
          <a:solidFill>
            <a:srgbClr val="DBEAFE"/>
          </a:solidFill>
          <a:ln w="1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2"/>
          <p:cNvSpPr/>
          <p:nvPr/>
        </p:nvSpPr>
        <p:spPr>
          <a:xfrm>
            <a:off x="5829300" y="2971800"/>
            <a:ext cx="41433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6112240" y="2971800"/>
            <a:ext cx="342900" cy="342900"/>
          </a:xfrm>
          <a:prstGeom prst="rect">
            <a:avLst/>
          </a:prstGeom>
          <a:solidFill>
            <a:srgbClr val="DBEAFE"/>
          </a:solidFill>
          <a:ln w="1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/>
          <p:nvPr/>
        </p:nvSpPr>
        <p:spPr>
          <a:xfrm>
            <a:off x="6172200" y="2971800"/>
            <a:ext cx="41433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6455140" y="2971800"/>
            <a:ext cx="342900" cy="342900"/>
          </a:xfrm>
          <a:prstGeom prst="rect">
            <a:avLst/>
          </a:prstGeom>
          <a:solidFill>
            <a:srgbClr val="DBEAFE"/>
          </a:solidFill>
          <a:ln w="1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6"/>
          <p:cNvSpPr/>
          <p:nvPr/>
        </p:nvSpPr>
        <p:spPr>
          <a:xfrm>
            <a:off x="6515100" y="2971800"/>
            <a:ext cx="41433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6798040" y="2971800"/>
            <a:ext cx="342900" cy="342900"/>
          </a:xfrm>
          <a:prstGeom prst="rect">
            <a:avLst/>
          </a:prstGeom>
          <a:solidFill>
            <a:srgbClr val="DBEAFE"/>
          </a:solidFill>
          <a:ln w="1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/>
          <p:nvPr/>
        </p:nvSpPr>
        <p:spPr>
          <a:xfrm>
            <a:off x="6858000" y="2971800"/>
            <a:ext cx="41433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7140940" y="2971800"/>
            <a:ext cx="342900" cy="342900"/>
          </a:xfrm>
          <a:prstGeom prst="rect">
            <a:avLst/>
          </a:prstGeom>
          <a:solidFill>
            <a:srgbClr val="DBEAFE"/>
          </a:solidFill>
          <a:ln w="1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0"/>
          <p:cNvSpPr/>
          <p:nvPr/>
        </p:nvSpPr>
        <p:spPr>
          <a:xfrm>
            <a:off x="7200900" y="2971800"/>
            <a:ext cx="41433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6092670" y="3371850"/>
            <a:ext cx="12591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Character array (char[])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457200" y="3943350"/>
            <a:ext cx="8229600" cy="10572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3"/>
          <p:cNvSpPr/>
          <p:nvPr/>
        </p:nvSpPr>
        <p:spPr>
          <a:xfrm>
            <a:off x="628650" y="411480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 to Remember</a:t>
            </a:r>
            <a:endParaRPr lang="en-US" sz="135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4521994"/>
            <a:ext cx="160734" cy="214313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903684" y="4429125"/>
            <a:ext cx="768310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are objects, not primitives, and are handled differently from other data types in Java. Understanding their immutable nature is crucial for efficient string manipulation.</a:t>
            </a:r>
            <a:endParaRPr lang="en-US" sz="10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400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4257675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1186030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1571792" y="455414"/>
            <a:ext cx="957374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</a:t>
            </a:r>
            <a:endParaRPr lang="en-US" sz="2025" dirty="0"/>
          </a:p>
        </p:txBody>
      </p:sp>
      <p:sp>
        <p:nvSpPr>
          <p:cNvPr id="6" name="Text 2"/>
          <p:cNvSpPr/>
          <p:nvPr/>
        </p:nvSpPr>
        <p:spPr>
          <a:xfrm>
            <a:off x="2457729" y="455414"/>
            <a:ext cx="1014999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Java</a:t>
            </a:r>
            <a:endParaRPr lang="en-US" sz="2025" dirty="0"/>
          </a:p>
        </p:txBody>
      </p:sp>
      <p:sp>
        <p:nvSpPr>
          <p:cNvPr id="7" name="Shape 3"/>
          <p:cNvSpPr/>
          <p:nvPr/>
        </p:nvSpPr>
        <p:spPr>
          <a:xfrm>
            <a:off x="457200" y="971550"/>
            <a:ext cx="4000500" cy="220027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String Literals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28650" y="1485900"/>
            <a:ext cx="3657600" cy="6286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42950" y="16127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1205871" y="1612702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</a:t>
            </a:r>
            <a:endParaRPr lang="en-US" sz="1013" dirty="0"/>
          </a:p>
        </p:txBody>
      </p:sp>
      <p:sp>
        <p:nvSpPr>
          <p:cNvPr id="12" name="Text 8"/>
          <p:cNvSpPr/>
          <p:nvPr/>
        </p:nvSpPr>
        <p:spPr>
          <a:xfrm>
            <a:off x="1823107" y="1612702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 Doe"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2594660" y="16127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742950" y="1812727"/>
            <a:ext cx="192312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Stored in String Pool</a:t>
            </a:r>
            <a:endParaRPr lang="en-US" sz="1013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257425"/>
            <a:ext cx="128588" cy="128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4388" y="2228850"/>
            <a:ext cx="2070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common and efficient method</a:t>
            </a:r>
            <a:endParaRPr lang="en-US" sz="1013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543175"/>
            <a:ext cx="128588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4388" y="2543175"/>
            <a:ext cx="6146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the</a:t>
            </a:r>
            <a:endParaRPr lang="en-US" sz="1013" dirty="0"/>
          </a:p>
        </p:txBody>
      </p:sp>
      <p:sp>
        <p:nvSpPr>
          <p:cNvPr id="19" name="Text 13"/>
          <p:cNvSpPr/>
          <p:nvPr/>
        </p:nvSpPr>
        <p:spPr>
          <a:xfrm>
            <a:off x="1357564" y="2543175"/>
            <a:ext cx="7572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Pool</a:t>
            </a:r>
            <a:endParaRPr lang="en-US" sz="1013" dirty="0"/>
          </a:p>
        </p:txBody>
      </p:sp>
      <p:sp>
        <p:nvSpPr>
          <p:cNvPr id="20" name="Text 14"/>
          <p:cNvSpPr/>
          <p:nvPr/>
        </p:nvSpPr>
        <p:spPr>
          <a:xfrm>
            <a:off x="2043336" y="2543175"/>
            <a:ext cx="14792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memory optimization</a:t>
            </a:r>
            <a:endParaRPr lang="en-US" sz="1013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828925"/>
            <a:ext cx="128588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14388" y="2800350"/>
            <a:ext cx="24801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Identical literals reference the same object</a:t>
            </a:r>
            <a:endParaRPr lang="en-US" sz="1013" dirty="0"/>
          </a:p>
        </p:txBody>
      </p:sp>
      <p:sp>
        <p:nvSpPr>
          <p:cNvPr id="23" name="Shape 16"/>
          <p:cNvSpPr/>
          <p:nvPr/>
        </p:nvSpPr>
        <p:spPr>
          <a:xfrm>
            <a:off x="4686300" y="971550"/>
            <a:ext cx="4000500" cy="220027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the new Keyword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4857750" y="1485900"/>
            <a:ext cx="3657600" cy="6286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4972050" y="16127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27" name="Text 20"/>
          <p:cNvSpPr/>
          <p:nvPr/>
        </p:nvSpPr>
        <p:spPr>
          <a:xfrm>
            <a:off x="5434971" y="1612702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</a:t>
            </a:r>
            <a:endParaRPr lang="en-US" sz="1013" dirty="0"/>
          </a:p>
        </p:txBody>
      </p:sp>
      <p:sp>
        <p:nvSpPr>
          <p:cNvPr id="28" name="Text 21"/>
          <p:cNvSpPr/>
          <p:nvPr/>
        </p:nvSpPr>
        <p:spPr>
          <a:xfrm>
            <a:off x="6052207" y="16127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013" dirty="0"/>
          </a:p>
        </p:txBody>
      </p:sp>
      <p:sp>
        <p:nvSpPr>
          <p:cNvPr id="29" name="Text 22"/>
          <p:cNvSpPr/>
          <p:nvPr/>
        </p:nvSpPr>
        <p:spPr>
          <a:xfrm>
            <a:off x="6360840" y="16127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30" name="Text 23"/>
          <p:cNvSpPr/>
          <p:nvPr/>
        </p:nvSpPr>
        <p:spPr>
          <a:xfrm>
            <a:off x="6823760" y="16127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13" dirty="0"/>
          </a:p>
        </p:txBody>
      </p:sp>
      <p:sp>
        <p:nvSpPr>
          <p:cNvPr id="31" name="Text 24"/>
          <p:cNvSpPr/>
          <p:nvPr/>
        </p:nvSpPr>
        <p:spPr>
          <a:xfrm>
            <a:off x="6900918" y="1612702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 Doe"</a:t>
            </a:r>
            <a:endParaRPr lang="en-US" sz="1013" dirty="0"/>
          </a:p>
        </p:txBody>
      </p:sp>
      <p:sp>
        <p:nvSpPr>
          <p:cNvPr id="32" name="Text 25"/>
          <p:cNvSpPr/>
          <p:nvPr/>
        </p:nvSpPr>
        <p:spPr>
          <a:xfrm>
            <a:off x="7672471" y="161270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33" name="Text 26"/>
          <p:cNvSpPr/>
          <p:nvPr/>
        </p:nvSpPr>
        <p:spPr>
          <a:xfrm>
            <a:off x="4972050" y="1812727"/>
            <a:ext cx="254032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Creates object in heap memory</a:t>
            </a:r>
            <a:endParaRPr lang="en-US" sz="1013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257425"/>
            <a:ext cx="128588" cy="128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043488" y="2228850"/>
            <a:ext cx="22299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Forces creation of a new String object</a:t>
            </a:r>
            <a:endParaRPr lang="en-US" sz="1013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543175"/>
            <a:ext cx="128588" cy="1285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043488" y="2514600"/>
            <a:ext cx="26087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in heap memory (outside String Pool)</a:t>
            </a:r>
            <a:endParaRPr lang="en-US" sz="1013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828925"/>
            <a:ext cx="128588" cy="12858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043488" y="2800350"/>
            <a:ext cx="20200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memory-efficient than literals</a:t>
            </a:r>
            <a:endParaRPr lang="en-US" sz="1013" dirty="0"/>
          </a:p>
        </p:txBody>
      </p:sp>
      <p:sp>
        <p:nvSpPr>
          <p:cNvPr id="40" name="Shape 30"/>
          <p:cNvSpPr/>
          <p:nvPr/>
        </p:nvSpPr>
        <p:spPr>
          <a:xfrm>
            <a:off x="457200" y="3400425"/>
            <a:ext cx="8229600" cy="25431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1"/>
          <p:cNvSpPr/>
          <p:nvPr/>
        </p:nvSpPr>
        <p:spPr>
          <a:xfrm>
            <a:off x="628650" y="3571875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String Pool</a:t>
            </a:r>
            <a:endParaRPr lang="en-US" sz="1350" dirty="0"/>
          </a:p>
        </p:txBody>
      </p:sp>
      <p:sp>
        <p:nvSpPr>
          <p:cNvPr id="42" name="Shape 32"/>
          <p:cNvSpPr/>
          <p:nvPr/>
        </p:nvSpPr>
        <p:spPr>
          <a:xfrm>
            <a:off x="2428875" y="3914775"/>
            <a:ext cx="4286250" cy="1285875"/>
          </a:xfrm>
          <a:prstGeom prst="rect">
            <a:avLst/>
          </a:prstGeom>
          <a:solidFill>
            <a:srgbClr val="FFFFFF">
              <a:alpha val="70000"/>
            </a:srgbClr>
          </a:solidFill>
          <a:ln w="198">
            <a:solidFill>
              <a:srgbClr val="60A5F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3"/>
          <p:cNvSpPr/>
          <p:nvPr/>
        </p:nvSpPr>
        <p:spPr>
          <a:xfrm>
            <a:off x="2543175" y="4029075"/>
            <a:ext cx="41290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Heap Memory</a:t>
            </a:r>
            <a:endParaRPr lang="en-US" sz="1013" dirty="0"/>
          </a:p>
        </p:txBody>
      </p:sp>
      <p:sp>
        <p:nvSpPr>
          <p:cNvPr id="44" name="Shape 34"/>
          <p:cNvSpPr/>
          <p:nvPr/>
        </p:nvSpPr>
        <p:spPr>
          <a:xfrm>
            <a:off x="2843213" y="4400550"/>
            <a:ext cx="1428750" cy="685800"/>
          </a:xfrm>
          <a:prstGeom prst="rect">
            <a:avLst/>
          </a:prstGeom>
          <a:solidFill>
            <a:srgbClr val="DBEAFE"/>
          </a:solidFill>
          <a:ln w="1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5"/>
          <p:cNvSpPr/>
          <p:nvPr/>
        </p:nvSpPr>
        <p:spPr>
          <a:xfrm>
            <a:off x="2928938" y="4500563"/>
            <a:ext cx="1328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Pool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2928938" y="4700588"/>
            <a:ext cx="1328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"John Doe"</a:t>
            </a:r>
            <a:endParaRPr lang="en-US" sz="788" dirty="0"/>
          </a:p>
        </p:txBody>
      </p:sp>
      <p:sp>
        <p:nvSpPr>
          <p:cNvPr id="47" name="Text 37"/>
          <p:cNvSpPr/>
          <p:nvPr/>
        </p:nvSpPr>
        <p:spPr>
          <a:xfrm>
            <a:off x="2928938" y="4843463"/>
            <a:ext cx="1328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"Hello"</a:t>
            </a:r>
            <a:endParaRPr lang="en-US" sz="788" dirty="0"/>
          </a:p>
        </p:txBody>
      </p:sp>
      <p:sp>
        <p:nvSpPr>
          <p:cNvPr id="48" name="Text 38"/>
          <p:cNvSpPr/>
          <p:nvPr/>
        </p:nvSpPr>
        <p:spPr>
          <a:xfrm>
            <a:off x="4972050" y="4500563"/>
            <a:ext cx="1300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Heap (non-pooled)</a:t>
            </a:r>
            <a:endParaRPr lang="en-US" sz="900" dirty="0"/>
          </a:p>
        </p:txBody>
      </p:sp>
      <p:sp>
        <p:nvSpPr>
          <p:cNvPr id="49" name="Text 39"/>
          <p:cNvSpPr/>
          <p:nvPr/>
        </p:nvSpPr>
        <p:spPr>
          <a:xfrm>
            <a:off x="4972050" y="4700588"/>
            <a:ext cx="1300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String("John Doe")</a:t>
            </a:r>
            <a:endParaRPr lang="en-US" sz="788" dirty="0"/>
          </a:p>
        </p:txBody>
      </p:sp>
      <p:sp>
        <p:nvSpPr>
          <p:cNvPr id="50" name="Text 40"/>
          <p:cNvSpPr/>
          <p:nvPr/>
        </p:nvSpPr>
        <p:spPr>
          <a:xfrm>
            <a:off x="4972050" y="4843463"/>
            <a:ext cx="1300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String("Hello")</a:t>
            </a:r>
            <a:endParaRPr lang="en-US" sz="788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5464969"/>
            <a:ext cx="160734" cy="214313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903684" y="5372100"/>
            <a:ext cx="768310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String Pool is a special memory area in the heap. When you create a string literal, Java first checks if an identical string exists in the pool. If it does, the reference is reused; if not, a new string is added to the pool.</a:t>
            </a:r>
            <a:endParaRPr lang="en-US" sz="101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743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4600575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600103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985865" y="455414"/>
            <a:ext cx="1357564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</a:t>
            </a:r>
            <a:endParaRPr lang="en-US" sz="2025" dirty="0"/>
          </a:p>
        </p:txBody>
      </p:sp>
      <p:sp>
        <p:nvSpPr>
          <p:cNvPr id="6" name="Text 2"/>
          <p:cNvSpPr/>
          <p:nvPr/>
        </p:nvSpPr>
        <p:spPr>
          <a:xfrm>
            <a:off x="2271992" y="455414"/>
            <a:ext cx="2229045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Nature of Strings</a:t>
            </a:r>
            <a:endParaRPr lang="en-US" sz="2025" dirty="0"/>
          </a:p>
        </p:txBody>
      </p:sp>
      <p:sp>
        <p:nvSpPr>
          <p:cNvPr id="7" name="Shape 3"/>
          <p:cNvSpPr/>
          <p:nvPr/>
        </p:nvSpPr>
        <p:spPr>
          <a:xfrm>
            <a:off x="457200" y="971550"/>
            <a:ext cx="4000500" cy="23431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Immutability?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28650" y="1543050"/>
            <a:ext cx="239316" cy="285750"/>
          </a:xfrm>
          <a:prstGeom prst="round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600200"/>
            <a:ext cx="125016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3691" y="1514475"/>
            <a:ext cx="25230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a String object is created, its content</a:t>
            </a:r>
            <a:endParaRPr lang="en-US" sz="1013" dirty="0"/>
          </a:p>
        </p:txBody>
      </p:sp>
      <p:sp>
        <p:nvSpPr>
          <p:cNvPr id="12" name="Text 7"/>
          <p:cNvSpPr/>
          <p:nvPr/>
        </p:nvSpPr>
        <p:spPr>
          <a:xfrm>
            <a:off x="953691" y="1514475"/>
            <a:ext cx="3130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be changed</a:t>
            </a:r>
            <a:endParaRPr lang="en-US" sz="1013" dirty="0"/>
          </a:p>
        </p:txBody>
      </p:sp>
      <p:sp>
        <p:nvSpPr>
          <p:cNvPr id="13" name="Text 8"/>
          <p:cNvSpPr/>
          <p:nvPr/>
        </p:nvSpPr>
        <p:spPr>
          <a:xfrm>
            <a:off x="1482440" y="1714500"/>
            <a:ext cx="1071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13" dirty="0"/>
          </a:p>
        </p:txBody>
      </p:sp>
      <p:sp>
        <p:nvSpPr>
          <p:cNvPr id="14" name="Shape 9"/>
          <p:cNvSpPr/>
          <p:nvPr/>
        </p:nvSpPr>
        <p:spPr>
          <a:xfrm>
            <a:off x="628650" y="2000250"/>
            <a:ext cx="3657600" cy="10287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742950" y="21270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6" name="Text 11"/>
          <p:cNvSpPr/>
          <p:nvPr/>
        </p:nvSpPr>
        <p:spPr>
          <a:xfrm>
            <a:off x="1205871" y="2127052"/>
            <a:ext cx="457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</a:t>
            </a:r>
            <a:endParaRPr lang="en-US" sz="1013" dirty="0"/>
          </a:p>
        </p:txBody>
      </p:sp>
      <p:sp>
        <p:nvSpPr>
          <p:cNvPr id="17" name="Text 12"/>
          <p:cNvSpPr/>
          <p:nvPr/>
        </p:nvSpPr>
        <p:spPr>
          <a:xfrm>
            <a:off x="1591661" y="212705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18" name="Text 13"/>
          <p:cNvSpPr/>
          <p:nvPr/>
        </p:nvSpPr>
        <p:spPr>
          <a:xfrm>
            <a:off x="2131740" y="212705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19" name="Text 14"/>
          <p:cNvSpPr/>
          <p:nvPr/>
        </p:nvSpPr>
        <p:spPr>
          <a:xfrm>
            <a:off x="742950" y="232707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 +</a:t>
            </a:r>
            <a:endParaRPr lang="en-US" sz="1013" dirty="0"/>
          </a:p>
        </p:txBody>
      </p:sp>
      <p:sp>
        <p:nvSpPr>
          <p:cNvPr id="20" name="Text 15"/>
          <p:cNvSpPr/>
          <p:nvPr/>
        </p:nvSpPr>
        <p:spPr>
          <a:xfrm>
            <a:off x="1360187" y="232707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World"</a:t>
            </a:r>
            <a:endParaRPr lang="en-US" sz="1013" dirty="0"/>
          </a:p>
        </p:txBody>
      </p:sp>
      <p:sp>
        <p:nvSpPr>
          <p:cNvPr id="21" name="Text 16"/>
          <p:cNvSpPr/>
          <p:nvPr/>
        </p:nvSpPr>
        <p:spPr>
          <a:xfrm>
            <a:off x="1977423" y="232707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22" name="Text 17"/>
          <p:cNvSpPr/>
          <p:nvPr/>
        </p:nvSpPr>
        <p:spPr>
          <a:xfrm>
            <a:off x="2131740" y="2327077"/>
            <a:ext cx="169164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Creates new String</a:t>
            </a:r>
            <a:endParaRPr lang="en-US" sz="1013" dirty="0"/>
          </a:p>
        </p:txBody>
      </p:sp>
      <p:sp>
        <p:nvSpPr>
          <p:cNvPr id="23" name="Text 18"/>
          <p:cNvSpPr/>
          <p:nvPr/>
        </p:nvSpPr>
        <p:spPr>
          <a:xfrm>
            <a:off x="742950" y="2527102"/>
            <a:ext cx="2617487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 now references "Hello World"</a:t>
            </a:r>
            <a:endParaRPr lang="en-US" sz="1013" dirty="0"/>
          </a:p>
        </p:txBody>
      </p:sp>
      <p:sp>
        <p:nvSpPr>
          <p:cNvPr id="24" name="Text 19"/>
          <p:cNvSpPr/>
          <p:nvPr/>
        </p:nvSpPr>
        <p:spPr>
          <a:xfrm>
            <a:off x="742950" y="2727127"/>
            <a:ext cx="254032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Original "Hello" still exists</a:t>
            </a:r>
            <a:endParaRPr lang="en-US" sz="1013" dirty="0"/>
          </a:p>
        </p:txBody>
      </p:sp>
      <p:sp>
        <p:nvSpPr>
          <p:cNvPr id="25" name="Shape 20"/>
          <p:cNvSpPr/>
          <p:nvPr/>
        </p:nvSpPr>
        <p:spPr>
          <a:xfrm>
            <a:off x="4686300" y="971550"/>
            <a:ext cx="4000500" cy="23431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Modification Visualization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5264776" y="1485900"/>
            <a:ext cx="857250" cy="485775"/>
          </a:xfrm>
          <a:prstGeom prst="rect">
            <a:avLst/>
          </a:prstGeom>
          <a:solidFill>
            <a:srgbClr val="DBEAFE"/>
          </a:solidFill>
          <a:ln w="1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5321926" y="1557338"/>
            <a:ext cx="8143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5321926" y="1757363"/>
            <a:ext cx="8143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"Hello"</a:t>
            </a:r>
            <a:endParaRPr lang="en-US" sz="788" dirty="0"/>
          </a:p>
        </p:txBody>
      </p:sp>
      <p:sp>
        <p:nvSpPr>
          <p:cNvPr id="30" name="Text 25"/>
          <p:cNvSpPr/>
          <p:nvPr/>
        </p:nvSpPr>
        <p:spPr>
          <a:xfrm>
            <a:off x="6236326" y="1676995"/>
            <a:ext cx="75757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 = s + " World"</a:t>
            </a:r>
            <a:endParaRPr lang="en-US" sz="788" dirty="0"/>
          </a:p>
        </p:txBody>
      </p:sp>
      <p:sp>
        <p:nvSpPr>
          <p:cNvPr id="31" name="Shape 26"/>
          <p:cNvSpPr/>
          <p:nvPr/>
        </p:nvSpPr>
        <p:spPr>
          <a:xfrm>
            <a:off x="7251074" y="1485900"/>
            <a:ext cx="857250" cy="485775"/>
          </a:xfrm>
          <a:prstGeom prst="rect">
            <a:avLst/>
          </a:prstGeom>
          <a:solidFill>
            <a:srgbClr val="D1FAE5"/>
          </a:solidFill>
          <a:ln w="198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7308224" y="1543050"/>
            <a:ext cx="8143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7308224" y="1743075"/>
            <a:ext cx="8143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"Hello World"</a:t>
            </a:r>
            <a:endParaRPr lang="en-US" sz="788" dirty="0"/>
          </a:p>
        </p:txBody>
      </p:sp>
      <p:sp>
        <p:nvSpPr>
          <p:cNvPr id="34" name="Text 29"/>
          <p:cNvSpPr/>
          <p:nvPr/>
        </p:nvSpPr>
        <p:spPr>
          <a:xfrm>
            <a:off x="5377207" y="2114550"/>
            <a:ext cx="26900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String object is created and the reference is updated</a:t>
            </a:r>
            <a:endParaRPr lang="en-US" sz="788" dirty="0"/>
          </a:p>
        </p:txBody>
      </p:sp>
      <p:sp>
        <p:nvSpPr>
          <p:cNvPr id="35" name="Shape 30"/>
          <p:cNvSpPr/>
          <p:nvPr/>
        </p:nvSpPr>
        <p:spPr>
          <a:xfrm>
            <a:off x="457200" y="3543300"/>
            <a:ext cx="4000500" cy="27432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28650" y="371475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of Immutability</a:t>
            </a:r>
            <a:endParaRPr lang="en-US" sz="135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4086225"/>
            <a:ext cx="128588" cy="1285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14388" y="4086225"/>
            <a:ext cx="62170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Security:</a:t>
            </a:r>
            <a:endParaRPr lang="en-US" sz="1013" dirty="0"/>
          </a:p>
        </p:txBody>
      </p:sp>
      <p:sp>
        <p:nvSpPr>
          <p:cNvPr id="39" name="Text 33"/>
          <p:cNvSpPr/>
          <p:nvPr/>
        </p:nvSpPr>
        <p:spPr>
          <a:xfrm>
            <a:off x="1364652" y="4086225"/>
            <a:ext cx="19086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be altered once created</a:t>
            </a:r>
            <a:endParaRPr lang="en-US" sz="1013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4371975"/>
            <a:ext cx="160734" cy="12858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46534" y="4371975"/>
            <a:ext cx="96465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 Safety:</a:t>
            </a:r>
            <a:endParaRPr lang="en-US" sz="1013" dirty="0"/>
          </a:p>
        </p:txBody>
      </p:sp>
      <p:sp>
        <p:nvSpPr>
          <p:cNvPr id="42" name="Text 35"/>
          <p:cNvSpPr/>
          <p:nvPr/>
        </p:nvSpPr>
        <p:spPr>
          <a:xfrm>
            <a:off x="1739754" y="4371975"/>
            <a:ext cx="18369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for concurrent operations</a:t>
            </a:r>
            <a:endParaRPr lang="en-US" sz="1013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4657725"/>
            <a:ext cx="112514" cy="12858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98314" y="4657725"/>
            <a:ext cx="127181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Hashcode Caching:</a:t>
            </a:r>
            <a:endParaRPr lang="en-US" sz="1013" dirty="0"/>
          </a:p>
        </p:txBody>
      </p:sp>
      <p:sp>
        <p:nvSpPr>
          <p:cNvPr id="45" name="Text 37"/>
          <p:cNvSpPr/>
          <p:nvPr/>
        </p:nvSpPr>
        <p:spPr>
          <a:xfrm>
            <a:off x="1998687" y="4657725"/>
            <a:ext cx="21654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Improves performance in collections</a:t>
            </a:r>
            <a:endParaRPr lang="en-US" sz="1013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4943475"/>
            <a:ext cx="144661" cy="12858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830461" y="4943475"/>
            <a:ext cx="8000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Pool:</a:t>
            </a:r>
            <a:endParaRPr lang="en-US" sz="1013" dirty="0"/>
          </a:p>
        </p:txBody>
      </p:sp>
      <p:sp>
        <p:nvSpPr>
          <p:cNvPr id="48" name="Text 39"/>
          <p:cNvSpPr/>
          <p:nvPr/>
        </p:nvSpPr>
        <p:spPr>
          <a:xfrm>
            <a:off x="1559040" y="4943475"/>
            <a:ext cx="17938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Enables memory optimization</a:t>
            </a:r>
            <a:endParaRPr lang="en-US" sz="1013" dirty="0"/>
          </a:p>
        </p:txBody>
      </p:sp>
      <p:sp>
        <p:nvSpPr>
          <p:cNvPr id="49" name="Shape 40"/>
          <p:cNvSpPr/>
          <p:nvPr/>
        </p:nvSpPr>
        <p:spPr>
          <a:xfrm>
            <a:off x="4686300" y="3543300"/>
            <a:ext cx="4000500" cy="274320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1"/>
          <p:cNvSpPr/>
          <p:nvPr/>
        </p:nvSpPr>
        <p:spPr>
          <a:xfrm>
            <a:off x="4857750" y="371475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Implications</a:t>
            </a:r>
            <a:endParaRPr lang="en-US" sz="1350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4171950"/>
            <a:ext cx="171450" cy="17145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5114925" y="4057650"/>
            <a:ext cx="34718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Frequent string modifications can lead to performance issues</a:t>
            </a:r>
            <a:endParaRPr lang="en-US" sz="1013" dirty="0"/>
          </a:p>
        </p:txBody>
      </p:sp>
      <p:sp>
        <p:nvSpPr>
          <p:cNvPr id="53" name="Shape 43"/>
          <p:cNvSpPr/>
          <p:nvPr/>
        </p:nvSpPr>
        <p:spPr>
          <a:xfrm>
            <a:off x="4857750" y="4572000"/>
            <a:ext cx="3657600" cy="12287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4"/>
          <p:cNvSpPr/>
          <p:nvPr/>
        </p:nvSpPr>
        <p:spPr>
          <a:xfrm>
            <a:off x="4972050" y="46988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55" name="Text 45"/>
          <p:cNvSpPr/>
          <p:nvPr/>
        </p:nvSpPr>
        <p:spPr>
          <a:xfrm>
            <a:off x="5434971" y="4698802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</a:t>
            </a:r>
            <a:endParaRPr lang="en-US" sz="1013" dirty="0"/>
          </a:p>
        </p:txBody>
      </p:sp>
      <p:sp>
        <p:nvSpPr>
          <p:cNvPr id="56" name="Text 46"/>
          <p:cNvSpPr/>
          <p:nvPr/>
        </p:nvSpPr>
        <p:spPr>
          <a:xfrm>
            <a:off x="6206523" y="469880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endParaRPr lang="en-US" sz="1013" dirty="0"/>
          </a:p>
        </p:txBody>
      </p:sp>
      <p:sp>
        <p:nvSpPr>
          <p:cNvPr id="57" name="Text 47"/>
          <p:cNvSpPr/>
          <p:nvPr/>
        </p:nvSpPr>
        <p:spPr>
          <a:xfrm>
            <a:off x="6360840" y="46988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58" name="Text 48"/>
          <p:cNvSpPr/>
          <p:nvPr/>
        </p:nvSpPr>
        <p:spPr>
          <a:xfrm>
            <a:off x="4972050" y="489882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013" dirty="0"/>
          </a:p>
        </p:txBody>
      </p:sp>
      <p:sp>
        <p:nvSpPr>
          <p:cNvPr id="59" name="Text 49"/>
          <p:cNvSpPr/>
          <p:nvPr/>
        </p:nvSpPr>
        <p:spPr>
          <a:xfrm>
            <a:off x="5203524" y="489882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13" dirty="0"/>
          </a:p>
        </p:txBody>
      </p:sp>
      <p:sp>
        <p:nvSpPr>
          <p:cNvPr id="60" name="Text 50"/>
          <p:cNvSpPr/>
          <p:nvPr/>
        </p:nvSpPr>
        <p:spPr>
          <a:xfrm>
            <a:off x="5357840" y="489882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61" name="Text 51"/>
          <p:cNvSpPr/>
          <p:nvPr/>
        </p:nvSpPr>
        <p:spPr>
          <a:xfrm>
            <a:off x="5589315" y="4898827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0; i &lt; 10000; i++) {</a:t>
            </a:r>
            <a:endParaRPr lang="en-US" sz="1013" dirty="0"/>
          </a:p>
        </p:txBody>
      </p:sp>
      <p:sp>
        <p:nvSpPr>
          <p:cNvPr id="62" name="Text 52"/>
          <p:cNvSpPr/>
          <p:nvPr/>
        </p:nvSpPr>
        <p:spPr>
          <a:xfrm>
            <a:off x="4972050" y="5098852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+= i;</a:t>
            </a:r>
            <a:endParaRPr lang="en-US" sz="1013" dirty="0"/>
          </a:p>
        </p:txBody>
      </p:sp>
      <p:sp>
        <p:nvSpPr>
          <p:cNvPr id="63" name="Text 53"/>
          <p:cNvSpPr/>
          <p:nvPr/>
        </p:nvSpPr>
        <p:spPr>
          <a:xfrm>
            <a:off x="4972050" y="5098852"/>
            <a:ext cx="3080435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Creates 10,000 String objects!</a:t>
            </a:r>
            <a:endParaRPr lang="en-US" sz="1013" dirty="0"/>
          </a:p>
        </p:txBody>
      </p:sp>
      <p:sp>
        <p:nvSpPr>
          <p:cNvPr id="64" name="Text 54"/>
          <p:cNvSpPr/>
          <p:nvPr/>
        </p:nvSpPr>
        <p:spPr>
          <a:xfrm>
            <a:off x="4972050" y="54989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65" name="Text 55"/>
          <p:cNvSpPr/>
          <p:nvPr/>
        </p:nvSpPr>
        <p:spPr>
          <a:xfrm>
            <a:off x="4857750" y="5943600"/>
            <a:ext cx="3358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</a:t>
            </a:r>
            <a:endParaRPr lang="en-US" sz="1013" dirty="0"/>
          </a:p>
        </p:txBody>
      </p:sp>
      <p:sp>
        <p:nvSpPr>
          <p:cNvPr id="66" name="Text 56"/>
          <p:cNvSpPr/>
          <p:nvPr/>
        </p:nvSpPr>
        <p:spPr>
          <a:xfrm>
            <a:off x="5122152" y="5943600"/>
            <a:ext cx="8858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StringBuilder</a:t>
            </a:r>
            <a:endParaRPr lang="en-US" sz="1013" dirty="0"/>
          </a:p>
        </p:txBody>
      </p:sp>
      <p:sp>
        <p:nvSpPr>
          <p:cNvPr id="67" name="Text 57"/>
          <p:cNvSpPr/>
          <p:nvPr/>
        </p:nvSpPr>
        <p:spPr>
          <a:xfrm>
            <a:off x="5936568" y="5943600"/>
            <a:ext cx="25723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</a:t>
            </a:r>
            <a:endParaRPr lang="en-US" sz="1013" dirty="0"/>
          </a:p>
        </p:txBody>
      </p:sp>
      <p:sp>
        <p:nvSpPr>
          <p:cNvPr id="68" name="Text 58"/>
          <p:cNvSpPr/>
          <p:nvPr/>
        </p:nvSpPr>
        <p:spPr>
          <a:xfrm>
            <a:off x="6122361" y="5943600"/>
            <a:ext cx="82150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StringBuffer</a:t>
            </a:r>
            <a:endParaRPr lang="en-US" sz="1013" dirty="0"/>
          </a:p>
        </p:txBody>
      </p:sp>
      <p:sp>
        <p:nvSpPr>
          <p:cNvPr id="69" name="Text 59"/>
          <p:cNvSpPr/>
          <p:nvPr/>
        </p:nvSpPr>
        <p:spPr>
          <a:xfrm>
            <a:off x="6872427" y="5943600"/>
            <a:ext cx="15509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frequent modifications</a:t>
            </a:r>
            <a:endParaRPr lang="en-US" sz="101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2581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6115050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2771915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Operations: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3157677" y="455414"/>
            <a:ext cx="3043154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 &amp; Concatenation</a:t>
            </a:r>
            <a:endParaRPr lang="en-US" sz="2025" dirty="0"/>
          </a:p>
        </p:txBody>
      </p:sp>
      <p:sp>
        <p:nvSpPr>
          <p:cNvPr id="6" name="Shape 2"/>
          <p:cNvSpPr/>
          <p:nvPr/>
        </p:nvSpPr>
        <p:spPr>
          <a:xfrm>
            <a:off x="457200" y="971550"/>
            <a:ext cx="4000500" cy="414337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String Length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286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286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429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length()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7429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the number of characters in the string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8650" y="2085975"/>
            <a:ext cx="3657600" cy="6286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42950" y="22127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1205871" y="221277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1823107" y="2212777"/>
            <a:ext cx="11515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Java!"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2903265" y="221277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17" name="Text 13"/>
          <p:cNvSpPr/>
          <p:nvPr/>
        </p:nvSpPr>
        <p:spPr>
          <a:xfrm>
            <a:off x="742950" y="24128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974424" y="2412802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 = text.length();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2903265" y="2412802"/>
            <a:ext cx="457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12</a:t>
            </a:r>
            <a:endParaRPr lang="en-US" sz="1013" dirty="0"/>
          </a:p>
        </p:txBody>
      </p:sp>
      <p:sp>
        <p:nvSpPr>
          <p:cNvPr id="20" name="Shape 16"/>
          <p:cNvSpPr/>
          <p:nvPr/>
        </p:nvSpPr>
        <p:spPr>
          <a:xfrm>
            <a:off x="628650" y="2828925"/>
            <a:ext cx="3657600" cy="314325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928938"/>
            <a:ext cx="85725" cy="1143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7250" y="2914650"/>
            <a:ext cx="1878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strings have a length of 0, not null</a:t>
            </a:r>
            <a:endParaRPr lang="en-US" sz="788" dirty="0"/>
          </a:p>
        </p:txBody>
      </p:sp>
      <p:sp>
        <p:nvSpPr>
          <p:cNvPr id="23" name="Shape 18"/>
          <p:cNvSpPr/>
          <p:nvPr/>
        </p:nvSpPr>
        <p:spPr>
          <a:xfrm>
            <a:off x="4686300" y="971550"/>
            <a:ext cx="4000500" cy="414337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Concatenation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48577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8577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9720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Operator</a:t>
            </a:r>
            <a:endParaRPr lang="en-US" sz="1013" dirty="0"/>
          </a:p>
        </p:txBody>
      </p:sp>
      <p:sp>
        <p:nvSpPr>
          <p:cNvPr id="28" name="Text 23"/>
          <p:cNvSpPr/>
          <p:nvPr/>
        </p:nvSpPr>
        <p:spPr>
          <a:xfrm>
            <a:off x="49720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common way to join strings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857750" y="2028825"/>
            <a:ext cx="3657600" cy="12287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4972050" y="21556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31" name="Text 26"/>
          <p:cNvSpPr/>
          <p:nvPr/>
        </p:nvSpPr>
        <p:spPr>
          <a:xfrm>
            <a:off x="5434971" y="2155627"/>
            <a:ext cx="10744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 =</a:t>
            </a:r>
            <a:endParaRPr lang="en-US" sz="1013" dirty="0"/>
          </a:p>
        </p:txBody>
      </p:sp>
      <p:sp>
        <p:nvSpPr>
          <p:cNvPr id="32" name="Text 27"/>
          <p:cNvSpPr/>
          <p:nvPr/>
        </p:nvSpPr>
        <p:spPr>
          <a:xfrm>
            <a:off x="6437970" y="21556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"John"</a:t>
            </a:r>
            <a:endParaRPr lang="en-US" sz="1013" dirty="0"/>
          </a:p>
        </p:txBody>
      </p:sp>
      <p:sp>
        <p:nvSpPr>
          <p:cNvPr id="33" name="Text 28"/>
          <p:cNvSpPr/>
          <p:nvPr/>
        </p:nvSpPr>
        <p:spPr>
          <a:xfrm>
            <a:off x="6900890" y="21556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34" name="Text 29"/>
          <p:cNvSpPr/>
          <p:nvPr/>
        </p:nvSpPr>
        <p:spPr>
          <a:xfrm>
            <a:off x="4972050" y="23556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35" name="Text 30"/>
          <p:cNvSpPr/>
          <p:nvPr/>
        </p:nvSpPr>
        <p:spPr>
          <a:xfrm>
            <a:off x="5434971" y="2355652"/>
            <a:ext cx="9972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 =</a:t>
            </a:r>
            <a:endParaRPr lang="en-US" sz="1013" dirty="0"/>
          </a:p>
        </p:txBody>
      </p:sp>
      <p:sp>
        <p:nvSpPr>
          <p:cNvPr id="36" name="Text 31"/>
          <p:cNvSpPr/>
          <p:nvPr/>
        </p:nvSpPr>
        <p:spPr>
          <a:xfrm>
            <a:off x="6360812" y="2355652"/>
            <a:ext cx="457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"Doe"</a:t>
            </a:r>
            <a:endParaRPr lang="en-US" sz="1013" dirty="0"/>
          </a:p>
        </p:txBody>
      </p:sp>
      <p:sp>
        <p:nvSpPr>
          <p:cNvPr id="37" name="Text 32"/>
          <p:cNvSpPr/>
          <p:nvPr/>
        </p:nvSpPr>
        <p:spPr>
          <a:xfrm>
            <a:off x="6746602" y="235565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38" name="Text 33"/>
          <p:cNvSpPr/>
          <p:nvPr/>
        </p:nvSpPr>
        <p:spPr>
          <a:xfrm>
            <a:off x="4972050" y="25556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39" name="Text 34"/>
          <p:cNvSpPr/>
          <p:nvPr/>
        </p:nvSpPr>
        <p:spPr>
          <a:xfrm>
            <a:off x="5434971" y="2555677"/>
            <a:ext cx="192312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fullName = firstName +</a:t>
            </a:r>
            <a:endParaRPr lang="en-US" sz="1013" dirty="0"/>
          </a:p>
        </p:txBody>
      </p:sp>
      <p:sp>
        <p:nvSpPr>
          <p:cNvPr id="40" name="Text 35"/>
          <p:cNvSpPr/>
          <p:nvPr/>
        </p:nvSpPr>
        <p:spPr>
          <a:xfrm>
            <a:off x="7286653" y="25556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endParaRPr lang="en-US" sz="1013" dirty="0"/>
          </a:p>
        </p:txBody>
      </p:sp>
      <p:sp>
        <p:nvSpPr>
          <p:cNvPr id="41" name="Text 36"/>
          <p:cNvSpPr/>
          <p:nvPr/>
        </p:nvSpPr>
        <p:spPr>
          <a:xfrm>
            <a:off x="4972050" y="2555677"/>
            <a:ext cx="2771831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lastName;</a:t>
            </a:r>
            <a:endParaRPr lang="en-US" sz="1013" dirty="0"/>
          </a:p>
        </p:txBody>
      </p:sp>
      <p:sp>
        <p:nvSpPr>
          <p:cNvPr id="42" name="Text 37"/>
          <p:cNvSpPr/>
          <p:nvPr/>
        </p:nvSpPr>
        <p:spPr>
          <a:xfrm>
            <a:off x="4972050" y="2955727"/>
            <a:ext cx="10744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"John Doe"</a:t>
            </a:r>
            <a:endParaRPr lang="en-US" sz="1013" dirty="0"/>
          </a:p>
        </p:txBody>
      </p:sp>
      <p:sp>
        <p:nvSpPr>
          <p:cNvPr id="43" name="Shape 38"/>
          <p:cNvSpPr/>
          <p:nvPr/>
        </p:nvSpPr>
        <p:spPr>
          <a:xfrm>
            <a:off x="4857750" y="337185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4857750" y="337185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4972050" y="342900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concat()</a:t>
            </a:r>
            <a:endParaRPr lang="en-US" sz="1013" dirty="0"/>
          </a:p>
        </p:txBody>
      </p:sp>
      <p:sp>
        <p:nvSpPr>
          <p:cNvPr id="46" name="Text 41"/>
          <p:cNvSpPr/>
          <p:nvPr/>
        </p:nvSpPr>
        <p:spPr>
          <a:xfrm>
            <a:off x="4972050" y="362902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alternative to + operator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4857750" y="3914775"/>
            <a:ext cx="3657600" cy="10287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4972050" y="40415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49" name="Text 44"/>
          <p:cNvSpPr/>
          <p:nvPr/>
        </p:nvSpPr>
        <p:spPr>
          <a:xfrm>
            <a:off x="5434971" y="4041577"/>
            <a:ext cx="9972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 =</a:t>
            </a:r>
            <a:endParaRPr lang="en-US" sz="1013" dirty="0"/>
          </a:p>
        </p:txBody>
      </p:sp>
      <p:sp>
        <p:nvSpPr>
          <p:cNvPr id="50" name="Text 45"/>
          <p:cNvSpPr/>
          <p:nvPr/>
        </p:nvSpPr>
        <p:spPr>
          <a:xfrm>
            <a:off x="6360812" y="4041577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"</a:t>
            </a:r>
            <a:endParaRPr lang="en-US" sz="1013" dirty="0"/>
          </a:p>
        </p:txBody>
      </p:sp>
      <p:sp>
        <p:nvSpPr>
          <p:cNvPr id="51" name="Text 46"/>
          <p:cNvSpPr/>
          <p:nvPr/>
        </p:nvSpPr>
        <p:spPr>
          <a:xfrm>
            <a:off x="7055207" y="404157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52" name="Text 47"/>
          <p:cNvSpPr/>
          <p:nvPr/>
        </p:nvSpPr>
        <p:spPr>
          <a:xfrm>
            <a:off x="4972050" y="42416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53" name="Text 48"/>
          <p:cNvSpPr/>
          <p:nvPr/>
        </p:nvSpPr>
        <p:spPr>
          <a:xfrm>
            <a:off x="5434971" y="4241602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</a:t>
            </a:r>
            <a:endParaRPr lang="en-US" sz="1013" dirty="0"/>
          </a:p>
        </p:txBody>
      </p:sp>
      <p:sp>
        <p:nvSpPr>
          <p:cNvPr id="54" name="Text 49"/>
          <p:cNvSpPr/>
          <p:nvPr/>
        </p:nvSpPr>
        <p:spPr>
          <a:xfrm>
            <a:off x="6052207" y="424160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"Java!"</a:t>
            </a:r>
            <a:endParaRPr lang="en-US" sz="1013" dirty="0"/>
          </a:p>
        </p:txBody>
      </p:sp>
      <p:sp>
        <p:nvSpPr>
          <p:cNvPr id="55" name="Text 50"/>
          <p:cNvSpPr/>
          <p:nvPr/>
        </p:nvSpPr>
        <p:spPr>
          <a:xfrm>
            <a:off x="6592286" y="42416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56" name="Text 51"/>
          <p:cNvSpPr/>
          <p:nvPr/>
        </p:nvSpPr>
        <p:spPr>
          <a:xfrm>
            <a:off x="4972050" y="44416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57" name="Text 52"/>
          <p:cNvSpPr/>
          <p:nvPr/>
        </p:nvSpPr>
        <p:spPr>
          <a:xfrm>
            <a:off x="5434971" y="4441627"/>
            <a:ext cx="2617487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= greeting.concat(name);</a:t>
            </a:r>
            <a:endParaRPr lang="en-US" sz="1013" dirty="0"/>
          </a:p>
        </p:txBody>
      </p:sp>
      <p:sp>
        <p:nvSpPr>
          <p:cNvPr id="58" name="Text 53"/>
          <p:cNvSpPr/>
          <p:nvPr/>
        </p:nvSpPr>
        <p:spPr>
          <a:xfrm>
            <a:off x="4972050" y="4641652"/>
            <a:ext cx="138304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"Hello, Java!"</a:t>
            </a:r>
            <a:endParaRPr lang="en-US" sz="1013" dirty="0"/>
          </a:p>
        </p:txBody>
      </p:sp>
      <p:sp>
        <p:nvSpPr>
          <p:cNvPr id="59" name="Shape 54"/>
          <p:cNvSpPr/>
          <p:nvPr/>
        </p:nvSpPr>
        <p:spPr>
          <a:xfrm>
            <a:off x="457200" y="5343525"/>
            <a:ext cx="8229600" cy="245745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5"/>
          <p:cNvSpPr/>
          <p:nvPr/>
        </p:nvSpPr>
        <p:spPr>
          <a:xfrm>
            <a:off x="628650" y="5514975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Concatenation with Non-String Types</a:t>
            </a:r>
            <a:endParaRPr lang="en-US" sz="1350" dirty="0"/>
          </a:p>
        </p:txBody>
      </p:sp>
      <p:sp>
        <p:nvSpPr>
          <p:cNvPr id="61" name="Shape 56"/>
          <p:cNvSpPr/>
          <p:nvPr/>
        </p:nvSpPr>
        <p:spPr>
          <a:xfrm>
            <a:off x="628650" y="5857875"/>
            <a:ext cx="7886700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7"/>
          <p:cNvSpPr/>
          <p:nvPr/>
        </p:nvSpPr>
        <p:spPr>
          <a:xfrm>
            <a:off x="742950" y="59846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63" name="Text 58"/>
          <p:cNvSpPr/>
          <p:nvPr/>
        </p:nvSpPr>
        <p:spPr>
          <a:xfrm>
            <a:off x="974424" y="5984677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30;</a:t>
            </a:r>
            <a:endParaRPr lang="en-US" sz="1013" dirty="0"/>
          </a:p>
        </p:txBody>
      </p:sp>
      <p:sp>
        <p:nvSpPr>
          <p:cNvPr id="64" name="Text 59"/>
          <p:cNvSpPr/>
          <p:nvPr/>
        </p:nvSpPr>
        <p:spPr>
          <a:xfrm>
            <a:off x="742950" y="61847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65" name="Text 60"/>
          <p:cNvSpPr/>
          <p:nvPr/>
        </p:nvSpPr>
        <p:spPr>
          <a:xfrm>
            <a:off x="1205871" y="618470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=</a:t>
            </a:r>
            <a:endParaRPr lang="en-US" sz="1013" dirty="0"/>
          </a:p>
        </p:txBody>
      </p:sp>
      <p:sp>
        <p:nvSpPr>
          <p:cNvPr id="66" name="Text 61"/>
          <p:cNvSpPr/>
          <p:nvPr/>
        </p:nvSpPr>
        <p:spPr>
          <a:xfrm>
            <a:off x="2054554" y="618470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am "</a:t>
            </a:r>
            <a:endParaRPr lang="en-US" sz="1013" dirty="0"/>
          </a:p>
        </p:txBody>
      </p:sp>
      <p:sp>
        <p:nvSpPr>
          <p:cNvPr id="67" name="Text 62"/>
          <p:cNvSpPr/>
          <p:nvPr/>
        </p:nvSpPr>
        <p:spPr>
          <a:xfrm>
            <a:off x="2594632" y="6184702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age +</a:t>
            </a:r>
            <a:endParaRPr lang="en-US" sz="1013" dirty="0"/>
          </a:p>
        </p:txBody>
      </p:sp>
      <p:sp>
        <p:nvSpPr>
          <p:cNvPr id="68" name="Text 63"/>
          <p:cNvSpPr/>
          <p:nvPr/>
        </p:nvSpPr>
        <p:spPr>
          <a:xfrm>
            <a:off x="3289027" y="6184702"/>
            <a:ext cx="10744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years old."</a:t>
            </a:r>
            <a:endParaRPr lang="en-US" sz="1013" dirty="0"/>
          </a:p>
        </p:txBody>
      </p:sp>
      <p:sp>
        <p:nvSpPr>
          <p:cNvPr id="69" name="Text 64"/>
          <p:cNvSpPr/>
          <p:nvPr/>
        </p:nvSpPr>
        <p:spPr>
          <a:xfrm>
            <a:off x="4292026" y="61847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70" name="Text 65"/>
          <p:cNvSpPr/>
          <p:nvPr/>
        </p:nvSpPr>
        <p:spPr>
          <a:xfrm>
            <a:off x="742950" y="6384727"/>
            <a:ext cx="184596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"I am 30 years old."</a:t>
            </a:r>
            <a:endParaRPr lang="en-US" sz="1013" dirty="0"/>
          </a:p>
        </p:txBody>
      </p:sp>
      <p:pic>
        <p:nvPicPr>
          <p:cNvPr id="7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7129463"/>
            <a:ext cx="171450" cy="171450"/>
          </a:xfrm>
          <a:prstGeom prst="rect">
            <a:avLst/>
          </a:prstGeom>
        </p:spPr>
      </p:pic>
      <p:sp>
        <p:nvSpPr>
          <p:cNvPr id="72" name="Text 66"/>
          <p:cNvSpPr/>
          <p:nvPr/>
        </p:nvSpPr>
        <p:spPr>
          <a:xfrm>
            <a:off x="914400" y="6800850"/>
            <a:ext cx="34703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using the + operator with a String and any other type:</a:t>
            </a:r>
            <a:endParaRPr lang="en-US" sz="1013" dirty="0"/>
          </a:p>
        </p:txBody>
      </p:sp>
      <p:sp>
        <p:nvSpPr>
          <p:cNvPr id="73" name="Text 67"/>
          <p:cNvSpPr/>
          <p:nvPr/>
        </p:nvSpPr>
        <p:spPr>
          <a:xfrm>
            <a:off x="1085850" y="7058025"/>
            <a:ext cx="3298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non-String value is automatically converted to a String</a:t>
            </a:r>
            <a:endParaRPr lang="en-US" sz="900" dirty="0"/>
          </a:p>
        </p:txBody>
      </p:sp>
      <p:sp>
        <p:nvSpPr>
          <p:cNvPr id="74" name="Text 68"/>
          <p:cNvSpPr/>
          <p:nvPr/>
        </p:nvSpPr>
        <p:spPr>
          <a:xfrm>
            <a:off x="1085850" y="7258050"/>
            <a:ext cx="3298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conversion uses the toString() method or String.valueOf()</a:t>
            </a:r>
            <a:endParaRPr lang="en-US" sz="900" dirty="0"/>
          </a:p>
        </p:txBody>
      </p:sp>
      <p:sp>
        <p:nvSpPr>
          <p:cNvPr id="75" name="Text 69"/>
          <p:cNvSpPr/>
          <p:nvPr/>
        </p:nvSpPr>
        <p:spPr>
          <a:xfrm>
            <a:off x="1085850" y="7458075"/>
            <a:ext cx="3298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works with primitives (int, double, etc.) and objects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7722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4629150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2771915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Operations: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3157677" y="455414"/>
            <a:ext cx="2773170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Accessing Characters</a:t>
            </a:r>
            <a:endParaRPr lang="en-US" sz="2025" dirty="0"/>
          </a:p>
        </p:txBody>
      </p:sp>
      <p:sp>
        <p:nvSpPr>
          <p:cNvPr id="6" name="Shape 2"/>
          <p:cNvSpPr/>
          <p:nvPr/>
        </p:nvSpPr>
        <p:spPr>
          <a:xfrm>
            <a:off x="457200" y="971550"/>
            <a:ext cx="4000500" cy="26860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Accessing Individual Characters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286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286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429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charAt(int index)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7429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the character at the specified index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8650" y="2085975"/>
            <a:ext cx="3657600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42950" y="22127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1205871" y="221277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1823107" y="22127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2286028" y="221277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17" name="Text 13"/>
          <p:cNvSpPr/>
          <p:nvPr/>
        </p:nvSpPr>
        <p:spPr>
          <a:xfrm>
            <a:off x="742950" y="2412802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1051582" y="2412802"/>
            <a:ext cx="230888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firstChar = text.charAt(0);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3289027" y="24128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'J'</a:t>
            </a:r>
            <a:endParaRPr lang="en-US" sz="1013" dirty="0"/>
          </a:p>
        </p:txBody>
      </p:sp>
      <p:sp>
        <p:nvSpPr>
          <p:cNvPr id="20" name="Text 16"/>
          <p:cNvSpPr/>
          <p:nvPr/>
        </p:nvSpPr>
        <p:spPr>
          <a:xfrm>
            <a:off x="742950" y="2612827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n-US" sz="1013" dirty="0"/>
          </a:p>
        </p:txBody>
      </p:sp>
      <p:sp>
        <p:nvSpPr>
          <p:cNvPr id="21" name="Text 17"/>
          <p:cNvSpPr/>
          <p:nvPr/>
        </p:nvSpPr>
        <p:spPr>
          <a:xfrm>
            <a:off x="1051582" y="2612827"/>
            <a:ext cx="223172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lastChar = text.charAt(3);</a:t>
            </a:r>
            <a:endParaRPr lang="en-US" sz="1013" dirty="0"/>
          </a:p>
        </p:txBody>
      </p:sp>
      <p:sp>
        <p:nvSpPr>
          <p:cNvPr id="22" name="Text 18"/>
          <p:cNvSpPr/>
          <p:nvPr/>
        </p:nvSpPr>
        <p:spPr>
          <a:xfrm>
            <a:off x="3211869" y="26128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'a'</a:t>
            </a:r>
            <a:endParaRPr lang="en-US" sz="1013" dirty="0"/>
          </a:p>
        </p:txBody>
      </p:sp>
      <p:sp>
        <p:nvSpPr>
          <p:cNvPr id="23" name="Shape 19"/>
          <p:cNvSpPr/>
          <p:nvPr/>
        </p:nvSpPr>
        <p:spPr>
          <a:xfrm>
            <a:off x="628650" y="3028950"/>
            <a:ext cx="3657600" cy="45720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200400"/>
            <a:ext cx="114300" cy="1143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85825" y="3114675"/>
            <a:ext cx="33861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Throws StringIndexOutOfBoundsException if index is negative or &gt;= length</a:t>
            </a:r>
            <a:endParaRPr lang="en-US" sz="788" dirty="0"/>
          </a:p>
        </p:txBody>
      </p:sp>
      <p:sp>
        <p:nvSpPr>
          <p:cNvPr id="26" name="Shape 21"/>
          <p:cNvSpPr/>
          <p:nvPr/>
        </p:nvSpPr>
        <p:spPr>
          <a:xfrm>
            <a:off x="4686300" y="971550"/>
            <a:ext cx="4000500" cy="26860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Indexing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6115050" y="1485900"/>
            <a:ext cx="285750" cy="285750"/>
          </a:xfrm>
          <a:prstGeom prst="rect">
            <a:avLst/>
          </a:prstGeom>
          <a:solidFill>
            <a:srgbClr val="DBEAFE"/>
          </a:solidFill>
          <a:ln w="1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115050" y="1485900"/>
            <a:ext cx="3571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400800" y="1485900"/>
            <a:ext cx="285750" cy="285750"/>
          </a:xfrm>
          <a:prstGeom prst="rect">
            <a:avLst/>
          </a:prstGeom>
          <a:solidFill>
            <a:srgbClr val="DBEAFE"/>
          </a:solidFill>
          <a:ln w="1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400800" y="1485900"/>
            <a:ext cx="3571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686550" y="1485900"/>
            <a:ext cx="285750" cy="285750"/>
          </a:xfrm>
          <a:prstGeom prst="rect">
            <a:avLst/>
          </a:prstGeom>
          <a:solidFill>
            <a:srgbClr val="DBEAFE"/>
          </a:solidFill>
          <a:ln w="1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686550" y="1485900"/>
            <a:ext cx="3571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972300" y="1485900"/>
            <a:ext cx="285750" cy="285750"/>
          </a:xfrm>
          <a:prstGeom prst="rect">
            <a:avLst/>
          </a:prstGeom>
          <a:solidFill>
            <a:srgbClr val="DBEAFE"/>
          </a:solidFill>
          <a:ln w="1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972300" y="1485900"/>
            <a:ext cx="3571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115050" y="1771650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400800" y="1771650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6686550" y="1771650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6972300" y="1771650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6115050" y="2000250"/>
            <a:ext cx="1214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Indices start at 0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4857750" y="2343150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Converting to character array:</a:t>
            </a:r>
            <a:endParaRPr lang="en-US" sz="1013" dirty="0"/>
          </a:p>
        </p:txBody>
      </p:sp>
      <p:sp>
        <p:nvSpPr>
          <p:cNvPr id="42" name="Shape 37"/>
          <p:cNvSpPr/>
          <p:nvPr/>
        </p:nvSpPr>
        <p:spPr>
          <a:xfrm>
            <a:off x="4857750" y="2600325"/>
            <a:ext cx="3657600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4972050" y="27271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44" name="Text 39"/>
          <p:cNvSpPr/>
          <p:nvPr/>
        </p:nvSpPr>
        <p:spPr>
          <a:xfrm>
            <a:off x="5434971" y="27271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45" name="Text 40"/>
          <p:cNvSpPr/>
          <p:nvPr/>
        </p:nvSpPr>
        <p:spPr>
          <a:xfrm>
            <a:off x="6052207" y="27271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endParaRPr lang="en-US" sz="1013" dirty="0"/>
          </a:p>
        </p:txBody>
      </p:sp>
      <p:sp>
        <p:nvSpPr>
          <p:cNvPr id="46" name="Text 41"/>
          <p:cNvSpPr/>
          <p:nvPr/>
        </p:nvSpPr>
        <p:spPr>
          <a:xfrm>
            <a:off x="6515128" y="27271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47" name="Text 42"/>
          <p:cNvSpPr/>
          <p:nvPr/>
        </p:nvSpPr>
        <p:spPr>
          <a:xfrm>
            <a:off x="4972050" y="2927152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n-US" sz="1013" dirty="0"/>
          </a:p>
        </p:txBody>
      </p:sp>
      <p:sp>
        <p:nvSpPr>
          <p:cNvPr id="48" name="Text 43"/>
          <p:cNvSpPr/>
          <p:nvPr/>
        </p:nvSpPr>
        <p:spPr>
          <a:xfrm>
            <a:off x="5280682" y="2927152"/>
            <a:ext cx="269464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charArray = text.toCharArray();</a:t>
            </a:r>
            <a:endParaRPr lang="en-US" sz="1013" dirty="0"/>
          </a:p>
        </p:txBody>
      </p:sp>
      <p:sp>
        <p:nvSpPr>
          <p:cNvPr id="49" name="Text 44"/>
          <p:cNvSpPr/>
          <p:nvPr/>
        </p:nvSpPr>
        <p:spPr>
          <a:xfrm>
            <a:off x="4972050" y="3127177"/>
            <a:ext cx="277180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charArray = {'J', 'a', 'v', 'a'}</a:t>
            </a:r>
            <a:endParaRPr lang="en-US" sz="1013" dirty="0"/>
          </a:p>
        </p:txBody>
      </p:sp>
      <p:sp>
        <p:nvSpPr>
          <p:cNvPr id="50" name="Shape 45"/>
          <p:cNvSpPr/>
          <p:nvPr/>
        </p:nvSpPr>
        <p:spPr>
          <a:xfrm>
            <a:off x="457200" y="3886200"/>
            <a:ext cx="8229600" cy="242887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628650" y="405765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Extracting Substrings</a:t>
            </a:r>
            <a:endParaRPr lang="en-US" sz="1350" dirty="0"/>
          </a:p>
        </p:txBody>
      </p:sp>
      <p:sp>
        <p:nvSpPr>
          <p:cNvPr id="52" name="Shape 47"/>
          <p:cNvSpPr/>
          <p:nvPr/>
        </p:nvSpPr>
        <p:spPr>
          <a:xfrm>
            <a:off x="628650" y="4400550"/>
            <a:ext cx="3857625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8"/>
          <p:cNvSpPr/>
          <p:nvPr/>
        </p:nvSpPr>
        <p:spPr>
          <a:xfrm>
            <a:off x="628650" y="440055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/>
          <p:nvPr/>
        </p:nvSpPr>
        <p:spPr>
          <a:xfrm>
            <a:off x="742950" y="4457700"/>
            <a:ext cx="38147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substring(int beginIndex)</a:t>
            </a:r>
            <a:endParaRPr lang="en-US" sz="1013" dirty="0"/>
          </a:p>
        </p:txBody>
      </p:sp>
      <p:sp>
        <p:nvSpPr>
          <p:cNvPr id="55" name="Text 50"/>
          <p:cNvSpPr/>
          <p:nvPr/>
        </p:nvSpPr>
        <p:spPr>
          <a:xfrm>
            <a:off x="742950" y="4657725"/>
            <a:ext cx="38147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substring from beginIndex to end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628650" y="5000625"/>
            <a:ext cx="3857625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742950" y="51274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58" name="Text 53"/>
          <p:cNvSpPr/>
          <p:nvPr/>
        </p:nvSpPr>
        <p:spPr>
          <a:xfrm>
            <a:off x="1205871" y="51274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59" name="Text 54"/>
          <p:cNvSpPr/>
          <p:nvPr/>
        </p:nvSpPr>
        <p:spPr>
          <a:xfrm>
            <a:off x="1823107" y="512742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endParaRPr lang="en-US" sz="1013" dirty="0"/>
          </a:p>
        </p:txBody>
      </p:sp>
      <p:sp>
        <p:nvSpPr>
          <p:cNvPr id="60" name="Text 55"/>
          <p:cNvSpPr/>
          <p:nvPr/>
        </p:nvSpPr>
        <p:spPr>
          <a:xfrm>
            <a:off x="2980423" y="51274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61" name="Text 56"/>
          <p:cNvSpPr/>
          <p:nvPr/>
        </p:nvSpPr>
        <p:spPr>
          <a:xfrm>
            <a:off x="742950" y="53274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62" name="Text 57"/>
          <p:cNvSpPr/>
          <p:nvPr/>
        </p:nvSpPr>
        <p:spPr>
          <a:xfrm>
            <a:off x="1205871" y="5327452"/>
            <a:ext cx="207740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sub1 = text.substring(7);</a:t>
            </a:r>
            <a:endParaRPr lang="en-US" sz="1013" dirty="0"/>
          </a:p>
        </p:txBody>
      </p:sp>
      <p:sp>
        <p:nvSpPr>
          <p:cNvPr id="63" name="Text 58"/>
          <p:cNvSpPr/>
          <p:nvPr/>
        </p:nvSpPr>
        <p:spPr>
          <a:xfrm>
            <a:off x="742950" y="5527477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"World!"</a:t>
            </a:r>
            <a:endParaRPr lang="en-US" sz="1013" dirty="0"/>
          </a:p>
        </p:txBody>
      </p:sp>
      <p:sp>
        <p:nvSpPr>
          <p:cNvPr id="64" name="Shape 59"/>
          <p:cNvSpPr/>
          <p:nvPr/>
        </p:nvSpPr>
        <p:spPr>
          <a:xfrm>
            <a:off x="4657725" y="4400550"/>
            <a:ext cx="3857625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0"/>
          <p:cNvSpPr/>
          <p:nvPr/>
        </p:nvSpPr>
        <p:spPr>
          <a:xfrm>
            <a:off x="4657725" y="440055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1"/>
          <p:cNvSpPr/>
          <p:nvPr/>
        </p:nvSpPr>
        <p:spPr>
          <a:xfrm>
            <a:off x="4772025" y="4457700"/>
            <a:ext cx="38147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substring(int beginIndex, int endIndex)</a:t>
            </a:r>
            <a:endParaRPr lang="en-US" sz="1013" dirty="0"/>
          </a:p>
        </p:txBody>
      </p:sp>
      <p:sp>
        <p:nvSpPr>
          <p:cNvPr id="67" name="Text 62"/>
          <p:cNvSpPr/>
          <p:nvPr/>
        </p:nvSpPr>
        <p:spPr>
          <a:xfrm>
            <a:off x="4772025" y="4657725"/>
            <a:ext cx="38147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substring from beginIndex to endIndex-1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4657725" y="5000625"/>
            <a:ext cx="3857625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4"/>
          <p:cNvSpPr/>
          <p:nvPr/>
        </p:nvSpPr>
        <p:spPr>
          <a:xfrm>
            <a:off x="4772025" y="51274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70" name="Text 65"/>
          <p:cNvSpPr/>
          <p:nvPr/>
        </p:nvSpPr>
        <p:spPr>
          <a:xfrm>
            <a:off x="5234946" y="51274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71" name="Text 66"/>
          <p:cNvSpPr/>
          <p:nvPr/>
        </p:nvSpPr>
        <p:spPr>
          <a:xfrm>
            <a:off x="5852182" y="512742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endParaRPr lang="en-US" sz="1013" dirty="0"/>
          </a:p>
        </p:txBody>
      </p:sp>
      <p:sp>
        <p:nvSpPr>
          <p:cNvPr id="72" name="Text 67"/>
          <p:cNvSpPr/>
          <p:nvPr/>
        </p:nvSpPr>
        <p:spPr>
          <a:xfrm>
            <a:off x="7009498" y="51274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73" name="Text 68"/>
          <p:cNvSpPr/>
          <p:nvPr/>
        </p:nvSpPr>
        <p:spPr>
          <a:xfrm>
            <a:off x="4772025" y="53274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74" name="Text 69"/>
          <p:cNvSpPr/>
          <p:nvPr/>
        </p:nvSpPr>
        <p:spPr>
          <a:xfrm>
            <a:off x="5234946" y="5327452"/>
            <a:ext cx="230888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sub2 = text.substring(0, 5);</a:t>
            </a:r>
            <a:endParaRPr lang="en-US" sz="1013" dirty="0"/>
          </a:p>
        </p:txBody>
      </p:sp>
      <p:sp>
        <p:nvSpPr>
          <p:cNvPr id="75" name="Text 70"/>
          <p:cNvSpPr/>
          <p:nvPr/>
        </p:nvSpPr>
        <p:spPr>
          <a:xfrm>
            <a:off x="4772025" y="5527477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"Hello"</a:t>
            </a:r>
            <a:endParaRPr lang="en-US" sz="1013" dirty="0"/>
          </a:p>
        </p:txBody>
      </p:sp>
      <p:pic>
        <p:nvPicPr>
          <p:cNvPr id="7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5957888"/>
            <a:ext cx="171450" cy="171450"/>
          </a:xfrm>
          <a:prstGeom prst="rect">
            <a:avLst/>
          </a:prstGeom>
        </p:spPr>
      </p:pic>
      <p:sp>
        <p:nvSpPr>
          <p:cNvPr id="77" name="Text 71"/>
          <p:cNvSpPr/>
          <p:nvPr/>
        </p:nvSpPr>
        <p:spPr>
          <a:xfrm>
            <a:off x="914400" y="5943600"/>
            <a:ext cx="6594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substring methods create new String objects (remember immutability). The original String remains unchanged.</a:t>
            </a:r>
            <a:endParaRPr lang="en-US" sz="101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9724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5829300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2543231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Comparison: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2928993" y="455414"/>
            <a:ext cx="1786775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equals() vs ==</a:t>
            </a:r>
            <a:endParaRPr lang="en-US" sz="2025" dirty="0"/>
          </a:p>
        </p:txBody>
      </p:sp>
      <p:sp>
        <p:nvSpPr>
          <p:cNvPr id="6" name="Shape 2"/>
          <p:cNvSpPr/>
          <p:nvPr/>
        </p:nvSpPr>
        <p:spPr>
          <a:xfrm>
            <a:off x="457200" y="971550"/>
            <a:ext cx="4000500" cy="40576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Comparison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286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286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429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equals(Object obj)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7429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Compares the content (characters) of strings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8650" y="2085975"/>
            <a:ext cx="3657600" cy="14287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42950" y="22127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1205871" y="22127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=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1668791" y="221277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2208870" y="221277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17" name="Text 13"/>
          <p:cNvSpPr/>
          <p:nvPr/>
        </p:nvSpPr>
        <p:spPr>
          <a:xfrm>
            <a:off x="742950" y="24128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1205871" y="24128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=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1668791" y="241280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20" name="Text 16"/>
          <p:cNvSpPr/>
          <p:nvPr/>
        </p:nvSpPr>
        <p:spPr>
          <a:xfrm>
            <a:off x="2208870" y="24128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21" name="Text 17"/>
          <p:cNvSpPr/>
          <p:nvPr/>
        </p:nvSpPr>
        <p:spPr>
          <a:xfrm>
            <a:off x="742950" y="26128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22" name="Text 18"/>
          <p:cNvSpPr/>
          <p:nvPr/>
        </p:nvSpPr>
        <p:spPr>
          <a:xfrm>
            <a:off x="1205871" y="26128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=</a:t>
            </a:r>
            <a:endParaRPr lang="en-US" sz="1013" dirty="0"/>
          </a:p>
        </p:txBody>
      </p:sp>
      <p:sp>
        <p:nvSpPr>
          <p:cNvPr id="23" name="Text 19"/>
          <p:cNvSpPr/>
          <p:nvPr/>
        </p:nvSpPr>
        <p:spPr>
          <a:xfrm>
            <a:off x="1668791" y="261282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013" dirty="0"/>
          </a:p>
        </p:txBody>
      </p:sp>
      <p:sp>
        <p:nvSpPr>
          <p:cNvPr id="24" name="Text 20"/>
          <p:cNvSpPr/>
          <p:nvPr/>
        </p:nvSpPr>
        <p:spPr>
          <a:xfrm>
            <a:off x="1977423" y="26128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25" name="Text 21"/>
          <p:cNvSpPr/>
          <p:nvPr/>
        </p:nvSpPr>
        <p:spPr>
          <a:xfrm>
            <a:off x="2440344" y="26128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13" dirty="0"/>
          </a:p>
        </p:txBody>
      </p:sp>
      <p:sp>
        <p:nvSpPr>
          <p:cNvPr id="26" name="Text 22"/>
          <p:cNvSpPr/>
          <p:nvPr/>
        </p:nvSpPr>
        <p:spPr>
          <a:xfrm>
            <a:off x="2517502" y="261282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27" name="Text 23"/>
          <p:cNvSpPr/>
          <p:nvPr/>
        </p:nvSpPr>
        <p:spPr>
          <a:xfrm>
            <a:off x="3057581" y="261282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28" name="Text 24"/>
          <p:cNvSpPr/>
          <p:nvPr/>
        </p:nvSpPr>
        <p:spPr>
          <a:xfrm>
            <a:off x="742950" y="301287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s1.equals(s2);</a:t>
            </a:r>
            <a:endParaRPr lang="en-US" sz="1013" dirty="0"/>
          </a:p>
        </p:txBody>
      </p:sp>
      <p:sp>
        <p:nvSpPr>
          <p:cNvPr id="29" name="Text 25"/>
          <p:cNvSpPr/>
          <p:nvPr/>
        </p:nvSpPr>
        <p:spPr>
          <a:xfrm>
            <a:off x="1900265" y="301287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1013" dirty="0"/>
          </a:p>
        </p:txBody>
      </p:sp>
      <p:sp>
        <p:nvSpPr>
          <p:cNvPr id="30" name="Text 26"/>
          <p:cNvSpPr/>
          <p:nvPr/>
        </p:nvSpPr>
        <p:spPr>
          <a:xfrm>
            <a:off x="742950" y="3212902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s1.equals(s3);</a:t>
            </a:r>
            <a:endParaRPr lang="en-US" sz="1013" dirty="0"/>
          </a:p>
        </p:txBody>
      </p:sp>
      <p:sp>
        <p:nvSpPr>
          <p:cNvPr id="31" name="Text 27"/>
          <p:cNvSpPr/>
          <p:nvPr/>
        </p:nvSpPr>
        <p:spPr>
          <a:xfrm>
            <a:off x="1900265" y="321290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1013" dirty="0"/>
          </a:p>
        </p:txBody>
      </p:sp>
      <p:sp>
        <p:nvSpPr>
          <p:cNvPr id="32" name="Shape 28"/>
          <p:cNvSpPr/>
          <p:nvPr/>
        </p:nvSpPr>
        <p:spPr>
          <a:xfrm>
            <a:off x="628650" y="3629025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628650" y="3629025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742950" y="368617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equalsIgnoreCase(String str)</a:t>
            </a:r>
            <a:endParaRPr lang="en-US" sz="1013" dirty="0"/>
          </a:p>
        </p:txBody>
      </p:sp>
      <p:sp>
        <p:nvSpPr>
          <p:cNvPr id="35" name="Text 31"/>
          <p:cNvSpPr/>
          <p:nvPr/>
        </p:nvSpPr>
        <p:spPr>
          <a:xfrm>
            <a:off x="742950" y="3886200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Case-insensitive content comparison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28650" y="4229100"/>
            <a:ext cx="3657600" cy="6286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742950" y="435590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38" name="Text 34"/>
          <p:cNvSpPr/>
          <p:nvPr/>
        </p:nvSpPr>
        <p:spPr>
          <a:xfrm>
            <a:off x="1283029" y="4355902"/>
            <a:ext cx="146019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.equalsIgnoreCase(</a:t>
            </a:r>
            <a:endParaRPr lang="en-US" sz="1013" dirty="0"/>
          </a:p>
        </p:txBody>
      </p:sp>
      <p:sp>
        <p:nvSpPr>
          <p:cNvPr id="39" name="Text 35"/>
          <p:cNvSpPr/>
          <p:nvPr/>
        </p:nvSpPr>
        <p:spPr>
          <a:xfrm>
            <a:off x="2671790" y="435590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40" name="Text 36"/>
          <p:cNvSpPr/>
          <p:nvPr/>
        </p:nvSpPr>
        <p:spPr>
          <a:xfrm>
            <a:off x="3211869" y="43559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41" name="Text 37"/>
          <p:cNvSpPr/>
          <p:nvPr/>
        </p:nvSpPr>
        <p:spPr>
          <a:xfrm>
            <a:off x="3443343" y="435590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1013" dirty="0"/>
          </a:p>
        </p:txBody>
      </p:sp>
      <p:sp>
        <p:nvSpPr>
          <p:cNvPr id="42" name="Text 38"/>
          <p:cNvSpPr/>
          <p:nvPr/>
        </p:nvSpPr>
        <p:spPr>
          <a:xfrm>
            <a:off x="742950" y="455592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43" name="Text 39"/>
          <p:cNvSpPr/>
          <p:nvPr/>
        </p:nvSpPr>
        <p:spPr>
          <a:xfrm>
            <a:off x="1283029" y="45559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.equals(</a:t>
            </a:r>
            <a:endParaRPr lang="en-US" sz="1013" dirty="0"/>
          </a:p>
        </p:txBody>
      </p:sp>
      <p:sp>
        <p:nvSpPr>
          <p:cNvPr id="44" name="Text 40"/>
          <p:cNvSpPr/>
          <p:nvPr/>
        </p:nvSpPr>
        <p:spPr>
          <a:xfrm>
            <a:off x="1900265" y="455592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45" name="Text 41"/>
          <p:cNvSpPr/>
          <p:nvPr/>
        </p:nvSpPr>
        <p:spPr>
          <a:xfrm>
            <a:off x="2440344" y="455592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46" name="Text 42"/>
          <p:cNvSpPr/>
          <p:nvPr/>
        </p:nvSpPr>
        <p:spPr>
          <a:xfrm>
            <a:off x="2671818" y="45559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</a:t>
            </a:r>
            <a:endParaRPr lang="en-US" sz="1013" dirty="0"/>
          </a:p>
        </p:txBody>
      </p:sp>
      <p:sp>
        <p:nvSpPr>
          <p:cNvPr id="47" name="Shape 43"/>
          <p:cNvSpPr/>
          <p:nvPr/>
        </p:nvSpPr>
        <p:spPr>
          <a:xfrm>
            <a:off x="4686300" y="971550"/>
            <a:ext cx="4000500" cy="40576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Comparison</a:t>
            </a:r>
            <a:endParaRPr lang="en-US" sz="1350" dirty="0"/>
          </a:p>
        </p:txBody>
      </p:sp>
      <p:sp>
        <p:nvSpPr>
          <p:cNvPr id="49" name="Shape 45"/>
          <p:cNvSpPr/>
          <p:nvPr/>
        </p:nvSpPr>
        <p:spPr>
          <a:xfrm>
            <a:off x="48577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48577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49720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 Operator</a:t>
            </a:r>
            <a:endParaRPr lang="en-US" sz="1013" dirty="0"/>
          </a:p>
        </p:txBody>
      </p:sp>
      <p:sp>
        <p:nvSpPr>
          <p:cNvPr id="52" name="Text 48"/>
          <p:cNvSpPr/>
          <p:nvPr/>
        </p:nvSpPr>
        <p:spPr>
          <a:xfrm>
            <a:off x="49720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Compares object references (memory addresses)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4857750" y="2085975"/>
            <a:ext cx="3657600" cy="16287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4972050" y="22127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55" name="Text 51"/>
          <p:cNvSpPr/>
          <p:nvPr/>
        </p:nvSpPr>
        <p:spPr>
          <a:xfrm>
            <a:off x="5434971" y="22127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=</a:t>
            </a:r>
            <a:endParaRPr lang="en-US" sz="1013" dirty="0"/>
          </a:p>
        </p:txBody>
      </p:sp>
      <p:sp>
        <p:nvSpPr>
          <p:cNvPr id="56" name="Text 52"/>
          <p:cNvSpPr/>
          <p:nvPr/>
        </p:nvSpPr>
        <p:spPr>
          <a:xfrm>
            <a:off x="5897891" y="221277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57" name="Text 53"/>
          <p:cNvSpPr/>
          <p:nvPr/>
        </p:nvSpPr>
        <p:spPr>
          <a:xfrm>
            <a:off x="6437970" y="221277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58" name="Text 54"/>
          <p:cNvSpPr/>
          <p:nvPr/>
        </p:nvSpPr>
        <p:spPr>
          <a:xfrm>
            <a:off x="4972050" y="24128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59" name="Text 55"/>
          <p:cNvSpPr/>
          <p:nvPr/>
        </p:nvSpPr>
        <p:spPr>
          <a:xfrm>
            <a:off x="5434971" y="24128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=</a:t>
            </a:r>
            <a:endParaRPr lang="en-US" sz="1013" dirty="0"/>
          </a:p>
        </p:txBody>
      </p:sp>
      <p:sp>
        <p:nvSpPr>
          <p:cNvPr id="60" name="Text 56"/>
          <p:cNvSpPr/>
          <p:nvPr/>
        </p:nvSpPr>
        <p:spPr>
          <a:xfrm>
            <a:off x="5897891" y="241280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61" name="Text 57"/>
          <p:cNvSpPr/>
          <p:nvPr/>
        </p:nvSpPr>
        <p:spPr>
          <a:xfrm>
            <a:off x="6437970" y="24128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62" name="Text 58"/>
          <p:cNvSpPr/>
          <p:nvPr/>
        </p:nvSpPr>
        <p:spPr>
          <a:xfrm>
            <a:off x="4972050" y="26128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63" name="Text 59"/>
          <p:cNvSpPr/>
          <p:nvPr/>
        </p:nvSpPr>
        <p:spPr>
          <a:xfrm>
            <a:off x="5434971" y="26128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=</a:t>
            </a:r>
            <a:endParaRPr lang="en-US" sz="1013" dirty="0"/>
          </a:p>
        </p:txBody>
      </p:sp>
      <p:sp>
        <p:nvSpPr>
          <p:cNvPr id="64" name="Text 60"/>
          <p:cNvSpPr/>
          <p:nvPr/>
        </p:nvSpPr>
        <p:spPr>
          <a:xfrm>
            <a:off x="5897891" y="261282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013" dirty="0"/>
          </a:p>
        </p:txBody>
      </p:sp>
      <p:sp>
        <p:nvSpPr>
          <p:cNvPr id="65" name="Text 61"/>
          <p:cNvSpPr/>
          <p:nvPr/>
        </p:nvSpPr>
        <p:spPr>
          <a:xfrm>
            <a:off x="6206523" y="26128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66" name="Text 62"/>
          <p:cNvSpPr/>
          <p:nvPr/>
        </p:nvSpPr>
        <p:spPr>
          <a:xfrm>
            <a:off x="6669444" y="26128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13" dirty="0"/>
          </a:p>
        </p:txBody>
      </p:sp>
      <p:sp>
        <p:nvSpPr>
          <p:cNvPr id="67" name="Text 63"/>
          <p:cNvSpPr/>
          <p:nvPr/>
        </p:nvSpPr>
        <p:spPr>
          <a:xfrm>
            <a:off x="6746602" y="261282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68" name="Text 64"/>
          <p:cNvSpPr/>
          <p:nvPr/>
        </p:nvSpPr>
        <p:spPr>
          <a:xfrm>
            <a:off x="7286681" y="261282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69" name="Text 65"/>
          <p:cNvSpPr/>
          <p:nvPr/>
        </p:nvSpPr>
        <p:spPr>
          <a:xfrm>
            <a:off x="4972050" y="3012877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== s2;</a:t>
            </a:r>
            <a:endParaRPr lang="en-US" sz="1013" dirty="0"/>
          </a:p>
        </p:txBody>
      </p:sp>
      <p:sp>
        <p:nvSpPr>
          <p:cNvPr id="70" name="Text 66"/>
          <p:cNvSpPr/>
          <p:nvPr/>
        </p:nvSpPr>
        <p:spPr>
          <a:xfrm>
            <a:off x="4972050" y="3012877"/>
            <a:ext cx="3389040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(same reference in String Pool)</a:t>
            </a:r>
            <a:endParaRPr lang="en-US" sz="1013" dirty="0"/>
          </a:p>
        </p:txBody>
      </p:sp>
      <p:sp>
        <p:nvSpPr>
          <p:cNvPr id="71" name="Text 67"/>
          <p:cNvSpPr/>
          <p:nvPr/>
        </p:nvSpPr>
        <p:spPr>
          <a:xfrm>
            <a:off x="4972050" y="3412927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== s3;</a:t>
            </a:r>
            <a:endParaRPr lang="en-US" sz="1013" dirty="0"/>
          </a:p>
        </p:txBody>
      </p:sp>
      <p:sp>
        <p:nvSpPr>
          <p:cNvPr id="72" name="Text 68"/>
          <p:cNvSpPr/>
          <p:nvPr/>
        </p:nvSpPr>
        <p:spPr>
          <a:xfrm>
            <a:off x="5743603" y="3412927"/>
            <a:ext cx="246317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 (different references)</a:t>
            </a:r>
            <a:endParaRPr lang="en-US" sz="1013" dirty="0"/>
          </a:p>
        </p:txBody>
      </p:sp>
      <p:sp>
        <p:nvSpPr>
          <p:cNvPr id="73" name="Shape 69"/>
          <p:cNvSpPr/>
          <p:nvPr/>
        </p:nvSpPr>
        <p:spPr>
          <a:xfrm>
            <a:off x="4857750" y="3829050"/>
            <a:ext cx="3657600" cy="314325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475" y="3929063"/>
            <a:ext cx="114300" cy="114300"/>
          </a:xfrm>
          <a:prstGeom prst="rect">
            <a:avLst/>
          </a:prstGeom>
        </p:spPr>
      </p:pic>
      <p:sp>
        <p:nvSpPr>
          <p:cNvPr id="75" name="Text 70"/>
          <p:cNvSpPr/>
          <p:nvPr/>
        </p:nvSpPr>
        <p:spPr>
          <a:xfrm>
            <a:off x="5114925" y="3914775"/>
            <a:ext cx="221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use == to compare String content in Java!</a:t>
            </a:r>
            <a:endParaRPr lang="en-US" sz="788" dirty="0"/>
          </a:p>
        </p:txBody>
      </p:sp>
      <p:sp>
        <p:nvSpPr>
          <p:cNvPr id="76" name="Shape 71"/>
          <p:cNvSpPr/>
          <p:nvPr/>
        </p:nvSpPr>
        <p:spPr>
          <a:xfrm>
            <a:off x="457200" y="5257800"/>
            <a:ext cx="8229600" cy="225742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2"/>
          <p:cNvSpPr/>
          <p:nvPr/>
        </p:nvSpPr>
        <p:spPr>
          <a:xfrm>
            <a:off x="628650" y="542925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 Summary</a:t>
            </a:r>
            <a:endParaRPr lang="en-US" sz="1350" dirty="0"/>
          </a:p>
        </p:txBody>
      </p:sp>
      <p:sp>
        <p:nvSpPr>
          <p:cNvPr id="78" name="Shape 73"/>
          <p:cNvSpPr/>
          <p:nvPr/>
        </p:nvSpPr>
        <p:spPr>
          <a:xfrm>
            <a:off x="628650" y="5772150"/>
            <a:ext cx="7886700" cy="314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4"/>
          <p:cNvSpPr/>
          <p:nvPr/>
        </p:nvSpPr>
        <p:spPr>
          <a:xfrm>
            <a:off x="628650" y="5772150"/>
            <a:ext cx="2687194" cy="314325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5"/>
          <p:cNvSpPr/>
          <p:nvPr/>
        </p:nvSpPr>
        <p:spPr>
          <a:xfrm>
            <a:off x="628650" y="5772150"/>
            <a:ext cx="2758632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900" dirty="0"/>
          </a:p>
        </p:txBody>
      </p:sp>
      <p:sp>
        <p:nvSpPr>
          <p:cNvPr id="81" name="Shape 76"/>
          <p:cNvSpPr/>
          <p:nvPr/>
        </p:nvSpPr>
        <p:spPr>
          <a:xfrm>
            <a:off x="3315844" y="5772150"/>
            <a:ext cx="3073738" cy="314325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7"/>
          <p:cNvSpPr/>
          <p:nvPr/>
        </p:nvSpPr>
        <p:spPr>
          <a:xfrm>
            <a:off x="3315844" y="5772150"/>
            <a:ext cx="3145175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equals()</a:t>
            </a:r>
            <a:endParaRPr lang="en-US" sz="900" dirty="0"/>
          </a:p>
        </p:txBody>
      </p:sp>
      <p:sp>
        <p:nvSpPr>
          <p:cNvPr id="83" name="Shape 78"/>
          <p:cNvSpPr/>
          <p:nvPr/>
        </p:nvSpPr>
        <p:spPr>
          <a:xfrm>
            <a:off x="6389582" y="5772150"/>
            <a:ext cx="2125768" cy="314325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9"/>
          <p:cNvSpPr/>
          <p:nvPr/>
        </p:nvSpPr>
        <p:spPr>
          <a:xfrm>
            <a:off x="6389582" y="5772150"/>
            <a:ext cx="2197205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 Operator</a:t>
            </a:r>
            <a:endParaRPr lang="en-US" sz="900" dirty="0"/>
          </a:p>
        </p:txBody>
      </p:sp>
      <p:sp>
        <p:nvSpPr>
          <p:cNvPr id="85" name="Shape 80"/>
          <p:cNvSpPr/>
          <p:nvPr/>
        </p:nvSpPr>
        <p:spPr>
          <a:xfrm>
            <a:off x="628650" y="6086475"/>
            <a:ext cx="7886700" cy="314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1"/>
          <p:cNvSpPr/>
          <p:nvPr/>
        </p:nvSpPr>
        <p:spPr>
          <a:xfrm>
            <a:off x="628650" y="6086475"/>
            <a:ext cx="2758632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Compares</a:t>
            </a:r>
            <a:endParaRPr lang="en-US" sz="900" dirty="0"/>
          </a:p>
        </p:txBody>
      </p:sp>
      <p:sp>
        <p:nvSpPr>
          <p:cNvPr id="87" name="Text 82"/>
          <p:cNvSpPr/>
          <p:nvPr/>
        </p:nvSpPr>
        <p:spPr>
          <a:xfrm>
            <a:off x="3315844" y="6086475"/>
            <a:ext cx="3145175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(character sequence)</a:t>
            </a:r>
            <a:endParaRPr lang="en-US" sz="900" dirty="0"/>
          </a:p>
        </p:txBody>
      </p:sp>
      <p:sp>
        <p:nvSpPr>
          <p:cNvPr id="88" name="Text 83"/>
          <p:cNvSpPr/>
          <p:nvPr/>
        </p:nvSpPr>
        <p:spPr>
          <a:xfrm>
            <a:off x="6389582" y="6086475"/>
            <a:ext cx="2197205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references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628650" y="6400800"/>
            <a:ext cx="7886700" cy="31432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5"/>
          <p:cNvSpPr/>
          <p:nvPr/>
        </p:nvSpPr>
        <p:spPr>
          <a:xfrm>
            <a:off x="628650" y="6400800"/>
            <a:ext cx="2758632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for String comparison</a:t>
            </a:r>
            <a:endParaRPr lang="en-US" sz="900" dirty="0"/>
          </a:p>
        </p:txBody>
      </p:sp>
      <p:pic>
        <p:nvPicPr>
          <p:cNvPr id="9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7282" y="6497241"/>
            <a:ext cx="114300" cy="114300"/>
          </a:xfrm>
          <a:prstGeom prst="rect">
            <a:avLst/>
          </a:prstGeom>
        </p:spPr>
      </p:pic>
      <p:sp>
        <p:nvSpPr>
          <p:cNvPr id="92" name="Text 86"/>
          <p:cNvSpPr/>
          <p:nvPr/>
        </p:nvSpPr>
        <p:spPr>
          <a:xfrm>
            <a:off x="3501582" y="6493669"/>
            <a:ext cx="8782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</a:t>
            </a:r>
            <a:endParaRPr lang="en-US" sz="900" dirty="0"/>
          </a:p>
        </p:txBody>
      </p:sp>
      <p:pic>
        <p:nvPicPr>
          <p:cNvPr id="9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020" y="6497241"/>
            <a:ext cx="114300" cy="114300"/>
          </a:xfrm>
          <a:prstGeom prst="rect">
            <a:avLst/>
          </a:prstGeom>
        </p:spPr>
      </p:pic>
      <p:sp>
        <p:nvSpPr>
          <p:cNvPr id="94" name="Text 87"/>
          <p:cNvSpPr/>
          <p:nvPr/>
        </p:nvSpPr>
        <p:spPr>
          <a:xfrm>
            <a:off x="6575320" y="6493669"/>
            <a:ext cx="10434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recommended</a:t>
            </a:r>
            <a:endParaRPr lang="en-US" sz="900" dirty="0"/>
          </a:p>
        </p:txBody>
      </p:sp>
      <p:sp>
        <p:nvSpPr>
          <p:cNvPr id="95" name="Shape 88"/>
          <p:cNvSpPr/>
          <p:nvPr/>
        </p:nvSpPr>
        <p:spPr>
          <a:xfrm>
            <a:off x="628650" y="6715125"/>
            <a:ext cx="7886700" cy="314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89"/>
          <p:cNvSpPr/>
          <p:nvPr/>
        </p:nvSpPr>
        <p:spPr>
          <a:xfrm>
            <a:off x="628650" y="6715125"/>
            <a:ext cx="2758632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String Pool optimization</a:t>
            </a:r>
            <a:endParaRPr lang="en-US" sz="900" dirty="0"/>
          </a:p>
        </p:txBody>
      </p:sp>
      <p:pic>
        <p:nvPicPr>
          <p:cNvPr id="9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7282" y="6811566"/>
            <a:ext cx="114300" cy="114300"/>
          </a:xfrm>
          <a:prstGeom prst="rect">
            <a:avLst/>
          </a:prstGeom>
        </p:spPr>
      </p:pic>
      <p:sp>
        <p:nvSpPr>
          <p:cNvPr id="98" name="Text 90"/>
          <p:cNvSpPr/>
          <p:nvPr/>
        </p:nvSpPr>
        <p:spPr>
          <a:xfrm>
            <a:off x="3501582" y="6807994"/>
            <a:ext cx="2875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00" dirty="0"/>
          </a:p>
        </p:txBody>
      </p:sp>
      <p:pic>
        <p:nvPicPr>
          <p:cNvPr id="9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020" y="6811566"/>
            <a:ext cx="114300" cy="114300"/>
          </a:xfrm>
          <a:prstGeom prst="rect">
            <a:avLst/>
          </a:prstGeom>
        </p:spPr>
      </p:pic>
      <p:sp>
        <p:nvSpPr>
          <p:cNvPr id="100" name="Text 91"/>
          <p:cNvSpPr/>
          <p:nvPr/>
        </p:nvSpPr>
        <p:spPr>
          <a:xfrm>
            <a:off x="6575320" y="6807994"/>
            <a:ext cx="117687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Unpredictable results</a:t>
            </a:r>
            <a:endParaRPr lang="en-US" sz="900" dirty="0"/>
          </a:p>
        </p:txBody>
      </p:sp>
      <p:sp>
        <p:nvSpPr>
          <p:cNvPr id="101" name="Shape 92"/>
          <p:cNvSpPr/>
          <p:nvPr/>
        </p:nvSpPr>
        <p:spPr>
          <a:xfrm>
            <a:off x="628650" y="7029450"/>
            <a:ext cx="7886700" cy="31432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3"/>
          <p:cNvSpPr/>
          <p:nvPr/>
        </p:nvSpPr>
        <p:spPr>
          <a:xfrm>
            <a:off x="628650" y="7029450"/>
            <a:ext cx="2758632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Null safety</a:t>
            </a:r>
            <a:endParaRPr lang="en-US" sz="900" dirty="0"/>
          </a:p>
        </p:txBody>
      </p:sp>
      <p:pic>
        <p:nvPicPr>
          <p:cNvPr id="10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7282" y="7125891"/>
            <a:ext cx="114300" cy="114300"/>
          </a:xfrm>
          <a:prstGeom prst="rect">
            <a:avLst/>
          </a:prstGeom>
        </p:spPr>
      </p:pic>
      <p:sp>
        <p:nvSpPr>
          <p:cNvPr id="104" name="Text 94"/>
          <p:cNvSpPr/>
          <p:nvPr/>
        </p:nvSpPr>
        <p:spPr>
          <a:xfrm>
            <a:off x="3501582" y="7122319"/>
            <a:ext cx="1867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Throws NullPointerException if null</a:t>
            </a:r>
            <a:endParaRPr lang="en-US" sz="900" dirty="0"/>
          </a:p>
        </p:txBody>
      </p:sp>
      <p:pic>
        <p:nvPicPr>
          <p:cNvPr id="10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1020" y="7125891"/>
            <a:ext cx="114300" cy="114300"/>
          </a:xfrm>
          <a:prstGeom prst="rect">
            <a:avLst/>
          </a:prstGeom>
        </p:spPr>
      </p:pic>
      <p:sp>
        <p:nvSpPr>
          <p:cNvPr id="106" name="Text 95"/>
          <p:cNvSpPr/>
          <p:nvPr/>
        </p:nvSpPr>
        <p:spPr>
          <a:xfrm>
            <a:off x="6575320" y="7122319"/>
            <a:ext cx="12340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compare with null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1438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6000750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2543231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Comparison: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2928993" y="455414"/>
            <a:ext cx="1609855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compareTo()</a:t>
            </a:r>
            <a:endParaRPr lang="en-US" sz="2025" dirty="0"/>
          </a:p>
        </p:txBody>
      </p:sp>
      <p:sp>
        <p:nvSpPr>
          <p:cNvPr id="6" name="Shape 2"/>
          <p:cNvSpPr/>
          <p:nvPr/>
        </p:nvSpPr>
        <p:spPr>
          <a:xfrm>
            <a:off x="457200" y="971550"/>
            <a:ext cx="4000500" cy="311467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Lexicographical Comparison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286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286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429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compareTo(String anotherString)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7429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Compares strings lexicographically (dictionary order)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8650" y="2085975"/>
            <a:ext cx="3657600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42950" y="221277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1283029" y="2212777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.compareTo(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2131712" y="221277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"banana"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2748948" y="22127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17" name="Text 13"/>
          <p:cNvSpPr/>
          <p:nvPr/>
        </p:nvSpPr>
        <p:spPr>
          <a:xfrm>
            <a:off x="2980423" y="2212777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negative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742950" y="2412802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"banana"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1360187" y="241280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.compareTo(</a:t>
            </a:r>
            <a:endParaRPr lang="en-US" sz="1013" dirty="0"/>
          </a:p>
        </p:txBody>
      </p:sp>
      <p:sp>
        <p:nvSpPr>
          <p:cNvPr id="20" name="Text 16"/>
          <p:cNvSpPr/>
          <p:nvPr/>
        </p:nvSpPr>
        <p:spPr>
          <a:xfrm>
            <a:off x="2208870" y="241280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endParaRPr lang="en-US" sz="1013" dirty="0"/>
          </a:p>
        </p:txBody>
      </p:sp>
      <p:sp>
        <p:nvSpPr>
          <p:cNvPr id="21" name="Text 17"/>
          <p:cNvSpPr/>
          <p:nvPr/>
        </p:nvSpPr>
        <p:spPr>
          <a:xfrm>
            <a:off x="2748948" y="24128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22" name="Text 18"/>
          <p:cNvSpPr/>
          <p:nvPr/>
        </p:nvSpPr>
        <p:spPr>
          <a:xfrm>
            <a:off x="2980423" y="241280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positive</a:t>
            </a:r>
            <a:endParaRPr lang="en-US" sz="1013" dirty="0"/>
          </a:p>
        </p:txBody>
      </p:sp>
      <p:sp>
        <p:nvSpPr>
          <p:cNvPr id="23" name="Text 19"/>
          <p:cNvSpPr/>
          <p:nvPr/>
        </p:nvSpPr>
        <p:spPr>
          <a:xfrm>
            <a:off x="742950" y="261282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endParaRPr lang="en-US" sz="1013" dirty="0"/>
          </a:p>
        </p:txBody>
      </p:sp>
      <p:sp>
        <p:nvSpPr>
          <p:cNvPr id="24" name="Text 20"/>
          <p:cNvSpPr/>
          <p:nvPr/>
        </p:nvSpPr>
        <p:spPr>
          <a:xfrm>
            <a:off x="1283029" y="2612827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.compareTo(</a:t>
            </a:r>
            <a:endParaRPr lang="en-US" sz="1013" dirty="0"/>
          </a:p>
        </p:txBody>
      </p:sp>
      <p:sp>
        <p:nvSpPr>
          <p:cNvPr id="25" name="Text 21"/>
          <p:cNvSpPr/>
          <p:nvPr/>
        </p:nvSpPr>
        <p:spPr>
          <a:xfrm>
            <a:off x="2131712" y="261282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endParaRPr lang="en-US" sz="1013" dirty="0"/>
          </a:p>
        </p:txBody>
      </p:sp>
      <p:sp>
        <p:nvSpPr>
          <p:cNvPr id="26" name="Text 22"/>
          <p:cNvSpPr/>
          <p:nvPr/>
        </p:nvSpPr>
        <p:spPr>
          <a:xfrm>
            <a:off x="2671790" y="261282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27" name="Text 23"/>
          <p:cNvSpPr/>
          <p:nvPr/>
        </p:nvSpPr>
        <p:spPr>
          <a:xfrm>
            <a:off x="2903265" y="2612827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</a:t>
            </a:r>
            <a:endParaRPr lang="en-US" sz="1013" dirty="0"/>
          </a:p>
        </p:txBody>
      </p:sp>
      <p:sp>
        <p:nvSpPr>
          <p:cNvPr id="28" name="Shape 24"/>
          <p:cNvSpPr/>
          <p:nvPr/>
        </p:nvSpPr>
        <p:spPr>
          <a:xfrm>
            <a:off x="628650" y="3028950"/>
            <a:ext cx="3657600" cy="88582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414713"/>
            <a:ext cx="114300" cy="1143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85825" y="3328988"/>
            <a:ext cx="17242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an integer value indicating the relationship:</a:t>
            </a:r>
            <a:endParaRPr lang="en-US" sz="788" dirty="0"/>
          </a:p>
        </p:txBody>
      </p:sp>
      <p:sp>
        <p:nvSpPr>
          <p:cNvPr id="31" name="Text 26"/>
          <p:cNvSpPr/>
          <p:nvPr/>
        </p:nvSpPr>
        <p:spPr>
          <a:xfrm>
            <a:off x="2652926" y="3114675"/>
            <a:ext cx="16190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Negative: this string comes before the argument</a:t>
            </a:r>
            <a:endParaRPr lang="en-US" sz="788" dirty="0"/>
          </a:p>
        </p:txBody>
      </p:sp>
      <p:sp>
        <p:nvSpPr>
          <p:cNvPr id="32" name="Text 27"/>
          <p:cNvSpPr/>
          <p:nvPr/>
        </p:nvSpPr>
        <p:spPr>
          <a:xfrm>
            <a:off x="2652926" y="3400425"/>
            <a:ext cx="16190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Zero: strings are equal</a:t>
            </a:r>
            <a:endParaRPr lang="en-US" sz="788" dirty="0"/>
          </a:p>
        </p:txBody>
      </p:sp>
      <p:sp>
        <p:nvSpPr>
          <p:cNvPr id="33" name="Text 28"/>
          <p:cNvSpPr/>
          <p:nvPr/>
        </p:nvSpPr>
        <p:spPr>
          <a:xfrm>
            <a:off x="2652926" y="3543300"/>
            <a:ext cx="16190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Positive: this string comes after the argument</a:t>
            </a:r>
            <a:endParaRPr lang="en-US" sz="788" dirty="0"/>
          </a:p>
        </p:txBody>
      </p:sp>
      <p:sp>
        <p:nvSpPr>
          <p:cNvPr id="34" name="Shape 29"/>
          <p:cNvSpPr/>
          <p:nvPr/>
        </p:nvSpPr>
        <p:spPr>
          <a:xfrm>
            <a:off x="4686300" y="971550"/>
            <a:ext cx="4000500" cy="311467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Case-Insensitive Comparison</a:t>
            </a:r>
            <a:endParaRPr lang="en-US" sz="1350" dirty="0"/>
          </a:p>
        </p:txBody>
      </p:sp>
      <p:sp>
        <p:nvSpPr>
          <p:cNvPr id="36" name="Shape 31"/>
          <p:cNvSpPr/>
          <p:nvPr/>
        </p:nvSpPr>
        <p:spPr>
          <a:xfrm>
            <a:off x="48577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48577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49720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compareToIgnoreCase(String str)</a:t>
            </a:r>
            <a:endParaRPr lang="en-US" sz="1013" dirty="0"/>
          </a:p>
        </p:txBody>
      </p:sp>
      <p:sp>
        <p:nvSpPr>
          <p:cNvPr id="39" name="Text 34"/>
          <p:cNvSpPr/>
          <p:nvPr/>
        </p:nvSpPr>
        <p:spPr>
          <a:xfrm>
            <a:off x="49720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Case-insensitive lexicographical comparison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4857750" y="2085975"/>
            <a:ext cx="3657600" cy="10287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4972050" y="221277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endParaRPr lang="en-US" sz="1013" dirty="0"/>
          </a:p>
        </p:txBody>
      </p:sp>
      <p:sp>
        <p:nvSpPr>
          <p:cNvPr id="42" name="Text 37"/>
          <p:cNvSpPr/>
          <p:nvPr/>
        </p:nvSpPr>
        <p:spPr>
          <a:xfrm>
            <a:off x="5512129" y="2212777"/>
            <a:ext cx="169164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.compareToIgnoreCase(</a:t>
            </a:r>
            <a:endParaRPr lang="en-US" sz="1013" dirty="0"/>
          </a:p>
        </p:txBody>
      </p:sp>
      <p:sp>
        <p:nvSpPr>
          <p:cNvPr id="43" name="Text 38"/>
          <p:cNvSpPr/>
          <p:nvPr/>
        </p:nvSpPr>
        <p:spPr>
          <a:xfrm>
            <a:off x="7132337" y="221277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endParaRPr lang="en-US" sz="1013" dirty="0"/>
          </a:p>
        </p:txBody>
      </p:sp>
      <p:sp>
        <p:nvSpPr>
          <p:cNvPr id="44" name="Text 39"/>
          <p:cNvSpPr/>
          <p:nvPr/>
        </p:nvSpPr>
        <p:spPr>
          <a:xfrm>
            <a:off x="7672415" y="22127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45" name="Text 40"/>
          <p:cNvSpPr/>
          <p:nvPr/>
        </p:nvSpPr>
        <p:spPr>
          <a:xfrm>
            <a:off x="7903890" y="2212777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</a:t>
            </a:r>
            <a:endParaRPr lang="en-US" sz="1013" dirty="0"/>
          </a:p>
        </p:txBody>
      </p:sp>
      <p:sp>
        <p:nvSpPr>
          <p:cNvPr id="46" name="Text 41"/>
          <p:cNvSpPr/>
          <p:nvPr/>
        </p:nvSpPr>
        <p:spPr>
          <a:xfrm>
            <a:off x="4972050" y="241280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endParaRPr lang="en-US" sz="1013" dirty="0"/>
          </a:p>
        </p:txBody>
      </p:sp>
      <p:sp>
        <p:nvSpPr>
          <p:cNvPr id="47" name="Text 42"/>
          <p:cNvSpPr/>
          <p:nvPr/>
        </p:nvSpPr>
        <p:spPr>
          <a:xfrm>
            <a:off x="5512129" y="241280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.compareTo(</a:t>
            </a:r>
            <a:endParaRPr lang="en-US" sz="1013" dirty="0"/>
          </a:p>
        </p:txBody>
      </p:sp>
      <p:sp>
        <p:nvSpPr>
          <p:cNvPr id="48" name="Text 43"/>
          <p:cNvSpPr/>
          <p:nvPr/>
        </p:nvSpPr>
        <p:spPr>
          <a:xfrm>
            <a:off x="6360812" y="241280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endParaRPr lang="en-US" sz="1013" dirty="0"/>
          </a:p>
        </p:txBody>
      </p:sp>
      <p:sp>
        <p:nvSpPr>
          <p:cNvPr id="49" name="Text 44"/>
          <p:cNvSpPr/>
          <p:nvPr/>
        </p:nvSpPr>
        <p:spPr>
          <a:xfrm>
            <a:off x="6900890" y="24128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50" name="Text 45"/>
          <p:cNvSpPr/>
          <p:nvPr/>
        </p:nvSpPr>
        <p:spPr>
          <a:xfrm>
            <a:off x="7132365" y="241280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negative</a:t>
            </a:r>
            <a:endParaRPr lang="en-US" sz="1013" dirty="0"/>
          </a:p>
        </p:txBody>
      </p:sp>
      <p:sp>
        <p:nvSpPr>
          <p:cNvPr id="51" name="Text 46"/>
          <p:cNvSpPr/>
          <p:nvPr/>
        </p:nvSpPr>
        <p:spPr>
          <a:xfrm>
            <a:off x="4972050" y="2612827"/>
            <a:ext cx="3080407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(uppercase comes before lowercase in ASCII)</a:t>
            </a:r>
            <a:endParaRPr lang="en-US" sz="1013" dirty="0"/>
          </a:p>
        </p:txBody>
      </p:sp>
      <p:sp>
        <p:nvSpPr>
          <p:cNvPr id="52" name="Shape 47"/>
          <p:cNvSpPr/>
          <p:nvPr/>
        </p:nvSpPr>
        <p:spPr>
          <a:xfrm>
            <a:off x="4857750" y="3228975"/>
            <a:ext cx="3657600" cy="314325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3475" y="3328988"/>
            <a:ext cx="85725" cy="11430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5086350" y="3314700"/>
            <a:ext cx="24449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Useful for sorting strings in a case-insensitive manner</a:t>
            </a:r>
            <a:endParaRPr lang="en-US" sz="788" dirty="0"/>
          </a:p>
        </p:txBody>
      </p:sp>
      <p:sp>
        <p:nvSpPr>
          <p:cNvPr id="55" name="Shape 49"/>
          <p:cNvSpPr/>
          <p:nvPr/>
        </p:nvSpPr>
        <p:spPr>
          <a:xfrm>
            <a:off x="457200" y="4314825"/>
            <a:ext cx="8229600" cy="337185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628650" y="4486275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Use Cases</a:t>
            </a:r>
            <a:endParaRPr lang="en-US" sz="1350" dirty="0"/>
          </a:p>
        </p:txBody>
      </p:sp>
      <p:sp>
        <p:nvSpPr>
          <p:cNvPr id="57" name="Text 51"/>
          <p:cNvSpPr/>
          <p:nvPr/>
        </p:nvSpPr>
        <p:spPr>
          <a:xfrm>
            <a:off x="628650" y="4829175"/>
            <a:ext cx="39290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Sorting Strings</a:t>
            </a:r>
            <a:endParaRPr lang="en-US" sz="1125" dirty="0"/>
          </a:p>
        </p:txBody>
      </p:sp>
      <p:sp>
        <p:nvSpPr>
          <p:cNvPr id="58" name="Shape 52"/>
          <p:cNvSpPr/>
          <p:nvPr/>
        </p:nvSpPr>
        <p:spPr>
          <a:xfrm>
            <a:off x="628650" y="5114925"/>
            <a:ext cx="3857625" cy="16287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3"/>
          <p:cNvSpPr/>
          <p:nvPr/>
        </p:nvSpPr>
        <p:spPr>
          <a:xfrm>
            <a:off x="742950" y="5241727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013" dirty="0"/>
          </a:p>
        </p:txBody>
      </p:sp>
      <p:sp>
        <p:nvSpPr>
          <p:cNvPr id="60" name="Text 54"/>
          <p:cNvSpPr/>
          <p:nvPr/>
        </p:nvSpPr>
        <p:spPr>
          <a:xfrm>
            <a:off x="1051582" y="52417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013" dirty="0"/>
          </a:p>
        </p:txBody>
      </p:sp>
      <p:sp>
        <p:nvSpPr>
          <p:cNvPr id="61" name="Text 55"/>
          <p:cNvSpPr/>
          <p:nvPr/>
        </p:nvSpPr>
        <p:spPr>
          <a:xfrm>
            <a:off x="1128740" y="52417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62" name="Text 56"/>
          <p:cNvSpPr/>
          <p:nvPr/>
        </p:nvSpPr>
        <p:spPr>
          <a:xfrm>
            <a:off x="1591661" y="5241727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names =</a:t>
            </a:r>
            <a:endParaRPr lang="en-US" sz="1013" dirty="0"/>
          </a:p>
        </p:txBody>
      </p:sp>
      <p:sp>
        <p:nvSpPr>
          <p:cNvPr id="63" name="Text 57"/>
          <p:cNvSpPr/>
          <p:nvPr/>
        </p:nvSpPr>
        <p:spPr>
          <a:xfrm>
            <a:off x="2363214" y="524172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013" dirty="0"/>
          </a:p>
        </p:txBody>
      </p:sp>
      <p:sp>
        <p:nvSpPr>
          <p:cNvPr id="64" name="Text 58"/>
          <p:cNvSpPr/>
          <p:nvPr/>
        </p:nvSpPr>
        <p:spPr>
          <a:xfrm>
            <a:off x="2594688" y="524172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ArrayList&lt;&gt;();</a:t>
            </a:r>
            <a:endParaRPr lang="en-US" sz="1013" dirty="0"/>
          </a:p>
        </p:txBody>
      </p:sp>
      <p:sp>
        <p:nvSpPr>
          <p:cNvPr id="65" name="Text 59"/>
          <p:cNvSpPr/>
          <p:nvPr/>
        </p:nvSpPr>
        <p:spPr>
          <a:xfrm>
            <a:off x="742950" y="5441752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names.add(</a:t>
            </a:r>
            <a:endParaRPr lang="en-US" sz="1013" dirty="0"/>
          </a:p>
        </p:txBody>
      </p:sp>
      <p:sp>
        <p:nvSpPr>
          <p:cNvPr id="66" name="Text 60"/>
          <p:cNvSpPr/>
          <p:nvPr/>
        </p:nvSpPr>
        <p:spPr>
          <a:xfrm>
            <a:off x="1514503" y="5441752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"Charlie"</a:t>
            </a:r>
            <a:endParaRPr lang="en-US" sz="1013" dirty="0"/>
          </a:p>
        </p:txBody>
      </p:sp>
      <p:sp>
        <p:nvSpPr>
          <p:cNvPr id="67" name="Text 61"/>
          <p:cNvSpPr/>
          <p:nvPr/>
        </p:nvSpPr>
        <p:spPr>
          <a:xfrm>
            <a:off x="2208898" y="544175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68" name="Text 62"/>
          <p:cNvSpPr/>
          <p:nvPr/>
        </p:nvSpPr>
        <p:spPr>
          <a:xfrm>
            <a:off x="742950" y="5641777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names.add(</a:t>
            </a:r>
            <a:endParaRPr lang="en-US" sz="1013" dirty="0"/>
          </a:p>
        </p:txBody>
      </p:sp>
      <p:sp>
        <p:nvSpPr>
          <p:cNvPr id="69" name="Text 63"/>
          <p:cNvSpPr/>
          <p:nvPr/>
        </p:nvSpPr>
        <p:spPr>
          <a:xfrm>
            <a:off x="1514503" y="564177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endParaRPr lang="en-US" sz="1013" dirty="0"/>
          </a:p>
        </p:txBody>
      </p:sp>
      <p:sp>
        <p:nvSpPr>
          <p:cNvPr id="70" name="Text 64"/>
          <p:cNvSpPr/>
          <p:nvPr/>
        </p:nvSpPr>
        <p:spPr>
          <a:xfrm>
            <a:off x="2054582" y="564177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71" name="Text 65"/>
          <p:cNvSpPr/>
          <p:nvPr/>
        </p:nvSpPr>
        <p:spPr>
          <a:xfrm>
            <a:off x="742950" y="5841802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names.add(</a:t>
            </a:r>
            <a:endParaRPr lang="en-US" sz="1013" dirty="0"/>
          </a:p>
        </p:txBody>
      </p:sp>
      <p:sp>
        <p:nvSpPr>
          <p:cNvPr id="72" name="Text 66"/>
          <p:cNvSpPr/>
          <p:nvPr/>
        </p:nvSpPr>
        <p:spPr>
          <a:xfrm>
            <a:off x="1514503" y="5841802"/>
            <a:ext cx="457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"Bob"</a:t>
            </a:r>
            <a:endParaRPr lang="en-US" sz="1013" dirty="0"/>
          </a:p>
        </p:txBody>
      </p:sp>
      <p:sp>
        <p:nvSpPr>
          <p:cNvPr id="73" name="Text 67"/>
          <p:cNvSpPr/>
          <p:nvPr/>
        </p:nvSpPr>
        <p:spPr>
          <a:xfrm>
            <a:off x="1900293" y="584180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74" name="Text 68"/>
          <p:cNvSpPr/>
          <p:nvPr/>
        </p:nvSpPr>
        <p:spPr>
          <a:xfrm>
            <a:off x="742950" y="6241852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Collections.sort(names);</a:t>
            </a:r>
            <a:endParaRPr lang="en-US" sz="1013" dirty="0"/>
          </a:p>
        </p:txBody>
      </p:sp>
      <p:sp>
        <p:nvSpPr>
          <p:cNvPr id="75" name="Text 69"/>
          <p:cNvSpPr/>
          <p:nvPr/>
        </p:nvSpPr>
        <p:spPr>
          <a:xfrm>
            <a:off x="2671790" y="6241852"/>
            <a:ext cx="1537357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Uses compareTo()</a:t>
            </a:r>
            <a:endParaRPr lang="en-US" sz="1013" dirty="0"/>
          </a:p>
        </p:txBody>
      </p:sp>
      <p:sp>
        <p:nvSpPr>
          <p:cNvPr id="76" name="Text 70"/>
          <p:cNvSpPr/>
          <p:nvPr/>
        </p:nvSpPr>
        <p:spPr>
          <a:xfrm>
            <a:off x="742950" y="6441877"/>
            <a:ext cx="300324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Result: ["Alice", "Bob", "Charlie"]</a:t>
            </a:r>
            <a:endParaRPr lang="en-US" sz="1013" dirty="0"/>
          </a:p>
        </p:txBody>
      </p:sp>
      <p:sp>
        <p:nvSpPr>
          <p:cNvPr id="77" name="Text 71"/>
          <p:cNvSpPr/>
          <p:nvPr/>
        </p:nvSpPr>
        <p:spPr>
          <a:xfrm>
            <a:off x="4657725" y="4829175"/>
            <a:ext cx="39290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Sorting</a:t>
            </a:r>
            <a:endParaRPr lang="en-US" sz="1125" dirty="0"/>
          </a:p>
        </p:txBody>
      </p:sp>
      <p:sp>
        <p:nvSpPr>
          <p:cNvPr id="78" name="Shape 72"/>
          <p:cNvSpPr/>
          <p:nvPr/>
        </p:nvSpPr>
        <p:spPr>
          <a:xfrm>
            <a:off x="4657725" y="5114925"/>
            <a:ext cx="3857625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3"/>
          <p:cNvSpPr/>
          <p:nvPr/>
        </p:nvSpPr>
        <p:spPr>
          <a:xfrm>
            <a:off x="4772025" y="5241727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013" dirty="0"/>
          </a:p>
        </p:txBody>
      </p:sp>
      <p:sp>
        <p:nvSpPr>
          <p:cNvPr id="80" name="Text 74"/>
          <p:cNvSpPr/>
          <p:nvPr/>
        </p:nvSpPr>
        <p:spPr>
          <a:xfrm>
            <a:off x="5080657" y="52417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013" dirty="0"/>
          </a:p>
        </p:txBody>
      </p:sp>
      <p:sp>
        <p:nvSpPr>
          <p:cNvPr id="81" name="Text 75"/>
          <p:cNvSpPr/>
          <p:nvPr/>
        </p:nvSpPr>
        <p:spPr>
          <a:xfrm>
            <a:off x="5157815" y="52417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82" name="Text 76"/>
          <p:cNvSpPr/>
          <p:nvPr/>
        </p:nvSpPr>
        <p:spPr>
          <a:xfrm>
            <a:off x="5620736" y="5241727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names =</a:t>
            </a:r>
            <a:endParaRPr lang="en-US" sz="1013" dirty="0"/>
          </a:p>
        </p:txBody>
      </p:sp>
      <p:sp>
        <p:nvSpPr>
          <p:cNvPr id="83" name="Text 77"/>
          <p:cNvSpPr/>
          <p:nvPr/>
        </p:nvSpPr>
        <p:spPr>
          <a:xfrm>
            <a:off x="6392289" y="524172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013" dirty="0"/>
          </a:p>
        </p:txBody>
      </p:sp>
      <p:sp>
        <p:nvSpPr>
          <p:cNvPr id="84" name="Text 78"/>
          <p:cNvSpPr/>
          <p:nvPr/>
        </p:nvSpPr>
        <p:spPr>
          <a:xfrm>
            <a:off x="6623763" y="524172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ArrayList&lt;&gt;();</a:t>
            </a:r>
            <a:endParaRPr lang="en-US" sz="1013" dirty="0"/>
          </a:p>
        </p:txBody>
      </p:sp>
      <p:sp>
        <p:nvSpPr>
          <p:cNvPr id="85" name="Text 79"/>
          <p:cNvSpPr/>
          <p:nvPr/>
        </p:nvSpPr>
        <p:spPr>
          <a:xfrm>
            <a:off x="4772025" y="5441752"/>
            <a:ext cx="130588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add names</a:t>
            </a:r>
            <a:endParaRPr lang="en-US" sz="1013" dirty="0"/>
          </a:p>
        </p:txBody>
      </p:sp>
      <p:sp>
        <p:nvSpPr>
          <p:cNvPr id="86" name="Text 80"/>
          <p:cNvSpPr/>
          <p:nvPr/>
        </p:nvSpPr>
        <p:spPr>
          <a:xfrm>
            <a:off x="4772025" y="5841802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Collections.sort(names, (</a:t>
            </a:r>
            <a:endParaRPr lang="en-US" sz="1013" dirty="0"/>
          </a:p>
        </p:txBody>
      </p:sp>
      <p:sp>
        <p:nvSpPr>
          <p:cNvPr id="87" name="Text 81"/>
          <p:cNvSpPr/>
          <p:nvPr/>
        </p:nvSpPr>
        <p:spPr>
          <a:xfrm>
            <a:off x="6700865" y="58418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88" name="Text 82"/>
          <p:cNvSpPr/>
          <p:nvPr/>
        </p:nvSpPr>
        <p:spPr>
          <a:xfrm>
            <a:off x="7163786" y="5841802"/>
            <a:ext cx="457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s1,</a:t>
            </a:r>
            <a:endParaRPr lang="en-US" sz="1013" dirty="0"/>
          </a:p>
        </p:txBody>
      </p:sp>
      <p:sp>
        <p:nvSpPr>
          <p:cNvPr id="89" name="Text 83"/>
          <p:cNvSpPr/>
          <p:nvPr/>
        </p:nvSpPr>
        <p:spPr>
          <a:xfrm>
            <a:off x="7549576" y="58418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90" name="Text 84"/>
          <p:cNvSpPr/>
          <p:nvPr/>
        </p:nvSpPr>
        <p:spPr>
          <a:xfrm>
            <a:off x="4772025" y="5841802"/>
            <a:ext cx="3620542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s2) -&gt; {</a:t>
            </a:r>
            <a:endParaRPr lang="en-US" sz="1013" dirty="0"/>
          </a:p>
        </p:txBody>
      </p:sp>
      <p:sp>
        <p:nvSpPr>
          <p:cNvPr id="91" name="Text 85"/>
          <p:cNvSpPr/>
          <p:nvPr/>
        </p:nvSpPr>
        <p:spPr>
          <a:xfrm>
            <a:off x="4926341" y="62418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13" dirty="0"/>
          </a:p>
        </p:txBody>
      </p:sp>
      <p:sp>
        <p:nvSpPr>
          <p:cNvPr id="92" name="Text 86"/>
          <p:cNvSpPr/>
          <p:nvPr/>
        </p:nvSpPr>
        <p:spPr>
          <a:xfrm>
            <a:off x="5389262" y="6241852"/>
            <a:ext cx="223172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s1.compareToIgnoreCase(s2);</a:t>
            </a:r>
            <a:endParaRPr lang="en-US" sz="1013" dirty="0"/>
          </a:p>
        </p:txBody>
      </p:sp>
      <p:sp>
        <p:nvSpPr>
          <p:cNvPr id="93" name="Text 87"/>
          <p:cNvSpPr/>
          <p:nvPr/>
        </p:nvSpPr>
        <p:spPr>
          <a:xfrm>
            <a:off x="4772025" y="64418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13" dirty="0"/>
          </a:p>
        </p:txBody>
      </p:sp>
      <p:sp>
        <p:nvSpPr>
          <p:cNvPr id="94" name="Text 88"/>
          <p:cNvSpPr/>
          <p:nvPr/>
        </p:nvSpPr>
        <p:spPr>
          <a:xfrm>
            <a:off x="4772025" y="6641902"/>
            <a:ext cx="215456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Case-insensitive sorting</a:t>
            </a:r>
            <a:endParaRPr lang="en-US" sz="1013" dirty="0"/>
          </a:p>
        </p:txBody>
      </p:sp>
      <p:pic>
        <p:nvPicPr>
          <p:cNvPr id="9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7229475"/>
            <a:ext cx="171450" cy="171450"/>
          </a:xfrm>
          <a:prstGeom prst="rect">
            <a:avLst/>
          </a:prstGeom>
        </p:spPr>
      </p:pic>
      <p:sp>
        <p:nvSpPr>
          <p:cNvPr id="96" name="Text 89"/>
          <p:cNvSpPr/>
          <p:nvPr/>
        </p:nvSpPr>
        <p:spPr>
          <a:xfrm>
            <a:off x="914400" y="7143750"/>
            <a:ext cx="19367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String class implements the</a:t>
            </a:r>
            <a:endParaRPr lang="en-US" sz="1013" dirty="0"/>
          </a:p>
        </p:txBody>
      </p:sp>
      <p:sp>
        <p:nvSpPr>
          <p:cNvPr id="97" name="Text 90"/>
          <p:cNvSpPr/>
          <p:nvPr/>
        </p:nvSpPr>
        <p:spPr>
          <a:xfrm>
            <a:off x="2779672" y="7143750"/>
            <a:ext cx="81458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Comparable</a:t>
            </a:r>
            <a:endParaRPr lang="en-US" sz="1013" dirty="0"/>
          </a:p>
        </p:txBody>
      </p:sp>
      <p:sp>
        <p:nvSpPr>
          <p:cNvPr id="98" name="Text 91"/>
          <p:cNvSpPr/>
          <p:nvPr/>
        </p:nvSpPr>
        <p:spPr>
          <a:xfrm>
            <a:off x="3522818" y="7143750"/>
            <a:ext cx="1751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interface, which requires the</a:t>
            </a:r>
            <a:endParaRPr lang="en-US" sz="1013" dirty="0"/>
          </a:p>
        </p:txBody>
      </p:sp>
      <p:sp>
        <p:nvSpPr>
          <p:cNvPr id="99" name="Text 92"/>
          <p:cNvSpPr/>
          <p:nvPr/>
        </p:nvSpPr>
        <p:spPr>
          <a:xfrm>
            <a:off x="5202436" y="7143750"/>
            <a:ext cx="8406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compareTo()</a:t>
            </a:r>
            <a:endParaRPr lang="en-US" sz="1013" dirty="0"/>
          </a:p>
        </p:txBody>
      </p:sp>
      <p:sp>
        <p:nvSpPr>
          <p:cNvPr id="100" name="Text 93"/>
          <p:cNvSpPr/>
          <p:nvPr/>
        </p:nvSpPr>
        <p:spPr>
          <a:xfrm>
            <a:off x="914400" y="7143750"/>
            <a:ext cx="75780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method. This enables strings to be used in sorted collections and with sorting algorithms.</a:t>
            </a:r>
            <a:endParaRPr lang="en-US" sz="101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154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6972300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2240989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Searching Within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2626751" y="455414"/>
            <a:ext cx="957374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</a:t>
            </a:r>
            <a:endParaRPr lang="en-US" sz="2025" dirty="0"/>
          </a:p>
        </p:txBody>
      </p:sp>
      <p:sp>
        <p:nvSpPr>
          <p:cNvPr id="6" name="Shape 2"/>
          <p:cNvSpPr/>
          <p:nvPr/>
        </p:nvSpPr>
        <p:spPr>
          <a:xfrm>
            <a:off x="457200" y="971550"/>
            <a:ext cx="4000500" cy="482917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Substrings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286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286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429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indexOf(String str)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7429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the index of the first occurrence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8650" y="2028825"/>
            <a:ext cx="3657600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42950" y="21556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1205871" y="21556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1823107" y="215562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2980423" y="21556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17" name="Text 13"/>
          <p:cNvSpPr/>
          <p:nvPr/>
        </p:nvSpPr>
        <p:spPr>
          <a:xfrm>
            <a:off x="742950" y="235565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974424" y="2355652"/>
            <a:ext cx="176880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text.indexOf(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2671790" y="235565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"World"</a:t>
            </a:r>
            <a:endParaRPr lang="en-US" sz="1013" dirty="0"/>
          </a:p>
        </p:txBody>
      </p:sp>
      <p:sp>
        <p:nvSpPr>
          <p:cNvPr id="20" name="Text 16"/>
          <p:cNvSpPr/>
          <p:nvPr/>
        </p:nvSpPr>
        <p:spPr>
          <a:xfrm>
            <a:off x="3211869" y="235565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21" name="Text 17"/>
          <p:cNvSpPr/>
          <p:nvPr/>
        </p:nvSpPr>
        <p:spPr>
          <a:xfrm>
            <a:off x="3443343" y="2355652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7</a:t>
            </a:r>
            <a:endParaRPr lang="en-US" sz="1013" dirty="0"/>
          </a:p>
        </p:txBody>
      </p:sp>
      <p:sp>
        <p:nvSpPr>
          <p:cNvPr id="22" name="Text 18"/>
          <p:cNvSpPr/>
          <p:nvPr/>
        </p:nvSpPr>
        <p:spPr>
          <a:xfrm>
            <a:off x="742950" y="25556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23" name="Text 19"/>
          <p:cNvSpPr/>
          <p:nvPr/>
        </p:nvSpPr>
        <p:spPr>
          <a:xfrm>
            <a:off x="974424" y="2555677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notFound = text.indexOf(</a:t>
            </a:r>
            <a:endParaRPr lang="en-US" sz="1013" dirty="0"/>
          </a:p>
        </p:txBody>
      </p:sp>
      <p:sp>
        <p:nvSpPr>
          <p:cNvPr id="24" name="Text 20"/>
          <p:cNvSpPr/>
          <p:nvPr/>
        </p:nvSpPr>
        <p:spPr>
          <a:xfrm>
            <a:off x="2903265" y="25556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endParaRPr lang="en-US" sz="1013" dirty="0"/>
          </a:p>
        </p:txBody>
      </p:sp>
      <p:sp>
        <p:nvSpPr>
          <p:cNvPr id="25" name="Text 21"/>
          <p:cNvSpPr/>
          <p:nvPr/>
        </p:nvSpPr>
        <p:spPr>
          <a:xfrm>
            <a:off x="3366185" y="25556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26" name="Text 22"/>
          <p:cNvSpPr/>
          <p:nvPr/>
        </p:nvSpPr>
        <p:spPr>
          <a:xfrm>
            <a:off x="3597659" y="2555677"/>
            <a:ext cx="457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-1</a:t>
            </a:r>
            <a:endParaRPr lang="en-US" sz="1013" dirty="0"/>
          </a:p>
        </p:txBody>
      </p:sp>
      <p:sp>
        <p:nvSpPr>
          <p:cNvPr id="27" name="Shape 23"/>
          <p:cNvSpPr/>
          <p:nvPr/>
        </p:nvSpPr>
        <p:spPr>
          <a:xfrm>
            <a:off x="628650" y="29718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628650" y="29718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742950" y="30289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lastIndexOf(String str)</a:t>
            </a:r>
            <a:endParaRPr lang="en-US" sz="1013" dirty="0"/>
          </a:p>
        </p:txBody>
      </p:sp>
      <p:sp>
        <p:nvSpPr>
          <p:cNvPr id="30" name="Text 26"/>
          <p:cNvSpPr/>
          <p:nvPr/>
        </p:nvSpPr>
        <p:spPr>
          <a:xfrm>
            <a:off x="742950" y="32289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the index of the last occurrence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28650" y="3514725"/>
            <a:ext cx="3657600" cy="6286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42950" y="36415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33" name="Text 29"/>
          <p:cNvSpPr/>
          <p:nvPr/>
        </p:nvSpPr>
        <p:spPr>
          <a:xfrm>
            <a:off x="1205871" y="36415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34" name="Text 30"/>
          <p:cNvSpPr/>
          <p:nvPr/>
        </p:nvSpPr>
        <p:spPr>
          <a:xfrm>
            <a:off x="1823107" y="364152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Hello!"</a:t>
            </a:r>
            <a:endParaRPr lang="en-US" sz="1013" dirty="0"/>
          </a:p>
        </p:txBody>
      </p:sp>
      <p:sp>
        <p:nvSpPr>
          <p:cNvPr id="35" name="Text 31"/>
          <p:cNvSpPr/>
          <p:nvPr/>
        </p:nvSpPr>
        <p:spPr>
          <a:xfrm>
            <a:off x="2980423" y="36415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36" name="Text 32"/>
          <p:cNvSpPr/>
          <p:nvPr/>
        </p:nvSpPr>
        <p:spPr>
          <a:xfrm>
            <a:off x="742950" y="384155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37" name="Text 33"/>
          <p:cNvSpPr/>
          <p:nvPr/>
        </p:nvSpPr>
        <p:spPr>
          <a:xfrm>
            <a:off x="974424" y="3841552"/>
            <a:ext cx="207740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text.lastIndexOf(</a:t>
            </a:r>
            <a:endParaRPr lang="en-US" sz="1013" dirty="0"/>
          </a:p>
        </p:txBody>
      </p:sp>
      <p:sp>
        <p:nvSpPr>
          <p:cNvPr id="38" name="Text 34"/>
          <p:cNvSpPr/>
          <p:nvPr/>
        </p:nvSpPr>
        <p:spPr>
          <a:xfrm>
            <a:off x="2980395" y="384155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39" name="Text 35"/>
          <p:cNvSpPr/>
          <p:nvPr/>
        </p:nvSpPr>
        <p:spPr>
          <a:xfrm>
            <a:off x="3520473" y="384155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40" name="Text 36"/>
          <p:cNvSpPr/>
          <p:nvPr/>
        </p:nvSpPr>
        <p:spPr>
          <a:xfrm>
            <a:off x="3751948" y="3841552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7</a:t>
            </a:r>
            <a:endParaRPr lang="en-US" sz="1013" dirty="0"/>
          </a:p>
        </p:txBody>
      </p:sp>
      <p:sp>
        <p:nvSpPr>
          <p:cNvPr id="41" name="Shape 37"/>
          <p:cNvSpPr/>
          <p:nvPr/>
        </p:nvSpPr>
        <p:spPr>
          <a:xfrm>
            <a:off x="4686300" y="971550"/>
            <a:ext cx="4000500" cy="482917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Checking for Substrings</a:t>
            </a:r>
            <a:endParaRPr lang="en-US" sz="1350" dirty="0"/>
          </a:p>
        </p:txBody>
      </p:sp>
      <p:sp>
        <p:nvSpPr>
          <p:cNvPr id="43" name="Shape 39"/>
          <p:cNvSpPr/>
          <p:nvPr/>
        </p:nvSpPr>
        <p:spPr>
          <a:xfrm>
            <a:off x="48577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48577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49720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contains(CharSequence s)</a:t>
            </a:r>
            <a:endParaRPr lang="en-US" sz="1013" dirty="0"/>
          </a:p>
        </p:txBody>
      </p:sp>
      <p:sp>
        <p:nvSpPr>
          <p:cNvPr id="46" name="Text 42"/>
          <p:cNvSpPr/>
          <p:nvPr/>
        </p:nvSpPr>
        <p:spPr>
          <a:xfrm>
            <a:off x="49720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if string contains the specified sequence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4857750" y="2028825"/>
            <a:ext cx="3657600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4972050" y="21556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49" name="Text 45"/>
          <p:cNvSpPr/>
          <p:nvPr/>
        </p:nvSpPr>
        <p:spPr>
          <a:xfrm>
            <a:off x="5434971" y="21556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50" name="Text 46"/>
          <p:cNvSpPr/>
          <p:nvPr/>
        </p:nvSpPr>
        <p:spPr>
          <a:xfrm>
            <a:off x="6052207" y="215562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endParaRPr lang="en-US" sz="1013" dirty="0"/>
          </a:p>
        </p:txBody>
      </p:sp>
      <p:sp>
        <p:nvSpPr>
          <p:cNvPr id="51" name="Text 47"/>
          <p:cNvSpPr/>
          <p:nvPr/>
        </p:nvSpPr>
        <p:spPr>
          <a:xfrm>
            <a:off x="7209523" y="21556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52" name="Text 48"/>
          <p:cNvSpPr/>
          <p:nvPr/>
        </p:nvSpPr>
        <p:spPr>
          <a:xfrm>
            <a:off x="4972050" y="235565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013" dirty="0"/>
          </a:p>
        </p:txBody>
      </p:sp>
      <p:sp>
        <p:nvSpPr>
          <p:cNvPr id="53" name="Text 49"/>
          <p:cNvSpPr/>
          <p:nvPr/>
        </p:nvSpPr>
        <p:spPr>
          <a:xfrm>
            <a:off x="5512129" y="2355652"/>
            <a:ext cx="207740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 = text.contains(</a:t>
            </a:r>
            <a:endParaRPr lang="en-US" sz="1013" dirty="0"/>
          </a:p>
        </p:txBody>
      </p:sp>
      <p:sp>
        <p:nvSpPr>
          <p:cNvPr id="54" name="Text 50"/>
          <p:cNvSpPr/>
          <p:nvPr/>
        </p:nvSpPr>
        <p:spPr>
          <a:xfrm>
            <a:off x="7518099" y="235565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"World"</a:t>
            </a:r>
            <a:endParaRPr lang="en-US" sz="1013" dirty="0"/>
          </a:p>
        </p:txBody>
      </p:sp>
      <p:sp>
        <p:nvSpPr>
          <p:cNvPr id="55" name="Text 51"/>
          <p:cNvSpPr/>
          <p:nvPr/>
        </p:nvSpPr>
        <p:spPr>
          <a:xfrm>
            <a:off x="8058178" y="235565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56" name="Text 52"/>
          <p:cNvSpPr/>
          <p:nvPr/>
        </p:nvSpPr>
        <p:spPr>
          <a:xfrm>
            <a:off x="4972050" y="255567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1013" dirty="0"/>
          </a:p>
        </p:txBody>
      </p:sp>
      <p:sp>
        <p:nvSpPr>
          <p:cNvPr id="57" name="Shape 53"/>
          <p:cNvSpPr/>
          <p:nvPr/>
        </p:nvSpPr>
        <p:spPr>
          <a:xfrm>
            <a:off x="4857750" y="29718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4857750" y="29718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5"/>
          <p:cNvSpPr/>
          <p:nvPr/>
        </p:nvSpPr>
        <p:spPr>
          <a:xfrm>
            <a:off x="4972050" y="30289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startsWith(String prefix)</a:t>
            </a:r>
            <a:endParaRPr lang="en-US" sz="1013" dirty="0"/>
          </a:p>
        </p:txBody>
      </p:sp>
      <p:sp>
        <p:nvSpPr>
          <p:cNvPr id="60" name="Text 56"/>
          <p:cNvSpPr/>
          <p:nvPr/>
        </p:nvSpPr>
        <p:spPr>
          <a:xfrm>
            <a:off x="4972050" y="32289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if string starts with the specified prefix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4857750" y="3514725"/>
            <a:ext cx="3657600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/>
          <p:nvPr/>
        </p:nvSpPr>
        <p:spPr>
          <a:xfrm>
            <a:off x="4972050" y="36415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63" name="Text 59"/>
          <p:cNvSpPr/>
          <p:nvPr/>
        </p:nvSpPr>
        <p:spPr>
          <a:xfrm>
            <a:off x="5434971" y="36415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64" name="Text 60"/>
          <p:cNvSpPr/>
          <p:nvPr/>
        </p:nvSpPr>
        <p:spPr>
          <a:xfrm>
            <a:off x="6052207" y="364152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endParaRPr lang="en-US" sz="1013" dirty="0"/>
          </a:p>
        </p:txBody>
      </p:sp>
      <p:sp>
        <p:nvSpPr>
          <p:cNvPr id="65" name="Text 61"/>
          <p:cNvSpPr/>
          <p:nvPr/>
        </p:nvSpPr>
        <p:spPr>
          <a:xfrm>
            <a:off x="7209523" y="36415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66" name="Text 62"/>
          <p:cNvSpPr/>
          <p:nvPr/>
        </p:nvSpPr>
        <p:spPr>
          <a:xfrm>
            <a:off x="4972050" y="384155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013" dirty="0"/>
          </a:p>
        </p:txBody>
      </p:sp>
      <p:sp>
        <p:nvSpPr>
          <p:cNvPr id="67" name="Text 63"/>
          <p:cNvSpPr/>
          <p:nvPr/>
        </p:nvSpPr>
        <p:spPr>
          <a:xfrm>
            <a:off x="5512129" y="3841552"/>
            <a:ext cx="207740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 = text.startsWith(</a:t>
            </a:r>
            <a:endParaRPr lang="en-US" sz="1013" dirty="0"/>
          </a:p>
        </p:txBody>
      </p:sp>
      <p:sp>
        <p:nvSpPr>
          <p:cNvPr id="68" name="Text 64"/>
          <p:cNvSpPr/>
          <p:nvPr/>
        </p:nvSpPr>
        <p:spPr>
          <a:xfrm>
            <a:off x="7518099" y="384155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69" name="Text 65"/>
          <p:cNvSpPr/>
          <p:nvPr/>
        </p:nvSpPr>
        <p:spPr>
          <a:xfrm>
            <a:off x="8058178" y="384155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70" name="Text 66"/>
          <p:cNvSpPr/>
          <p:nvPr/>
        </p:nvSpPr>
        <p:spPr>
          <a:xfrm>
            <a:off x="4972050" y="404157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1013" dirty="0"/>
          </a:p>
        </p:txBody>
      </p:sp>
      <p:sp>
        <p:nvSpPr>
          <p:cNvPr id="71" name="Shape 67"/>
          <p:cNvSpPr/>
          <p:nvPr/>
        </p:nvSpPr>
        <p:spPr>
          <a:xfrm>
            <a:off x="4857750" y="44577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4857750" y="44577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9"/>
          <p:cNvSpPr/>
          <p:nvPr/>
        </p:nvSpPr>
        <p:spPr>
          <a:xfrm>
            <a:off x="4972050" y="45148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endsWith(String suffix)</a:t>
            </a:r>
            <a:endParaRPr lang="en-US" sz="1013" dirty="0"/>
          </a:p>
        </p:txBody>
      </p:sp>
      <p:sp>
        <p:nvSpPr>
          <p:cNvPr id="74" name="Text 70"/>
          <p:cNvSpPr/>
          <p:nvPr/>
        </p:nvSpPr>
        <p:spPr>
          <a:xfrm>
            <a:off x="4972050" y="47148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if string ends with the specified suffix</a:t>
            </a:r>
            <a:endParaRPr lang="en-US" sz="900" dirty="0"/>
          </a:p>
        </p:txBody>
      </p:sp>
      <p:sp>
        <p:nvSpPr>
          <p:cNvPr id="75" name="Shape 71"/>
          <p:cNvSpPr/>
          <p:nvPr/>
        </p:nvSpPr>
        <p:spPr>
          <a:xfrm>
            <a:off x="4857750" y="5000625"/>
            <a:ext cx="3657600" cy="6286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2"/>
          <p:cNvSpPr/>
          <p:nvPr/>
        </p:nvSpPr>
        <p:spPr>
          <a:xfrm>
            <a:off x="4972050" y="51274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77" name="Text 73"/>
          <p:cNvSpPr/>
          <p:nvPr/>
        </p:nvSpPr>
        <p:spPr>
          <a:xfrm>
            <a:off x="5434971" y="51274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78" name="Text 74"/>
          <p:cNvSpPr/>
          <p:nvPr/>
        </p:nvSpPr>
        <p:spPr>
          <a:xfrm>
            <a:off x="6052207" y="512742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endParaRPr lang="en-US" sz="1013" dirty="0"/>
          </a:p>
        </p:txBody>
      </p:sp>
      <p:sp>
        <p:nvSpPr>
          <p:cNvPr id="79" name="Text 75"/>
          <p:cNvSpPr/>
          <p:nvPr/>
        </p:nvSpPr>
        <p:spPr>
          <a:xfrm>
            <a:off x="7209523" y="51274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80" name="Text 76"/>
          <p:cNvSpPr/>
          <p:nvPr/>
        </p:nvSpPr>
        <p:spPr>
          <a:xfrm>
            <a:off x="4972050" y="532745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013" dirty="0"/>
          </a:p>
        </p:txBody>
      </p:sp>
      <p:sp>
        <p:nvSpPr>
          <p:cNvPr id="81" name="Text 77"/>
          <p:cNvSpPr/>
          <p:nvPr/>
        </p:nvSpPr>
        <p:spPr>
          <a:xfrm>
            <a:off x="5512129" y="5327452"/>
            <a:ext cx="176880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ends = text.endsWith(</a:t>
            </a:r>
            <a:endParaRPr lang="en-US" sz="1013" dirty="0"/>
          </a:p>
        </p:txBody>
      </p:sp>
      <p:sp>
        <p:nvSpPr>
          <p:cNvPr id="82" name="Text 78"/>
          <p:cNvSpPr/>
          <p:nvPr/>
        </p:nvSpPr>
        <p:spPr>
          <a:xfrm>
            <a:off x="7209495" y="532745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"!"</a:t>
            </a:r>
            <a:endParaRPr lang="en-US" sz="1013" dirty="0"/>
          </a:p>
        </p:txBody>
      </p:sp>
      <p:sp>
        <p:nvSpPr>
          <p:cNvPr id="83" name="Text 79"/>
          <p:cNvSpPr/>
          <p:nvPr/>
        </p:nvSpPr>
        <p:spPr>
          <a:xfrm>
            <a:off x="7440969" y="532745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84" name="Text 80"/>
          <p:cNvSpPr/>
          <p:nvPr/>
        </p:nvSpPr>
        <p:spPr>
          <a:xfrm>
            <a:off x="7672443" y="532745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1013" dirty="0"/>
          </a:p>
        </p:txBody>
      </p:sp>
      <p:sp>
        <p:nvSpPr>
          <p:cNvPr id="85" name="Shape 81"/>
          <p:cNvSpPr/>
          <p:nvPr/>
        </p:nvSpPr>
        <p:spPr>
          <a:xfrm>
            <a:off x="457200" y="6029325"/>
            <a:ext cx="8229600" cy="26289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2"/>
          <p:cNvSpPr/>
          <p:nvPr/>
        </p:nvSpPr>
        <p:spPr>
          <a:xfrm>
            <a:off x="628650" y="6200775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Search Options</a:t>
            </a:r>
            <a:endParaRPr lang="en-US" sz="1350" dirty="0"/>
          </a:p>
        </p:txBody>
      </p:sp>
      <p:sp>
        <p:nvSpPr>
          <p:cNvPr id="87" name="Shape 83"/>
          <p:cNvSpPr/>
          <p:nvPr/>
        </p:nvSpPr>
        <p:spPr>
          <a:xfrm>
            <a:off x="628650" y="6543675"/>
            <a:ext cx="3857625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4"/>
          <p:cNvSpPr/>
          <p:nvPr/>
        </p:nvSpPr>
        <p:spPr>
          <a:xfrm>
            <a:off x="628650" y="6543675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/>
          <p:nvPr/>
        </p:nvSpPr>
        <p:spPr>
          <a:xfrm>
            <a:off x="742950" y="6600825"/>
            <a:ext cx="38147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indexOf(String str, int fromIndex)</a:t>
            </a:r>
            <a:endParaRPr lang="en-US" sz="1013" dirty="0"/>
          </a:p>
        </p:txBody>
      </p:sp>
      <p:sp>
        <p:nvSpPr>
          <p:cNvPr id="90" name="Text 86"/>
          <p:cNvSpPr/>
          <p:nvPr/>
        </p:nvSpPr>
        <p:spPr>
          <a:xfrm>
            <a:off x="742950" y="6800850"/>
            <a:ext cx="38147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from the specified index</a:t>
            </a:r>
            <a:endParaRPr lang="en-US" sz="900" dirty="0"/>
          </a:p>
        </p:txBody>
      </p:sp>
      <p:sp>
        <p:nvSpPr>
          <p:cNvPr id="91" name="Shape 87"/>
          <p:cNvSpPr/>
          <p:nvPr/>
        </p:nvSpPr>
        <p:spPr>
          <a:xfrm>
            <a:off x="628650" y="7086600"/>
            <a:ext cx="3857625" cy="6286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88"/>
          <p:cNvSpPr/>
          <p:nvPr/>
        </p:nvSpPr>
        <p:spPr>
          <a:xfrm>
            <a:off x="742950" y="72134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93" name="Text 89"/>
          <p:cNvSpPr/>
          <p:nvPr/>
        </p:nvSpPr>
        <p:spPr>
          <a:xfrm>
            <a:off x="1205871" y="7213402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94" name="Text 90"/>
          <p:cNvSpPr/>
          <p:nvPr/>
        </p:nvSpPr>
        <p:spPr>
          <a:xfrm>
            <a:off x="1823107" y="7213402"/>
            <a:ext cx="130588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 Java Java"</a:t>
            </a:r>
            <a:endParaRPr lang="en-US" sz="1013" dirty="0"/>
          </a:p>
        </p:txBody>
      </p:sp>
      <p:sp>
        <p:nvSpPr>
          <p:cNvPr id="95" name="Text 91"/>
          <p:cNvSpPr/>
          <p:nvPr/>
        </p:nvSpPr>
        <p:spPr>
          <a:xfrm>
            <a:off x="3057553" y="72134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96" name="Text 92"/>
          <p:cNvSpPr/>
          <p:nvPr/>
        </p:nvSpPr>
        <p:spPr>
          <a:xfrm>
            <a:off x="742950" y="741342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97" name="Text 93"/>
          <p:cNvSpPr/>
          <p:nvPr/>
        </p:nvSpPr>
        <p:spPr>
          <a:xfrm>
            <a:off x="974424" y="7413427"/>
            <a:ext cx="176880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text.indexOf(</a:t>
            </a:r>
            <a:endParaRPr lang="en-US" sz="1013" dirty="0"/>
          </a:p>
        </p:txBody>
      </p:sp>
      <p:sp>
        <p:nvSpPr>
          <p:cNvPr id="98" name="Text 94"/>
          <p:cNvSpPr/>
          <p:nvPr/>
        </p:nvSpPr>
        <p:spPr>
          <a:xfrm>
            <a:off x="2671790" y="74134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endParaRPr lang="en-US" sz="1013" dirty="0"/>
          </a:p>
        </p:txBody>
      </p:sp>
      <p:sp>
        <p:nvSpPr>
          <p:cNvPr id="99" name="Text 95"/>
          <p:cNvSpPr/>
          <p:nvPr/>
        </p:nvSpPr>
        <p:spPr>
          <a:xfrm>
            <a:off x="3134711" y="74134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5);</a:t>
            </a:r>
            <a:endParaRPr lang="en-US" sz="1013" dirty="0"/>
          </a:p>
        </p:txBody>
      </p:sp>
      <p:sp>
        <p:nvSpPr>
          <p:cNvPr id="100" name="Text 96"/>
          <p:cNvSpPr/>
          <p:nvPr/>
        </p:nvSpPr>
        <p:spPr>
          <a:xfrm>
            <a:off x="3597632" y="7413427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</a:t>
            </a:r>
            <a:endParaRPr lang="en-US" sz="1013" dirty="0"/>
          </a:p>
        </p:txBody>
      </p:sp>
      <p:sp>
        <p:nvSpPr>
          <p:cNvPr id="101" name="Shape 97"/>
          <p:cNvSpPr/>
          <p:nvPr/>
        </p:nvSpPr>
        <p:spPr>
          <a:xfrm>
            <a:off x="4657725" y="6543675"/>
            <a:ext cx="3857625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98"/>
          <p:cNvSpPr/>
          <p:nvPr/>
        </p:nvSpPr>
        <p:spPr>
          <a:xfrm>
            <a:off x="4657725" y="6543675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99"/>
          <p:cNvSpPr/>
          <p:nvPr/>
        </p:nvSpPr>
        <p:spPr>
          <a:xfrm>
            <a:off x="4772025" y="6600825"/>
            <a:ext cx="38147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matches(String regex)</a:t>
            </a:r>
            <a:endParaRPr lang="en-US" sz="1013" dirty="0"/>
          </a:p>
        </p:txBody>
      </p:sp>
      <p:sp>
        <p:nvSpPr>
          <p:cNvPr id="104" name="Text 100"/>
          <p:cNvSpPr/>
          <p:nvPr/>
        </p:nvSpPr>
        <p:spPr>
          <a:xfrm>
            <a:off x="4772025" y="6800850"/>
            <a:ext cx="38147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if string matches the regex pattern</a:t>
            </a:r>
            <a:endParaRPr lang="en-US" sz="900" dirty="0"/>
          </a:p>
        </p:txBody>
      </p:sp>
      <p:sp>
        <p:nvSpPr>
          <p:cNvPr id="105" name="Shape 101"/>
          <p:cNvSpPr/>
          <p:nvPr/>
        </p:nvSpPr>
        <p:spPr>
          <a:xfrm>
            <a:off x="4657725" y="7086600"/>
            <a:ext cx="3857625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2"/>
          <p:cNvSpPr/>
          <p:nvPr/>
        </p:nvSpPr>
        <p:spPr>
          <a:xfrm>
            <a:off x="4772025" y="72134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07" name="Text 103"/>
          <p:cNvSpPr/>
          <p:nvPr/>
        </p:nvSpPr>
        <p:spPr>
          <a:xfrm>
            <a:off x="5234946" y="7213402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=</a:t>
            </a:r>
            <a:endParaRPr lang="en-US" sz="1013" dirty="0"/>
          </a:p>
        </p:txBody>
      </p:sp>
      <p:sp>
        <p:nvSpPr>
          <p:cNvPr id="108" name="Text 104"/>
          <p:cNvSpPr/>
          <p:nvPr/>
        </p:nvSpPr>
        <p:spPr>
          <a:xfrm>
            <a:off x="5929340" y="7213402"/>
            <a:ext cx="146019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"user@example.com"</a:t>
            </a:r>
            <a:endParaRPr lang="en-US" sz="1013" dirty="0"/>
          </a:p>
        </p:txBody>
      </p:sp>
      <p:sp>
        <p:nvSpPr>
          <p:cNvPr id="109" name="Text 105"/>
          <p:cNvSpPr/>
          <p:nvPr/>
        </p:nvSpPr>
        <p:spPr>
          <a:xfrm>
            <a:off x="7318102" y="72134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110" name="Text 106"/>
          <p:cNvSpPr/>
          <p:nvPr/>
        </p:nvSpPr>
        <p:spPr>
          <a:xfrm>
            <a:off x="4772025" y="741342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013" dirty="0"/>
          </a:p>
        </p:txBody>
      </p:sp>
      <p:sp>
        <p:nvSpPr>
          <p:cNvPr id="111" name="Text 107"/>
          <p:cNvSpPr/>
          <p:nvPr/>
        </p:nvSpPr>
        <p:spPr>
          <a:xfrm>
            <a:off x="5312104" y="7413427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isEmail = email.matches(</a:t>
            </a:r>
            <a:endParaRPr lang="en-US" sz="1013" dirty="0"/>
          </a:p>
        </p:txBody>
      </p:sp>
      <p:sp>
        <p:nvSpPr>
          <p:cNvPr id="112" name="Text 108"/>
          <p:cNvSpPr/>
          <p:nvPr/>
        </p:nvSpPr>
        <p:spPr>
          <a:xfrm>
            <a:off x="7240944" y="7413427"/>
            <a:ext cx="9972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".*@.*\\..*"</a:t>
            </a:r>
            <a:endParaRPr lang="en-US" sz="1013" dirty="0"/>
          </a:p>
        </p:txBody>
      </p:sp>
      <p:sp>
        <p:nvSpPr>
          <p:cNvPr id="113" name="Text 109"/>
          <p:cNvSpPr/>
          <p:nvPr/>
        </p:nvSpPr>
        <p:spPr>
          <a:xfrm>
            <a:off x="8166785" y="741342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114" name="Text 110"/>
          <p:cNvSpPr/>
          <p:nvPr/>
        </p:nvSpPr>
        <p:spPr>
          <a:xfrm>
            <a:off x="4772025" y="7613452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Basic email validation</a:t>
            </a:r>
            <a:endParaRPr lang="en-US" sz="1013" dirty="0"/>
          </a:p>
        </p:txBody>
      </p:sp>
      <p:pic>
        <p:nvPicPr>
          <p:cNvPr id="1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8201025"/>
            <a:ext cx="128588" cy="171450"/>
          </a:xfrm>
          <a:prstGeom prst="rect">
            <a:avLst/>
          </a:prstGeom>
        </p:spPr>
      </p:pic>
      <p:sp>
        <p:nvSpPr>
          <p:cNvPr id="116" name="Text 111"/>
          <p:cNvSpPr/>
          <p:nvPr/>
        </p:nvSpPr>
        <p:spPr>
          <a:xfrm>
            <a:off x="871538" y="8115300"/>
            <a:ext cx="37523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search methods return meaningful values: index positions for</a:t>
            </a:r>
            <a:endParaRPr lang="en-US" sz="1013" dirty="0"/>
          </a:p>
        </p:txBody>
      </p:sp>
      <p:sp>
        <p:nvSpPr>
          <p:cNvPr id="117" name="Text 112"/>
          <p:cNvSpPr/>
          <p:nvPr/>
        </p:nvSpPr>
        <p:spPr>
          <a:xfrm>
            <a:off x="4552494" y="8115300"/>
            <a:ext cx="6357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indexOf()</a:t>
            </a:r>
            <a:endParaRPr lang="en-US" sz="1013" dirty="0"/>
          </a:p>
        </p:txBody>
      </p:sp>
      <p:sp>
        <p:nvSpPr>
          <p:cNvPr id="118" name="Text 113"/>
          <p:cNvSpPr/>
          <p:nvPr/>
        </p:nvSpPr>
        <p:spPr>
          <a:xfrm>
            <a:off x="5116823" y="8115300"/>
            <a:ext cx="1071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endParaRPr lang="en-US" sz="1013" dirty="0"/>
          </a:p>
        </p:txBody>
      </p:sp>
      <p:sp>
        <p:nvSpPr>
          <p:cNvPr id="119" name="Text 114"/>
          <p:cNvSpPr/>
          <p:nvPr/>
        </p:nvSpPr>
        <p:spPr>
          <a:xfrm>
            <a:off x="5152569" y="8115300"/>
            <a:ext cx="85736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lastIndexOf()</a:t>
            </a:r>
            <a:endParaRPr lang="en-US" sz="1013" dirty="0"/>
          </a:p>
        </p:txBody>
      </p:sp>
      <p:sp>
        <p:nvSpPr>
          <p:cNvPr id="120" name="Text 115"/>
          <p:cNvSpPr/>
          <p:nvPr/>
        </p:nvSpPr>
        <p:spPr>
          <a:xfrm>
            <a:off x="5938493" y="8115300"/>
            <a:ext cx="13151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boolean results for</a:t>
            </a:r>
            <a:endParaRPr lang="en-US" sz="1013" dirty="0"/>
          </a:p>
        </p:txBody>
      </p:sp>
      <p:sp>
        <p:nvSpPr>
          <p:cNvPr id="121" name="Text 116"/>
          <p:cNvSpPr/>
          <p:nvPr/>
        </p:nvSpPr>
        <p:spPr>
          <a:xfrm>
            <a:off x="871538" y="8315325"/>
            <a:ext cx="68582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contains()</a:t>
            </a:r>
            <a:endParaRPr lang="en-US" sz="1013" dirty="0"/>
          </a:p>
        </p:txBody>
      </p:sp>
      <p:sp>
        <p:nvSpPr>
          <p:cNvPr id="122" name="Text 117"/>
          <p:cNvSpPr/>
          <p:nvPr/>
        </p:nvSpPr>
        <p:spPr>
          <a:xfrm>
            <a:off x="1485928" y="8315325"/>
            <a:ext cx="1071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endParaRPr lang="en-US" sz="1013" dirty="0"/>
          </a:p>
        </p:txBody>
      </p:sp>
      <p:sp>
        <p:nvSpPr>
          <p:cNvPr id="123" name="Text 118"/>
          <p:cNvSpPr/>
          <p:nvPr/>
        </p:nvSpPr>
        <p:spPr>
          <a:xfrm>
            <a:off x="1521675" y="8315325"/>
            <a:ext cx="7846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startsWith()</a:t>
            </a:r>
            <a:endParaRPr lang="en-US" sz="1013" dirty="0"/>
          </a:p>
        </p:txBody>
      </p:sp>
      <p:sp>
        <p:nvSpPr>
          <p:cNvPr id="124" name="Text 119"/>
          <p:cNvSpPr/>
          <p:nvPr/>
        </p:nvSpPr>
        <p:spPr>
          <a:xfrm>
            <a:off x="2234878" y="8315325"/>
            <a:ext cx="1071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endParaRPr lang="en-US" sz="1013" dirty="0"/>
          </a:p>
        </p:txBody>
      </p:sp>
      <p:sp>
        <p:nvSpPr>
          <p:cNvPr id="125" name="Text 120"/>
          <p:cNvSpPr/>
          <p:nvPr/>
        </p:nvSpPr>
        <p:spPr>
          <a:xfrm>
            <a:off x="2270624" y="8315325"/>
            <a:ext cx="73455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endsWith()</a:t>
            </a:r>
            <a:endParaRPr lang="en-US" sz="1013" dirty="0"/>
          </a:p>
        </p:txBody>
      </p:sp>
      <p:sp>
        <p:nvSpPr>
          <p:cNvPr id="126" name="Text 121"/>
          <p:cNvSpPr/>
          <p:nvPr/>
        </p:nvSpPr>
        <p:spPr>
          <a:xfrm>
            <a:off x="2933737" y="8315325"/>
            <a:ext cx="3159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When a substring is not found, index methods return</a:t>
            </a:r>
            <a:endParaRPr lang="en-US" sz="1013" dirty="0"/>
          </a:p>
        </p:txBody>
      </p:sp>
      <p:sp>
        <p:nvSpPr>
          <p:cNvPr id="127" name="Text 122"/>
          <p:cNvSpPr/>
          <p:nvPr/>
        </p:nvSpPr>
        <p:spPr>
          <a:xfrm>
            <a:off x="6021539" y="8315325"/>
            <a:ext cx="1857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</a:t>
            </a:r>
            <a:endParaRPr lang="en-US" sz="1013" dirty="0"/>
          </a:p>
        </p:txBody>
      </p:sp>
      <p:sp>
        <p:nvSpPr>
          <p:cNvPr id="128" name="Text 123"/>
          <p:cNvSpPr/>
          <p:nvPr/>
        </p:nvSpPr>
        <p:spPr>
          <a:xfrm>
            <a:off x="6135895" y="8315325"/>
            <a:ext cx="1071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1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2010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6057900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2400077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Modifying Strings: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2785839" y="455414"/>
            <a:ext cx="2172286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&amp; Trimming</a:t>
            </a:r>
            <a:endParaRPr lang="en-US" sz="2025" dirty="0"/>
          </a:p>
        </p:txBody>
      </p:sp>
      <p:sp>
        <p:nvSpPr>
          <p:cNvPr id="6" name="Shape 2"/>
          <p:cNvSpPr/>
          <p:nvPr/>
        </p:nvSpPr>
        <p:spPr>
          <a:xfrm>
            <a:off x="457200" y="971550"/>
            <a:ext cx="4000500" cy="41148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Conversion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286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286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429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toLowerCase()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7429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Converts all characters to lowercase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8650" y="2028825"/>
            <a:ext cx="3657600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42950" y="21556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1205871" y="21556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1823107" y="215562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2980423" y="21556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17" name="Text 13"/>
          <p:cNvSpPr/>
          <p:nvPr/>
        </p:nvSpPr>
        <p:spPr>
          <a:xfrm>
            <a:off x="742950" y="23556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1205871" y="2355652"/>
            <a:ext cx="223172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 = text.toLowerCase();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742950" y="2555677"/>
            <a:ext cx="146019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"hello, world!"</a:t>
            </a:r>
            <a:endParaRPr lang="en-US" sz="1013" dirty="0"/>
          </a:p>
        </p:txBody>
      </p:sp>
      <p:sp>
        <p:nvSpPr>
          <p:cNvPr id="20" name="Shape 16"/>
          <p:cNvSpPr/>
          <p:nvPr/>
        </p:nvSpPr>
        <p:spPr>
          <a:xfrm>
            <a:off x="628650" y="29718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28650" y="29718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42950" y="30289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toUpperCase()</a:t>
            </a:r>
            <a:endParaRPr lang="en-US" sz="1013" dirty="0"/>
          </a:p>
        </p:txBody>
      </p:sp>
      <p:sp>
        <p:nvSpPr>
          <p:cNvPr id="23" name="Text 19"/>
          <p:cNvSpPr/>
          <p:nvPr/>
        </p:nvSpPr>
        <p:spPr>
          <a:xfrm>
            <a:off x="742950" y="32289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Converts all characters to uppercase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28650" y="3514725"/>
            <a:ext cx="3657600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742950" y="36415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26" name="Text 22"/>
          <p:cNvSpPr/>
          <p:nvPr/>
        </p:nvSpPr>
        <p:spPr>
          <a:xfrm>
            <a:off x="1205871" y="36415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27" name="Text 23"/>
          <p:cNvSpPr/>
          <p:nvPr/>
        </p:nvSpPr>
        <p:spPr>
          <a:xfrm>
            <a:off x="1823107" y="364152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endParaRPr lang="en-US" sz="1013" dirty="0"/>
          </a:p>
        </p:txBody>
      </p:sp>
      <p:sp>
        <p:nvSpPr>
          <p:cNvPr id="28" name="Text 24"/>
          <p:cNvSpPr/>
          <p:nvPr/>
        </p:nvSpPr>
        <p:spPr>
          <a:xfrm>
            <a:off x="2980423" y="36415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29" name="Text 25"/>
          <p:cNvSpPr/>
          <p:nvPr/>
        </p:nvSpPr>
        <p:spPr>
          <a:xfrm>
            <a:off x="742950" y="38415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30" name="Text 26"/>
          <p:cNvSpPr/>
          <p:nvPr/>
        </p:nvSpPr>
        <p:spPr>
          <a:xfrm>
            <a:off x="1205871" y="3841552"/>
            <a:ext cx="223172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= text.toUpperCase();</a:t>
            </a:r>
            <a:endParaRPr lang="en-US" sz="1013" dirty="0"/>
          </a:p>
        </p:txBody>
      </p:sp>
      <p:sp>
        <p:nvSpPr>
          <p:cNvPr id="31" name="Text 27"/>
          <p:cNvSpPr/>
          <p:nvPr/>
        </p:nvSpPr>
        <p:spPr>
          <a:xfrm>
            <a:off x="742950" y="4041577"/>
            <a:ext cx="146019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"HELLO, WORLD!"</a:t>
            </a:r>
            <a:endParaRPr lang="en-US" sz="1013" dirty="0"/>
          </a:p>
        </p:txBody>
      </p:sp>
      <p:sp>
        <p:nvSpPr>
          <p:cNvPr id="32" name="Shape 28"/>
          <p:cNvSpPr/>
          <p:nvPr/>
        </p:nvSpPr>
        <p:spPr>
          <a:xfrm>
            <a:off x="628650" y="4457700"/>
            <a:ext cx="3657600" cy="45720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4629150"/>
            <a:ext cx="85725" cy="1143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57250" y="4543425"/>
            <a:ext cx="34147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conversion is useful for case-insensitive comparisons and standardizing user input</a:t>
            </a:r>
            <a:endParaRPr lang="en-US" sz="788" dirty="0"/>
          </a:p>
        </p:txBody>
      </p:sp>
      <p:sp>
        <p:nvSpPr>
          <p:cNvPr id="35" name="Shape 30"/>
          <p:cNvSpPr/>
          <p:nvPr/>
        </p:nvSpPr>
        <p:spPr>
          <a:xfrm>
            <a:off x="4686300" y="971550"/>
            <a:ext cx="4000500" cy="41148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Trimming Whitespace</a:t>
            </a:r>
            <a:endParaRPr lang="en-US" sz="1350" dirty="0"/>
          </a:p>
        </p:txBody>
      </p:sp>
      <p:sp>
        <p:nvSpPr>
          <p:cNvPr id="37" name="Shape 32"/>
          <p:cNvSpPr/>
          <p:nvPr/>
        </p:nvSpPr>
        <p:spPr>
          <a:xfrm>
            <a:off x="48577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48577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49720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trim()</a:t>
            </a:r>
            <a:endParaRPr lang="en-US" sz="1013" dirty="0"/>
          </a:p>
        </p:txBody>
      </p:sp>
      <p:sp>
        <p:nvSpPr>
          <p:cNvPr id="40" name="Text 35"/>
          <p:cNvSpPr/>
          <p:nvPr/>
        </p:nvSpPr>
        <p:spPr>
          <a:xfrm>
            <a:off x="49720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leading and trailing whitespace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857750" y="2028825"/>
            <a:ext cx="3657600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4972050" y="21556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43" name="Text 38"/>
          <p:cNvSpPr/>
          <p:nvPr/>
        </p:nvSpPr>
        <p:spPr>
          <a:xfrm>
            <a:off x="5434971" y="21556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44" name="Text 39"/>
          <p:cNvSpPr/>
          <p:nvPr/>
        </p:nvSpPr>
        <p:spPr>
          <a:xfrm>
            <a:off x="6052207" y="2155627"/>
            <a:ext cx="138304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Hello, World!   "</a:t>
            </a:r>
            <a:endParaRPr lang="en-US" sz="1013" dirty="0"/>
          </a:p>
        </p:txBody>
      </p:sp>
      <p:sp>
        <p:nvSpPr>
          <p:cNvPr id="45" name="Text 40"/>
          <p:cNvSpPr/>
          <p:nvPr/>
        </p:nvSpPr>
        <p:spPr>
          <a:xfrm>
            <a:off x="7363811" y="21556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46" name="Text 41"/>
          <p:cNvSpPr/>
          <p:nvPr/>
        </p:nvSpPr>
        <p:spPr>
          <a:xfrm>
            <a:off x="4972050" y="23556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47" name="Text 42"/>
          <p:cNvSpPr/>
          <p:nvPr/>
        </p:nvSpPr>
        <p:spPr>
          <a:xfrm>
            <a:off x="5434971" y="2355652"/>
            <a:ext cx="184596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trimmed = text.trim();</a:t>
            </a:r>
            <a:endParaRPr lang="en-US" sz="1013" dirty="0"/>
          </a:p>
        </p:txBody>
      </p:sp>
      <p:sp>
        <p:nvSpPr>
          <p:cNvPr id="48" name="Text 43"/>
          <p:cNvSpPr/>
          <p:nvPr/>
        </p:nvSpPr>
        <p:spPr>
          <a:xfrm>
            <a:off x="4972050" y="2555677"/>
            <a:ext cx="146019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"Hello, World!"</a:t>
            </a:r>
            <a:endParaRPr lang="en-US" sz="1013" dirty="0"/>
          </a:p>
        </p:txBody>
      </p:sp>
      <p:sp>
        <p:nvSpPr>
          <p:cNvPr id="49" name="Shape 44"/>
          <p:cNvSpPr/>
          <p:nvPr/>
        </p:nvSpPr>
        <p:spPr>
          <a:xfrm>
            <a:off x="4857750" y="29718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5"/>
          <p:cNvSpPr/>
          <p:nvPr/>
        </p:nvSpPr>
        <p:spPr>
          <a:xfrm>
            <a:off x="4857750" y="29718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4972050" y="30289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strip() (Java 11+)</a:t>
            </a:r>
            <a:endParaRPr lang="en-US" sz="1013" dirty="0"/>
          </a:p>
        </p:txBody>
      </p:sp>
      <p:sp>
        <p:nvSpPr>
          <p:cNvPr id="52" name="Text 47"/>
          <p:cNvSpPr/>
          <p:nvPr/>
        </p:nvSpPr>
        <p:spPr>
          <a:xfrm>
            <a:off x="4972050" y="32289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Similar to trim() but Unicode-aware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4857750" y="3514725"/>
            <a:ext cx="3657600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/>
          <p:nvPr/>
        </p:nvSpPr>
        <p:spPr>
          <a:xfrm>
            <a:off x="4972050" y="36415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55" name="Text 50"/>
          <p:cNvSpPr/>
          <p:nvPr/>
        </p:nvSpPr>
        <p:spPr>
          <a:xfrm>
            <a:off x="5434971" y="36415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56" name="Text 51"/>
          <p:cNvSpPr/>
          <p:nvPr/>
        </p:nvSpPr>
        <p:spPr>
          <a:xfrm>
            <a:off x="6052207" y="3641527"/>
            <a:ext cx="138304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Hello, World!   "</a:t>
            </a:r>
            <a:endParaRPr lang="en-US" sz="1013" dirty="0"/>
          </a:p>
        </p:txBody>
      </p:sp>
      <p:sp>
        <p:nvSpPr>
          <p:cNvPr id="57" name="Text 52"/>
          <p:cNvSpPr/>
          <p:nvPr/>
        </p:nvSpPr>
        <p:spPr>
          <a:xfrm>
            <a:off x="7363811" y="36415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58" name="Text 53"/>
          <p:cNvSpPr/>
          <p:nvPr/>
        </p:nvSpPr>
        <p:spPr>
          <a:xfrm>
            <a:off x="4972050" y="38415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59" name="Text 54"/>
          <p:cNvSpPr/>
          <p:nvPr/>
        </p:nvSpPr>
        <p:spPr>
          <a:xfrm>
            <a:off x="5434971" y="3841552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stripped = text.strip();</a:t>
            </a:r>
            <a:endParaRPr lang="en-US" sz="1013" dirty="0"/>
          </a:p>
        </p:txBody>
      </p:sp>
      <p:sp>
        <p:nvSpPr>
          <p:cNvPr id="60" name="Text 55"/>
          <p:cNvSpPr/>
          <p:nvPr/>
        </p:nvSpPr>
        <p:spPr>
          <a:xfrm>
            <a:off x="4972050" y="4041577"/>
            <a:ext cx="146019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"Hello, World!"</a:t>
            </a:r>
            <a:endParaRPr lang="en-US" sz="1013" dirty="0"/>
          </a:p>
        </p:txBody>
      </p:sp>
      <p:sp>
        <p:nvSpPr>
          <p:cNvPr id="61" name="Shape 56"/>
          <p:cNvSpPr/>
          <p:nvPr/>
        </p:nvSpPr>
        <p:spPr>
          <a:xfrm>
            <a:off x="4857750" y="4457700"/>
            <a:ext cx="3657600" cy="31432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3475" y="4557713"/>
            <a:ext cx="114300" cy="114300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5114925" y="4557713"/>
            <a:ext cx="111757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11+ also provides</a:t>
            </a:r>
            <a:endParaRPr lang="en-US" sz="788" dirty="0"/>
          </a:p>
        </p:txBody>
      </p:sp>
      <p:sp>
        <p:nvSpPr>
          <p:cNvPr id="64" name="Text 58"/>
          <p:cNvSpPr/>
          <p:nvPr/>
        </p:nvSpPr>
        <p:spPr>
          <a:xfrm>
            <a:off x="6161066" y="4557713"/>
            <a:ext cx="73817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stripLeading()</a:t>
            </a:r>
            <a:endParaRPr lang="en-US" sz="788" dirty="0"/>
          </a:p>
        </p:txBody>
      </p:sp>
      <p:sp>
        <p:nvSpPr>
          <p:cNvPr id="65" name="Text 59"/>
          <p:cNvSpPr/>
          <p:nvPr/>
        </p:nvSpPr>
        <p:spPr>
          <a:xfrm>
            <a:off x="6827806" y="4557713"/>
            <a:ext cx="29389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endParaRPr lang="en-US" sz="788" dirty="0"/>
          </a:p>
        </p:txBody>
      </p:sp>
      <p:sp>
        <p:nvSpPr>
          <p:cNvPr id="66" name="Text 60"/>
          <p:cNvSpPr/>
          <p:nvPr/>
        </p:nvSpPr>
        <p:spPr>
          <a:xfrm>
            <a:off x="7050267" y="4557713"/>
            <a:ext cx="71044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stripTrailing()</a:t>
            </a:r>
            <a:endParaRPr lang="en-US" sz="788" dirty="0"/>
          </a:p>
        </p:txBody>
      </p:sp>
      <p:sp>
        <p:nvSpPr>
          <p:cNvPr id="67" name="Text 61"/>
          <p:cNvSpPr/>
          <p:nvPr/>
        </p:nvSpPr>
        <p:spPr>
          <a:xfrm>
            <a:off x="7689270" y="4557713"/>
            <a:ext cx="79957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more control</a:t>
            </a:r>
            <a:endParaRPr lang="en-US" sz="788" dirty="0"/>
          </a:p>
        </p:txBody>
      </p:sp>
      <p:sp>
        <p:nvSpPr>
          <p:cNvPr id="68" name="Shape 62"/>
          <p:cNvSpPr/>
          <p:nvPr/>
        </p:nvSpPr>
        <p:spPr>
          <a:xfrm>
            <a:off x="457200" y="5314950"/>
            <a:ext cx="8229600" cy="24288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3"/>
          <p:cNvSpPr/>
          <p:nvPr/>
        </p:nvSpPr>
        <p:spPr>
          <a:xfrm>
            <a:off x="628650" y="548640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Remember: Immutability!</a:t>
            </a:r>
            <a:endParaRPr lang="en-US" sz="1350" dirty="0"/>
          </a:p>
        </p:txBody>
      </p:sp>
      <p:pic>
        <p:nvPicPr>
          <p:cNvPr id="7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6593681"/>
            <a:ext cx="214313" cy="214313"/>
          </a:xfrm>
          <a:prstGeom prst="rect">
            <a:avLst/>
          </a:prstGeom>
        </p:spPr>
      </p:pic>
      <p:sp>
        <p:nvSpPr>
          <p:cNvPr id="71" name="Text 64"/>
          <p:cNvSpPr/>
          <p:nvPr/>
        </p:nvSpPr>
        <p:spPr>
          <a:xfrm>
            <a:off x="957263" y="5857875"/>
            <a:ext cx="1500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these methods return</a:t>
            </a:r>
            <a:endParaRPr lang="en-US" sz="1013" dirty="0"/>
          </a:p>
        </p:txBody>
      </p:sp>
      <p:sp>
        <p:nvSpPr>
          <p:cNvPr id="72" name="Text 65"/>
          <p:cNvSpPr/>
          <p:nvPr/>
        </p:nvSpPr>
        <p:spPr>
          <a:xfrm>
            <a:off x="2386738" y="5857875"/>
            <a:ext cx="121460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String objects</a:t>
            </a:r>
            <a:endParaRPr lang="en-US" sz="1013" dirty="0"/>
          </a:p>
        </p:txBody>
      </p:sp>
      <p:sp>
        <p:nvSpPr>
          <p:cNvPr id="73" name="Text 66"/>
          <p:cNvSpPr/>
          <p:nvPr/>
        </p:nvSpPr>
        <p:spPr>
          <a:xfrm>
            <a:off x="3529905" y="5857875"/>
            <a:ext cx="23850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original String remains unchanged.</a:t>
            </a:r>
            <a:endParaRPr lang="en-US" sz="1013" dirty="0"/>
          </a:p>
        </p:txBody>
      </p:sp>
      <p:sp>
        <p:nvSpPr>
          <p:cNvPr id="74" name="Shape 67"/>
          <p:cNvSpPr/>
          <p:nvPr/>
        </p:nvSpPr>
        <p:spPr>
          <a:xfrm>
            <a:off x="957263" y="6143625"/>
            <a:ext cx="4886213" cy="14287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8"/>
          <p:cNvSpPr/>
          <p:nvPr/>
        </p:nvSpPr>
        <p:spPr>
          <a:xfrm>
            <a:off x="1071563" y="62704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76" name="Text 69"/>
          <p:cNvSpPr/>
          <p:nvPr/>
        </p:nvSpPr>
        <p:spPr>
          <a:xfrm>
            <a:off x="1534483" y="6270427"/>
            <a:ext cx="9972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=</a:t>
            </a:r>
            <a:endParaRPr lang="en-US" sz="1013" dirty="0"/>
          </a:p>
        </p:txBody>
      </p:sp>
      <p:sp>
        <p:nvSpPr>
          <p:cNvPr id="77" name="Text 70"/>
          <p:cNvSpPr/>
          <p:nvPr/>
        </p:nvSpPr>
        <p:spPr>
          <a:xfrm>
            <a:off x="2460324" y="6270427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Hello  "</a:t>
            </a:r>
            <a:endParaRPr lang="en-US" sz="1013" dirty="0"/>
          </a:p>
        </p:txBody>
      </p:sp>
      <p:sp>
        <p:nvSpPr>
          <p:cNvPr id="78" name="Text 71"/>
          <p:cNvSpPr/>
          <p:nvPr/>
        </p:nvSpPr>
        <p:spPr>
          <a:xfrm>
            <a:off x="3154719" y="62704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79" name="Text 72"/>
          <p:cNvSpPr/>
          <p:nvPr/>
        </p:nvSpPr>
        <p:spPr>
          <a:xfrm>
            <a:off x="1071563" y="6470452"/>
            <a:ext cx="138304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original.trim();</a:t>
            </a:r>
            <a:endParaRPr lang="en-US" sz="1013" dirty="0"/>
          </a:p>
        </p:txBody>
      </p:sp>
      <p:sp>
        <p:nvSpPr>
          <p:cNvPr id="80" name="Text 73"/>
          <p:cNvSpPr/>
          <p:nvPr/>
        </p:nvSpPr>
        <p:spPr>
          <a:xfrm>
            <a:off x="2383166" y="6470452"/>
            <a:ext cx="269464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has no effect on original!</a:t>
            </a:r>
            <a:endParaRPr lang="en-US" sz="1013" dirty="0"/>
          </a:p>
        </p:txBody>
      </p:sp>
      <p:sp>
        <p:nvSpPr>
          <p:cNvPr id="81" name="Text 74"/>
          <p:cNvSpPr/>
          <p:nvPr/>
        </p:nvSpPr>
        <p:spPr>
          <a:xfrm>
            <a:off x="1071563" y="6670477"/>
            <a:ext cx="238604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System.out.println(original);</a:t>
            </a:r>
            <a:endParaRPr lang="en-US" sz="1013" dirty="0"/>
          </a:p>
        </p:txBody>
      </p:sp>
      <p:sp>
        <p:nvSpPr>
          <p:cNvPr id="82" name="Text 75"/>
          <p:cNvSpPr/>
          <p:nvPr/>
        </p:nvSpPr>
        <p:spPr>
          <a:xfrm>
            <a:off x="3386165" y="6670477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Still prints "  Hello  "</a:t>
            </a:r>
            <a:endParaRPr lang="en-US" sz="1013" dirty="0"/>
          </a:p>
        </p:txBody>
      </p:sp>
      <p:sp>
        <p:nvSpPr>
          <p:cNvPr id="83" name="Text 76"/>
          <p:cNvSpPr/>
          <p:nvPr/>
        </p:nvSpPr>
        <p:spPr>
          <a:xfrm>
            <a:off x="1071563" y="70705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84" name="Text 77"/>
          <p:cNvSpPr/>
          <p:nvPr/>
        </p:nvSpPr>
        <p:spPr>
          <a:xfrm>
            <a:off x="1534483" y="7070527"/>
            <a:ext cx="223172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trimmed = original.trim();</a:t>
            </a:r>
            <a:endParaRPr lang="en-US" sz="1013" dirty="0"/>
          </a:p>
        </p:txBody>
      </p:sp>
      <p:sp>
        <p:nvSpPr>
          <p:cNvPr id="85" name="Text 78"/>
          <p:cNvSpPr/>
          <p:nvPr/>
        </p:nvSpPr>
        <p:spPr>
          <a:xfrm>
            <a:off x="3694770" y="7070527"/>
            <a:ext cx="130588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 usage</a:t>
            </a:r>
            <a:endParaRPr lang="en-US" sz="1013" dirty="0"/>
          </a:p>
        </p:txBody>
      </p:sp>
      <p:sp>
        <p:nvSpPr>
          <p:cNvPr id="86" name="Text 79"/>
          <p:cNvSpPr/>
          <p:nvPr/>
        </p:nvSpPr>
        <p:spPr>
          <a:xfrm>
            <a:off x="1071563" y="7270552"/>
            <a:ext cx="230888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System.out.println(trimmed);</a:t>
            </a:r>
            <a:endParaRPr lang="en-US" sz="1013" dirty="0"/>
          </a:p>
        </p:txBody>
      </p:sp>
      <p:sp>
        <p:nvSpPr>
          <p:cNvPr id="87" name="Text 80"/>
          <p:cNvSpPr/>
          <p:nvPr/>
        </p:nvSpPr>
        <p:spPr>
          <a:xfrm>
            <a:off x="3309007" y="7270552"/>
            <a:ext cx="138304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Prints "Hello"</a:t>
            </a:r>
            <a:endParaRPr lang="en-US" sz="101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2581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6115050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2400077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Modifying Strings: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2785839" y="455414"/>
            <a:ext cx="2343206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Replacing Content</a:t>
            </a:r>
            <a:endParaRPr lang="en-US" sz="2025" dirty="0"/>
          </a:p>
        </p:txBody>
      </p:sp>
      <p:sp>
        <p:nvSpPr>
          <p:cNvPr id="6" name="Shape 2"/>
          <p:cNvSpPr/>
          <p:nvPr/>
        </p:nvSpPr>
        <p:spPr>
          <a:xfrm>
            <a:off x="457200" y="971550"/>
            <a:ext cx="4000500" cy="31432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Character Replacement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286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286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429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replace(char oldChar, char newChar)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7429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all occurrences of a character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8650" y="2085975"/>
            <a:ext cx="3657600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42950" y="22127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1205871" y="221277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1823107" y="221277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2980423" y="221277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17" name="Text 13"/>
          <p:cNvSpPr/>
          <p:nvPr/>
        </p:nvSpPr>
        <p:spPr>
          <a:xfrm>
            <a:off x="742950" y="24128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1205871" y="2412802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replaced = text.replace(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3134711" y="24128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'l'</a:t>
            </a:r>
            <a:endParaRPr lang="en-US" sz="1013" dirty="0"/>
          </a:p>
        </p:txBody>
      </p:sp>
      <p:sp>
        <p:nvSpPr>
          <p:cNvPr id="20" name="Text 16"/>
          <p:cNvSpPr/>
          <p:nvPr/>
        </p:nvSpPr>
        <p:spPr>
          <a:xfrm>
            <a:off x="3366185" y="241280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13" dirty="0"/>
          </a:p>
        </p:txBody>
      </p:sp>
      <p:sp>
        <p:nvSpPr>
          <p:cNvPr id="21" name="Text 17"/>
          <p:cNvSpPr/>
          <p:nvPr/>
        </p:nvSpPr>
        <p:spPr>
          <a:xfrm>
            <a:off x="3520501" y="24128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endParaRPr lang="en-US" sz="1013" dirty="0"/>
          </a:p>
        </p:txBody>
      </p:sp>
      <p:sp>
        <p:nvSpPr>
          <p:cNvPr id="22" name="Text 18"/>
          <p:cNvSpPr/>
          <p:nvPr/>
        </p:nvSpPr>
        <p:spPr>
          <a:xfrm>
            <a:off x="3751976" y="241280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23" name="Text 19"/>
          <p:cNvSpPr/>
          <p:nvPr/>
        </p:nvSpPr>
        <p:spPr>
          <a:xfrm>
            <a:off x="742950" y="2612827"/>
            <a:ext cx="146019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"He**o, Wor*d!"</a:t>
            </a:r>
            <a:endParaRPr lang="en-US" sz="1013" dirty="0"/>
          </a:p>
        </p:txBody>
      </p:sp>
      <p:sp>
        <p:nvSpPr>
          <p:cNvPr id="24" name="Shape 20"/>
          <p:cNvSpPr/>
          <p:nvPr/>
        </p:nvSpPr>
        <p:spPr>
          <a:xfrm>
            <a:off x="628650" y="3028950"/>
            <a:ext cx="3657600" cy="31432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128963"/>
            <a:ext cx="114300" cy="1143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85825" y="3114675"/>
            <a:ext cx="22840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the original string if no matches are found</a:t>
            </a:r>
            <a:endParaRPr lang="en-US" sz="788" dirty="0"/>
          </a:p>
        </p:txBody>
      </p:sp>
      <p:sp>
        <p:nvSpPr>
          <p:cNvPr id="27" name="Shape 22"/>
          <p:cNvSpPr/>
          <p:nvPr/>
        </p:nvSpPr>
        <p:spPr>
          <a:xfrm>
            <a:off x="4686300" y="971550"/>
            <a:ext cx="4000500" cy="31432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Replacement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4857750" y="1485900"/>
            <a:ext cx="3657600" cy="6858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857750" y="1485900"/>
            <a:ext cx="28575" cy="685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4972050" y="1543050"/>
            <a:ext cx="36147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replace(CharSequence target, CharSequence replacement)</a:t>
            </a:r>
            <a:endParaRPr lang="en-US" sz="1013" dirty="0"/>
          </a:p>
        </p:txBody>
      </p:sp>
      <p:sp>
        <p:nvSpPr>
          <p:cNvPr id="32" name="Text 27"/>
          <p:cNvSpPr/>
          <p:nvPr/>
        </p:nvSpPr>
        <p:spPr>
          <a:xfrm>
            <a:off x="4972050" y="1943100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all occurrences of a substring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857750" y="2286000"/>
            <a:ext cx="3657600" cy="12287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4972050" y="24128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35" name="Text 30"/>
          <p:cNvSpPr/>
          <p:nvPr/>
        </p:nvSpPr>
        <p:spPr>
          <a:xfrm>
            <a:off x="5434971" y="2412802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36" name="Text 31"/>
          <p:cNvSpPr/>
          <p:nvPr/>
        </p:nvSpPr>
        <p:spPr>
          <a:xfrm>
            <a:off x="4972050" y="2412802"/>
            <a:ext cx="2848961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 is cool. Java is powerful."</a:t>
            </a:r>
            <a:endParaRPr lang="en-US" sz="1013" dirty="0"/>
          </a:p>
        </p:txBody>
      </p:sp>
      <p:sp>
        <p:nvSpPr>
          <p:cNvPr id="37" name="Text 32"/>
          <p:cNvSpPr/>
          <p:nvPr/>
        </p:nvSpPr>
        <p:spPr>
          <a:xfrm>
            <a:off x="5743603" y="26128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38" name="Text 33"/>
          <p:cNvSpPr/>
          <p:nvPr/>
        </p:nvSpPr>
        <p:spPr>
          <a:xfrm>
            <a:off x="4972050" y="28128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39" name="Text 34"/>
          <p:cNvSpPr/>
          <p:nvPr/>
        </p:nvSpPr>
        <p:spPr>
          <a:xfrm>
            <a:off x="5434971" y="2812852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replaced = text.replace(</a:t>
            </a:r>
            <a:endParaRPr lang="en-US" sz="1013" dirty="0"/>
          </a:p>
        </p:txBody>
      </p:sp>
      <p:sp>
        <p:nvSpPr>
          <p:cNvPr id="40" name="Text 35"/>
          <p:cNvSpPr/>
          <p:nvPr/>
        </p:nvSpPr>
        <p:spPr>
          <a:xfrm>
            <a:off x="7363811" y="28128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endParaRPr lang="en-US" sz="1013" dirty="0"/>
          </a:p>
        </p:txBody>
      </p:sp>
      <p:sp>
        <p:nvSpPr>
          <p:cNvPr id="41" name="Text 36"/>
          <p:cNvSpPr/>
          <p:nvPr/>
        </p:nvSpPr>
        <p:spPr>
          <a:xfrm>
            <a:off x="7826732" y="281285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13" dirty="0"/>
          </a:p>
        </p:txBody>
      </p:sp>
      <p:sp>
        <p:nvSpPr>
          <p:cNvPr id="42" name="Text 37"/>
          <p:cNvSpPr/>
          <p:nvPr/>
        </p:nvSpPr>
        <p:spPr>
          <a:xfrm>
            <a:off x="4972050" y="301287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endParaRPr lang="en-US" sz="1013" dirty="0"/>
          </a:p>
        </p:txBody>
      </p:sp>
      <p:sp>
        <p:nvSpPr>
          <p:cNvPr id="43" name="Text 38"/>
          <p:cNvSpPr/>
          <p:nvPr/>
        </p:nvSpPr>
        <p:spPr>
          <a:xfrm>
            <a:off x="5589287" y="301287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44" name="Text 39"/>
          <p:cNvSpPr/>
          <p:nvPr/>
        </p:nvSpPr>
        <p:spPr>
          <a:xfrm>
            <a:off x="4972050" y="3212902"/>
            <a:ext cx="315756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"Python is cool. Python is powerful."</a:t>
            </a:r>
            <a:endParaRPr lang="en-US" sz="1013" dirty="0"/>
          </a:p>
        </p:txBody>
      </p:sp>
      <p:sp>
        <p:nvSpPr>
          <p:cNvPr id="45" name="Shape 40"/>
          <p:cNvSpPr/>
          <p:nvPr/>
        </p:nvSpPr>
        <p:spPr>
          <a:xfrm>
            <a:off x="4857750" y="3629025"/>
            <a:ext cx="3657600" cy="314325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3475" y="3729038"/>
            <a:ext cx="85725" cy="11430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086350" y="3714750"/>
            <a:ext cx="1700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Literal replacement, not regex-based</a:t>
            </a:r>
            <a:endParaRPr lang="en-US" sz="788" dirty="0"/>
          </a:p>
        </p:txBody>
      </p:sp>
      <p:sp>
        <p:nvSpPr>
          <p:cNvPr id="48" name="Shape 42"/>
          <p:cNvSpPr/>
          <p:nvPr/>
        </p:nvSpPr>
        <p:spPr>
          <a:xfrm>
            <a:off x="457200" y="4343400"/>
            <a:ext cx="8229600" cy="345757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628650" y="451485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Expression Replacement</a:t>
            </a:r>
            <a:endParaRPr lang="en-US" sz="1350" dirty="0"/>
          </a:p>
        </p:txBody>
      </p:sp>
      <p:sp>
        <p:nvSpPr>
          <p:cNvPr id="50" name="Shape 44"/>
          <p:cNvSpPr/>
          <p:nvPr/>
        </p:nvSpPr>
        <p:spPr>
          <a:xfrm>
            <a:off x="628650" y="4857750"/>
            <a:ext cx="3857625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5"/>
          <p:cNvSpPr/>
          <p:nvPr/>
        </p:nvSpPr>
        <p:spPr>
          <a:xfrm>
            <a:off x="628650" y="485775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742950" y="4914900"/>
            <a:ext cx="38147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replaceAll(String regex, String replacement)</a:t>
            </a:r>
            <a:endParaRPr lang="en-US" sz="1013" dirty="0"/>
          </a:p>
        </p:txBody>
      </p:sp>
      <p:sp>
        <p:nvSpPr>
          <p:cNvPr id="53" name="Text 47"/>
          <p:cNvSpPr/>
          <p:nvPr/>
        </p:nvSpPr>
        <p:spPr>
          <a:xfrm>
            <a:off x="742950" y="5114925"/>
            <a:ext cx="38147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all matches of regex pattern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628650" y="5400675"/>
            <a:ext cx="3857625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/>
          <p:nvPr/>
        </p:nvSpPr>
        <p:spPr>
          <a:xfrm>
            <a:off x="742950" y="55274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56" name="Text 50"/>
          <p:cNvSpPr/>
          <p:nvPr/>
        </p:nvSpPr>
        <p:spPr>
          <a:xfrm>
            <a:off x="1205871" y="552747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57" name="Text 51"/>
          <p:cNvSpPr/>
          <p:nvPr/>
        </p:nvSpPr>
        <p:spPr>
          <a:xfrm>
            <a:off x="1823107" y="5527477"/>
            <a:ext cx="246317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"Java8 is Java11's predecessor"</a:t>
            </a:r>
            <a:endParaRPr lang="en-US" sz="1013" dirty="0"/>
          </a:p>
        </p:txBody>
      </p:sp>
      <p:sp>
        <p:nvSpPr>
          <p:cNvPr id="58" name="Text 52"/>
          <p:cNvSpPr/>
          <p:nvPr/>
        </p:nvSpPr>
        <p:spPr>
          <a:xfrm>
            <a:off x="4214840" y="552747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59" name="Text 53"/>
          <p:cNvSpPr/>
          <p:nvPr/>
        </p:nvSpPr>
        <p:spPr>
          <a:xfrm>
            <a:off x="742950" y="57275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60" name="Text 54"/>
          <p:cNvSpPr/>
          <p:nvPr/>
        </p:nvSpPr>
        <p:spPr>
          <a:xfrm>
            <a:off x="1205871" y="5727502"/>
            <a:ext cx="223172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replaced = text.replaceAll(</a:t>
            </a:r>
            <a:endParaRPr lang="en-US" sz="1013" dirty="0"/>
          </a:p>
        </p:txBody>
      </p:sp>
      <p:sp>
        <p:nvSpPr>
          <p:cNvPr id="61" name="Text 55"/>
          <p:cNvSpPr/>
          <p:nvPr/>
        </p:nvSpPr>
        <p:spPr>
          <a:xfrm>
            <a:off x="3366157" y="57275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"\\d+"</a:t>
            </a:r>
            <a:endParaRPr lang="en-US" sz="1013" dirty="0"/>
          </a:p>
        </p:txBody>
      </p:sp>
      <p:sp>
        <p:nvSpPr>
          <p:cNvPr id="62" name="Text 56"/>
          <p:cNvSpPr/>
          <p:nvPr/>
        </p:nvSpPr>
        <p:spPr>
          <a:xfrm>
            <a:off x="3829078" y="572750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13" dirty="0"/>
          </a:p>
        </p:txBody>
      </p:sp>
      <p:sp>
        <p:nvSpPr>
          <p:cNvPr id="63" name="Text 57"/>
          <p:cNvSpPr/>
          <p:nvPr/>
        </p:nvSpPr>
        <p:spPr>
          <a:xfrm>
            <a:off x="3983394" y="57275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"X"</a:t>
            </a:r>
            <a:endParaRPr lang="en-US" sz="1013" dirty="0"/>
          </a:p>
        </p:txBody>
      </p:sp>
      <p:sp>
        <p:nvSpPr>
          <p:cNvPr id="64" name="Text 58"/>
          <p:cNvSpPr/>
          <p:nvPr/>
        </p:nvSpPr>
        <p:spPr>
          <a:xfrm>
            <a:off x="4214868" y="572750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65" name="Text 59"/>
          <p:cNvSpPr/>
          <p:nvPr/>
        </p:nvSpPr>
        <p:spPr>
          <a:xfrm>
            <a:off x="742950" y="5927527"/>
            <a:ext cx="2617487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"JavaX is JavaX's predecessor"</a:t>
            </a:r>
            <a:endParaRPr lang="en-US" sz="1013" dirty="0"/>
          </a:p>
        </p:txBody>
      </p:sp>
      <p:sp>
        <p:nvSpPr>
          <p:cNvPr id="66" name="Shape 60"/>
          <p:cNvSpPr/>
          <p:nvPr/>
        </p:nvSpPr>
        <p:spPr>
          <a:xfrm>
            <a:off x="4657725" y="4857750"/>
            <a:ext cx="3857625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4657725" y="485775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4772025" y="4914900"/>
            <a:ext cx="38147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replaceFirst(String regex, String replacement)</a:t>
            </a:r>
            <a:endParaRPr lang="en-US" sz="1013" dirty="0"/>
          </a:p>
        </p:txBody>
      </p:sp>
      <p:sp>
        <p:nvSpPr>
          <p:cNvPr id="69" name="Text 63"/>
          <p:cNvSpPr/>
          <p:nvPr/>
        </p:nvSpPr>
        <p:spPr>
          <a:xfrm>
            <a:off x="4772025" y="5114925"/>
            <a:ext cx="38147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only the first match</a:t>
            </a:r>
            <a:endParaRPr lang="en-US" sz="900" dirty="0"/>
          </a:p>
        </p:txBody>
      </p:sp>
      <p:sp>
        <p:nvSpPr>
          <p:cNvPr id="70" name="Shape 64"/>
          <p:cNvSpPr/>
          <p:nvPr/>
        </p:nvSpPr>
        <p:spPr>
          <a:xfrm>
            <a:off x="4657725" y="5400675"/>
            <a:ext cx="3857625" cy="10287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5"/>
          <p:cNvSpPr/>
          <p:nvPr/>
        </p:nvSpPr>
        <p:spPr>
          <a:xfrm>
            <a:off x="4772025" y="55274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72" name="Text 66"/>
          <p:cNvSpPr/>
          <p:nvPr/>
        </p:nvSpPr>
        <p:spPr>
          <a:xfrm>
            <a:off x="5234946" y="552747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73" name="Text 67"/>
          <p:cNvSpPr/>
          <p:nvPr/>
        </p:nvSpPr>
        <p:spPr>
          <a:xfrm>
            <a:off x="5852182" y="5527477"/>
            <a:ext cx="246317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"Java8 is Java11's predecessor"</a:t>
            </a:r>
            <a:endParaRPr lang="en-US" sz="1013" dirty="0"/>
          </a:p>
        </p:txBody>
      </p:sp>
      <p:sp>
        <p:nvSpPr>
          <p:cNvPr id="74" name="Text 68"/>
          <p:cNvSpPr/>
          <p:nvPr/>
        </p:nvSpPr>
        <p:spPr>
          <a:xfrm>
            <a:off x="8243915" y="552747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75" name="Text 69"/>
          <p:cNvSpPr/>
          <p:nvPr/>
        </p:nvSpPr>
        <p:spPr>
          <a:xfrm>
            <a:off x="4772025" y="57275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76" name="Text 70"/>
          <p:cNvSpPr/>
          <p:nvPr/>
        </p:nvSpPr>
        <p:spPr>
          <a:xfrm>
            <a:off x="5234946" y="5727502"/>
            <a:ext cx="238604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replaced = text.replaceFirst(</a:t>
            </a:r>
            <a:endParaRPr lang="en-US" sz="1013" dirty="0"/>
          </a:p>
        </p:txBody>
      </p:sp>
      <p:sp>
        <p:nvSpPr>
          <p:cNvPr id="77" name="Text 71"/>
          <p:cNvSpPr/>
          <p:nvPr/>
        </p:nvSpPr>
        <p:spPr>
          <a:xfrm>
            <a:off x="7549548" y="57275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endParaRPr lang="en-US" sz="1013" dirty="0"/>
          </a:p>
        </p:txBody>
      </p:sp>
      <p:sp>
        <p:nvSpPr>
          <p:cNvPr id="78" name="Text 72"/>
          <p:cNvSpPr/>
          <p:nvPr/>
        </p:nvSpPr>
        <p:spPr>
          <a:xfrm>
            <a:off x="8012469" y="57275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13" dirty="0"/>
          </a:p>
        </p:txBody>
      </p:sp>
      <p:sp>
        <p:nvSpPr>
          <p:cNvPr id="79" name="Text 73"/>
          <p:cNvSpPr/>
          <p:nvPr/>
        </p:nvSpPr>
        <p:spPr>
          <a:xfrm>
            <a:off x="4772025" y="59275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endParaRPr lang="en-US" sz="1013" dirty="0"/>
          </a:p>
        </p:txBody>
      </p:sp>
      <p:sp>
        <p:nvSpPr>
          <p:cNvPr id="80" name="Text 74"/>
          <p:cNvSpPr/>
          <p:nvPr/>
        </p:nvSpPr>
        <p:spPr>
          <a:xfrm>
            <a:off x="5389262" y="592752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81" name="Text 75"/>
          <p:cNvSpPr/>
          <p:nvPr/>
        </p:nvSpPr>
        <p:spPr>
          <a:xfrm>
            <a:off x="4772025" y="6127552"/>
            <a:ext cx="284893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"Python8 is Java11's predecessor"</a:t>
            </a:r>
            <a:endParaRPr lang="en-US" sz="1013" dirty="0"/>
          </a:p>
        </p:txBody>
      </p:sp>
      <p:pic>
        <p:nvPicPr>
          <p:cNvPr id="8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7029450"/>
            <a:ext cx="171450" cy="171450"/>
          </a:xfrm>
          <a:prstGeom prst="rect">
            <a:avLst/>
          </a:prstGeom>
        </p:spPr>
      </p:pic>
      <p:sp>
        <p:nvSpPr>
          <p:cNvPr id="83" name="Text 76"/>
          <p:cNvSpPr/>
          <p:nvPr/>
        </p:nvSpPr>
        <p:spPr>
          <a:xfrm>
            <a:off x="914400" y="6600825"/>
            <a:ext cx="3571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expressions are powerful but can be complex:</a:t>
            </a:r>
            <a:endParaRPr lang="en-US" sz="1013" dirty="0"/>
          </a:p>
        </p:txBody>
      </p:sp>
      <p:sp>
        <p:nvSpPr>
          <p:cNvPr id="84" name="Text 77"/>
          <p:cNvSpPr/>
          <p:nvPr/>
        </p:nvSpPr>
        <p:spPr>
          <a:xfrm>
            <a:off x="1085850" y="6858000"/>
            <a:ext cx="34004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 characters need to be escaped with \\ in Java strings</a:t>
            </a:r>
            <a:endParaRPr lang="en-US" sz="900" dirty="0"/>
          </a:p>
        </p:txBody>
      </p:sp>
      <p:sp>
        <p:nvSpPr>
          <p:cNvPr id="85" name="Text 78"/>
          <p:cNvSpPr/>
          <p:nvPr/>
        </p:nvSpPr>
        <p:spPr>
          <a:xfrm>
            <a:off x="1085850" y="7058025"/>
            <a:ext cx="34004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can be impacted with complex patterns</a:t>
            </a:r>
            <a:endParaRPr lang="en-US" sz="900" dirty="0"/>
          </a:p>
        </p:txBody>
      </p:sp>
      <p:sp>
        <p:nvSpPr>
          <p:cNvPr id="86" name="Text 79"/>
          <p:cNvSpPr/>
          <p:nvPr/>
        </p:nvSpPr>
        <p:spPr>
          <a:xfrm>
            <a:off x="1085850" y="7279481"/>
            <a:ext cx="306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</a:t>
            </a:r>
            <a:endParaRPr lang="en-US" sz="900" dirty="0"/>
          </a:p>
        </p:txBody>
      </p:sp>
      <p:sp>
        <p:nvSpPr>
          <p:cNvPr id="87" name="Text 80"/>
          <p:cNvSpPr/>
          <p:nvPr/>
        </p:nvSpPr>
        <p:spPr>
          <a:xfrm>
            <a:off x="1320868" y="7279481"/>
            <a:ext cx="5478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replace()</a:t>
            </a:r>
            <a:endParaRPr lang="en-US" sz="900" dirty="0"/>
          </a:p>
        </p:txBody>
      </p:sp>
      <p:sp>
        <p:nvSpPr>
          <p:cNvPr id="88" name="Text 81"/>
          <p:cNvSpPr/>
          <p:nvPr/>
        </p:nvSpPr>
        <p:spPr>
          <a:xfrm>
            <a:off x="1797323" y="7279481"/>
            <a:ext cx="162140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simple literal replacements</a:t>
            </a:r>
            <a:endParaRPr lang="en-US" sz="900" dirty="0"/>
          </a:p>
        </p:txBody>
      </p:sp>
      <p:sp>
        <p:nvSpPr>
          <p:cNvPr id="89" name="Text 82"/>
          <p:cNvSpPr/>
          <p:nvPr/>
        </p:nvSpPr>
        <p:spPr>
          <a:xfrm>
            <a:off x="1085850" y="7479506"/>
            <a:ext cx="306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</a:t>
            </a:r>
            <a:endParaRPr lang="en-US" sz="900" dirty="0"/>
          </a:p>
        </p:txBody>
      </p:sp>
      <p:sp>
        <p:nvSpPr>
          <p:cNvPr id="90" name="Text 83"/>
          <p:cNvSpPr/>
          <p:nvPr/>
        </p:nvSpPr>
        <p:spPr>
          <a:xfrm>
            <a:off x="1320868" y="7479506"/>
            <a:ext cx="69394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replaceAll()</a:t>
            </a:r>
            <a:endParaRPr lang="en-US" sz="900" dirty="0"/>
          </a:p>
        </p:txBody>
      </p:sp>
      <p:sp>
        <p:nvSpPr>
          <p:cNvPr id="91" name="Text 84"/>
          <p:cNvSpPr/>
          <p:nvPr/>
        </p:nvSpPr>
        <p:spPr>
          <a:xfrm>
            <a:off x="1943379" y="7479506"/>
            <a:ext cx="1031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endParaRPr lang="en-US" sz="900" dirty="0"/>
          </a:p>
        </p:txBody>
      </p:sp>
      <p:sp>
        <p:nvSpPr>
          <p:cNvPr id="92" name="Text 85"/>
          <p:cNvSpPr/>
          <p:nvPr/>
        </p:nvSpPr>
        <p:spPr>
          <a:xfrm>
            <a:off x="1975135" y="7479506"/>
            <a:ext cx="79557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replaceFirst()</a:t>
            </a:r>
            <a:endParaRPr lang="en-US" sz="900" dirty="0"/>
          </a:p>
        </p:txBody>
      </p:sp>
      <p:sp>
        <p:nvSpPr>
          <p:cNvPr id="93" name="Text 86"/>
          <p:cNvSpPr/>
          <p:nvPr/>
        </p:nvSpPr>
        <p:spPr>
          <a:xfrm>
            <a:off x="2699277" y="7479506"/>
            <a:ext cx="178705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pattern matching is needed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8582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6715125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2685771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Splitting and Joining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3071533" y="455414"/>
            <a:ext cx="957374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</a:t>
            </a:r>
            <a:endParaRPr lang="en-US" sz="2025" dirty="0"/>
          </a:p>
        </p:txBody>
      </p:sp>
      <p:sp>
        <p:nvSpPr>
          <p:cNvPr id="6" name="Shape 2"/>
          <p:cNvSpPr/>
          <p:nvPr/>
        </p:nvSpPr>
        <p:spPr>
          <a:xfrm>
            <a:off x="457200" y="971550"/>
            <a:ext cx="4000500" cy="294322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Splitting Strings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286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286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429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split(String regex)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7429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string around matches of the regex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8650" y="2085975"/>
            <a:ext cx="3657600" cy="8286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42950" y="22127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1205871" y="221277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1823107" y="2212777"/>
            <a:ext cx="169164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"apple,banana,orange"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3443315" y="221277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17" name="Text 13"/>
          <p:cNvSpPr/>
          <p:nvPr/>
        </p:nvSpPr>
        <p:spPr>
          <a:xfrm>
            <a:off x="742950" y="24128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1205871" y="2412802"/>
            <a:ext cx="184596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fruits = text.split(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2980395" y="24128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endParaRPr lang="en-US" sz="1013" dirty="0"/>
          </a:p>
        </p:txBody>
      </p:sp>
      <p:sp>
        <p:nvSpPr>
          <p:cNvPr id="20" name="Text 16"/>
          <p:cNvSpPr/>
          <p:nvPr/>
        </p:nvSpPr>
        <p:spPr>
          <a:xfrm>
            <a:off x="3211869" y="241280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21" name="Text 17"/>
          <p:cNvSpPr/>
          <p:nvPr/>
        </p:nvSpPr>
        <p:spPr>
          <a:xfrm>
            <a:off x="742950" y="2612827"/>
            <a:ext cx="323469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fruits = {"apple", "banana", "orange"}</a:t>
            </a:r>
            <a:endParaRPr lang="en-US" sz="1013" dirty="0"/>
          </a:p>
        </p:txBody>
      </p:sp>
      <p:sp>
        <p:nvSpPr>
          <p:cNvPr id="22" name="Shape 18"/>
          <p:cNvSpPr/>
          <p:nvPr/>
        </p:nvSpPr>
        <p:spPr>
          <a:xfrm>
            <a:off x="628650" y="3028950"/>
            <a:ext cx="3657600" cy="31432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128963"/>
            <a:ext cx="114300" cy="1143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5825" y="3128963"/>
            <a:ext cx="1768776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limit the number of splits with</a:t>
            </a:r>
            <a:endParaRPr lang="en-US" sz="788" dirty="0"/>
          </a:p>
        </p:txBody>
      </p:sp>
      <p:sp>
        <p:nvSpPr>
          <p:cNvPr id="25" name="Text 20"/>
          <p:cNvSpPr/>
          <p:nvPr/>
        </p:nvSpPr>
        <p:spPr>
          <a:xfrm>
            <a:off x="2583163" y="3128963"/>
            <a:ext cx="133836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split(String regex, int limit)</a:t>
            </a:r>
            <a:endParaRPr lang="en-US" sz="788" dirty="0"/>
          </a:p>
        </p:txBody>
      </p:sp>
      <p:sp>
        <p:nvSpPr>
          <p:cNvPr id="26" name="Shape 21"/>
          <p:cNvSpPr/>
          <p:nvPr/>
        </p:nvSpPr>
        <p:spPr>
          <a:xfrm>
            <a:off x="4686300" y="971550"/>
            <a:ext cx="4000500" cy="294322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Joining Strings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4857750" y="1485900"/>
            <a:ext cx="3657600" cy="6858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4857750" y="1485900"/>
            <a:ext cx="28575" cy="685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4972050" y="1543050"/>
            <a:ext cx="36147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String.join(CharSequence delimiter, CharSequence... elements)</a:t>
            </a:r>
            <a:endParaRPr lang="en-US" sz="1013" dirty="0"/>
          </a:p>
        </p:txBody>
      </p:sp>
      <p:sp>
        <p:nvSpPr>
          <p:cNvPr id="31" name="Text 26"/>
          <p:cNvSpPr/>
          <p:nvPr/>
        </p:nvSpPr>
        <p:spPr>
          <a:xfrm>
            <a:off x="4972050" y="1943100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Joins elements with the delimiter (Java 8+)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857750" y="2286000"/>
            <a:ext cx="3657600" cy="10287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4972050" y="24128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34" name="Text 29"/>
          <p:cNvSpPr/>
          <p:nvPr/>
        </p:nvSpPr>
        <p:spPr>
          <a:xfrm>
            <a:off x="5434971" y="2412802"/>
            <a:ext cx="10744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fruits = {</a:t>
            </a:r>
            <a:endParaRPr lang="en-US" sz="1013" dirty="0"/>
          </a:p>
        </p:txBody>
      </p:sp>
      <p:sp>
        <p:nvSpPr>
          <p:cNvPr id="35" name="Text 30"/>
          <p:cNvSpPr/>
          <p:nvPr/>
        </p:nvSpPr>
        <p:spPr>
          <a:xfrm>
            <a:off x="6437970" y="241280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endParaRPr lang="en-US" sz="1013" dirty="0"/>
          </a:p>
        </p:txBody>
      </p:sp>
      <p:sp>
        <p:nvSpPr>
          <p:cNvPr id="36" name="Text 31"/>
          <p:cNvSpPr/>
          <p:nvPr/>
        </p:nvSpPr>
        <p:spPr>
          <a:xfrm>
            <a:off x="6978048" y="241280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13" dirty="0"/>
          </a:p>
        </p:txBody>
      </p:sp>
      <p:sp>
        <p:nvSpPr>
          <p:cNvPr id="37" name="Text 32"/>
          <p:cNvSpPr/>
          <p:nvPr/>
        </p:nvSpPr>
        <p:spPr>
          <a:xfrm>
            <a:off x="7132365" y="2412802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"banana"</a:t>
            </a:r>
            <a:endParaRPr lang="en-US" sz="1013" dirty="0"/>
          </a:p>
        </p:txBody>
      </p:sp>
      <p:sp>
        <p:nvSpPr>
          <p:cNvPr id="38" name="Text 33"/>
          <p:cNvSpPr/>
          <p:nvPr/>
        </p:nvSpPr>
        <p:spPr>
          <a:xfrm>
            <a:off x="7749601" y="24128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13" dirty="0"/>
          </a:p>
        </p:txBody>
      </p:sp>
      <p:sp>
        <p:nvSpPr>
          <p:cNvPr id="39" name="Text 34"/>
          <p:cNvSpPr/>
          <p:nvPr/>
        </p:nvSpPr>
        <p:spPr>
          <a:xfrm>
            <a:off x="4972050" y="26128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"orange"</a:t>
            </a:r>
            <a:endParaRPr lang="en-US" sz="1013" dirty="0"/>
          </a:p>
        </p:txBody>
      </p:sp>
      <p:sp>
        <p:nvSpPr>
          <p:cNvPr id="40" name="Text 35"/>
          <p:cNvSpPr/>
          <p:nvPr/>
        </p:nvSpPr>
        <p:spPr>
          <a:xfrm>
            <a:off x="5589287" y="261282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13" dirty="0"/>
          </a:p>
        </p:txBody>
      </p:sp>
      <p:sp>
        <p:nvSpPr>
          <p:cNvPr id="41" name="Text 36"/>
          <p:cNvSpPr/>
          <p:nvPr/>
        </p:nvSpPr>
        <p:spPr>
          <a:xfrm>
            <a:off x="4972050" y="28128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42" name="Text 37"/>
          <p:cNvSpPr/>
          <p:nvPr/>
        </p:nvSpPr>
        <p:spPr>
          <a:xfrm>
            <a:off x="5434971" y="2812852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joined =</a:t>
            </a:r>
            <a:endParaRPr lang="en-US" sz="1013" dirty="0"/>
          </a:p>
        </p:txBody>
      </p:sp>
      <p:sp>
        <p:nvSpPr>
          <p:cNvPr id="43" name="Text 38"/>
          <p:cNvSpPr/>
          <p:nvPr/>
        </p:nvSpPr>
        <p:spPr>
          <a:xfrm>
            <a:off x="6206523" y="28128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44" name="Text 39"/>
          <p:cNvSpPr/>
          <p:nvPr/>
        </p:nvSpPr>
        <p:spPr>
          <a:xfrm>
            <a:off x="6669444" y="28128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</a:t>
            </a:r>
            <a:endParaRPr lang="en-US" sz="1013" dirty="0"/>
          </a:p>
        </p:txBody>
      </p:sp>
      <p:sp>
        <p:nvSpPr>
          <p:cNvPr id="45" name="Text 40"/>
          <p:cNvSpPr/>
          <p:nvPr/>
        </p:nvSpPr>
        <p:spPr>
          <a:xfrm>
            <a:off x="7132365" y="2812852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endParaRPr lang="en-US" sz="1013" dirty="0"/>
          </a:p>
        </p:txBody>
      </p:sp>
      <p:sp>
        <p:nvSpPr>
          <p:cNvPr id="46" name="Text 41"/>
          <p:cNvSpPr/>
          <p:nvPr/>
        </p:nvSpPr>
        <p:spPr>
          <a:xfrm>
            <a:off x="7440997" y="2812852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fruits);</a:t>
            </a:r>
            <a:endParaRPr lang="en-US" sz="1013" dirty="0"/>
          </a:p>
        </p:txBody>
      </p:sp>
      <p:sp>
        <p:nvSpPr>
          <p:cNvPr id="47" name="Text 42"/>
          <p:cNvSpPr/>
          <p:nvPr/>
        </p:nvSpPr>
        <p:spPr>
          <a:xfrm>
            <a:off x="4972050" y="3012877"/>
            <a:ext cx="207740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"apple, banana, orange"</a:t>
            </a:r>
            <a:endParaRPr lang="en-US" sz="1013" dirty="0"/>
          </a:p>
        </p:txBody>
      </p:sp>
      <p:sp>
        <p:nvSpPr>
          <p:cNvPr id="48" name="Shape 43"/>
          <p:cNvSpPr/>
          <p:nvPr/>
        </p:nvSpPr>
        <p:spPr>
          <a:xfrm>
            <a:off x="4857750" y="3429000"/>
            <a:ext cx="3657600" cy="314325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3475" y="3529013"/>
            <a:ext cx="85725" cy="11430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5086350" y="3529013"/>
            <a:ext cx="1310906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works with collections:</a:t>
            </a:r>
            <a:endParaRPr lang="en-US" sz="788" dirty="0"/>
          </a:p>
        </p:txBody>
      </p:sp>
      <p:sp>
        <p:nvSpPr>
          <p:cNvPr id="51" name="Text 45"/>
          <p:cNvSpPr/>
          <p:nvPr/>
        </p:nvSpPr>
        <p:spPr>
          <a:xfrm>
            <a:off x="6325819" y="3529013"/>
            <a:ext cx="116083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String.join(", ", myList)</a:t>
            </a:r>
            <a:endParaRPr lang="en-US" sz="788" dirty="0"/>
          </a:p>
        </p:txBody>
      </p:sp>
      <p:sp>
        <p:nvSpPr>
          <p:cNvPr id="52" name="Shape 46"/>
          <p:cNvSpPr/>
          <p:nvPr/>
        </p:nvSpPr>
        <p:spPr>
          <a:xfrm>
            <a:off x="457200" y="4143375"/>
            <a:ext cx="8229600" cy="42576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/>
          <p:nvPr/>
        </p:nvSpPr>
        <p:spPr>
          <a:xfrm>
            <a:off x="628650" y="4314825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Use Cases</a:t>
            </a:r>
            <a:endParaRPr lang="en-US" sz="1350" dirty="0"/>
          </a:p>
        </p:txBody>
      </p:sp>
      <p:sp>
        <p:nvSpPr>
          <p:cNvPr id="54" name="Text 48"/>
          <p:cNvSpPr/>
          <p:nvPr/>
        </p:nvSpPr>
        <p:spPr>
          <a:xfrm>
            <a:off x="628650" y="4657725"/>
            <a:ext cx="39290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Parsing CSV Data</a:t>
            </a:r>
            <a:endParaRPr lang="en-US" sz="1125" dirty="0"/>
          </a:p>
        </p:txBody>
      </p:sp>
      <p:sp>
        <p:nvSpPr>
          <p:cNvPr id="55" name="Shape 49"/>
          <p:cNvSpPr/>
          <p:nvPr/>
        </p:nvSpPr>
        <p:spPr>
          <a:xfrm>
            <a:off x="628650" y="4943475"/>
            <a:ext cx="3857625" cy="12287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742950" y="50702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57" name="Text 51"/>
          <p:cNvSpPr/>
          <p:nvPr/>
        </p:nvSpPr>
        <p:spPr>
          <a:xfrm>
            <a:off x="1205871" y="5070277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csvLine =</a:t>
            </a:r>
            <a:endParaRPr lang="en-US" sz="1013" dirty="0"/>
          </a:p>
        </p:txBody>
      </p:sp>
      <p:sp>
        <p:nvSpPr>
          <p:cNvPr id="58" name="Text 52"/>
          <p:cNvSpPr/>
          <p:nvPr/>
        </p:nvSpPr>
        <p:spPr>
          <a:xfrm>
            <a:off x="2054554" y="5070277"/>
            <a:ext cx="176880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"John,Doe,30,New York"</a:t>
            </a:r>
            <a:endParaRPr lang="en-US" sz="1013" dirty="0"/>
          </a:p>
        </p:txBody>
      </p:sp>
      <p:sp>
        <p:nvSpPr>
          <p:cNvPr id="59" name="Text 53"/>
          <p:cNvSpPr/>
          <p:nvPr/>
        </p:nvSpPr>
        <p:spPr>
          <a:xfrm>
            <a:off x="3751920" y="507027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60" name="Text 54"/>
          <p:cNvSpPr/>
          <p:nvPr/>
        </p:nvSpPr>
        <p:spPr>
          <a:xfrm>
            <a:off x="742950" y="52703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61" name="Text 55"/>
          <p:cNvSpPr/>
          <p:nvPr/>
        </p:nvSpPr>
        <p:spPr>
          <a:xfrm>
            <a:off x="1205871" y="5270302"/>
            <a:ext cx="192312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data = csvLine.split(</a:t>
            </a:r>
            <a:endParaRPr lang="en-US" sz="1013" dirty="0"/>
          </a:p>
        </p:txBody>
      </p:sp>
      <p:sp>
        <p:nvSpPr>
          <p:cNvPr id="62" name="Text 56"/>
          <p:cNvSpPr/>
          <p:nvPr/>
        </p:nvSpPr>
        <p:spPr>
          <a:xfrm>
            <a:off x="3057553" y="52703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endParaRPr lang="en-US" sz="1013" dirty="0"/>
          </a:p>
        </p:txBody>
      </p:sp>
      <p:sp>
        <p:nvSpPr>
          <p:cNvPr id="63" name="Text 57"/>
          <p:cNvSpPr/>
          <p:nvPr/>
        </p:nvSpPr>
        <p:spPr>
          <a:xfrm>
            <a:off x="3289027" y="527030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64" name="Text 58"/>
          <p:cNvSpPr/>
          <p:nvPr/>
        </p:nvSpPr>
        <p:spPr>
          <a:xfrm>
            <a:off x="742950" y="5470327"/>
            <a:ext cx="169164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Process each field</a:t>
            </a:r>
            <a:endParaRPr lang="en-US" sz="1013" dirty="0"/>
          </a:p>
        </p:txBody>
      </p:sp>
      <p:sp>
        <p:nvSpPr>
          <p:cNvPr id="65" name="Text 59"/>
          <p:cNvSpPr/>
          <p:nvPr/>
        </p:nvSpPr>
        <p:spPr>
          <a:xfrm>
            <a:off x="742950" y="56703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66" name="Text 60"/>
          <p:cNvSpPr/>
          <p:nvPr/>
        </p:nvSpPr>
        <p:spPr>
          <a:xfrm>
            <a:off x="1205871" y="5670352"/>
            <a:ext cx="176880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 = data[0];</a:t>
            </a:r>
            <a:endParaRPr lang="en-US" sz="1013" dirty="0"/>
          </a:p>
        </p:txBody>
      </p:sp>
      <p:sp>
        <p:nvSpPr>
          <p:cNvPr id="67" name="Text 61"/>
          <p:cNvSpPr/>
          <p:nvPr/>
        </p:nvSpPr>
        <p:spPr>
          <a:xfrm>
            <a:off x="2903237" y="5670352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"John"</a:t>
            </a:r>
            <a:endParaRPr lang="en-US" sz="1013" dirty="0"/>
          </a:p>
        </p:txBody>
      </p:sp>
      <p:sp>
        <p:nvSpPr>
          <p:cNvPr id="68" name="Text 62"/>
          <p:cNvSpPr/>
          <p:nvPr/>
        </p:nvSpPr>
        <p:spPr>
          <a:xfrm>
            <a:off x="742950" y="58703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69" name="Text 63"/>
          <p:cNvSpPr/>
          <p:nvPr/>
        </p:nvSpPr>
        <p:spPr>
          <a:xfrm>
            <a:off x="1205871" y="5870377"/>
            <a:ext cx="169164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 = data[1];</a:t>
            </a:r>
            <a:endParaRPr lang="en-US" sz="1013" dirty="0"/>
          </a:p>
        </p:txBody>
      </p:sp>
      <p:sp>
        <p:nvSpPr>
          <p:cNvPr id="70" name="Text 64"/>
          <p:cNvSpPr/>
          <p:nvPr/>
        </p:nvSpPr>
        <p:spPr>
          <a:xfrm>
            <a:off x="2826079" y="587037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"Doe"</a:t>
            </a:r>
            <a:endParaRPr lang="en-US" sz="1013" dirty="0"/>
          </a:p>
        </p:txBody>
      </p:sp>
      <p:sp>
        <p:nvSpPr>
          <p:cNvPr id="71" name="Text 65"/>
          <p:cNvSpPr/>
          <p:nvPr/>
        </p:nvSpPr>
        <p:spPr>
          <a:xfrm>
            <a:off x="4657725" y="4657725"/>
            <a:ext cx="39290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Comma-Separated Lists</a:t>
            </a:r>
            <a:endParaRPr lang="en-US" sz="1125" dirty="0"/>
          </a:p>
        </p:txBody>
      </p:sp>
      <p:sp>
        <p:nvSpPr>
          <p:cNvPr id="72" name="Shape 66"/>
          <p:cNvSpPr/>
          <p:nvPr/>
        </p:nvSpPr>
        <p:spPr>
          <a:xfrm>
            <a:off x="4657725" y="4943475"/>
            <a:ext cx="3857625" cy="16287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7"/>
          <p:cNvSpPr/>
          <p:nvPr/>
        </p:nvSpPr>
        <p:spPr>
          <a:xfrm>
            <a:off x="4772025" y="5070277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013" dirty="0"/>
          </a:p>
        </p:txBody>
      </p:sp>
      <p:sp>
        <p:nvSpPr>
          <p:cNvPr id="74" name="Text 68"/>
          <p:cNvSpPr/>
          <p:nvPr/>
        </p:nvSpPr>
        <p:spPr>
          <a:xfrm>
            <a:off x="5080657" y="507027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013" dirty="0"/>
          </a:p>
        </p:txBody>
      </p:sp>
      <p:sp>
        <p:nvSpPr>
          <p:cNvPr id="75" name="Text 69"/>
          <p:cNvSpPr/>
          <p:nvPr/>
        </p:nvSpPr>
        <p:spPr>
          <a:xfrm>
            <a:off x="5157815" y="50702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76" name="Text 70"/>
          <p:cNvSpPr/>
          <p:nvPr/>
        </p:nvSpPr>
        <p:spPr>
          <a:xfrm>
            <a:off x="5620736" y="5070277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tags =</a:t>
            </a:r>
            <a:endParaRPr lang="en-US" sz="1013" dirty="0"/>
          </a:p>
        </p:txBody>
      </p:sp>
      <p:sp>
        <p:nvSpPr>
          <p:cNvPr id="77" name="Text 71"/>
          <p:cNvSpPr/>
          <p:nvPr/>
        </p:nvSpPr>
        <p:spPr>
          <a:xfrm>
            <a:off x="6315131" y="50702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013" dirty="0"/>
          </a:p>
        </p:txBody>
      </p:sp>
      <p:sp>
        <p:nvSpPr>
          <p:cNvPr id="78" name="Text 72"/>
          <p:cNvSpPr/>
          <p:nvPr/>
        </p:nvSpPr>
        <p:spPr>
          <a:xfrm>
            <a:off x="6546605" y="507027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ArrayList&lt;&gt;();</a:t>
            </a:r>
            <a:endParaRPr lang="en-US" sz="1013" dirty="0"/>
          </a:p>
        </p:txBody>
      </p:sp>
      <p:sp>
        <p:nvSpPr>
          <p:cNvPr id="79" name="Text 73"/>
          <p:cNvSpPr/>
          <p:nvPr/>
        </p:nvSpPr>
        <p:spPr>
          <a:xfrm>
            <a:off x="4772025" y="5270302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tags.add(</a:t>
            </a:r>
            <a:endParaRPr lang="en-US" sz="1013" dirty="0"/>
          </a:p>
        </p:txBody>
      </p:sp>
      <p:sp>
        <p:nvSpPr>
          <p:cNvPr id="80" name="Text 74"/>
          <p:cNvSpPr/>
          <p:nvPr/>
        </p:nvSpPr>
        <p:spPr>
          <a:xfrm>
            <a:off x="5466420" y="52703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endParaRPr lang="en-US" sz="1013" dirty="0"/>
          </a:p>
        </p:txBody>
      </p:sp>
      <p:sp>
        <p:nvSpPr>
          <p:cNvPr id="81" name="Text 75"/>
          <p:cNvSpPr/>
          <p:nvPr/>
        </p:nvSpPr>
        <p:spPr>
          <a:xfrm>
            <a:off x="5929340" y="527030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82" name="Text 76"/>
          <p:cNvSpPr/>
          <p:nvPr/>
        </p:nvSpPr>
        <p:spPr>
          <a:xfrm>
            <a:off x="4772025" y="5470327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tags.add(</a:t>
            </a:r>
            <a:endParaRPr lang="en-US" sz="1013" dirty="0"/>
          </a:p>
        </p:txBody>
      </p:sp>
      <p:sp>
        <p:nvSpPr>
          <p:cNvPr id="83" name="Text 77"/>
          <p:cNvSpPr/>
          <p:nvPr/>
        </p:nvSpPr>
        <p:spPr>
          <a:xfrm>
            <a:off x="5466420" y="5470327"/>
            <a:ext cx="10744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"programming"</a:t>
            </a:r>
            <a:endParaRPr lang="en-US" sz="1013" dirty="0"/>
          </a:p>
        </p:txBody>
      </p:sp>
      <p:sp>
        <p:nvSpPr>
          <p:cNvPr id="84" name="Text 78"/>
          <p:cNvSpPr/>
          <p:nvPr/>
        </p:nvSpPr>
        <p:spPr>
          <a:xfrm>
            <a:off x="6469419" y="547032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85" name="Text 79"/>
          <p:cNvSpPr/>
          <p:nvPr/>
        </p:nvSpPr>
        <p:spPr>
          <a:xfrm>
            <a:off x="4772025" y="5670352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tags.add(</a:t>
            </a:r>
            <a:endParaRPr lang="en-US" sz="1013" dirty="0"/>
          </a:p>
        </p:txBody>
      </p:sp>
      <p:sp>
        <p:nvSpPr>
          <p:cNvPr id="86" name="Text 80"/>
          <p:cNvSpPr/>
          <p:nvPr/>
        </p:nvSpPr>
        <p:spPr>
          <a:xfrm>
            <a:off x="5466420" y="5670352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"strings"</a:t>
            </a:r>
            <a:endParaRPr lang="en-US" sz="1013" dirty="0"/>
          </a:p>
        </p:txBody>
      </p:sp>
      <p:sp>
        <p:nvSpPr>
          <p:cNvPr id="87" name="Text 81"/>
          <p:cNvSpPr/>
          <p:nvPr/>
        </p:nvSpPr>
        <p:spPr>
          <a:xfrm>
            <a:off x="6160815" y="567035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88" name="Text 82"/>
          <p:cNvSpPr/>
          <p:nvPr/>
        </p:nvSpPr>
        <p:spPr>
          <a:xfrm>
            <a:off x="4772025" y="60704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89" name="Text 83"/>
          <p:cNvSpPr/>
          <p:nvPr/>
        </p:nvSpPr>
        <p:spPr>
          <a:xfrm>
            <a:off x="5234946" y="607040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tagList =</a:t>
            </a:r>
            <a:endParaRPr lang="en-US" sz="1013" dirty="0"/>
          </a:p>
        </p:txBody>
      </p:sp>
      <p:sp>
        <p:nvSpPr>
          <p:cNvPr id="90" name="Text 84"/>
          <p:cNvSpPr/>
          <p:nvPr/>
        </p:nvSpPr>
        <p:spPr>
          <a:xfrm>
            <a:off x="6083629" y="60704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91" name="Text 85"/>
          <p:cNvSpPr/>
          <p:nvPr/>
        </p:nvSpPr>
        <p:spPr>
          <a:xfrm>
            <a:off x="6546549" y="60704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</a:t>
            </a:r>
            <a:endParaRPr lang="en-US" sz="1013" dirty="0"/>
          </a:p>
        </p:txBody>
      </p:sp>
      <p:sp>
        <p:nvSpPr>
          <p:cNvPr id="92" name="Text 86"/>
          <p:cNvSpPr/>
          <p:nvPr/>
        </p:nvSpPr>
        <p:spPr>
          <a:xfrm>
            <a:off x="7009470" y="6070402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endParaRPr lang="en-US" sz="1013" dirty="0"/>
          </a:p>
        </p:txBody>
      </p:sp>
      <p:sp>
        <p:nvSpPr>
          <p:cNvPr id="93" name="Text 87"/>
          <p:cNvSpPr/>
          <p:nvPr/>
        </p:nvSpPr>
        <p:spPr>
          <a:xfrm>
            <a:off x="7318102" y="6070402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tags);</a:t>
            </a:r>
            <a:endParaRPr lang="en-US" sz="1013" dirty="0"/>
          </a:p>
        </p:txBody>
      </p:sp>
      <p:sp>
        <p:nvSpPr>
          <p:cNvPr id="94" name="Text 88"/>
          <p:cNvSpPr/>
          <p:nvPr/>
        </p:nvSpPr>
        <p:spPr>
          <a:xfrm>
            <a:off x="4772025" y="6270427"/>
            <a:ext cx="246317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"java, programming, strings"</a:t>
            </a:r>
            <a:endParaRPr lang="en-US" sz="1013" dirty="0"/>
          </a:p>
        </p:txBody>
      </p:sp>
      <p:pic>
        <p:nvPicPr>
          <p:cNvPr id="9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7400925"/>
            <a:ext cx="171450" cy="171450"/>
          </a:xfrm>
          <a:prstGeom prst="rect">
            <a:avLst/>
          </a:prstGeom>
        </p:spPr>
      </p:pic>
      <p:sp>
        <p:nvSpPr>
          <p:cNvPr id="96" name="Text 89"/>
          <p:cNvSpPr/>
          <p:nvPr/>
        </p:nvSpPr>
        <p:spPr>
          <a:xfrm>
            <a:off x="914400" y="6772275"/>
            <a:ext cx="95053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 careful with</a:t>
            </a:r>
            <a:endParaRPr lang="en-US" sz="1013" dirty="0"/>
          </a:p>
        </p:txBody>
      </p:sp>
      <p:sp>
        <p:nvSpPr>
          <p:cNvPr id="97" name="Text 90"/>
          <p:cNvSpPr/>
          <p:nvPr/>
        </p:nvSpPr>
        <p:spPr>
          <a:xfrm>
            <a:off x="1793500" y="6772275"/>
            <a:ext cx="4214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split()</a:t>
            </a:r>
            <a:endParaRPr lang="en-US" sz="1013" dirty="0"/>
          </a:p>
        </p:txBody>
      </p:sp>
      <p:sp>
        <p:nvSpPr>
          <p:cNvPr id="98" name="Text 91"/>
          <p:cNvSpPr/>
          <p:nvPr/>
        </p:nvSpPr>
        <p:spPr>
          <a:xfrm>
            <a:off x="2143488" y="6772275"/>
            <a:ext cx="22228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using regex special characters:</a:t>
            </a:r>
            <a:endParaRPr lang="en-US" sz="1013" dirty="0"/>
          </a:p>
        </p:txBody>
      </p:sp>
      <p:sp>
        <p:nvSpPr>
          <p:cNvPr id="99" name="Shape 92"/>
          <p:cNvSpPr/>
          <p:nvPr/>
        </p:nvSpPr>
        <p:spPr>
          <a:xfrm>
            <a:off x="914400" y="7000875"/>
            <a:ext cx="4626387" cy="12287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3"/>
          <p:cNvSpPr/>
          <p:nvPr/>
        </p:nvSpPr>
        <p:spPr>
          <a:xfrm>
            <a:off x="1028700" y="7127677"/>
            <a:ext cx="246317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won't work as expected:</a:t>
            </a:r>
            <a:endParaRPr lang="en-US" sz="1013" dirty="0"/>
          </a:p>
        </p:txBody>
      </p:sp>
      <p:sp>
        <p:nvSpPr>
          <p:cNvPr id="101" name="Text 94"/>
          <p:cNvSpPr/>
          <p:nvPr/>
        </p:nvSpPr>
        <p:spPr>
          <a:xfrm>
            <a:off x="1028700" y="7327702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"1.2.3.4"</a:t>
            </a:r>
            <a:endParaRPr lang="en-US" sz="1013" dirty="0"/>
          </a:p>
        </p:txBody>
      </p:sp>
      <p:sp>
        <p:nvSpPr>
          <p:cNvPr id="102" name="Text 95"/>
          <p:cNvSpPr/>
          <p:nvPr/>
        </p:nvSpPr>
        <p:spPr>
          <a:xfrm>
            <a:off x="1723095" y="7327702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</a:t>
            </a:r>
            <a:endParaRPr lang="en-US" sz="1013" dirty="0"/>
          </a:p>
        </p:txBody>
      </p:sp>
      <p:sp>
        <p:nvSpPr>
          <p:cNvPr id="103" name="Text 96"/>
          <p:cNvSpPr/>
          <p:nvPr/>
        </p:nvSpPr>
        <p:spPr>
          <a:xfrm>
            <a:off x="2263173" y="73277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"."</a:t>
            </a:r>
            <a:endParaRPr lang="en-US" sz="1013" dirty="0"/>
          </a:p>
        </p:txBody>
      </p:sp>
      <p:sp>
        <p:nvSpPr>
          <p:cNvPr id="104" name="Text 97"/>
          <p:cNvSpPr/>
          <p:nvPr/>
        </p:nvSpPr>
        <p:spPr>
          <a:xfrm>
            <a:off x="2494648" y="73277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105" name="Text 98"/>
          <p:cNvSpPr/>
          <p:nvPr/>
        </p:nvSpPr>
        <p:spPr>
          <a:xfrm>
            <a:off x="2726122" y="7327702"/>
            <a:ext cx="277180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"." is a regex special character</a:t>
            </a:r>
            <a:endParaRPr lang="en-US" sz="1013" dirty="0"/>
          </a:p>
        </p:txBody>
      </p:sp>
      <p:sp>
        <p:nvSpPr>
          <p:cNvPr id="106" name="Text 99"/>
          <p:cNvSpPr/>
          <p:nvPr/>
        </p:nvSpPr>
        <p:spPr>
          <a:xfrm>
            <a:off x="1028700" y="7727752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 way:</a:t>
            </a:r>
            <a:endParaRPr lang="en-US" sz="1013" dirty="0"/>
          </a:p>
        </p:txBody>
      </p:sp>
      <p:sp>
        <p:nvSpPr>
          <p:cNvPr id="107" name="Text 100"/>
          <p:cNvSpPr/>
          <p:nvPr/>
        </p:nvSpPr>
        <p:spPr>
          <a:xfrm>
            <a:off x="1028700" y="7927777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"1.2.3.4"</a:t>
            </a:r>
            <a:endParaRPr lang="en-US" sz="1013" dirty="0"/>
          </a:p>
        </p:txBody>
      </p:sp>
      <p:sp>
        <p:nvSpPr>
          <p:cNvPr id="108" name="Text 101"/>
          <p:cNvSpPr/>
          <p:nvPr/>
        </p:nvSpPr>
        <p:spPr>
          <a:xfrm>
            <a:off x="1723095" y="792777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</a:t>
            </a:r>
            <a:endParaRPr lang="en-US" sz="1013" dirty="0"/>
          </a:p>
        </p:txBody>
      </p:sp>
      <p:sp>
        <p:nvSpPr>
          <p:cNvPr id="109" name="Text 102"/>
          <p:cNvSpPr/>
          <p:nvPr/>
        </p:nvSpPr>
        <p:spPr>
          <a:xfrm>
            <a:off x="2263173" y="7927777"/>
            <a:ext cx="457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"\\."</a:t>
            </a:r>
            <a:endParaRPr lang="en-US" sz="1013" dirty="0"/>
          </a:p>
        </p:txBody>
      </p:sp>
      <p:sp>
        <p:nvSpPr>
          <p:cNvPr id="110" name="Text 103"/>
          <p:cNvSpPr/>
          <p:nvPr/>
        </p:nvSpPr>
        <p:spPr>
          <a:xfrm>
            <a:off x="2648964" y="79277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111" name="Text 104"/>
          <p:cNvSpPr/>
          <p:nvPr/>
        </p:nvSpPr>
        <p:spPr>
          <a:xfrm>
            <a:off x="2880438" y="7927777"/>
            <a:ext cx="138304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Escape the dot</a:t>
            </a:r>
            <a:endParaRPr lang="en-US" sz="101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72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6429375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885797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1271560" y="455414"/>
            <a:ext cx="1414323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Formatting</a:t>
            </a:r>
            <a:endParaRPr lang="en-US" sz="2025" dirty="0"/>
          </a:p>
        </p:txBody>
      </p:sp>
      <p:sp>
        <p:nvSpPr>
          <p:cNvPr id="6" name="Shape 2"/>
          <p:cNvSpPr/>
          <p:nvPr/>
        </p:nvSpPr>
        <p:spPr>
          <a:xfrm>
            <a:off x="457200" y="971550"/>
            <a:ext cx="4000500" cy="28003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String.format() Method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28650" y="1485900"/>
            <a:ext cx="3657600" cy="65722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28650" y="1485900"/>
            <a:ext cx="28575" cy="65722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429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String.format(String format, Object... args)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742950" y="1743075"/>
            <a:ext cx="3614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a formatted string using the specified format string and arguments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8650" y="2257425"/>
            <a:ext cx="3657600" cy="12287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42950" y="23842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1205871" y="238422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1823107" y="23842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"John"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2286028" y="23842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17" name="Text 13"/>
          <p:cNvSpPr/>
          <p:nvPr/>
        </p:nvSpPr>
        <p:spPr>
          <a:xfrm>
            <a:off x="742950" y="258425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974424" y="2584252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30;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742950" y="27842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20" name="Text 16"/>
          <p:cNvSpPr/>
          <p:nvPr/>
        </p:nvSpPr>
        <p:spPr>
          <a:xfrm>
            <a:off x="1205871" y="2784277"/>
            <a:ext cx="10744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formatted =</a:t>
            </a:r>
            <a:endParaRPr lang="en-US" sz="1013" dirty="0"/>
          </a:p>
        </p:txBody>
      </p:sp>
      <p:sp>
        <p:nvSpPr>
          <p:cNvPr id="21" name="Text 17"/>
          <p:cNvSpPr/>
          <p:nvPr/>
        </p:nvSpPr>
        <p:spPr>
          <a:xfrm>
            <a:off x="2208870" y="27842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22" name="Text 18"/>
          <p:cNvSpPr/>
          <p:nvPr/>
        </p:nvSpPr>
        <p:spPr>
          <a:xfrm>
            <a:off x="2671790" y="2784277"/>
            <a:ext cx="688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.format(</a:t>
            </a:r>
            <a:endParaRPr lang="en-US" sz="1013" dirty="0"/>
          </a:p>
        </p:txBody>
      </p:sp>
      <p:sp>
        <p:nvSpPr>
          <p:cNvPr id="23" name="Text 19"/>
          <p:cNvSpPr/>
          <p:nvPr/>
        </p:nvSpPr>
        <p:spPr>
          <a:xfrm>
            <a:off x="897266" y="2984302"/>
            <a:ext cx="1537357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"Name: %s, Age: %d"</a:t>
            </a:r>
            <a:endParaRPr lang="en-US" sz="1013" dirty="0"/>
          </a:p>
        </p:txBody>
      </p:sp>
      <p:sp>
        <p:nvSpPr>
          <p:cNvPr id="24" name="Text 20"/>
          <p:cNvSpPr/>
          <p:nvPr/>
        </p:nvSpPr>
        <p:spPr>
          <a:xfrm>
            <a:off x="2363186" y="2984302"/>
            <a:ext cx="10744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name, age);</a:t>
            </a:r>
            <a:endParaRPr lang="en-US" sz="1013" dirty="0"/>
          </a:p>
        </p:txBody>
      </p:sp>
      <p:sp>
        <p:nvSpPr>
          <p:cNvPr id="25" name="Text 21"/>
          <p:cNvSpPr/>
          <p:nvPr/>
        </p:nvSpPr>
        <p:spPr>
          <a:xfrm>
            <a:off x="742950" y="3184327"/>
            <a:ext cx="192312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"Name: John, Age: 30"</a:t>
            </a:r>
            <a:endParaRPr lang="en-US" sz="1013" dirty="0"/>
          </a:p>
        </p:txBody>
      </p:sp>
      <p:sp>
        <p:nvSpPr>
          <p:cNvPr id="26" name="Shape 22"/>
          <p:cNvSpPr/>
          <p:nvPr/>
        </p:nvSpPr>
        <p:spPr>
          <a:xfrm>
            <a:off x="4686300" y="971550"/>
            <a:ext cx="4000500" cy="28003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printf-Style Formatting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48577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8577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9720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System.out.printf(String format, Object... args)</a:t>
            </a:r>
            <a:endParaRPr lang="en-US" sz="1013" dirty="0"/>
          </a:p>
        </p:txBody>
      </p:sp>
      <p:sp>
        <p:nvSpPr>
          <p:cNvPr id="31" name="Text 27"/>
          <p:cNvSpPr/>
          <p:nvPr/>
        </p:nvSpPr>
        <p:spPr>
          <a:xfrm>
            <a:off x="49720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Prints a formatted string to the console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857750" y="2085975"/>
            <a:ext cx="3657600" cy="10287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4972050" y="22127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1013" dirty="0"/>
          </a:p>
        </p:txBody>
      </p:sp>
      <p:sp>
        <p:nvSpPr>
          <p:cNvPr id="34" name="Text 30"/>
          <p:cNvSpPr/>
          <p:nvPr/>
        </p:nvSpPr>
        <p:spPr>
          <a:xfrm>
            <a:off x="5434971" y="2212777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19.99;</a:t>
            </a:r>
            <a:endParaRPr lang="en-US" sz="1013" dirty="0"/>
          </a:p>
        </p:txBody>
      </p:sp>
      <p:sp>
        <p:nvSpPr>
          <p:cNvPr id="35" name="Text 31"/>
          <p:cNvSpPr/>
          <p:nvPr/>
        </p:nvSpPr>
        <p:spPr>
          <a:xfrm>
            <a:off x="4972050" y="2412802"/>
            <a:ext cx="146019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System.out.printf(</a:t>
            </a:r>
            <a:endParaRPr lang="en-US" sz="1013" dirty="0"/>
          </a:p>
        </p:txBody>
      </p:sp>
      <p:sp>
        <p:nvSpPr>
          <p:cNvPr id="36" name="Text 32"/>
          <p:cNvSpPr/>
          <p:nvPr/>
        </p:nvSpPr>
        <p:spPr>
          <a:xfrm>
            <a:off x="5126366" y="2612827"/>
            <a:ext cx="11515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"Price: $%.2f"</a:t>
            </a:r>
            <a:endParaRPr lang="en-US" sz="1013" dirty="0"/>
          </a:p>
        </p:txBody>
      </p:sp>
      <p:sp>
        <p:nvSpPr>
          <p:cNvPr id="37" name="Text 33"/>
          <p:cNvSpPr/>
          <p:nvPr/>
        </p:nvSpPr>
        <p:spPr>
          <a:xfrm>
            <a:off x="6206523" y="2612827"/>
            <a:ext cx="7658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price);</a:t>
            </a:r>
            <a:endParaRPr lang="en-US" sz="1013" dirty="0"/>
          </a:p>
        </p:txBody>
      </p:sp>
      <p:sp>
        <p:nvSpPr>
          <p:cNvPr id="38" name="Text 34"/>
          <p:cNvSpPr/>
          <p:nvPr/>
        </p:nvSpPr>
        <p:spPr>
          <a:xfrm>
            <a:off x="4972050" y="2812852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Prints "Price: $19.99"</a:t>
            </a:r>
            <a:endParaRPr lang="en-US" sz="1013" dirty="0"/>
          </a:p>
        </p:txBody>
      </p:sp>
      <p:sp>
        <p:nvSpPr>
          <p:cNvPr id="39" name="Shape 35"/>
          <p:cNvSpPr/>
          <p:nvPr/>
        </p:nvSpPr>
        <p:spPr>
          <a:xfrm>
            <a:off x="4857750" y="3228975"/>
            <a:ext cx="3657600" cy="314325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475" y="3328988"/>
            <a:ext cx="85725" cy="11430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086350" y="3314700"/>
            <a:ext cx="18944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format specifiers as String.format()</a:t>
            </a:r>
            <a:endParaRPr lang="en-US" sz="788" dirty="0"/>
          </a:p>
        </p:txBody>
      </p:sp>
      <p:sp>
        <p:nvSpPr>
          <p:cNvPr id="42" name="Shape 37"/>
          <p:cNvSpPr/>
          <p:nvPr/>
        </p:nvSpPr>
        <p:spPr>
          <a:xfrm>
            <a:off x="457200" y="4000500"/>
            <a:ext cx="8229600" cy="41148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628650" y="417195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Format Specifiers</a:t>
            </a:r>
            <a:endParaRPr lang="en-US" sz="1350" dirty="0"/>
          </a:p>
        </p:txBody>
      </p:sp>
      <p:sp>
        <p:nvSpPr>
          <p:cNvPr id="44" name="Shape 39"/>
          <p:cNvSpPr/>
          <p:nvPr/>
        </p:nvSpPr>
        <p:spPr>
          <a:xfrm>
            <a:off x="628650" y="4514850"/>
            <a:ext cx="2552691" cy="1057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714375" y="4600575"/>
            <a:ext cx="2452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%s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714375" y="4772025"/>
            <a:ext cx="2452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</a:t>
            </a:r>
            <a:endParaRPr lang="en-US" sz="788" dirty="0"/>
          </a:p>
        </p:txBody>
      </p:sp>
      <p:sp>
        <p:nvSpPr>
          <p:cNvPr id="47" name="Shape 42"/>
          <p:cNvSpPr/>
          <p:nvPr/>
        </p:nvSpPr>
        <p:spPr>
          <a:xfrm>
            <a:off x="714375" y="4972050"/>
            <a:ext cx="2381241" cy="5143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828675" y="508992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788" dirty="0"/>
          </a:p>
        </p:txBody>
      </p:sp>
      <p:sp>
        <p:nvSpPr>
          <p:cNvPr id="49" name="Text 44"/>
          <p:cNvSpPr/>
          <p:nvPr/>
        </p:nvSpPr>
        <p:spPr>
          <a:xfrm>
            <a:off x="1188737" y="5089922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.format(</a:t>
            </a:r>
            <a:endParaRPr lang="en-US" sz="788" dirty="0"/>
          </a:p>
        </p:txBody>
      </p:sp>
      <p:sp>
        <p:nvSpPr>
          <p:cNvPr id="50" name="Text 45"/>
          <p:cNvSpPr/>
          <p:nvPr/>
        </p:nvSpPr>
        <p:spPr>
          <a:xfrm>
            <a:off x="1668819" y="508992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"%s"</a:t>
            </a:r>
            <a:endParaRPr lang="en-US" sz="788" dirty="0"/>
          </a:p>
        </p:txBody>
      </p:sp>
      <p:sp>
        <p:nvSpPr>
          <p:cNvPr id="51" name="Text 46"/>
          <p:cNvSpPr/>
          <p:nvPr/>
        </p:nvSpPr>
        <p:spPr>
          <a:xfrm>
            <a:off x="1908860" y="50899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88" dirty="0"/>
          </a:p>
        </p:txBody>
      </p:sp>
      <p:sp>
        <p:nvSpPr>
          <p:cNvPr id="52" name="Text 47"/>
          <p:cNvSpPr/>
          <p:nvPr/>
        </p:nvSpPr>
        <p:spPr>
          <a:xfrm>
            <a:off x="2028881" y="5089922"/>
            <a:ext cx="491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788" dirty="0"/>
          </a:p>
        </p:txBody>
      </p:sp>
      <p:sp>
        <p:nvSpPr>
          <p:cNvPr id="53" name="Text 48"/>
          <p:cNvSpPr/>
          <p:nvPr/>
        </p:nvSpPr>
        <p:spPr>
          <a:xfrm>
            <a:off x="2448939" y="508992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8" dirty="0"/>
          </a:p>
        </p:txBody>
      </p:sp>
      <p:sp>
        <p:nvSpPr>
          <p:cNvPr id="54" name="Text 49"/>
          <p:cNvSpPr/>
          <p:nvPr/>
        </p:nvSpPr>
        <p:spPr>
          <a:xfrm>
            <a:off x="828675" y="5232797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"Hello"</a:t>
            </a:r>
            <a:endParaRPr lang="en-US" sz="788" dirty="0"/>
          </a:p>
        </p:txBody>
      </p:sp>
      <p:sp>
        <p:nvSpPr>
          <p:cNvPr id="55" name="Shape 50"/>
          <p:cNvSpPr/>
          <p:nvPr/>
        </p:nvSpPr>
        <p:spPr>
          <a:xfrm>
            <a:off x="3295641" y="4514850"/>
            <a:ext cx="2552691" cy="1057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1"/>
          <p:cNvSpPr/>
          <p:nvPr/>
        </p:nvSpPr>
        <p:spPr>
          <a:xfrm>
            <a:off x="3381366" y="4600575"/>
            <a:ext cx="2452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%d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3381366" y="4772025"/>
            <a:ext cx="2452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Integer</a:t>
            </a:r>
            <a:endParaRPr lang="en-US" sz="788" dirty="0"/>
          </a:p>
        </p:txBody>
      </p:sp>
      <p:sp>
        <p:nvSpPr>
          <p:cNvPr id="58" name="Shape 53"/>
          <p:cNvSpPr/>
          <p:nvPr/>
        </p:nvSpPr>
        <p:spPr>
          <a:xfrm>
            <a:off x="3381366" y="4972050"/>
            <a:ext cx="2381241" cy="5143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/>
          <p:nvPr/>
        </p:nvSpPr>
        <p:spPr>
          <a:xfrm>
            <a:off x="3495666" y="508992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788" dirty="0"/>
          </a:p>
        </p:txBody>
      </p:sp>
      <p:sp>
        <p:nvSpPr>
          <p:cNvPr id="60" name="Text 55"/>
          <p:cNvSpPr/>
          <p:nvPr/>
        </p:nvSpPr>
        <p:spPr>
          <a:xfrm>
            <a:off x="3855727" y="5089922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.format(</a:t>
            </a:r>
            <a:endParaRPr lang="en-US" sz="788" dirty="0"/>
          </a:p>
        </p:txBody>
      </p:sp>
      <p:sp>
        <p:nvSpPr>
          <p:cNvPr id="61" name="Text 56"/>
          <p:cNvSpPr/>
          <p:nvPr/>
        </p:nvSpPr>
        <p:spPr>
          <a:xfrm>
            <a:off x="4335810" y="508992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"%d"</a:t>
            </a:r>
            <a:endParaRPr lang="en-US" sz="788" dirty="0"/>
          </a:p>
        </p:txBody>
      </p:sp>
      <p:sp>
        <p:nvSpPr>
          <p:cNvPr id="62" name="Text 57"/>
          <p:cNvSpPr/>
          <p:nvPr/>
        </p:nvSpPr>
        <p:spPr>
          <a:xfrm>
            <a:off x="4575851" y="5089922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42)</a:t>
            </a:r>
            <a:endParaRPr lang="en-US" sz="788" dirty="0"/>
          </a:p>
        </p:txBody>
      </p:sp>
      <p:sp>
        <p:nvSpPr>
          <p:cNvPr id="63" name="Text 58"/>
          <p:cNvSpPr/>
          <p:nvPr/>
        </p:nvSpPr>
        <p:spPr>
          <a:xfrm>
            <a:off x="3495666" y="5232797"/>
            <a:ext cx="491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"42"</a:t>
            </a:r>
            <a:endParaRPr lang="en-US" sz="788" dirty="0"/>
          </a:p>
        </p:txBody>
      </p:sp>
      <p:sp>
        <p:nvSpPr>
          <p:cNvPr id="64" name="Shape 59"/>
          <p:cNvSpPr/>
          <p:nvPr/>
        </p:nvSpPr>
        <p:spPr>
          <a:xfrm>
            <a:off x="5962631" y="4514850"/>
            <a:ext cx="2552719" cy="1057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0"/>
          <p:cNvSpPr/>
          <p:nvPr/>
        </p:nvSpPr>
        <p:spPr>
          <a:xfrm>
            <a:off x="6048356" y="4600575"/>
            <a:ext cx="24527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%f</a:t>
            </a:r>
            <a:endParaRPr lang="en-US" sz="900" dirty="0"/>
          </a:p>
        </p:txBody>
      </p:sp>
      <p:sp>
        <p:nvSpPr>
          <p:cNvPr id="66" name="Text 61"/>
          <p:cNvSpPr/>
          <p:nvPr/>
        </p:nvSpPr>
        <p:spPr>
          <a:xfrm>
            <a:off x="6048356" y="4772025"/>
            <a:ext cx="24527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Float/Double</a:t>
            </a:r>
            <a:endParaRPr lang="en-US" sz="788" dirty="0"/>
          </a:p>
        </p:txBody>
      </p:sp>
      <p:sp>
        <p:nvSpPr>
          <p:cNvPr id="67" name="Shape 62"/>
          <p:cNvSpPr/>
          <p:nvPr/>
        </p:nvSpPr>
        <p:spPr>
          <a:xfrm>
            <a:off x="6048356" y="4972050"/>
            <a:ext cx="2381269" cy="5143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3"/>
          <p:cNvSpPr/>
          <p:nvPr/>
        </p:nvSpPr>
        <p:spPr>
          <a:xfrm>
            <a:off x="6162656" y="508992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788" dirty="0"/>
          </a:p>
        </p:txBody>
      </p:sp>
      <p:sp>
        <p:nvSpPr>
          <p:cNvPr id="69" name="Text 64"/>
          <p:cNvSpPr/>
          <p:nvPr/>
        </p:nvSpPr>
        <p:spPr>
          <a:xfrm>
            <a:off x="6522718" y="5089922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.format(</a:t>
            </a:r>
            <a:endParaRPr lang="en-US" sz="788" dirty="0"/>
          </a:p>
        </p:txBody>
      </p:sp>
      <p:sp>
        <p:nvSpPr>
          <p:cNvPr id="70" name="Text 65"/>
          <p:cNvSpPr/>
          <p:nvPr/>
        </p:nvSpPr>
        <p:spPr>
          <a:xfrm>
            <a:off x="7002800" y="508992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"%.2f"</a:t>
            </a:r>
            <a:endParaRPr lang="en-US" sz="788" dirty="0"/>
          </a:p>
        </p:txBody>
      </p:sp>
      <p:sp>
        <p:nvSpPr>
          <p:cNvPr id="71" name="Text 66"/>
          <p:cNvSpPr/>
          <p:nvPr/>
        </p:nvSpPr>
        <p:spPr>
          <a:xfrm>
            <a:off x="7362862" y="5089922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3.14159)</a:t>
            </a:r>
            <a:endParaRPr lang="en-US" sz="788" dirty="0"/>
          </a:p>
        </p:txBody>
      </p:sp>
      <p:sp>
        <p:nvSpPr>
          <p:cNvPr id="72" name="Text 67"/>
          <p:cNvSpPr/>
          <p:nvPr/>
        </p:nvSpPr>
        <p:spPr>
          <a:xfrm>
            <a:off x="6162656" y="5232797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"3.14"</a:t>
            </a:r>
            <a:endParaRPr lang="en-US" sz="788" dirty="0"/>
          </a:p>
        </p:txBody>
      </p:sp>
      <p:sp>
        <p:nvSpPr>
          <p:cNvPr id="73" name="Shape 68"/>
          <p:cNvSpPr/>
          <p:nvPr/>
        </p:nvSpPr>
        <p:spPr>
          <a:xfrm>
            <a:off x="628650" y="5686425"/>
            <a:ext cx="2552691" cy="1057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9"/>
          <p:cNvSpPr/>
          <p:nvPr/>
        </p:nvSpPr>
        <p:spPr>
          <a:xfrm>
            <a:off x="714375" y="5772150"/>
            <a:ext cx="2452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%b</a:t>
            </a:r>
            <a:endParaRPr lang="en-US" sz="900" dirty="0"/>
          </a:p>
        </p:txBody>
      </p:sp>
      <p:sp>
        <p:nvSpPr>
          <p:cNvPr id="75" name="Text 70"/>
          <p:cNvSpPr/>
          <p:nvPr/>
        </p:nvSpPr>
        <p:spPr>
          <a:xfrm>
            <a:off x="714375" y="5943600"/>
            <a:ext cx="2452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Boolean</a:t>
            </a:r>
            <a:endParaRPr lang="en-US" sz="788" dirty="0"/>
          </a:p>
        </p:txBody>
      </p:sp>
      <p:sp>
        <p:nvSpPr>
          <p:cNvPr id="76" name="Shape 71"/>
          <p:cNvSpPr/>
          <p:nvPr/>
        </p:nvSpPr>
        <p:spPr>
          <a:xfrm>
            <a:off x="714375" y="6143625"/>
            <a:ext cx="2381241" cy="5143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2"/>
          <p:cNvSpPr/>
          <p:nvPr/>
        </p:nvSpPr>
        <p:spPr>
          <a:xfrm>
            <a:off x="828675" y="62614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788" dirty="0"/>
          </a:p>
        </p:txBody>
      </p:sp>
      <p:sp>
        <p:nvSpPr>
          <p:cNvPr id="78" name="Text 73"/>
          <p:cNvSpPr/>
          <p:nvPr/>
        </p:nvSpPr>
        <p:spPr>
          <a:xfrm>
            <a:off x="1188737" y="6261497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.format(</a:t>
            </a:r>
            <a:endParaRPr lang="en-US" sz="788" dirty="0"/>
          </a:p>
        </p:txBody>
      </p:sp>
      <p:sp>
        <p:nvSpPr>
          <p:cNvPr id="79" name="Text 74"/>
          <p:cNvSpPr/>
          <p:nvPr/>
        </p:nvSpPr>
        <p:spPr>
          <a:xfrm>
            <a:off x="1668819" y="6261497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"%b"</a:t>
            </a:r>
            <a:endParaRPr lang="en-US" sz="788" dirty="0"/>
          </a:p>
        </p:txBody>
      </p:sp>
      <p:sp>
        <p:nvSpPr>
          <p:cNvPr id="80" name="Text 75"/>
          <p:cNvSpPr/>
          <p:nvPr/>
        </p:nvSpPr>
        <p:spPr>
          <a:xfrm>
            <a:off x="1908860" y="626149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88" dirty="0"/>
          </a:p>
        </p:txBody>
      </p:sp>
      <p:sp>
        <p:nvSpPr>
          <p:cNvPr id="81" name="Text 76"/>
          <p:cNvSpPr/>
          <p:nvPr/>
        </p:nvSpPr>
        <p:spPr>
          <a:xfrm>
            <a:off x="2028881" y="6261497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788" dirty="0"/>
          </a:p>
        </p:txBody>
      </p:sp>
      <p:sp>
        <p:nvSpPr>
          <p:cNvPr id="82" name="Text 77"/>
          <p:cNvSpPr/>
          <p:nvPr/>
        </p:nvSpPr>
        <p:spPr>
          <a:xfrm>
            <a:off x="2268922" y="6261497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8" dirty="0"/>
          </a:p>
        </p:txBody>
      </p:sp>
      <p:sp>
        <p:nvSpPr>
          <p:cNvPr id="83" name="Text 78"/>
          <p:cNvSpPr/>
          <p:nvPr/>
        </p:nvSpPr>
        <p:spPr>
          <a:xfrm>
            <a:off x="828675" y="6404372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"true"</a:t>
            </a:r>
            <a:endParaRPr lang="en-US" sz="788" dirty="0"/>
          </a:p>
        </p:txBody>
      </p:sp>
      <p:sp>
        <p:nvSpPr>
          <p:cNvPr id="84" name="Shape 79"/>
          <p:cNvSpPr/>
          <p:nvPr/>
        </p:nvSpPr>
        <p:spPr>
          <a:xfrm>
            <a:off x="3295641" y="5686425"/>
            <a:ext cx="2552691" cy="1057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0"/>
          <p:cNvSpPr/>
          <p:nvPr/>
        </p:nvSpPr>
        <p:spPr>
          <a:xfrm>
            <a:off x="3381366" y="5772150"/>
            <a:ext cx="2452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%c</a:t>
            </a:r>
            <a:endParaRPr lang="en-US" sz="900" dirty="0"/>
          </a:p>
        </p:txBody>
      </p:sp>
      <p:sp>
        <p:nvSpPr>
          <p:cNvPr id="86" name="Text 81"/>
          <p:cNvSpPr/>
          <p:nvPr/>
        </p:nvSpPr>
        <p:spPr>
          <a:xfrm>
            <a:off x="3381366" y="5943600"/>
            <a:ext cx="2452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Character</a:t>
            </a:r>
            <a:endParaRPr lang="en-US" sz="788" dirty="0"/>
          </a:p>
        </p:txBody>
      </p:sp>
      <p:sp>
        <p:nvSpPr>
          <p:cNvPr id="87" name="Shape 82"/>
          <p:cNvSpPr/>
          <p:nvPr/>
        </p:nvSpPr>
        <p:spPr>
          <a:xfrm>
            <a:off x="3381366" y="6143625"/>
            <a:ext cx="2381241" cy="5143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3"/>
          <p:cNvSpPr/>
          <p:nvPr/>
        </p:nvSpPr>
        <p:spPr>
          <a:xfrm>
            <a:off x="3495666" y="62614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788" dirty="0"/>
          </a:p>
        </p:txBody>
      </p:sp>
      <p:sp>
        <p:nvSpPr>
          <p:cNvPr id="89" name="Text 84"/>
          <p:cNvSpPr/>
          <p:nvPr/>
        </p:nvSpPr>
        <p:spPr>
          <a:xfrm>
            <a:off x="3855727" y="6261497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.format(</a:t>
            </a:r>
            <a:endParaRPr lang="en-US" sz="788" dirty="0"/>
          </a:p>
        </p:txBody>
      </p:sp>
      <p:sp>
        <p:nvSpPr>
          <p:cNvPr id="90" name="Text 85"/>
          <p:cNvSpPr/>
          <p:nvPr/>
        </p:nvSpPr>
        <p:spPr>
          <a:xfrm>
            <a:off x="4335810" y="6261497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"%c"</a:t>
            </a:r>
            <a:endParaRPr lang="en-US" sz="788" dirty="0"/>
          </a:p>
        </p:txBody>
      </p:sp>
      <p:sp>
        <p:nvSpPr>
          <p:cNvPr id="91" name="Text 86"/>
          <p:cNvSpPr/>
          <p:nvPr/>
        </p:nvSpPr>
        <p:spPr>
          <a:xfrm>
            <a:off x="4575851" y="62614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'A')</a:t>
            </a:r>
            <a:endParaRPr lang="en-US" sz="788" dirty="0"/>
          </a:p>
        </p:txBody>
      </p:sp>
      <p:sp>
        <p:nvSpPr>
          <p:cNvPr id="92" name="Text 87"/>
          <p:cNvSpPr/>
          <p:nvPr/>
        </p:nvSpPr>
        <p:spPr>
          <a:xfrm>
            <a:off x="3495666" y="64043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"A"</a:t>
            </a:r>
            <a:endParaRPr lang="en-US" sz="788" dirty="0"/>
          </a:p>
        </p:txBody>
      </p:sp>
      <p:sp>
        <p:nvSpPr>
          <p:cNvPr id="93" name="Shape 88"/>
          <p:cNvSpPr/>
          <p:nvPr/>
        </p:nvSpPr>
        <p:spPr>
          <a:xfrm>
            <a:off x="5962631" y="5686425"/>
            <a:ext cx="2552719" cy="1057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9"/>
          <p:cNvSpPr/>
          <p:nvPr/>
        </p:nvSpPr>
        <p:spPr>
          <a:xfrm>
            <a:off x="6048356" y="5772150"/>
            <a:ext cx="24527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%n</a:t>
            </a:r>
            <a:endParaRPr lang="en-US" sz="900" dirty="0"/>
          </a:p>
        </p:txBody>
      </p:sp>
      <p:sp>
        <p:nvSpPr>
          <p:cNvPr id="95" name="Text 90"/>
          <p:cNvSpPr/>
          <p:nvPr/>
        </p:nvSpPr>
        <p:spPr>
          <a:xfrm>
            <a:off x="6048356" y="5943600"/>
            <a:ext cx="24527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separator</a:t>
            </a:r>
            <a:endParaRPr lang="en-US" sz="788" dirty="0"/>
          </a:p>
        </p:txBody>
      </p:sp>
      <p:sp>
        <p:nvSpPr>
          <p:cNvPr id="96" name="Shape 91"/>
          <p:cNvSpPr/>
          <p:nvPr/>
        </p:nvSpPr>
        <p:spPr>
          <a:xfrm>
            <a:off x="6048356" y="6143625"/>
            <a:ext cx="2381269" cy="5143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2"/>
          <p:cNvSpPr/>
          <p:nvPr/>
        </p:nvSpPr>
        <p:spPr>
          <a:xfrm>
            <a:off x="6162656" y="62614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788" dirty="0"/>
          </a:p>
        </p:txBody>
      </p:sp>
      <p:sp>
        <p:nvSpPr>
          <p:cNvPr id="98" name="Text 93"/>
          <p:cNvSpPr/>
          <p:nvPr/>
        </p:nvSpPr>
        <p:spPr>
          <a:xfrm>
            <a:off x="6522718" y="6261497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.format(</a:t>
            </a:r>
            <a:endParaRPr lang="en-US" sz="788" dirty="0"/>
          </a:p>
        </p:txBody>
      </p:sp>
      <p:sp>
        <p:nvSpPr>
          <p:cNvPr id="99" name="Text 94"/>
          <p:cNvSpPr/>
          <p:nvPr/>
        </p:nvSpPr>
        <p:spPr>
          <a:xfrm>
            <a:off x="7002800" y="6261497"/>
            <a:ext cx="9115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"Line1%nLine2"</a:t>
            </a:r>
            <a:endParaRPr lang="en-US" sz="788" dirty="0"/>
          </a:p>
        </p:txBody>
      </p:sp>
      <p:sp>
        <p:nvSpPr>
          <p:cNvPr id="100" name="Text 95"/>
          <p:cNvSpPr/>
          <p:nvPr/>
        </p:nvSpPr>
        <p:spPr>
          <a:xfrm>
            <a:off x="7842917" y="6261497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8" dirty="0"/>
          </a:p>
        </p:txBody>
      </p:sp>
      <p:sp>
        <p:nvSpPr>
          <p:cNvPr id="101" name="Text 96"/>
          <p:cNvSpPr/>
          <p:nvPr/>
        </p:nvSpPr>
        <p:spPr>
          <a:xfrm>
            <a:off x="6162656" y="6404372"/>
            <a:ext cx="10915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"Line1\nLine2"</a:t>
            </a:r>
            <a:endParaRPr lang="en-US" sz="788" dirty="0"/>
          </a:p>
        </p:txBody>
      </p:sp>
      <p:pic>
        <p:nvPicPr>
          <p:cNvPr id="10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7343775"/>
            <a:ext cx="171450" cy="171450"/>
          </a:xfrm>
          <a:prstGeom prst="rect">
            <a:avLst/>
          </a:prstGeom>
        </p:spPr>
      </p:pic>
      <p:sp>
        <p:nvSpPr>
          <p:cNvPr id="103" name="Text 97"/>
          <p:cNvSpPr/>
          <p:nvPr/>
        </p:nvSpPr>
        <p:spPr>
          <a:xfrm>
            <a:off x="914400" y="6915150"/>
            <a:ext cx="30829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modifiers provide additional control:</a:t>
            </a:r>
            <a:endParaRPr lang="en-US" sz="1013" dirty="0"/>
          </a:p>
        </p:txBody>
      </p:sp>
      <p:sp>
        <p:nvSpPr>
          <p:cNvPr id="104" name="Text 98"/>
          <p:cNvSpPr/>
          <p:nvPr/>
        </p:nvSpPr>
        <p:spPr>
          <a:xfrm>
            <a:off x="1085850" y="7193756"/>
            <a:ext cx="3637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%10s</a:t>
            </a:r>
            <a:endParaRPr lang="en-US" sz="900" dirty="0"/>
          </a:p>
        </p:txBody>
      </p:sp>
      <p:sp>
        <p:nvSpPr>
          <p:cNvPr id="105" name="Text 99"/>
          <p:cNvSpPr/>
          <p:nvPr/>
        </p:nvSpPr>
        <p:spPr>
          <a:xfrm>
            <a:off x="1378186" y="7193756"/>
            <a:ext cx="190101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Right-justified in 10-character field</a:t>
            </a:r>
            <a:endParaRPr lang="en-US" sz="900" dirty="0"/>
          </a:p>
        </p:txBody>
      </p:sp>
      <p:sp>
        <p:nvSpPr>
          <p:cNvPr id="106" name="Text 100"/>
          <p:cNvSpPr/>
          <p:nvPr/>
        </p:nvSpPr>
        <p:spPr>
          <a:xfrm>
            <a:off x="1085850" y="7393781"/>
            <a:ext cx="40183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%-10s</a:t>
            </a:r>
            <a:endParaRPr lang="en-US" sz="900" dirty="0"/>
          </a:p>
        </p:txBody>
      </p:sp>
      <p:sp>
        <p:nvSpPr>
          <p:cNvPr id="107" name="Text 101"/>
          <p:cNvSpPr/>
          <p:nvPr/>
        </p:nvSpPr>
        <p:spPr>
          <a:xfrm>
            <a:off x="1416248" y="7393781"/>
            <a:ext cx="182483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Left-justified in 10-character field</a:t>
            </a:r>
            <a:endParaRPr lang="en-US" sz="900" dirty="0"/>
          </a:p>
        </p:txBody>
      </p:sp>
      <p:sp>
        <p:nvSpPr>
          <p:cNvPr id="108" name="Text 102"/>
          <p:cNvSpPr/>
          <p:nvPr/>
        </p:nvSpPr>
        <p:spPr>
          <a:xfrm>
            <a:off x="1085850" y="7593806"/>
            <a:ext cx="306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%.2f</a:t>
            </a:r>
            <a:endParaRPr lang="en-US" sz="900" dirty="0"/>
          </a:p>
        </p:txBody>
      </p:sp>
      <p:sp>
        <p:nvSpPr>
          <p:cNvPr id="109" name="Text 103"/>
          <p:cNvSpPr/>
          <p:nvPr/>
        </p:nvSpPr>
        <p:spPr>
          <a:xfrm>
            <a:off x="1320868" y="7593806"/>
            <a:ext cx="154522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Float with 2 decimal places</a:t>
            </a:r>
            <a:endParaRPr lang="en-US" sz="900" dirty="0"/>
          </a:p>
        </p:txBody>
      </p:sp>
      <p:sp>
        <p:nvSpPr>
          <p:cNvPr id="110" name="Text 104"/>
          <p:cNvSpPr/>
          <p:nvPr/>
        </p:nvSpPr>
        <p:spPr>
          <a:xfrm>
            <a:off x="1085850" y="7793831"/>
            <a:ext cx="2746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%,d</a:t>
            </a:r>
            <a:endParaRPr lang="en-US" sz="900" dirty="0"/>
          </a:p>
        </p:txBody>
      </p:sp>
      <p:sp>
        <p:nvSpPr>
          <p:cNvPr id="111" name="Text 105"/>
          <p:cNvSpPr/>
          <p:nvPr/>
        </p:nvSpPr>
        <p:spPr>
          <a:xfrm>
            <a:off x="1289056" y="7793831"/>
            <a:ext cx="27082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Integer with thousands separator (e.g., 1,000,000)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4297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7286625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2734242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Mutable Alternatives: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3120005" y="455414"/>
            <a:ext cx="3528985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StringBuilder &amp; StringBuffer</a:t>
            </a:r>
            <a:endParaRPr lang="en-US" sz="2025" dirty="0"/>
          </a:p>
        </p:txBody>
      </p:sp>
      <p:sp>
        <p:nvSpPr>
          <p:cNvPr id="6" name="Shape 2"/>
          <p:cNvSpPr/>
          <p:nvPr/>
        </p:nvSpPr>
        <p:spPr>
          <a:xfrm>
            <a:off x="457200" y="971550"/>
            <a:ext cx="4000500" cy="23431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with String Concatenation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28650" y="1485900"/>
            <a:ext cx="3657600" cy="12287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42950" y="16127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10" name="Text 6"/>
          <p:cNvSpPr/>
          <p:nvPr/>
        </p:nvSpPr>
        <p:spPr>
          <a:xfrm>
            <a:off x="1205871" y="1612702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1977423" y="161270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endParaRPr lang="en-US" sz="1013" dirty="0"/>
          </a:p>
        </p:txBody>
      </p:sp>
      <p:sp>
        <p:nvSpPr>
          <p:cNvPr id="12" name="Text 8"/>
          <p:cNvSpPr/>
          <p:nvPr/>
        </p:nvSpPr>
        <p:spPr>
          <a:xfrm>
            <a:off x="2131740" y="16127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742950" y="181272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974424" y="181272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1128740" y="181272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1360215" y="1812727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0; i &lt; 10000; i++) {</a:t>
            </a:r>
            <a:endParaRPr lang="en-US" sz="1013" dirty="0"/>
          </a:p>
        </p:txBody>
      </p:sp>
      <p:sp>
        <p:nvSpPr>
          <p:cNvPr id="17" name="Text 13"/>
          <p:cNvSpPr/>
          <p:nvPr/>
        </p:nvSpPr>
        <p:spPr>
          <a:xfrm>
            <a:off x="742950" y="2012752"/>
            <a:ext cx="1228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+= i;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742950" y="2012752"/>
            <a:ext cx="3080435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Creates 10,000 String objects!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742950" y="24128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20" name="Shape 16"/>
          <p:cNvSpPr/>
          <p:nvPr/>
        </p:nvSpPr>
        <p:spPr>
          <a:xfrm>
            <a:off x="628650" y="2828925"/>
            <a:ext cx="3657600" cy="314325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928938"/>
            <a:ext cx="114300" cy="1143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5825" y="2914650"/>
            <a:ext cx="279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Inefficient for frequent modifications due to String immutability</a:t>
            </a:r>
            <a:endParaRPr lang="en-US" sz="788" dirty="0"/>
          </a:p>
        </p:txBody>
      </p:sp>
      <p:sp>
        <p:nvSpPr>
          <p:cNvPr id="23" name="Shape 18"/>
          <p:cNvSpPr/>
          <p:nvPr/>
        </p:nvSpPr>
        <p:spPr>
          <a:xfrm>
            <a:off x="4686300" y="971550"/>
            <a:ext cx="4000500" cy="23431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Solution: Mutable String Classes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4857750" y="1485900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857750" y="1485900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9720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StringBuilder</a:t>
            </a:r>
            <a:endParaRPr lang="en-US" sz="1013" dirty="0"/>
          </a:p>
        </p:txBody>
      </p:sp>
      <p:sp>
        <p:nvSpPr>
          <p:cNvPr id="28" name="Text 23"/>
          <p:cNvSpPr/>
          <p:nvPr/>
        </p:nvSpPr>
        <p:spPr>
          <a:xfrm>
            <a:off x="49720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Mutable, not thread-safe, faster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857750" y="2085975"/>
            <a:ext cx="3657600" cy="4857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857750" y="2085975"/>
            <a:ext cx="28575" cy="4857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4972050" y="214312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StringBuffer</a:t>
            </a:r>
            <a:endParaRPr lang="en-US" sz="1013" dirty="0"/>
          </a:p>
        </p:txBody>
      </p:sp>
      <p:sp>
        <p:nvSpPr>
          <p:cNvPr id="32" name="Text 27"/>
          <p:cNvSpPr/>
          <p:nvPr/>
        </p:nvSpPr>
        <p:spPr>
          <a:xfrm>
            <a:off x="4972050" y="2343150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Mutable, thread-safe, slightly slower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857750" y="2686050"/>
            <a:ext cx="3657600" cy="31432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3475" y="2786063"/>
            <a:ext cx="114300" cy="1143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114925" y="2771775"/>
            <a:ext cx="23728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provide similar methods for string manipulation</a:t>
            </a:r>
            <a:endParaRPr lang="en-US" sz="788" dirty="0"/>
          </a:p>
        </p:txBody>
      </p:sp>
      <p:sp>
        <p:nvSpPr>
          <p:cNvPr id="36" name="Shape 30"/>
          <p:cNvSpPr/>
          <p:nvPr/>
        </p:nvSpPr>
        <p:spPr>
          <a:xfrm>
            <a:off x="457200" y="3543300"/>
            <a:ext cx="4000500" cy="33147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28650" y="371475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StringBuilder</a:t>
            </a:r>
            <a:endParaRPr lang="en-US" sz="1350" dirty="0"/>
          </a:p>
        </p:txBody>
      </p:sp>
      <p:sp>
        <p:nvSpPr>
          <p:cNvPr id="38" name="Shape 32"/>
          <p:cNvSpPr/>
          <p:nvPr/>
        </p:nvSpPr>
        <p:spPr>
          <a:xfrm>
            <a:off x="628650" y="4057650"/>
            <a:ext cx="3657600" cy="26289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742950" y="4184452"/>
            <a:ext cx="10744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</a:t>
            </a:r>
            <a:endParaRPr lang="en-US" sz="1013" dirty="0"/>
          </a:p>
        </p:txBody>
      </p:sp>
      <p:sp>
        <p:nvSpPr>
          <p:cNvPr id="40" name="Text 34"/>
          <p:cNvSpPr/>
          <p:nvPr/>
        </p:nvSpPr>
        <p:spPr>
          <a:xfrm>
            <a:off x="1745949" y="41844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 =</a:t>
            </a:r>
            <a:endParaRPr lang="en-US" sz="1013" dirty="0"/>
          </a:p>
        </p:txBody>
      </p:sp>
      <p:sp>
        <p:nvSpPr>
          <p:cNvPr id="41" name="Text 35"/>
          <p:cNvSpPr/>
          <p:nvPr/>
        </p:nvSpPr>
        <p:spPr>
          <a:xfrm>
            <a:off x="2208870" y="418445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013" dirty="0"/>
          </a:p>
        </p:txBody>
      </p:sp>
      <p:sp>
        <p:nvSpPr>
          <p:cNvPr id="42" name="Text 36"/>
          <p:cNvSpPr/>
          <p:nvPr/>
        </p:nvSpPr>
        <p:spPr>
          <a:xfrm>
            <a:off x="2517502" y="4184452"/>
            <a:ext cx="10744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</a:t>
            </a:r>
            <a:endParaRPr lang="en-US" sz="1013" dirty="0"/>
          </a:p>
        </p:txBody>
      </p:sp>
      <p:sp>
        <p:nvSpPr>
          <p:cNvPr id="43" name="Text 37"/>
          <p:cNvSpPr/>
          <p:nvPr/>
        </p:nvSpPr>
        <p:spPr>
          <a:xfrm>
            <a:off x="3520501" y="418445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13" dirty="0"/>
          </a:p>
        </p:txBody>
      </p:sp>
      <p:sp>
        <p:nvSpPr>
          <p:cNvPr id="44" name="Text 38"/>
          <p:cNvSpPr/>
          <p:nvPr/>
        </p:nvSpPr>
        <p:spPr>
          <a:xfrm>
            <a:off x="742950" y="4584502"/>
            <a:ext cx="184596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Append various types</a:t>
            </a:r>
            <a:endParaRPr lang="en-US" sz="1013" dirty="0"/>
          </a:p>
        </p:txBody>
      </p:sp>
      <p:sp>
        <p:nvSpPr>
          <p:cNvPr id="45" name="Text 39"/>
          <p:cNvSpPr/>
          <p:nvPr/>
        </p:nvSpPr>
        <p:spPr>
          <a:xfrm>
            <a:off x="742950" y="4784527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sb.append(</a:t>
            </a:r>
            <a:endParaRPr lang="en-US" sz="1013" dirty="0"/>
          </a:p>
        </p:txBody>
      </p:sp>
      <p:sp>
        <p:nvSpPr>
          <p:cNvPr id="46" name="Text 40"/>
          <p:cNvSpPr/>
          <p:nvPr/>
        </p:nvSpPr>
        <p:spPr>
          <a:xfrm>
            <a:off x="1514503" y="478452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13" dirty="0"/>
          </a:p>
        </p:txBody>
      </p:sp>
      <p:sp>
        <p:nvSpPr>
          <p:cNvPr id="47" name="Text 41"/>
          <p:cNvSpPr/>
          <p:nvPr/>
        </p:nvSpPr>
        <p:spPr>
          <a:xfrm>
            <a:off x="2054582" y="478452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48" name="Text 42"/>
          <p:cNvSpPr/>
          <p:nvPr/>
        </p:nvSpPr>
        <p:spPr>
          <a:xfrm>
            <a:off x="742950" y="4984552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sb.append(</a:t>
            </a:r>
            <a:endParaRPr lang="en-US" sz="1013" dirty="0"/>
          </a:p>
        </p:txBody>
      </p:sp>
      <p:sp>
        <p:nvSpPr>
          <p:cNvPr id="49" name="Text 43"/>
          <p:cNvSpPr/>
          <p:nvPr/>
        </p:nvSpPr>
        <p:spPr>
          <a:xfrm>
            <a:off x="1514503" y="498455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endParaRPr lang="en-US" sz="1013" dirty="0"/>
          </a:p>
        </p:txBody>
      </p:sp>
      <p:sp>
        <p:nvSpPr>
          <p:cNvPr id="50" name="Text 44"/>
          <p:cNvSpPr/>
          <p:nvPr/>
        </p:nvSpPr>
        <p:spPr>
          <a:xfrm>
            <a:off x="1745977" y="498455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51" name="Text 45"/>
          <p:cNvSpPr/>
          <p:nvPr/>
        </p:nvSpPr>
        <p:spPr>
          <a:xfrm>
            <a:off x="742950" y="5184577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sb.append(</a:t>
            </a:r>
            <a:endParaRPr lang="en-US" sz="1013" dirty="0"/>
          </a:p>
        </p:txBody>
      </p:sp>
      <p:sp>
        <p:nvSpPr>
          <p:cNvPr id="52" name="Text 46"/>
          <p:cNvSpPr/>
          <p:nvPr/>
        </p:nvSpPr>
        <p:spPr>
          <a:xfrm>
            <a:off x="1514503" y="5184577"/>
            <a:ext cx="611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"World"</a:t>
            </a:r>
            <a:endParaRPr lang="en-US" sz="1013" dirty="0"/>
          </a:p>
        </p:txBody>
      </p:sp>
      <p:sp>
        <p:nvSpPr>
          <p:cNvPr id="53" name="Text 47"/>
          <p:cNvSpPr/>
          <p:nvPr/>
        </p:nvSpPr>
        <p:spPr>
          <a:xfrm>
            <a:off x="2054582" y="518457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54" name="Text 48"/>
          <p:cNvSpPr/>
          <p:nvPr/>
        </p:nvSpPr>
        <p:spPr>
          <a:xfrm>
            <a:off x="742950" y="5384602"/>
            <a:ext cx="842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sb.append(</a:t>
            </a:r>
            <a:endParaRPr lang="en-US" sz="1013" dirty="0"/>
          </a:p>
        </p:txBody>
      </p:sp>
      <p:sp>
        <p:nvSpPr>
          <p:cNvPr id="55" name="Text 49"/>
          <p:cNvSpPr/>
          <p:nvPr/>
        </p:nvSpPr>
        <p:spPr>
          <a:xfrm>
            <a:off x="1514503" y="538460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 Count: "</a:t>
            </a:r>
            <a:endParaRPr lang="en-US" sz="1013" dirty="0"/>
          </a:p>
        </p:txBody>
      </p:sp>
      <p:sp>
        <p:nvSpPr>
          <p:cNvPr id="56" name="Text 50"/>
          <p:cNvSpPr/>
          <p:nvPr/>
        </p:nvSpPr>
        <p:spPr>
          <a:xfrm>
            <a:off x="2363186" y="538460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13" dirty="0"/>
          </a:p>
        </p:txBody>
      </p:sp>
      <p:sp>
        <p:nvSpPr>
          <p:cNvPr id="57" name="Text 51"/>
          <p:cNvSpPr/>
          <p:nvPr/>
        </p:nvSpPr>
        <p:spPr>
          <a:xfrm>
            <a:off x="742950" y="5584627"/>
            <a:ext cx="11515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sb.append(42);</a:t>
            </a:r>
            <a:endParaRPr lang="en-US" sz="1013" dirty="0"/>
          </a:p>
        </p:txBody>
      </p:sp>
      <p:sp>
        <p:nvSpPr>
          <p:cNvPr id="58" name="Text 52"/>
          <p:cNvSpPr/>
          <p:nvPr/>
        </p:nvSpPr>
        <p:spPr>
          <a:xfrm>
            <a:off x="742950" y="5984677"/>
            <a:ext cx="20002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Convert back to String</a:t>
            </a:r>
            <a:endParaRPr lang="en-US" sz="1013" dirty="0"/>
          </a:p>
        </p:txBody>
      </p:sp>
      <p:sp>
        <p:nvSpPr>
          <p:cNvPr id="59" name="Text 53"/>
          <p:cNvSpPr/>
          <p:nvPr/>
        </p:nvSpPr>
        <p:spPr>
          <a:xfrm>
            <a:off x="742950" y="61847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13" dirty="0"/>
          </a:p>
        </p:txBody>
      </p:sp>
      <p:sp>
        <p:nvSpPr>
          <p:cNvPr id="60" name="Text 54"/>
          <p:cNvSpPr/>
          <p:nvPr/>
        </p:nvSpPr>
        <p:spPr>
          <a:xfrm>
            <a:off x="1205871" y="6184702"/>
            <a:ext cx="192312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sb.toString();</a:t>
            </a:r>
            <a:endParaRPr lang="en-US" sz="1013" dirty="0"/>
          </a:p>
        </p:txBody>
      </p:sp>
      <p:sp>
        <p:nvSpPr>
          <p:cNvPr id="61" name="Text 55"/>
          <p:cNvSpPr/>
          <p:nvPr/>
        </p:nvSpPr>
        <p:spPr>
          <a:xfrm>
            <a:off x="742950" y="6384727"/>
            <a:ext cx="215456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"Hello World! Count: 42"</a:t>
            </a:r>
            <a:endParaRPr lang="en-US" sz="1013" dirty="0"/>
          </a:p>
        </p:txBody>
      </p:sp>
      <p:sp>
        <p:nvSpPr>
          <p:cNvPr id="62" name="Shape 56"/>
          <p:cNvSpPr/>
          <p:nvPr/>
        </p:nvSpPr>
        <p:spPr>
          <a:xfrm>
            <a:off x="4686300" y="3543300"/>
            <a:ext cx="4000500" cy="33147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4857750" y="371475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Methods</a:t>
            </a:r>
            <a:endParaRPr lang="en-US" sz="1350" dirty="0"/>
          </a:p>
        </p:txBody>
      </p:sp>
      <p:sp>
        <p:nvSpPr>
          <p:cNvPr id="64" name="Shape 58"/>
          <p:cNvSpPr/>
          <p:nvPr/>
        </p:nvSpPr>
        <p:spPr>
          <a:xfrm>
            <a:off x="4857750" y="4057650"/>
            <a:ext cx="3657600" cy="314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59"/>
          <p:cNvSpPr/>
          <p:nvPr/>
        </p:nvSpPr>
        <p:spPr>
          <a:xfrm>
            <a:off x="4857750" y="4057650"/>
            <a:ext cx="1973991" cy="314325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0"/>
          <p:cNvSpPr/>
          <p:nvPr/>
        </p:nvSpPr>
        <p:spPr>
          <a:xfrm>
            <a:off x="4857750" y="4057650"/>
            <a:ext cx="2045429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</a:t>
            </a:r>
            <a:endParaRPr lang="en-US" sz="900" dirty="0"/>
          </a:p>
        </p:txBody>
      </p:sp>
      <p:sp>
        <p:nvSpPr>
          <p:cNvPr id="67" name="Shape 61"/>
          <p:cNvSpPr/>
          <p:nvPr/>
        </p:nvSpPr>
        <p:spPr>
          <a:xfrm>
            <a:off x="6831741" y="4057650"/>
            <a:ext cx="1683609" cy="314325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6831741" y="4057650"/>
            <a:ext cx="1755046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69" name="Shape 63"/>
          <p:cNvSpPr/>
          <p:nvPr/>
        </p:nvSpPr>
        <p:spPr>
          <a:xfrm>
            <a:off x="4857750" y="4371975"/>
            <a:ext cx="3657600" cy="314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4"/>
          <p:cNvSpPr/>
          <p:nvPr/>
        </p:nvSpPr>
        <p:spPr>
          <a:xfrm>
            <a:off x="4929188" y="4464844"/>
            <a:ext cx="5539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append()</a:t>
            </a:r>
            <a:endParaRPr lang="en-US" sz="900" dirty="0"/>
          </a:p>
        </p:txBody>
      </p:sp>
      <p:sp>
        <p:nvSpPr>
          <p:cNvPr id="71" name="Text 65"/>
          <p:cNvSpPr/>
          <p:nvPr/>
        </p:nvSpPr>
        <p:spPr>
          <a:xfrm>
            <a:off x="6831741" y="4371975"/>
            <a:ext cx="1755046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Adds text at the end</a:t>
            </a:r>
            <a:endParaRPr lang="en-US" sz="900" dirty="0"/>
          </a:p>
        </p:txBody>
      </p:sp>
      <p:sp>
        <p:nvSpPr>
          <p:cNvPr id="72" name="Shape 66"/>
          <p:cNvSpPr/>
          <p:nvPr/>
        </p:nvSpPr>
        <p:spPr>
          <a:xfrm>
            <a:off x="4857750" y="4686300"/>
            <a:ext cx="3657600" cy="48577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7"/>
          <p:cNvSpPr/>
          <p:nvPr/>
        </p:nvSpPr>
        <p:spPr>
          <a:xfrm>
            <a:off x="4929188" y="4864894"/>
            <a:ext cx="151291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insert(int offset, String str)</a:t>
            </a:r>
            <a:endParaRPr lang="en-US" sz="900" dirty="0"/>
          </a:p>
        </p:txBody>
      </p:sp>
      <p:sp>
        <p:nvSpPr>
          <p:cNvPr id="74" name="Text 68"/>
          <p:cNvSpPr/>
          <p:nvPr/>
        </p:nvSpPr>
        <p:spPr>
          <a:xfrm>
            <a:off x="6831741" y="4686300"/>
            <a:ext cx="1755046" cy="4857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Inserts text at specified position</a:t>
            </a:r>
            <a:endParaRPr lang="en-US" sz="900" dirty="0"/>
          </a:p>
        </p:txBody>
      </p:sp>
      <p:sp>
        <p:nvSpPr>
          <p:cNvPr id="75" name="Shape 69"/>
          <p:cNvSpPr/>
          <p:nvPr/>
        </p:nvSpPr>
        <p:spPr>
          <a:xfrm>
            <a:off x="4857750" y="5172075"/>
            <a:ext cx="3657600" cy="314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0"/>
          <p:cNvSpPr/>
          <p:nvPr/>
        </p:nvSpPr>
        <p:spPr>
          <a:xfrm>
            <a:off x="4929188" y="5264944"/>
            <a:ext cx="133515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delete(int start, int end)</a:t>
            </a:r>
            <a:endParaRPr lang="en-US" sz="900" dirty="0"/>
          </a:p>
        </p:txBody>
      </p:sp>
      <p:sp>
        <p:nvSpPr>
          <p:cNvPr id="77" name="Text 71"/>
          <p:cNvSpPr/>
          <p:nvPr/>
        </p:nvSpPr>
        <p:spPr>
          <a:xfrm>
            <a:off x="6831741" y="5172075"/>
            <a:ext cx="1755046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characters in range</a:t>
            </a:r>
            <a:endParaRPr lang="en-US" sz="900" dirty="0"/>
          </a:p>
        </p:txBody>
      </p:sp>
      <p:sp>
        <p:nvSpPr>
          <p:cNvPr id="78" name="Shape 72"/>
          <p:cNvSpPr/>
          <p:nvPr/>
        </p:nvSpPr>
        <p:spPr>
          <a:xfrm>
            <a:off x="4857750" y="5486400"/>
            <a:ext cx="3657600" cy="48577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3"/>
          <p:cNvSpPr/>
          <p:nvPr/>
        </p:nvSpPr>
        <p:spPr>
          <a:xfrm>
            <a:off x="4929188" y="5579269"/>
            <a:ext cx="176076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replace(int start, int end, String str)</a:t>
            </a:r>
            <a:endParaRPr lang="en-US" sz="900" dirty="0"/>
          </a:p>
        </p:txBody>
      </p:sp>
      <p:sp>
        <p:nvSpPr>
          <p:cNvPr id="80" name="Text 74"/>
          <p:cNvSpPr/>
          <p:nvPr/>
        </p:nvSpPr>
        <p:spPr>
          <a:xfrm>
            <a:off x="6831741" y="5486400"/>
            <a:ext cx="1755046" cy="4857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characters in range</a:t>
            </a:r>
            <a:endParaRPr lang="en-US" sz="900" dirty="0"/>
          </a:p>
        </p:txBody>
      </p:sp>
      <p:sp>
        <p:nvSpPr>
          <p:cNvPr id="81" name="Shape 75"/>
          <p:cNvSpPr/>
          <p:nvPr/>
        </p:nvSpPr>
        <p:spPr>
          <a:xfrm>
            <a:off x="4857750" y="5972175"/>
            <a:ext cx="3657600" cy="314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6"/>
          <p:cNvSpPr/>
          <p:nvPr/>
        </p:nvSpPr>
        <p:spPr>
          <a:xfrm>
            <a:off x="4929188" y="6065044"/>
            <a:ext cx="5543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reverse()</a:t>
            </a:r>
            <a:endParaRPr lang="en-US" sz="900" dirty="0"/>
          </a:p>
        </p:txBody>
      </p:sp>
      <p:sp>
        <p:nvSpPr>
          <p:cNvPr id="83" name="Text 77"/>
          <p:cNvSpPr/>
          <p:nvPr/>
        </p:nvSpPr>
        <p:spPr>
          <a:xfrm>
            <a:off x="6831741" y="5972175"/>
            <a:ext cx="1755046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Reverses character sequence</a:t>
            </a:r>
            <a:endParaRPr lang="en-US" sz="900" dirty="0"/>
          </a:p>
        </p:txBody>
      </p:sp>
      <p:sp>
        <p:nvSpPr>
          <p:cNvPr id="84" name="Shape 78"/>
          <p:cNvSpPr/>
          <p:nvPr/>
        </p:nvSpPr>
        <p:spPr>
          <a:xfrm>
            <a:off x="4857750" y="6286500"/>
            <a:ext cx="3657600" cy="31432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79"/>
          <p:cNvSpPr/>
          <p:nvPr/>
        </p:nvSpPr>
        <p:spPr>
          <a:xfrm>
            <a:off x="4929188" y="6379369"/>
            <a:ext cx="5856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toString()</a:t>
            </a:r>
            <a:endParaRPr lang="en-US" sz="900" dirty="0"/>
          </a:p>
        </p:txBody>
      </p:sp>
      <p:sp>
        <p:nvSpPr>
          <p:cNvPr id="86" name="Text 80"/>
          <p:cNvSpPr/>
          <p:nvPr/>
        </p:nvSpPr>
        <p:spPr>
          <a:xfrm>
            <a:off x="6831741" y="6286500"/>
            <a:ext cx="1755046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Converts to String</a:t>
            </a:r>
            <a:endParaRPr lang="en-US" sz="900" dirty="0"/>
          </a:p>
        </p:txBody>
      </p:sp>
      <p:sp>
        <p:nvSpPr>
          <p:cNvPr id="87" name="Shape 81"/>
          <p:cNvSpPr/>
          <p:nvPr/>
        </p:nvSpPr>
        <p:spPr>
          <a:xfrm>
            <a:off x="457200" y="7086600"/>
            <a:ext cx="8229600" cy="188595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2"/>
          <p:cNvSpPr/>
          <p:nvPr/>
        </p:nvSpPr>
        <p:spPr>
          <a:xfrm>
            <a:off x="628650" y="725805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Comparison</a:t>
            </a:r>
            <a:endParaRPr lang="en-US" sz="1350" dirty="0"/>
          </a:p>
        </p:txBody>
      </p:sp>
      <p:pic>
        <p:nvPicPr>
          <p:cNvPr id="8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8093869"/>
            <a:ext cx="214313" cy="214313"/>
          </a:xfrm>
          <a:prstGeom prst="rect">
            <a:avLst/>
          </a:prstGeom>
        </p:spPr>
      </p:pic>
      <p:sp>
        <p:nvSpPr>
          <p:cNvPr id="90" name="Text 83"/>
          <p:cNvSpPr/>
          <p:nvPr/>
        </p:nvSpPr>
        <p:spPr>
          <a:xfrm>
            <a:off x="957263" y="7600950"/>
            <a:ext cx="7629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frequent string modifications:</a:t>
            </a:r>
            <a:endParaRPr lang="en-US" sz="1013" dirty="0"/>
          </a:p>
        </p:txBody>
      </p:sp>
      <p:sp>
        <p:nvSpPr>
          <p:cNvPr id="91" name="Text 84"/>
          <p:cNvSpPr/>
          <p:nvPr/>
        </p:nvSpPr>
        <p:spPr>
          <a:xfrm>
            <a:off x="1128713" y="7879556"/>
            <a:ext cx="8334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StringBuilder:</a:t>
            </a:r>
            <a:endParaRPr lang="en-US" sz="900" dirty="0"/>
          </a:p>
        </p:txBody>
      </p:sp>
      <p:sp>
        <p:nvSpPr>
          <p:cNvPr id="92" name="Text 85"/>
          <p:cNvSpPr/>
          <p:nvPr/>
        </p:nvSpPr>
        <p:spPr>
          <a:xfrm>
            <a:off x="1890694" y="7879556"/>
            <a:ext cx="26378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for single-threaded scenarios (most common)</a:t>
            </a:r>
            <a:endParaRPr lang="en-US" sz="900" dirty="0"/>
          </a:p>
        </p:txBody>
      </p:sp>
      <p:sp>
        <p:nvSpPr>
          <p:cNvPr id="93" name="Text 86"/>
          <p:cNvSpPr/>
          <p:nvPr/>
        </p:nvSpPr>
        <p:spPr>
          <a:xfrm>
            <a:off x="1128713" y="8079581"/>
            <a:ext cx="7762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StringBuffer:</a:t>
            </a:r>
            <a:endParaRPr lang="en-US" sz="900" dirty="0"/>
          </a:p>
        </p:txBody>
      </p:sp>
      <p:sp>
        <p:nvSpPr>
          <p:cNvPr id="94" name="Text 87"/>
          <p:cNvSpPr/>
          <p:nvPr/>
        </p:nvSpPr>
        <p:spPr>
          <a:xfrm>
            <a:off x="1833488" y="8079581"/>
            <a:ext cx="211086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only when thread safety is required</a:t>
            </a:r>
            <a:endParaRPr lang="en-US" sz="900" dirty="0"/>
          </a:p>
        </p:txBody>
      </p:sp>
      <p:sp>
        <p:nvSpPr>
          <p:cNvPr id="95" name="Text 88"/>
          <p:cNvSpPr/>
          <p:nvPr/>
        </p:nvSpPr>
        <p:spPr>
          <a:xfrm>
            <a:off x="1128713" y="8279606"/>
            <a:ext cx="12462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concatenation:</a:t>
            </a:r>
            <a:endParaRPr lang="en-US" sz="900" dirty="0"/>
          </a:p>
        </p:txBody>
      </p:sp>
      <p:sp>
        <p:nvSpPr>
          <p:cNvPr id="96" name="Text 89"/>
          <p:cNvSpPr/>
          <p:nvPr/>
        </p:nvSpPr>
        <p:spPr>
          <a:xfrm>
            <a:off x="2303525" y="8279606"/>
            <a:ext cx="214881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only for simple, one-time operations</a:t>
            </a:r>
            <a:endParaRPr lang="en-US" sz="900" dirty="0"/>
          </a:p>
        </p:txBody>
      </p:sp>
      <p:sp>
        <p:nvSpPr>
          <p:cNvPr id="97" name="Text 90"/>
          <p:cNvSpPr/>
          <p:nvPr/>
        </p:nvSpPr>
        <p:spPr>
          <a:xfrm>
            <a:off x="957263" y="8515350"/>
            <a:ext cx="7629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Modern Java compilers may automatically optimize some string concatenation operations to use StringBuilder behind the scenes, but explicit use is still recommended for loops and complex operations.</a:t>
            </a:r>
            <a:endParaRPr lang="en-US" sz="78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429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5286375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5414"/>
            <a:ext cx="2172788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 &amp;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2558551" y="455414"/>
            <a:ext cx="1243543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2025" dirty="0"/>
          </a:p>
        </p:txBody>
      </p:sp>
      <p:sp>
        <p:nvSpPr>
          <p:cNvPr id="6" name="Shape 2"/>
          <p:cNvSpPr/>
          <p:nvPr/>
        </p:nvSpPr>
        <p:spPr>
          <a:xfrm>
            <a:off x="457200" y="971550"/>
            <a:ext cx="4000500" cy="37719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Best Practices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28650" y="1485900"/>
            <a:ext cx="3657600" cy="148590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28650" y="1485900"/>
            <a:ext cx="28575" cy="14859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429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 Immutability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7429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capture the result of string operations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42950" y="1971675"/>
            <a:ext cx="3543300" cy="9429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57250" y="2089547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Wrong</a:t>
            </a:r>
            <a:endParaRPr lang="en-US" sz="788" dirty="0"/>
          </a:p>
        </p:txBody>
      </p:sp>
      <p:sp>
        <p:nvSpPr>
          <p:cNvPr id="14" name="Text 10"/>
          <p:cNvSpPr/>
          <p:nvPr/>
        </p:nvSpPr>
        <p:spPr>
          <a:xfrm>
            <a:off x="857250" y="2232422"/>
            <a:ext cx="12115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str.toUpperCase();</a:t>
            </a:r>
            <a:endParaRPr lang="en-US" sz="788" dirty="0"/>
          </a:p>
        </p:txBody>
      </p:sp>
      <p:sp>
        <p:nvSpPr>
          <p:cNvPr id="15" name="Text 11"/>
          <p:cNvSpPr/>
          <p:nvPr/>
        </p:nvSpPr>
        <p:spPr>
          <a:xfrm>
            <a:off x="1997404" y="2232422"/>
            <a:ext cx="8515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effect!</a:t>
            </a:r>
            <a:endParaRPr lang="en-US" sz="788" dirty="0"/>
          </a:p>
        </p:txBody>
      </p:sp>
      <p:sp>
        <p:nvSpPr>
          <p:cNvPr id="16" name="Text 12"/>
          <p:cNvSpPr/>
          <p:nvPr/>
        </p:nvSpPr>
        <p:spPr>
          <a:xfrm>
            <a:off x="857250" y="2518172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</a:t>
            </a:r>
            <a:endParaRPr lang="en-US" sz="788" dirty="0"/>
          </a:p>
        </p:txBody>
      </p:sp>
      <p:sp>
        <p:nvSpPr>
          <p:cNvPr id="17" name="Text 13"/>
          <p:cNvSpPr/>
          <p:nvPr/>
        </p:nvSpPr>
        <p:spPr>
          <a:xfrm>
            <a:off x="857250" y="2661047"/>
            <a:ext cx="15116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= str.toUpperCase();</a:t>
            </a:r>
            <a:endParaRPr lang="en-US" sz="788" dirty="0"/>
          </a:p>
        </p:txBody>
      </p:sp>
      <p:sp>
        <p:nvSpPr>
          <p:cNvPr id="18" name="Shape 14"/>
          <p:cNvSpPr/>
          <p:nvPr/>
        </p:nvSpPr>
        <p:spPr>
          <a:xfrm>
            <a:off x="628650" y="3086100"/>
            <a:ext cx="3657600" cy="148590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8650" y="3086100"/>
            <a:ext cx="28575" cy="14859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42950" y="31432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StringBuilder for Concatenation</a:t>
            </a:r>
            <a:endParaRPr lang="en-US" sz="1013" dirty="0"/>
          </a:p>
        </p:txBody>
      </p:sp>
      <p:sp>
        <p:nvSpPr>
          <p:cNvPr id="21" name="Text 17"/>
          <p:cNvSpPr/>
          <p:nvPr/>
        </p:nvSpPr>
        <p:spPr>
          <a:xfrm>
            <a:off x="742950" y="33432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Especially in loops or when building large strings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42950" y="3571875"/>
            <a:ext cx="3543300" cy="9429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57250" y="3689747"/>
            <a:ext cx="8515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</a:t>
            </a:r>
            <a:endParaRPr lang="en-US" sz="788" dirty="0"/>
          </a:p>
        </p:txBody>
      </p:sp>
      <p:sp>
        <p:nvSpPr>
          <p:cNvPr id="24" name="Text 20"/>
          <p:cNvSpPr/>
          <p:nvPr/>
        </p:nvSpPr>
        <p:spPr>
          <a:xfrm>
            <a:off x="1637370" y="368974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 =</a:t>
            </a:r>
            <a:endParaRPr lang="en-US" sz="788" dirty="0"/>
          </a:p>
        </p:txBody>
      </p:sp>
      <p:sp>
        <p:nvSpPr>
          <p:cNvPr id="25" name="Text 21"/>
          <p:cNvSpPr/>
          <p:nvPr/>
        </p:nvSpPr>
        <p:spPr>
          <a:xfrm>
            <a:off x="1997432" y="36897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788" dirty="0"/>
          </a:p>
        </p:txBody>
      </p:sp>
      <p:sp>
        <p:nvSpPr>
          <p:cNvPr id="26" name="Text 22"/>
          <p:cNvSpPr/>
          <p:nvPr/>
        </p:nvSpPr>
        <p:spPr>
          <a:xfrm>
            <a:off x="2237501" y="3689747"/>
            <a:ext cx="8515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</a:t>
            </a:r>
            <a:endParaRPr lang="en-US" sz="788" dirty="0"/>
          </a:p>
        </p:txBody>
      </p:sp>
      <p:sp>
        <p:nvSpPr>
          <p:cNvPr id="27" name="Text 23"/>
          <p:cNvSpPr/>
          <p:nvPr/>
        </p:nvSpPr>
        <p:spPr>
          <a:xfrm>
            <a:off x="3017620" y="36897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788" dirty="0"/>
          </a:p>
        </p:txBody>
      </p:sp>
      <p:sp>
        <p:nvSpPr>
          <p:cNvPr id="28" name="Text 24"/>
          <p:cNvSpPr/>
          <p:nvPr/>
        </p:nvSpPr>
        <p:spPr>
          <a:xfrm>
            <a:off x="857250" y="38326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788" dirty="0"/>
          </a:p>
        </p:txBody>
      </p:sp>
      <p:sp>
        <p:nvSpPr>
          <p:cNvPr id="29" name="Text 25"/>
          <p:cNvSpPr/>
          <p:nvPr/>
        </p:nvSpPr>
        <p:spPr>
          <a:xfrm>
            <a:off x="1037295" y="38326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88" dirty="0"/>
          </a:p>
        </p:txBody>
      </p:sp>
      <p:sp>
        <p:nvSpPr>
          <p:cNvPr id="30" name="Text 26"/>
          <p:cNvSpPr/>
          <p:nvPr/>
        </p:nvSpPr>
        <p:spPr>
          <a:xfrm>
            <a:off x="1157315" y="38326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31" name="Text 27"/>
          <p:cNvSpPr/>
          <p:nvPr/>
        </p:nvSpPr>
        <p:spPr>
          <a:xfrm>
            <a:off x="1337360" y="3832622"/>
            <a:ext cx="15116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0; i &lt; 1000; i++) {</a:t>
            </a:r>
            <a:endParaRPr lang="en-US" sz="788" dirty="0"/>
          </a:p>
        </p:txBody>
      </p:sp>
      <p:sp>
        <p:nvSpPr>
          <p:cNvPr id="32" name="Text 28"/>
          <p:cNvSpPr/>
          <p:nvPr/>
        </p:nvSpPr>
        <p:spPr>
          <a:xfrm>
            <a:off x="857250" y="3975497"/>
            <a:ext cx="971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sb.append(i);</a:t>
            </a:r>
            <a:endParaRPr lang="en-US" sz="788" dirty="0"/>
          </a:p>
        </p:txBody>
      </p:sp>
      <p:sp>
        <p:nvSpPr>
          <p:cNvPr id="33" name="Text 29"/>
          <p:cNvSpPr/>
          <p:nvPr/>
        </p:nvSpPr>
        <p:spPr>
          <a:xfrm>
            <a:off x="857250" y="41183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34" name="Text 30"/>
          <p:cNvSpPr/>
          <p:nvPr/>
        </p:nvSpPr>
        <p:spPr>
          <a:xfrm>
            <a:off x="857250" y="426124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788" dirty="0"/>
          </a:p>
        </p:txBody>
      </p:sp>
      <p:sp>
        <p:nvSpPr>
          <p:cNvPr id="35" name="Text 31"/>
          <p:cNvSpPr/>
          <p:nvPr/>
        </p:nvSpPr>
        <p:spPr>
          <a:xfrm>
            <a:off x="1217312" y="4261247"/>
            <a:ext cx="15116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sb.toString();</a:t>
            </a:r>
            <a:endParaRPr lang="en-US" sz="788" dirty="0"/>
          </a:p>
        </p:txBody>
      </p:sp>
      <p:sp>
        <p:nvSpPr>
          <p:cNvPr id="36" name="Shape 32"/>
          <p:cNvSpPr/>
          <p:nvPr/>
        </p:nvSpPr>
        <p:spPr>
          <a:xfrm>
            <a:off x="4686300" y="971550"/>
            <a:ext cx="4000500" cy="37719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Best Practices</a:t>
            </a:r>
            <a:endParaRPr lang="en-US" sz="1350" dirty="0"/>
          </a:p>
        </p:txBody>
      </p:sp>
      <p:sp>
        <p:nvSpPr>
          <p:cNvPr id="38" name="Shape 34"/>
          <p:cNvSpPr/>
          <p:nvPr/>
        </p:nvSpPr>
        <p:spPr>
          <a:xfrm>
            <a:off x="4857750" y="1485900"/>
            <a:ext cx="3657600" cy="148590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4857750" y="1485900"/>
            <a:ext cx="28575" cy="14859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4972050" y="15430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equals() for Comparison</a:t>
            </a:r>
            <a:endParaRPr lang="en-US" sz="1013" dirty="0"/>
          </a:p>
        </p:txBody>
      </p:sp>
      <p:sp>
        <p:nvSpPr>
          <p:cNvPr id="41" name="Text 37"/>
          <p:cNvSpPr/>
          <p:nvPr/>
        </p:nvSpPr>
        <p:spPr>
          <a:xfrm>
            <a:off x="4972050" y="17430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use == for string content comparison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972050" y="1971675"/>
            <a:ext cx="3543300" cy="9429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5086350" y="2089547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Wrong</a:t>
            </a:r>
            <a:endParaRPr lang="en-US" sz="788" dirty="0"/>
          </a:p>
        </p:txBody>
      </p:sp>
      <p:sp>
        <p:nvSpPr>
          <p:cNvPr id="44" name="Text 40"/>
          <p:cNvSpPr/>
          <p:nvPr/>
        </p:nvSpPr>
        <p:spPr>
          <a:xfrm>
            <a:off x="5086350" y="22324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45" name="Text 41"/>
          <p:cNvSpPr/>
          <p:nvPr/>
        </p:nvSpPr>
        <p:spPr>
          <a:xfrm>
            <a:off x="5206371" y="2232422"/>
            <a:ext cx="145163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(str1 == str2) { ... }</a:t>
            </a:r>
            <a:endParaRPr lang="en-US" sz="788" dirty="0"/>
          </a:p>
        </p:txBody>
      </p:sp>
      <p:sp>
        <p:nvSpPr>
          <p:cNvPr id="46" name="Text 42"/>
          <p:cNvSpPr/>
          <p:nvPr/>
        </p:nvSpPr>
        <p:spPr>
          <a:xfrm>
            <a:off x="5086350" y="2518172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</a:t>
            </a:r>
            <a:endParaRPr lang="en-US" sz="788" dirty="0"/>
          </a:p>
        </p:txBody>
      </p:sp>
      <p:sp>
        <p:nvSpPr>
          <p:cNvPr id="47" name="Text 43"/>
          <p:cNvSpPr/>
          <p:nvPr/>
        </p:nvSpPr>
        <p:spPr>
          <a:xfrm>
            <a:off x="5086350" y="266104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48" name="Text 44"/>
          <p:cNvSpPr/>
          <p:nvPr/>
        </p:nvSpPr>
        <p:spPr>
          <a:xfrm>
            <a:off x="5206371" y="2661047"/>
            <a:ext cx="175167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(str1.equals(str2)) { ... }</a:t>
            </a:r>
            <a:endParaRPr lang="en-US" sz="788" dirty="0"/>
          </a:p>
        </p:txBody>
      </p:sp>
      <p:sp>
        <p:nvSpPr>
          <p:cNvPr id="49" name="Shape 45"/>
          <p:cNvSpPr/>
          <p:nvPr/>
        </p:nvSpPr>
        <p:spPr>
          <a:xfrm>
            <a:off x="4857750" y="3086100"/>
            <a:ext cx="3657600" cy="1343025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4857750" y="3086100"/>
            <a:ext cx="28575" cy="13430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4972050" y="31432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 Null Values</a:t>
            </a:r>
            <a:endParaRPr lang="en-US" sz="1013" dirty="0"/>
          </a:p>
        </p:txBody>
      </p:sp>
      <p:sp>
        <p:nvSpPr>
          <p:cNvPr id="52" name="Text 48"/>
          <p:cNvSpPr/>
          <p:nvPr/>
        </p:nvSpPr>
        <p:spPr>
          <a:xfrm>
            <a:off x="4972050" y="3343275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for null before calling string methods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4972050" y="3571875"/>
            <a:ext cx="3543300" cy="8001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5086350" y="3689747"/>
            <a:ext cx="15116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Defensive programming</a:t>
            </a:r>
            <a:endParaRPr lang="en-US" sz="788" dirty="0"/>
          </a:p>
        </p:txBody>
      </p:sp>
      <p:sp>
        <p:nvSpPr>
          <p:cNvPr id="55" name="Text 51"/>
          <p:cNvSpPr/>
          <p:nvPr/>
        </p:nvSpPr>
        <p:spPr>
          <a:xfrm>
            <a:off x="5086350" y="38326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56" name="Text 52"/>
          <p:cNvSpPr/>
          <p:nvPr/>
        </p:nvSpPr>
        <p:spPr>
          <a:xfrm>
            <a:off x="5206371" y="3832622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 !=</a:t>
            </a:r>
            <a:endParaRPr lang="en-US" sz="788" dirty="0"/>
          </a:p>
        </p:txBody>
      </p:sp>
      <p:sp>
        <p:nvSpPr>
          <p:cNvPr id="57" name="Text 53"/>
          <p:cNvSpPr/>
          <p:nvPr/>
        </p:nvSpPr>
        <p:spPr>
          <a:xfrm>
            <a:off x="5746449" y="383262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788" dirty="0"/>
          </a:p>
        </p:txBody>
      </p:sp>
      <p:sp>
        <p:nvSpPr>
          <p:cNvPr id="58" name="Text 54"/>
          <p:cNvSpPr/>
          <p:nvPr/>
        </p:nvSpPr>
        <p:spPr>
          <a:xfrm>
            <a:off x="5986490" y="3832622"/>
            <a:ext cx="145163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str.length() &gt; 0) {</a:t>
            </a:r>
            <a:endParaRPr lang="en-US" sz="788" dirty="0"/>
          </a:p>
        </p:txBody>
      </p:sp>
      <p:sp>
        <p:nvSpPr>
          <p:cNvPr id="59" name="Text 55"/>
          <p:cNvSpPr/>
          <p:nvPr/>
        </p:nvSpPr>
        <p:spPr>
          <a:xfrm>
            <a:off x="5206371" y="3975497"/>
            <a:ext cx="11515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Safe to use str</a:t>
            </a:r>
            <a:endParaRPr lang="en-US" sz="788" dirty="0"/>
          </a:p>
        </p:txBody>
      </p:sp>
      <p:sp>
        <p:nvSpPr>
          <p:cNvPr id="60" name="Text 56"/>
          <p:cNvSpPr/>
          <p:nvPr/>
        </p:nvSpPr>
        <p:spPr>
          <a:xfrm>
            <a:off x="5086350" y="41183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61" name="Shape 57"/>
          <p:cNvSpPr/>
          <p:nvPr/>
        </p:nvSpPr>
        <p:spPr>
          <a:xfrm>
            <a:off x="457200" y="4972050"/>
            <a:ext cx="8229600" cy="200025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/>
          <p:nvPr/>
        </p:nvSpPr>
        <p:spPr>
          <a:xfrm>
            <a:off x="628650" y="514350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1350" dirty="0"/>
          </a:p>
        </p:txBody>
      </p:sp>
      <p:sp>
        <p:nvSpPr>
          <p:cNvPr id="63" name="Shape 59"/>
          <p:cNvSpPr/>
          <p:nvPr/>
        </p:nvSpPr>
        <p:spPr>
          <a:xfrm>
            <a:off x="628650" y="5486400"/>
            <a:ext cx="2552691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629275"/>
            <a:ext cx="100013" cy="114300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900113" y="5600700"/>
            <a:ext cx="7446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Immutability</a:t>
            </a:r>
            <a:endParaRPr lang="en-US" sz="900" dirty="0"/>
          </a:p>
        </p:txBody>
      </p:sp>
      <p:sp>
        <p:nvSpPr>
          <p:cNvPr id="66" name="Text 61"/>
          <p:cNvSpPr/>
          <p:nvPr/>
        </p:nvSpPr>
        <p:spPr>
          <a:xfrm>
            <a:off x="742950" y="5829300"/>
            <a:ext cx="23955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cannot be changed after creation; operations return new String objects</a:t>
            </a:r>
            <a:endParaRPr lang="en-US" sz="788" dirty="0"/>
          </a:p>
        </p:txBody>
      </p:sp>
      <p:sp>
        <p:nvSpPr>
          <p:cNvPr id="67" name="Shape 62"/>
          <p:cNvSpPr/>
          <p:nvPr/>
        </p:nvSpPr>
        <p:spPr>
          <a:xfrm>
            <a:off x="3295641" y="5486400"/>
            <a:ext cx="2552691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9941" y="5629275"/>
            <a:ext cx="114300" cy="114300"/>
          </a:xfrm>
          <a:prstGeom prst="rect">
            <a:avLst/>
          </a:prstGeom>
        </p:spPr>
      </p:pic>
      <p:sp>
        <p:nvSpPr>
          <p:cNvPr id="69" name="Text 63"/>
          <p:cNvSpPr/>
          <p:nvPr/>
        </p:nvSpPr>
        <p:spPr>
          <a:xfrm>
            <a:off x="3581391" y="5600700"/>
            <a:ext cx="5371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API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3409941" y="5829300"/>
            <a:ext cx="23955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provides numerous methods for string manipulation, comparison, and searching</a:t>
            </a:r>
            <a:endParaRPr lang="en-US" sz="788" dirty="0"/>
          </a:p>
        </p:txBody>
      </p:sp>
      <p:sp>
        <p:nvSpPr>
          <p:cNvPr id="71" name="Shape 65"/>
          <p:cNvSpPr/>
          <p:nvPr/>
        </p:nvSpPr>
        <p:spPr>
          <a:xfrm>
            <a:off x="5962631" y="5486400"/>
            <a:ext cx="2552719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6931" y="5629275"/>
            <a:ext cx="85725" cy="114300"/>
          </a:xfrm>
          <a:prstGeom prst="rect">
            <a:avLst/>
          </a:prstGeom>
        </p:spPr>
      </p:pic>
      <p:sp>
        <p:nvSpPr>
          <p:cNvPr id="73" name="Text 66"/>
          <p:cNvSpPr/>
          <p:nvPr/>
        </p:nvSpPr>
        <p:spPr>
          <a:xfrm>
            <a:off x="6219806" y="5600700"/>
            <a:ext cx="13992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Awareness</a:t>
            </a:r>
            <a:endParaRPr lang="en-US" sz="900" dirty="0"/>
          </a:p>
        </p:txBody>
      </p:sp>
      <p:sp>
        <p:nvSpPr>
          <p:cNvPr id="74" name="Text 67"/>
          <p:cNvSpPr/>
          <p:nvPr/>
        </p:nvSpPr>
        <p:spPr>
          <a:xfrm>
            <a:off x="6076931" y="5829300"/>
            <a:ext cx="23955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appropriate tools (String vs StringBuilder) based on your use case</a:t>
            </a:r>
            <a:endParaRPr lang="en-US" sz="788" dirty="0"/>
          </a:p>
        </p:txBody>
      </p:sp>
      <p:pic>
        <p:nvPicPr>
          <p:cNvPr id="7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6493669"/>
            <a:ext cx="267891" cy="214313"/>
          </a:xfrm>
          <a:prstGeom prst="rect">
            <a:avLst/>
          </a:prstGeom>
        </p:spPr>
      </p:pic>
      <p:sp>
        <p:nvSpPr>
          <p:cNvPr id="76" name="Text 68"/>
          <p:cNvSpPr/>
          <p:nvPr/>
        </p:nvSpPr>
        <p:spPr>
          <a:xfrm>
            <a:off x="1010841" y="6400800"/>
            <a:ext cx="757594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String handling is fundamental to Java programming. Proper string manipulation improves code readability, maintainability, and performance.</a:t>
            </a:r>
            <a:endParaRPr lang="en-US" sz="101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3000375"/>
            <a:ext cx="2143125" cy="21431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417127" y="810816"/>
            <a:ext cx="4309746" cy="3521869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2799904" y="1132284"/>
            <a:ext cx="2186267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4914733" y="1132284"/>
            <a:ext cx="1500801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</a:t>
            </a:r>
            <a:endParaRPr lang="en-US" sz="2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688" y="1725216"/>
            <a:ext cx="428625" cy="428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760027" y="2268141"/>
            <a:ext cx="3695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questions about Java Strings?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2760027" y="3075384"/>
            <a:ext cx="36953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88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1688" dirty="0"/>
          </a:p>
        </p:txBody>
      </p:sp>
      <p:sp>
        <p:nvSpPr>
          <p:cNvPr id="10" name="Text 5"/>
          <p:cNvSpPr/>
          <p:nvPr/>
        </p:nvSpPr>
        <p:spPr>
          <a:xfrm>
            <a:off x="2760027" y="3446859"/>
            <a:ext cx="36953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additional resources on Java String handling:</a:t>
            </a:r>
            <a:endParaRPr lang="en-US" sz="1125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0027" y="3846909"/>
            <a:ext cx="100013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917189" y="3818334"/>
            <a:ext cx="11134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Documentation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0622" y="3846909"/>
            <a:ext cx="142875" cy="114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30647" y="3818334"/>
            <a:ext cx="101151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Exercises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2170" y="3846909"/>
            <a:ext cx="128588" cy="1143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627908" y="3818334"/>
            <a:ext cx="827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Tutorial Videos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3239</Words>
  <Application>Microsoft Office PowerPoint</Application>
  <PresentationFormat>On-screen Show (16:9)</PresentationFormat>
  <Paragraphs>945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Khurram Iqbal</cp:lastModifiedBy>
  <cp:revision>1</cp:revision>
  <dcterms:created xsi:type="dcterms:W3CDTF">2025-06-06T07:42:07Z</dcterms:created>
  <dcterms:modified xsi:type="dcterms:W3CDTF">2025-10-14T13:22:08Z</dcterms:modified>
</cp:coreProperties>
</file>