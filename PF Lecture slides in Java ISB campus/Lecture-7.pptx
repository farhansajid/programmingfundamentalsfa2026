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44" r:id="rId2"/>
    <p:sldId id="257" r:id="rId3"/>
    <p:sldId id="295" r:id="rId4"/>
    <p:sldId id="447" r:id="rId5"/>
    <p:sldId id="259" r:id="rId6"/>
    <p:sldId id="294" r:id="rId7"/>
    <p:sldId id="297" r:id="rId8"/>
    <p:sldId id="298" r:id="rId9"/>
    <p:sldId id="299" r:id="rId10"/>
    <p:sldId id="260" r:id="rId11"/>
    <p:sldId id="450" r:id="rId12"/>
    <p:sldId id="300" r:id="rId13"/>
    <p:sldId id="301" r:id="rId14"/>
    <p:sldId id="261" r:id="rId15"/>
    <p:sldId id="262" r:id="rId16"/>
    <p:sldId id="265" r:id="rId17"/>
    <p:sldId id="306" r:id="rId18"/>
    <p:sldId id="302" r:id="rId19"/>
    <p:sldId id="445" r:id="rId20"/>
    <p:sldId id="263" r:id="rId21"/>
    <p:sldId id="264" r:id="rId22"/>
    <p:sldId id="303" r:id="rId23"/>
    <p:sldId id="304" r:id="rId24"/>
    <p:sldId id="305" r:id="rId25"/>
    <p:sldId id="446" r:id="rId26"/>
    <p:sldId id="292" r:id="rId27"/>
    <p:sldId id="29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E01CBE59-94E2-4607-A170-EBFE72D8B202}"/>
    <pc:docChg chg="undo custSel addSld delSld modSld">
      <pc:chgData name="Khurram Iqbal" userId="af32904b-6c78-4cff-8330-5f3a20d540de" providerId="ADAL" clId="{E01CBE59-94E2-4607-A170-EBFE72D8B202}" dt="2026-03-27T06:10:47.765" v="70" actId="20577"/>
      <pc:docMkLst>
        <pc:docMk/>
      </pc:docMkLst>
      <pc:sldChg chg="mod modShow">
        <pc:chgData name="Khurram Iqbal" userId="af32904b-6c78-4cff-8330-5f3a20d540de" providerId="ADAL" clId="{E01CBE59-94E2-4607-A170-EBFE72D8B202}" dt="2026-03-13T04:29:36.437" v="0" actId="729"/>
        <pc:sldMkLst>
          <pc:docMk/>
          <pc:sldMk cId="3658217265" sldId="260"/>
        </pc:sldMkLst>
      </pc:sldChg>
      <pc:sldChg chg="addSp delSp modSp mod">
        <pc:chgData name="Khurram Iqbal" userId="af32904b-6c78-4cff-8330-5f3a20d540de" providerId="ADAL" clId="{E01CBE59-94E2-4607-A170-EBFE72D8B202}" dt="2026-03-17T02:21:23.700" v="12" actId="26606"/>
        <pc:sldMkLst>
          <pc:docMk/>
          <pc:sldMk cId="2989070222" sldId="295"/>
        </pc:sldMkLst>
        <pc:spChg chg="mod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098" creationId="{00000000-0000-0000-0000-000000000000}"/>
          </ac:spMkLst>
        </pc:spChg>
        <pc:spChg chg="add del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105" creationId="{BACC6370-2D7E-4714-9D71-7542949D7D5D}"/>
          </ac:spMkLst>
        </pc:spChg>
        <pc:spChg chg="add del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107" creationId="{256B2C21-A230-48C0-8DF1-C46611373C44}"/>
          </ac:spMkLst>
        </pc:spChg>
        <pc:spChg chg="add del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109" creationId="{3847E18C-932D-4C95-AABA-FEC7C9499AD7}"/>
          </ac:spMkLst>
        </pc:spChg>
        <pc:spChg chg="add del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111" creationId="{3150CB11-0C61-439E-910F-5787759E72A0}"/>
          </ac:spMkLst>
        </pc:spChg>
        <pc:spChg chg="add del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113" creationId="{43F8A58B-5155-44CE-A5FF-7647B47D0A7A}"/>
          </ac:spMkLst>
        </pc:spChg>
        <pc:spChg chg="add del">
          <ac:chgData name="Khurram Iqbal" userId="af32904b-6c78-4cff-8330-5f3a20d540de" providerId="ADAL" clId="{E01CBE59-94E2-4607-A170-EBFE72D8B202}" dt="2026-03-17T02:21:23.700" v="12" actId="26606"/>
          <ac:spMkLst>
            <pc:docMk/>
            <pc:sldMk cId="2989070222" sldId="295"/>
            <ac:spMk id="4115" creationId="{443F2ACA-E6D6-4028-82DD-F03C262D5DE6}"/>
          </ac:spMkLst>
        </pc:spChg>
        <pc:graphicFrameChg chg="mod modGraphic">
          <ac:chgData name="Khurram Iqbal" userId="af32904b-6c78-4cff-8330-5f3a20d540de" providerId="ADAL" clId="{E01CBE59-94E2-4607-A170-EBFE72D8B202}" dt="2026-03-17T02:21:23.700" v="12" actId="26606"/>
          <ac:graphicFrameMkLst>
            <pc:docMk/>
            <pc:sldMk cId="2989070222" sldId="295"/>
            <ac:graphicFrameMk id="4101" creationId="{F873E274-770E-E4C0-F42E-DF9B6A9F0099}"/>
          </ac:graphicFrameMkLst>
        </pc:graphicFrameChg>
      </pc:sldChg>
      <pc:sldChg chg="modSp mod">
        <pc:chgData name="Khurram Iqbal" userId="af32904b-6c78-4cff-8330-5f3a20d540de" providerId="ADAL" clId="{E01CBE59-94E2-4607-A170-EBFE72D8B202}" dt="2026-03-27T06:10:47.765" v="70" actId="20577"/>
        <pc:sldMkLst>
          <pc:docMk/>
          <pc:sldMk cId="1133379728" sldId="446"/>
        </pc:sldMkLst>
        <pc:spChg chg="mod">
          <ac:chgData name="Khurram Iqbal" userId="af32904b-6c78-4cff-8330-5f3a20d540de" providerId="ADAL" clId="{E01CBE59-94E2-4607-A170-EBFE72D8B202}" dt="2026-03-27T06:10:47.765" v="70" actId="20577"/>
          <ac:spMkLst>
            <pc:docMk/>
            <pc:sldMk cId="1133379728" sldId="446"/>
            <ac:spMk id="3" creationId="{27B25708-889A-FCC0-C69C-7AB1D352352D}"/>
          </ac:spMkLst>
        </pc:spChg>
      </pc:sldChg>
      <pc:sldChg chg="addSp delSp modSp new mod">
        <pc:chgData name="Khurram Iqbal" userId="af32904b-6c78-4cff-8330-5f3a20d540de" providerId="ADAL" clId="{E01CBE59-94E2-4607-A170-EBFE72D8B202}" dt="2026-03-17T02:27:11.634" v="16" actId="14100"/>
        <pc:sldMkLst>
          <pc:docMk/>
          <pc:sldMk cId="418862217" sldId="447"/>
        </pc:sldMkLst>
        <pc:picChg chg="add mod ord">
          <ac:chgData name="Khurram Iqbal" userId="af32904b-6c78-4cff-8330-5f3a20d540de" providerId="ADAL" clId="{E01CBE59-94E2-4607-A170-EBFE72D8B202}" dt="2026-03-17T02:27:11.634" v="16" actId="14100"/>
          <ac:picMkLst>
            <pc:docMk/>
            <pc:sldMk cId="418862217" sldId="447"/>
            <ac:picMk id="5" creationId="{757211CD-0CA7-86E4-7290-570780581249}"/>
          </ac:picMkLst>
        </pc:picChg>
      </pc:sldChg>
      <pc:sldChg chg="modSp add mod">
        <pc:chgData name="Khurram Iqbal" userId="af32904b-6c78-4cff-8330-5f3a20d540de" providerId="ADAL" clId="{E01CBE59-94E2-4607-A170-EBFE72D8B202}" dt="2026-03-17T02:44:54.674" v="67" actId="20577"/>
        <pc:sldMkLst>
          <pc:docMk/>
          <pc:sldMk cId="0" sldId="450"/>
        </pc:sldMkLst>
        <pc:spChg chg="mod">
          <ac:chgData name="Khurram Iqbal" userId="af32904b-6c78-4cff-8330-5f3a20d540de" providerId="ADAL" clId="{E01CBE59-94E2-4607-A170-EBFE72D8B202}" dt="2026-03-17T02:44:54.674" v="67" actId="20577"/>
          <ac:spMkLst>
            <pc:docMk/>
            <pc:sldMk cId="0" sldId="450"/>
            <ac:spMk id="25602" creationId="{73772EB8-9DBE-6A6E-E669-462132E640A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DE3C2B-0090-4A9C-8C0E-89D29DFADA5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064D4C7-712E-4AB1-ACBA-11E478D898D9}">
      <dgm:prSet/>
      <dgm:spPr/>
      <dgm:t>
        <a:bodyPr/>
        <a:lstStyle/>
        <a:p>
          <a:r>
            <a:rPr lang="en-US" dirty="0"/>
            <a:t>Introduction: </a:t>
          </a:r>
          <a:r>
            <a:rPr lang="en-US" dirty="0">
              <a:solidFill>
                <a:schemeClr val="bg1"/>
              </a:solidFill>
              <a:latin typeface="Lucida Sans Unicode"/>
              <a:cs typeface="Lucida Sans Unicode"/>
            </a:rPr>
            <a:t>Control</a:t>
          </a:r>
          <a:r>
            <a:rPr lang="en-US" spc="97" dirty="0">
              <a:solidFill>
                <a:schemeClr val="bg1"/>
              </a:solidFill>
              <a:latin typeface="Lucida Sans Unicode"/>
              <a:cs typeface="Lucida Sans Unicode"/>
            </a:rPr>
            <a:t> </a:t>
          </a:r>
          <a:r>
            <a:rPr lang="en-US" spc="-18" dirty="0">
              <a:solidFill>
                <a:schemeClr val="bg1"/>
              </a:solidFill>
              <a:latin typeface="Lucida Sans Unicode"/>
              <a:cs typeface="Lucida Sans Unicode"/>
            </a:rPr>
            <a:t>flow</a:t>
          </a:r>
          <a:endParaRPr lang="en-US" dirty="0">
            <a:solidFill>
              <a:schemeClr val="bg1"/>
            </a:solidFill>
          </a:endParaRPr>
        </a:p>
      </dgm:t>
    </dgm:pt>
    <dgm:pt modelId="{F5B24964-F823-4913-BE47-C8177EEAC676}" type="parTrans" cxnId="{71F43476-FCFF-4C4C-9212-BFCE8A4C8BC0}">
      <dgm:prSet/>
      <dgm:spPr/>
      <dgm:t>
        <a:bodyPr/>
        <a:lstStyle/>
        <a:p>
          <a:endParaRPr lang="en-US"/>
        </a:p>
      </dgm:t>
    </dgm:pt>
    <dgm:pt modelId="{16801CA2-6142-465C-BF87-2C934914DBFF}" type="sibTrans" cxnId="{71F43476-FCFF-4C4C-9212-BFCE8A4C8BC0}">
      <dgm:prSet/>
      <dgm:spPr/>
      <dgm:t>
        <a:bodyPr/>
        <a:lstStyle/>
        <a:p>
          <a:endParaRPr lang="en-US"/>
        </a:p>
      </dgm:t>
    </dgm:pt>
    <dgm:pt modelId="{DB678481-E363-4146-A038-3B7832D5AE5F}">
      <dgm:prSet/>
      <dgm:spPr/>
      <dgm:t>
        <a:bodyPr/>
        <a:lstStyle/>
        <a:p>
          <a:r>
            <a:rPr lang="en-US" dirty="0"/>
            <a:t>Boolean Types, Values, and  Expressions</a:t>
          </a:r>
        </a:p>
      </dgm:t>
    </dgm:pt>
    <dgm:pt modelId="{970F72FC-0323-48C0-957D-2098B738DCF2}" type="parTrans" cxnId="{7CEFBDCB-B0CB-4E9F-B5DC-BE6C514F8F2B}">
      <dgm:prSet/>
      <dgm:spPr/>
      <dgm:t>
        <a:bodyPr/>
        <a:lstStyle/>
        <a:p>
          <a:endParaRPr lang="en-US"/>
        </a:p>
      </dgm:t>
    </dgm:pt>
    <dgm:pt modelId="{65455680-8D68-45D5-B239-23BC29BA603E}" type="sibTrans" cxnId="{7CEFBDCB-B0CB-4E9F-B5DC-BE6C514F8F2B}">
      <dgm:prSet/>
      <dgm:spPr/>
      <dgm:t>
        <a:bodyPr/>
        <a:lstStyle/>
        <a:p>
          <a:endParaRPr lang="en-US"/>
        </a:p>
      </dgm:t>
    </dgm:pt>
    <dgm:pt modelId="{C7D460B8-5DBF-4758-9962-F534399BA968}">
      <dgm:prSet/>
      <dgm:spPr/>
      <dgm:t>
        <a:bodyPr/>
        <a:lstStyle/>
        <a:p>
          <a:r>
            <a:rPr lang="en-US" dirty="0"/>
            <a:t>One-way </a:t>
          </a:r>
          <a:r>
            <a:rPr lang="en-US" b="1" dirty="0"/>
            <a:t>if </a:t>
          </a:r>
          <a:r>
            <a:rPr lang="en-US" dirty="0"/>
            <a:t>statement</a:t>
          </a:r>
        </a:p>
      </dgm:t>
    </dgm:pt>
    <dgm:pt modelId="{A56DB153-50AD-4F52-88D2-DCC6D39A5F86}" type="parTrans" cxnId="{AA8D2E07-FBF0-4224-AAA1-EDF8F6A84DF1}">
      <dgm:prSet/>
      <dgm:spPr/>
      <dgm:t>
        <a:bodyPr/>
        <a:lstStyle/>
        <a:p>
          <a:endParaRPr lang="en-US"/>
        </a:p>
      </dgm:t>
    </dgm:pt>
    <dgm:pt modelId="{EDC250CA-19D2-40A2-BABD-605FCDCB7CF6}" type="sibTrans" cxnId="{AA8D2E07-FBF0-4224-AAA1-EDF8F6A84DF1}">
      <dgm:prSet/>
      <dgm:spPr/>
      <dgm:t>
        <a:bodyPr/>
        <a:lstStyle/>
        <a:p>
          <a:endParaRPr lang="en-US"/>
        </a:p>
      </dgm:t>
    </dgm:pt>
    <dgm:pt modelId="{6662DFE1-D064-4D62-A3F6-A2111B362696}">
      <dgm:prSet/>
      <dgm:spPr/>
      <dgm:t>
        <a:bodyPr/>
        <a:lstStyle/>
        <a:p>
          <a:r>
            <a:rPr lang="en-US" dirty="0"/>
            <a:t>Two-way </a:t>
          </a:r>
          <a:r>
            <a:rPr lang="en-US" b="1" dirty="0"/>
            <a:t>if-else </a:t>
          </a:r>
          <a:r>
            <a:rPr lang="en-US" dirty="0"/>
            <a:t>statement</a:t>
          </a:r>
        </a:p>
      </dgm:t>
    </dgm:pt>
    <dgm:pt modelId="{B00AFD24-2739-4229-BF01-5751DC5D6C2A}" type="parTrans" cxnId="{EFD2B48C-5608-44A5-97A6-F1343C62D7F2}">
      <dgm:prSet/>
      <dgm:spPr/>
      <dgm:t>
        <a:bodyPr/>
        <a:lstStyle/>
        <a:p>
          <a:endParaRPr lang="en-US"/>
        </a:p>
      </dgm:t>
    </dgm:pt>
    <dgm:pt modelId="{6566ADEB-D052-4019-83C2-3731DEDD6E39}" type="sibTrans" cxnId="{EFD2B48C-5608-44A5-97A6-F1343C62D7F2}">
      <dgm:prSet/>
      <dgm:spPr/>
      <dgm:t>
        <a:bodyPr/>
        <a:lstStyle/>
        <a:p>
          <a:endParaRPr lang="en-US"/>
        </a:p>
      </dgm:t>
    </dgm:pt>
    <dgm:pt modelId="{8D6950E1-E018-46EC-82F6-D1D75FD42539}" type="pres">
      <dgm:prSet presAssocID="{E1DE3C2B-0090-4A9C-8C0E-89D29DFADA59}" presName="linear" presStyleCnt="0">
        <dgm:presLayoutVars>
          <dgm:animLvl val="lvl"/>
          <dgm:resizeHandles val="exact"/>
        </dgm:presLayoutVars>
      </dgm:prSet>
      <dgm:spPr/>
    </dgm:pt>
    <dgm:pt modelId="{C8A56CE3-9AC7-4DFB-834A-9A4C2E16EB52}" type="pres">
      <dgm:prSet presAssocID="{C064D4C7-712E-4AB1-ACBA-11E478D898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EEC869-E542-4ADC-B340-E40B084B06A2}" type="pres">
      <dgm:prSet presAssocID="{16801CA2-6142-465C-BF87-2C934914DBFF}" presName="spacer" presStyleCnt="0"/>
      <dgm:spPr/>
    </dgm:pt>
    <dgm:pt modelId="{0CEF1255-7FEE-447F-A649-EC1E3AD6C78B}" type="pres">
      <dgm:prSet presAssocID="{DB678481-E363-4146-A038-3B7832D5AE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28DA8E-0A5A-4A76-8F87-14FC20DA609D}" type="pres">
      <dgm:prSet presAssocID="{65455680-8D68-45D5-B239-23BC29BA603E}" presName="spacer" presStyleCnt="0"/>
      <dgm:spPr/>
    </dgm:pt>
    <dgm:pt modelId="{5096A4BE-1BD7-4F78-98E2-FE1EFA160AE5}" type="pres">
      <dgm:prSet presAssocID="{C7D460B8-5DBF-4758-9962-F534399BA9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A1EAE3-99E2-4D1C-ADD8-5439D6426DAC}" type="pres">
      <dgm:prSet presAssocID="{EDC250CA-19D2-40A2-BABD-605FCDCB7CF6}" presName="spacer" presStyleCnt="0"/>
      <dgm:spPr/>
    </dgm:pt>
    <dgm:pt modelId="{AF0F2A39-D4F6-452B-BBC6-78FA8B95D005}" type="pres">
      <dgm:prSet presAssocID="{6662DFE1-D064-4D62-A3F6-A2111B36269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A8D2E07-FBF0-4224-AAA1-EDF8F6A84DF1}" srcId="{E1DE3C2B-0090-4A9C-8C0E-89D29DFADA59}" destId="{C7D460B8-5DBF-4758-9962-F534399BA968}" srcOrd="2" destOrd="0" parTransId="{A56DB153-50AD-4F52-88D2-DCC6D39A5F86}" sibTransId="{EDC250CA-19D2-40A2-BABD-605FCDCB7CF6}"/>
    <dgm:cxn modelId="{DBF2EF25-12F9-4331-9DA9-098158EFD69E}" type="presOf" srcId="{6662DFE1-D064-4D62-A3F6-A2111B362696}" destId="{AF0F2A39-D4F6-452B-BBC6-78FA8B95D005}" srcOrd="0" destOrd="0" presId="urn:microsoft.com/office/officeart/2005/8/layout/vList2"/>
    <dgm:cxn modelId="{71F43476-FCFF-4C4C-9212-BFCE8A4C8BC0}" srcId="{E1DE3C2B-0090-4A9C-8C0E-89D29DFADA59}" destId="{C064D4C7-712E-4AB1-ACBA-11E478D898D9}" srcOrd="0" destOrd="0" parTransId="{F5B24964-F823-4913-BE47-C8177EEAC676}" sibTransId="{16801CA2-6142-465C-BF87-2C934914DBFF}"/>
    <dgm:cxn modelId="{9985337D-5FB6-463F-99FE-9746E1E8ECAD}" type="presOf" srcId="{DB678481-E363-4146-A038-3B7832D5AE5F}" destId="{0CEF1255-7FEE-447F-A649-EC1E3AD6C78B}" srcOrd="0" destOrd="0" presId="urn:microsoft.com/office/officeart/2005/8/layout/vList2"/>
    <dgm:cxn modelId="{EFD2B48C-5608-44A5-97A6-F1343C62D7F2}" srcId="{E1DE3C2B-0090-4A9C-8C0E-89D29DFADA59}" destId="{6662DFE1-D064-4D62-A3F6-A2111B362696}" srcOrd="3" destOrd="0" parTransId="{B00AFD24-2739-4229-BF01-5751DC5D6C2A}" sibTransId="{6566ADEB-D052-4019-83C2-3731DEDD6E39}"/>
    <dgm:cxn modelId="{221F429D-1138-404D-8D84-91431F2E2516}" type="presOf" srcId="{C064D4C7-712E-4AB1-ACBA-11E478D898D9}" destId="{C8A56CE3-9AC7-4DFB-834A-9A4C2E16EB52}" srcOrd="0" destOrd="0" presId="urn:microsoft.com/office/officeart/2005/8/layout/vList2"/>
    <dgm:cxn modelId="{0B542BA0-56A5-48BE-A82F-1F1A1528B912}" type="presOf" srcId="{E1DE3C2B-0090-4A9C-8C0E-89D29DFADA59}" destId="{8D6950E1-E018-46EC-82F6-D1D75FD42539}" srcOrd="0" destOrd="0" presId="urn:microsoft.com/office/officeart/2005/8/layout/vList2"/>
    <dgm:cxn modelId="{7CEFBDCB-B0CB-4E9F-B5DC-BE6C514F8F2B}" srcId="{E1DE3C2B-0090-4A9C-8C0E-89D29DFADA59}" destId="{DB678481-E363-4146-A038-3B7832D5AE5F}" srcOrd="1" destOrd="0" parTransId="{970F72FC-0323-48C0-957D-2098B738DCF2}" sibTransId="{65455680-8D68-45D5-B239-23BC29BA603E}"/>
    <dgm:cxn modelId="{7BEB18F6-6071-4807-A60F-E0C66409598A}" type="presOf" srcId="{C7D460B8-5DBF-4758-9962-F534399BA968}" destId="{5096A4BE-1BD7-4F78-98E2-FE1EFA160AE5}" srcOrd="0" destOrd="0" presId="urn:microsoft.com/office/officeart/2005/8/layout/vList2"/>
    <dgm:cxn modelId="{3C8B7F42-A03E-4261-B266-F0115FC3AD89}" type="presParOf" srcId="{8D6950E1-E018-46EC-82F6-D1D75FD42539}" destId="{C8A56CE3-9AC7-4DFB-834A-9A4C2E16EB52}" srcOrd="0" destOrd="0" presId="urn:microsoft.com/office/officeart/2005/8/layout/vList2"/>
    <dgm:cxn modelId="{507E7BA6-BA53-4D82-82E6-C737D61084DC}" type="presParOf" srcId="{8D6950E1-E018-46EC-82F6-D1D75FD42539}" destId="{12EEC869-E542-4ADC-B340-E40B084B06A2}" srcOrd="1" destOrd="0" presId="urn:microsoft.com/office/officeart/2005/8/layout/vList2"/>
    <dgm:cxn modelId="{9B5E8213-4235-44B2-A9B6-E3E13788869B}" type="presParOf" srcId="{8D6950E1-E018-46EC-82F6-D1D75FD42539}" destId="{0CEF1255-7FEE-447F-A649-EC1E3AD6C78B}" srcOrd="2" destOrd="0" presId="urn:microsoft.com/office/officeart/2005/8/layout/vList2"/>
    <dgm:cxn modelId="{AB9534FF-0291-443E-A7F2-040BB678B881}" type="presParOf" srcId="{8D6950E1-E018-46EC-82F6-D1D75FD42539}" destId="{5B28DA8E-0A5A-4A76-8F87-14FC20DA609D}" srcOrd="3" destOrd="0" presId="urn:microsoft.com/office/officeart/2005/8/layout/vList2"/>
    <dgm:cxn modelId="{B9DC13A9-6F5D-4FC8-8473-18C38BAB64D4}" type="presParOf" srcId="{8D6950E1-E018-46EC-82F6-D1D75FD42539}" destId="{5096A4BE-1BD7-4F78-98E2-FE1EFA160AE5}" srcOrd="4" destOrd="0" presId="urn:microsoft.com/office/officeart/2005/8/layout/vList2"/>
    <dgm:cxn modelId="{927278DD-F0F4-4EC9-AE21-05B203D37BDF}" type="presParOf" srcId="{8D6950E1-E018-46EC-82F6-D1D75FD42539}" destId="{CCA1EAE3-99E2-4D1C-ADD8-5439D6426DAC}" srcOrd="5" destOrd="0" presId="urn:microsoft.com/office/officeart/2005/8/layout/vList2"/>
    <dgm:cxn modelId="{10B78921-4453-4779-B5C0-1B36B8BADCE6}" type="presParOf" srcId="{8D6950E1-E018-46EC-82F6-D1D75FD42539}" destId="{AF0F2A39-D4F6-452B-BBC6-78FA8B95D0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00F911-623E-48CA-85F3-BE8183E270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3ED386-CE18-421A-B6D1-C6BF37E72B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 dirty="0"/>
            <a:t>Control structure</a:t>
          </a:r>
          <a:r>
            <a:rPr lang="en-US" dirty="0"/>
            <a:t>: logical design that controls order in which set of statements execute</a:t>
          </a:r>
        </a:p>
      </dgm:t>
    </dgm:pt>
    <dgm:pt modelId="{A6DE436E-E0CD-4ACD-B328-47319D722523}" type="parTrans" cxnId="{4BA9A054-4868-476A-ABFC-62CAFDCC503D}">
      <dgm:prSet/>
      <dgm:spPr/>
      <dgm:t>
        <a:bodyPr/>
        <a:lstStyle/>
        <a:p>
          <a:endParaRPr lang="en-US"/>
        </a:p>
      </dgm:t>
    </dgm:pt>
    <dgm:pt modelId="{C78C46E5-B19E-465A-9009-FD3E1A39CF13}" type="sibTrans" cxnId="{4BA9A054-4868-476A-ABFC-62CAFDCC503D}">
      <dgm:prSet/>
      <dgm:spPr/>
      <dgm:t>
        <a:bodyPr/>
        <a:lstStyle/>
        <a:p>
          <a:endParaRPr lang="en-US"/>
        </a:p>
      </dgm:t>
    </dgm:pt>
    <dgm:pt modelId="{764A1776-A105-44DE-A404-ADF6C0457E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Sequence structure</a:t>
          </a:r>
          <a:r>
            <a:rPr lang="en-US"/>
            <a:t>: set of statements that execute in the order they appear</a:t>
          </a:r>
        </a:p>
      </dgm:t>
    </dgm:pt>
    <dgm:pt modelId="{D5EE5A11-8402-4333-B7B4-5DE2E79A7A4C}" type="parTrans" cxnId="{573CF352-38B7-4621-BD68-FF62A7129481}">
      <dgm:prSet/>
      <dgm:spPr/>
      <dgm:t>
        <a:bodyPr/>
        <a:lstStyle/>
        <a:p>
          <a:endParaRPr lang="en-US"/>
        </a:p>
      </dgm:t>
    </dgm:pt>
    <dgm:pt modelId="{83876720-B35D-40E6-96A3-2304C3943C05}" type="sibTrans" cxnId="{573CF352-38B7-4621-BD68-FF62A7129481}">
      <dgm:prSet/>
      <dgm:spPr/>
      <dgm:t>
        <a:bodyPr/>
        <a:lstStyle/>
        <a:p>
          <a:endParaRPr lang="en-US"/>
        </a:p>
      </dgm:t>
    </dgm:pt>
    <dgm:pt modelId="{50F6AE53-C0A3-4C54-93D3-0352385CE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/>
            <a:t>Decision structure</a:t>
          </a:r>
          <a:r>
            <a:rPr lang="en-US"/>
            <a:t>: specific action(s) performed only if a condition exists</a:t>
          </a:r>
        </a:p>
      </dgm:t>
    </dgm:pt>
    <dgm:pt modelId="{7757119F-CA69-415F-9D89-7CF9FC2E3739}" type="parTrans" cxnId="{201D0E1B-3819-4547-B26B-DD6291AB67D8}">
      <dgm:prSet/>
      <dgm:spPr/>
      <dgm:t>
        <a:bodyPr/>
        <a:lstStyle/>
        <a:p>
          <a:endParaRPr lang="en-US"/>
        </a:p>
      </dgm:t>
    </dgm:pt>
    <dgm:pt modelId="{B96175C7-4A00-45E1-B5D6-2E2B98F44A62}" type="sibTrans" cxnId="{201D0E1B-3819-4547-B26B-DD6291AB67D8}">
      <dgm:prSet/>
      <dgm:spPr/>
      <dgm:t>
        <a:bodyPr/>
        <a:lstStyle/>
        <a:p>
          <a:endParaRPr lang="en-US"/>
        </a:p>
      </dgm:t>
    </dgm:pt>
    <dgm:pt modelId="{BBE66439-F5F3-43A9-AF76-F98665858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Also known as selection structure</a:t>
          </a:r>
        </a:p>
      </dgm:t>
    </dgm:pt>
    <dgm:pt modelId="{8A4C970F-9EC3-48C4-A78E-2ED793ABA321}" type="parTrans" cxnId="{085E676E-6349-4476-A6A7-523403621066}">
      <dgm:prSet/>
      <dgm:spPr/>
      <dgm:t>
        <a:bodyPr/>
        <a:lstStyle/>
        <a:p>
          <a:endParaRPr lang="en-US"/>
        </a:p>
      </dgm:t>
    </dgm:pt>
    <dgm:pt modelId="{3918BD46-52C3-430C-A74E-5BE3058A0D24}" type="sibTrans" cxnId="{085E676E-6349-4476-A6A7-523403621066}">
      <dgm:prSet/>
      <dgm:spPr/>
      <dgm:t>
        <a:bodyPr/>
        <a:lstStyle/>
        <a:p>
          <a:endParaRPr lang="en-US"/>
        </a:p>
      </dgm:t>
    </dgm:pt>
    <dgm:pt modelId="{FA25C3D1-1FEC-426B-976A-F9DA0F96E01C}" type="pres">
      <dgm:prSet presAssocID="{2100F911-623E-48CA-85F3-BE8183E2700A}" presName="linear" presStyleCnt="0">
        <dgm:presLayoutVars>
          <dgm:animLvl val="lvl"/>
          <dgm:resizeHandles val="exact"/>
        </dgm:presLayoutVars>
      </dgm:prSet>
      <dgm:spPr/>
    </dgm:pt>
    <dgm:pt modelId="{AC0776D1-8882-409C-A44B-4FC9993C69C0}" type="pres">
      <dgm:prSet presAssocID="{B33ED386-CE18-421A-B6D1-C6BF37E72B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3FEAF3-11DB-4122-B56C-0CD4CE58A49E}" type="pres">
      <dgm:prSet presAssocID="{C78C46E5-B19E-465A-9009-FD3E1A39CF13}" presName="spacer" presStyleCnt="0"/>
      <dgm:spPr/>
    </dgm:pt>
    <dgm:pt modelId="{32383C89-DA7F-4599-8782-64811830AB8F}" type="pres">
      <dgm:prSet presAssocID="{764A1776-A105-44DE-A404-ADF6C0457E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F1BD397-D954-43B4-8E9F-E30E5B0AA09D}" type="pres">
      <dgm:prSet presAssocID="{83876720-B35D-40E6-96A3-2304C3943C05}" presName="spacer" presStyleCnt="0"/>
      <dgm:spPr/>
    </dgm:pt>
    <dgm:pt modelId="{C3D03A78-7E6A-4120-98FA-5F635027DC72}" type="pres">
      <dgm:prSet presAssocID="{50F6AE53-C0A3-4C54-93D3-0352385CED7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5487ED9-6BB9-4C25-882C-7389F0529862}" type="pres">
      <dgm:prSet presAssocID="{50F6AE53-C0A3-4C54-93D3-0352385CED7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0E3150C-F342-4C23-88FE-C718D1F6BD0B}" type="presOf" srcId="{B33ED386-CE18-421A-B6D1-C6BF37E72BF5}" destId="{AC0776D1-8882-409C-A44B-4FC9993C69C0}" srcOrd="0" destOrd="0" presId="urn:microsoft.com/office/officeart/2005/8/layout/vList2"/>
    <dgm:cxn modelId="{201D0E1B-3819-4547-B26B-DD6291AB67D8}" srcId="{2100F911-623E-48CA-85F3-BE8183E2700A}" destId="{50F6AE53-C0A3-4C54-93D3-0352385CED75}" srcOrd="2" destOrd="0" parTransId="{7757119F-CA69-415F-9D89-7CF9FC2E3739}" sibTransId="{B96175C7-4A00-45E1-B5D6-2E2B98F44A62}"/>
    <dgm:cxn modelId="{DD34121E-9248-4998-958B-F2365D94C0B4}" type="presOf" srcId="{2100F911-623E-48CA-85F3-BE8183E2700A}" destId="{FA25C3D1-1FEC-426B-976A-F9DA0F96E01C}" srcOrd="0" destOrd="0" presId="urn:microsoft.com/office/officeart/2005/8/layout/vList2"/>
    <dgm:cxn modelId="{085E676E-6349-4476-A6A7-523403621066}" srcId="{50F6AE53-C0A3-4C54-93D3-0352385CED75}" destId="{BBE66439-F5F3-43A9-AF76-F98665858C36}" srcOrd="0" destOrd="0" parTransId="{8A4C970F-9EC3-48C4-A78E-2ED793ABA321}" sibTransId="{3918BD46-52C3-430C-A74E-5BE3058A0D24}"/>
    <dgm:cxn modelId="{573CF352-38B7-4621-BD68-FF62A7129481}" srcId="{2100F911-623E-48CA-85F3-BE8183E2700A}" destId="{764A1776-A105-44DE-A404-ADF6C0457EFE}" srcOrd="1" destOrd="0" parTransId="{D5EE5A11-8402-4333-B7B4-5DE2E79A7A4C}" sibTransId="{83876720-B35D-40E6-96A3-2304C3943C05}"/>
    <dgm:cxn modelId="{4BA9A054-4868-476A-ABFC-62CAFDCC503D}" srcId="{2100F911-623E-48CA-85F3-BE8183E2700A}" destId="{B33ED386-CE18-421A-B6D1-C6BF37E72BF5}" srcOrd="0" destOrd="0" parTransId="{A6DE436E-E0CD-4ACD-B328-47319D722523}" sibTransId="{C78C46E5-B19E-465A-9009-FD3E1A39CF13}"/>
    <dgm:cxn modelId="{EFC5A67A-484D-44D8-BEDD-CA6BE22A62C4}" type="presOf" srcId="{764A1776-A105-44DE-A404-ADF6C0457EFE}" destId="{32383C89-DA7F-4599-8782-64811830AB8F}" srcOrd="0" destOrd="0" presId="urn:microsoft.com/office/officeart/2005/8/layout/vList2"/>
    <dgm:cxn modelId="{1A386ABA-88B7-42A5-B829-E0DDACDCCAEE}" type="presOf" srcId="{50F6AE53-C0A3-4C54-93D3-0352385CED75}" destId="{C3D03A78-7E6A-4120-98FA-5F635027DC72}" srcOrd="0" destOrd="0" presId="urn:microsoft.com/office/officeart/2005/8/layout/vList2"/>
    <dgm:cxn modelId="{1B2566E0-6C80-4D44-873E-3F065E1AFB2B}" type="presOf" srcId="{BBE66439-F5F3-43A9-AF76-F98665858C36}" destId="{D5487ED9-6BB9-4C25-882C-7389F0529862}" srcOrd="0" destOrd="0" presId="urn:microsoft.com/office/officeart/2005/8/layout/vList2"/>
    <dgm:cxn modelId="{02C7A74E-B332-481B-9D5E-92F51655AD1E}" type="presParOf" srcId="{FA25C3D1-1FEC-426B-976A-F9DA0F96E01C}" destId="{AC0776D1-8882-409C-A44B-4FC9993C69C0}" srcOrd="0" destOrd="0" presId="urn:microsoft.com/office/officeart/2005/8/layout/vList2"/>
    <dgm:cxn modelId="{B6C391F2-A5A3-47E1-BBE9-5A82240A20B8}" type="presParOf" srcId="{FA25C3D1-1FEC-426B-976A-F9DA0F96E01C}" destId="{4B3FEAF3-11DB-4122-B56C-0CD4CE58A49E}" srcOrd="1" destOrd="0" presId="urn:microsoft.com/office/officeart/2005/8/layout/vList2"/>
    <dgm:cxn modelId="{9F69E5DD-24FE-4BCE-9A6B-CC5AD7D98124}" type="presParOf" srcId="{FA25C3D1-1FEC-426B-976A-F9DA0F96E01C}" destId="{32383C89-DA7F-4599-8782-64811830AB8F}" srcOrd="2" destOrd="0" presId="urn:microsoft.com/office/officeart/2005/8/layout/vList2"/>
    <dgm:cxn modelId="{611F2C41-98FB-4029-8163-894E54D848D6}" type="presParOf" srcId="{FA25C3D1-1FEC-426B-976A-F9DA0F96E01C}" destId="{0F1BD397-D954-43B4-8E9F-E30E5B0AA09D}" srcOrd="3" destOrd="0" presId="urn:microsoft.com/office/officeart/2005/8/layout/vList2"/>
    <dgm:cxn modelId="{2157FEFE-2133-4C19-9822-B444C4ABF52C}" type="presParOf" srcId="{FA25C3D1-1FEC-426B-976A-F9DA0F96E01C}" destId="{C3D03A78-7E6A-4120-98FA-5F635027DC72}" srcOrd="4" destOrd="0" presId="urn:microsoft.com/office/officeart/2005/8/layout/vList2"/>
    <dgm:cxn modelId="{A47A0DF2-91BE-4B71-8EDF-354E94B20993}" type="presParOf" srcId="{FA25C3D1-1FEC-426B-976A-F9DA0F96E01C}" destId="{D5487ED9-6BB9-4C25-882C-7389F052986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63EA41-6B22-4CA7-8BB1-46B6CCF8646B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0757499-8BA6-458A-89C3-C2858FAC4D29}">
      <dgm:prSet/>
      <dgm:spPr/>
      <dgm:t>
        <a:bodyPr/>
        <a:lstStyle/>
        <a:p>
          <a:r>
            <a:rPr lang="en-US"/>
            <a:t>Selection statements use conditions, which are </a:t>
          </a:r>
          <a:r>
            <a:rPr lang="en-US" i="1"/>
            <a:t>Boolean expressions.</a:t>
          </a:r>
          <a:endParaRPr lang="en-US"/>
        </a:p>
      </dgm:t>
    </dgm:pt>
    <dgm:pt modelId="{9BD0A00D-7DA8-436E-9B3E-A5D2215A05DF}" type="parTrans" cxnId="{8958A10C-D52E-4589-80FD-7383A0037585}">
      <dgm:prSet/>
      <dgm:spPr/>
      <dgm:t>
        <a:bodyPr/>
        <a:lstStyle/>
        <a:p>
          <a:endParaRPr lang="en-US"/>
        </a:p>
      </dgm:t>
    </dgm:pt>
    <dgm:pt modelId="{1E33C025-AEF1-4D42-AAED-14C42992CD4A}" type="sibTrans" cxnId="{8958A10C-D52E-4589-80FD-7383A0037585}">
      <dgm:prSet/>
      <dgm:spPr/>
      <dgm:t>
        <a:bodyPr/>
        <a:lstStyle/>
        <a:p>
          <a:endParaRPr lang="en-US"/>
        </a:p>
      </dgm:t>
    </dgm:pt>
    <dgm:pt modelId="{23C8CD62-11C8-43C7-808C-705597631049}">
      <dgm:prSet/>
      <dgm:spPr/>
      <dgm:t>
        <a:bodyPr/>
        <a:lstStyle/>
        <a:p>
          <a:r>
            <a:rPr lang="en-US" i="1"/>
            <a:t>A Boolean expression is an expression that evaluates to a Boolean value </a:t>
          </a:r>
          <a:r>
            <a:rPr lang="en-US" b="1"/>
            <a:t>True </a:t>
          </a:r>
          <a:r>
            <a:rPr lang="en-US" i="1"/>
            <a:t>or </a:t>
          </a:r>
          <a:r>
            <a:rPr lang="en-US" b="1"/>
            <a:t>False</a:t>
          </a:r>
          <a:r>
            <a:rPr lang="en-US" i="1"/>
            <a:t>.</a:t>
          </a:r>
          <a:endParaRPr lang="en-US"/>
        </a:p>
      </dgm:t>
    </dgm:pt>
    <dgm:pt modelId="{1B6B16F6-E182-4BCD-AB8A-A6E0FDBCA0FE}" type="parTrans" cxnId="{BB7C5819-EBA6-4CC2-88A7-5EB7617E5825}">
      <dgm:prSet/>
      <dgm:spPr/>
      <dgm:t>
        <a:bodyPr/>
        <a:lstStyle/>
        <a:p>
          <a:endParaRPr lang="en-US"/>
        </a:p>
      </dgm:t>
    </dgm:pt>
    <dgm:pt modelId="{93C76528-26F6-409E-AE62-8DD12B2CEB15}" type="sibTrans" cxnId="{BB7C5819-EBA6-4CC2-88A7-5EB7617E5825}">
      <dgm:prSet/>
      <dgm:spPr/>
      <dgm:t>
        <a:bodyPr/>
        <a:lstStyle/>
        <a:p>
          <a:endParaRPr lang="en-US"/>
        </a:p>
      </dgm:t>
    </dgm:pt>
    <dgm:pt modelId="{BF1E031B-7CE8-4A33-AC5F-7C0BCE87A594}">
      <dgm:prSet/>
      <dgm:spPr/>
      <dgm:t>
        <a:bodyPr/>
        <a:lstStyle/>
        <a:p>
          <a:r>
            <a:rPr lang="en-US" i="1"/>
            <a:t>JAVA provides six comparison operators (also known as relational operators)</a:t>
          </a:r>
          <a:endParaRPr lang="en-US"/>
        </a:p>
      </dgm:t>
    </dgm:pt>
    <dgm:pt modelId="{2F846E23-B51B-4A63-BD57-30F17312BC7B}" type="parTrans" cxnId="{BC7CA2DA-C397-4F93-BBC8-2632F4C4C152}">
      <dgm:prSet/>
      <dgm:spPr/>
      <dgm:t>
        <a:bodyPr/>
        <a:lstStyle/>
        <a:p>
          <a:endParaRPr lang="en-US"/>
        </a:p>
      </dgm:t>
    </dgm:pt>
    <dgm:pt modelId="{5AAF4325-C5D6-48C6-912F-70284A7F27DC}" type="sibTrans" cxnId="{BC7CA2DA-C397-4F93-BBC8-2632F4C4C152}">
      <dgm:prSet/>
      <dgm:spPr/>
      <dgm:t>
        <a:bodyPr/>
        <a:lstStyle/>
        <a:p>
          <a:endParaRPr lang="en-US"/>
        </a:p>
      </dgm:t>
    </dgm:pt>
    <dgm:pt modelId="{5D6F690C-7ADD-48B6-B90E-B63E85F5E5BF}" type="pres">
      <dgm:prSet presAssocID="{9D63EA41-6B22-4CA7-8BB1-46B6CCF8646B}" presName="vert0" presStyleCnt="0">
        <dgm:presLayoutVars>
          <dgm:dir/>
          <dgm:animOne val="branch"/>
          <dgm:animLvl val="lvl"/>
        </dgm:presLayoutVars>
      </dgm:prSet>
      <dgm:spPr/>
    </dgm:pt>
    <dgm:pt modelId="{0895D8B1-CAC0-4041-ACB0-708B250C9B29}" type="pres">
      <dgm:prSet presAssocID="{80757499-8BA6-458A-89C3-C2858FAC4D29}" presName="thickLine" presStyleLbl="alignNode1" presStyleIdx="0" presStyleCnt="3"/>
      <dgm:spPr/>
    </dgm:pt>
    <dgm:pt modelId="{5C0A458E-28D9-4629-933D-D78BC679329A}" type="pres">
      <dgm:prSet presAssocID="{80757499-8BA6-458A-89C3-C2858FAC4D29}" presName="horz1" presStyleCnt="0"/>
      <dgm:spPr/>
    </dgm:pt>
    <dgm:pt modelId="{ADB9B990-8A89-4C80-B603-517DFED56CD4}" type="pres">
      <dgm:prSet presAssocID="{80757499-8BA6-458A-89C3-C2858FAC4D29}" presName="tx1" presStyleLbl="revTx" presStyleIdx="0" presStyleCnt="3"/>
      <dgm:spPr/>
    </dgm:pt>
    <dgm:pt modelId="{6B4F7D21-D32B-4E71-860D-1389B86F2023}" type="pres">
      <dgm:prSet presAssocID="{80757499-8BA6-458A-89C3-C2858FAC4D29}" presName="vert1" presStyleCnt="0"/>
      <dgm:spPr/>
    </dgm:pt>
    <dgm:pt modelId="{C29372CE-E3C3-4D56-A471-4DCDAFDA8AC4}" type="pres">
      <dgm:prSet presAssocID="{23C8CD62-11C8-43C7-808C-705597631049}" presName="thickLine" presStyleLbl="alignNode1" presStyleIdx="1" presStyleCnt="3"/>
      <dgm:spPr/>
    </dgm:pt>
    <dgm:pt modelId="{ECCBC6A3-DF43-4CDE-BA7B-50A023898311}" type="pres">
      <dgm:prSet presAssocID="{23C8CD62-11C8-43C7-808C-705597631049}" presName="horz1" presStyleCnt="0"/>
      <dgm:spPr/>
    </dgm:pt>
    <dgm:pt modelId="{800C2B32-9BAD-402E-835A-56F11DF919CB}" type="pres">
      <dgm:prSet presAssocID="{23C8CD62-11C8-43C7-808C-705597631049}" presName="tx1" presStyleLbl="revTx" presStyleIdx="1" presStyleCnt="3"/>
      <dgm:spPr/>
    </dgm:pt>
    <dgm:pt modelId="{71B95F6D-DE91-4046-B103-0A84E598891E}" type="pres">
      <dgm:prSet presAssocID="{23C8CD62-11C8-43C7-808C-705597631049}" presName="vert1" presStyleCnt="0"/>
      <dgm:spPr/>
    </dgm:pt>
    <dgm:pt modelId="{5DB19549-305B-400D-92D3-6C89D226337F}" type="pres">
      <dgm:prSet presAssocID="{BF1E031B-7CE8-4A33-AC5F-7C0BCE87A594}" presName="thickLine" presStyleLbl="alignNode1" presStyleIdx="2" presStyleCnt="3"/>
      <dgm:spPr/>
    </dgm:pt>
    <dgm:pt modelId="{12B812E9-D3CE-4C89-A989-245BE3214D1D}" type="pres">
      <dgm:prSet presAssocID="{BF1E031B-7CE8-4A33-AC5F-7C0BCE87A594}" presName="horz1" presStyleCnt="0"/>
      <dgm:spPr/>
    </dgm:pt>
    <dgm:pt modelId="{1CC0A96C-A7A5-4261-BF45-90C49FB647B2}" type="pres">
      <dgm:prSet presAssocID="{BF1E031B-7CE8-4A33-AC5F-7C0BCE87A594}" presName="tx1" presStyleLbl="revTx" presStyleIdx="2" presStyleCnt="3"/>
      <dgm:spPr/>
    </dgm:pt>
    <dgm:pt modelId="{076536DB-8728-4006-B54A-E8797FB170D7}" type="pres">
      <dgm:prSet presAssocID="{BF1E031B-7CE8-4A33-AC5F-7C0BCE87A594}" presName="vert1" presStyleCnt="0"/>
      <dgm:spPr/>
    </dgm:pt>
  </dgm:ptLst>
  <dgm:cxnLst>
    <dgm:cxn modelId="{8958A10C-D52E-4589-80FD-7383A0037585}" srcId="{9D63EA41-6B22-4CA7-8BB1-46B6CCF8646B}" destId="{80757499-8BA6-458A-89C3-C2858FAC4D29}" srcOrd="0" destOrd="0" parTransId="{9BD0A00D-7DA8-436E-9B3E-A5D2215A05DF}" sibTransId="{1E33C025-AEF1-4D42-AAED-14C42992CD4A}"/>
    <dgm:cxn modelId="{BB7C5819-EBA6-4CC2-88A7-5EB7617E5825}" srcId="{9D63EA41-6B22-4CA7-8BB1-46B6CCF8646B}" destId="{23C8CD62-11C8-43C7-808C-705597631049}" srcOrd="1" destOrd="0" parTransId="{1B6B16F6-E182-4BCD-AB8A-A6E0FDBCA0FE}" sibTransId="{93C76528-26F6-409E-AE62-8DD12B2CEB15}"/>
    <dgm:cxn modelId="{34B9477D-0133-4F97-B48C-22EB59DAF634}" type="presOf" srcId="{80757499-8BA6-458A-89C3-C2858FAC4D29}" destId="{ADB9B990-8A89-4C80-B603-517DFED56CD4}" srcOrd="0" destOrd="0" presId="urn:microsoft.com/office/officeart/2008/layout/LinedList"/>
    <dgm:cxn modelId="{9E1B5289-BAFD-44FA-A3C7-864D487FB02C}" type="presOf" srcId="{23C8CD62-11C8-43C7-808C-705597631049}" destId="{800C2B32-9BAD-402E-835A-56F11DF919CB}" srcOrd="0" destOrd="0" presId="urn:microsoft.com/office/officeart/2008/layout/LinedList"/>
    <dgm:cxn modelId="{2D2D6098-608B-4484-8D06-F0066A7D5196}" type="presOf" srcId="{BF1E031B-7CE8-4A33-AC5F-7C0BCE87A594}" destId="{1CC0A96C-A7A5-4261-BF45-90C49FB647B2}" srcOrd="0" destOrd="0" presId="urn:microsoft.com/office/officeart/2008/layout/LinedList"/>
    <dgm:cxn modelId="{3E2201C7-3694-43E6-B325-405C91F7B979}" type="presOf" srcId="{9D63EA41-6B22-4CA7-8BB1-46B6CCF8646B}" destId="{5D6F690C-7ADD-48B6-B90E-B63E85F5E5BF}" srcOrd="0" destOrd="0" presId="urn:microsoft.com/office/officeart/2008/layout/LinedList"/>
    <dgm:cxn modelId="{BC7CA2DA-C397-4F93-BBC8-2632F4C4C152}" srcId="{9D63EA41-6B22-4CA7-8BB1-46B6CCF8646B}" destId="{BF1E031B-7CE8-4A33-AC5F-7C0BCE87A594}" srcOrd="2" destOrd="0" parTransId="{2F846E23-B51B-4A63-BD57-30F17312BC7B}" sibTransId="{5AAF4325-C5D6-48C6-912F-70284A7F27DC}"/>
    <dgm:cxn modelId="{5BE82844-6F52-490B-B365-C5D494B9E63D}" type="presParOf" srcId="{5D6F690C-7ADD-48B6-B90E-B63E85F5E5BF}" destId="{0895D8B1-CAC0-4041-ACB0-708B250C9B29}" srcOrd="0" destOrd="0" presId="urn:microsoft.com/office/officeart/2008/layout/LinedList"/>
    <dgm:cxn modelId="{92B15EC2-132C-4578-B380-0071A3B48D26}" type="presParOf" srcId="{5D6F690C-7ADD-48B6-B90E-B63E85F5E5BF}" destId="{5C0A458E-28D9-4629-933D-D78BC679329A}" srcOrd="1" destOrd="0" presId="urn:microsoft.com/office/officeart/2008/layout/LinedList"/>
    <dgm:cxn modelId="{26076A02-DA66-4E0F-9930-72B1C3DAD31A}" type="presParOf" srcId="{5C0A458E-28D9-4629-933D-D78BC679329A}" destId="{ADB9B990-8A89-4C80-B603-517DFED56CD4}" srcOrd="0" destOrd="0" presId="urn:microsoft.com/office/officeart/2008/layout/LinedList"/>
    <dgm:cxn modelId="{6F5BB822-E2E5-4613-9C89-2FC1352F3206}" type="presParOf" srcId="{5C0A458E-28D9-4629-933D-D78BC679329A}" destId="{6B4F7D21-D32B-4E71-860D-1389B86F2023}" srcOrd="1" destOrd="0" presId="urn:microsoft.com/office/officeart/2008/layout/LinedList"/>
    <dgm:cxn modelId="{773529AE-AFD4-4940-8EFD-F388C7C25244}" type="presParOf" srcId="{5D6F690C-7ADD-48B6-B90E-B63E85F5E5BF}" destId="{C29372CE-E3C3-4D56-A471-4DCDAFDA8AC4}" srcOrd="2" destOrd="0" presId="urn:microsoft.com/office/officeart/2008/layout/LinedList"/>
    <dgm:cxn modelId="{7AD2F255-4B5E-4EFD-BECF-E1F22B68F7D5}" type="presParOf" srcId="{5D6F690C-7ADD-48B6-B90E-B63E85F5E5BF}" destId="{ECCBC6A3-DF43-4CDE-BA7B-50A023898311}" srcOrd="3" destOrd="0" presId="urn:microsoft.com/office/officeart/2008/layout/LinedList"/>
    <dgm:cxn modelId="{121C2C8C-939B-4012-9DAC-C029902D1B14}" type="presParOf" srcId="{ECCBC6A3-DF43-4CDE-BA7B-50A023898311}" destId="{800C2B32-9BAD-402E-835A-56F11DF919CB}" srcOrd="0" destOrd="0" presId="urn:microsoft.com/office/officeart/2008/layout/LinedList"/>
    <dgm:cxn modelId="{907FB79F-15A9-48D3-B35E-410FA402E11E}" type="presParOf" srcId="{ECCBC6A3-DF43-4CDE-BA7B-50A023898311}" destId="{71B95F6D-DE91-4046-B103-0A84E598891E}" srcOrd="1" destOrd="0" presId="urn:microsoft.com/office/officeart/2008/layout/LinedList"/>
    <dgm:cxn modelId="{0A24A604-D323-435B-B62F-BCDEA019AD27}" type="presParOf" srcId="{5D6F690C-7ADD-48B6-B90E-B63E85F5E5BF}" destId="{5DB19549-305B-400D-92D3-6C89D226337F}" srcOrd="4" destOrd="0" presId="urn:microsoft.com/office/officeart/2008/layout/LinedList"/>
    <dgm:cxn modelId="{BBBA7FF3-1900-450A-86A4-D243F2FE39AD}" type="presParOf" srcId="{5D6F690C-7ADD-48B6-B90E-B63E85F5E5BF}" destId="{12B812E9-D3CE-4C89-A989-245BE3214D1D}" srcOrd="5" destOrd="0" presId="urn:microsoft.com/office/officeart/2008/layout/LinedList"/>
    <dgm:cxn modelId="{7A0E1528-F770-4583-9313-823BA59A3590}" type="presParOf" srcId="{12B812E9-D3CE-4C89-A989-245BE3214D1D}" destId="{1CC0A96C-A7A5-4261-BF45-90C49FB647B2}" srcOrd="0" destOrd="0" presId="urn:microsoft.com/office/officeart/2008/layout/LinedList"/>
    <dgm:cxn modelId="{1510D950-6DA4-4075-BCDC-6296F69D09E2}" type="presParOf" srcId="{12B812E9-D3CE-4C89-A989-245BE3214D1D}" destId="{076536DB-8728-4006-B54A-E8797FB170D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56CE3-9AC7-4DFB-834A-9A4C2E16EB52}">
      <dsp:nvSpPr>
        <dsp:cNvPr id="0" name=""/>
        <dsp:cNvSpPr/>
      </dsp:nvSpPr>
      <dsp:spPr>
        <a:xfrm>
          <a:off x="0" y="149348"/>
          <a:ext cx="5000124" cy="122184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Introduction: </a:t>
          </a:r>
          <a:r>
            <a:rPr lang="en-US" sz="3100" kern="1200" dirty="0">
              <a:solidFill>
                <a:schemeClr val="bg1"/>
              </a:solidFill>
              <a:latin typeface="Lucida Sans Unicode"/>
              <a:cs typeface="Lucida Sans Unicode"/>
            </a:rPr>
            <a:t>Control</a:t>
          </a:r>
          <a:r>
            <a:rPr lang="en-US" sz="3100" kern="1200" spc="97" dirty="0">
              <a:solidFill>
                <a:schemeClr val="bg1"/>
              </a:solidFill>
              <a:latin typeface="Lucida Sans Unicode"/>
              <a:cs typeface="Lucida Sans Unicode"/>
            </a:rPr>
            <a:t> </a:t>
          </a:r>
          <a:r>
            <a:rPr lang="en-US" sz="3100" kern="1200" spc="-18" dirty="0">
              <a:solidFill>
                <a:schemeClr val="bg1"/>
              </a:solidFill>
              <a:latin typeface="Lucida Sans Unicode"/>
              <a:cs typeface="Lucida Sans Unicode"/>
            </a:rPr>
            <a:t>flow</a:t>
          </a:r>
          <a:endParaRPr lang="en-US" sz="3100" kern="1200" dirty="0">
            <a:solidFill>
              <a:schemeClr val="bg1"/>
            </a:solidFill>
          </a:endParaRPr>
        </a:p>
      </dsp:txBody>
      <dsp:txXfrm>
        <a:off x="59646" y="208994"/>
        <a:ext cx="4880832" cy="1102553"/>
      </dsp:txXfrm>
    </dsp:sp>
    <dsp:sp modelId="{0CEF1255-7FEE-447F-A649-EC1E3AD6C78B}">
      <dsp:nvSpPr>
        <dsp:cNvPr id="0" name=""/>
        <dsp:cNvSpPr/>
      </dsp:nvSpPr>
      <dsp:spPr>
        <a:xfrm>
          <a:off x="0" y="1460474"/>
          <a:ext cx="5000124" cy="1221845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Boolean Types, Values, and  Expressions</a:t>
          </a:r>
        </a:p>
      </dsp:txBody>
      <dsp:txXfrm>
        <a:off x="59646" y="1520120"/>
        <a:ext cx="4880832" cy="1102553"/>
      </dsp:txXfrm>
    </dsp:sp>
    <dsp:sp modelId="{5096A4BE-1BD7-4F78-98E2-FE1EFA160AE5}">
      <dsp:nvSpPr>
        <dsp:cNvPr id="0" name=""/>
        <dsp:cNvSpPr/>
      </dsp:nvSpPr>
      <dsp:spPr>
        <a:xfrm>
          <a:off x="0" y="2771600"/>
          <a:ext cx="5000124" cy="1221845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One-way </a:t>
          </a:r>
          <a:r>
            <a:rPr lang="en-US" sz="3100" b="1" kern="1200" dirty="0"/>
            <a:t>if </a:t>
          </a:r>
          <a:r>
            <a:rPr lang="en-US" sz="3100" kern="1200" dirty="0"/>
            <a:t>statement</a:t>
          </a:r>
        </a:p>
      </dsp:txBody>
      <dsp:txXfrm>
        <a:off x="59646" y="2831246"/>
        <a:ext cx="4880832" cy="1102553"/>
      </dsp:txXfrm>
    </dsp:sp>
    <dsp:sp modelId="{AF0F2A39-D4F6-452B-BBC6-78FA8B95D005}">
      <dsp:nvSpPr>
        <dsp:cNvPr id="0" name=""/>
        <dsp:cNvSpPr/>
      </dsp:nvSpPr>
      <dsp:spPr>
        <a:xfrm>
          <a:off x="0" y="4082725"/>
          <a:ext cx="5000124" cy="122184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Two-way </a:t>
          </a:r>
          <a:r>
            <a:rPr lang="en-US" sz="3100" b="1" kern="1200" dirty="0"/>
            <a:t>if-else </a:t>
          </a:r>
          <a:r>
            <a:rPr lang="en-US" sz="3100" kern="1200" dirty="0"/>
            <a:t>statement</a:t>
          </a:r>
        </a:p>
      </dsp:txBody>
      <dsp:txXfrm>
        <a:off x="59646" y="4142371"/>
        <a:ext cx="4880832" cy="11025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776D1-8882-409C-A44B-4FC9993C69C0}">
      <dsp:nvSpPr>
        <dsp:cNvPr id="0" name=""/>
        <dsp:cNvSpPr/>
      </dsp:nvSpPr>
      <dsp:spPr>
        <a:xfrm>
          <a:off x="0" y="64039"/>
          <a:ext cx="5000124" cy="158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u="sng" kern="1200" dirty="0"/>
            <a:t>Control structure</a:t>
          </a:r>
          <a:r>
            <a:rPr lang="en-US" sz="2600" kern="1200" dirty="0"/>
            <a:t>: logical design that controls order in which set of statements execute</a:t>
          </a:r>
        </a:p>
      </dsp:txBody>
      <dsp:txXfrm>
        <a:off x="77219" y="141258"/>
        <a:ext cx="4845686" cy="1427402"/>
      </dsp:txXfrm>
    </dsp:sp>
    <dsp:sp modelId="{32383C89-DA7F-4599-8782-64811830AB8F}">
      <dsp:nvSpPr>
        <dsp:cNvPr id="0" name=""/>
        <dsp:cNvSpPr/>
      </dsp:nvSpPr>
      <dsp:spPr>
        <a:xfrm>
          <a:off x="0" y="1720759"/>
          <a:ext cx="5000124" cy="15818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u="sng" kern="1200"/>
            <a:t>Sequence structure</a:t>
          </a:r>
          <a:r>
            <a:rPr lang="en-US" sz="2600" kern="1200"/>
            <a:t>: set of statements that execute in the order they appear</a:t>
          </a:r>
        </a:p>
      </dsp:txBody>
      <dsp:txXfrm>
        <a:off x="77219" y="1797978"/>
        <a:ext cx="4845686" cy="1427402"/>
      </dsp:txXfrm>
    </dsp:sp>
    <dsp:sp modelId="{C3D03A78-7E6A-4120-98FA-5F635027DC72}">
      <dsp:nvSpPr>
        <dsp:cNvPr id="0" name=""/>
        <dsp:cNvSpPr/>
      </dsp:nvSpPr>
      <dsp:spPr>
        <a:xfrm>
          <a:off x="0" y="3377479"/>
          <a:ext cx="5000124" cy="15818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u="sng" kern="1200"/>
            <a:t>Decision structure</a:t>
          </a:r>
          <a:r>
            <a:rPr lang="en-US" sz="2600" kern="1200"/>
            <a:t>: specific action(s) performed only if a condition exists</a:t>
          </a:r>
        </a:p>
      </dsp:txBody>
      <dsp:txXfrm>
        <a:off x="77219" y="3454698"/>
        <a:ext cx="4845686" cy="1427402"/>
      </dsp:txXfrm>
    </dsp:sp>
    <dsp:sp modelId="{D5487ED9-6BB9-4C25-882C-7389F0529862}">
      <dsp:nvSpPr>
        <dsp:cNvPr id="0" name=""/>
        <dsp:cNvSpPr/>
      </dsp:nvSpPr>
      <dsp:spPr>
        <a:xfrm>
          <a:off x="0" y="4959319"/>
          <a:ext cx="5000124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Also known as selection structure</a:t>
          </a:r>
        </a:p>
      </dsp:txBody>
      <dsp:txXfrm>
        <a:off x="0" y="4959319"/>
        <a:ext cx="5000124" cy="430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5D8B1-CAC0-4041-ACB0-708B250C9B29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B9B990-8A89-4C80-B603-517DFED56CD4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Selection statements use conditions, which are </a:t>
          </a:r>
          <a:r>
            <a:rPr lang="en-US" sz="3100" i="1" kern="1200"/>
            <a:t>Boolean expressions.</a:t>
          </a:r>
          <a:endParaRPr lang="en-US" sz="3100" kern="1200"/>
        </a:p>
      </dsp:txBody>
      <dsp:txXfrm>
        <a:off x="0" y="2663"/>
        <a:ext cx="5000124" cy="1816197"/>
      </dsp:txXfrm>
    </dsp:sp>
    <dsp:sp modelId="{C29372CE-E3C3-4D56-A471-4DCDAFDA8AC4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0C2B32-9BAD-402E-835A-56F11DF919CB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i="1" kern="1200"/>
            <a:t>A Boolean expression is an expression that evaluates to a Boolean value </a:t>
          </a:r>
          <a:r>
            <a:rPr lang="en-US" sz="3100" b="1" kern="1200"/>
            <a:t>True </a:t>
          </a:r>
          <a:r>
            <a:rPr lang="en-US" sz="3100" i="1" kern="1200"/>
            <a:t>or </a:t>
          </a:r>
          <a:r>
            <a:rPr lang="en-US" sz="3100" b="1" kern="1200"/>
            <a:t>False</a:t>
          </a:r>
          <a:r>
            <a:rPr lang="en-US" sz="3100" i="1" kern="1200"/>
            <a:t>.</a:t>
          </a:r>
          <a:endParaRPr lang="en-US" sz="3100" kern="1200"/>
        </a:p>
      </dsp:txBody>
      <dsp:txXfrm>
        <a:off x="0" y="1818861"/>
        <a:ext cx="5000124" cy="1816197"/>
      </dsp:txXfrm>
    </dsp:sp>
    <dsp:sp modelId="{5DB19549-305B-400D-92D3-6C89D226337F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C0A96C-A7A5-4261-BF45-90C49FB647B2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i="1" kern="1200"/>
            <a:t>JAVA provides six comparison operators (also known as relational operators)</a:t>
          </a:r>
          <a:endParaRPr lang="en-US" sz="3100" kern="1200"/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0C2BB-0A71-43EC-8B6B-1FC2E576D30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406AD-5AEF-4217-BA9D-D06D426BC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3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2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7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C4F55-6C10-566B-C8DE-39CE8246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2017" y="1042779"/>
            <a:ext cx="3028379" cy="2396359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Lecture Outline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b="1" dirty="0">
                <a:solidFill>
                  <a:srgbClr val="00B0F0"/>
                </a:solidFill>
              </a:rPr>
              <a:t>Conditionals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DE673D-A1A2-E74C-023F-8090DDE8C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9059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79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3" name="Freeform: Shape 411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 eaLnBrk="1" hangingPunct="1"/>
            <a:r>
              <a:rPr lang="en-US" altLang="en-US" sz="3200">
                <a:solidFill>
                  <a:srgbClr val="FFFFFF"/>
                </a:solidFill>
              </a:rPr>
              <a:t>Introduction</a:t>
            </a:r>
            <a:endParaRPr lang="he-IL" altLang="en-US" sz="3200">
              <a:solidFill>
                <a:srgbClr val="FFFFFF"/>
              </a:solidFill>
            </a:endParaRPr>
          </a:p>
        </p:txBody>
      </p:sp>
      <p:graphicFrame>
        <p:nvGraphicFramePr>
          <p:cNvPr id="4101" name="Content Placeholder 2">
            <a:extLst>
              <a:ext uri="{FF2B5EF4-FFF2-40B4-BE49-F238E27FC236}">
                <a16:creationId xmlns:a16="http://schemas.microsoft.com/office/drawing/2014/main" id="{F873E274-770E-E4C0-F42E-DF9B6A9F0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27586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907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E977-D33A-BC53-27A4-A43CAF3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7211CD-0CA7-86E4-7290-570780581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56" y="1066800"/>
            <a:ext cx="7746544" cy="53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117" y="1395654"/>
            <a:ext cx="7944971" cy="0"/>
          </a:xfrm>
          <a:custGeom>
            <a:avLst/>
            <a:gdLst/>
            <a:ahLst/>
            <a:cxnLst/>
            <a:rect l="l" t="t" r="r" b="b"/>
            <a:pathLst>
              <a:path w="9004300">
                <a:moveTo>
                  <a:pt x="0" y="0"/>
                </a:moveTo>
                <a:lnTo>
                  <a:pt x="900430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882" y="400400"/>
            <a:ext cx="7261412" cy="69238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Conditionals</a:t>
            </a:r>
            <a:endParaRPr spc="-18" dirty="0"/>
          </a:p>
        </p:txBody>
      </p:sp>
      <p:sp>
        <p:nvSpPr>
          <p:cNvPr id="4" name="object 4"/>
          <p:cNvSpPr txBox="1"/>
          <p:nvPr/>
        </p:nvSpPr>
        <p:spPr>
          <a:xfrm>
            <a:off x="593912" y="1580759"/>
            <a:ext cx="6185647" cy="79529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640" rIns="0" bIns="0" rtlCol="0">
            <a:spAutoFit/>
          </a:bodyPr>
          <a:lstStyle/>
          <a:p>
            <a:pPr marL="145684">
              <a:spcBef>
                <a:spcPts val="596"/>
              </a:spcBef>
            </a:pP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Control</a:t>
            </a:r>
            <a:r>
              <a:rPr sz="1279" spc="97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spc="-18" dirty="0">
                <a:solidFill>
                  <a:srgbClr val="005493"/>
                </a:solidFill>
                <a:latin typeface="Lucida Sans Unicode"/>
                <a:cs typeface="Lucida Sans Unicode"/>
              </a:rPr>
              <a:t>flow</a:t>
            </a:r>
            <a:endParaRPr sz="1279" dirty="0">
              <a:latin typeface="Lucida Sans Unicode"/>
              <a:cs typeface="Lucida Sans Unicode"/>
            </a:endParaRPr>
          </a:p>
          <a:p>
            <a:pPr marL="389985" indent="-109824">
              <a:spcBef>
                <a:spcPts val="534"/>
              </a:spcBef>
              <a:buSzPct val="106896"/>
              <a:buFont typeface="Times New Roman"/>
              <a:buChar char="•"/>
              <a:tabLst>
                <a:tab pos="389985" algn="l"/>
              </a:tabLst>
            </a:pPr>
            <a:r>
              <a:rPr sz="1919" baseline="1915" dirty="0">
                <a:latin typeface="Lucida Sans Unicode"/>
                <a:cs typeface="Lucida Sans Unicode"/>
              </a:rPr>
              <a:t>The</a:t>
            </a:r>
            <a:r>
              <a:rPr sz="1919" spc="112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sequence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of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statements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that</a:t>
            </a:r>
            <a:r>
              <a:rPr sz="1919" spc="112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are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actually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executed</a:t>
            </a:r>
            <a:r>
              <a:rPr sz="1919" spc="112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in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a</a:t>
            </a:r>
            <a:r>
              <a:rPr sz="1919" spc="119" baseline="1915" dirty="0">
                <a:latin typeface="Lucida Sans Unicode"/>
                <a:cs typeface="Lucida Sans Unicode"/>
              </a:rPr>
              <a:t> </a:t>
            </a:r>
            <a:r>
              <a:rPr sz="1919" spc="-13" baseline="1915" dirty="0">
                <a:latin typeface="Lucida Sans Unicode"/>
                <a:cs typeface="Lucida Sans Unicode"/>
              </a:rPr>
              <a:t>program.</a:t>
            </a:r>
            <a:endParaRPr sz="1919" baseline="1915" dirty="0">
              <a:latin typeface="Lucida Sans Unicode"/>
              <a:cs typeface="Lucida Sans Unicode"/>
            </a:endParaRPr>
          </a:p>
          <a:p>
            <a:pPr marL="389985" indent="-109824">
              <a:spcBef>
                <a:spcPts val="503"/>
              </a:spcBef>
              <a:buClr>
                <a:srgbClr val="000000"/>
              </a:buClr>
              <a:buSzPct val="106896"/>
              <a:buFont typeface="Times New Roman"/>
              <a:buChar char="•"/>
              <a:tabLst>
                <a:tab pos="389985" algn="l"/>
              </a:tabLst>
            </a:pPr>
            <a:r>
              <a:rPr sz="1919" baseline="1915" dirty="0">
                <a:solidFill>
                  <a:srgbClr val="8D3124"/>
                </a:solidFill>
                <a:latin typeface="Lucida Sans Unicode"/>
                <a:cs typeface="Lucida Sans Unicode"/>
              </a:rPr>
              <a:t>Conditionals</a:t>
            </a:r>
            <a:r>
              <a:rPr sz="1919" spc="132" baseline="19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919" baseline="1915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919" spc="132" baseline="19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919" baseline="1915" dirty="0">
                <a:solidFill>
                  <a:srgbClr val="8D3124"/>
                </a:solidFill>
                <a:latin typeface="Lucida Sans Unicode"/>
                <a:cs typeface="Lucida Sans Unicode"/>
              </a:rPr>
              <a:t>loops</a:t>
            </a:r>
            <a:r>
              <a:rPr sz="1919" spc="139" baseline="19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enable</a:t>
            </a:r>
            <a:r>
              <a:rPr sz="1919" spc="132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us</a:t>
            </a:r>
            <a:r>
              <a:rPr sz="1919" spc="13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to</a:t>
            </a:r>
            <a:r>
              <a:rPr sz="1919" spc="132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choreograph</a:t>
            </a:r>
            <a:r>
              <a:rPr sz="1919" spc="13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control</a:t>
            </a:r>
            <a:r>
              <a:rPr sz="1919" spc="132" baseline="1915" dirty="0">
                <a:latin typeface="Lucida Sans Unicode"/>
                <a:cs typeface="Lucida Sans Unicode"/>
              </a:rPr>
              <a:t> </a:t>
            </a:r>
            <a:r>
              <a:rPr sz="1919" spc="-13" baseline="1915" dirty="0">
                <a:latin typeface="Lucida Sans Unicode"/>
                <a:cs typeface="Lucida Sans Unicode"/>
              </a:rPr>
              <a:t>flow.</a:t>
            </a:r>
            <a:endParaRPr sz="1919" baseline="1915" dirty="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3507" y="3213044"/>
            <a:ext cx="61072" cy="313765"/>
            <a:chOff x="2435574" y="3641450"/>
            <a:chExt cx="69215" cy="355600"/>
          </a:xfrm>
        </p:grpSpPr>
        <p:sp>
          <p:nvSpPr>
            <p:cNvPr id="6" name="object 6"/>
            <p:cNvSpPr/>
            <p:nvPr/>
          </p:nvSpPr>
          <p:spPr>
            <a:xfrm>
              <a:off x="2470149" y="3641450"/>
              <a:ext cx="0" cy="311785"/>
            </a:xfrm>
            <a:custGeom>
              <a:avLst/>
              <a:gdLst/>
              <a:ahLst/>
              <a:cxnLst/>
              <a:rect l="l" t="t" r="r" b="b"/>
              <a:pathLst>
                <a:path h="311785">
                  <a:moveTo>
                    <a:pt x="0" y="0"/>
                  </a:moveTo>
                  <a:lnTo>
                    <a:pt x="0" y="3114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5574" y="3927775"/>
              <a:ext cx="69151" cy="692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65779" y="2966239"/>
            <a:ext cx="896471" cy="186740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36979" rIns="0" bIns="0" rtlCol="0">
            <a:spAutoFit/>
          </a:bodyPr>
          <a:lstStyle/>
          <a:p>
            <a:pPr marL="101419">
              <a:spcBef>
                <a:spcPts val="291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1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9177" y="5237976"/>
            <a:ext cx="1669676" cy="36537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5128" rIns="0" bIns="0" rtlCol="0">
            <a:spAutoFit/>
          </a:bodyPr>
          <a:lstStyle/>
          <a:p>
            <a:pPr algn="ctr">
              <a:spcBef>
                <a:spcPts val="119"/>
              </a:spcBef>
            </a:pPr>
            <a:r>
              <a:rPr sz="971" spc="-26" dirty="0">
                <a:solidFill>
                  <a:srgbClr val="005493"/>
                </a:solidFill>
                <a:latin typeface="Lucida Sans Unicode"/>
                <a:cs typeface="Lucida Sans Unicode"/>
              </a:rPr>
              <a:t>straight-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line</a:t>
            </a:r>
            <a:r>
              <a:rPr sz="971" spc="13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control</a:t>
            </a:r>
            <a:r>
              <a:rPr sz="971" spc="18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spc="-18" dirty="0">
                <a:solidFill>
                  <a:srgbClr val="005493"/>
                </a:solidFill>
                <a:latin typeface="Lucida Sans Unicode"/>
                <a:cs typeface="Lucida Sans Unicode"/>
              </a:rPr>
              <a:t>flow</a:t>
            </a:r>
            <a:endParaRPr sz="971">
              <a:latin typeface="Lucida Sans Unicode"/>
              <a:cs typeface="Lucida Sans Unicode"/>
            </a:endParaRPr>
          </a:p>
          <a:p>
            <a:pPr algn="ctr">
              <a:spcBef>
                <a:spcPts val="401"/>
              </a:spcBef>
            </a:pP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[</a:t>
            </a:r>
            <a:r>
              <a:rPr sz="971" spc="3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previous</a:t>
            </a:r>
            <a:r>
              <a:rPr sz="971" spc="3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lecture</a:t>
            </a:r>
            <a:r>
              <a:rPr sz="971" spc="3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05493"/>
                </a:solidFill>
                <a:latin typeface="Lucida Sans Unicode"/>
                <a:cs typeface="Lucida Sans Unicode"/>
              </a:rPr>
              <a:t>]</a:t>
            </a:r>
            <a:endParaRPr sz="971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83507" y="3785186"/>
            <a:ext cx="61072" cy="302559"/>
            <a:chOff x="2435574" y="4289877"/>
            <a:chExt cx="69215" cy="342900"/>
          </a:xfrm>
        </p:grpSpPr>
        <p:sp>
          <p:nvSpPr>
            <p:cNvPr id="11" name="object 11"/>
            <p:cNvSpPr/>
            <p:nvPr/>
          </p:nvSpPr>
          <p:spPr>
            <a:xfrm>
              <a:off x="2470150" y="4289877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0"/>
                  </a:moveTo>
                  <a:lnTo>
                    <a:pt x="0" y="29878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5574" y="4563488"/>
              <a:ext cx="69151" cy="6922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865778" y="3538380"/>
            <a:ext cx="896471" cy="183912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34178" rIns="0" bIns="0" rtlCol="0">
            <a:spAutoFit/>
          </a:bodyPr>
          <a:lstStyle/>
          <a:p>
            <a:pPr marL="103660">
              <a:spcBef>
                <a:spcPts val="269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2</a:t>
            </a:r>
            <a:endParaRPr sz="971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83507" y="4357327"/>
            <a:ext cx="61072" cy="302559"/>
            <a:chOff x="2435574" y="4938304"/>
            <a:chExt cx="69215" cy="342900"/>
          </a:xfrm>
        </p:grpSpPr>
        <p:sp>
          <p:nvSpPr>
            <p:cNvPr id="15" name="object 15"/>
            <p:cNvSpPr/>
            <p:nvPr/>
          </p:nvSpPr>
          <p:spPr>
            <a:xfrm>
              <a:off x="2470150" y="4938304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0"/>
                  </a:moveTo>
                  <a:lnTo>
                    <a:pt x="0" y="29878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5574" y="5211914"/>
              <a:ext cx="69151" cy="6922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865778" y="4099304"/>
            <a:ext cx="896471" cy="192398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42582" rIns="0" bIns="0" rtlCol="0">
            <a:spAutoFit/>
          </a:bodyPr>
          <a:lstStyle/>
          <a:p>
            <a:pPr marL="103660">
              <a:spcBef>
                <a:spcPts val="335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3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5778" y="4671444"/>
            <a:ext cx="896471" cy="189004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39221" rIns="0" bIns="0" rtlCol="0">
            <a:spAutoFit/>
          </a:bodyPr>
          <a:lstStyle/>
          <a:p>
            <a:pPr marL="103660">
              <a:spcBef>
                <a:spcPts val="309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4</a:t>
            </a:r>
            <a:endParaRPr sz="971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12324" y="4035106"/>
            <a:ext cx="274544" cy="61632"/>
            <a:chOff x="7454900" y="4573120"/>
            <a:chExt cx="311150" cy="69850"/>
          </a:xfrm>
        </p:grpSpPr>
        <p:sp>
          <p:nvSpPr>
            <p:cNvPr id="20" name="object 20"/>
            <p:cNvSpPr/>
            <p:nvPr/>
          </p:nvSpPr>
          <p:spPr>
            <a:xfrm>
              <a:off x="7454900" y="4607733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ln w="12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696454" y="4573120"/>
              <a:ext cx="69215" cy="69850"/>
            </a:xfrm>
            <a:custGeom>
              <a:avLst/>
              <a:gdLst/>
              <a:ahLst/>
              <a:cxnLst/>
              <a:rect l="l" t="t" r="r" b="b"/>
              <a:pathLst>
                <a:path w="69215" h="69850">
                  <a:moveTo>
                    <a:pt x="0" y="0"/>
                  </a:moveTo>
                  <a:lnTo>
                    <a:pt x="17288" y="34613"/>
                  </a:lnTo>
                  <a:lnTo>
                    <a:pt x="0" y="69228"/>
                  </a:lnTo>
                  <a:lnTo>
                    <a:pt x="69151" y="34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746125" y="4609742"/>
            <a:ext cx="61072" cy="173691"/>
            <a:chOff x="6359874" y="5224374"/>
            <a:chExt cx="69215" cy="196850"/>
          </a:xfrm>
        </p:grpSpPr>
        <p:sp>
          <p:nvSpPr>
            <p:cNvPr id="23" name="object 23"/>
            <p:cNvSpPr/>
            <p:nvPr/>
          </p:nvSpPr>
          <p:spPr>
            <a:xfrm>
              <a:off x="6394450" y="5224374"/>
              <a:ext cx="0" cy="153035"/>
            </a:xfrm>
            <a:custGeom>
              <a:avLst/>
              <a:gdLst/>
              <a:ahLst/>
              <a:cxnLst/>
              <a:rect l="l" t="t" r="r" b="b"/>
              <a:pathLst>
                <a:path h="153035">
                  <a:moveTo>
                    <a:pt x="0" y="0"/>
                  </a:moveTo>
                  <a:lnTo>
                    <a:pt x="0" y="15257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874" y="5351772"/>
              <a:ext cx="69151" cy="69228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270424" y="2679192"/>
            <a:ext cx="1145241" cy="1779494"/>
            <a:chOff x="5820747" y="3036417"/>
            <a:chExt cx="1297940" cy="2016760"/>
          </a:xfrm>
        </p:grpSpPr>
        <p:sp>
          <p:nvSpPr>
            <p:cNvPr id="26" name="object 26"/>
            <p:cNvSpPr/>
            <p:nvPr/>
          </p:nvSpPr>
          <p:spPr>
            <a:xfrm>
              <a:off x="6394449" y="3533379"/>
              <a:ext cx="0" cy="674370"/>
            </a:xfrm>
            <a:custGeom>
              <a:avLst/>
              <a:gdLst/>
              <a:ahLst/>
              <a:cxnLst/>
              <a:rect l="l" t="t" r="r" b="b"/>
              <a:pathLst>
                <a:path h="674370">
                  <a:moveTo>
                    <a:pt x="0" y="483141"/>
                  </a:moveTo>
                  <a:lnTo>
                    <a:pt x="0" y="673855"/>
                  </a:lnTo>
                </a:path>
                <a:path h="674370">
                  <a:moveTo>
                    <a:pt x="0" y="0"/>
                  </a:moveTo>
                  <a:lnTo>
                    <a:pt x="0" y="30514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9874" y="4182060"/>
              <a:ext cx="69151" cy="6922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946900" y="4607733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5099" y="0"/>
                  </a:lnTo>
                </a:path>
              </a:pathLst>
            </a:custGeom>
            <a:ln w="12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6394450" y="4868375"/>
              <a:ext cx="0" cy="178435"/>
            </a:xfrm>
            <a:custGeom>
              <a:avLst/>
              <a:gdLst/>
              <a:ahLst/>
              <a:cxnLst/>
              <a:rect l="l" t="t" r="r" b="b"/>
              <a:pathLst>
                <a:path h="178435">
                  <a:moveTo>
                    <a:pt x="0" y="0"/>
                  </a:moveTo>
                  <a:lnTo>
                    <a:pt x="0" y="1779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826145" y="3041815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4" h="697864">
                  <a:moveTo>
                    <a:pt x="568403" y="0"/>
                  </a:moveTo>
                  <a:lnTo>
                    <a:pt x="0" y="348767"/>
                  </a:lnTo>
                  <a:lnTo>
                    <a:pt x="568403" y="697534"/>
                  </a:lnTo>
                  <a:lnTo>
                    <a:pt x="1136808" y="348767"/>
                  </a:lnTo>
                  <a:lnTo>
                    <a:pt x="568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5826145" y="3041815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4" h="697864">
                  <a:moveTo>
                    <a:pt x="568404" y="0"/>
                  </a:moveTo>
                  <a:lnTo>
                    <a:pt x="0" y="348767"/>
                  </a:lnTo>
                  <a:lnTo>
                    <a:pt x="568404" y="697535"/>
                  </a:lnTo>
                  <a:lnTo>
                    <a:pt x="1136808" y="348767"/>
                  </a:lnTo>
                  <a:lnTo>
                    <a:pt x="568404" y="0"/>
                  </a:lnTo>
                  <a:close/>
                </a:path>
              </a:pathLst>
            </a:custGeom>
            <a:ln w="10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475511" y="2891532"/>
            <a:ext cx="624728" cy="162412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boolean</a:t>
            </a:r>
            <a:r>
              <a:rPr sz="971" spc="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1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05618" y="5249195"/>
            <a:ext cx="2812676" cy="36310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886" rIns="0" bIns="0" rtlCol="0">
            <a:spAutoFit/>
          </a:bodyPr>
          <a:lstStyle/>
          <a:p>
            <a:pPr algn="ctr">
              <a:spcBef>
                <a:spcPts val="101"/>
              </a:spcBef>
            </a:pP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control</a:t>
            </a:r>
            <a:r>
              <a:rPr sz="971" spc="4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flow</a:t>
            </a:r>
            <a:r>
              <a:rPr sz="971" spc="4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with</a:t>
            </a:r>
            <a:r>
              <a:rPr sz="971" spc="4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conditionals</a:t>
            </a:r>
            <a:r>
              <a:rPr sz="971" spc="4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and</a:t>
            </a:r>
            <a:r>
              <a:rPr sz="971" spc="4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a</a:t>
            </a:r>
            <a:r>
              <a:rPr sz="971" spc="4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spc="-18" dirty="0">
                <a:solidFill>
                  <a:srgbClr val="005493"/>
                </a:solidFill>
                <a:latin typeface="Lucida Sans Unicode"/>
                <a:cs typeface="Lucida Sans Unicode"/>
              </a:rPr>
              <a:t>loop</a:t>
            </a:r>
            <a:endParaRPr sz="971">
              <a:latin typeface="Lucida Sans Unicode"/>
              <a:cs typeface="Lucida Sans Unicode"/>
            </a:endParaRPr>
          </a:p>
          <a:p>
            <a:pPr algn="ctr">
              <a:spcBef>
                <a:spcPts val="401"/>
              </a:spcBef>
            </a:pP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[this </a:t>
            </a:r>
            <a:r>
              <a:rPr sz="971" spc="-9" dirty="0">
                <a:solidFill>
                  <a:srgbClr val="005493"/>
                </a:solidFill>
                <a:latin typeface="Lucida Sans Unicode"/>
                <a:cs typeface="Lucida Sans Unicode"/>
              </a:rPr>
              <a:t>lecture]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42278" y="3538380"/>
            <a:ext cx="885265" cy="192964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43143" rIns="0" bIns="0" rtlCol="0">
            <a:spAutoFit/>
          </a:bodyPr>
          <a:lstStyle/>
          <a:p>
            <a:pPr marL="94694">
              <a:spcBef>
                <a:spcPts val="340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1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09279" y="3931026"/>
            <a:ext cx="885265" cy="184477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34738" rIns="0" bIns="0" rtlCol="0">
            <a:spAutoFit/>
          </a:bodyPr>
          <a:lstStyle/>
          <a:p>
            <a:pPr marL="95255">
              <a:spcBef>
                <a:spcPts val="274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2</a:t>
            </a:r>
            <a:endParaRPr sz="971">
              <a:latin typeface="Lucida Sans Unicode"/>
              <a:cs typeface="Lucida Sans Unicode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269846" y="3752798"/>
            <a:ext cx="1013012" cy="625288"/>
            <a:chOff x="5820092" y="4253171"/>
            <a:chExt cx="1148080" cy="708660"/>
          </a:xfrm>
        </p:grpSpPr>
        <p:sp>
          <p:nvSpPr>
            <p:cNvPr id="37" name="object 37"/>
            <p:cNvSpPr/>
            <p:nvPr/>
          </p:nvSpPr>
          <p:spPr>
            <a:xfrm>
              <a:off x="5825489" y="4258568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4" h="697864">
                  <a:moveTo>
                    <a:pt x="568403" y="0"/>
                  </a:moveTo>
                  <a:lnTo>
                    <a:pt x="0" y="348767"/>
                  </a:lnTo>
                  <a:lnTo>
                    <a:pt x="568403" y="697534"/>
                  </a:lnTo>
                  <a:lnTo>
                    <a:pt x="1136808" y="348767"/>
                  </a:lnTo>
                  <a:lnTo>
                    <a:pt x="568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5489" y="4258568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4" h="697864">
                  <a:moveTo>
                    <a:pt x="568404" y="0"/>
                  </a:moveTo>
                  <a:lnTo>
                    <a:pt x="0" y="348767"/>
                  </a:lnTo>
                  <a:lnTo>
                    <a:pt x="568404" y="697535"/>
                  </a:lnTo>
                  <a:lnTo>
                    <a:pt x="1136808" y="348767"/>
                  </a:lnTo>
                  <a:lnTo>
                    <a:pt x="568404" y="0"/>
                  </a:lnTo>
                  <a:close/>
                </a:path>
              </a:pathLst>
            </a:custGeom>
            <a:ln w="10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474932" y="3965138"/>
            <a:ext cx="624728" cy="162412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boolean</a:t>
            </a:r>
            <a:r>
              <a:rPr sz="971" spc="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2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28397" y="4783629"/>
            <a:ext cx="896471" cy="192963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43142" rIns="0" bIns="0" rtlCol="0">
            <a:spAutoFit/>
          </a:bodyPr>
          <a:lstStyle/>
          <a:p>
            <a:pPr marL="98057">
              <a:spcBef>
                <a:spcPts val="339"/>
              </a:spcBef>
            </a:pPr>
            <a:r>
              <a:rPr sz="971" dirty="0">
                <a:solidFill>
                  <a:srgbClr val="010000"/>
                </a:solidFill>
                <a:latin typeface="Lucida Sans Unicode"/>
                <a:cs typeface="Lucida Sans Unicode"/>
              </a:rPr>
              <a:t>statement</a:t>
            </a:r>
            <a:r>
              <a:rPr sz="971" spc="44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971" spc="-44" dirty="0">
                <a:solidFill>
                  <a:srgbClr val="010000"/>
                </a:solidFill>
                <a:latin typeface="Lucida Sans Unicode"/>
                <a:cs typeface="Lucida Sans Unicode"/>
              </a:rPr>
              <a:t>3</a:t>
            </a:r>
            <a:endParaRPr sz="971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66359" y="4448943"/>
            <a:ext cx="253813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9" dirty="0">
                <a:solidFill>
                  <a:srgbClr val="0048AA"/>
                </a:solidFill>
                <a:latin typeface="Lucida Sans Unicode"/>
                <a:cs typeface="Lucida Sans Unicode"/>
              </a:rPr>
              <a:t>false</a:t>
            </a:r>
            <a:endParaRPr sz="794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66647" y="3981555"/>
            <a:ext cx="221876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18" dirty="0">
                <a:solidFill>
                  <a:srgbClr val="0048AA"/>
                </a:solidFill>
                <a:latin typeface="Lucida Sans Unicode"/>
                <a:cs typeface="Lucida Sans Unicode"/>
              </a:rPr>
              <a:t>true</a:t>
            </a:r>
            <a:endParaRPr sz="794">
              <a:latin typeface="Lucida Sans Unicode"/>
              <a:cs typeface="Lucida Sans Unicod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602941" y="3243416"/>
            <a:ext cx="1874744" cy="699807"/>
            <a:chOff x="6197600" y="3675871"/>
            <a:chExt cx="2124710" cy="793115"/>
          </a:xfrm>
        </p:grpSpPr>
        <p:sp>
          <p:nvSpPr>
            <p:cNvPr id="44" name="object 44"/>
            <p:cNvSpPr/>
            <p:nvPr/>
          </p:nvSpPr>
          <p:spPr>
            <a:xfrm>
              <a:off x="6470650" y="3682539"/>
              <a:ext cx="1844675" cy="779780"/>
            </a:xfrm>
            <a:custGeom>
              <a:avLst/>
              <a:gdLst/>
              <a:ahLst/>
              <a:cxnLst/>
              <a:rect l="l" t="t" r="r" b="b"/>
              <a:pathLst>
                <a:path w="1844675" h="779779">
                  <a:moveTo>
                    <a:pt x="1844514" y="779217"/>
                  </a:moveTo>
                  <a:lnTo>
                    <a:pt x="1838493" y="727285"/>
                  </a:lnTo>
                  <a:lnTo>
                    <a:pt x="1828487" y="688159"/>
                  </a:lnTo>
                  <a:lnTo>
                    <a:pt x="1813839" y="646062"/>
                  </a:lnTo>
                  <a:lnTo>
                    <a:pt x="1794679" y="601538"/>
                  </a:lnTo>
                  <a:lnTo>
                    <a:pt x="1771136" y="555130"/>
                  </a:lnTo>
                  <a:lnTo>
                    <a:pt x="1743341" y="507383"/>
                  </a:lnTo>
                  <a:lnTo>
                    <a:pt x="1711424" y="458839"/>
                  </a:lnTo>
                  <a:lnTo>
                    <a:pt x="1675513" y="410043"/>
                  </a:lnTo>
                  <a:lnTo>
                    <a:pt x="1635740" y="361538"/>
                  </a:lnTo>
                  <a:lnTo>
                    <a:pt x="1592234" y="313867"/>
                  </a:lnTo>
                  <a:lnTo>
                    <a:pt x="1545125" y="267573"/>
                  </a:lnTo>
                  <a:lnTo>
                    <a:pt x="1494542" y="223201"/>
                  </a:lnTo>
                  <a:lnTo>
                    <a:pt x="1440616" y="181294"/>
                  </a:lnTo>
                  <a:lnTo>
                    <a:pt x="1383477" y="142396"/>
                  </a:lnTo>
                  <a:lnTo>
                    <a:pt x="1323254" y="107049"/>
                  </a:lnTo>
                  <a:lnTo>
                    <a:pt x="1260077" y="75798"/>
                  </a:lnTo>
                  <a:lnTo>
                    <a:pt x="1194077" y="49186"/>
                  </a:lnTo>
                  <a:lnTo>
                    <a:pt x="1125382" y="27757"/>
                  </a:lnTo>
                  <a:lnTo>
                    <a:pt x="1054123" y="12053"/>
                  </a:lnTo>
                  <a:lnTo>
                    <a:pt x="980430" y="2620"/>
                  </a:lnTo>
                  <a:lnTo>
                    <a:pt x="904433" y="0"/>
                  </a:lnTo>
                  <a:lnTo>
                    <a:pt x="865610" y="1414"/>
                  </a:lnTo>
                  <a:lnTo>
                    <a:pt x="826261" y="4736"/>
                  </a:lnTo>
                  <a:lnTo>
                    <a:pt x="786400" y="10033"/>
                  </a:lnTo>
                  <a:lnTo>
                    <a:pt x="746044" y="17373"/>
                  </a:lnTo>
                  <a:lnTo>
                    <a:pt x="705209" y="26823"/>
                  </a:lnTo>
                  <a:lnTo>
                    <a:pt x="663912" y="38453"/>
                  </a:lnTo>
                  <a:lnTo>
                    <a:pt x="622169" y="52330"/>
                  </a:lnTo>
                  <a:lnTo>
                    <a:pt x="579996" y="68521"/>
                  </a:lnTo>
                  <a:lnTo>
                    <a:pt x="537409" y="87095"/>
                  </a:lnTo>
                  <a:lnTo>
                    <a:pt x="494424" y="108120"/>
                  </a:lnTo>
                  <a:lnTo>
                    <a:pt x="451058" y="131663"/>
                  </a:lnTo>
                  <a:lnTo>
                    <a:pt x="407327" y="157793"/>
                  </a:lnTo>
                  <a:lnTo>
                    <a:pt x="363248" y="186577"/>
                  </a:lnTo>
                  <a:lnTo>
                    <a:pt x="318835" y="218084"/>
                  </a:lnTo>
                  <a:lnTo>
                    <a:pt x="274107" y="252381"/>
                  </a:lnTo>
                  <a:lnTo>
                    <a:pt x="229078" y="289536"/>
                  </a:lnTo>
                  <a:lnTo>
                    <a:pt x="183765" y="329618"/>
                  </a:lnTo>
                  <a:lnTo>
                    <a:pt x="138184" y="372694"/>
                  </a:lnTo>
                  <a:lnTo>
                    <a:pt x="92353" y="418832"/>
                  </a:lnTo>
                  <a:lnTo>
                    <a:pt x="46286" y="468100"/>
                  </a:lnTo>
                  <a:lnTo>
                    <a:pt x="0" y="520566"/>
                  </a:lnTo>
                  <a:lnTo>
                    <a:pt x="0" y="524696"/>
                  </a:lnTo>
                </a:path>
              </a:pathLst>
            </a:custGeom>
            <a:ln w="12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6442313" y="4165685"/>
              <a:ext cx="71120" cy="75565"/>
            </a:xfrm>
            <a:custGeom>
              <a:avLst/>
              <a:gdLst/>
              <a:ahLst/>
              <a:cxnLst/>
              <a:rect l="l" t="t" r="r" b="b"/>
              <a:pathLst>
                <a:path w="71120" h="75564">
                  <a:moveTo>
                    <a:pt x="18074" y="0"/>
                  </a:moveTo>
                  <a:lnTo>
                    <a:pt x="0" y="75256"/>
                  </a:lnTo>
                  <a:lnTo>
                    <a:pt x="70981" y="44578"/>
                  </a:lnTo>
                  <a:lnTo>
                    <a:pt x="33395" y="35530"/>
                  </a:lnTo>
                  <a:lnTo>
                    <a:pt x="180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6197600" y="3838521"/>
              <a:ext cx="381000" cy="178435"/>
            </a:xfrm>
            <a:custGeom>
              <a:avLst/>
              <a:gdLst/>
              <a:ahLst/>
              <a:cxnLst/>
              <a:rect l="l" t="t" r="r" b="b"/>
              <a:pathLst>
                <a:path w="381000" h="178435">
                  <a:moveTo>
                    <a:pt x="0" y="0"/>
                  </a:moveTo>
                  <a:lnTo>
                    <a:pt x="381000" y="0"/>
                  </a:lnTo>
                  <a:lnTo>
                    <a:pt x="381000" y="177999"/>
                  </a:lnTo>
                  <a:lnTo>
                    <a:pt x="0" y="177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660461" y="3380036"/>
            <a:ext cx="253813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9" dirty="0">
                <a:solidFill>
                  <a:srgbClr val="0048AA"/>
                </a:solidFill>
                <a:latin typeface="Lucida Sans Unicode"/>
                <a:cs typeface="Lucida Sans Unicode"/>
              </a:rPr>
              <a:t>false</a:t>
            </a:r>
            <a:endParaRPr sz="794">
              <a:latin typeface="Lucida Sans Unicode"/>
              <a:cs typeface="Lucida Sans Unicode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749218" y="2926974"/>
            <a:ext cx="535641" cy="611281"/>
            <a:chOff x="5230047" y="3317237"/>
            <a:chExt cx="607060" cy="692785"/>
          </a:xfrm>
        </p:grpSpPr>
        <p:sp>
          <p:nvSpPr>
            <p:cNvPr id="49" name="object 49"/>
            <p:cNvSpPr/>
            <p:nvPr/>
          </p:nvSpPr>
          <p:spPr>
            <a:xfrm>
              <a:off x="5264149" y="3395785"/>
              <a:ext cx="566420" cy="570230"/>
            </a:xfrm>
            <a:custGeom>
              <a:avLst/>
              <a:gdLst/>
              <a:ahLst/>
              <a:cxnLst/>
              <a:rect l="l" t="t" r="r" b="b"/>
              <a:pathLst>
                <a:path w="566420" h="570229">
                  <a:moveTo>
                    <a:pt x="565964" y="0"/>
                  </a:moveTo>
                  <a:lnTo>
                    <a:pt x="498820" y="2860"/>
                  </a:lnTo>
                  <a:lnTo>
                    <a:pt x="437104" y="8680"/>
                  </a:lnTo>
                  <a:lnTo>
                    <a:pt x="380592" y="17410"/>
                  </a:lnTo>
                  <a:lnTo>
                    <a:pt x="329063" y="29001"/>
                  </a:lnTo>
                  <a:lnTo>
                    <a:pt x="282291" y="43404"/>
                  </a:lnTo>
                  <a:lnTo>
                    <a:pt x="240056" y="60571"/>
                  </a:lnTo>
                  <a:lnTo>
                    <a:pt x="202132" y="80452"/>
                  </a:lnTo>
                  <a:lnTo>
                    <a:pt x="168297" y="102998"/>
                  </a:lnTo>
                  <a:lnTo>
                    <a:pt x="138328" y="128161"/>
                  </a:lnTo>
                  <a:lnTo>
                    <a:pt x="112002" y="155891"/>
                  </a:lnTo>
                  <a:lnTo>
                    <a:pt x="69386" y="218858"/>
                  </a:lnTo>
                  <a:lnTo>
                    <a:pt x="52649" y="253997"/>
                  </a:lnTo>
                  <a:lnTo>
                    <a:pt x="38663" y="291507"/>
                  </a:lnTo>
                  <a:lnTo>
                    <a:pt x="27203" y="331341"/>
                  </a:lnTo>
                  <a:lnTo>
                    <a:pt x="18047" y="373448"/>
                  </a:lnTo>
                  <a:lnTo>
                    <a:pt x="10972" y="417779"/>
                  </a:lnTo>
                  <a:lnTo>
                    <a:pt x="5755" y="464287"/>
                  </a:lnTo>
                  <a:lnTo>
                    <a:pt x="2172" y="512922"/>
                  </a:lnTo>
                  <a:lnTo>
                    <a:pt x="0" y="563634"/>
                  </a:lnTo>
                  <a:lnTo>
                    <a:pt x="0" y="569877"/>
                  </a:lnTo>
                </a:path>
              </a:pathLst>
            </a:custGeom>
            <a:ln w="12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0047" y="3939849"/>
              <a:ext cx="69140" cy="698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384799" y="3317237"/>
              <a:ext cx="342900" cy="191135"/>
            </a:xfrm>
            <a:custGeom>
              <a:avLst/>
              <a:gdLst/>
              <a:ahLst/>
              <a:cxnLst/>
              <a:rect l="l" t="t" r="r" b="b"/>
              <a:pathLst>
                <a:path w="342900" h="191135">
                  <a:moveTo>
                    <a:pt x="0" y="0"/>
                  </a:moveTo>
                  <a:lnTo>
                    <a:pt x="342900" y="0"/>
                  </a:lnTo>
                  <a:lnTo>
                    <a:pt x="342900" y="190713"/>
                  </a:lnTo>
                  <a:lnTo>
                    <a:pt x="0" y="1907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939362" y="2926530"/>
            <a:ext cx="221876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18" dirty="0">
                <a:solidFill>
                  <a:srgbClr val="0048AA"/>
                </a:solidFill>
                <a:latin typeface="Lucida Sans Unicode"/>
                <a:cs typeface="Lucida Sans Unicode"/>
              </a:rPr>
              <a:t>true</a:t>
            </a:r>
            <a:endParaRPr sz="794">
              <a:latin typeface="Lucida Sans Unicode"/>
              <a:cs typeface="Lucida Sans Unicode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769820" y="3800871"/>
            <a:ext cx="547407" cy="1147482"/>
            <a:chOff x="5253395" y="4307654"/>
            <a:chExt cx="620395" cy="1300480"/>
          </a:xfrm>
        </p:grpSpPr>
        <p:sp>
          <p:nvSpPr>
            <p:cNvPr id="54" name="object 54"/>
            <p:cNvSpPr/>
            <p:nvPr/>
          </p:nvSpPr>
          <p:spPr>
            <a:xfrm>
              <a:off x="5259746" y="4314005"/>
              <a:ext cx="569595" cy="1260475"/>
            </a:xfrm>
            <a:custGeom>
              <a:avLst/>
              <a:gdLst/>
              <a:ahLst/>
              <a:cxnLst/>
              <a:rect l="l" t="t" r="r" b="b"/>
              <a:pathLst>
                <a:path w="569595" h="1260475">
                  <a:moveTo>
                    <a:pt x="8266" y="0"/>
                  </a:moveTo>
                  <a:lnTo>
                    <a:pt x="8020" y="45714"/>
                  </a:lnTo>
                  <a:lnTo>
                    <a:pt x="6223" y="101786"/>
                  </a:lnTo>
                  <a:lnTo>
                    <a:pt x="5008" y="133262"/>
                  </a:lnTo>
                  <a:lnTo>
                    <a:pt x="3724" y="166793"/>
                  </a:lnTo>
                  <a:lnTo>
                    <a:pt x="1377" y="239311"/>
                  </a:lnTo>
                  <a:lnTo>
                    <a:pt x="525" y="277941"/>
                  </a:lnTo>
                  <a:lnTo>
                    <a:pt x="31" y="317914"/>
                  </a:lnTo>
                  <a:lnTo>
                    <a:pt x="0" y="359054"/>
                  </a:lnTo>
                  <a:lnTo>
                    <a:pt x="538" y="401180"/>
                  </a:lnTo>
                  <a:lnTo>
                    <a:pt x="1753" y="444117"/>
                  </a:lnTo>
                  <a:lnTo>
                    <a:pt x="3750" y="487685"/>
                  </a:lnTo>
                  <a:lnTo>
                    <a:pt x="6636" y="531707"/>
                  </a:lnTo>
                  <a:lnTo>
                    <a:pt x="10517" y="576004"/>
                  </a:lnTo>
                  <a:lnTo>
                    <a:pt x="15500" y="620399"/>
                  </a:lnTo>
                  <a:lnTo>
                    <a:pt x="21692" y="664713"/>
                  </a:lnTo>
                  <a:lnTo>
                    <a:pt x="29197" y="708770"/>
                  </a:lnTo>
                  <a:lnTo>
                    <a:pt x="38124" y="752389"/>
                  </a:lnTo>
                  <a:lnTo>
                    <a:pt x="48578" y="795395"/>
                  </a:lnTo>
                  <a:lnTo>
                    <a:pt x="60666" y="837608"/>
                  </a:lnTo>
                  <a:lnTo>
                    <a:pt x="74494" y="878851"/>
                  </a:lnTo>
                  <a:lnTo>
                    <a:pt x="90169" y="918945"/>
                  </a:lnTo>
                  <a:lnTo>
                    <a:pt x="107797" y="957713"/>
                  </a:lnTo>
                  <a:lnTo>
                    <a:pt x="127484" y="994977"/>
                  </a:lnTo>
                  <a:lnTo>
                    <a:pt x="149337" y="1030558"/>
                  </a:lnTo>
                  <a:lnTo>
                    <a:pt x="173462" y="1064279"/>
                  </a:lnTo>
                  <a:lnTo>
                    <a:pt x="199966" y="1095962"/>
                  </a:lnTo>
                  <a:lnTo>
                    <a:pt x="228955" y="1125428"/>
                  </a:lnTo>
                  <a:lnTo>
                    <a:pt x="260535" y="1152500"/>
                  </a:lnTo>
                  <a:lnTo>
                    <a:pt x="294814" y="1177000"/>
                  </a:lnTo>
                  <a:lnTo>
                    <a:pt x="331896" y="1198749"/>
                  </a:lnTo>
                  <a:lnTo>
                    <a:pt x="371889" y="1217570"/>
                  </a:lnTo>
                  <a:lnTo>
                    <a:pt x="414899" y="1233285"/>
                  </a:lnTo>
                  <a:lnTo>
                    <a:pt x="461033" y="1245715"/>
                  </a:lnTo>
                  <a:lnTo>
                    <a:pt x="510397" y="1254683"/>
                  </a:lnTo>
                  <a:lnTo>
                    <a:pt x="563097" y="1260011"/>
                  </a:lnTo>
                  <a:lnTo>
                    <a:pt x="569553" y="1260011"/>
                  </a:lnTo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5803149" y="5538678"/>
              <a:ext cx="70485" cy="69215"/>
            </a:xfrm>
            <a:custGeom>
              <a:avLst/>
              <a:gdLst/>
              <a:ahLst/>
              <a:cxnLst/>
              <a:rect l="l" t="t" r="r" b="b"/>
              <a:pathLst>
                <a:path w="70485" h="69214">
                  <a:moveTo>
                    <a:pt x="2032" y="0"/>
                  </a:moveTo>
                  <a:lnTo>
                    <a:pt x="18295" y="35107"/>
                  </a:lnTo>
                  <a:lnTo>
                    <a:pt x="0" y="69198"/>
                  </a:lnTo>
                  <a:lnTo>
                    <a:pt x="70137" y="36633"/>
                  </a:lnTo>
                  <a:lnTo>
                    <a:pt x="20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5</a:t>
            </a:fld>
            <a:endParaRPr spc="-2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05000" y="2552700"/>
            <a:ext cx="5638800" cy="342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3110552"/>
            <a:ext cx="7086600" cy="3571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91352" y="3619857"/>
            <a:ext cx="7086600" cy="3571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05000" y="4495800"/>
            <a:ext cx="7086600" cy="3571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05000" y="5334000"/>
            <a:ext cx="7086600" cy="3571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19200"/>
            <a:ext cx="8763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49" charset="0"/>
              </a:rPr>
              <a:t>import </a:t>
            </a:r>
            <a:r>
              <a:rPr lang="en-US" dirty="0" err="1">
                <a:latin typeface="Courier" pitchFamily="49" charset="0"/>
              </a:rPr>
              <a:t>java.util.Scanner</a:t>
            </a:r>
            <a:r>
              <a:rPr lang="en-US" dirty="0">
                <a:latin typeface="Courier" pitchFamily="49" charset="0"/>
              </a:rPr>
              <a:t>; </a:t>
            </a:r>
          </a:p>
          <a:p>
            <a:r>
              <a:rPr lang="en-US" dirty="0">
                <a:latin typeface="Courier" pitchFamily="49" charset="0"/>
              </a:rPr>
              <a:t>public class </a:t>
            </a:r>
            <a:r>
              <a:rPr lang="en-US" dirty="0" err="1">
                <a:latin typeface="Courier" pitchFamily="49" charset="0"/>
              </a:rPr>
              <a:t>ComputeArea</a:t>
            </a:r>
            <a:r>
              <a:rPr lang="en-US" dirty="0">
                <a:latin typeface="Courier" pitchFamily="49" charset="0"/>
              </a:rPr>
              <a:t>{</a:t>
            </a:r>
          </a:p>
          <a:p>
            <a:r>
              <a:rPr lang="en-US" dirty="0">
                <a:latin typeface="Courier" pitchFamily="49" charset="0"/>
              </a:rPr>
              <a:t>	public static void main(String[] </a:t>
            </a:r>
            <a:r>
              <a:rPr lang="en-US" dirty="0" err="1">
                <a:latin typeface="Courier" pitchFamily="49" charset="0"/>
              </a:rPr>
              <a:t>args</a:t>
            </a:r>
            <a:r>
              <a:rPr lang="en-US" dirty="0">
                <a:latin typeface="Courier" pitchFamily="49" charset="0"/>
              </a:rPr>
              <a:t>){</a:t>
            </a:r>
          </a:p>
          <a:p>
            <a:r>
              <a:rPr lang="en-US" dirty="0">
                <a:latin typeface="Courier" pitchFamily="49" charset="0"/>
              </a:rPr>
              <a:t>		</a:t>
            </a:r>
          </a:p>
          <a:p>
            <a:r>
              <a:rPr lang="en-US" dirty="0">
                <a:latin typeface="Courier" pitchFamily="49" charset="0"/>
              </a:rPr>
              <a:t>		// Create a Scanner object</a:t>
            </a:r>
          </a:p>
          <a:p>
            <a:r>
              <a:rPr lang="en-US" dirty="0">
                <a:latin typeface="Courier" pitchFamily="49" charset="0"/>
              </a:rPr>
              <a:t>		Scanner input = new Scanner(System.in);</a:t>
            </a:r>
          </a:p>
          <a:p>
            <a:r>
              <a:rPr lang="en-US" dirty="0">
                <a:latin typeface="Courier" pitchFamily="49" charset="0"/>
              </a:rPr>
              <a:t>		// Prompt the user to enter a radius</a:t>
            </a:r>
          </a:p>
          <a:p>
            <a:r>
              <a:rPr lang="en-US" dirty="0">
                <a:latin typeface="Courier" pitchFamily="49" charset="0"/>
              </a:rPr>
              <a:t>		</a:t>
            </a:r>
            <a:r>
              <a:rPr lang="en-US" dirty="0" err="1">
                <a:latin typeface="Courier" pitchFamily="49" charset="0"/>
              </a:rPr>
              <a:t>System.out.println</a:t>
            </a:r>
            <a:r>
              <a:rPr lang="en-US" dirty="0">
                <a:latin typeface="Courier" pitchFamily="49" charset="0"/>
              </a:rPr>
              <a:t>("Enter the radius of Circle");</a:t>
            </a:r>
          </a:p>
          <a:p>
            <a:r>
              <a:rPr lang="en-US" dirty="0">
                <a:latin typeface="Courier" pitchFamily="49" charset="0"/>
              </a:rPr>
              <a:t>		</a:t>
            </a:r>
          </a:p>
          <a:p>
            <a:r>
              <a:rPr lang="en-US" dirty="0">
                <a:latin typeface="Courier" pitchFamily="49" charset="0"/>
              </a:rPr>
              <a:t>		double radius = </a:t>
            </a:r>
            <a:r>
              <a:rPr lang="en-US" dirty="0" err="1">
                <a:latin typeface="Courier" pitchFamily="49" charset="0"/>
              </a:rPr>
              <a:t>input.nextDouble</a:t>
            </a:r>
            <a:r>
              <a:rPr lang="en-US" dirty="0">
                <a:latin typeface="Courier" pitchFamily="49" charset="0"/>
              </a:rPr>
              <a:t>();</a:t>
            </a:r>
          </a:p>
          <a:p>
            <a:endParaRPr lang="en-US" dirty="0">
              <a:latin typeface="Courier" pitchFamily="49" charset="0"/>
            </a:endParaRPr>
          </a:p>
          <a:p>
            <a:r>
              <a:rPr lang="en-US" dirty="0">
                <a:latin typeface="Courier" pitchFamily="49" charset="0"/>
              </a:rPr>
              <a:t>		// Compute area</a:t>
            </a:r>
          </a:p>
          <a:p>
            <a:r>
              <a:rPr lang="en-US" dirty="0">
                <a:latin typeface="Courier" pitchFamily="49" charset="0"/>
              </a:rPr>
              <a:t>		double area   = 3.14159 * radius * radius;</a:t>
            </a:r>
          </a:p>
          <a:p>
            <a:endParaRPr lang="en-US" dirty="0">
              <a:latin typeface="Courier" pitchFamily="49" charset="0"/>
            </a:endParaRPr>
          </a:p>
          <a:p>
            <a:r>
              <a:rPr lang="en-US" dirty="0">
                <a:latin typeface="Courier" pitchFamily="49" charset="0"/>
              </a:rPr>
              <a:t>		// Display results</a:t>
            </a:r>
          </a:p>
          <a:p>
            <a:r>
              <a:rPr lang="en-US" dirty="0">
                <a:latin typeface="Courier" pitchFamily="49" charset="0"/>
              </a:rPr>
              <a:t>		</a:t>
            </a:r>
            <a:r>
              <a:rPr lang="en-US" dirty="0" err="1">
                <a:latin typeface="Courier" pitchFamily="49" charset="0"/>
              </a:rPr>
              <a:t>System.out.print</a:t>
            </a:r>
            <a:r>
              <a:rPr lang="en-US" dirty="0">
                <a:latin typeface="Courier" pitchFamily="49" charset="0"/>
              </a:rPr>
              <a:t>("The area of Circle is: "+area);</a:t>
            </a:r>
          </a:p>
          <a:p>
            <a:r>
              <a:rPr lang="en-US" dirty="0">
                <a:latin typeface="Courier" pitchFamily="49" charset="0"/>
              </a:rPr>
              <a:t>	}</a:t>
            </a:r>
          </a:p>
        </p:txBody>
      </p:sp>
      <p:sp>
        <p:nvSpPr>
          <p:cNvPr id="5" name="Down Arrow 4"/>
          <p:cNvSpPr/>
          <p:nvPr/>
        </p:nvSpPr>
        <p:spPr>
          <a:xfrm>
            <a:off x="454571" y="2209799"/>
            <a:ext cx="364409" cy="3481357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4264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40412-C7D8-45F6-82CD-A5B304C18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Boolean Types, Values, and Expressions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1DBE39-758B-68DC-2CAF-B6FAAE7631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22367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879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Relational Operators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98093"/>
            <a:ext cx="8336681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555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8A1B-EACA-471F-A1DA-7F6EBBC2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" pitchFamily="49" charset="0"/>
              </a:rPr>
              <a:t>boolean</a:t>
            </a:r>
            <a:r>
              <a:rPr lang="en-US" dirty="0"/>
              <a:t>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E6074-F227-4C6F-94E3-7CEA558A9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>
            <a:noAutofit/>
          </a:bodyPr>
          <a:lstStyle/>
          <a:p>
            <a:r>
              <a:rPr lang="en-US" sz="2800" dirty="0"/>
              <a:t>A variable that holds a Boolean value (True/False) is known as a </a:t>
            </a:r>
            <a:r>
              <a:rPr lang="en-US" sz="2800" b="1" dirty="0"/>
              <a:t>Boolean variable</a:t>
            </a:r>
            <a:r>
              <a:rPr lang="en-US" sz="2800" dirty="0"/>
              <a:t>. </a:t>
            </a:r>
          </a:p>
          <a:p>
            <a:r>
              <a:rPr lang="en-US" sz="2800" dirty="0"/>
              <a:t>E.g. 		</a:t>
            </a:r>
            <a:r>
              <a:rPr lang="en-US" sz="2400" b="1" dirty="0" err="1">
                <a:latin typeface="Courier" pitchFamily="49" charset="0"/>
              </a:rPr>
              <a:t>boolean</a:t>
            </a:r>
            <a:r>
              <a:rPr lang="en-US" sz="2400" b="1" dirty="0"/>
              <a:t>  </a:t>
            </a:r>
            <a:r>
              <a:rPr lang="en-US" sz="2400" b="1" dirty="0" err="1"/>
              <a:t>lightsOn</a:t>
            </a:r>
            <a:r>
              <a:rPr lang="en-US" sz="2400" b="1" dirty="0"/>
              <a:t> = </a:t>
            </a:r>
            <a:r>
              <a:rPr lang="en-US" sz="2400" b="1" dirty="0">
                <a:latin typeface="Courier" pitchFamily="49" charset="0"/>
              </a:rPr>
              <a:t>true</a:t>
            </a:r>
          </a:p>
          <a:p>
            <a:r>
              <a:rPr lang="en-US" sz="2800" b="1" dirty="0"/>
              <a:t>true </a:t>
            </a:r>
            <a:r>
              <a:rPr lang="en-US" sz="2800" dirty="0"/>
              <a:t>and </a:t>
            </a:r>
            <a:r>
              <a:rPr lang="en-US" sz="2800" b="1" dirty="0"/>
              <a:t>false </a:t>
            </a:r>
            <a:r>
              <a:rPr lang="en-US" sz="2800" dirty="0"/>
              <a:t>are reserve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1614536"/>
            <a:ext cx="83820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/>
              <a:t>The </a:t>
            </a:r>
            <a:r>
              <a:rPr lang="en-US" sz="2000" b="1" dirty="0" err="1">
                <a:latin typeface="Courier" pitchFamily="49" charset="0"/>
              </a:rPr>
              <a:t>boolean</a:t>
            </a:r>
            <a:r>
              <a:rPr lang="en-US" sz="2000" b="1" dirty="0"/>
              <a:t> data type declares a variable with the value either true or false</a:t>
            </a:r>
          </a:p>
        </p:txBody>
      </p:sp>
    </p:spTree>
    <p:extLst>
      <p:ext uri="{BB962C8B-B14F-4D97-AF65-F5344CB8AC3E}">
        <p14:creationId xmlns:p14="http://schemas.microsoft.com/office/powerpoint/2010/main" val="176206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117" y="1395654"/>
            <a:ext cx="7944971" cy="0"/>
          </a:xfrm>
          <a:custGeom>
            <a:avLst/>
            <a:gdLst/>
            <a:ahLst/>
            <a:cxnLst/>
            <a:rect l="l" t="t" r="r" b="b"/>
            <a:pathLst>
              <a:path w="9004300">
                <a:moveTo>
                  <a:pt x="0" y="0"/>
                </a:moveTo>
                <a:lnTo>
                  <a:pt x="900430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882" y="400400"/>
            <a:ext cx="7261412" cy="69238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spc="-18" dirty="0"/>
              <a:t>The</a:t>
            </a:r>
            <a:r>
              <a:rPr spc="-49" dirty="0"/>
              <a:t> </a:t>
            </a:r>
            <a:r>
              <a:rPr dirty="0">
                <a:cs typeface="Lucida Console"/>
              </a:rPr>
              <a:t>if</a:t>
            </a:r>
            <a:r>
              <a:rPr spc="-300" dirty="0">
                <a:latin typeface="Lucida Console"/>
                <a:cs typeface="Lucida Console"/>
              </a:rPr>
              <a:t> </a:t>
            </a:r>
            <a:r>
              <a:rPr spc="-9" dirty="0"/>
              <a:t>statement</a:t>
            </a:r>
            <a:endParaRPr sz="1279" dirty="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382" y="1591977"/>
            <a:ext cx="6264088" cy="10585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881" rIns="0" bIns="0" rtlCol="0">
            <a:spAutoFit/>
          </a:bodyPr>
          <a:lstStyle/>
          <a:p>
            <a:pPr marL="140641">
              <a:spcBef>
                <a:spcPts val="613"/>
              </a:spcBef>
            </a:pPr>
            <a:r>
              <a:rPr sz="1279" dirty="0">
                <a:latin typeface="Lucida Sans Unicode"/>
                <a:cs typeface="Lucida Sans Unicode"/>
              </a:rPr>
              <a:t>Execute</a:t>
            </a:r>
            <a:r>
              <a:rPr sz="1279" spc="9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certain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statements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depending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on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the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values</a:t>
            </a:r>
            <a:r>
              <a:rPr sz="1279" spc="9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of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certain</a:t>
            </a:r>
            <a:r>
              <a:rPr sz="1279" spc="97" dirty="0">
                <a:latin typeface="Lucida Sans Unicode"/>
                <a:cs typeface="Lucida Sans Unicode"/>
              </a:rPr>
              <a:t> </a:t>
            </a:r>
            <a:r>
              <a:rPr sz="1279" spc="-9" dirty="0">
                <a:latin typeface="Lucida Sans Unicode"/>
                <a:cs typeface="Lucida Sans Unicode"/>
              </a:rPr>
              <a:t>variables.</a:t>
            </a:r>
            <a:endParaRPr sz="1279">
              <a:latin typeface="Lucida Sans Unicode"/>
              <a:cs typeface="Lucida Sans Unicode"/>
            </a:endParaRPr>
          </a:p>
          <a:p>
            <a:pPr marL="384381" indent="-109824">
              <a:spcBef>
                <a:spcPts val="534"/>
              </a:spcBef>
              <a:buSzPct val="106896"/>
              <a:buFont typeface="Times New Roman"/>
              <a:buChar char="•"/>
              <a:tabLst>
                <a:tab pos="384381" algn="l"/>
              </a:tabLst>
            </a:pPr>
            <a:r>
              <a:rPr sz="1919" baseline="1915" dirty="0">
                <a:latin typeface="Lucida Sans Unicode"/>
                <a:cs typeface="Lucida Sans Unicode"/>
              </a:rPr>
              <a:t>Evaluate</a:t>
            </a:r>
            <a:r>
              <a:rPr sz="1919" spc="92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a</a:t>
            </a:r>
            <a:r>
              <a:rPr sz="1919" spc="99" baseline="1915" dirty="0">
                <a:latin typeface="Lucida Sans Unicode"/>
                <a:cs typeface="Lucida Sans Unicode"/>
              </a:rPr>
              <a:t> </a:t>
            </a:r>
            <a:r>
              <a:rPr sz="1721" baseline="2136" dirty="0">
                <a:latin typeface="Lucida Console"/>
                <a:cs typeface="Lucida Console"/>
              </a:rPr>
              <a:t>boolean</a:t>
            </a:r>
            <a:r>
              <a:rPr sz="1721" spc="-331" baseline="2136" dirty="0">
                <a:latin typeface="Lucida Console"/>
                <a:cs typeface="Lucida Console"/>
              </a:rPr>
              <a:t> </a:t>
            </a:r>
            <a:r>
              <a:rPr sz="1919" spc="-13" baseline="1915" dirty="0">
                <a:latin typeface="Lucida Sans Unicode"/>
                <a:cs typeface="Lucida Sans Unicode"/>
              </a:rPr>
              <a:t>expression.</a:t>
            </a:r>
            <a:endParaRPr sz="1919" baseline="1915">
              <a:latin typeface="Lucida Sans Unicode"/>
              <a:cs typeface="Lucida Sans Unicode"/>
            </a:endParaRPr>
          </a:p>
          <a:p>
            <a:pPr marL="384381" indent="-109824">
              <a:spcBef>
                <a:spcPts val="507"/>
              </a:spcBef>
              <a:buSzPct val="106896"/>
              <a:buFont typeface="Times New Roman"/>
              <a:buChar char="•"/>
              <a:tabLst>
                <a:tab pos="384381" algn="l"/>
              </a:tabLst>
            </a:pPr>
            <a:r>
              <a:rPr sz="1919" baseline="1915" dirty="0">
                <a:latin typeface="Lucida Sans Unicode"/>
                <a:cs typeface="Lucida Sans Unicode"/>
              </a:rPr>
              <a:t>If</a:t>
            </a:r>
            <a:r>
              <a:rPr sz="1919" spc="59" baseline="1915" dirty="0">
                <a:latin typeface="Lucida Sans Unicode"/>
                <a:cs typeface="Lucida Sans Unicode"/>
              </a:rPr>
              <a:t> </a:t>
            </a:r>
            <a:r>
              <a:rPr sz="1721" baseline="2136" dirty="0">
                <a:latin typeface="Lucida Console"/>
                <a:cs typeface="Lucida Console"/>
              </a:rPr>
              <a:t>true</a:t>
            </a:r>
            <a:r>
              <a:rPr sz="1919" baseline="1915" dirty="0">
                <a:latin typeface="Lucida Sans Unicode"/>
                <a:cs typeface="Lucida Sans Unicode"/>
              </a:rPr>
              <a:t>,</a:t>
            </a:r>
            <a:r>
              <a:rPr sz="1919" spc="5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execute</a:t>
            </a:r>
            <a:r>
              <a:rPr sz="1919" spc="66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a</a:t>
            </a:r>
            <a:r>
              <a:rPr sz="1919" spc="59" baseline="1915" dirty="0">
                <a:latin typeface="Lucida Sans Unicode"/>
                <a:cs typeface="Lucida Sans Unicode"/>
              </a:rPr>
              <a:t> </a:t>
            </a:r>
            <a:r>
              <a:rPr sz="1919" spc="-13" baseline="1915" dirty="0">
                <a:latin typeface="Lucida Sans Unicode"/>
                <a:cs typeface="Lucida Sans Unicode"/>
              </a:rPr>
              <a:t>statement.</a:t>
            </a:r>
            <a:endParaRPr sz="1919" baseline="1915">
              <a:latin typeface="Lucida Sans Unicode"/>
              <a:cs typeface="Lucida Sans Unicode"/>
            </a:endParaRPr>
          </a:p>
          <a:p>
            <a:pPr marL="384381" indent="-109824">
              <a:spcBef>
                <a:spcPts val="503"/>
              </a:spcBef>
              <a:buSzPct val="106896"/>
              <a:buFont typeface="Times New Roman"/>
              <a:buChar char="•"/>
              <a:tabLst>
                <a:tab pos="384381" algn="l"/>
              </a:tabLst>
            </a:pPr>
            <a:r>
              <a:rPr sz="1919" baseline="1915" dirty="0">
                <a:latin typeface="Lucida Sans Unicode"/>
                <a:cs typeface="Lucida Sans Unicode"/>
              </a:rPr>
              <a:t>The</a:t>
            </a:r>
            <a:r>
              <a:rPr sz="1919" spc="79" baseline="1915" dirty="0">
                <a:latin typeface="Lucida Sans Unicode"/>
                <a:cs typeface="Lucida Sans Unicode"/>
              </a:rPr>
              <a:t> </a:t>
            </a:r>
            <a:r>
              <a:rPr sz="1721" baseline="2136" dirty="0">
                <a:solidFill>
                  <a:srgbClr val="005493"/>
                </a:solidFill>
                <a:latin typeface="Lucida Console"/>
                <a:cs typeface="Lucida Console"/>
              </a:rPr>
              <a:t>else</a:t>
            </a:r>
            <a:r>
              <a:rPr sz="1721" spc="-350" baseline="2136" dirty="0">
                <a:solidFill>
                  <a:srgbClr val="005493"/>
                </a:solidFill>
                <a:latin typeface="Lucida Console"/>
                <a:cs typeface="Lucida Console"/>
              </a:rPr>
              <a:t> </a:t>
            </a:r>
            <a:r>
              <a:rPr sz="1919" baseline="1915" dirty="0">
                <a:solidFill>
                  <a:srgbClr val="005493"/>
                </a:solidFill>
                <a:latin typeface="Lucida Sans Unicode"/>
                <a:cs typeface="Lucida Sans Unicode"/>
              </a:rPr>
              <a:t>option</a:t>
            </a:r>
            <a:r>
              <a:rPr sz="1919" baseline="1915" dirty="0">
                <a:solidFill>
                  <a:srgbClr val="0048AA"/>
                </a:solidFill>
                <a:latin typeface="Lucida Sans Unicode"/>
                <a:cs typeface="Lucida Sans Unicode"/>
              </a:rPr>
              <a:t>:</a:t>
            </a:r>
            <a:r>
              <a:rPr sz="1919" spc="86" baseline="19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If</a:t>
            </a:r>
            <a:r>
              <a:rPr sz="1919" spc="79" baseline="1915" dirty="0">
                <a:latin typeface="Lucida Sans Unicode"/>
                <a:cs typeface="Lucida Sans Unicode"/>
              </a:rPr>
              <a:t> </a:t>
            </a:r>
            <a:r>
              <a:rPr sz="1721" baseline="2136" dirty="0">
                <a:latin typeface="Lucida Console"/>
                <a:cs typeface="Lucida Console"/>
              </a:rPr>
              <a:t>false</a:t>
            </a:r>
            <a:r>
              <a:rPr sz="1919" baseline="1915" dirty="0">
                <a:latin typeface="Lucida Sans Unicode"/>
                <a:cs typeface="Lucida Sans Unicode"/>
              </a:rPr>
              <a:t>,</a:t>
            </a:r>
            <a:r>
              <a:rPr sz="1919" spc="86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execute</a:t>
            </a:r>
            <a:r>
              <a:rPr sz="1919" spc="79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a</a:t>
            </a:r>
            <a:r>
              <a:rPr sz="1919" spc="86" baseline="1915" dirty="0">
                <a:latin typeface="Lucida Sans Unicode"/>
                <a:cs typeface="Lucida Sans Unicode"/>
              </a:rPr>
              <a:t> </a:t>
            </a:r>
            <a:r>
              <a:rPr sz="1919" baseline="1915" dirty="0">
                <a:latin typeface="Lucida Sans Unicode"/>
                <a:cs typeface="Lucida Sans Unicode"/>
              </a:rPr>
              <a:t>different</a:t>
            </a:r>
            <a:r>
              <a:rPr sz="1919" spc="79" baseline="1915" dirty="0">
                <a:latin typeface="Lucida Sans Unicode"/>
                <a:cs typeface="Lucida Sans Unicode"/>
              </a:rPr>
              <a:t> </a:t>
            </a:r>
            <a:r>
              <a:rPr sz="1919" spc="-13" baseline="1915" dirty="0">
                <a:latin typeface="Lucida Sans Unicode"/>
                <a:cs typeface="Lucida Sans Unicode"/>
              </a:rPr>
              <a:t>statement.</a:t>
            </a:r>
            <a:endParaRPr sz="1919" baseline="1915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559" y="3117689"/>
            <a:ext cx="2633382" cy="23258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68916" rIns="0" bIns="0" rtlCol="0">
            <a:spAutoFit/>
          </a:bodyPr>
          <a:lstStyle/>
          <a:p>
            <a:pPr marL="95815">
              <a:spcBef>
                <a:spcPts val="543"/>
              </a:spcBef>
              <a:tabLst>
                <a:tab pos="842167" algn="l"/>
              </a:tabLst>
            </a:pPr>
            <a:r>
              <a:rPr sz="1059" spc="-9" dirty="0">
                <a:solidFill>
                  <a:srgbClr val="005493"/>
                </a:solidFill>
                <a:latin typeface="Lucida Sans Unicode"/>
                <a:cs typeface="Lucida Sans Unicode"/>
              </a:rPr>
              <a:t>Example:</a:t>
            </a:r>
            <a:r>
              <a:rPr sz="1059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1059" dirty="0">
                <a:latin typeface="Lucida Console"/>
                <a:cs typeface="Lucida Console"/>
              </a:rPr>
              <a:t>if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(x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&lt;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0)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x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-</a:t>
            </a:r>
            <a:r>
              <a:rPr sz="1059" spc="-22" dirty="0">
                <a:latin typeface="Lucida Console"/>
                <a:cs typeface="Lucida Console"/>
              </a:rPr>
              <a:t>x;</a:t>
            </a:r>
            <a:endParaRPr sz="1059">
              <a:latin typeface="Lucida Console"/>
              <a:cs typeface="Lucida Consol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22866" y="3701895"/>
            <a:ext cx="2017619" cy="1261222"/>
            <a:chOff x="1460181" y="4195480"/>
            <a:chExt cx="2286635" cy="1429385"/>
          </a:xfrm>
        </p:grpSpPr>
        <p:sp>
          <p:nvSpPr>
            <p:cNvPr id="7" name="object 7"/>
            <p:cNvSpPr/>
            <p:nvPr/>
          </p:nvSpPr>
          <p:spPr>
            <a:xfrm>
              <a:off x="1466849" y="4544162"/>
              <a:ext cx="2273300" cy="1074420"/>
            </a:xfrm>
            <a:custGeom>
              <a:avLst/>
              <a:gdLst/>
              <a:ahLst/>
              <a:cxnLst/>
              <a:rect l="l" t="t" r="r" b="b"/>
              <a:pathLst>
                <a:path w="2273300" h="1074420">
                  <a:moveTo>
                    <a:pt x="1695450" y="0"/>
                  </a:moveTo>
                  <a:lnTo>
                    <a:pt x="2273300" y="12714"/>
                  </a:lnTo>
                  <a:lnTo>
                    <a:pt x="2273300" y="1053425"/>
                  </a:lnTo>
                  <a:lnTo>
                    <a:pt x="0" y="1073912"/>
                  </a:lnTo>
                  <a:lnTo>
                    <a:pt x="0" y="762855"/>
                  </a:lnTo>
                </a:path>
              </a:pathLst>
            </a:custGeom>
            <a:ln w="127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1466850" y="4561814"/>
              <a:ext cx="581660" cy="472440"/>
            </a:xfrm>
            <a:custGeom>
              <a:avLst/>
              <a:gdLst/>
              <a:ahLst/>
              <a:cxnLst/>
              <a:rect l="l" t="t" r="r" b="b"/>
              <a:pathLst>
                <a:path w="581660" h="472439">
                  <a:moveTo>
                    <a:pt x="581255" y="0"/>
                  </a:moveTo>
                  <a:lnTo>
                    <a:pt x="0" y="13234"/>
                  </a:lnTo>
                  <a:lnTo>
                    <a:pt x="12699" y="471846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2037873" y="4200878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5" h="697864">
                  <a:moveTo>
                    <a:pt x="568403" y="0"/>
                  </a:moveTo>
                  <a:lnTo>
                    <a:pt x="0" y="348767"/>
                  </a:lnTo>
                  <a:lnTo>
                    <a:pt x="568403" y="697536"/>
                  </a:lnTo>
                  <a:lnTo>
                    <a:pt x="1136808" y="348767"/>
                  </a:lnTo>
                  <a:lnTo>
                    <a:pt x="568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037873" y="4200878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5" h="697864">
                  <a:moveTo>
                    <a:pt x="568404" y="0"/>
                  </a:moveTo>
                  <a:lnTo>
                    <a:pt x="0" y="348767"/>
                  </a:lnTo>
                  <a:lnTo>
                    <a:pt x="568404" y="697535"/>
                  </a:lnTo>
                  <a:lnTo>
                    <a:pt x="1136808" y="348767"/>
                  </a:lnTo>
                  <a:lnTo>
                    <a:pt x="568404" y="0"/>
                  </a:lnTo>
                  <a:close/>
                </a:path>
              </a:pathLst>
            </a:custGeom>
            <a:ln w="10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89638" y="3904037"/>
            <a:ext cx="606799" cy="17826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059" dirty="0">
                <a:latin typeface="Lucida Console"/>
                <a:cs typeface="Lucida Console"/>
              </a:rPr>
              <a:t>x</a:t>
            </a:r>
            <a:r>
              <a:rPr sz="1059" spc="26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&lt;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0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spc="-44" dirty="0">
                <a:latin typeface="Lucida Console"/>
                <a:cs typeface="Lucida Console"/>
              </a:rPr>
              <a:t>?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7750" y="4435855"/>
            <a:ext cx="728382" cy="192413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29135" rIns="0" bIns="0" rtlCol="0">
            <a:spAutoFit/>
          </a:bodyPr>
          <a:lstStyle/>
          <a:p>
            <a:pPr marL="89092">
              <a:spcBef>
                <a:spcPts val="229"/>
              </a:spcBef>
            </a:pP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x</a:t>
            </a:r>
            <a:r>
              <a:rPr sz="1059" spc="3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-</a:t>
            </a:r>
            <a:r>
              <a:rPr sz="1059" spc="-22" dirty="0">
                <a:solidFill>
                  <a:srgbClr val="010000"/>
                </a:solidFill>
                <a:latin typeface="Lucida Console"/>
                <a:cs typeface="Lucida Console"/>
              </a:rPr>
              <a:t>x;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6412" y="3936636"/>
            <a:ext cx="302559" cy="168649"/>
          </a:xfrm>
          <a:custGeom>
            <a:avLst/>
            <a:gdLst/>
            <a:ahLst/>
            <a:cxnLst/>
            <a:rect l="l" t="t" r="r" b="b"/>
            <a:pathLst>
              <a:path w="342900" h="191135">
                <a:moveTo>
                  <a:pt x="0" y="0"/>
                </a:moveTo>
                <a:lnTo>
                  <a:pt x="342900" y="0"/>
                </a:lnTo>
                <a:lnTo>
                  <a:pt x="342900" y="190713"/>
                </a:lnTo>
                <a:lnTo>
                  <a:pt x="0" y="190713"/>
                </a:lnTo>
                <a:lnTo>
                  <a:pt x="0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1601970" y="3935351"/>
            <a:ext cx="221876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18" dirty="0">
                <a:solidFill>
                  <a:srgbClr val="0048AA"/>
                </a:solidFill>
                <a:latin typeface="Lucida Sans Unicode"/>
                <a:cs typeface="Lucida Sans Unicode"/>
              </a:rPr>
              <a:t>true</a:t>
            </a:r>
            <a:endParaRPr sz="794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14382" y="3947854"/>
            <a:ext cx="324971" cy="157443"/>
          </a:xfrm>
          <a:custGeom>
            <a:avLst/>
            <a:gdLst/>
            <a:ahLst/>
            <a:cxnLst/>
            <a:rect l="l" t="t" r="r" b="b"/>
            <a:pathLst>
              <a:path w="368300" h="178435">
                <a:moveTo>
                  <a:pt x="0" y="0"/>
                </a:moveTo>
                <a:lnTo>
                  <a:pt x="368300" y="0"/>
                </a:lnTo>
                <a:lnTo>
                  <a:pt x="368300" y="177999"/>
                </a:lnTo>
                <a:lnTo>
                  <a:pt x="0" y="177999"/>
                </a:lnTo>
                <a:lnTo>
                  <a:pt x="0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3062657" y="3944606"/>
            <a:ext cx="253813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9" dirty="0">
                <a:solidFill>
                  <a:srgbClr val="0048AA"/>
                </a:solidFill>
                <a:latin typeface="Lucida Sans Unicode"/>
                <a:cs typeface="Lucida Sans Unicode"/>
              </a:rPr>
              <a:t>false</a:t>
            </a:r>
            <a:endParaRPr sz="794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06772" y="4946297"/>
            <a:ext cx="61072" cy="296956"/>
            <a:chOff x="2575274" y="5605803"/>
            <a:chExt cx="69215" cy="336550"/>
          </a:xfrm>
        </p:grpSpPr>
        <p:sp>
          <p:nvSpPr>
            <p:cNvPr id="18" name="object 18"/>
            <p:cNvSpPr/>
            <p:nvPr/>
          </p:nvSpPr>
          <p:spPr>
            <a:xfrm>
              <a:off x="2609850" y="5605803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427"/>
                  </a:moveTo>
                  <a:lnTo>
                    <a:pt x="0" y="283628"/>
                  </a:lnTo>
                  <a:lnTo>
                    <a:pt x="0" y="0"/>
                  </a:lnTo>
                </a:path>
              </a:pathLst>
            </a:custGeom>
            <a:ln w="12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274" y="5873056"/>
              <a:ext cx="69151" cy="6922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89351" y="5401744"/>
            <a:ext cx="2668121" cy="17826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059" dirty="0">
                <a:latin typeface="Lucida Sans Unicode"/>
                <a:cs typeface="Lucida Sans Unicode"/>
              </a:rPr>
              <a:t>Replaces</a:t>
            </a:r>
            <a:r>
              <a:rPr sz="1059" spc="97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x</a:t>
            </a:r>
            <a:r>
              <a:rPr sz="1059" spc="97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with</a:t>
            </a:r>
            <a:r>
              <a:rPr sz="1059" spc="97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the</a:t>
            </a:r>
            <a:r>
              <a:rPr sz="1059" spc="97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absolute</a:t>
            </a:r>
            <a:r>
              <a:rPr sz="1059" spc="101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value</a:t>
            </a:r>
            <a:r>
              <a:rPr sz="1059" spc="97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of</a:t>
            </a:r>
            <a:r>
              <a:rPr sz="1059" spc="97" dirty="0">
                <a:latin typeface="Lucida Sans Unicode"/>
                <a:cs typeface="Lucida Sans Unicode"/>
              </a:rPr>
              <a:t> </a:t>
            </a:r>
            <a:r>
              <a:rPr sz="1059" spc="-44" dirty="0">
                <a:latin typeface="Lucida Sans Unicode"/>
                <a:cs typeface="Lucida Sans Unicode"/>
              </a:rPr>
              <a:t>x</a:t>
            </a:r>
            <a:endParaRPr sz="1059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00955" y="3701895"/>
            <a:ext cx="2006413" cy="745751"/>
            <a:chOff x="5968682" y="4195480"/>
            <a:chExt cx="2273935" cy="845185"/>
          </a:xfrm>
        </p:grpSpPr>
        <p:sp>
          <p:nvSpPr>
            <p:cNvPr id="22" name="object 22"/>
            <p:cNvSpPr/>
            <p:nvPr/>
          </p:nvSpPr>
          <p:spPr>
            <a:xfrm>
              <a:off x="7653814" y="4562757"/>
              <a:ext cx="582295" cy="471170"/>
            </a:xfrm>
            <a:custGeom>
              <a:avLst/>
              <a:gdLst/>
              <a:ahLst/>
              <a:cxnLst/>
              <a:rect l="l" t="t" r="r" b="b"/>
              <a:pathLst>
                <a:path w="582295" h="471170">
                  <a:moveTo>
                    <a:pt x="0" y="0"/>
                  </a:moveTo>
                  <a:lnTo>
                    <a:pt x="582136" y="13234"/>
                  </a:lnTo>
                  <a:lnTo>
                    <a:pt x="569436" y="470904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975350" y="4561814"/>
              <a:ext cx="578485" cy="472440"/>
            </a:xfrm>
            <a:custGeom>
              <a:avLst/>
              <a:gdLst/>
              <a:ahLst/>
              <a:cxnLst/>
              <a:rect l="l" t="t" r="r" b="b"/>
              <a:pathLst>
                <a:path w="578484" h="472439">
                  <a:moveTo>
                    <a:pt x="578080" y="0"/>
                  </a:moveTo>
                  <a:lnTo>
                    <a:pt x="0" y="13234"/>
                  </a:lnTo>
                  <a:lnTo>
                    <a:pt x="0" y="471846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6543198" y="4200878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4" h="697864">
                  <a:moveTo>
                    <a:pt x="568405" y="0"/>
                  </a:moveTo>
                  <a:lnTo>
                    <a:pt x="0" y="348767"/>
                  </a:lnTo>
                  <a:lnTo>
                    <a:pt x="568405" y="697536"/>
                  </a:lnTo>
                  <a:lnTo>
                    <a:pt x="1136808" y="348767"/>
                  </a:lnTo>
                  <a:lnTo>
                    <a:pt x="5684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6543198" y="4200878"/>
              <a:ext cx="1137285" cy="697865"/>
            </a:xfrm>
            <a:custGeom>
              <a:avLst/>
              <a:gdLst/>
              <a:ahLst/>
              <a:cxnLst/>
              <a:rect l="l" t="t" r="r" b="b"/>
              <a:pathLst>
                <a:path w="1137284" h="697864">
                  <a:moveTo>
                    <a:pt x="568404" y="0"/>
                  </a:moveTo>
                  <a:lnTo>
                    <a:pt x="0" y="348767"/>
                  </a:lnTo>
                  <a:lnTo>
                    <a:pt x="568404" y="697535"/>
                  </a:lnTo>
                  <a:lnTo>
                    <a:pt x="1136808" y="348767"/>
                  </a:lnTo>
                  <a:lnTo>
                    <a:pt x="568404" y="0"/>
                  </a:lnTo>
                  <a:close/>
                </a:path>
              </a:pathLst>
            </a:custGeom>
            <a:ln w="10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31441" y="3016722"/>
            <a:ext cx="2767853" cy="4553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321" rIns="0" bIns="0" rtlCol="0">
            <a:spAutoFit/>
          </a:bodyPr>
          <a:lstStyle/>
          <a:p>
            <a:pPr marL="104220">
              <a:spcBef>
                <a:spcPts val="609"/>
              </a:spcBef>
              <a:tabLst>
                <a:tab pos="850572" algn="l"/>
              </a:tabLst>
            </a:pPr>
            <a:r>
              <a:rPr sz="1059" spc="-9" dirty="0">
                <a:solidFill>
                  <a:srgbClr val="005493"/>
                </a:solidFill>
                <a:latin typeface="Lucida Sans Unicode"/>
                <a:cs typeface="Lucida Sans Unicode"/>
              </a:rPr>
              <a:t>Example:</a:t>
            </a:r>
            <a:r>
              <a:rPr sz="1059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1059" dirty="0">
                <a:latin typeface="Lucida Console"/>
                <a:cs typeface="Lucida Console"/>
              </a:rPr>
              <a:t>if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(x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&gt;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y)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max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x;</a:t>
            </a:r>
            <a:endParaRPr sz="1059">
              <a:latin typeface="Lucida Console"/>
              <a:cs typeface="Lucida Console"/>
            </a:endParaRPr>
          </a:p>
          <a:p>
            <a:pPr marL="855614">
              <a:spcBef>
                <a:spcPts val="405"/>
              </a:spcBef>
              <a:tabLst>
                <a:tab pos="1940962" algn="l"/>
              </a:tabLst>
            </a:pPr>
            <a:r>
              <a:rPr sz="1059" spc="-18" dirty="0">
                <a:latin typeface="Lucida Console"/>
                <a:cs typeface="Lucida Console"/>
              </a:rPr>
              <a:t>else</a:t>
            </a:r>
            <a:r>
              <a:rPr sz="1059" dirty="0">
                <a:latin typeface="Lucida Console"/>
                <a:cs typeface="Lucida Console"/>
              </a:rPr>
              <a:t>	max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y;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06837" y="4688272"/>
            <a:ext cx="2005853" cy="268941"/>
          </a:xfrm>
          <a:custGeom>
            <a:avLst/>
            <a:gdLst/>
            <a:ahLst/>
            <a:cxnLst/>
            <a:rect l="l" t="t" r="r" b="b"/>
            <a:pathLst>
              <a:path w="2273300" h="304800">
                <a:moveTo>
                  <a:pt x="2273300" y="0"/>
                </a:moveTo>
                <a:lnTo>
                  <a:pt x="2273300" y="284213"/>
                </a:lnTo>
                <a:lnTo>
                  <a:pt x="0" y="304699"/>
                </a:lnTo>
                <a:lnTo>
                  <a:pt x="0" y="0"/>
                </a:lnTo>
              </a:path>
            </a:pathLst>
          </a:custGeom>
          <a:ln w="12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6164925" y="3904037"/>
            <a:ext cx="606799" cy="17826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059" dirty="0">
                <a:latin typeface="Lucida Console"/>
                <a:cs typeface="Lucida Console"/>
              </a:rPr>
              <a:t>x</a:t>
            </a:r>
            <a:r>
              <a:rPr sz="1059" spc="26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&gt;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y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spc="-44" dirty="0">
                <a:latin typeface="Lucida Console"/>
                <a:cs typeface="Lucida Console"/>
              </a:rPr>
              <a:t>?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81015" y="4435855"/>
            <a:ext cx="818029" cy="192413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29135" rIns="0" bIns="0" rtlCol="0">
            <a:spAutoFit/>
          </a:bodyPr>
          <a:lstStyle/>
          <a:p>
            <a:pPr marL="89092">
              <a:spcBef>
                <a:spcPts val="229"/>
              </a:spcBef>
            </a:pP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max</a:t>
            </a:r>
            <a:r>
              <a:rPr sz="1059" spc="40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=</a:t>
            </a:r>
            <a:r>
              <a:rPr sz="1059" spc="44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1059" spc="-31" dirty="0">
                <a:solidFill>
                  <a:srgbClr val="010000"/>
                </a:solidFill>
                <a:latin typeface="Lucida Console"/>
                <a:cs typeface="Lucida Console"/>
              </a:rPr>
              <a:t>x;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24500" y="3936636"/>
            <a:ext cx="302559" cy="168649"/>
          </a:xfrm>
          <a:custGeom>
            <a:avLst/>
            <a:gdLst/>
            <a:ahLst/>
            <a:cxnLst/>
            <a:rect l="l" t="t" r="r" b="b"/>
            <a:pathLst>
              <a:path w="342900" h="191135">
                <a:moveTo>
                  <a:pt x="0" y="0"/>
                </a:moveTo>
                <a:lnTo>
                  <a:pt x="342900" y="0"/>
                </a:lnTo>
                <a:lnTo>
                  <a:pt x="342900" y="190713"/>
                </a:lnTo>
                <a:lnTo>
                  <a:pt x="0" y="190713"/>
                </a:lnTo>
                <a:lnTo>
                  <a:pt x="0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 txBox="1"/>
          <p:nvPr/>
        </p:nvSpPr>
        <p:spPr>
          <a:xfrm>
            <a:off x="5577257" y="3935351"/>
            <a:ext cx="221876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18" dirty="0">
                <a:solidFill>
                  <a:srgbClr val="0048AA"/>
                </a:solidFill>
                <a:latin typeface="Lucida Sans Unicode"/>
                <a:cs typeface="Lucida Sans Unicode"/>
              </a:rPr>
              <a:t>true</a:t>
            </a:r>
            <a:endParaRPr sz="794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981265" y="3947854"/>
            <a:ext cx="336176" cy="157443"/>
          </a:xfrm>
          <a:custGeom>
            <a:avLst/>
            <a:gdLst/>
            <a:ahLst/>
            <a:cxnLst/>
            <a:rect l="l" t="t" r="r" b="b"/>
            <a:pathLst>
              <a:path w="381000" h="178435">
                <a:moveTo>
                  <a:pt x="0" y="0"/>
                </a:moveTo>
                <a:lnTo>
                  <a:pt x="381000" y="0"/>
                </a:lnTo>
                <a:lnTo>
                  <a:pt x="381000" y="177999"/>
                </a:lnTo>
                <a:lnTo>
                  <a:pt x="0" y="177999"/>
                </a:lnTo>
                <a:lnTo>
                  <a:pt x="0" y="0"/>
                </a:lnTo>
                <a:close/>
              </a:path>
            </a:pathLst>
          </a:custGeom>
          <a:solidFill>
            <a:srgbClr val="F3F6F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 txBox="1"/>
          <p:nvPr/>
        </p:nvSpPr>
        <p:spPr>
          <a:xfrm>
            <a:off x="7037944" y="3944606"/>
            <a:ext cx="253813" cy="13409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794" spc="-9" dirty="0">
                <a:solidFill>
                  <a:srgbClr val="0048AA"/>
                </a:solidFill>
                <a:latin typeface="Lucida Sans Unicode"/>
                <a:cs typeface="Lucida Sans Unicode"/>
              </a:rPr>
              <a:t>false</a:t>
            </a:r>
            <a:endParaRPr sz="794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84860" y="4946297"/>
            <a:ext cx="61072" cy="296956"/>
            <a:chOff x="7083774" y="5605803"/>
            <a:chExt cx="69215" cy="336550"/>
          </a:xfrm>
        </p:grpSpPr>
        <p:sp>
          <p:nvSpPr>
            <p:cNvPr id="35" name="object 35"/>
            <p:cNvSpPr/>
            <p:nvPr/>
          </p:nvSpPr>
          <p:spPr>
            <a:xfrm>
              <a:off x="7118350" y="5605803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427"/>
                  </a:moveTo>
                  <a:lnTo>
                    <a:pt x="0" y="283628"/>
                  </a:lnTo>
                  <a:lnTo>
                    <a:pt x="0" y="0"/>
                  </a:lnTo>
                </a:path>
              </a:pathLst>
            </a:custGeom>
            <a:ln w="12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3774" y="5873056"/>
              <a:ext cx="69151" cy="6922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203311" y="5401744"/>
            <a:ext cx="2410385" cy="17826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059" dirty="0">
                <a:latin typeface="Lucida Sans Unicode"/>
                <a:cs typeface="Lucida Sans Unicode"/>
              </a:rPr>
              <a:t>Computes</a:t>
            </a:r>
            <a:r>
              <a:rPr sz="1059" spc="75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the</a:t>
            </a:r>
            <a:r>
              <a:rPr sz="1059" spc="79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maximum</a:t>
            </a:r>
            <a:r>
              <a:rPr sz="1059" spc="75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of</a:t>
            </a:r>
            <a:r>
              <a:rPr sz="1059" spc="79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x</a:t>
            </a:r>
            <a:r>
              <a:rPr sz="1059" spc="75" dirty="0">
                <a:latin typeface="Lucida Sans Unicode"/>
                <a:cs typeface="Lucida Sans Unicode"/>
              </a:rPr>
              <a:t> </a:t>
            </a:r>
            <a:r>
              <a:rPr sz="1059" dirty="0">
                <a:latin typeface="Lucida Sans Unicode"/>
                <a:cs typeface="Lucida Sans Unicode"/>
              </a:rPr>
              <a:t>and</a:t>
            </a:r>
            <a:r>
              <a:rPr sz="1059" spc="79" dirty="0">
                <a:latin typeface="Lucida Sans Unicode"/>
                <a:cs typeface="Lucida Sans Unicode"/>
              </a:rPr>
              <a:t> </a:t>
            </a:r>
            <a:r>
              <a:rPr sz="1059" spc="22" dirty="0">
                <a:latin typeface="Lucida Sans Unicode"/>
                <a:cs typeface="Lucida Sans Unicode"/>
              </a:rPr>
              <a:t>y</a:t>
            </a:r>
            <a:endParaRPr sz="1059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10</a:t>
            </a:fld>
            <a:endParaRPr spc="-22" dirty="0"/>
          </a:p>
        </p:txBody>
      </p:sp>
      <p:sp>
        <p:nvSpPr>
          <p:cNvPr id="38" name="object 38"/>
          <p:cNvSpPr txBox="1"/>
          <p:nvPr/>
        </p:nvSpPr>
        <p:spPr>
          <a:xfrm>
            <a:off x="7020485" y="4435855"/>
            <a:ext cx="806824" cy="192413"/>
          </a:xfrm>
          <a:prstGeom prst="rect">
            <a:avLst/>
          </a:prstGeom>
          <a:solidFill>
            <a:srgbClr val="FFFFFF"/>
          </a:solidFill>
          <a:ln w="5244">
            <a:solidFill>
              <a:srgbClr val="000000"/>
            </a:solidFill>
          </a:ln>
        </p:spPr>
        <p:txBody>
          <a:bodyPr vert="horz" wrap="square" lIns="0" tIns="29135" rIns="0" bIns="0" rtlCol="0">
            <a:spAutoFit/>
          </a:bodyPr>
          <a:lstStyle/>
          <a:p>
            <a:pPr marL="84049">
              <a:spcBef>
                <a:spcPts val="229"/>
              </a:spcBef>
            </a:pP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max</a:t>
            </a:r>
            <a:r>
              <a:rPr sz="1059" spc="40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010000"/>
                </a:solidFill>
                <a:latin typeface="Lucida Console"/>
                <a:cs typeface="Lucida Console"/>
              </a:rPr>
              <a:t>=</a:t>
            </a:r>
            <a:r>
              <a:rPr sz="1059" spc="44" dirty="0">
                <a:solidFill>
                  <a:srgbClr val="010000"/>
                </a:solidFill>
                <a:latin typeface="Lucida Console"/>
                <a:cs typeface="Lucida Console"/>
              </a:rPr>
              <a:t> </a:t>
            </a:r>
            <a:r>
              <a:rPr sz="1059" spc="-31" dirty="0">
                <a:solidFill>
                  <a:srgbClr val="010000"/>
                </a:solidFill>
                <a:latin typeface="Lucida Console"/>
                <a:cs typeface="Lucida Console"/>
              </a:rPr>
              <a:t>y;</a:t>
            </a:r>
            <a:endParaRPr sz="1059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3658217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4">
            <a:extLst>
              <a:ext uri="{FF2B5EF4-FFF2-40B4-BE49-F238E27FC236}">
                <a16:creationId xmlns:a16="http://schemas.microsoft.com/office/drawing/2014/main" id="{557E7F51-7082-67EE-77B1-C9040EB029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5F6EF-46DA-46EF-8BB3-52BFE93C8A1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73772EB8-9DBE-6A6E-E669-462132E64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863" y="296863"/>
            <a:ext cx="8334375" cy="417512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Issues in sequential structures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86A9E0FD-CBD0-97B8-8440-37B1844DA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24000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388BD1B5-8029-0C52-758E-7E92214B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733425"/>
            <a:ext cx="87630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8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import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java.util.Scanner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; // 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Scanner is in the </a:t>
            </a:r>
            <a:r>
              <a:rPr kumimoji="0" lang="en-US" alt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java.util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package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SansTypewriterSt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SansTypewriterSt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8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public class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ComputeAreaWithConsoleInput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8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public static void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main(String[]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args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// Create a Scanner object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Scanner input =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8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new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Scanner(System.in);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SansTypewriterSt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// Prompt the user to enter a radius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System.out.print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(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AFF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"Enter a number for radius: "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8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double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radius =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input.nextDouble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(); //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method in Scanner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SansTypewriterSt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// Compute area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B8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double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area = radius * radius * 3.14159;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SansTypewriterSt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// Display results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 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System.out.println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(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AFF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"The area for the circle of radius "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+  radius +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AFF0"/>
                </a:solidFill>
                <a:effectLst/>
                <a:uLnTx/>
                <a:uFillTx/>
                <a:latin typeface="LucidaSansTypewriterStd-Bd"/>
                <a:ea typeface="+mn-ea"/>
                <a:cs typeface="+mn-cs"/>
              </a:rPr>
              <a:t>" is "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+ area);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SansTypewriterStd"/>
                <a:ea typeface="+mn-ea"/>
                <a:cs typeface="+mn-cs"/>
              </a:rPr>
              <a:t>}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995488" y="20716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59140" y="1604665"/>
            <a:ext cx="4817660" cy="12147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160" tIns="46080" rIns="92160" bIns="46080"/>
          <a:lstStyle>
            <a:lvl1pPr indent="-3413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marL="342900" eaLnBrk="1" hangingPunct="1">
              <a:lnSpc>
                <a:spcPct val="90000"/>
              </a:lnSpc>
              <a:spcBef>
                <a:spcPts val="600"/>
              </a:spcBef>
              <a:buSzPct val="75000"/>
            </a:pPr>
            <a:r>
              <a:rPr lang="en-US" altLang="en-US" sz="2400" dirty="0">
                <a:latin typeface="Courier" pitchFamily="49" charset="0"/>
              </a:rPr>
              <a:t>if (</a:t>
            </a:r>
            <a:r>
              <a:rPr lang="en-US" altLang="en-US" sz="2400" dirty="0" err="1">
                <a:latin typeface="Courier" pitchFamily="49" charset="0"/>
              </a:rPr>
              <a:t>boolean</a:t>
            </a:r>
            <a:r>
              <a:rPr lang="en-US" altLang="en-US" sz="2400" dirty="0">
                <a:latin typeface="Courier" pitchFamily="49" charset="0"/>
              </a:rPr>
              <a:t>-expression) { </a:t>
            </a:r>
          </a:p>
          <a:p>
            <a:pPr marL="342900" eaLnBrk="1" hangingPunct="1">
              <a:lnSpc>
                <a:spcPct val="90000"/>
              </a:lnSpc>
              <a:buSzPct val="75000"/>
            </a:pPr>
            <a:r>
              <a:rPr lang="en-US" altLang="en-US" sz="2400" dirty="0">
                <a:latin typeface="Courier" pitchFamily="49" charset="0"/>
              </a:rPr>
              <a:t>  statement(s);</a:t>
            </a:r>
          </a:p>
          <a:p>
            <a:pPr marL="342900" eaLnBrk="1" hangingPunct="1">
              <a:lnSpc>
                <a:spcPct val="90000"/>
              </a:lnSpc>
              <a:buSzPct val="75000"/>
            </a:pPr>
            <a:r>
              <a:rPr lang="en-US" altLang="en-US" sz="2400" dirty="0">
                <a:latin typeface="Courier" pitchFamily="49" charset="0"/>
              </a:rPr>
              <a:t>}</a:t>
            </a:r>
          </a:p>
        </p:txBody>
      </p:sp>
      <p:pic>
        <p:nvPicPr>
          <p:cNvPr id="1639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3098800"/>
            <a:ext cx="2460625" cy="341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1" name="Line 6"/>
          <p:cNvSpPr>
            <a:spLocks noChangeShapeType="1"/>
          </p:cNvSpPr>
          <p:nvPr/>
        </p:nvSpPr>
        <p:spPr bwMode="auto">
          <a:xfrm>
            <a:off x="1038225" y="2590800"/>
            <a:ext cx="654050" cy="1066800"/>
          </a:xfrm>
          <a:prstGeom prst="line">
            <a:avLst/>
          </a:prstGeom>
          <a:noFill/>
          <a:ln w="12600" cap="sq">
            <a:solidFill>
              <a:srgbClr val="FF0000"/>
            </a:solidFill>
            <a:miter lim="800000"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639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450" y="3155950"/>
            <a:ext cx="5003800" cy="315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3" name="Line 8"/>
          <p:cNvSpPr>
            <a:spLocks noChangeShapeType="1"/>
          </p:cNvSpPr>
          <p:nvPr/>
        </p:nvSpPr>
        <p:spPr bwMode="auto">
          <a:xfrm flipH="1">
            <a:off x="6567487" y="2819400"/>
            <a:ext cx="214311" cy="1092200"/>
          </a:xfrm>
          <a:prstGeom prst="line">
            <a:avLst/>
          </a:prstGeom>
          <a:noFill/>
          <a:ln w="12600" cap="sq">
            <a:solidFill>
              <a:srgbClr val="FF0000"/>
            </a:solidFill>
            <a:miter lim="800000"/>
            <a:headEnd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5582550" y="1006475"/>
            <a:ext cx="325954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/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Times New Roman" pitchFamily="16" charset="0"/>
              </a:rPr>
              <a:t>if (radius &gt;= 0) </a:t>
            </a: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{</a:t>
            </a:r>
          </a:p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  area = radius * radius * PI;</a:t>
            </a:r>
          </a:p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  </a:t>
            </a:r>
            <a:r>
              <a:rPr lang="en-US" altLang="en-US" dirty="0" err="1">
                <a:solidFill>
                  <a:srgbClr val="000000"/>
                </a:solidFill>
                <a:cs typeface="Times New Roman" pitchFamily="16" charset="0"/>
              </a:rPr>
              <a:t>System.out.println</a:t>
            </a: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("The area"     </a:t>
            </a:r>
          </a:p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    + " for the circle of radius " </a:t>
            </a:r>
          </a:p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    + radius + " is " + area);</a:t>
            </a:r>
          </a:p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cs typeface="Times New Roman" pitchFamily="16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101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One-way </a:t>
            </a:r>
            <a:r>
              <a:rPr lang="en-US" altLang="en-US" sz="4200" dirty="0">
                <a:latin typeface="Courier New" pitchFamily="49" charset="0"/>
              </a:rPr>
              <a:t>if</a:t>
            </a:r>
            <a:r>
              <a:rPr lang="en-US" altLang="en-US" dirty="0"/>
              <a:t> Statements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3079" y="1143000"/>
            <a:ext cx="1029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u="sng" dirty="0"/>
              <a:t>Syntax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1295969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 dirty="0">
                <a:latin typeface="+mj-lt"/>
              </a:rPr>
              <a:t>Note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995488" y="20716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2138363" y="28765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0" y="31130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184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468061"/>
              </p:ext>
            </p:extLst>
          </p:nvPr>
        </p:nvGraphicFramePr>
        <p:xfrm>
          <a:off x="269875" y="2097443"/>
          <a:ext cx="86042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90906" imgH="658195" progId="">
                  <p:embed/>
                </p:oleObj>
              </mc:Choice>
              <mc:Fallback>
                <p:oleObj r:id="rId3" imgW="5090906" imgH="658195" progId="">
                  <p:embed/>
                  <p:pic>
                    <p:nvPicPr>
                      <p:cNvPr id="1843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" y="2097443"/>
                        <a:ext cx="860425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0" y="30972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1844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814274"/>
              </p:ext>
            </p:extLst>
          </p:nvPr>
        </p:nvGraphicFramePr>
        <p:xfrm>
          <a:off x="231775" y="4800600"/>
          <a:ext cx="86804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645567" imgH="681938" progId="">
                  <p:embed/>
                </p:oleObj>
              </mc:Choice>
              <mc:Fallback>
                <p:oleObj r:id="rId5" imgW="5645567" imgH="681938" progId="">
                  <p:embed/>
                  <p:pic>
                    <p:nvPicPr>
                      <p:cNvPr id="1844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4800600"/>
                        <a:ext cx="86804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381000" y="1313765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-expression is enclosed in parentheses. For example, the code in (a) is </a:t>
            </a:r>
          </a:p>
          <a:p>
            <a:r>
              <a:rPr lang="en-US" dirty="0"/>
              <a:t>wrong. It should be corrected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256" y="3581400"/>
            <a:ext cx="83467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block braces can be omitted if they enclose a single statement. For example, the following statements are equivalent.</a:t>
            </a:r>
          </a:p>
        </p:txBody>
      </p:sp>
    </p:spTree>
    <p:extLst>
      <p:ext uri="{BB962C8B-B14F-4D97-AF65-F5344CB8AC3E}">
        <p14:creationId xmlns:p14="http://schemas.microsoft.com/office/powerpoint/2010/main" val="42887096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117" y="1395654"/>
            <a:ext cx="7944971" cy="0"/>
          </a:xfrm>
          <a:custGeom>
            <a:avLst/>
            <a:gdLst/>
            <a:ahLst/>
            <a:cxnLst/>
            <a:rect l="l" t="t" r="r" b="b"/>
            <a:pathLst>
              <a:path w="9004300">
                <a:moveTo>
                  <a:pt x="0" y="0"/>
                </a:moveTo>
                <a:lnTo>
                  <a:pt x="900430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882" y="61847"/>
            <a:ext cx="7261412" cy="1369493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Example</a:t>
            </a:r>
            <a:r>
              <a:rPr spc="62" dirty="0"/>
              <a:t> </a:t>
            </a:r>
            <a:r>
              <a:rPr spc="53" dirty="0"/>
              <a:t>of</a:t>
            </a:r>
            <a:r>
              <a:rPr spc="62" dirty="0"/>
              <a:t> </a:t>
            </a:r>
            <a:r>
              <a:rPr dirty="0"/>
              <a:t>if</a:t>
            </a:r>
            <a:r>
              <a:rPr spc="66" dirty="0"/>
              <a:t> </a:t>
            </a:r>
            <a:r>
              <a:rPr dirty="0"/>
              <a:t>statement</a:t>
            </a:r>
            <a:r>
              <a:rPr spc="62" dirty="0"/>
              <a:t> </a:t>
            </a:r>
            <a:r>
              <a:rPr dirty="0"/>
              <a:t>use:</a:t>
            </a:r>
            <a:r>
              <a:rPr spc="62" dirty="0"/>
              <a:t> </a:t>
            </a:r>
            <a:r>
              <a:rPr dirty="0"/>
              <a:t>simulate</a:t>
            </a:r>
            <a:r>
              <a:rPr spc="66" dirty="0"/>
              <a:t> </a:t>
            </a:r>
            <a:r>
              <a:rPr spc="75" dirty="0"/>
              <a:t>a</a:t>
            </a:r>
            <a:r>
              <a:rPr spc="62" dirty="0"/>
              <a:t> </a:t>
            </a:r>
            <a:r>
              <a:rPr dirty="0"/>
              <a:t>coin</a:t>
            </a:r>
            <a:r>
              <a:rPr spc="62" dirty="0"/>
              <a:t> </a:t>
            </a:r>
            <a:r>
              <a:rPr spc="26" dirty="0"/>
              <a:t>flip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98" y="1818555"/>
            <a:ext cx="4090847" cy="24294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7177" y="1861220"/>
            <a:ext cx="3978088" cy="21248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9513" rIns="0" bIns="0" rtlCol="0">
            <a:spAutoFit/>
          </a:bodyPr>
          <a:lstStyle/>
          <a:p>
            <a:pPr marL="177062">
              <a:spcBef>
                <a:spcPts val="1099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class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spc="-18" dirty="0">
                <a:latin typeface="Lucida Console"/>
                <a:cs typeface="Lucida Console"/>
              </a:rPr>
              <a:t>Flip</a:t>
            </a:r>
            <a:endParaRPr sz="1059">
              <a:latin typeface="Lucida Console"/>
              <a:cs typeface="Lucida Console"/>
            </a:endParaRPr>
          </a:p>
          <a:p>
            <a:pPr marL="177062">
              <a:spcBef>
                <a:spcPts val="335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427527">
              <a:spcBef>
                <a:spcPts val="331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static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void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main(String[]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args)</a:t>
            </a:r>
            <a:endParaRPr sz="1059">
              <a:latin typeface="Lucida Console"/>
              <a:cs typeface="Lucida Console"/>
            </a:endParaRPr>
          </a:p>
          <a:p>
            <a:pPr marL="427527">
              <a:spcBef>
                <a:spcPts val="331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1095433" marR="537911" indent="-417441">
              <a:lnSpc>
                <a:spcPct val="126200"/>
              </a:lnSpc>
            </a:pPr>
            <a:r>
              <a:rPr sz="1059" dirty="0">
                <a:latin typeface="Lucida Console"/>
                <a:cs typeface="Lucida Console"/>
              </a:rPr>
              <a:t>if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(Math.random()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&lt;</a:t>
            </a:r>
            <a:r>
              <a:rPr sz="1059" spc="93" dirty="0">
                <a:latin typeface="Lucida Console"/>
                <a:cs typeface="Lucida Console"/>
              </a:rPr>
              <a:t> </a:t>
            </a:r>
            <a:r>
              <a:rPr sz="1059" spc="-18" dirty="0">
                <a:latin typeface="Lucida Console"/>
                <a:cs typeface="Lucida Console"/>
              </a:rPr>
              <a:t>0.5) </a:t>
            </a:r>
            <a:r>
              <a:rPr sz="1059" spc="-9" dirty="0">
                <a:latin typeface="Lucida Console"/>
                <a:cs typeface="Lucida Console"/>
              </a:rPr>
              <a:t>System.out.println("Heads");</a:t>
            </a:r>
            <a:endParaRPr sz="1059">
              <a:latin typeface="Lucida Console"/>
              <a:cs typeface="Lucida Console"/>
            </a:endParaRPr>
          </a:p>
          <a:p>
            <a:pPr marL="677992">
              <a:spcBef>
                <a:spcPts val="335"/>
              </a:spcBef>
            </a:pPr>
            <a:r>
              <a:rPr sz="1059" spc="-18" dirty="0">
                <a:latin typeface="Lucida Console"/>
                <a:cs typeface="Lucida Console"/>
              </a:rPr>
              <a:t>else</a:t>
            </a:r>
            <a:endParaRPr sz="1059">
              <a:latin typeface="Lucida Console"/>
              <a:cs typeface="Lucida Console"/>
            </a:endParaRPr>
          </a:p>
          <a:p>
            <a:pPr marL="1095433">
              <a:spcBef>
                <a:spcPts val="331"/>
              </a:spcBef>
            </a:pPr>
            <a:r>
              <a:rPr sz="1059" spc="-9" dirty="0">
                <a:latin typeface="Lucida Console"/>
                <a:cs typeface="Lucida Console"/>
              </a:rPr>
              <a:t>System.out.println("Tails");</a:t>
            </a:r>
            <a:endParaRPr sz="1059">
              <a:latin typeface="Lucida Console"/>
              <a:cs typeface="Lucida Console"/>
            </a:endParaRPr>
          </a:p>
          <a:p>
            <a:pPr marL="427527">
              <a:spcBef>
                <a:spcPts val="335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  <a:p>
            <a:pPr marL="177062">
              <a:spcBef>
                <a:spcPts val="331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6691" y="3328316"/>
            <a:ext cx="1432952" cy="21934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19382" y="3353275"/>
            <a:ext cx="1344706" cy="202061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187" rIns="0" bIns="0" rtlCol="0">
            <a:spAutoFit/>
          </a:bodyPr>
          <a:lstStyle/>
          <a:p>
            <a:pPr marL="177062" marR="333953">
              <a:lnSpc>
                <a:spcPct val="111800"/>
              </a:lnSpc>
              <a:spcBef>
                <a:spcPts val="1002"/>
              </a:spcBef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Flip </a:t>
            </a:r>
            <a:r>
              <a:rPr sz="971" spc="-9" dirty="0">
                <a:latin typeface="Lucida Console"/>
                <a:cs typeface="Lucida Console"/>
              </a:rPr>
              <a:t>Heads</a:t>
            </a:r>
            <a:endParaRPr sz="971">
              <a:latin typeface="Lucida Console"/>
              <a:cs typeface="Lucida Console"/>
            </a:endParaRPr>
          </a:p>
          <a:p>
            <a:pPr>
              <a:spcBef>
                <a:spcPts val="331"/>
              </a:spcBef>
            </a:pPr>
            <a:endParaRPr sz="971">
              <a:latin typeface="Lucida Console"/>
              <a:cs typeface="Lucida Console"/>
            </a:endParaRPr>
          </a:p>
          <a:p>
            <a:pPr marL="177062" marR="333953">
              <a:lnSpc>
                <a:spcPct val="111800"/>
              </a:lnSpc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Flip </a:t>
            </a:r>
            <a:r>
              <a:rPr sz="971" spc="-9" dirty="0">
                <a:latin typeface="Lucida Console"/>
                <a:cs typeface="Lucida Console"/>
              </a:rPr>
              <a:t>Heads</a:t>
            </a:r>
            <a:endParaRPr sz="971">
              <a:latin typeface="Lucida Console"/>
              <a:cs typeface="Lucida Console"/>
            </a:endParaRPr>
          </a:p>
          <a:p>
            <a:pPr>
              <a:spcBef>
                <a:spcPts val="331"/>
              </a:spcBef>
            </a:pPr>
            <a:endParaRPr sz="971">
              <a:latin typeface="Lucida Console"/>
              <a:cs typeface="Lucida Console"/>
            </a:endParaRPr>
          </a:p>
          <a:p>
            <a:pPr marL="177062" marR="333953">
              <a:lnSpc>
                <a:spcPct val="111800"/>
              </a:lnSpc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Flip </a:t>
            </a:r>
            <a:r>
              <a:rPr sz="971" spc="-9" dirty="0">
                <a:latin typeface="Lucida Console"/>
                <a:cs typeface="Lucida Console"/>
              </a:rPr>
              <a:t>Tails</a:t>
            </a:r>
            <a:endParaRPr sz="971">
              <a:latin typeface="Lucida Console"/>
              <a:cs typeface="Lucida Console"/>
            </a:endParaRPr>
          </a:p>
          <a:p>
            <a:pPr>
              <a:spcBef>
                <a:spcPts val="331"/>
              </a:spcBef>
            </a:pPr>
            <a:endParaRPr sz="971">
              <a:latin typeface="Lucida Console"/>
              <a:cs typeface="Lucida Console"/>
            </a:endParaRPr>
          </a:p>
          <a:p>
            <a:pPr marL="177062" marR="333953">
              <a:lnSpc>
                <a:spcPct val="111800"/>
              </a:lnSpc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18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Flip </a:t>
            </a:r>
            <a:r>
              <a:rPr sz="971" spc="-9" dirty="0">
                <a:latin typeface="Lucida Console"/>
                <a:cs typeface="Lucida Console"/>
              </a:rPr>
              <a:t>Heads</a:t>
            </a:r>
            <a:endParaRPr sz="971">
              <a:latin typeface="Lucida Console"/>
              <a:cs typeface="Lucida Console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551" y="1545561"/>
            <a:ext cx="1973776" cy="293853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14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180317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117" y="1395654"/>
            <a:ext cx="7944971" cy="0"/>
          </a:xfrm>
          <a:custGeom>
            <a:avLst/>
            <a:gdLst/>
            <a:ahLst/>
            <a:cxnLst/>
            <a:rect l="l" t="t" r="r" b="b"/>
            <a:pathLst>
              <a:path w="9004300">
                <a:moveTo>
                  <a:pt x="0" y="0"/>
                </a:moveTo>
                <a:lnTo>
                  <a:pt x="900430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" name="object 3"/>
          <p:cNvGrpSpPr/>
          <p:nvPr/>
        </p:nvGrpSpPr>
        <p:grpSpPr>
          <a:xfrm>
            <a:off x="850527" y="2091585"/>
            <a:ext cx="4091268" cy="3096185"/>
            <a:chOff x="811531" y="2370463"/>
            <a:chExt cx="4636770" cy="350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531" y="2370463"/>
              <a:ext cx="4636293" cy="350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3599" y="2414525"/>
              <a:ext cx="4495800" cy="3369310"/>
            </a:xfrm>
            <a:custGeom>
              <a:avLst/>
              <a:gdLst/>
              <a:ahLst/>
              <a:cxnLst/>
              <a:rect l="l" t="t" r="r" b="b"/>
              <a:pathLst>
                <a:path w="4495800" h="3369310">
                  <a:moveTo>
                    <a:pt x="0" y="0"/>
                  </a:moveTo>
                  <a:lnTo>
                    <a:pt x="4495800" y="0"/>
                  </a:lnTo>
                  <a:lnTo>
                    <a:pt x="4495800" y="3369276"/>
                  </a:lnTo>
                  <a:lnTo>
                    <a:pt x="0" y="3369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1051242" y="3743284"/>
              <a:ext cx="4112895" cy="1094105"/>
            </a:xfrm>
            <a:custGeom>
              <a:avLst/>
              <a:gdLst/>
              <a:ahLst/>
              <a:cxnLst/>
              <a:rect l="l" t="t" r="r" b="b"/>
              <a:pathLst>
                <a:path w="4112895" h="1094104">
                  <a:moveTo>
                    <a:pt x="4112418" y="0"/>
                  </a:moveTo>
                  <a:lnTo>
                    <a:pt x="0" y="0"/>
                  </a:lnTo>
                  <a:lnTo>
                    <a:pt x="0" y="1093557"/>
                  </a:lnTo>
                  <a:lnTo>
                    <a:pt x="4112418" y="1093557"/>
                  </a:lnTo>
                  <a:lnTo>
                    <a:pt x="4112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66621" y="3258003"/>
            <a:ext cx="1096496" cy="99323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059" dirty="0">
                <a:latin typeface="Lucida Console"/>
                <a:cs typeface="Lucida Console"/>
              </a:rPr>
              <a:t>if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(b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&lt;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a)</a:t>
            </a:r>
            <a:endParaRPr sz="1059">
              <a:latin typeface="Lucida Console"/>
              <a:cs typeface="Lucida Console"/>
            </a:endParaRPr>
          </a:p>
          <a:p>
            <a:pPr>
              <a:spcBef>
                <a:spcPts val="44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249905">
              <a:spcBef>
                <a:spcPts val="40"/>
              </a:spcBef>
            </a:pP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t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a;</a:t>
            </a:r>
            <a:endParaRPr sz="1059">
              <a:latin typeface="Lucida Console"/>
              <a:cs typeface="Lucida Console"/>
            </a:endParaRPr>
          </a:p>
          <a:p>
            <a:pPr marL="249905">
              <a:spcBef>
                <a:spcPts val="40"/>
              </a:spcBef>
            </a:pP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26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b;</a:t>
            </a:r>
            <a:endParaRPr sz="1059">
              <a:latin typeface="Lucida Console"/>
              <a:cs typeface="Lucida Console"/>
            </a:endParaRPr>
          </a:p>
          <a:p>
            <a:pPr marL="249905">
              <a:spcBef>
                <a:spcPts val="44"/>
              </a:spcBef>
            </a:pP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26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t;</a:t>
            </a:r>
            <a:endParaRPr sz="1059">
              <a:latin typeface="Lucida Console"/>
              <a:cs typeface="Lucida Console"/>
            </a:endParaRPr>
          </a:p>
          <a:p>
            <a:pPr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471" y="2130464"/>
            <a:ext cx="3966882" cy="2999335"/>
          </a:xfrm>
          <a:prstGeom prst="rect">
            <a:avLst/>
          </a:prstGeom>
        </p:spPr>
        <p:txBody>
          <a:bodyPr vert="horz" wrap="square" lIns="0" tIns="143435" rIns="0" bIns="0" rtlCol="0">
            <a:spAutoFit/>
          </a:bodyPr>
          <a:lstStyle/>
          <a:p>
            <a:pPr marL="169218">
              <a:spcBef>
                <a:spcPts val="1129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class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TwoSort</a:t>
            </a:r>
            <a:endParaRPr sz="1059" dirty="0">
              <a:latin typeface="Lucida Console"/>
              <a:cs typeface="Lucida Console"/>
            </a:endParaRPr>
          </a:p>
          <a:p>
            <a:pPr marL="169218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 dirty="0">
              <a:latin typeface="Lucida Console"/>
              <a:cs typeface="Lucida Console"/>
            </a:endParaRPr>
          </a:p>
          <a:p>
            <a:pPr marL="419683">
              <a:spcBef>
                <a:spcPts val="44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static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void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main(String[]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args)</a:t>
            </a:r>
            <a:endParaRPr sz="1059" dirty="0">
              <a:latin typeface="Lucida Console"/>
              <a:cs typeface="Lucida Console"/>
            </a:endParaRPr>
          </a:p>
          <a:p>
            <a:pPr marL="419683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 dirty="0">
              <a:latin typeface="Lucida Console"/>
              <a:cs typeface="Lucida Console"/>
            </a:endParaRPr>
          </a:p>
          <a:p>
            <a:pPr marL="670148" marR="451620">
              <a:lnSpc>
                <a:spcPct val="103200"/>
              </a:lnSpc>
            </a:pP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Integer.parseInt(args[0]);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Integer.parseInt(args[1]);</a:t>
            </a:r>
            <a:endParaRPr sz="1059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 dirty="0">
              <a:latin typeface="Lucida Console"/>
              <a:cs typeface="Lucida Console"/>
            </a:endParaRPr>
          </a:p>
          <a:p>
            <a:pPr>
              <a:spcBef>
                <a:spcPts val="459"/>
              </a:spcBef>
            </a:pPr>
            <a:endParaRPr sz="1059" dirty="0">
              <a:latin typeface="Lucida Console"/>
              <a:cs typeface="Lucida Console"/>
            </a:endParaRPr>
          </a:p>
          <a:p>
            <a:pPr marL="670148" marR="1453480">
              <a:lnSpc>
                <a:spcPct val="103200"/>
              </a:lnSpc>
            </a:pPr>
            <a:r>
              <a:rPr sz="1059" spc="-9" dirty="0">
                <a:latin typeface="Lucida Console"/>
                <a:cs typeface="Lucida Console"/>
              </a:rPr>
              <a:t>System.out.println(a); System.out.println(b);</a:t>
            </a:r>
            <a:endParaRPr sz="1059" dirty="0">
              <a:latin typeface="Lucida Console"/>
              <a:cs typeface="Lucida Console"/>
            </a:endParaRPr>
          </a:p>
          <a:p>
            <a:pPr marL="419683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 dirty="0">
              <a:latin typeface="Lucida Console"/>
              <a:cs typeface="Lucida Console"/>
            </a:endParaRPr>
          </a:p>
          <a:p>
            <a:pPr marL="169218">
              <a:spcBef>
                <a:spcPts val="44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 dirty="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912" y="1535885"/>
            <a:ext cx="2835088" cy="2715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3959" rIns="0" bIns="0" rtlCol="0">
            <a:spAutoFit/>
          </a:bodyPr>
          <a:lstStyle/>
          <a:p>
            <a:pPr marL="145684">
              <a:spcBef>
                <a:spcPts val="582"/>
              </a:spcBef>
            </a:pP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Q.</a:t>
            </a:r>
            <a:r>
              <a:rPr sz="1279" spc="66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What</a:t>
            </a:r>
            <a:r>
              <a:rPr sz="1279" spc="71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does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this</a:t>
            </a:r>
            <a:r>
              <a:rPr sz="1279" spc="71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program</a:t>
            </a:r>
            <a:r>
              <a:rPr sz="1279" spc="71" dirty="0">
                <a:latin typeface="Lucida Sans Unicode"/>
                <a:cs typeface="Lucida Sans Unicode"/>
              </a:rPr>
              <a:t> </a:t>
            </a:r>
            <a:r>
              <a:rPr sz="1279" spc="-22" dirty="0">
                <a:latin typeface="Lucida Sans Unicode"/>
                <a:cs typeface="Lucida Sans Unicode"/>
              </a:rPr>
              <a:t>do?</a:t>
            </a:r>
            <a:endParaRPr sz="1279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7813" y="3263528"/>
            <a:ext cx="2107826" cy="15409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154706" y="3285964"/>
            <a:ext cx="2017059" cy="131570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43" rIns="0" bIns="0" rtlCol="0">
            <a:spAutoFit/>
          </a:bodyPr>
          <a:lstStyle/>
          <a:p>
            <a:pPr>
              <a:spcBef>
                <a:spcPts val="40"/>
              </a:spcBef>
            </a:pPr>
            <a:endParaRPr sz="971">
              <a:latin typeface="Times New Roman"/>
              <a:cs typeface="Times New Roman"/>
            </a:endParaRPr>
          </a:p>
          <a:p>
            <a:pPr marL="173140">
              <a:spcBef>
                <a:spcPts val="4"/>
              </a:spcBef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TwoSort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1234</a:t>
            </a:r>
            <a:r>
              <a:rPr sz="971" spc="31" dirty="0">
                <a:latin typeface="Lucida Console"/>
                <a:cs typeface="Lucida Console"/>
              </a:rPr>
              <a:t> </a:t>
            </a: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  <a:p>
            <a:pPr>
              <a:spcBef>
                <a:spcPts val="468"/>
              </a:spcBef>
            </a:pPr>
            <a:endParaRPr sz="971">
              <a:latin typeface="Lucida Console"/>
              <a:cs typeface="Lucida Console"/>
            </a:endParaRPr>
          </a:p>
          <a:p>
            <a:pPr marL="173140"/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TwoSort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99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912" y="5282850"/>
            <a:ext cx="7496735" cy="27322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640" rIns="0" bIns="0" rtlCol="0">
            <a:spAutoFit/>
          </a:bodyPr>
          <a:lstStyle/>
          <a:p>
            <a:pPr marL="145684">
              <a:spcBef>
                <a:spcPts val="596"/>
              </a:spcBef>
            </a:pP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A.</a:t>
            </a:r>
            <a:r>
              <a:rPr sz="1279" spc="66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Reads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spc="44" dirty="0">
                <a:latin typeface="Lucida Sans Unicode"/>
                <a:cs typeface="Lucida Sans Unicode"/>
              </a:rPr>
              <a:t>two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integers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from</a:t>
            </a:r>
            <a:r>
              <a:rPr sz="1279" spc="71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the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command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line,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then</a:t>
            </a:r>
            <a:r>
              <a:rPr sz="1279" spc="71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prints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them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out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in</a:t>
            </a:r>
            <a:r>
              <a:rPr sz="1279" spc="66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numerical</a:t>
            </a:r>
            <a:r>
              <a:rPr sz="1279" spc="71" dirty="0">
                <a:latin typeface="Lucida Sans Unicode"/>
                <a:cs typeface="Lucida Sans Unicode"/>
              </a:rPr>
              <a:t> </a:t>
            </a:r>
            <a:r>
              <a:rPr sz="1279" spc="-9" dirty="0">
                <a:latin typeface="Lucida Sans Unicode"/>
                <a:cs typeface="Lucida Sans Unicode"/>
              </a:rPr>
              <a:t>order.</a:t>
            </a:r>
            <a:endParaRPr sz="1279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37882" y="61846"/>
            <a:ext cx="7261412" cy="1369493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Example</a:t>
            </a:r>
            <a:r>
              <a:rPr spc="53" dirty="0"/>
              <a:t> of </a:t>
            </a:r>
            <a:r>
              <a:rPr sz="1279" dirty="0">
                <a:latin typeface="Lucida Console"/>
                <a:cs typeface="Lucida Console"/>
              </a:rPr>
              <a:t>if</a:t>
            </a:r>
            <a:r>
              <a:rPr sz="1279" spc="-300" dirty="0">
                <a:latin typeface="Lucida Console"/>
                <a:cs typeface="Lucida Console"/>
              </a:rPr>
              <a:t> </a:t>
            </a:r>
            <a:r>
              <a:rPr dirty="0"/>
              <a:t>statement</a:t>
            </a:r>
            <a:r>
              <a:rPr spc="53" dirty="0"/>
              <a:t> </a:t>
            </a:r>
            <a:r>
              <a:rPr dirty="0"/>
              <a:t>use:</a:t>
            </a:r>
            <a:r>
              <a:rPr spc="53" dirty="0"/>
              <a:t> </a:t>
            </a:r>
            <a:r>
              <a:rPr dirty="0"/>
              <a:t>2-</a:t>
            </a:r>
            <a:r>
              <a:rPr spc="-18" dirty="0"/>
              <a:t>sort</a:t>
            </a:r>
            <a:endParaRPr sz="1279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8991" y="3591986"/>
            <a:ext cx="1884269" cy="44844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145124" marR="149607" algn="ctr">
              <a:lnSpc>
                <a:spcPts val="1112"/>
              </a:lnSpc>
              <a:spcBef>
                <a:spcPts val="180"/>
              </a:spcBef>
            </a:pP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alternatives</a:t>
            </a:r>
            <a:r>
              <a:rPr sz="971" spc="18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for</a:t>
            </a:r>
            <a:r>
              <a:rPr sz="971" spc="22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if</a:t>
            </a:r>
            <a:r>
              <a:rPr sz="971" spc="18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971" spc="22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spc="-18" dirty="0">
                <a:solidFill>
                  <a:srgbClr val="0048AA"/>
                </a:solidFill>
                <a:latin typeface="Lucida Sans Unicode"/>
                <a:cs typeface="Lucida Sans Unicode"/>
              </a:rPr>
              <a:t>else </a:t>
            </a:r>
            <a:r>
              <a:rPr sz="971" spc="9" dirty="0">
                <a:solidFill>
                  <a:srgbClr val="0048AA"/>
                </a:solidFill>
                <a:latin typeface="Lucida Sans Unicode"/>
                <a:cs typeface="Lucida Sans Unicode"/>
              </a:rPr>
              <a:t>can</a:t>
            </a:r>
            <a:r>
              <a:rPr sz="971" spc="53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spc="9" dirty="0">
                <a:solidFill>
                  <a:srgbClr val="0048AA"/>
                </a:solidFill>
                <a:latin typeface="Lucida Sans Unicode"/>
                <a:cs typeface="Lucida Sans Unicode"/>
              </a:rPr>
              <a:t>be</a:t>
            </a:r>
            <a:r>
              <a:rPr sz="971" spc="57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spc="9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971" spc="57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i="1" spc="9" dirty="0">
                <a:solidFill>
                  <a:srgbClr val="0048AA"/>
                </a:solidFill>
                <a:latin typeface="Trebuchet MS"/>
                <a:cs typeface="Trebuchet MS"/>
              </a:rPr>
              <a:t>sequence</a:t>
            </a:r>
            <a:r>
              <a:rPr sz="971" i="1" spc="71" dirty="0">
                <a:solidFill>
                  <a:srgbClr val="0048AA"/>
                </a:solidFill>
                <a:latin typeface="Trebuchet MS"/>
                <a:cs typeface="Trebuchet MS"/>
              </a:rPr>
              <a:t> </a:t>
            </a:r>
            <a:r>
              <a:rPr sz="971" spc="-22" dirty="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endParaRPr sz="971">
              <a:latin typeface="Lucida Sans Unicode"/>
              <a:cs typeface="Lucida Sans Unicode"/>
            </a:endParaRPr>
          </a:p>
          <a:p>
            <a:pPr marR="4483" algn="ctr">
              <a:lnSpc>
                <a:spcPts val="1090"/>
              </a:lnSpc>
            </a:pP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statements,</a:t>
            </a:r>
            <a:r>
              <a:rPr sz="971" spc="13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enclosed</a:t>
            </a:r>
            <a:r>
              <a:rPr sz="971" spc="18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48AA"/>
                </a:solidFill>
                <a:latin typeface="Lucida Sans Unicode"/>
                <a:cs typeface="Lucida Sans Unicode"/>
              </a:rPr>
              <a:t>in</a:t>
            </a:r>
            <a:r>
              <a:rPr sz="971" spc="18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971" spc="-9" dirty="0">
                <a:solidFill>
                  <a:srgbClr val="0048AA"/>
                </a:solidFill>
                <a:latin typeface="Lucida Sans Unicode"/>
                <a:cs typeface="Lucida Sans Unicode"/>
              </a:rPr>
              <a:t>braces</a:t>
            </a:r>
            <a:endParaRPr sz="971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06613" y="3810736"/>
            <a:ext cx="341779" cy="61632"/>
            <a:chOff x="2915094" y="4318834"/>
            <a:chExt cx="387350" cy="69850"/>
          </a:xfrm>
        </p:grpSpPr>
        <p:sp>
          <p:nvSpPr>
            <p:cNvPr id="16" name="object 16"/>
            <p:cNvSpPr/>
            <p:nvPr/>
          </p:nvSpPr>
          <p:spPr>
            <a:xfrm>
              <a:off x="2959099" y="4353449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342900" y="0"/>
                  </a:moveTo>
                  <a:lnTo>
                    <a:pt x="5879" y="0"/>
                  </a:lnTo>
                  <a:lnTo>
                    <a:pt x="0" y="0"/>
                  </a:lnTo>
                </a:path>
              </a:pathLst>
            </a:custGeom>
            <a:ln w="12714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915094" y="4318834"/>
              <a:ext cx="69215" cy="69850"/>
            </a:xfrm>
            <a:custGeom>
              <a:avLst/>
              <a:gdLst/>
              <a:ahLst/>
              <a:cxnLst/>
              <a:rect l="l" t="t" r="r" b="b"/>
              <a:pathLst>
                <a:path w="69214" h="69850">
                  <a:moveTo>
                    <a:pt x="69151" y="0"/>
                  </a:moveTo>
                  <a:lnTo>
                    <a:pt x="0" y="34615"/>
                  </a:lnTo>
                  <a:lnTo>
                    <a:pt x="69151" y="69228"/>
                  </a:lnTo>
                  <a:lnTo>
                    <a:pt x="51864" y="34615"/>
                  </a:lnTo>
                  <a:lnTo>
                    <a:pt x="69151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15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563553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912" y="1395654"/>
            <a:ext cx="7956176" cy="0"/>
          </a:xfrm>
          <a:custGeom>
            <a:avLst/>
            <a:gdLst/>
            <a:ahLst/>
            <a:cxnLst/>
            <a:rect l="l" t="t" r="r" b="b"/>
            <a:pathLst>
              <a:path w="9017000">
                <a:moveTo>
                  <a:pt x="0" y="0"/>
                </a:moveTo>
                <a:lnTo>
                  <a:pt x="9016999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882" y="61847"/>
            <a:ext cx="7261412" cy="1369493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Example</a:t>
            </a:r>
            <a:r>
              <a:rPr spc="40" dirty="0"/>
              <a:t> </a:t>
            </a:r>
            <a:r>
              <a:rPr spc="53" dirty="0"/>
              <a:t>of</a:t>
            </a:r>
            <a:r>
              <a:rPr spc="44" dirty="0"/>
              <a:t> </a:t>
            </a:r>
            <a:r>
              <a:rPr sz="1279" dirty="0">
                <a:latin typeface="Lucida Console"/>
                <a:cs typeface="Lucida Console"/>
              </a:rPr>
              <a:t>if</a:t>
            </a:r>
            <a:r>
              <a:rPr sz="1279" spc="-300" dirty="0">
                <a:latin typeface="Lucida Console"/>
                <a:cs typeface="Lucida Console"/>
              </a:rPr>
              <a:t> </a:t>
            </a:r>
            <a:r>
              <a:rPr dirty="0"/>
              <a:t>statement</a:t>
            </a:r>
            <a:r>
              <a:rPr spc="49" dirty="0"/>
              <a:t> </a:t>
            </a:r>
            <a:r>
              <a:rPr dirty="0"/>
              <a:t>use:</a:t>
            </a:r>
            <a:r>
              <a:rPr spc="44" dirty="0"/>
              <a:t> </a:t>
            </a:r>
            <a:r>
              <a:rPr spc="57" dirty="0"/>
              <a:t>error</a:t>
            </a:r>
            <a:r>
              <a:rPr spc="49" dirty="0"/>
              <a:t> </a:t>
            </a:r>
            <a:r>
              <a:rPr spc="-9" dirty="0"/>
              <a:t>checks</a:t>
            </a:r>
            <a:endParaRPr sz="1279">
              <a:latin typeface="Lucida Console"/>
              <a:cs typeface="Lucida Consol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702" y="1597588"/>
            <a:ext cx="6133960" cy="3558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345" y="3757745"/>
            <a:ext cx="5699872" cy="32970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503171">
              <a:lnSpc>
                <a:spcPts val="1041"/>
              </a:lnSpc>
            </a:pP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if</a:t>
            </a:r>
            <a:r>
              <a:rPr sz="1059" spc="97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(b</a:t>
            </a:r>
            <a:r>
              <a:rPr sz="1059" spc="97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==</a:t>
            </a:r>
            <a:r>
              <a:rPr sz="1059" spc="101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0)</a:t>
            </a:r>
            <a:r>
              <a:rPr sz="1059" spc="97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System.out.println("Division</a:t>
            </a:r>
            <a:r>
              <a:rPr sz="1059" spc="97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by</a:t>
            </a:r>
            <a:r>
              <a:rPr sz="1059" spc="101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9" dirty="0">
                <a:solidFill>
                  <a:srgbClr val="8D3124"/>
                </a:solidFill>
                <a:latin typeface="Lucida Console"/>
                <a:cs typeface="Lucida Console"/>
              </a:rPr>
              <a:t>zero");</a:t>
            </a:r>
            <a:endParaRPr sz="1059">
              <a:latin typeface="Lucida Console"/>
              <a:cs typeface="Lucida Console"/>
            </a:endParaRPr>
          </a:p>
          <a:p>
            <a:pPr marL="503171">
              <a:spcBef>
                <a:spcPts val="274"/>
              </a:spcBef>
              <a:tabLst>
                <a:tab pos="1505030" algn="l"/>
              </a:tabLst>
            </a:pPr>
            <a:r>
              <a:rPr sz="1059" spc="-18" dirty="0">
                <a:solidFill>
                  <a:srgbClr val="8D3124"/>
                </a:solidFill>
                <a:latin typeface="Lucida Console"/>
                <a:cs typeface="Lucida Console"/>
              </a:rPr>
              <a:t>else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	System.out.println(a</a:t>
            </a:r>
            <a:r>
              <a:rPr sz="1059" spc="44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+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"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/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"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+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b</a:t>
            </a:r>
            <a:r>
              <a:rPr sz="1059" spc="44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+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"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"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+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a</a:t>
            </a:r>
            <a:r>
              <a:rPr sz="1059" spc="44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/</a:t>
            </a:r>
            <a:r>
              <a:rPr sz="1059" spc="49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22" dirty="0">
                <a:solidFill>
                  <a:srgbClr val="8D3124"/>
                </a:solidFill>
                <a:latin typeface="Lucida Console"/>
                <a:cs typeface="Lucida Console"/>
              </a:rPr>
              <a:t>b);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735" y="1625633"/>
            <a:ext cx="6039971" cy="3386497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140074" rIns="0" bIns="0" rtlCol="0">
            <a:spAutoFit/>
          </a:bodyPr>
          <a:lstStyle/>
          <a:p>
            <a:pPr marL="173140">
              <a:spcBef>
                <a:spcPts val="1103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class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IntOps</a:t>
            </a:r>
            <a:endParaRPr sz="1059">
              <a:latin typeface="Lucida Console"/>
              <a:cs typeface="Lucida Console"/>
            </a:endParaRPr>
          </a:p>
          <a:p>
            <a:pPr marL="173140">
              <a:spcBef>
                <a:spcPts val="278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423604">
              <a:spcBef>
                <a:spcPts val="274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static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void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main(String[]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args)</a:t>
            </a:r>
            <a:endParaRPr sz="1059">
              <a:latin typeface="Lucida Console"/>
              <a:cs typeface="Lucida Console"/>
            </a:endParaRPr>
          </a:p>
          <a:p>
            <a:pPr marL="423604">
              <a:spcBef>
                <a:spcPts val="274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674070" marR="2520898" algn="just">
              <a:lnSpc>
                <a:spcPct val="121600"/>
              </a:lnSpc>
            </a:pP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Integer.parseInt(args[0]);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Integer.parseInt(args[1]);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sum</a:t>
            </a:r>
            <a:r>
              <a:rPr sz="1059" spc="35" dirty="0">
                <a:latin typeface="Lucida Console"/>
                <a:cs typeface="Lucida Console"/>
              </a:rPr>
              <a:t> 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31" dirty="0">
                <a:latin typeface="Lucida Console"/>
                <a:cs typeface="Lucida Console"/>
              </a:rPr>
              <a:t>b;</a:t>
            </a:r>
            <a:endParaRPr sz="1059">
              <a:latin typeface="Lucida Console"/>
              <a:cs typeface="Lucida Console"/>
            </a:endParaRPr>
          </a:p>
          <a:p>
            <a:pPr marL="674070" algn="just">
              <a:spcBef>
                <a:spcPts val="274"/>
              </a:spcBef>
            </a:pP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prod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*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spc="-31" dirty="0">
                <a:latin typeface="Lucida Console"/>
                <a:cs typeface="Lucida Console"/>
              </a:rPr>
              <a:t>b;</a:t>
            </a:r>
            <a:endParaRPr sz="1059">
              <a:latin typeface="Lucida Console"/>
              <a:cs typeface="Lucida Console"/>
            </a:endParaRPr>
          </a:p>
          <a:p>
            <a:pPr marL="674070" marR="1268574" algn="just">
              <a:lnSpc>
                <a:spcPct val="121600"/>
              </a:lnSpc>
            </a:pPr>
            <a:r>
              <a:rPr sz="1059" dirty="0">
                <a:latin typeface="Lucida Console"/>
                <a:cs typeface="Lucida Console"/>
              </a:rPr>
              <a:t>System.out.println(a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sum); </a:t>
            </a:r>
            <a:r>
              <a:rPr sz="1059" dirty="0">
                <a:latin typeface="Lucida Console"/>
                <a:cs typeface="Lucida Console"/>
              </a:rPr>
              <a:t>System.out.println(a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*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prod);</a:t>
            </a: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spcBef>
                <a:spcPts val="190"/>
              </a:spcBef>
            </a:pPr>
            <a:endParaRPr sz="1059">
              <a:latin typeface="Lucida Console"/>
              <a:cs typeface="Lucida Console"/>
            </a:endParaRPr>
          </a:p>
          <a:p>
            <a:pPr marL="674070"/>
            <a:r>
              <a:rPr sz="1059" dirty="0">
                <a:latin typeface="Lucida Console"/>
                <a:cs typeface="Lucida Console"/>
              </a:rPr>
              <a:t>if</a:t>
            </a:r>
            <a:r>
              <a:rPr sz="1059" spc="9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(b</a:t>
            </a:r>
            <a:r>
              <a:rPr sz="1059" spc="9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==</a:t>
            </a:r>
            <a:r>
              <a:rPr sz="1059" spc="10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0)</a:t>
            </a:r>
            <a:r>
              <a:rPr sz="1059" spc="9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System.out.println("Division</a:t>
            </a:r>
            <a:r>
              <a:rPr sz="1059" spc="9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by</a:t>
            </a:r>
            <a:r>
              <a:rPr sz="1059" spc="101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zero");</a:t>
            </a:r>
            <a:endParaRPr sz="1059">
              <a:latin typeface="Lucida Console"/>
              <a:cs typeface="Lucida Console"/>
            </a:endParaRPr>
          </a:p>
          <a:p>
            <a:pPr marL="674070">
              <a:spcBef>
                <a:spcPts val="274"/>
              </a:spcBef>
              <a:tabLst>
                <a:tab pos="1675929" algn="l"/>
              </a:tabLst>
            </a:pPr>
            <a:r>
              <a:rPr sz="1059" spc="-18" dirty="0">
                <a:latin typeface="Lucida Console"/>
                <a:cs typeface="Lucida Console"/>
              </a:rPr>
              <a:t>else</a:t>
            </a:r>
            <a:r>
              <a:rPr sz="1059" dirty="0">
                <a:latin typeface="Lucida Console"/>
                <a:cs typeface="Lucida Console"/>
              </a:rPr>
              <a:t>	System.out.println(a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%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"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4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%</a:t>
            </a:r>
            <a:r>
              <a:rPr sz="1059" spc="49" dirty="0">
                <a:latin typeface="Lucida Console"/>
                <a:cs typeface="Lucida Console"/>
              </a:rPr>
              <a:t> </a:t>
            </a:r>
            <a:r>
              <a:rPr sz="1059" spc="-22" dirty="0">
                <a:latin typeface="Lucida Console"/>
                <a:cs typeface="Lucida Console"/>
              </a:rPr>
              <a:t>b);</a:t>
            </a:r>
            <a:endParaRPr sz="1059">
              <a:latin typeface="Lucida Console"/>
              <a:cs typeface="Lucida Console"/>
            </a:endParaRPr>
          </a:p>
          <a:p>
            <a:pPr marL="423604">
              <a:spcBef>
                <a:spcPts val="278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  <a:p>
            <a:pPr marL="173140">
              <a:spcBef>
                <a:spcPts val="274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9559" y="2208992"/>
            <a:ext cx="1770529" cy="2300007"/>
          </a:xfrm>
          <a:custGeom>
            <a:avLst/>
            <a:gdLst/>
            <a:ahLst/>
            <a:cxnLst/>
            <a:rect l="l" t="t" r="r" b="b"/>
            <a:pathLst>
              <a:path w="2006600" h="2606675">
                <a:moveTo>
                  <a:pt x="0" y="0"/>
                </a:moveTo>
                <a:lnTo>
                  <a:pt x="2006600" y="0"/>
                </a:lnTo>
                <a:lnTo>
                  <a:pt x="2006600" y="2606422"/>
                </a:lnTo>
                <a:lnTo>
                  <a:pt x="0" y="26064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6943973" y="2333635"/>
            <a:ext cx="1441637" cy="17826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059" dirty="0">
                <a:latin typeface="Lucida Console"/>
                <a:cs typeface="Lucida Console"/>
              </a:rPr>
              <a:t>%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java</a:t>
            </a:r>
            <a:r>
              <a:rPr sz="1059" spc="5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IntOps</a:t>
            </a:r>
            <a:r>
              <a:rPr sz="1059" spc="5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5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spc="-44" dirty="0">
                <a:latin typeface="Lucida Console"/>
                <a:cs typeface="Lucida Console"/>
              </a:rPr>
              <a:t>2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16</a:t>
            </a:fld>
            <a:endParaRPr spc="-22" dirty="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927164" y="2537873"/>
          <a:ext cx="888064" cy="711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131">
                <a:tc>
                  <a:txBody>
                    <a:bodyPr/>
                    <a:lstStyle/>
                    <a:p>
                      <a:pPr marR="7620" algn="ctr">
                        <a:lnSpc>
                          <a:spcPts val="1390"/>
                        </a:lnSpc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+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=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390"/>
                        </a:lnSpc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56"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*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=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Console"/>
                          <a:cs typeface="Lucida Console"/>
                        </a:rPr>
                        <a:t>10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56"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/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=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131">
                <a:tc>
                  <a:txBody>
                    <a:bodyPr/>
                    <a:lstStyle/>
                    <a:p>
                      <a:pPr marR="7620" algn="ctr">
                        <a:lnSpc>
                          <a:spcPts val="141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%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=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410"/>
                        </a:lnSpc>
                        <a:spcBef>
                          <a:spcPts val="35"/>
                        </a:spcBef>
                      </a:pPr>
                      <a:r>
                        <a:rPr sz="1100" spc="-50" dirty="0">
                          <a:latin typeface="Lucida Console"/>
                          <a:cs typeface="Lucida Console"/>
                        </a:rPr>
                        <a:t>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T="3922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943973" y="3415411"/>
            <a:ext cx="1441637" cy="929161"/>
          </a:xfrm>
          <a:prstGeom prst="rect">
            <a:avLst/>
          </a:prstGeom>
        </p:spPr>
        <p:txBody>
          <a:bodyPr vert="horz" wrap="square" lIns="0" tIns="31937" rIns="0" bIns="0" rtlCol="0">
            <a:spAutoFit/>
          </a:bodyPr>
          <a:lstStyle/>
          <a:p>
            <a:pPr marL="11206">
              <a:spcBef>
                <a:spcPts val="251"/>
              </a:spcBef>
            </a:pPr>
            <a:r>
              <a:rPr sz="1059" dirty="0">
                <a:latin typeface="Lucida Console"/>
                <a:cs typeface="Lucida Console"/>
              </a:rPr>
              <a:t>%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java</a:t>
            </a:r>
            <a:r>
              <a:rPr sz="1059" spc="5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IntOps</a:t>
            </a:r>
            <a:r>
              <a:rPr sz="1059" spc="57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5</a:t>
            </a:r>
            <a:r>
              <a:rPr sz="1059" spc="53" dirty="0">
                <a:latin typeface="Lucida Console"/>
                <a:cs typeface="Lucida Console"/>
              </a:rPr>
              <a:t> </a:t>
            </a:r>
            <a:r>
              <a:rPr sz="1059" spc="-44" dirty="0">
                <a:latin typeface="Lucida Console"/>
                <a:cs typeface="Lucida Console"/>
              </a:rPr>
              <a:t>0</a:t>
            </a:r>
            <a:endParaRPr sz="1059">
              <a:latin typeface="Lucida Console"/>
              <a:cs typeface="Lucida Console"/>
            </a:endParaRPr>
          </a:p>
          <a:p>
            <a:pPr marL="11206">
              <a:spcBef>
                <a:spcPts val="172"/>
              </a:spcBef>
            </a:pPr>
            <a:r>
              <a:rPr sz="1059" dirty="0">
                <a:latin typeface="Lucida Console"/>
                <a:cs typeface="Lucida Console"/>
              </a:rPr>
              <a:t>5</a:t>
            </a:r>
            <a:r>
              <a:rPr sz="1059" spc="26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+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0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spc="-44" dirty="0">
                <a:latin typeface="Lucida Console"/>
                <a:cs typeface="Lucida Console"/>
              </a:rPr>
              <a:t>5</a:t>
            </a:r>
            <a:endParaRPr sz="1059">
              <a:latin typeface="Lucida Console"/>
              <a:cs typeface="Lucida Console"/>
            </a:endParaRPr>
          </a:p>
          <a:p>
            <a:pPr marL="11206">
              <a:spcBef>
                <a:spcPts val="168"/>
              </a:spcBef>
            </a:pPr>
            <a:r>
              <a:rPr sz="1059" dirty="0">
                <a:latin typeface="Lucida Console"/>
                <a:cs typeface="Lucida Console"/>
              </a:rPr>
              <a:t>5</a:t>
            </a:r>
            <a:r>
              <a:rPr sz="1059" spc="26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*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0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31" dirty="0">
                <a:latin typeface="Lucida Console"/>
                <a:cs typeface="Lucida Console"/>
              </a:rPr>
              <a:t> </a:t>
            </a:r>
            <a:r>
              <a:rPr sz="1059" spc="-44" dirty="0">
                <a:latin typeface="Lucida Console"/>
                <a:cs typeface="Lucida Console"/>
              </a:rPr>
              <a:t>0</a:t>
            </a:r>
            <a:endParaRPr sz="1059">
              <a:latin typeface="Lucida Console"/>
              <a:cs typeface="Lucida Console"/>
            </a:endParaRPr>
          </a:p>
          <a:p>
            <a:pPr marL="11206" marR="88531">
              <a:lnSpc>
                <a:spcPct val="113399"/>
              </a:lnSpc>
            </a:pPr>
            <a:r>
              <a:rPr sz="1059" dirty="0">
                <a:latin typeface="Lucida Console"/>
                <a:cs typeface="Lucida Console"/>
              </a:rPr>
              <a:t>Division</a:t>
            </a:r>
            <a:r>
              <a:rPr sz="1059" spc="7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by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spc="-18" dirty="0">
                <a:latin typeface="Lucida Console"/>
                <a:cs typeface="Lucida Console"/>
              </a:rPr>
              <a:t>zero </a:t>
            </a:r>
            <a:r>
              <a:rPr sz="1059" dirty="0">
                <a:latin typeface="Lucida Console"/>
                <a:cs typeface="Lucida Console"/>
              </a:rPr>
              <a:t>Division</a:t>
            </a:r>
            <a:r>
              <a:rPr sz="1059" spc="79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by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spc="-18" dirty="0">
                <a:latin typeface="Lucida Console"/>
                <a:cs typeface="Lucida Console"/>
              </a:rPr>
              <a:t>zero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912" y="5282850"/>
            <a:ext cx="7239000" cy="27322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640" rIns="0" bIns="0" rtlCol="0">
            <a:spAutoFit/>
          </a:bodyPr>
          <a:lstStyle/>
          <a:p>
            <a:pPr marL="145684">
              <a:spcBef>
                <a:spcPts val="596"/>
              </a:spcBef>
            </a:pP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Good</a:t>
            </a:r>
            <a:r>
              <a:rPr sz="1279" spc="7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programming</a:t>
            </a:r>
            <a:r>
              <a:rPr sz="1279" spc="7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practice.</a:t>
            </a:r>
            <a:r>
              <a:rPr sz="1279" spc="7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Use</a:t>
            </a:r>
            <a:r>
              <a:rPr sz="1279" spc="7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conditionals</a:t>
            </a:r>
            <a:r>
              <a:rPr sz="1279" spc="7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to</a:t>
            </a:r>
            <a:r>
              <a:rPr sz="1279" spc="7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check</a:t>
            </a:r>
            <a:r>
              <a:rPr sz="1279" spc="7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for</a:t>
            </a:r>
            <a:r>
              <a:rPr sz="1279" spc="79" dirty="0">
                <a:latin typeface="Lucida Sans Unicode"/>
                <a:cs typeface="Lucida Sans Unicode"/>
              </a:rPr>
              <a:t> </a:t>
            </a:r>
            <a:r>
              <a:rPr sz="1279" i="1" spc="101" dirty="0">
                <a:latin typeface="Trebuchet MS"/>
                <a:cs typeface="Trebuchet MS"/>
              </a:rPr>
              <a:t>and</a:t>
            </a:r>
            <a:r>
              <a:rPr sz="1279" i="1" spc="97" dirty="0">
                <a:latin typeface="Trebuchet MS"/>
                <a:cs typeface="Trebuchet MS"/>
              </a:rPr>
              <a:t> </a:t>
            </a:r>
            <a:r>
              <a:rPr sz="1279" i="1" spc="62" dirty="0">
                <a:latin typeface="Trebuchet MS"/>
                <a:cs typeface="Trebuchet MS"/>
              </a:rPr>
              <a:t>avoid</a:t>
            </a:r>
            <a:r>
              <a:rPr sz="1279" i="1" spc="93" dirty="0">
                <a:latin typeface="Trebuchet MS"/>
                <a:cs typeface="Trebuchet MS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runtime</a:t>
            </a:r>
            <a:r>
              <a:rPr sz="1279" spc="79" dirty="0">
                <a:latin typeface="Lucida Sans Unicode"/>
                <a:cs typeface="Lucida Sans Unicode"/>
              </a:rPr>
              <a:t> </a:t>
            </a:r>
            <a:r>
              <a:rPr sz="1279" spc="-9" dirty="0">
                <a:latin typeface="Lucida Sans Unicode"/>
                <a:cs typeface="Lucida Sans Unicode"/>
              </a:rPr>
              <a:t>errors.</a:t>
            </a:r>
            <a:endParaRPr sz="1279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704458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sX0" fmla="*/ 0 w 7886700"/>
              <a:gd name="csY0" fmla="*/ 0 h 5416094"/>
              <a:gd name="csX1" fmla="*/ 578358 w 7886700"/>
              <a:gd name="csY1" fmla="*/ 0 h 5416094"/>
              <a:gd name="csX2" fmla="*/ 998982 w 7886700"/>
              <a:gd name="csY2" fmla="*/ 0 h 5416094"/>
              <a:gd name="csX3" fmla="*/ 1813941 w 7886700"/>
              <a:gd name="csY3" fmla="*/ 0 h 5416094"/>
              <a:gd name="csX4" fmla="*/ 2392299 w 7886700"/>
              <a:gd name="csY4" fmla="*/ 0 h 5416094"/>
              <a:gd name="csX5" fmla="*/ 2970657 w 7886700"/>
              <a:gd name="csY5" fmla="*/ 0 h 5416094"/>
              <a:gd name="csX6" fmla="*/ 3785616 w 7886700"/>
              <a:gd name="csY6" fmla="*/ 0 h 5416094"/>
              <a:gd name="csX7" fmla="*/ 4285107 w 7886700"/>
              <a:gd name="csY7" fmla="*/ 0 h 5416094"/>
              <a:gd name="csX8" fmla="*/ 5100066 w 7886700"/>
              <a:gd name="csY8" fmla="*/ 0 h 5416094"/>
              <a:gd name="csX9" fmla="*/ 5915025 w 7886700"/>
              <a:gd name="csY9" fmla="*/ 0 h 5416094"/>
              <a:gd name="csX10" fmla="*/ 6572250 w 7886700"/>
              <a:gd name="csY10" fmla="*/ 0 h 5416094"/>
              <a:gd name="csX11" fmla="*/ 7886700 w 7886700"/>
              <a:gd name="csY11" fmla="*/ 0 h 5416094"/>
              <a:gd name="csX12" fmla="*/ 7886700 w 7886700"/>
              <a:gd name="csY12" fmla="*/ 622851 h 5416094"/>
              <a:gd name="csX13" fmla="*/ 7886700 w 7886700"/>
              <a:gd name="csY13" fmla="*/ 1137380 h 5416094"/>
              <a:gd name="csX14" fmla="*/ 7886700 w 7886700"/>
              <a:gd name="csY14" fmla="*/ 1814391 h 5416094"/>
              <a:gd name="csX15" fmla="*/ 7886700 w 7886700"/>
              <a:gd name="csY15" fmla="*/ 2491403 h 5416094"/>
              <a:gd name="csX16" fmla="*/ 7886700 w 7886700"/>
              <a:gd name="csY16" fmla="*/ 3168415 h 5416094"/>
              <a:gd name="csX17" fmla="*/ 7886700 w 7886700"/>
              <a:gd name="csY17" fmla="*/ 3899588 h 5416094"/>
              <a:gd name="csX18" fmla="*/ 7886700 w 7886700"/>
              <a:gd name="csY18" fmla="*/ 4630760 h 5416094"/>
              <a:gd name="csX19" fmla="*/ 7886700 w 7886700"/>
              <a:gd name="csY19" fmla="*/ 5416094 h 5416094"/>
              <a:gd name="csX20" fmla="*/ 7466076 w 7886700"/>
              <a:gd name="csY20" fmla="*/ 5416094 h 5416094"/>
              <a:gd name="csX21" fmla="*/ 6651117 w 7886700"/>
              <a:gd name="csY21" fmla="*/ 5416094 h 5416094"/>
              <a:gd name="csX22" fmla="*/ 5993892 w 7886700"/>
              <a:gd name="csY22" fmla="*/ 5416094 h 5416094"/>
              <a:gd name="csX23" fmla="*/ 5494401 w 7886700"/>
              <a:gd name="csY23" fmla="*/ 5416094 h 5416094"/>
              <a:gd name="csX24" fmla="*/ 4837176 w 7886700"/>
              <a:gd name="csY24" fmla="*/ 5416094 h 5416094"/>
              <a:gd name="csX25" fmla="*/ 4416552 w 7886700"/>
              <a:gd name="csY25" fmla="*/ 5416094 h 5416094"/>
              <a:gd name="csX26" fmla="*/ 3995928 w 7886700"/>
              <a:gd name="csY26" fmla="*/ 5416094 h 5416094"/>
              <a:gd name="csX27" fmla="*/ 3338703 w 7886700"/>
              <a:gd name="csY27" fmla="*/ 5416094 h 5416094"/>
              <a:gd name="csX28" fmla="*/ 2839212 w 7886700"/>
              <a:gd name="csY28" fmla="*/ 5416094 h 5416094"/>
              <a:gd name="csX29" fmla="*/ 2103120 w 7886700"/>
              <a:gd name="csY29" fmla="*/ 5416094 h 5416094"/>
              <a:gd name="csX30" fmla="*/ 1603629 w 7886700"/>
              <a:gd name="csY30" fmla="*/ 5416094 h 5416094"/>
              <a:gd name="csX31" fmla="*/ 867537 w 7886700"/>
              <a:gd name="csY31" fmla="*/ 5416094 h 5416094"/>
              <a:gd name="csX32" fmla="*/ 0 w 7886700"/>
              <a:gd name="csY32" fmla="*/ 5416094 h 5416094"/>
              <a:gd name="csX33" fmla="*/ 0 w 7886700"/>
              <a:gd name="csY33" fmla="*/ 4684921 h 5416094"/>
              <a:gd name="csX34" fmla="*/ 0 w 7886700"/>
              <a:gd name="csY34" fmla="*/ 3953749 h 5416094"/>
              <a:gd name="csX35" fmla="*/ 0 w 7886700"/>
              <a:gd name="csY35" fmla="*/ 3168415 h 5416094"/>
              <a:gd name="csX36" fmla="*/ 0 w 7886700"/>
              <a:gd name="csY36" fmla="*/ 2545564 h 5416094"/>
              <a:gd name="csX37" fmla="*/ 0 w 7886700"/>
              <a:gd name="csY37" fmla="*/ 1760231 h 5416094"/>
              <a:gd name="csX38" fmla="*/ 0 w 7886700"/>
              <a:gd name="csY38" fmla="*/ 1191541 h 5416094"/>
              <a:gd name="csX39" fmla="*/ 0 w 7886700"/>
              <a:gd name="csY39" fmla="*/ 677012 h 5416094"/>
              <a:gd name="csX40" fmla="*/ 0 w 7886700"/>
              <a:gd name="csY4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0C84615-C82F-21C7-77B2-FD010456AD6D}"/>
              </a:ext>
            </a:extLst>
          </p:cNvPr>
          <p:cNvGrpSpPr/>
          <p:nvPr/>
        </p:nvGrpSpPr>
        <p:grpSpPr>
          <a:xfrm>
            <a:off x="742950" y="1646906"/>
            <a:ext cx="7600950" cy="3503808"/>
            <a:chOff x="990600" y="990282"/>
            <a:chExt cx="8014952" cy="3694649"/>
          </a:xfrm>
        </p:grpSpPr>
        <p:sp>
          <p:nvSpPr>
            <p:cNvPr id="2" name="Rectangle 1"/>
            <p:cNvSpPr/>
            <p:nvPr/>
          </p:nvSpPr>
          <p:spPr>
            <a:xfrm>
              <a:off x="1004552" y="990282"/>
              <a:ext cx="586740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59536">
                <a:spcAft>
                  <a:spcPts val="600"/>
                </a:spcAft>
              </a:pPr>
              <a:r>
                <a:rPr lang="en-US" sz="169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</a:t>
              </a: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time = 2, tide = 3;</a:t>
              </a:r>
            </a:p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if (time + tide &gt; 6)   </a:t>
              </a:r>
            </a:p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     </a:t>
              </a:r>
              <a:r>
                <a:rPr lang="en-US" sz="169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System.out.println</a:t>
              </a: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("Time and tide wait for no one.");</a:t>
              </a:r>
            </a:p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else   </a:t>
              </a:r>
            </a:p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      </a:t>
              </a:r>
              <a:r>
                <a:rPr lang="en-US" sz="169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System.out.println</a:t>
              </a: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("Time and tide wait for me.");	</a:t>
              </a:r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990600" y="2895282"/>
              <a:ext cx="801495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Write an if statement that increases pay by 3% if score is greater than 90</a:t>
              </a:r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004552" y="3471371"/>
              <a:ext cx="70104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Write an if statement that assigns 1 to x if y is greater than 0.</a:t>
              </a:r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90600" y="4038600"/>
              <a:ext cx="8001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59536">
                <a:spcAft>
                  <a:spcPts val="600"/>
                </a:spcAft>
              </a:pPr>
              <a:r>
                <a:rPr lang="en-US" sz="16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Write an if statement that increases pay by 3% if score is greater than 90, other-wise increases pay by 1%.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7154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Write a JAVA program that prompts the user to enter an integer. If the number is a multiple of 5, the program displays HiFive. If the number is divisible by 2, it displays HiEven</a:t>
            </a:r>
          </a:p>
        </p:txBody>
      </p:sp>
    </p:spTree>
    <p:extLst>
      <p:ext uri="{BB962C8B-B14F-4D97-AF65-F5344CB8AC3E}">
        <p14:creationId xmlns:p14="http://schemas.microsoft.com/office/powerpoint/2010/main" val="3169239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832696-4C7A-3284-4E9B-E0D0298DFC06}"/>
              </a:ext>
            </a:extLst>
          </p:cNvPr>
          <p:cNvSpPr txBox="1"/>
          <p:nvPr/>
        </p:nvSpPr>
        <p:spPr>
          <a:xfrm>
            <a:off x="2057400" y="846138"/>
            <a:ext cx="6781800" cy="632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endParaRPr lang="en-US" sz="400" dirty="0"/>
          </a:p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// Create a Scanner object to read user input</a:t>
            </a:r>
          </a:p>
          <a:p>
            <a:r>
              <a:rPr lang="en-US" dirty="0"/>
              <a:t>        Scanner </a:t>
            </a:r>
            <a:r>
              <a:rPr lang="en-US" dirty="0" err="1"/>
              <a:t>scanner</a:t>
            </a:r>
            <a:r>
              <a:rPr lang="en-US" dirty="0"/>
              <a:t> = new Scanner(System.in);</a:t>
            </a:r>
          </a:p>
          <a:p>
            <a:endParaRPr lang="en-US" sz="1000" dirty="0"/>
          </a:p>
          <a:p>
            <a:r>
              <a:rPr lang="en-US" dirty="0"/>
              <a:t>        // Prompt the user to enter an integer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("Enter an integer: ");</a:t>
            </a:r>
          </a:p>
          <a:p>
            <a:r>
              <a:rPr lang="en-US" dirty="0"/>
              <a:t>        int number = </a:t>
            </a:r>
            <a:r>
              <a:rPr lang="en-US" dirty="0" err="1"/>
              <a:t>scanner.nextInt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// Check if the number is a multiple of 5</a:t>
            </a:r>
          </a:p>
          <a:p>
            <a:r>
              <a:rPr lang="en-US" dirty="0"/>
              <a:t>        if (number % 5 == 0)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en-US" dirty="0" err="1"/>
              <a:t>HiFive</a:t>
            </a:r>
            <a:r>
              <a:rPr lang="en-US" dirty="0"/>
              <a:t>");</a:t>
            </a:r>
          </a:p>
          <a:p>
            <a:r>
              <a:rPr lang="en-US" dirty="0"/>
              <a:t>        }  </a:t>
            </a:r>
          </a:p>
          <a:p>
            <a:r>
              <a:rPr lang="en-US" dirty="0"/>
              <a:t>        // Check if the number is divisible by 2</a:t>
            </a:r>
          </a:p>
          <a:p>
            <a:r>
              <a:rPr lang="en-US" dirty="0"/>
              <a:t>        if (number % 2 == 0)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en-US" dirty="0" err="1"/>
              <a:t>HiEven</a:t>
            </a:r>
            <a:r>
              <a:rPr lang="en-US" dirty="0"/>
              <a:t>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// Close the scanner</a:t>
            </a:r>
          </a:p>
          <a:p>
            <a:r>
              <a:rPr lang="en-US" dirty="0"/>
              <a:t>        </a:t>
            </a:r>
            <a:r>
              <a:rPr lang="en-US" dirty="0" err="1"/>
              <a:t>scanner.close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59CAF9-149A-FE22-805D-B6370BE283C5}"/>
              </a:ext>
            </a:extLst>
          </p:cNvPr>
          <p:cNvSpPr txBox="1">
            <a:spLocks/>
          </p:cNvSpPr>
          <p:nvPr/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583593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117" y="1395654"/>
            <a:ext cx="7944971" cy="0"/>
          </a:xfrm>
          <a:custGeom>
            <a:avLst/>
            <a:gdLst/>
            <a:ahLst/>
            <a:cxnLst/>
            <a:rect l="l" t="t" r="r" b="b"/>
            <a:pathLst>
              <a:path w="9004300">
                <a:moveTo>
                  <a:pt x="0" y="0"/>
                </a:moveTo>
                <a:lnTo>
                  <a:pt x="900430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882" y="400400"/>
            <a:ext cx="7261412" cy="69238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Pop</a:t>
            </a:r>
            <a:r>
              <a:rPr spc="62" dirty="0"/>
              <a:t> </a:t>
            </a:r>
            <a:r>
              <a:rPr spc="49" dirty="0"/>
              <a:t>quiz</a:t>
            </a:r>
            <a:r>
              <a:rPr spc="62" dirty="0"/>
              <a:t> </a:t>
            </a:r>
            <a:r>
              <a:rPr dirty="0"/>
              <a:t>on</a:t>
            </a:r>
            <a:r>
              <a:rPr spc="66" dirty="0"/>
              <a:t> </a:t>
            </a:r>
            <a:r>
              <a:rPr sz="1279" dirty="0">
                <a:latin typeface="Lucida Console"/>
                <a:cs typeface="Lucida Console"/>
              </a:rPr>
              <a:t>if</a:t>
            </a:r>
            <a:r>
              <a:rPr sz="1279" spc="-291" dirty="0">
                <a:latin typeface="Lucida Console"/>
                <a:cs typeface="Lucida Console"/>
              </a:rPr>
              <a:t> </a:t>
            </a:r>
            <a:r>
              <a:rPr spc="-18" dirty="0"/>
              <a:t>statements</a:t>
            </a:r>
            <a:endParaRPr sz="1279">
              <a:latin typeface="Lucida Console"/>
              <a:cs typeface="Lucida Consol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7873" y="2091585"/>
            <a:ext cx="4091268" cy="3429560"/>
            <a:chOff x="1125856" y="2370462"/>
            <a:chExt cx="4636770" cy="3886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856" y="2370462"/>
              <a:ext cx="4636293" cy="38862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8400" y="2414525"/>
              <a:ext cx="4508500" cy="3750945"/>
            </a:xfrm>
            <a:custGeom>
              <a:avLst/>
              <a:gdLst/>
              <a:ahLst/>
              <a:cxnLst/>
              <a:rect l="l" t="t" r="r" b="b"/>
              <a:pathLst>
                <a:path w="4508500" h="3750945">
                  <a:moveTo>
                    <a:pt x="0" y="0"/>
                  </a:moveTo>
                  <a:lnTo>
                    <a:pt x="4508500" y="0"/>
                  </a:lnTo>
                  <a:lnTo>
                    <a:pt x="4508500" y="3750704"/>
                  </a:lnTo>
                  <a:lnTo>
                    <a:pt x="0" y="375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365567" y="3932090"/>
              <a:ext cx="4112895" cy="1094105"/>
            </a:xfrm>
            <a:custGeom>
              <a:avLst/>
              <a:gdLst/>
              <a:ahLst/>
              <a:cxnLst/>
              <a:rect l="l" t="t" r="r" b="b"/>
              <a:pathLst>
                <a:path w="4112895" h="1094104">
                  <a:moveTo>
                    <a:pt x="4112418" y="0"/>
                  </a:moveTo>
                  <a:lnTo>
                    <a:pt x="0" y="0"/>
                  </a:lnTo>
                  <a:lnTo>
                    <a:pt x="0" y="1093557"/>
                  </a:lnTo>
                  <a:lnTo>
                    <a:pt x="4112418" y="1093557"/>
                  </a:lnTo>
                  <a:lnTo>
                    <a:pt x="4112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65412" y="2130463"/>
            <a:ext cx="3978088" cy="3335068"/>
          </a:xfrm>
          <a:prstGeom prst="rect">
            <a:avLst/>
          </a:prstGeom>
        </p:spPr>
        <p:txBody>
          <a:bodyPr vert="horz" wrap="square" lIns="0" tIns="143435" rIns="0" bIns="0" rtlCol="0">
            <a:spAutoFit/>
          </a:bodyPr>
          <a:lstStyle/>
          <a:p>
            <a:pPr marL="177623">
              <a:spcBef>
                <a:spcPts val="1129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class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ThreeSort</a:t>
            </a:r>
            <a:endParaRPr sz="1059">
              <a:latin typeface="Lucida Console"/>
              <a:cs typeface="Lucida Console"/>
            </a:endParaRPr>
          </a:p>
          <a:p>
            <a:pPr marL="177623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428088">
              <a:spcBef>
                <a:spcPts val="44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static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void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main(String[]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args)</a:t>
            </a:r>
            <a:endParaRPr sz="1059">
              <a:latin typeface="Lucida Console"/>
              <a:cs typeface="Lucida Console"/>
            </a:endParaRPr>
          </a:p>
          <a:p>
            <a:pPr marL="428088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678552" marR="454422" algn="just">
              <a:lnSpc>
                <a:spcPct val="103200"/>
              </a:lnSpc>
            </a:pP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Integer.parseInt(args[0]);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Integer.parseInt(args[1]);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Integer.parseInt(args[2]);</a:t>
            </a: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059">
              <a:latin typeface="Lucida Console"/>
              <a:cs typeface="Lucida Console"/>
            </a:endParaRPr>
          </a:p>
          <a:p>
            <a:pPr>
              <a:spcBef>
                <a:spcPts val="459"/>
              </a:spcBef>
            </a:pPr>
            <a:endParaRPr sz="1059">
              <a:latin typeface="Lucida Console"/>
              <a:cs typeface="Lucida Console"/>
            </a:endParaRPr>
          </a:p>
          <a:p>
            <a:pPr marL="678552" marR="1456281" algn="just">
              <a:lnSpc>
                <a:spcPct val="103200"/>
              </a:lnSpc>
            </a:pPr>
            <a:r>
              <a:rPr sz="1059" spc="-9" dirty="0">
                <a:latin typeface="Lucida Console"/>
                <a:cs typeface="Lucida Console"/>
              </a:rPr>
              <a:t>System.out.println(a); System.out.println(b); System.out.println(c);</a:t>
            </a:r>
            <a:endParaRPr sz="1059">
              <a:latin typeface="Lucida Console"/>
              <a:cs typeface="Lucida Console"/>
            </a:endParaRPr>
          </a:p>
          <a:p>
            <a:pPr marL="428088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  <a:p>
            <a:pPr marL="177623">
              <a:spcBef>
                <a:spcPts val="44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912" y="1535885"/>
            <a:ext cx="5827059" cy="45672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2449" rIns="0" bIns="0" rtlCol="0">
            <a:spAutoFit/>
          </a:bodyPr>
          <a:lstStyle/>
          <a:p>
            <a:pPr marL="145684" marR="630925">
              <a:lnSpc>
                <a:spcPts val="1421"/>
              </a:lnSpc>
              <a:spcBef>
                <a:spcPts val="728"/>
              </a:spcBef>
            </a:pP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Q.</a:t>
            </a:r>
            <a:r>
              <a:rPr sz="1279" spc="4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Add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code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to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this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program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that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puts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a,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b,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and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in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spc="-9" dirty="0">
                <a:latin typeface="Lucida Sans Unicode"/>
                <a:cs typeface="Lucida Sans Unicode"/>
              </a:rPr>
              <a:t>numerical order.</a:t>
            </a:r>
            <a:endParaRPr sz="1279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5158" y="2985871"/>
            <a:ext cx="2482242" cy="201764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434853" y="3016721"/>
            <a:ext cx="2386853" cy="162540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8393" rIns="0" bIns="0" rtlCol="0">
            <a:spAutoFit/>
          </a:bodyPr>
          <a:lstStyle/>
          <a:p>
            <a:pPr marL="170338">
              <a:spcBef>
                <a:spcPts val="1090"/>
              </a:spcBef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ThreeSort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1234</a:t>
            </a:r>
            <a:r>
              <a:rPr sz="971" spc="31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99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spc="-44" dirty="0">
                <a:latin typeface="Lucida Console"/>
                <a:cs typeface="Lucida Console"/>
              </a:rPr>
              <a:t>1</a:t>
            </a:r>
            <a:endParaRPr sz="971">
              <a:latin typeface="Lucida Console"/>
              <a:cs typeface="Lucida Console"/>
            </a:endParaRPr>
          </a:p>
          <a:p>
            <a:pPr marL="170338">
              <a:spcBef>
                <a:spcPts val="141"/>
              </a:spcBef>
            </a:pPr>
            <a:r>
              <a:rPr sz="971" spc="-44" dirty="0">
                <a:latin typeface="Lucida Console"/>
                <a:cs typeface="Lucida Console"/>
              </a:rPr>
              <a:t>1</a:t>
            </a:r>
            <a:endParaRPr sz="971">
              <a:latin typeface="Lucida Console"/>
              <a:cs typeface="Lucida Console"/>
            </a:endParaRPr>
          </a:p>
          <a:p>
            <a:pPr marL="170338">
              <a:spcBef>
                <a:spcPts val="137"/>
              </a:spcBef>
            </a:pP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0338">
              <a:spcBef>
                <a:spcPts val="137"/>
              </a:spcBef>
            </a:pP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  <a:p>
            <a:pPr>
              <a:spcBef>
                <a:spcPts val="468"/>
              </a:spcBef>
            </a:pPr>
            <a:endParaRPr sz="971">
              <a:latin typeface="Lucida Console"/>
              <a:cs typeface="Lucida Console"/>
            </a:endParaRPr>
          </a:p>
          <a:p>
            <a:pPr marL="170338"/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ThreeSort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99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1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  <a:p>
            <a:pPr marL="170338">
              <a:spcBef>
                <a:spcPts val="137"/>
              </a:spcBef>
            </a:pPr>
            <a:r>
              <a:rPr sz="971" spc="-44" dirty="0">
                <a:latin typeface="Lucida Console"/>
                <a:cs typeface="Lucida Console"/>
              </a:rPr>
              <a:t>1</a:t>
            </a:r>
            <a:endParaRPr sz="971">
              <a:latin typeface="Lucida Console"/>
              <a:cs typeface="Lucida Console"/>
            </a:endParaRPr>
          </a:p>
          <a:p>
            <a:pPr marL="170338">
              <a:spcBef>
                <a:spcPts val="137"/>
              </a:spcBef>
            </a:pP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0338">
              <a:spcBef>
                <a:spcPts val="137"/>
              </a:spcBef>
            </a:pP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20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556030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117" y="1395654"/>
            <a:ext cx="7944971" cy="0"/>
          </a:xfrm>
          <a:custGeom>
            <a:avLst/>
            <a:gdLst/>
            <a:ahLst/>
            <a:cxnLst/>
            <a:rect l="l" t="t" r="r" b="b"/>
            <a:pathLst>
              <a:path w="9004300">
                <a:moveTo>
                  <a:pt x="0" y="0"/>
                </a:moveTo>
                <a:lnTo>
                  <a:pt x="9004300" y="0"/>
                </a:lnTo>
              </a:path>
            </a:pathLst>
          </a:custGeom>
          <a:ln w="5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882" y="400400"/>
            <a:ext cx="7261412" cy="692384"/>
          </a:xfrm>
          <a:prstGeom prst="rect">
            <a:avLst/>
          </a:prstGeom>
        </p:spPr>
        <p:txBody>
          <a:bodyPr vert="horz" wrap="square" lIns="0" tIns="15128" rIns="0" bIns="0" rtlCol="0" anchor="ctr">
            <a:spAutoFit/>
          </a:bodyPr>
          <a:lstStyle/>
          <a:p>
            <a:pPr marL="11206">
              <a:spcBef>
                <a:spcPts val="119"/>
              </a:spcBef>
            </a:pPr>
            <a:r>
              <a:rPr dirty="0"/>
              <a:t>Pop</a:t>
            </a:r>
            <a:r>
              <a:rPr spc="62" dirty="0"/>
              <a:t> </a:t>
            </a:r>
            <a:r>
              <a:rPr spc="49" dirty="0"/>
              <a:t>quiz</a:t>
            </a:r>
            <a:r>
              <a:rPr spc="62" dirty="0"/>
              <a:t> </a:t>
            </a:r>
            <a:r>
              <a:rPr dirty="0"/>
              <a:t>on</a:t>
            </a:r>
            <a:r>
              <a:rPr spc="66" dirty="0"/>
              <a:t> </a:t>
            </a:r>
            <a:r>
              <a:rPr sz="1279" dirty="0">
                <a:latin typeface="Lucida Console"/>
                <a:cs typeface="Lucida Console"/>
              </a:rPr>
              <a:t>if</a:t>
            </a:r>
            <a:r>
              <a:rPr sz="1279" spc="-291" dirty="0">
                <a:latin typeface="Lucida Console"/>
                <a:cs typeface="Lucida Console"/>
              </a:rPr>
              <a:t> </a:t>
            </a:r>
            <a:r>
              <a:rPr spc="-18" dirty="0"/>
              <a:t>statements</a:t>
            </a:r>
            <a:endParaRPr sz="1279">
              <a:latin typeface="Lucida Console"/>
              <a:cs typeface="Lucida Consol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7873" y="2091585"/>
            <a:ext cx="4724400" cy="3429560"/>
            <a:chOff x="1125856" y="2370462"/>
            <a:chExt cx="5354320" cy="3886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856" y="2370462"/>
              <a:ext cx="5354002" cy="38862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8400" y="2414525"/>
              <a:ext cx="5219700" cy="3750945"/>
            </a:xfrm>
            <a:custGeom>
              <a:avLst/>
              <a:gdLst/>
              <a:ahLst/>
              <a:cxnLst/>
              <a:rect l="l" t="t" r="r" b="b"/>
              <a:pathLst>
                <a:path w="5219700" h="3750945">
                  <a:moveTo>
                    <a:pt x="0" y="0"/>
                  </a:moveTo>
                  <a:lnTo>
                    <a:pt x="5219700" y="0"/>
                  </a:lnTo>
                  <a:lnTo>
                    <a:pt x="5219700" y="3750704"/>
                  </a:lnTo>
                  <a:lnTo>
                    <a:pt x="0" y="375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365567" y="3932090"/>
              <a:ext cx="4830445" cy="1094105"/>
            </a:xfrm>
            <a:custGeom>
              <a:avLst/>
              <a:gdLst/>
              <a:ahLst/>
              <a:cxnLst/>
              <a:rect l="l" t="t" r="r" b="b"/>
              <a:pathLst>
                <a:path w="4830445" h="1094104">
                  <a:moveTo>
                    <a:pt x="4830127" y="0"/>
                  </a:moveTo>
                  <a:lnTo>
                    <a:pt x="0" y="0"/>
                  </a:lnTo>
                  <a:lnTo>
                    <a:pt x="0" y="1093557"/>
                  </a:lnTo>
                  <a:lnTo>
                    <a:pt x="4830127" y="1093557"/>
                  </a:lnTo>
                  <a:lnTo>
                    <a:pt x="4830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43081" y="2258438"/>
            <a:ext cx="3434043" cy="2674081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84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class</a:t>
            </a:r>
            <a:r>
              <a:rPr sz="1059" spc="88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ThreeSort</a:t>
            </a:r>
            <a:endParaRPr sz="1059">
              <a:latin typeface="Lucida Console"/>
              <a:cs typeface="Lucida Console"/>
            </a:endParaRPr>
          </a:p>
          <a:p>
            <a:pPr>
              <a:spcBef>
                <a:spcPts val="44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249905">
              <a:spcBef>
                <a:spcPts val="40"/>
              </a:spcBef>
            </a:pPr>
            <a:r>
              <a:rPr sz="1059" dirty="0">
                <a:latin typeface="Lucida Console"/>
                <a:cs typeface="Lucida Console"/>
              </a:rPr>
              <a:t>public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static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void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main(String[]</a:t>
            </a:r>
            <a:r>
              <a:rPr sz="1059" spc="11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args)</a:t>
            </a:r>
            <a:endParaRPr sz="1059">
              <a:latin typeface="Lucida Console"/>
              <a:cs typeface="Lucida Console"/>
            </a:endParaRPr>
          </a:p>
          <a:p>
            <a:pPr marL="249905">
              <a:spcBef>
                <a:spcPts val="40"/>
              </a:spcBef>
            </a:pPr>
            <a:r>
              <a:rPr sz="1059" spc="-44" dirty="0">
                <a:latin typeface="Lucida Console"/>
                <a:cs typeface="Lucida Console"/>
              </a:rPr>
              <a:t>{</a:t>
            </a:r>
            <a:endParaRPr sz="1059">
              <a:latin typeface="Lucida Console"/>
              <a:cs typeface="Lucida Console"/>
            </a:endParaRPr>
          </a:p>
          <a:p>
            <a:pPr marL="500369" marR="88531" algn="just">
              <a:lnSpc>
                <a:spcPct val="103200"/>
              </a:lnSpc>
              <a:spcBef>
                <a:spcPts val="4"/>
              </a:spcBef>
            </a:pP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a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Integer.parseInt(args[0]);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b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Integer.parseInt(args[1]); </a:t>
            </a:r>
            <a:r>
              <a:rPr sz="1059" dirty="0">
                <a:latin typeface="Lucida Console"/>
                <a:cs typeface="Lucida Console"/>
              </a:rPr>
              <a:t>int</a:t>
            </a:r>
            <a:r>
              <a:rPr sz="1059" spc="35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c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dirty="0">
                <a:latin typeface="Lucida Console"/>
                <a:cs typeface="Lucida Console"/>
              </a:rPr>
              <a:t>=</a:t>
            </a:r>
            <a:r>
              <a:rPr sz="1059" spc="40" dirty="0">
                <a:latin typeface="Lucida Console"/>
                <a:cs typeface="Lucida Console"/>
              </a:rPr>
              <a:t> </a:t>
            </a:r>
            <a:r>
              <a:rPr sz="1059" spc="-9" dirty="0">
                <a:latin typeface="Lucida Console"/>
                <a:cs typeface="Lucida Console"/>
              </a:rPr>
              <a:t>Integer.parseInt(args[2]);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if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(b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&lt;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22" dirty="0">
                <a:solidFill>
                  <a:srgbClr val="8D3124"/>
                </a:solidFill>
                <a:latin typeface="Lucida Console"/>
                <a:cs typeface="Lucida Console"/>
              </a:rPr>
              <a:t>a)</a:t>
            </a:r>
            <a:endParaRPr sz="1059">
              <a:latin typeface="Lucida Console"/>
              <a:cs typeface="Lucida Console"/>
            </a:endParaRPr>
          </a:p>
          <a:p>
            <a:pPr marL="500369" marR="588340">
              <a:lnSpc>
                <a:spcPct val="103200"/>
              </a:lnSpc>
            </a:pP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{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int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t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a;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a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b;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b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t;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44" dirty="0">
                <a:solidFill>
                  <a:srgbClr val="8D3124"/>
                </a:solidFill>
                <a:latin typeface="Lucida Console"/>
                <a:cs typeface="Lucida Console"/>
              </a:rPr>
              <a:t>}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if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(c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&lt;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22" dirty="0">
                <a:solidFill>
                  <a:srgbClr val="8D3124"/>
                </a:solidFill>
                <a:latin typeface="Lucida Console"/>
                <a:cs typeface="Lucida Console"/>
              </a:rPr>
              <a:t>a)</a:t>
            </a:r>
            <a:endParaRPr sz="1059">
              <a:latin typeface="Lucida Console"/>
              <a:cs typeface="Lucida Console"/>
            </a:endParaRPr>
          </a:p>
          <a:p>
            <a:pPr marL="500369" marR="588340">
              <a:lnSpc>
                <a:spcPct val="103200"/>
              </a:lnSpc>
            </a:pP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{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int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t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a;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a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c;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c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t;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44" dirty="0">
                <a:solidFill>
                  <a:srgbClr val="8D3124"/>
                </a:solidFill>
                <a:latin typeface="Lucida Console"/>
                <a:cs typeface="Lucida Console"/>
              </a:rPr>
              <a:t>}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if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(c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&lt;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22" dirty="0">
                <a:solidFill>
                  <a:srgbClr val="8D3124"/>
                </a:solidFill>
                <a:latin typeface="Lucida Console"/>
                <a:cs typeface="Lucida Console"/>
              </a:rPr>
              <a:t>b)</a:t>
            </a:r>
            <a:endParaRPr sz="1059">
              <a:latin typeface="Lucida Console"/>
              <a:cs typeface="Lucida Console"/>
            </a:endParaRPr>
          </a:p>
          <a:p>
            <a:pPr marL="500369" marR="588340">
              <a:lnSpc>
                <a:spcPct val="103200"/>
              </a:lnSpc>
            </a:pP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{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int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t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b;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b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c;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c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=</a:t>
            </a:r>
            <a:r>
              <a:rPr sz="1059" spc="40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dirty="0">
                <a:solidFill>
                  <a:srgbClr val="8D3124"/>
                </a:solidFill>
                <a:latin typeface="Lucida Console"/>
                <a:cs typeface="Lucida Console"/>
              </a:rPr>
              <a:t>t;</a:t>
            </a:r>
            <a:r>
              <a:rPr sz="1059" spc="35" dirty="0">
                <a:solidFill>
                  <a:srgbClr val="8D3124"/>
                </a:solidFill>
                <a:latin typeface="Lucida Console"/>
                <a:cs typeface="Lucida Console"/>
              </a:rPr>
              <a:t> </a:t>
            </a:r>
            <a:r>
              <a:rPr sz="1059" spc="-44" dirty="0">
                <a:solidFill>
                  <a:srgbClr val="8D3124"/>
                </a:solidFill>
                <a:latin typeface="Lucida Console"/>
                <a:cs typeface="Lucida Console"/>
              </a:rPr>
              <a:t>} </a:t>
            </a:r>
            <a:r>
              <a:rPr sz="1059" spc="-9" dirty="0">
                <a:latin typeface="Lucida Console"/>
                <a:cs typeface="Lucida Console"/>
              </a:rPr>
              <a:t>System.out.println(a); System.out.println(b); System.out.println(c);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3081" y="4923944"/>
            <a:ext cx="345141" cy="34126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249905">
              <a:spcBef>
                <a:spcPts val="119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  <a:p>
            <a:pPr>
              <a:spcBef>
                <a:spcPts val="44"/>
              </a:spcBef>
            </a:pPr>
            <a:r>
              <a:rPr sz="1059" spc="-44" dirty="0">
                <a:latin typeface="Lucida Console"/>
                <a:cs typeface="Lucida Console"/>
              </a:rPr>
              <a:t>}</a:t>
            </a:r>
            <a:endParaRPr sz="1059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912" y="1535885"/>
            <a:ext cx="5827059" cy="45672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2449" rIns="0" bIns="0" rtlCol="0">
            <a:spAutoFit/>
          </a:bodyPr>
          <a:lstStyle/>
          <a:p>
            <a:pPr marL="145684" marR="630925">
              <a:lnSpc>
                <a:spcPts val="1421"/>
              </a:lnSpc>
              <a:spcBef>
                <a:spcPts val="728"/>
              </a:spcBef>
            </a:pPr>
            <a:r>
              <a:rPr sz="1279" dirty="0">
                <a:solidFill>
                  <a:srgbClr val="005493"/>
                </a:solidFill>
                <a:latin typeface="Lucida Sans Unicode"/>
                <a:cs typeface="Lucida Sans Unicode"/>
              </a:rPr>
              <a:t>Q.</a:t>
            </a:r>
            <a:r>
              <a:rPr sz="1279" spc="4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Add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code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to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this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program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that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puts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a,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b,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and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c</a:t>
            </a:r>
            <a:r>
              <a:rPr sz="1279" spc="49" dirty="0">
                <a:latin typeface="Lucida Sans Unicode"/>
                <a:cs typeface="Lucida Sans Unicode"/>
              </a:rPr>
              <a:t> </a:t>
            </a:r>
            <a:r>
              <a:rPr sz="1279" dirty="0">
                <a:latin typeface="Lucida Sans Unicode"/>
                <a:cs typeface="Lucida Sans Unicode"/>
              </a:rPr>
              <a:t>in</a:t>
            </a:r>
            <a:r>
              <a:rPr sz="1279" spc="53" dirty="0">
                <a:latin typeface="Lucida Sans Unicode"/>
                <a:cs typeface="Lucida Sans Unicode"/>
              </a:rPr>
              <a:t> </a:t>
            </a:r>
            <a:r>
              <a:rPr sz="1279" spc="-9" dirty="0">
                <a:latin typeface="Lucida Sans Unicode"/>
                <a:cs typeface="Lucida Sans Unicode"/>
              </a:rPr>
              <a:t>numerical order.</a:t>
            </a:r>
            <a:endParaRPr sz="1279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7401" y="2985871"/>
            <a:ext cx="2482242" cy="20176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94294" y="3016721"/>
            <a:ext cx="2386853" cy="162540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38393" rIns="0" bIns="0" rtlCol="0">
            <a:spAutoFit/>
          </a:bodyPr>
          <a:lstStyle/>
          <a:p>
            <a:pPr marL="173140">
              <a:spcBef>
                <a:spcPts val="1090"/>
              </a:spcBef>
            </a:pPr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ThreeSort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1234</a:t>
            </a:r>
            <a:r>
              <a:rPr sz="971" spc="31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99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spc="-44" dirty="0">
                <a:latin typeface="Lucida Console"/>
                <a:cs typeface="Lucida Console"/>
              </a:rPr>
              <a:t>1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41"/>
              </a:spcBef>
            </a:pPr>
            <a:r>
              <a:rPr sz="971" spc="-44" dirty="0">
                <a:latin typeface="Lucida Console"/>
                <a:cs typeface="Lucida Console"/>
              </a:rPr>
              <a:t>1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  <a:p>
            <a:pPr>
              <a:spcBef>
                <a:spcPts val="468"/>
              </a:spcBef>
            </a:pPr>
            <a:endParaRPr sz="971">
              <a:latin typeface="Lucida Console"/>
              <a:cs typeface="Lucida Console"/>
            </a:endParaRPr>
          </a:p>
          <a:p>
            <a:pPr marL="173140"/>
            <a:r>
              <a:rPr sz="971" dirty="0">
                <a:latin typeface="Lucida Console"/>
                <a:cs typeface="Lucida Console"/>
              </a:rPr>
              <a:t>%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java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ThreeSort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99</a:t>
            </a:r>
            <a:r>
              <a:rPr sz="971" spc="26" dirty="0">
                <a:latin typeface="Lucida Console"/>
                <a:cs typeface="Lucida Console"/>
              </a:rPr>
              <a:t> </a:t>
            </a:r>
            <a:r>
              <a:rPr sz="971" dirty="0">
                <a:latin typeface="Lucida Console"/>
                <a:cs typeface="Lucida Console"/>
              </a:rPr>
              <a:t>1</a:t>
            </a:r>
            <a:r>
              <a:rPr sz="971" spc="22" dirty="0">
                <a:latin typeface="Lucida Console"/>
                <a:cs typeface="Lucida Console"/>
              </a:rPr>
              <a:t> </a:t>
            </a: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44" dirty="0">
                <a:latin typeface="Lucida Console"/>
                <a:cs typeface="Lucida Console"/>
              </a:rPr>
              <a:t>1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22" dirty="0">
                <a:latin typeface="Lucida Console"/>
                <a:cs typeface="Lucida Console"/>
              </a:rPr>
              <a:t>99</a:t>
            </a:r>
            <a:endParaRPr sz="971">
              <a:latin typeface="Lucida Console"/>
              <a:cs typeface="Lucida Console"/>
            </a:endParaRPr>
          </a:p>
          <a:p>
            <a:pPr marL="173140">
              <a:spcBef>
                <a:spcPts val="137"/>
              </a:spcBef>
            </a:pPr>
            <a:r>
              <a:rPr sz="971" spc="-18" dirty="0">
                <a:latin typeface="Lucida Console"/>
                <a:cs typeface="Lucida Console"/>
              </a:rPr>
              <a:t>1234</a:t>
            </a:r>
            <a:endParaRPr sz="971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3912" y="3431804"/>
            <a:ext cx="437029" cy="27322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5640" rIns="0" bIns="0" rtlCol="0">
            <a:spAutoFit/>
          </a:bodyPr>
          <a:lstStyle/>
          <a:p>
            <a:pPr marL="145684">
              <a:spcBef>
                <a:spcPts val="596"/>
              </a:spcBef>
            </a:pPr>
            <a:r>
              <a:rPr sz="1279" spc="-22" dirty="0">
                <a:solidFill>
                  <a:srgbClr val="005493"/>
                </a:solidFill>
                <a:latin typeface="Lucida Sans Unicode"/>
                <a:cs typeface="Lucida Sans Unicode"/>
              </a:rPr>
              <a:t>A.</a:t>
            </a:r>
            <a:endParaRPr sz="1279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32668" y="3718516"/>
            <a:ext cx="232522" cy="415738"/>
            <a:chOff x="4644623" y="4214318"/>
            <a:chExt cx="263525" cy="47117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4623" y="4583031"/>
              <a:ext cx="262201" cy="1019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7323" y="4214318"/>
              <a:ext cx="250729" cy="10349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28850" y="3665594"/>
            <a:ext cx="999565" cy="293987"/>
          </a:xfrm>
          <a:prstGeom prst="rect">
            <a:avLst/>
          </a:prstGeom>
        </p:spPr>
        <p:txBody>
          <a:bodyPr vert="horz" wrap="square" lIns="0" tIns="31937" rIns="0" bIns="0" rtlCol="0">
            <a:spAutoFit/>
          </a:bodyPr>
          <a:lstStyle/>
          <a:p>
            <a:pPr marL="300894" marR="4483" indent="-301454">
              <a:lnSpc>
                <a:spcPts val="1024"/>
              </a:lnSpc>
              <a:spcBef>
                <a:spcPts val="251"/>
              </a:spcBef>
            </a:pP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makes</a:t>
            </a:r>
            <a:r>
              <a:rPr sz="971" spc="13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i="1" spc="84" dirty="0">
                <a:solidFill>
                  <a:srgbClr val="005493"/>
                </a:solidFill>
                <a:latin typeface="Trebuchet MS"/>
                <a:cs typeface="Trebuchet MS"/>
              </a:rPr>
              <a:t>a</a:t>
            </a:r>
            <a:r>
              <a:rPr sz="971" i="1" spc="35" dirty="0">
                <a:solidFill>
                  <a:srgbClr val="005493"/>
                </a:solidFill>
                <a:latin typeface="Trebuchet MS"/>
                <a:cs typeface="Trebuchet MS"/>
              </a:rPr>
              <a:t> </a:t>
            </a:r>
            <a:r>
              <a:rPr sz="971" spc="-9" dirty="0">
                <a:solidFill>
                  <a:srgbClr val="005493"/>
                </a:solidFill>
                <a:latin typeface="Lucida Sans Unicode"/>
                <a:cs typeface="Lucida Sans Unicode"/>
              </a:rPr>
              <a:t>smaller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than </a:t>
            </a:r>
            <a:r>
              <a:rPr sz="971" i="1" spc="9" dirty="0">
                <a:solidFill>
                  <a:srgbClr val="005493"/>
                </a:solidFill>
                <a:latin typeface="Trebuchet MS"/>
                <a:cs typeface="Trebuchet MS"/>
              </a:rPr>
              <a:t>b</a:t>
            </a:r>
            <a:endParaRPr sz="971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6393" y="3989526"/>
            <a:ext cx="1082488" cy="614588"/>
          </a:xfrm>
          <a:prstGeom prst="rect">
            <a:avLst/>
          </a:prstGeom>
        </p:spPr>
        <p:txBody>
          <a:bodyPr vert="horz" wrap="square" lIns="0" tIns="31937" rIns="0" bIns="0" rtlCol="0">
            <a:spAutoFit/>
          </a:bodyPr>
          <a:lstStyle/>
          <a:p>
            <a:pPr marR="4483" algn="ctr">
              <a:lnSpc>
                <a:spcPts val="1024"/>
              </a:lnSpc>
              <a:spcBef>
                <a:spcPts val="251"/>
              </a:spcBef>
            </a:pP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makes</a:t>
            </a:r>
            <a:r>
              <a:rPr sz="971" spc="13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i="1" spc="84" dirty="0">
                <a:solidFill>
                  <a:srgbClr val="005493"/>
                </a:solidFill>
                <a:latin typeface="Trebuchet MS"/>
                <a:cs typeface="Trebuchet MS"/>
              </a:rPr>
              <a:t>a</a:t>
            </a:r>
            <a:r>
              <a:rPr sz="971" i="1" spc="35" dirty="0">
                <a:solidFill>
                  <a:srgbClr val="005493"/>
                </a:solidFill>
                <a:latin typeface="Trebuchet MS"/>
                <a:cs typeface="Trebuchet MS"/>
              </a:rPr>
              <a:t> </a:t>
            </a:r>
            <a:r>
              <a:rPr sz="971" spc="-9" dirty="0">
                <a:solidFill>
                  <a:srgbClr val="005493"/>
                </a:solidFill>
                <a:latin typeface="Lucida Sans Unicode"/>
                <a:cs typeface="Lucida Sans Unicode"/>
              </a:rPr>
              <a:t>smaller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than</a:t>
            </a:r>
            <a:r>
              <a:rPr sz="971" spc="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both</a:t>
            </a:r>
            <a:r>
              <a:rPr sz="971" spc="4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i="1" spc="53" dirty="0">
                <a:solidFill>
                  <a:srgbClr val="005493"/>
                </a:solidFill>
                <a:latin typeface="Trebuchet MS"/>
                <a:cs typeface="Trebuchet MS"/>
              </a:rPr>
              <a:t>b</a:t>
            </a:r>
            <a:r>
              <a:rPr sz="971" i="1" spc="22" dirty="0">
                <a:solidFill>
                  <a:srgbClr val="005493"/>
                </a:solidFill>
                <a:latin typeface="Trebuchet MS"/>
                <a:cs typeface="Trebuchet MS"/>
              </a:rPr>
              <a:t>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and</a:t>
            </a:r>
            <a:r>
              <a:rPr sz="971" spc="9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i="1" spc="9" dirty="0">
                <a:solidFill>
                  <a:srgbClr val="005493"/>
                </a:solidFill>
                <a:latin typeface="Trebuchet MS"/>
                <a:cs typeface="Trebuchet MS"/>
              </a:rPr>
              <a:t>c</a:t>
            </a:r>
            <a:endParaRPr sz="971" dirty="0">
              <a:latin typeface="Trebuchet MS"/>
              <a:cs typeface="Trebuchet MS"/>
            </a:endParaRPr>
          </a:p>
          <a:p>
            <a:pPr marL="42024" marR="44266" algn="ctr">
              <a:lnSpc>
                <a:spcPts val="1024"/>
              </a:lnSpc>
              <a:spcBef>
                <a:spcPts val="503"/>
              </a:spcBef>
            </a:pP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makes</a:t>
            </a:r>
            <a:r>
              <a:rPr sz="971" spc="13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971" i="1" spc="53" dirty="0">
                <a:solidFill>
                  <a:srgbClr val="005493"/>
                </a:solidFill>
                <a:latin typeface="Trebuchet MS"/>
                <a:cs typeface="Trebuchet MS"/>
              </a:rPr>
              <a:t>b</a:t>
            </a:r>
            <a:r>
              <a:rPr sz="971" i="1" spc="35" dirty="0">
                <a:solidFill>
                  <a:srgbClr val="005493"/>
                </a:solidFill>
                <a:latin typeface="Trebuchet MS"/>
                <a:cs typeface="Trebuchet MS"/>
              </a:rPr>
              <a:t> </a:t>
            </a:r>
            <a:r>
              <a:rPr sz="971" spc="-9" dirty="0">
                <a:solidFill>
                  <a:srgbClr val="005493"/>
                </a:solidFill>
                <a:latin typeface="Lucida Sans Unicode"/>
                <a:cs typeface="Lucida Sans Unicode"/>
              </a:rPr>
              <a:t>smaller </a:t>
            </a:r>
            <a:r>
              <a:rPr sz="971" dirty="0">
                <a:solidFill>
                  <a:srgbClr val="005493"/>
                </a:solidFill>
                <a:latin typeface="Lucida Sans Unicode"/>
                <a:cs typeface="Lucida Sans Unicode"/>
              </a:rPr>
              <a:t>than </a:t>
            </a:r>
            <a:r>
              <a:rPr sz="971" i="1" spc="9" dirty="0">
                <a:solidFill>
                  <a:srgbClr val="005493"/>
                </a:solidFill>
                <a:latin typeface="Trebuchet MS"/>
                <a:cs typeface="Trebuchet MS"/>
              </a:rPr>
              <a:t>c</a:t>
            </a:r>
            <a:endParaRPr sz="971" dirty="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43874" y="4369187"/>
            <a:ext cx="221231" cy="8851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9756538" y="6455328"/>
            <a:ext cx="214629" cy="17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spcBef>
                <a:spcPts val="1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10"/>
                </a:spcBef>
              </a:pPr>
              <a:t>21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1849262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 dirty="0">
                <a:latin typeface="+mj-lt"/>
              </a:rPr>
              <a:t>The Two-way </a:t>
            </a:r>
            <a:r>
              <a:rPr lang="en-US" altLang="en-US" sz="4200" dirty="0">
                <a:latin typeface="+mj-lt"/>
              </a:rPr>
              <a:t>if</a:t>
            </a:r>
            <a:r>
              <a:rPr lang="en-US" altLang="en-US" sz="4400" dirty="0">
                <a:latin typeface="+mj-lt"/>
              </a:rPr>
              <a:t> Statement</a:t>
            </a:r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308666" y="2069931"/>
            <a:ext cx="67056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 indent="-3413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marL="342900" eaLnBrk="1" hangingPunct="1">
              <a:lnSpc>
                <a:spcPct val="90000"/>
              </a:lnSpc>
              <a:spcBef>
                <a:spcPts val="500"/>
              </a:spcBef>
              <a:buSzPct val="75000"/>
            </a:pPr>
            <a:r>
              <a:rPr lang="en-US" altLang="en-US" sz="2400" b="1" dirty="0">
                <a:latin typeface="Courier New" pitchFamily="49" charset="0"/>
              </a:rPr>
              <a:t>if (</a:t>
            </a:r>
            <a:r>
              <a:rPr lang="en-US" altLang="en-US" sz="2400" b="1" dirty="0" err="1">
                <a:latin typeface="Courier New" pitchFamily="49" charset="0"/>
              </a:rPr>
              <a:t>boolean</a:t>
            </a:r>
            <a:r>
              <a:rPr lang="en-US" altLang="en-US" sz="2400" b="1" dirty="0">
                <a:latin typeface="Courier New" pitchFamily="49" charset="0"/>
              </a:rPr>
              <a:t>-expression) { </a:t>
            </a:r>
          </a:p>
          <a:p>
            <a:pPr marL="342900" eaLnBrk="1" hangingPunct="1">
              <a:lnSpc>
                <a:spcPct val="90000"/>
              </a:lnSpc>
              <a:spcBef>
                <a:spcPts val="500"/>
              </a:spcBef>
              <a:buSzPct val="75000"/>
            </a:pPr>
            <a:r>
              <a:rPr lang="en-US" altLang="en-US" sz="2400" b="1" dirty="0">
                <a:latin typeface="Courier New" pitchFamily="49" charset="0"/>
              </a:rPr>
              <a:t>  statement(s)-for-the-true-case;</a:t>
            </a:r>
          </a:p>
          <a:p>
            <a:pPr marL="342900" eaLnBrk="1" hangingPunct="1">
              <a:lnSpc>
                <a:spcPct val="90000"/>
              </a:lnSpc>
              <a:spcBef>
                <a:spcPts val="500"/>
              </a:spcBef>
              <a:buSzPct val="75000"/>
            </a:pPr>
            <a:r>
              <a:rPr lang="en-US" altLang="en-US" sz="2400" b="1" dirty="0">
                <a:latin typeface="Courier New" pitchFamily="49" charset="0"/>
              </a:rPr>
              <a:t>}</a:t>
            </a:r>
          </a:p>
          <a:p>
            <a:pPr marL="342900" eaLnBrk="1" hangingPunct="1">
              <a:lnSpc>
                <a:spcPct val="90000"/>
              </a:lnSpc>
              <a:spcBef>
                <a:spcPts val="500"/>
              </a:spcBef>
              <a:buSzPct val="75000"/>
            </a:pPr>
            <a:r>
              <a:rPr lang="en-US" altLang="en-US" sz="2400" b="1" dirty="0">
                <a:latin typeface="Courier New" pitchFamily="49" charset="0"/>
              </a:rPr>
              <a:t>else {</a:t>
            </a:r>
          </a:p>
          <a:p>
            <a:pPr marL="342900" eaLnBrk="1" hangingPunct="1">
              <a:lnSpc>
                <a:spcPct val="90000"/>
              </a:lnSpc>
              <a:spcBef>
                <a:spcPts val="500"/>
              </a:spcBef>
              <a:buSzPct val="75000"/>
            </a:pPr>
            <a:r>
              <a:rPr lang="en-US" altLang="en-US" sz="2400" b="1" dirty="0">
                <a:latin typeface="Courier New" pitchFamily="49" charset="0"/>
              </a:rPr>
              <a:t>  statement(s)-for-the-false-case;</a:t>
            </a:r>
          </a:p>
          <a:p>
            <a:pPr marL="342900" eaLnBrk="1" hangingPunct="1">
              <a:lnSpc>
                <a:spcPct val="90000"/>
              </a:lnSpc>
              <a:spcBef>
                <a:spcPts val="500"/>
              </a:spcBef>
              <a:buSzPct val="75000"/>
            </a:pPr>
            <a:r>
              <a:rPr lang="en-US" altLang="en-US" sz="2400" b="1" dirty="0">
                <a:latin typeface="Courier New" pitchFamily="49" charset="0"/>
              </a:rPr>
              <a:t>}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162175" y="24288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204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044434"/>
            <a:ext cx="7508934" cy="2787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7925" y="1085850"/>
            <a:ext cx="873367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An if-else statement decides the execution path based on whether the condition is true or false</a:t>
            </a:r>
          </a:p>
        </p:txBody>
      </p:sp>
    </p:spTree>
    <p:extLst>
      <p:ext uri="{BB962C8B-B14F-4D97-AF65-F5344CB8AC3E}">
        <p14:creationId xmlns:p14="http://schemas.microsoft.com/office/powerpoint/2010/main" val="517079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>
                <a:latin typeface="Courier New" pitchFamily="49" charset="0"/>
              </a:rPr>
              <a:t>if-else</a:t>
            </a:r>
            <a:r>
              <a:rPr lang="en-US" altLang="en-US" sz="4400"/>
              <a:t> Example</a:t>
            </a: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914400" y="13716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 indent="-341313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marL="342900" eaLnBrk="1" hangingPunct="1">
              <a:spcBef>
                <a:spcPts val="600"/>
              </a:spcBef>
              <a:buSzPct val="75000"/>
            </a:pPr>
            <a:r>
              <a:rPr lang="en-US" altLang="en-US" sz="2400" b="1">
                <a:latin typeface="Courier New" pitchFamily="49" charset="0"/>
              </a:rPr>
              <a:t>if (radius &gt;= 0) {   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  area = radius * radius * 3.14159;</a:t>
            </a:r>
          </a:p>
          <a:p>
            <a:pPr marL="342900" eaLnBrk="1" hangingPunct="1">
              <a:buSzPct val="75000"/>
            </a:pPr>
            <a:endParaRPr lang="en-US" altLang="en-US" sz="2400" b="1">
              <a:latin typeface="Courier New" pitchFamily="49" charset="0"/>
            </a:endParaRP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 	System.out.println("The area for the “  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    + “circle of radius " + radius + 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    " is " + area);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}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else {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  System.out.println("Negative input");</a:t>
            </a:r>
          </a:p>
          <a:p>
            <a:pPr marL="342900" eaLnBrk="1" hangingPunct="1">
              <a:buSzPct val="75000"/>
            </a:pPr>
            <a:r>
              <a:rPr lang="en-US" altLang="en-US" sz="2400" b="1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46071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75" y="990600"/>
            <a:ext cx="8991600" cy="2623810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/>
              <a:t>Chris owns an auto repair business and has several employees. If an employee works over 40 hours in a week, Chris pays that employee 1.5 times his or her regular hourly pay rate for all hours over 40. Chris has asked you to design a simple payroll program that calculates an employee’s gross pay, including any overtime wages.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03662" y="4114800"/>
            <a:ext cx="8763000" cy="2439382"/>
            <a:chOff x="152400" y="3614410"/>
            <a:chExt cx="8763000" cy="2439382"/>
          </a:xfrm>
        </p:grpSpPr>
        <p:sp>
          <p:nvSpPr>
            <p:cNvPr id="4" name="Rectangle 3"/>
            <p:cNvSpPr/>
            <p:nvPr/>
          </p:nvSpPr>
          <p:spPr>
            <a:xfrm>
              <a:off x="152400" y="4114800"/>
              <a:ext cx="876300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1. Get the number of hours worked.</a:t>
              </a:r>
            </a:p>
            <a:p>
              <a:r>
                <a:rPr lang="en-US" sz="2400" dirty="0"/>
                <a:t>2. Get the hourly pay rate.</a:t>
              </a:r>
            </a:p>
            <a:p>
              <a:r>
                <a:rPr lang="en-US" sz="2400" dirty="0"/>
                <a:t>3. If the employee worked more than 40 hours, calculate the gross  pay with over-time. Otherwise, calculate the gross pay as usual.</a:t>
              </a:r>
            </a:p>
            <a:p>
              <a:r>
                <a:rPr lang="en-US" sz="2400" dirty="0"/>
                <a:t>4. Display the gross pay.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70411" y="361441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2800" b="1" dirty="0"/>
                <a:t>Algorithm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1079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25708-889A-FCC0-C69C-7AB1D3523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0"/>
            <a:ext cx="8458200" cy="65532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000" dirty="0"/>
              <a:t>import </a:t>
            </a:r>
            <a:r>
              <a:rPr lang="en-US" sz="4000" dirty="0" err="1"/>
              <a:t>java.util.Scanner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r>
              <a:rPr lang="en-US" sz="4000" dirty="0"/>
              <a:t>public class </a:t>
            </a:r>
            <a:r>
              <a:rPr lang="en-US" sz="4000" dirty="0" err="1"/>
              <a:t>GrossPayCalculator</a:t>
            </a:r>
            <a:r>
              <a:rPr lang="en-US" sz="4000" dirty="0"/>
              <a:t> {</a:t>
            </a:r>
          </a:p>
          <a:p>
            <a:pPr marL="0" indent="0">
              <a:buNone/>
            </a:pPr>
            <a:r>
              <a:rPr lang="en-US" sz="4000" dirty="0"/>
              <a:t>    public static void main(String[] </a:t>
            </a:r>
            <a:r>
              <a:rPr lang="en-US" sz="4000" dirty="0" err="1"/>
              <a:t>args</a:t>
            </a:r>
            <a:r>
              <a:rPr lang="en-US" sz="4000" dirty="0"/>
              <a:t>) {</a:t>
            </a:r>
          </a:p>
          <a:p>
            <a:pPr marL="0" indent="0">
              <a:buNone/>
            </a:pPr>
            <a:r>
              <a:rPr lang="en-US" sz="4000" dirty="0"/>
              <a:t>        Scanner </a:t>
            </a:r>
            <a:r>
              <a:rPr lang="en-US" sz="4000" dirty="0" err="1"/>
              <a:t>scanner</a:t>
            </a:r>
            <a:r>
              <a:rPr lang="en-US" sz="4000" dirty="0"/>
              <a:t> = new Scanner(System.in);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    </a:t>
            </a:r>
            <a:r>
              <a:rPr lang="en-US" sz="4000" dirty="0" err="1"/>
              <a:t>System.out.print</a:t>
            </a:r>
            <a:r>
              <a:rPr lang="en-US" sz="4000" dirty="0"/>
              <a:t>("Enter the number of hours worked: ");</a:t>
            </a:r>
          </a:p>
          <a:p>
            <a:pPr marL="0" indent="0">
              <a:buNone/>
            </a:pPr>
            <a:r>
              <a:rPr lang="en-US" sz="4000" dirty="0"/>
              <a:t>        double </a:t>
            </a:r>
            <a:r>
              <a:rPr lang="en-US" sz="4000" dirty="0" err="1"/>
              <a:t>hoursWorked</a:t>
            </a:r>
            <a:r>
              <a:rPr lang="en-US" sz="4000" dirty="0"/>
              <a:t> = </a:t>
            </a:r>
            <a:r>
              <a:rPr lang="en-US" sz="4000" dirty="0" err="1"/>
              <a:t>scanner.nextDouble</a:t>
            </a:r>
            <a:r>
              <a:rPr lang="en-US" sz="4000" dirty="0"/>
              <a:t>();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    </a:t>
            </a:r>
            <a:r>
              <a:rPr lang="en-US" sz="4000" dirty="0" err="1"/>
              <a:t>System.out.print</a:t>
            </a:r>
            <a:r>
              <a:rPr lang="en-US" sz="4000" dirty="0"/>
              <a:t>("Enter the hourly pay rate: ");</a:t>
            </a:r>
          </a:p>
          <a:p>
            <a:pPr marL="0" indent="0">
              <a:buNone/>
            </a:pPr>
            <a:r>
              <a:rPr lang="en-US" sz="4000" dirty="0"/>
              <a:t>        double </a:t>
            </a:r>
            <a:r>
              <a:rPr lang="en-US" sz="4000" dirty="0" err="1"/>
              <a:t>hourlyRate</a:t>
            </a:r>
            <a:r>
              <a:rPr lang="en-US" sz="4000" dirty="0"/>
              <a:t> = </a:t>
            </a:r>
            <a:r>
              <a:rPr lang="en-US" sz="4000" dirty="0" err="1"/>
              <a:t>scanner.nextDouble</a:t>
            </a:r>
            <a:r>
              <a:rPr lang="en-US" sz="4000" dirty="0"/>
              <a:t>();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    double </a:t>
            </a:r>
            <a:r>
              <a:rPr lang="en-US" sz="4000" dirty="0" err="1"/>
              <a:t>grossPay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r>
              <a:rPr lang="en-US" sz="4000" dirty="0"/>
              <a:t>        double </a:t>
            </a:r>
            <a:r>
              <a:rPr lang="en-US" sz="4000" dirty="0" err="1"/>
              <a:t>overtimeRate</a:t>
            </a:r>
            <a:r>
              <a:rPr lang="en-US" sz="4000" dirty="0"/>
              <a:t> = 1.5; </a:t>
            </a:r>
          </a:p>
          <a:p>
            <a:pPr marL="0" indent="0">
              <a:buNone/>
            </a:pPr>
            <a:r>
              <a:rPr lang="en-US" sz="4000" dirty="0"/>
              <a:t>        double </a:t>
            </a:r>
            <a:r>
              <a:rPr lang="en-US" sz="4000" dirty="0" err="1"/>
              <a:t>regularHours</a:t>
            </a:r>
            <a:r>
              <a:rPr lang="en-US" sz="4000" dirty="0"/>
              <a:t> = 40.0;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    if (</a:t>
            </a:r>
            <a:r>
              <a:rPr lang="en-US" sz="4000" dirty="0" err="1"/>
              <a:t>hoursWorked</a:t>
            </a:r>
            <a:r>
              <a:rPr lang="en-US" sz="4000" dirty="0"/>
              <a:t> &gt; </a:t>
            </a:r>
            <a:r>
              <a:rPr lang="en-US" sz="4000" dirty="0" err="1"/>
              <a:t>regularHours</a:t>
            </a:r>
            <a:r>
              <a:rPr lang="en-US" sz="4000" dirty="0"/>
              <a:t>) {</a:t>
            </a:r>
          </a:p>
          <a:p>
            <a:pPr marL="0" indent="0">
              <a:buNone/>
            </a:pPr>
            <a:r>
              <a:rPr lang="en-US" sz="4000" dirty="0"/>
              <a:t>            double </a:t>
            </a:r>
            <a:r>
              <a:rPr lang="en-US" sz="4000" dirty="0" err="1"/>
              <a:t>overtimeHours</a:t>
            </a:r>
            <a:r>
              <a:rPr lang="en-US" sz="4000" dirty="0"/>
              <a:t> = </a:t>
            </a:r>
            <a:r>
              <a:rPr lang="en-US" sz="4000" dirty="0" err="1"/>
              <a:t>hoursWorked</a:t>
            </a:r>
            <a:r>
              <a:rPr lang="en-US" sz="4000" dirty="0"/>
              <a:t> - </a:t>
            </a:r>
            <a:r>
              <a:rPr lang="en-US" sz="4000" dirty="0" err="1"/>
              <a:t>regularHours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r>
              <a:rPr lang="en-US" sz="4000" dirty="0"/>
              <a:t>            </a:t>
            </a:r>
            <a:r>
              <a:rPr lang="en-US" sz="4000" dirty="0" err="1"/>
              <a:t>grossPay</a:t>
            </a:r>
            <a:r>
              <a:rPr lang="en-US" sz="4000" dirty="0"/>
              <a:t> = (</a:t>
            </a:r>
            <a:r>
              <a:rPr lang="en-US" sz="4000" dirty="0" err="1"/>
              <a:t>regularHours</a:t>
            </a:r>
            <a:r>
              <a:rPr lang="en-US" sz="4000" dirty="0"/>
              <a:t> * </a:t>
            </a:r>
            <a:r>
              <a:rPr lang="en-US" sz="4000" dirty="0" err="1"/>
              <a:t>hourlyRate</a:t>
            </a:r>
            <a:r>
              <a:rPr lang="en-US" sz="4000" dirty="0"/>
              <a:t>) + (</a:t>
            </a:r>
            <a:r>
              <a:rPr lang="en-US" sz="4000" dirty="0" err="1"/>
              <a:t>overtimeHours</a:t>
            </a:r>
            <a:r>
              <a:rPr lang="en-US" sz="4000" dirty="0"/>
              <a:t> * </a:t>
            </a:r>
            <a:r>
              <a:rPr lang="en-US" sz="4000" dirty="0" err="1"/>
              <a:t>hourlyRate</a:t>
            </a:r>
            <a:r>
              <a:rPr lang="en-US" sz="4000" dirty="0"/>
              <a:t> * </a:t>
            </a:r>
            <a:r>
              <a:rPr lang="en-US" sz="4000" dirty="0" err="1"/>
              <a:t>overtimeRate</a:t>
            </a:r>
            <a:r>
              <a:rPr lang="en-US" sz="4000" dirty="0"/>
              <a:t>);</a:t>
            </a:r>
          </a:p>
          <a:p>
            <a:pPr marL="0" indent="0">
              <a:buNone/>
            </a:pPr>
            <a:r>
              <a:rPr lang="en-US" sz="4000" dirty="0"/>
              <a:t>        } else {</a:t>
            </a:r>
          </a:p>
          <a:p>
            <a:pPr marL="0" indent="0">
              <a:buNone/>
            </a:pPr>
            <a:r>
              <a:rPr lang="en-US" sz="4000" dirty="0"/>
              <a:t>            </a:t>
            </a:r>
            <a:r>
              <a:rPr lang="en-US" sz="4000" dirty="0" err="1"/>
              <a:t>grossPay</a:t>
            </a:r>
            <a:r>
              <a:rPr lang="en-US" sz="4000" dirty="0"/>
              <a:t> = </a:t>
            </a:r>
            <a:r>
              <a:rPr lang="en-US" sz="4000" dirty="0" err="1"/>
              <a:t>hoursWorked</a:t>
            </a:r>
            <a:r>
              <a:rPr lang="en-US" sz="4000" dirty="0"/>
              <a:t> * </a:t>
            </a:r>
            <a:r>
              <a:rPr lang="en-US" sz="4000" dirty="0" err="1"/>
              <a:t>hourlyRate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r>
              <a:rPr lang="en-US" sz="4000" dirty="0"/>
              <a:t>        }</a:t>
            </a:r>
          </a:p>
          <a:p>
            <a:pPr marL="0" indent="0">
              <a:buNone/>
            </a:pPr>
            <a:r>
              <a:rPr lang="en-US" sz="4000" dirty="0"/>
              <a:t>         </a:t>
            </a:r>
            <a:r>
              <a:rPr lang="en-US" sz="4000" dirty="0" err="1"/>
              <a:t>System.out.printf</a:t>
            </a:r>
            <a:r>
              <a:rPr lang="en-US" sz="4000" dirty="0"/>
              <a:t>("The gross pay is: $%.2f", </a:t>
            </a:r>
            <a:r>
              <a:rPr lang="en-US" sz="4000" dirty="0" err="1"/>
              <a:t>grossPay</a:t>
            </a:r>
            <a:r>
              <a:rPr lang="en-US" sz="4000" dirty="0"/>
              <a:t>);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     </a:t>
            </a:r>
            <a:r>
              <a:rPr lang="en-US" sz="4000" dirty="0" err="1"/>
              <a:t>scanner.close</a:t>
            </a:r>
            <a:r>
              <a:rPr lang="en-US" sz="4000" dirty="0"/>
              <a:t>();</a:t>
            </a:r>
          </a:p>
          <a:p>
            <a:pPr marL="0" indent="0">
              <a:buNone/>
            </a:pPr>
            <a:r>
              <a:rPr lang="en-US" sz="4000" dirty="0"/>
              <a:t>    }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79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Boolean Expression</a:t>
            </a:r>
          </a:p>
          <a:p>
            <a:r>
              <a:rPr lang="en-US" dirty="0"/>
              <a:t>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219205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</a:t>
            </a:r>
            <a:r>
              <a:rPr lang="en-US" b="1" dirty="0"/>
              <a:t>if </a:t>
            </a:r>
            <a:r>
              <a:rPr lang="en-US" dirty="0"/>
              <a:t>statement</a:t>
            </a:r>
          </a:p>
          <a:p>
            <a:r>
              <a:rPr lang="en-US" dirty="0"/>
              <a:t>Multi-way </a:t>
            </a:r>
            <a:r>
              <a:rPr lang="en-US" b="1" dirty="0"/>
              <a:t>if-else </a:t>
            </a:r>
            <a:r>
              <a:rPr lang="en-US" b="1" dirty="0" err="1"/>
              <a:t>if-else</a:t>
            </a:r>
            <a:r>
              <a:rPr lang="en-US" b="1" dirty="0"/>
              <a:t> </a:t>
            </a:r>
            <a:r>
              <a:rPr lang="en-US" dirty="0"/>
              <a:t>statement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Conditional expressions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21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9190</TotalTime>
  <Words>2165</Words>
  <Application>Microsoft Office PowerPoint</Application>
  <PresentationFormat>On-screen Show (4:3)</PresentationFormat>
  <Paragraphs>363</Paragraphs>
  <Slides>27</Slides>
  <Notes>7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Calibri</vt:lpstr>
      <vt:lpstr>Courier</vt:lpstr>
      <vt:lpstr>Courier New</vt:lpstr>
      <vt:lpstr>Lucida Console</vt:lpstr>
      <vt:lpstr>Lucida Sans Unicode</vt:lpstr>
      <vt:lpstr>LucidaSansTypewriterStd</vt:lpstr>
      <vt:lpstr>LucidaSansTypewriterStd-Bd</vt:lpstr>
      <vt:lpstr>Times New Roman</vt:lpstr>
      <vt:lpstr>Trebuchet MS</vt:lpstr>
      <vt:lpstr>Office Theme</vt:lpstr>
      <vt:lpstr>PowerPoint Presentation</vt:lpstr>
      <vt:lpstr>Lecture Outline Conditionals</vt:lpstr>
      <vt:lpstr>Introduction</vt:lpstr>
      <vt:lpstr>PowerPoint Presentation</vt:lpstr>
      <vt:lpstr>Conditionals</vt:lpstr>
      <vt:lpstr>Introduction</vt:lpstr>
      <vt:lpstr>Boolean Types, Values, and Expressions</vt:lpstr>
      <vt:lpstr>Relational Operators</vt:lpstr>
      <vt:lpstr>boolean Data Type</vt:lpstr>
      <vt:lpstr>The if statement</vt:lpstr>
      <vt:lpstr>Issues in sequential structures</vt:lpstr>
      <vt:lpstr>One-way if Statements</vt:lpstr>
      <vt:lpstr>PowerPoint Presentation</vt:lpstr>
      <vt:lpstr>Example of if statement use: simulate a coin flip</vt:lpstr>
      <vt:lpstr>Example of if statement use: 2-sort</vt:lpstr>
      <vt:lpstr>Example of if statement use: error checks</vt:lpstr>
      <vt:lpstr>PowerPoint Presentation</vt:lpstr>
      <vt:lpstr>Problem</vt:lpstr>
      <vt:lpstr>PowerPoint Presentation</vt:lpstr>
      <vt:lpstr>Pop quiz on if statements</vt:lpstr>
      <vt:lpstr>Pop quiz on if statements</vt:lpstr>
      <vt:lpstr>PowerPoint Presentation</vt:lpstr>
      <vt:lpstr>PowerPoint Presentation</vt:lpstr>
      <vt:lpstr>Problem</vt:lpstr>
      <vt:lpstr>PowerPoint Presentation</vt:lpstr>
      <vt:lpstr>Summary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Khurram Iqbal</cp:lastModifiedBy>
  <cp:revision>48</cp:revision>
  <dcterms:created xsi:type="dcterms:W3CDTF">2006-08-16T00:00:00Z</dcterms:created>
  <dcterms:modified xsi:type="dcterms:W3CDTF">2026-03-27T06:10:57Z</dcterms:modified>
</cp:coreProperties>
</file>