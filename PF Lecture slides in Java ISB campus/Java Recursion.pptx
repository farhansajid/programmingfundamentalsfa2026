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urram Iqbal" userId="af32904b-6c78-4cff-8330-5f3a20d540de" providerId="ADAL" clId="{290A4215-2D96-413D-9D28-C7A5D6C2F6CB}"/>
    <pc:docChg chg="modSld">
      <pc:chgData name="Khurram Iqbal" userId="af32904b-6c78-4cff-8330-5f3a20d540de" providerId="ADAL" clId="{290A4215-2D96-413D-9D28-C7A5D6C2F6CB}" dt="2025-06-17T09:41:36.867" v="1" actId="1076"/>
      <pc:docMkLst>
        <pc:docMk/>
      </pc:docMkLst>
      <pc:sldChg chg="modSp mod">
        <pc:chgData name="Khurram Iqbal" userId="af32904b-6c78-4cff-8330-5f3a20d540de" providerId="ADAL" clId="{290A4215-2D96-413D-9D28-C7A5D6C2F6CB}" dt="2025-06-17T09:41:36.867" v="1" actId="1076"/>
        <pc:sldMkLst>
          <pc:docMk/>
          <pc:sldMk cId="0" sldId="257"/>
        </pc:sldMkLst>
        <pc:spChg chg="mod">
          <ac:chgData name="Khurram Iqbal" userId="af32904b-6c78-4cff-8330-5f3a20d540de" providerId="ADAL" clId="{290A4215-2D96-413D-9D28-C7A5D6C2F6CB}" dt="2025-06-17T09:41:27.665" v="0" actId="1076"/>
          <ac:spMkLst>
            <pc:docMk/>
            <pc:sldMk cId="0" sldId="257"/>
            <ac:spMk id="21" creationId="{00000000-0000-0000-0000-000000000000}"/>
          </ac:spMkLst>
        </pc:spChg>
        <pc:picChg chg="mod">
          <ac:chgData name="Khurram Iqbal" userId="af32904b-6c78-4cff-8330-5f3a20d540de" providerId="ADAL" clId="{290A4215-2D96-413D-9D28-C7A5D6C2F6CB}" dt="2025-06-17T09:41:36.867" v="1" actId="1076"/>
          <ac:picMkLst>
            <pc:docMk/>
            <pc:sldMk cId="0" sldId="257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0076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6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2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1.png"/><Relationship Id="rId5" Type="http://schemas.openxmlformats.org/officeDocument/2006/relationships/image" Target="../media/image50.png"/><Relationship Id="rId10" Type="http://schemas.openxmlformats.org/officeDocument/2006/relationships/image" Target="../media/image57.png"/><Relationship Id="rId4" Type="http://schemas.openxmlformats.org/officeDocument/2006/relationships/image" Target="../media/image55.pn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3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69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87650" y="1382316"/>
            <a:ext cx="1144060" cy="4786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4060273" y="1382316"/>
            <a:ext cx="216748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337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3375" dirty="0"/>
          </a:p>
        </p:txBody>
      </p:sp>
      <p:sp>
        <p:nvSpPr>
          <p:cNvPr id="5" name="Text 2"/>
          <p:cNvSpPr/>
          <p:nvPr/>
        </p:nvSpPr>
        <p:spPr>
          <a:xfrm>
            <a:off x="2534748" y="2007394"/>
            <a:ext cx="41459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and Implementation</a:t>
            </a:r>
            <a:endParaRPr lang="en-US" sz="1688" dirty="0"/>
          </a:p>
        </p:txBody>
      </p:sp>
      <p:sp>
        <p:nvSpPr>
          <p:cNvPr id="6" name="Shape 3"/>
          <p:cNvSpPr/>
          <p:nvPr/>
        </p:nvSpPr>
        <p:spPr>
          <a:xfrm>
            <a:off x="2534748" y="2721769"/>
            <a:ext cx="4074477" cy="10144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93C5F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70491" y="2957513"/>
            <a:ext cx="3674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Guide to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491" y="3243263"/>
            <a:ext cx="225028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09819" y="3243263"/>
            <a:ext cx="33350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Programming in Java</a:t>
            </a:r>
            <a:endParaRPr lang="en-US" sz="1688" dirty="0"/>
          </a:p>
        </p:txBody>
      </p:sp>
      <p:sp>
        <p:nvSpPr>
          <p:cNvPr id="10" name="Text 6"/>
          <p:cNvSpPr/>
          <p:nvPr/>
        </p:nvSpPr>
        <p:spPr>
          <a:xfrm>
            <a:off x="0" y="4600575"/>
            <a:ext cx="9144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Programming Lecture Series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263" y="-1428750"/>
            <a:ext cx="9144000" cy="5972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057331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1443093" y="455414"/>
            <a:ext cx="132907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700728" y="455414"/>
            <a:ext cx="22854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025" dirty="0"/>
          </a:p>
        </p:txBody>
      </p:sp>
      <p:sp>
        <p:nvSpPr>
          <p:cNvPr id="6" name="Shape 3"/>
          <p:cNvSpPr/>
          <p:nvPr/>
        </p:nvSpPr>
        <p:spPr>
          <a:xfrm>
            <a:off x="457200" y="971550"/>
            <a:ext cx="4000500" cy="28432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" y="1485900"/>
            <a:ext cx="37290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is a programming technique where a function calls itself to solve a problem by breaking it down into smaller instances of the same problem.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628650" y="225742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Characteristics</a:t>
            </a:r>
            <a:endParaRPr lang="en-US" sz="112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543175"/>
            <a:ext cx="114300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" y="2514600"/>
            <a:ext cx="34637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Solves problems by dividing them into smaller, similar subproblems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80035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" y="2771775"/>
            <a:ext cx="23396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at least one base case to terminate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057525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028950"/>
            <a:ext cx="3557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recursive call works on a smaller version of the original problem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48615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0100" y="3457575"/>
            <a:ext cx="27906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Often provides elegant solutions to complex problems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686300" y="971550"/>
            <a:ext cx="4000500" cy="2828925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Conceptual Visualization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857750" y="3314700"/>
            <a:ext cx="37290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recursive function breaks down a problem into smaller subproblems until it reaches a base case that can be solved directly.</a:t>
            </a:r>
            <a:endParaRPr lang="en-US" sz="788" dirty="0"/>
          </a:p>
        </p:txBody>
      </p:sp>
      <p:sp>
        <p:nvSpPr>
          <p:cNvPr id="21" name="Shape 14"/>
          <p:cNvSpPr/>
          <p:nvPr/>
        </p:nvSpPr>
        <p:spPr>
          <a:xfrm>
            <a:off x="457200" y="4371975"/>
            <a:ext cx="8229600" cy="14716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28650" y="420052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Analogies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28650" y="4543425"/>
            <a:ext cx="2552691" cy="7715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672013"/>
            <a:ext cx="192881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92981" y="4657725"/>
            <a:ext cx="14290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Russian Nesting Dolls</a:t>
            </a:r>
            <a:endParaRPr lang="en-US" sz="1013" dirty="0"/>
          </a:p>
        </p:txBody>
      </p:sp>
      <p:sp>
        <p:nvSpPr>
          <p:cNvPr id="26" name="Text 18"/>
          <p:cNvSpPr/>
          <p:nvPr/>
        </p:nvSpPr>
        <p:spPr>
          <a:xfrm>
            <a:off x="742950" y="4914900"/>
            <a:ext cx="23955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doll contains a smaller version of itself until reaching the smallest doll.</a:t>
            </a:r>
            <a:endParaRPr lang="en-US" sz="788" dirty="0"/>
          </a:p>
        </p:txBody>
      </p:sp>
      <p:sp>
        <p:nvSpPr>
          <p:cNvPr id="27" name="Shape 19"/>
          <p:cNvSpPr/>
          <p:nvPr/>
        </p:nvSpPr>
        <p:spPr>
          <a:xfrm>
            <a:off x="3295641" y="4543425"/>
            <a:ext cx="2552691" cy="7715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41" y="4672013"/>
            <a:ext cx="192881" cy="17145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659972" y="4657725"/>
            <a:ext cx="15935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Organizational Hierarchy</a:t>
            </a:r>
            <a:endParaRPr lang="en-US" sz="1013" dirty="0"/>
          </a:p>
        </p:txBody>
      </p:sp>
      <p:sp>
        <p:nvSpPr>
          <p:cNvPr id="30" name="Text 21"/>
          <p:cNvSpPr/>
          <p:nvPr/>
        </p:nvSpPr>
        <p:spPr>
          <a:xfrm>
            <a:off x="3409941" y="4914900"/>
            <a:ext cx="23955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manager has subordinates who may also be managers with their own subordinates.</a:t>
            </a:r>
            <a:endParaRPr lang="en-US" sz="788" dirty="0"/>
          </a:p>
        </p:txBody>
      </p:sp>
      <p:sp>
        <p:nvSpPr>
          <p:cNvPr id="31" name="Shape 22"/>
          <p:cNvSpPr/>
          <p:nvPr/>
        </p:nvSpPr>
        <p:spPr>
          <a:xfrm>
            <a:off x="5962631" y="4543425"/>
            <a:ext cx="2552719" cy="7715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931" y="4672013"/>
            <a:ext cx="192881" cy="17145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326963" y="4657725"/>
            <a:ext cx="7861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System</a:t>
            </a:r>
            <a:endParaRPr lang="en-US" sz="1013" dirty="0"/>
          </a:p>
        </p:txBody>
      </p:sp>
      <p:sp>
        <p:nvSpPr>
          <p:cNvPr id="34" name="Text 24"/>
          <p:cNvSpPr/>
          <p:nvPr/>
        </p:nvSpPr>
        <p:spPr>
          <a:xfrm>
            <a:off x="6076931" y="4914900"/>
            <a:ext cx="23955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Folders contain files and subfolders, which may contain more files and subfolders.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725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257186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Components of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957624" y="455414"/>
            <a:ext cx="132907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60436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Essential Elements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543050"/>
            <a:ext cx="3657600" cy="11430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" y="1543050"/>
            <a:ext cx="28575" cy="11430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2950" y="16287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Base Case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2950" y="188595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condition that stops the recursion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43125"/>
            <a:ext cx="100013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113" y="2114550"/>
            <a:ext cx="2283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Simplest form of the problem with a direct solution</a:t>
            </a:r>
            <a:endParaRPr lang="en-US" sz="788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314575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113" y="2286000"/>
            <a:ext cx="12221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infinite recursion</a:t>
            </a:r>
            <a:endParaRPr lang="en-US" sz="788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486025"/>
            <a:ext cx="100013" cy="10001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113" y="2457450"/>
            <a:ext cx="18560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be reachable for all possible inputs</a:t>
            </a:r>
            <a:endParaRPr lang="en-US" sz="788" dirty="0"/>
          </a:p>
        </p:txBody>
      </p:sp>
      <p:sp>
        <p:nvSpPr>
          <p:cNvPr id="17" name="Shape 11"/>
          <p:cNvSpPr/>
          <p:nvPr/>
        </p:nvSpPr>
        <p:spPr>
          <a:xfrm>
            <a:off x="628650" y="2857500"/>
            <a:ext cx="3657600" cy="11430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28650" y="2857500"/>
            <a:ext cx="28575" cy="11430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742950" y="29432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Recursive Case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742950" y="320040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part where the function calls itself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57575"/>
            <a:ext cx="100013" cy="1000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00113" y="3429000"/>
            <a:ext cx="2194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Breaks down the problem into smaller instances</a:t>
            </a:r>
            <a:endParaRPr lang="en-US" sz="788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629025"/>
            <a:ext cx="100013" cy="10001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00113" y="3600450"/>
            <a:ext cx="15390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move toward the base case</a:t>
            </a:r>
            <a:endParaRPr lang="en-US" sz="788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800475"/>
            <a:ext cx="100013" cy="100013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00113" y="3771900"/>
            <a:ext cx="16557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solutions to subproblems</a:t>
            </a:r>
            <a:endParaRPr lang="en-US" sz="788" dirty="0"/>
          </a:p>
        </p:txBody>
      </p:sp>
      <p:sp>
        <p:nvSpPr>
          <p:cNvPr id="27" name="Shape 18"/>
          <p:cNvSpPr/>
          <p:nvPr/>
        </p:nvSpPr>
        <p:spPr>
          <a:xfrm>
            <a:off x="628650" y="4171950"/>
            <a:ext cx="3657600" cy="9715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628650" y="4171950"/>
            <a:ext cx="28575" cy="9715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742950" y="42576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Recursive Work</a:t>
            </a:r>
            <a:endParaRPr lang="en-US" sz="1125" dirty="0"/>
          </a:p>
        </p:txBody>
      </p:sp>
      <p:sp>
        <p:nvSpPr>
          <p:cNvPr id="30" name="Text 21"/>
          <p:cNvSpPr/>
          <p:nvPr/>
        </p:nvSpPr>
        <p:spPr>
          <a:xfrm>
            <a:off x="742950" y="4514850"/>
            <a:ext cx="36147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performed with the recursive results</a:t>
            </a:r>
            <a:endParaRPr lang="en-US" sz="9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772025"/>
            <a:ext cx="100013" cy="100013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00113" y="4743450"/>
            <a:ext cx="2333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or processes results from recursive calls</a:t>
            </a:r>
            <a:endParaRPr lang="en-US" sz="788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943475"/>
            <a:ext cx="100013" cy="10001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00113" y="4914900"/>
            <a:ext cx="17114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the final solution incrementally</a:t>
            </a:r>
            <a:endParaRPr lang="en-US" sz="788" dirty="0"/>
          </a:p>
        </p:txBody>
      </p:sp>
      <p:sp>
        <p:nvSpPr>
          <p:cNvPr id="35" name="Shape 24"/>
          <p:cNvSpPr/>
          <p:nvPr/>
        </p:nvSpPr>
        <p:spPr>
          <a:xfrm>
            <a:off x="4686300" y="971550"/>
            <a:ext cx="4000500" cy="60436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5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Factorial Function</a:t>
            </a:r>
            <a:endParaRPr lang="en-US" sz="1350" dirty="0"/>
          </a:p>
        </p:txBody>
      </p:sp>
      <p:sp>
        <p:nvSpPr>
          <p:cNvPr id="37" name="Shape 26"/>
          <p:cNvSpPr/>
          <p:nvPr/>
        </p:nvSpPr>
        <p:spPr>
          <a:xfrm>
            <a:off x="4857750" y="1485900"/>
            <a:ext cx="3657600" cy="20288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7"/>
          <p:cNvSpPr/>
          <p:nvPr/>
        </p:nvSpPr>
        <p:spPr>
          <a:xfrm>
            <a:off x="4972050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9" name="Text 28"/>
          <p:cNvSpPr/>
          <p:nvPr/>
        </p:nvSpPr>
        <p:spPr>
          <a:xfrm>
            <a:off x="5203524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1013" dirty="0"/>
          </a:p>
        </p:txBody>
      </p:sp>
      <p:sp>
        <p:nvSpPr>
          <p:cNvPr id="40" name="Text 29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41" name="Text 30"/>
          <p:cNvSpPr/>
          <p:nvPr/>
        </p:nvSpPr>
        <p:spPr>
          <a:xfrm>
            <a:off x="6283682" y="16127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1013" dirty="0"/>
          </a:p>
        </p:txBody>
      </p:sp>
      <p:sp>
        <p:nvSpPr>
          <p:cNvPr id="42" name="Text 31"/>
          <p:cNvSpPr/>
          <p:nvPr/>
        </p:nvSpPr>
        <p:spPr>
          <a:xfrm>
            <a:off x="5126366" y="18127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13" dirty="0"/>
          </a:p>
        </p:txBody>
      </p:sp>
      <p:sp>
        <p:nvSpPr>
          <p:cNvPr id="43" name="Text 32"/>
          <p:cNvSpPr/>
          <p:nvPr/>
        </p:nvSpPr>
        <p:spPr>
          <a:xfrm>
            <a:off x="5280682" y="1812727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0 || n == 1) {</a:t>
            </a:r>
            <a:endParaRPr lang="en-US" sz="1013" dirty="0"/>
          </a:p>
        </p:txBody>
      </p:sp>
      <p:sp>
        <p:nvSpPr>
          <p:cNvPr id="44" name="Text 33"/>
          <p:cNvSpPr/>
          <p:nvPr/>
        </p:nvSpPr>
        <p:spPr>
          <a:xfrm>
            <a:off x="6978048" y="1812727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</a:t>
            </a:r>
            <a:endParaRPr lang="en-US" sz="1013" dirty="0"/>
          </a:p>
        </p:txBody>
      </p:sp>
      <p:sp>
        <p:nvSpPr>
          <p:cNvPr id="45" name="Text 34"/>
          <p:cNvSpPr/>
          <p:nvPr/>
        </p:nvSpPr>
        <p:spPr>
          <a:xfrm>
            <a:off x="5280682" y="20127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6" name="Text 35"/>
          <p:cNvSpPr/>
          <p:nvPr/>
        </p:nvSpPr>
        <p:spPr>
          <a:xfrm>
            <a:off x="5743603" y="20127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013" dirty="0"/>
          </a:p>
        </p:txBody>
      </p:sp>
      <p:sp>
        <p:nvSpPr>
          <p:cNvPr id="47" name="Text 36"/>
          <p:cNvSpPr/>
          <p:nvPr/>
        </p:nvSpPr>
        <p:spPr>
          <a:xfrm>
            <a:off x="4972050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8" name="Text 37"/>
          <p:cNvSpPr/>
          <p:nvPr/>
        </p:nvSpPr>
        <p:spPr>
          <a:xfrm>
            <a:off x="5126366" y="2412802"/>
            <a:ext cx="3800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13" dirty="0"/>
          </a:p>
        </p:txBody>
      </p:sp>
      <p:sp>
        <p:nvSpPr>
          <p:cNvPr id="49" name="Text 38"/>
          <p:cNvSpPr/>
          <p:nvPr/>
        </p:nvSpPr>
        <p:spPr>
          <a:xfrm>
            <a:off x="5434998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13" dirty="0"/>
          </a:p>
        </p:txBody>
      </p:sp>
      <p:sp>
        <p:nvSpPr>
          <p:cNvPr id="50" name="Text 39"/>
          <p:cNvSpPr/>
          <p:nvPr/>
        </p:nvSpPr>
        <p:spPr>
          <a:xfrm>
            <a:off x="5666473" y="2412802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</a:t>
            </a:r>
            <a:endParaRPr lang="en-US" sz="1013" dirty="0"/>
          </a:p>
        </p:txBody>
      </p:sp>
      <p:sp>
        <p:nvSpPr>
          <p:cNvPr id="51" name="Text 40"/>
          <p:cNvSpPr/>
          <p:nvPr/>
        </p:nvSpPr>
        <p:spPr>
          <a:xfrm>
            <a:off x="5280682" y="261282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52" name="Text 41"/>
          <p:cNvSpPr/>
          <p:nvPr/>
        </p:nvSpPr>
        <p:spPr>
          <a:xfrm>
            <a:off x="5743603" y="2612827"/>
            <a:ext cx="184596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1013" dirty="0"/>
          </a:p>
        </p:txBody>
      </p:sp>
      <p:sp>
        <p:nvSpPr>
          <p:cNvPr id="53" name="Text 42"/>
          <p:cNvSpPr/>
          <p:nvPr/>
        </p:nvSpPr>
        <p:spPr>
          <a:xfrm>
            <a:off x="4972050" y="2612827"/>
            <a:ext cx="277183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work</a:t>
            </a:r>
            <a:endParaRPr lang="en-US" sz="1013" dirty="0"/>
          </a:p>
        </p:txBody>
      </p:sp>
      <p:sp>
        <p:nvSpPr>
          <p:cNvPr id="54" name="Text 43"/>
          <p:cNvSpPr/>
          <p:nvPr/>
        </p:nvSpPr>
        <p:spPr>
          <a:xfrm>
            <a:off x="4972050" y="30128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55" name="Text 44"/>
          <p:cNvSpPr/>
          <p:nvPr/>
        </p:nvSpPr>
        <p:spPr>
          <a:xfrm>
            <a:off x="4972050" y="32129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56" name="Shape 45"/>
          <p:cNvSpPr/>
          <p:nvPr/>
        </p:nvSpPr>
        <p:spPr>
          <a:xfrm>
            <a:off x="4857750" y="3686175"/>
            <a:ext cx="3657600" cy="1564481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6"/>
          <p:cNvSpPr/>
          <p:nvPr/>
        </p:nvSpPr>
        <p:spPr>
          <a:xfrm>
            <a:off x="4972050" y="3800475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Breakdown</a:t>
            </a:r>
            <a:endParaRPr lang="en-US" sz="1013" dirty="0"/>
          </a:p>
        </p:txBody>
      </p:sp>
      <p:sp>
        <p:nvSpPr>
          <p:cNvPr id="58" name="Shape 47"/>
          <p:cNvSpPr/>
          <p:nvPr/>
        </p:nvSpPr>
        <p:spPr>
          <a:xfrm>
            <a:off x="4972050" y="4086225"/>
            <a:ext cx="482901" cy="285750"/>
          </a:xfrm>
          <a:prstGeom prst="rect">
            <a:avLst/>
          </a:prstGeom>
          <a:solidFill>
            <a:srgbClr val="047857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8"/>
          <p:cNvSpPr/>
          <p:nvPr/>
        </p:nvSpPr>
        <p:spPr>
          <a:xfrm>
            <a:off x="4972050" y="4086225"/>
            <a:ext cx="554338" cy="285750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</a:t>
            </a:r>
            <a:endParaRPr lang="en-US" sz="675" dirty="0"/>
          </a:p>
        </p:txBody>
      </p:sp>
      <p:sp>
        <p:nvSpPr>
          <p:cNvPr id="60" name="Text 49"/>
          <p:cNvSpPr/>
          <p:nvPr/>
        </p:nvSpPr>
        <p:spPr>
          <a:xfrm>
            <a:off x="5512101" y="4089797"/>
            <a:ext cx="2197764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 (n == 0 || n == 1) return 1;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5512101" y="4079081"/>
            <a:ext cx="2856272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Terminates recursion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4972050" y="4525566"/>
            <a:ext cx="719370" cy="171450"/>
          </a:xfrm>
          <a:prstGeom prst="rect">
            <a:avLst/>
          </a:prstGeom>
          <a:solidFill>
            <a:srgbClr val="1D4E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2"/>
          <p:cNvSpPr/>
          <p:nvPr/>
        </p:nvSpPr>
        <p:spPr>
          <a:xfrm>
            <a:off x="4972050" y="4525566"/>
            <a:ext cx="790808" cy="171450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Case</a:t>
            </a:r>
            <a:endParaRPr lang="en-US" sz="675" dirty="0"/>
          </a:p>
        </p:txBody>
      </p:sp>
      <p:sp>
        <p:nvSpPr>
          <p:cNvPr id="64" name="Text 53"/>
          <p:cNvSpPr/>
          <p:nvPr/>
        </p:nvSpPr>
        <p:spPr>
          <a:xfrm>
            <a:off x="5748570" y="4529138"/>
            <a:ext cx="116889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factorial(n - 1)</a:t>
            </a:r>
            <a:endParaRPr lang="en-US" sz="900" dirty="0"/>
          </a:p>
        </p:txBody>
      </p:sp>
      <p:sp>
        <p:nvSpPr>
          <p:cNvPr id="65" name="Text 54"/>
          <p:cNvSpPr/>
          <p:nvPr/>
        </p:nvSpPr>
        <p:spPr>
          <a:xfrm>
            <a:off x="6846029" y="4518422"/>
            <a:ext cx="1608572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Calls itself with smaller input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4972050" y="4811316"/>
            <a:ext cx="568709" cy="285750"/>
          </a:xfrm>
          <a:prstGeom prst="rect">
            <a:avLst/>
          </a:prstGeom>
          <a:solidFill>
            <a:srgbClr val="6D28D9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6"/>
          <p:cNvSpPr/>
          <p:nvPr/>
        </p:nvSpPr>
        <p:spPr>
          <a:xfrm>
            <a:off x="4972050" y="4811316"/>
            <a:ext cx="640147" cy="285750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Work</a:t>
            </a:r>
            <a:endParaRPr lang="en-US" sz="675" dirty="0"/>
          </a:p>
        </p:txBody>
      </p:sp>
      <p:sp>
        <p:nvSpPr>
          <p:cNvPr id="68" name="Text 57"/>
          <p:cNvSpPr/>
          <p:nvPr/>
        </p:nvSpPr>
        <p:spPr>
          <a:xfrm>
            <a:off x="5597909" y="4814888"/>
            <a:ext cx="144326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 * factorial(n - 1)</a:t>
            </a:r>
            <a:endParaRPr lang="en-US" sz="900" dirty="0"/>
          </a:p>
        </p:txBody>
      </p:sp>
      <p:sp>
        <p:nvSpPr>
          <p:cNvPr id="69" name="Text 58"/>
          <p:cNvSpPr/>
          <p:nvPr/>
        </p:nvSpPr>
        <p:spPr>
          <a:xfrm>
            <a:off x="5597909" y="4804172"/>
            <a:ext cx="275190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Combines current value with recursive result</a:t>
            </a:r>
            <a:endParaRPr lang="en-US" sz="900" dirty="0"/>
          </a:p>
        </p:txBody>
      </p:sp>
      <p:sp>
        <p:nvSpPr>
          <p:cNvPr id="70" name="Text 59"/>
          <p:cNvSpPr/>
          <p:nvPr/>
        </p:nvSpPr>
        <p:spPr>
          <a:xfrm>
            <a:off x="4857750" y="5422106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Flow for factorial(3)</a:t>
            </a:r>
            <a:endParaRPr lang="en-US" sz="1013" dirty="0"/>
          </a:p>
        </p:txBody>
      </p:sp>
      <p:sp>
        <p:nvSpPr>
          <p:cNvPr id="71" name="Shape 60"/>
          <p:cNvSpPr/>
          <p:nvPr/>
        </p:nvSpPr>
        <p:spPr>
          <a:xfrm>
            <a:off x="4857750" y="5679281"/>
            <a:ext cx="3657600" cy="1150144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1"/>
          <p:cNvSpPr/>
          <p:nvPr/>
        </p:nvSpPr>
        <p:spPr>
          <a:xfrm>
            <a:off x="4943475" y="5786438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factorial(3)</a:t>
            </a:r>
            <a:endParaRPr lang="en-US" sz="788" dirty="0"/>
          </a:p>
        </p:txBody>
      </p:sp>
      <p:sp>
        <p:nvSpPr>
          <p:cNvPr id="73" name="Text 62"/>
          <p:cNvSpPr/>
          <p:nvPr/>
        </p:nvSpPr>
        <p:spPr>
          <a:xfrm>
            <a:off x="5663682" y="5779294"/>
            <a:ext cx="22703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88" dirty="0"/>
          </a:p>
        </p:txBody>
      </p:sp>
      <p:sp>
        <p:nvSpPr>
          <p:cNvPr id="74" name="Text 63"/>
          <p:cNvSpPr/>
          <p:nvPr/>
        </p:nvSpPr>
        <p:spPr>
          <a:xfrm>
            <a:off x="5819282" y="5786438"/>
            <a:ext cx="10317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 * factorial(2)</a:t>
            </a:r>
            <a:endParaRPr lang="en-US" sz="788" dirty="0"/>
          </a:p>
        </p:txBody>
      </p:sp>
      <p:sp>
        <p:nvSpPr>
          <p:cNvPr id="75" name="Text 64"/>
          <p:cNvSpPr/>
          <p:nvPr/>
        </p:nvSpPr>
        <p:spPr>
          <a:xfrm>
            <a:off x="5172075" y="5993606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factorial(2)</a:t>
            </a:r>
            <a:endParaRPr lang="en-US" sz="788" dirty="0"/>
          </a:p>
        </p:txBody>
      </p:sp>
      <p:sp>
        <p:nvSpPr>
          <p:cNvPr id="76" name="Text 65"/>
          <p:cNvSpPr/>
          <p:nvPr/>
        </p:nvSpPr>
        <p:spPr>
          <a:xfrm>
            <a:off x="5892282" y="5986463"/>
            <a:ext cx="22703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88" dirty="0"/>
          </a:p>
        </p:txBody>
      </p:sp>
      <p:sp>
        <p:nvSpPr>
          <p:cNvPr id="77" name="Text 66"/>
          <p:cNvSpPr/>
          <p:nvPr/>
        </p:nvSpPr>
        <p:spPr>
          <a:xfrm>
            <a:off x="6047882" y="5993606"/>
            <a:ext cx="10317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 * factorial(1)</a:t>
            </a:r>
            <a:endParaRPr lang="en-US" sz="788" dirty="0"/>
          </a:p>
        </p:txBody>
      </p:sp>
      <p:sp>
        <p:nvSpPr>
          <p:cNvPr id="78" name="Text 67"/>
          <p:cNvSpPr/>
          <p:nvPr/>
        </p:nvSpPr>
        <p:spPr>
          <a:xfrm>
            <a:off x="5400675" y="6200775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factorial(1)</a:t>
            </a:r>
            <a:endParaRPr lang="en-US" sz="788" dirty="0"/>
          </a:p>
        </p:txBody>
      </p:sp>
      <p:sp>
        <p:nvSpPr>
          <p:cNvPr id="79" name="Text 68"/>
          <p:cNvSpPr/>
          <p:nvPr/>
        </p:nvSpPr>
        <p:spPr>
          <a:xfrm>
            <a:off x="6120882" y="6193631"/>
            <a:ext cx="22703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788" dirty="0"/>
          </a:p>
        </p:txBody>
      </p:sp>
      <p:sp>
        <p:nvSpPr>
          <p:cNvPr id="80" name="Text 69"/>
          <p:cNvSpPr/>
          <p:nvPr/>
        </p:nvSpPr>
        <p:spPr>
          <a:xfrm>
            <a:off x="6276482" y="6200775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</a:t>
            </a:r>
            <a:endParaRPr lang="en-US" sz="788" dirty="0"/>
          </a:p>
        </p:txBody>
      </p:sp>
      <p:sp>
        <p:nvSpPr>
          <p:cNvPr id="81" name="Text 70"/>
          <p:cNvSpPr/>
          <p:nvPr/>
        </p:nvSpPr>
        <p:spPr>
          <a:xfrm>
            <a:off x="6336506" y="6193631"/>
            <a:ext cx="62175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(base case)</a:t>
            </a:r>
            <a:endParaRPr lang="en-US" sz="788" dirty="0"/>
          </a:p>
        </p:txBody>
      </p:sp>
      <p:sp>
        <p:nvSpPr>
          <p:cNvPr id="82" name="Text 71"/>
          <p:cNvSpPr/>
          <p:nvPr/>
        </p:nvSpPr>
        <p:spPr>
          <a:xfrm>
            <a:off x="5172075" y="6407944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 * 1 = 2</a:t>
            </a:r>
            <a:endParaRPr lang="en-US" sz="788" dirty="0"/>
          </a:p>
        </p:txBody>
      </p:sp>
      <p:sp>
        <p:nvSpPr>
          <p:cNvPr id="83" name="Text 72"/>
          <p:cNvSpPr/>
          <p:nvPr/>
        </p:nvSpPr>
        <p:spPr>
          <a:xfrm>
            <a:off x="4943475" y="6615113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 * 2 = 6</a:t>
            </a:r>
            <a:endParaRPr lang="en-US" sz="788" dirty="0"/>
          </a:p>
        </p:txBody>
      </p:sp>
      <p:sp>
        <p:nvSpPr>
          <p:cNvPr id="84" name="Shape 73"/>
          <p:cNvSpPr/>
          <p:nvPr/>
        </p:nvSpPr>
        <p:spPr>
          <a:xfrm>
            <a:off x="457200" y="7229475"/>
            <a:ext cx="8229600" cy="14716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4"/>
          <p:cNvSpPr/>
          <p:nvPr/>
        </p:nvSpPr>
        <p:spPr>
          <a:xfrm>
            <a:off x="628650" y="740092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</a:t>
            </a:r>
            <a:endParaRPr lang="en-US" sz="1350" dirty="0"/>
          </a:p>
        </p:txBody>
      </p:sp>
      <p:sp>
        <p:nvSpPr>
          <p:cNvPr id="86" name="Shape 75"/>
          <p:cNvSpPr/>
          <p:nvPr/>
        </p:nvSpPr>
        <p:spPr>
          <a:xfrm>
            <a:off x="628650" y="7743825"/>
            <a:ext cx="2552691" cy="771525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7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7872413"/>
            <a:ext cx="171450" cy="171450"/>
          </a:xfrm>
          <a:prstGeom prst="rect">
            <a:avLst/>
          </a:prstGeom>
        </p:spPr>
      </p:pic>
      <p:sp>
        <p:nvSpPr>
          <p:cNvPr id="88" name="Text 76"/>
          <p:cNvSpPr/>
          <p:nvPr/>
        </p:nvSpPr>
        <p:spPr>
          <a:xfrm>
            <a:off x="971550" y="7858125"/>
            <a:ext cx="123639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Base Case</a:t>
            </a:r>
            <a:endParaRPr lang="en-US" sz="1013" dirty="0"/>
          </a:p>
        </p:txBody>
      </p:sp>
      <p:sp>
        <p:nvSpPr>
          <p:cNvPr id="89" name="Text 77"/>
          <p:cNvSpPr/>
          <p:nvPr/>
        </p:nvSpPr>
        <p:spPr>
          <a:xfrm>
            <a:off x="742950" y="8115300"/>
            <a:ext cx="23955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to infinite recursion and stack overflow errors</a:t>
            </a:r>
            <a:endParaRPr lang="en-US" sz="788" dirty="0"/>
          </a:p>
        </p:txBody>
      </p:sp>
      <p:sp>
        <p:nvSpPr>
          <p:cNvPr id="90" name="Shape 78"/>
          <p:cNvSpPr/>
          <p:nvPr/>
        </p:nvSpPr>
        <p:spPr>
          <a:xfrm>
            <a:off x="3295641" y="7743825"/>
            <a:ext cx="2552691" cy="771525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1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9941" y="7872413"/>
            <a:ext cx="171450" cy="171450"/>
          </a:xfrm>
          <a:prstGeom prst="rect">
            <a:avLst/>
          </a:prstGeom>
        </p:spPr>
      </p:pic>
      <p:sp>
        <p:nvSpPr>
          <p:cNvPr id="92" name="Text 79"/>
          <p:cNvSpPr/>
          <p:nvPr/>
        </p:nvSpPr>
        <p:spPr>
          <a:xfrm>
            <a:off x="3638541" y="7858125"/>
            <a:ext cx="1795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Approaching Base Case</a:t>
            </a:r>
            <a:endParaRPr lang="en-US" sz="1013" dirty="0"/>
          </a:p>
        </p:txBody>
      </p:sp>
      <p:sp>
        <p:nvSpPr>
          <p:cNvPr id="93" name="Text 80"/>
          <p:cNvSpPr/>
          <p:nvPr/>
        </p:nvSpPr>
        <p:spPr>
          <a:xfrm>
            <a:off x="3409941" y="8115300"/>
            <a:ext cx="23955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calls must make progress toward termination</a:t>
            </a:r>
            <a:endParaRPr lang="en-US" sz="788" dirty="0"/>
          </a:p>
        </p:txBody>
      </p:sp>
      <p:sp>
        <p:nvSpPr>
          <p:cNvPr id="94" name="Shape 81"/>
          <p:cNvSpPr/>
          <p:nvPr/>
        </p:nvSpPr>
        <p:spPr>
          <a:xfrm>
            <a:off x="5962631" y="7743825"/>
            <a:ext cx="2552719" cy="771525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5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6931" y="7872413"/>
            <a:ext cx="171450" cy="171450"/>
          </a:xfrm>
          <a:prstGeom prst="rect">
            <a:avLst/>
          </a:prstGeom>
        </p:spPr>
      </p:pic>
      <p:sp>
        <p:nvSpPr>
          <p:cNvPr id="96" name="Text 82"/>
          <p:cNvSpPr/>
          <p:nvPr/>
        </p:nvSpPr>
        <p:spPr>
          <a:xfrm>
            <a:off x="6305531" y="7858125"/>
            <a:ext cx="16440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Excessive Memory Usage</a:t>
            </a:r>
            <a:endParaRPr lang="en-US" sz="1013" dirty="0"/>
          </a:p>
        </p:txBody>
      </p:sp>
      <p:sp>
        <p:nvSpPr>
          <p:cNvPr id="97" name="Text 83"/>
          <p:cNvSpPr/>
          <p:nvPr/>
        </p:nvSpPr>
        <p:spPr>
          <a:xfrm>
            <a:off x="6076931" y="8115300"/>
            <a:ext cx="23955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recursive call consumes stack space, potentially leading to overflow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8629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32907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1714835" y="455414"/>
            <a:ext cx="158635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vs. Iteration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36147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Approaches to Repetition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177165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614488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119" y="1600200"/>
            <a:ext cx="70025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742950" y="1857375"/>
            <a:ext cx="16144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function that calls itself to solve smaller instances of the same problem</a:t>
            </a:r>
            <a:endParaRPr lang="en-US" sz="788" dirty="0"/>
          </a:p>
        </p:txBody>
      </p:sp>
      <p:sp>
        <p:nvSpPr>
          <p:cNvPr id="11" name="Shape 7"/>
          <p:cNvSpPr/>
          <p:nvPr/>
        </p:nvSpPr>
        <p:spPr>
          <a:xfrm>
            <a:off x="2514600" y="1485900"/>
            <a:ext cx="177165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1614488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57500" y="1600200"/>
            <a:ext cx="5787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</a:t>
            </a:r>
            <a:endParaRPr lang="en-US" sz="1013" dirty="0"/>
          </a:p>
        </p:txBody>
      </p:sp>
      <p:sp>
        <p:nvSpPr>
          <p:cNvPr id="14" name="Text 9"/>
          <p:cNvSpPr/>
          <p:nvPr/>
        </p:nvSpPr>
        <p:spPr>
          <a:xfrm>
            <a:off x="2628900" y="1857375"/>
            <a:ext cx="16144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loops (for, while) to repeat a process until a condition is met</a:t>
            </a:r>
            <a:endParaRPr lang="en-US" sz="788" dirty="0"/>
          </a:p>
        </p:txBody>
      </p:sp>
      <p:sp>
        <p:nvSpPr>
          <p:cNvPr id="15" name="Text 10"/>
          <p:cNvSpPr/>
          <p:nvPr/>
        </p:nvSpPr>
        <p:spPr>
          <a:xfrm>
            <a:off x="628650" y="257175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Problem, Different Solutions</a:t>
            </a:r>
            <a:endParaRPr lang="en-US" sz="1125" dirty="0"/>
          </a:p>
        </p:txBody>
      </p:sp>
      <p:sp>
        <p:nvSpPr>
          <p:cNvPr id="16" name="Shape 11"/>
          <p:cNvSpPr/>
          <p:nvPr/>
        </p:nvSpPr>
        <p:spPr>
          <a:xfrm>
            <a:off x="628650" y="2857500"/>
            <a:ext cx="1771650" cy="15430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742950" y="2971800"/>
            <a:ext cx="1614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Factorial</a:t>
            </a:r>
            <a:endParaRPr lang="en-US" sz="788" dirty="0"/>
          </a:p>
        </p:txBody>
      </p:sp>
      <p:sp>
        <p:nvSpPr>
          <p:cNvPr id="18" name="Text 13"/>
          <p:cNvSpPr/>
          <p:nvPr/>
        </p:nvSpPr>
        <p:spPr>
          <a:xfrm>
            <a:off x="742950" y="3146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9" name="Text 14"/>
          <p:cNvSpPr/>
          <p:nvPr/>
        </p:nvSpPr>
        <p:spPr>
          <a:xfrm>
            <a:off x="922995" y="314682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20" name="Text 15"/>
          <p:cNvSpPr/>
          <p:nvPr/>
        </p:nvSpPr>
        <p:spPr>
          <a:xfrm>
            <a:off x="1583094" y="3146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21" name="Text 16"/>
          <p:cNvSpPr/>
          <p:nvPr/>
        </p:nvSpPr>
        <p:spPr>
          <a:xfrm>
            <a:off x="1763139" y="314682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22" name="Text 17"/>
          <p:cNvSpPr/>
          <p:nvPr/>
        </p:nvSpPr>
        <p:spPr>
          <a:xfrm>
            <a:off x="862971" y="32896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23" name="Text 18"/>
          <p:cNvSpPr/>
          <p:nvPr/>
        </p:nvSpPr>
        <p:spPr>
          <a:xfrm>
            <a:off x="982991" y="32896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24" name="Text 19"/>
          <p:cNvSpPr/>
          <p:nvPr/>
        </p:nvSpPr>
        <p:spPr>
          <a:xfrm>
            <a:off x="982991" y="34325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5" name="Text 20"/>
          <p:cNvSpPr/>
          <p:nvPr/>
        </p:nvSpPr>
        <p:spPr>
          <a:xfrm>
            <a:off x="1343053" y="34325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788" dirty="0"/>
          </a:p>
        </p:txBody>
      </p:sp>
      <p:sp>
        <p:nvSpPr>
          <p:cNvPr id="26" name="Text 21"/>
          <p:cNvSpPr/>
          <p:nvPr/>
        </p:nvSpPr>
        <p:spPr>
          <a:xfrm>
            <a:off x="862971" y="35754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788" dirty="0"/>
          </a:p>
        </p:txBody>
      </p:sp>
      <p:sp>
        <p:nvSpPr>
          <p:cNvPr id="27" name="Text 22"/>
          <p:cNvSpPr/>
          <p:nvPr/>
        </p:nvSpPr>
        <p:spPr>
          <a:xfrm>
            <a:off x="982991" y="37183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8" name="Text 23"/>
          <p:cNvSpPr/>
          <p:nvPr/>
        </p:nvSpPr>
        <p:spPr>
          <a:xfrm>
            <a:off x="742950" y="3718322"/>
            <a:ext cx="1091571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788" dirty="0"/>
          </a:p>
        </p:txBody>
      </p:sp>
      <p:sp>
        <p:nvSpPr>
          <p:cNvPr id="29" name="Text 24"/>
          <p:cNvSpPr/>
          <p:nvPr/>
        </p:nvSpPr>
        <p:spPr>
          <a:xfrm>
            <a:off x="742950" y="40040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0" name="Shape 25"/>
          <p:cNvSpPr/>
          <p:nvPr/>
        </p:nvSpPr>
        <p:spPr>
          <a:xfrm>
            <a:off x="2514600" y="2857500"/>
            <a:ext cx="1771650" cy="15430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2628900" y="2971800"/>
            <a:ext cx="1614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Iterative Factorial</a:t>
            </a:r>
            <a:endParaRPr lang="en-US" sz="788" dirty="0"/>
          </a:p>
        </p:txBody>
      </p:sp>
      <p:sp>
        <p:nvSpPr>
          <p:cNvPr id="32" name="Text 27"/>
          <p:cNvSpPr/>
          <p:nvPr/>
        </p:nvSpPr>
        <p:spPr>
          <a:xfrm>
            <a:off x="2628900" y="3146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3" name="Text 28"/>
          <p:cNvSpPr/>
          <p:nvPr/>
        </p:nvSpPr>
        <p:spPr>
          <a:xfrm>
            <a:off x="2808945" y="314682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34" name="Text 29"/>
          <p:cNvSpPr/>
          <p:nvPr/>
        </p:nvSpPr>
        <p:spPr>
          <a:xfrm>
            <a:off x="3469044" y="3146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5" name="Text 30"/>
          <p:cNvSpPr/>
          <p:nvPr/>
        </p:nvSpPr>
        <p:spPr>
          <a:xfrm>
            <a:off x="3649089" y="314682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36" name="Text 31"/>
          <p:cNvSpPr/>
          <p:nvPr/>
        </p:nvSpPr>
        <p:spPr>
          <a:xfrm>
            <a:off x="2748921" y="32896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7" name="Text 32"/>
          <p:cNvSpPr/>
          <p:nvPr/>
        </p:nvSpPr>
        <p:spPr>
          <a:xfrm>
            <a:off x="2928965" y="328969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1;</a:t>
            </a:r>
            <a:endParaRPr lang="en-US" sz="788" dirty="0"/>
          </a:p>
        </p:txBody>
      </p:sp>
      <p:sp>
        <p:nvSpPr>
          <p:cNvPr id="38" name="Text 33"/>
          <p:cNvSpPr/>
          <p:nvPr/>
        </p:nvSpPr>
        <p:spPr>
          <a:xfrm>
            <a:off x="2748921" y="34325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788" dirty="0"/>
          </a:p>
        </p:txBody>
      </p:sp>
      <p:sp>
        <p:nvSpPr>
          <p:cNvPr id="39" name="Text 34"/>
          <p:cNvSpPr/>
          <p:nvPr/>
        </p:nvSpPr>
        <p:spPr>
          <a:xfrm>
            <a:off x="2928965" y="34325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88" dirty="0"/>
          </a:p>
        </p:txBody>
      </p:sp>
      <p:sp>
        <p:nvSpPr>
          <p:cNvPr id="40" name="Text 35"/>
          <p:cNvSpPr/>
          <p:nvPr/>
        </p:nvSpPr>
        <p:spPr>
          <a:xfrm>
            <a:off x="3048986" y="34325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41" name="Text 36"/>
          <p:cNvSpPr/>
          <p:nvPr/>
        </p:nvSpPr>
        <p:spPr>
          <a:xfrm>
            <a:off x="2628900" y="3432572"/>
            <a:ext cx="15716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1; i &lt;= n; i++) {</a:t>
            </a:r>
            <a:endParaRPr lang="en-US" sz="788" dirty="0"/>
          </a:p>
        </p:txBody>
      </p:sp>
      <p:sp>
        <p:nvSpPr>
          <p:cNvPr id="42" name="Text 37"/>
          <p:cNvSpPr/>
          <p:nvPr/>
        </p:nvSpPr>
        <p:spPr>
          <a:xfrm>
            <a:off x="2628900" y="3718322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*= i;</a:t>
            </a:r>
            <a:endParaRPr lang="en-US" sz="788" dirty="0"/>
          </a:p>
        </p:txBody>
      </p:sp>
      <p:sp>
        <p:nvSpPr>
          <p:cNvPr id="43" name="Text 38"/>
          <p:cNvSpPr/>
          <p:nvPr/>
        </p:nvSpPr>
        <p:spPr>
          <a:xfrm>
            <a:off x="2628900" y="38611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4" name="Text 39"/>
          <p:cNvSpPr/>
          <p:nvPr/>
        </p:nvSpPr>
        <p:spPr>
          <a:xfrm>
            <a:off x="2748921" y="40040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45" name="Text 40"/>
          <p:cNvSpPr/>
          <p:nvPr/>
        </p:nvSpPr>
        <p:spPr>
          <a:xfrm>
            <a:off x="3108982" y="400407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788" dirty="0"/>
          </a:p>
        </p:txBody>
      </p:sp>
      <p:sp>
        <p:nvSpPr>
          <p:cNvPr id="46" name="Text 41"/>
          <p:cNvSpPr/>
          <p:nvPr/>
        </p:nvSpPr>
        <p:spPr>
          <a:xfrm>
            <a:off x="2628900" y="41469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7" name="Shape 42"/>
          <p:cNvSpPr/>
          <p:nvPr/>
        </p:nvSpPr>
        <p:spPr>
          <a:xfrm>
            <a:off x="4686300" y="971550"/>
            <a:ext cx="4000500" cy="3600450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Comparison</a:t>
            </a:r>
            <a:endParaRPr lang="en-US" sz="1350" dirty="0"/>
          </a:p>
        </p:txBody>
      </p:sp>
      <p:sp>
        <p:nvSpPr>
          <p:cNvPr id="49" name="Shape 44"/>
          <p:cNvSpPr/>
          <p:nvPr/>
        </p:nvSpPr>
        <p:spPr>
          <a:xfrm>
            <a:off x="4857750" y="1485900"/>
            <a:ext cx="3657600" cy="3143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5"/>
          <p:cNvSpPr/>
          <p:nvPr/>
        </p:nvSpPr>
        <p:spPr>
          <a:xfrm>
            <a:off x="4857750" y="1485900"/>
            <a:ext cx="978750" cy="314325"/>
          </a:xfrm>
          <a:prstGeom prst="rect">
            <a:avLst/>
          </a:pr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4857750" y="1485900"/>
            <a:ext cx="1050187" cy="31432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Aspect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5836500" y="1485900"/>
            <a:ext cx="1334737" cy="314325"/>
          </a:xfrm>
          <a:prstGeom prst="rect">
            <a:avLst/>
          </a:pr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8"/>
          <p:cNvSpPr/>
          <p:nvPr/>
        </p:nvSpPr>
        <p:spPr>
          <a:xfrm>
            <a:off x="5836500" y="1485900"/>
            <a:ext cx="1406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7171237" y="1485900"/>
            <a:ext cx="1344113" cy="314325"/>
          </a:xfrm>
          <a:prstGeom prst="rect">
            <a:avLst/>
          </a:prstGeom>
          <a:solidFill>
            <a:srgbClr val="63B3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7171237" y="1485900"/>
            <a:ext cx="141555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Iteration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4857750" y="1800225"/>
            <a:ext cx="3657600" cy="3143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4857750" y="1800225"/>
            <a:ext cx="1050187" cy="31432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Usage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836500" y="1800225"/>
            <a:ext cx="1406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(call stack)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7171237" y="1800225"/>
            <a:ext cx="141555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(no call stack)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4857750" y="2114550"/>
            <a:ext cx="3657600" cy="3143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6"/>
          <p:cNvSpPr/>
          <p:nvPr/>
        </p:nvSpPr>
        <p:spPr>
          <a:xfrm>
            <a:off x="4857750" y="2114550"/>
            <a:ext cx="1050187" cy="31432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Speed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5836500" y="2114550"/>
            <a:ext cx="1406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Generally slower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7171237" y="2114550"/>
            <a:ext cx="141555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Generally faster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4857750" y="2428875"/>
            <a:ext cx="3657600" cy="48577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0"/>
          <p:cNvSpPr/>
          <p:nvPr/>
        </p:nvSpPr>
        <p:spPr>
          <a:xfrm>
            <a:off x="4857750" y="2428875"/>
            <a:ext cx="1050187" cy="48577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Complexity</a:t>
            </a:r>
            <a:endParaRPr lang="en-US" sz="900" dirty="0"/>
          </a:p>
        </p:txBody>
      </p:sp>
      <p:sp>
        <p:nvSpPr>
          <p:cNvPr id="66" name="Text 61"/>
          <p:cNvSpPr/>
          <p:nvPr/>
        </p:nvSpPr>
        <p:spPr>
          <a:xfrm>
            <a:off x="5836500" y="2428875"/>
            <a:ext cx="1406175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Often simpler and cleaner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7171237" y="2428875"/>
            <a:ext cx="1415551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be more complex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4857750" y="2914650"/>
            <a:ext cx="3657600" cy="4857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4857750" y="2914650"/>
            <a:ext cx="1050187" cy="48577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Suitability</a:t>
            </a:r>
            <a:endParaRPr lang="en-US" sz="900" dirty="0"/>
          </a:p>
        </p:txBody>
      </p:sp>
      <p:sp>
        <p:nvSpPr>
          <p:cNvPr id="70" name="Text 65"/>
          <p:cNvSpPr/>
          <p:nvPr/>
        </p:nvSpPr>
        <p:spPr>
          <a:xfrm>
            <a:off x="5836500" y="2914650"/>
            <a:ext cx="1406175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structures, divide &amp; conquer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7171237" y="2914650"/>
            <a:ext cx="1415551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Linear problems, simple repetition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4857750" y="3400425"/>
            <a:ext cx="3657600" cy="3143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68"/>
          <p:cNvSpPr/>
          <p:nvPr/>
        </p:nvSpPr>
        <p:spPr>
          <a:xfrm>
            <a:off x="4857750" y="3400425"/>
            <a:ext cx="1050187" cy="31432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Termination</a:t>
            </a:r>
            <a:endParaRPr lang="en-US" sz="900" dirty="0"/>
          </a:p>
        </p:txBody>
      </p:sp>
      <p:sp>
        <p:nvSpPr>
          <p:cNvPr id="74" name="Text 69"/>
          <p:cNvSpPr/>
          <p:nvPr/>
        </p:nvSpPr>
        <p:spPr>
          <a:xfrm>
            <a:off x="5836500" y="3400425"/>
            <a:ext cx="140617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</a:t>
            </a:r>
            <a:endParaRPr lang="en-US" sz="900" dirty="0"/>
          </a:p>
        </p:txBody>
      </p:sp>
      <p:sp>
        <p:nvSpPr>
          <p:cNvPr id="75" name="Text 70"/>
          <p:cNvSpPr/>
          <p:nvPr/>
        </p:nvSpPr>
        <p:spPr>
          <a:xfrm>
            <a:off x="7171237" y="3400425"/>
            <a:ext cx="141555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Loop condition</a:t>
            </a:r>
            <a:endParaRPr lang="en-US" sz="900" dirty="0"/>
          </a:p>
        </p:txBody>
      </p:sp>
      <p:sp>
        <p:nvSpPr>
          <p:cNvPr id="76" name="Shape 71"/>
          <p:cNvSpPr/>
          <p:nvPr/>
        </p:nvSpPr>
        <p:spPr>
          <a:xfrm>
            <a:off x="4857750" y="3714750"/>
            <a:ext cx="3657600" cy="48577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2"/>
          <p:cNvSpPr/>
          <p:nvPr/>
        </p:nvSpPr>
        <p:spPr>
          <a:xfrm>
            <a:off x="4857750" y="3714750"/>
            <a:ext cx="1050187" cy="485775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Management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5836500" y="3714750"/>
            <a:ext cx="1406175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Implicit (call stack)</a:t>
            </a:r>
            <a:endParaRPr lang="en-US" sz="900" dirty="0"/>
          </a:p>
        </p:txBody>
      </p:sp>
      <p:sp>
        <p:nvSpPr>
          <p:cNvPr id="79" name="Text 74"/>
          <p:cNvSpPr/>
          <p:nvPr/>
        </p:nvSpPr>
        <p:spPr>
          <a:xfrm>
            <a:off x="7171237" y="3714750"/>
            <a:ext cx="1415551" cy="48577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(variables)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457200" y="4800600"/>
            <a:ext cx="8229600" cy="33575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6"/>
          <p:cNvSpPr/>
          <p:nvPr/>
        </p:nvSpPr>
        <p:spPr>
          <a:xfrm>
            <a:off x="628650" y="49720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Choose Each Approach</a:t>
            </a:r>
            <a:endParaRPr lang="en-US" sz="1350" dirty="0"/>
          </a:p>
        </p:txBody>
      </p:sp>
      <p:sp>
        <p:nvSpPr>
          <p:cNvPr id="82" name="Text 77"/>
          <p:cNvSpPr/>
          <p:nvPr/>
        </p:nvSpPr>
        <p:spPr>
          <a:xfrm>
            <a:off x="628650" y="5314950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Recursion When:</a:t>
            </a:r>
            <a:endParaRPr lang="en-US" sz="1125" dirty="0"/>
          </a:p>
        </p:txBody>
      </p:sp>
      <p:pic>
        <p:nvPicPr>
          <p:cNvPr id="8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629275"/>
            <a:ext cx="114300" cy="114300"/>
          </a:xfrm>
          <a:prstGeom prst="rect">
            <a:avLst/>
          </a:prstGeom>
        </p:spPr>
      </p:pic>
      <p:sp>
        <p:nvSpPr>
          <p:cNvPr id="84" name="Text 78"/>
          <p:cNvSpPr/>
          <p:nvPr/>
        </p:nvSpPr>
        <p:spPr>
          <a:xfrm>
            <a:off x="800100" y="5600700"/>
            <a:ext cx="3502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can be naturally broken down into similar subproblems</a:t>
            </a:r>
            <a:endParaRPr lang="en-US" sz="900" dirty="0"/>
          </a:p>
        </p:txBody>
      </p:sp>
      <p:pic>
        <p:nvPicPr>
          <p:cNvPr id="8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886450"/>
            <a:ext cx="114300" cy="114300"/>
          </a:xfrm>
          <a:prstGeom prst="rect">
            <a:avLst/>
          </a:prstGeom>
        </p:spPr>
      </p:pic>
      <p:sp>
        <p:nvSpPr>
          <p:cNvPr id="86" name="Text 79"/>
          <p:cNvSpPr/>
          <p:nvPr/>
        </p:nvSpPr>
        <p:spPr>
          <a:xfrm>
            <a:off x="800100" y="5857875"/>
            <a:ext cx="2699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with tree-like or hierarchical data structures</a:t>
            </a:r>
            <a:endParaRPr lang="en-US" sz="900" dirty="0"/>
          </a:p>
        </p:txBody>
      </p:sp>
      <p:pic>
        <p:nvPicPr>
          <p:cNvPr id="8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6143625"/>
            <a:ext cx="114300" cy="114300"/>
          </a:xfrm>
          <a:prstGeom prst="rect">
            <a:avLst/>
          </a:prstGeom>
        </p:spPr>
      </p:pic>
      <p:sp>
        <p:nvSpPr>
          <p:cNvPr id="88" name="Text 80"/>
          <p:cNvSpPr/>
          <p:nvPr/>
        </p:nvSpPr>
        <p:spPr>
          <a:xfrm>
            <a:off x="800100" y="6115050"/>
            <a:ext cx="2739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readability is more important than performance</a:t>
            </a:r>
            <a:endParaRPr lang="en-US" sz="900" dirty="0"/>
          </a:p>
        </p:txBody>
      </p:sp>
      <p:pic>
        <p:nvPicPr>
          <p:cNvPr id="8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6400800"/>
            <a:ext cx="114300" cy="114300"/>
          </a:xfrm>
          <a:prstGeom prst="rect">
            <a:avLst/>
          </a:prstGeom>
        </p:spPr>
      </p:pic>
      <p:sp>
        <p:nvSpPr>
          <p:cNvPr id="90" name="Text 81"/>
          <p:cNvSpPr/>
          <p:nvPr/>
        </p:nvSpPr>
        <p:spPr>
          <a:xfrm>
            <a:off x="800100" y="6372225"/>
            <a:ext cx="19203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divide and conquer algorithms</a:t>
            </a:r>
            <a:endParaRPr lang="en-US" sz="900" dirty="0"/>
          </a:p>
        </p:txBody>
      </p:sp>
      <p:pic>
        <p:nvPicPr>
          <p:cNvPr id="9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6657975"/>
            <a:ext cx="114300" cy="114300"/>
          </a:xfrm>
          <a:prstGeom prst="rect">
            <a:avLst/>
          </a:prstGeom>
        </p:spPr>
      </p:pic>
      <p:sp>
        <p:nvSpPr>
          <p:cNvPr id="92" name="Text 82"/>
          <p:cNvSpPr/>
          <p:nvPr/>
        </p:nvSpPr>
        <p:spPr>
          <a:xfrm>
            <a:off x="800100" y="6629400"/>
            <a:ext cx="22760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depth of recursion is known and limited</a:t>
            </a:r>
            <a:endParaRPr lang="en-US" sz="900" dirty="0"/>
          </a:p>
        </p:txBody>
      </p:sp>
      <p:sp>
        <p:nvSpPr>
          <p:cNvPr id="93" name="Shape 83"/>
          <p:cNvSpPr/>
          <p:nvPr/>
        </p:nvSpPr>
        <p:spPr>
          <a:xfrm>
            <a:off x="628650" y="6915150"/>
            <a:ext cx="3829050" cy="3143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4"/>
          <p:cNvSpPr/>
          <p:nvPr/>
        </p:nvSpPr>
        <p:spPr>
          <a:xfrm>
            <a:off x="714375" y="70008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Tree traversal, quicksort, merge sort, binary search, Tower of Hanoi</a:t>
            </a:r>
            <a:endParaRPr lang="en-US" sz="788" dirty="0"/>
          </a:p>
        </p:txBody>
      </p:sp>
      <p:sp>
        <p:nvSpPr>
          <p:cNvPr id="95" name="Text 85"/>
          <p:cNvSpPr/>
          <p:nvPr/>
        </p:nvSpPr>
        <p:spPr>
          <a:xfrm>
            <a:off x="4686300" y="5314950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Iteration When:</a:t>
            </a:r>
            <a:endParaRPr lang="en-US" sz="1125" dirty="0"/>
          </a:p>
        </p:txBody>
      </p:sp>
      <p:pic>
        <p:nvPicPr>
          <p:cNvPr id="96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5629275"/>
            <a:ext cx="114300" cy="114300"/>
          </a:xfrm>
          <a:prstGeom prst="rect">
            <a:avLst/>
          </a:prstGeom>
        </p:spPr>
      </p:pic>
      <p:sp>
        <p:nvSpPr>
          <p:cNvPr id="97" name="Text 86"/>
          <p:cNvSpPr/>
          <p:nvPr/>
        </p:nvSpPr>
        <p:spPr>
          <a:xfrm>
            <a:off x="4857750" y="5600700"/>
            <a:ext cx="24514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and memory efficiency are critical</a:t>
            </a:r>
            <a:endParaRPr lang="en-US" sz="900" dirty="0"/>
          </a:p>
        </p:txBody>
      </p:sp>
      <p:pic>
        <p:nvPicPr>
          <p:cNvPr id="98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5886450"/>
            <a:ext cx="114300" cy="114300"/>
          </a:xfrm>
          <a:prstGeom prst="rect">
            <a:avLst/>
          </a:prstGeom>
        </p:spPr>
      </p:pic>
      <p:sp>
        <p:nvSpPr>
          <p:cNvPr id="99" name="Text 87"/>
          <p:cNvSpPr/>
          <p:nvPr/>
        </p:nvSpPr>
        <p:spPr>
          <a:xfrm>
            <a:off x="4857750" y="5857875"/>
            <a:ext cx="16152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is linear in nature</a:t>
            </a:r>
            <a:endParaRPr lang="en-US" sz="900" dirty="0"/>
          </a:p>
        </p:txBody>
      </p:sp>
      <p:pic>
        <p:nvPicPr>
          <p:cNvPr id="10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6143625"/>
            <a:ext cx="114300" cy="114300"/>
          </a:xfrm>
          <a:prstGeom prst="rect">
            <a:avLst/>
          </a:prstGeom>
        </p:spPr>
      </p:pic>
      <p:sp>
        <p:nvSpPr>
          <p:cNvPr id="101" name="Text 88"/>
          <p:cNvSpPr/>
          <p:nvPr/>
        </p:nvSpPr>
        <p:spPr>
          <a:xfrm>
            <a:off x="4857750" y="6115050"/>
            <a:ext cx="23140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number of iterations might be very large</a:t>
            </a:r>
            <a:endParaRPr lang="en-US" sz="900" dirty="0"/>
          </a:p>
        </p:txBody>
      </p:sp>
      <p:pic>
        <p:nvPicPr>
          <p:cNvPr id="102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6400800"/>
            <a:ext cx="114300" cy="114300"/>
          </a:xfrm>
          <a:prstGeom prst="rect">
            <a:avLst/>
          </a:prstGeom>
        </p:spPr>
      </p:pic>
      <p:sp>
        <p:nvSpPr>
          <p:cNvPr id="103" name="Text 89"/>
          <p:cNvSpPr/>
          <p:nvPr/>
        </p:nvSpPr>
        <p:spPr>
          <a:xfrm>
            <a:off x="4857750" y="6372225"/>
            <a:ext cx="14626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 is a concern</a:t>
            </a:r>
            <a:endParaRPr lang="en-US" sz="900" dirty="0"/>
          </a:p>
        </p:txBody>
      </p:sp>
      <p:pic>
        <p:nvPicPr>
          <p:cNvPr id="10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6657975"/>
            <a:ext cx="114300" cy="114300"/>
          </a:xfrm>
          <a:prstGeom prst="rect">
            <a:avLst/>
          </a:prstGeom>
        </p:spPr>
      </p:pic>
      <p:sp>
        <p:nvSpPr>
          <p:cNvPr id="105" name="Text 90"/>
          <p:cNvSpPr/>
          <p:nvPr/>
        </p:nvSpPr>
        <p:spPr>
          <a:xfrm>
            <a:off x="4857750" y="6629400"/>
            <a:ext cx="24158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 requires maintaining explicit state</a:t>
            </a:r>
            <a:endParaRPr lang="en-US" sz="900" dirty="0"/>
          </a:p>
        </p:txBody>
      </p:sp>
      <p:sp>
        <p:nvSpPr>
          <p:cNvPr id="106" name="Shape 91"/>
          <p:cNvSpPr/>
          <p:nvPr/>
        </p:nvSpPr>
        <p:spPr>
          <a:xfrm>
            <a:off x="4686300" y="6915150"/>
            <a:ext cx="3829050" cy="3143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92"/>
          <p:cNvSpPr/>
          <p:nvPr/>
        </p:nvSpPr>
        <p:spPr>
          <a:xfrm>
            <a:off x="4772025" y="70008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 Simple counting, data processing loops, numerical computation</a:t>
            </a:r>
            <a:endParaRPr lang="en-US" sz="788" dirty="0"/>
          </a:p>
        </p:txBody>
      </p:sp>
      <p:sp>
        <p:nvSpPr>
          <p:cNvPr id="108" name="Shape 93"/>
          <p:cNvSpPr/>
          <p:nvPr/>
        </p:nvSpPr>
        <p:spPr>
          <a:xfrm>
            <a:off x="628650" y="7400925"/>
            <a:ext cx="7886700" cy="571500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9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7600950"/>
            <a:ext cx="128588" cy="171450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985838" y="7515225"/>
            <a:ext cx="7486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recursive algorithms can be rewritten iteratively (and vice versa), but the choice should be based on readability, performance requirements, and the nature of the problem.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572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353012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 Recursion Example: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915891" y="455414"/>
            <a:ext cx="1143335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43576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 Definition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1430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factorial of a non-negative integer n, denoted as n!, is the product of all positive integers less than or equal to n.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42950" y="2085975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n! = n × (n-1) × (n-2) × ... × 2 × 1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2950" y="2343150"/>
            <a:ext cx="3500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0! = 1 (by definition)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8650" y="280035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28650" y="308610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1! =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8650" y="331470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2! = 2 × 1 =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8650" y="354330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3! = 3 × 2 × 1 = 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8650" y="377190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4! = 4 × 3 × 2 × 1 = 24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8650" y="400050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5! = 5 × 4 × 3 × 2 × 1 = 120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8650" y="434340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Definition: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628650" y="4629150"/>
            <a:ext cx="3657600" cy="5143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4375" y="4714875"/>
            <a:ext cx="3557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n! = 1 (if n = 0 or n = 1)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4375" y="4886325"/>
            <a:ext cx="3557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n! = n × (n-1)! (if n &gt; 1)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86300" y="971550"/>
            <a:ext cx="4000500" cy="4343400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Implementation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857750" y="1485900"/>
            <a:ext cx="3657600" cy="20288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720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13" dirty="0"/>
          </a:p>
        </p:txBody>
      </p:sp>
      <p:sp>
        <p:nvSpPr>
          <p:cNvPr id="25" name="Text 22"/>
          <p:cNvSpPr/>
          <p:nvPr/>
        </p:nvSpPr>
        <p:spPr>
          <a:xfrm>
            <a:off x="5512129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6283682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7132365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29" name="Text 26"/>
          <p:cNvSpPr/>
          <p:nvPr/>
        </p:nvSpPr>
        <p:spPr>
          <a:xfrm>
            <a:off x="7363839" y="16127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5126366" y="1812727"/>
            <a:ext cx="9972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5126366" y="20127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5280682" y="2012752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0 || n == 1) {</a:t>
            </a:r>
            <a:endParaRPr lang="en-US" sz="1013" dirty="0"/>
          </a:p>
        </p:txBody>
      </p:sp>
      <p:sp>
        <p:nvSpPr>
          <p:cNvPr id="33" name="Text 30"/>
          <p:cNvSpPr/>
          <p:nvPr/>
        </p:nvSpPr>
        <p:spPr>
          <a:xfrm>
            <a:off x="5280682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5743603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013" dirty="0"/>
          </a:p>
        </p:txBody>
      </p:sp>
      <p:sp>
        <p:nvSpPr>
          <p:cNvPr id="35" name="Text 32"/>
          <p:cNvSpPr/>
          <p:nvPr/>
        </p:nvSpPr>
        <p:spPr>
          <a:xfrm>
            <a:off x="4972050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5126366" y="2812852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5126366" y="30128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38" name="Text 35"/>
          <p:cNvSpPr/>
          <p:nvPr/>
        </p:nvSpPr>
        <p:spPr>
          <a:xfrm>
            <a:off x="5589287" y="3012877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1013" dirty="0"/>
          </a:p>
        </p:txBody>
      </p:sp>
      <p:sp>
        <p:nvSpPr>
          <p:cNvPr id="39" name="Text 36"/>
          <p:cNvSpPr/>
          <p:nvPr/>
        </p:nvSpPr>
        <p:spPr>
          <a:xfrm>
            <a:off x="4972050" y="32129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0" name="Shape 37"/>
          <p:cNvSpPr/>
          <p:nvPr/>
        </p:nvSpPr>
        <p:spPr>
          <a:xfrm>
            <a:off x="4857750" y="3686175"/>
            <a:ext cx="3657600" cy="12287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972050" y="3800475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Points:</a:t>
            </a:r>
            <a:endParaRPr lang="en-US" sz="1013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4086225"/>
            <a:ext cx="100013" cy="100013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5129213" y="4071938"/>
            <a:ext cx="59413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case:</a:t>
            </a:r>
            <a:endParaRPr lang="en-US" sz="788" dirty="0"/>
          </a:p>
        </p:txBody>
      </p:sp>
      <p:sp>
        <p:nvSpPr>
          <p:cNvPr id="44" name="Text 40"/>
          <p:cNvSpPr/>
          <p:nvPr/>
        </p:nvSpPr>
        <p:spPr>
          <a:xfrm>
            <a:off x="5651906" y="4071938"/>
            <a:ext cx="109441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0 or n = 1, return 1</a:t>
            </a:r>
            <a:endParaRPr lang="en-US" sz="788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4286250"/>
            <a:ext cx="100013" cy="100013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129213" y="4271963"/>
            <a:ext cx="83316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case:</a:t>
            </a:r>
            <a:endParaRPr lang="en-US" sz="788" dirty="0"/>
          </a:p>
        </p:txBody>
      </p:sp>
      <p:sp>
        <p:nvSpPr>
          <p:cNvPr id="47" name="Text 42"/>
          <p:cNvSpPr/>
          <p:nvPr/>
        </p:nvSpPr>
        <p:spPr>
          <a:xfrm>
            <a:off x="5890943" y="4271963"/>
            <a:ext cx="152499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&gt; 1, multiply n by factorial(n-1)</a:t>
            </a:r>
            <a:endParaRPr lang="en-US" sz="788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4486275"/>
            <a:ext cx="100013" cy="100013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129213" y="4471988"/>
            <a:ext cx="139998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toward base case:</a:t>
            </a:r>
            <a:endParaRPr lang="en-US" sz="788" dirty="0"/>
          </a:p>
        </p:txBody>
      </p:sp>
      <p:sp>
        <p:nvSpPr>
          <p:cNvPr id="50" name="Text 44"/>
          <p:cNvSpPr/>
          <p:nvPr/>
        </p:nvSpPr>
        <p:spPr>
          <a:xfrm>
            <a:off x="6457755" y="4471988"/>
            <a:ext cx="138904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decreases by 1 in each call</a:t>
            </a:r>
            <a:endParaRPr lang="en-US" sz="788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4686300"/>
            <a:ext cx="100013" cy="100013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129213" y="4672013"/>
            <a:ext cx="66967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Termination:</a:t>
            </a:r>
            <a:endParaRPr lang="en-US" sz="788" dirty="0"/>
          </a:p>
        </p:txBody>
      </p:sp>
      <p:sp>
        <p:nvSpPr>
          <p:cNvPr id="53" name="Text 46"/>
          <p:cNvSpPr/>
          <p:nvPr/>
        </p:nvSpPr>
        <p:spPr>
          <a:xfrm>
            <a:off x="5727446" y="4672013"/>
            <a:ext cx="153833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Will reach base case when n ≤ 1</a:t>
            </a:r>
            <a:endParaRPr lang="en-US" sz="788" dirty="0"/>
          </a:p>
        </p:txBody>
      </p:sp>
      <p:sp>
        <p:nvSpPr>
          <p:cNvPr id="54" name="Shape 47"/>
          <p:cNvSpPr/>
          <p:nvPr/>
        </p:nvSpPr>
        <p:spPr>
          <a:xfrm>
            <a:off x="457200" y="5543550"/>
            <a:ext cx="8229600" cy="35575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/>
          <p:nvPr/>
        </p:nvSpPr>
        <p:spPr>
          <a:xfrm>
            <a:off x="628650" y="57150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Trace for factorial(4)</a:t>
            </a:r>
            <a:endParaRPr lang="en-US" sz="1350" dirty="0"/>
          </a:p>
        </p:txBody>
      </p:sp>
      <p:sp>
        <p:nvSpPr>
          <p:cNvPr id="56" name="Shape 49"/>
          <p:cNvSpPr/>
          <p:nvPr/>
        </p:nvSpPr>
        <p:spPr>
          <a:xfrm>
            <a:off x="628650" y="6057900"/>
            <a:ext cx="14859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0"/>
          <p:cNvSpPr/>
          <p:nvPr/>
        </p:nvSpPr>
        <p:spPr>
          <a:xfrm>
            <a:off x="628650" y="6057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/>
          <p:nvPr/>
        </p:nvSpPr>
        <p:spPr>
          <a:xfrm>
            <a:off x="742950" y="611505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788" dirty="0"/>
          </a:p>
        </p:txBody>
      </p:sp>
      <p:sp>
        <p:nvSpPr>
          <p:cNvPr id="59" name="Text 52"/>
          <p:cNvSpPr/>
          <p:nvPr/>
        </p:nvSpPr>
        <p:spPr>
          <a:xfrm>
            <a:off x="742950" y="6257925"/>
            <a:ext cx="144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factorial(4)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742950" y="64579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&gt; 1, so recursive case</a:t>
            </a:r>
            <a:endParaRPr lang="en-US" sz="675" dirty="0"/>
          </a:p>
        </p:txBody>
      </p:sp>
      <p:sp>
        <p:nvSpPr>
          <p:cNvPr id="61" name="Text 54"/>
          <p:cNvSpPr/>
          <p:nvPr/>
        </p:nvSpPr>
        <p:spPr>
          <a:xfrm>
            <a:off x="742950" y="65722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4 * factorial(3)</a:t>
            </a:r>
            <a:endParaRPr lang="en-US" sz="675" dirty="0"/>
          </a:p>
        </p:txBody>
      </p:sp>
      <p:sp>
        <p:nvSpPr>
          <p:cNvPr id="62" name="Shape 55"/>
          <p:cNvSpPr/>
          <p:nvPr/>
        </p:nvSpPr>
        <p:spPr>
          <a:xfrm>
            <a:off x="2228850" y="6057900"/>
            <a:ext cx="14859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6"/>
          <p:cNvSpPr/>
          <p:nvPr/>
        </p:nvSpPr>
        <p:spPr>
          <a:xfrm>
            <a:off x="2228850" y="6057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2343150" y="611505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788" dirty="0"/>
          </a:p>
        </p:txBody>
      </p:sp>
      <p:sp>
        <p:nvSpPr>
          <p:cNvPr id="65" name="Text 58"/>
          <p:cNvSpPr/>
          <p:nvPr/>
        </p:nvSpPr>
        <p:spPr>
          <a:xfrm>
            <a:off x="2343150" y="6257925"/>
            <a:ext cx="144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factorial(3)</a:t>
            </a:r>
            <a:endParaRPr lang="en-US" sz="900" dirty="0"/>
          </a:p>
        </p:txBody>
      </p:sp>
      <p:sp>
        <p:nvSpPr>
          <p:cNvPr id="66" name="Text 59"/>
          <p:cNvSpPr/>
          <p:nvPr/>
        </p:nvSpPr>
        <p:spPr>
          <a:xfrm>
            <a:off x="2343150" y="64579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&gt; 1, so recursive case</a:t>
            </a:r>
            <a:endParaRPr lang="en-US" sz="675" dirty="0"/>
          </a:p>
        </p:txBody>
      </p:sp>
      <p:sp>
        <p:nvSpPr>
          <p:cNvPr id="67" name="Text 60"/>
          <p:cNvSpPr/>
          <p:nvPr/>
        </p:nvSpPr>
        <p:spPr>
          <a:xfrm>
            <a:off x="2343150" y="65722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3 * factorial(2)</a:t>
            </a:r>
            <a:endParaRPr lang="en-US" sz="675" dirty="0"/>
          </a:p>
        </p:txBody>
      </p:sp>
      <p:sp>
        <p:nvSpPr>
          <p:cNvPr id="68" name="Shape 61"/>
          <p:cNvSpPr/>
          <p:nvPr/>
        </p:nvSpPr>
        <p:spPr>
          <a:xfrm>
            <a:off x="3829050" y="6057900"/>
            <a:ext cx="14859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2"/>
          <p:cNvSpPr/>
          <p:nvPr/>
        </p:nvSpPr>
        <p:spPr>
          <a:xfrm>
            <a:off x="3829050" y="6057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/>
          <p:nvPr/>
        </p:nvSpPr>
        <p:spPr>
          <a:xfrm>
            <a:off x="3943350" y="611505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788" dirty="0"/>
          </a:p>
        </p:txBody>
      </p:sp>
      <p:sp>
        <p:nvSpPr>
          <p:cNvPr id="71" name="Text 64"/>
          <p:cNvSpPr/>
          <p:nvPr/>
        </p:nvSpPr>
        <p:spPr>
          <a:xfrm>
            <a:off x="3943350" y="6257925"/>
            <a:ext cx="144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factorial(2)</a:t>
            </a:r>
            <a:endParaRPr lang="en-US" sz="900" dirty="0"/>
          </a:p>
        </p:txBody>
      </p:sp>
      <p:sp>
        <p:nvSpPr>
          <p:cNvPr id="72" name="Text 65"/>
          <p:cNvSpPr/>
          <p:nvPr/>
        </p:nvSpPr>
        <p:spPr>
          <a:xfrm>
            <a:off x="3943350" y="64579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&gt; 1, so recursive case</a:t>
            </a:r>
            <a:endParaRPr lang="en-US" sz="675" dirty="0"/>
          </a:p>
        </p:txBody>
      </p:sp>
      <p:sp>
        <p:nvSpPr>
          <p:cNvPr id="73" name="Text 66"/>
          <p:cNvSpPr/>
          <p:nvPr/>
        </p:nvSpPr>
        <p:spPr>
          <a:xfrm>
            <a:off x="3943350" y="65722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2 * factorial(1)</a:t>
            </a:r>
            <a:endParaRPr lang="en-US" sz="675" dirty="0"/>
          </a:p>
        </p:txBody>
      </p:sp>
      <p:sp>
        <p:nvSpPr>
          <p:cNvPr id="74" name="Shape 67"/>
          <p:cNvSpPr/>
          <p:nvPr/>
        </p:nvSpPr>
        <p:spPr>
          <a:xfrm>
            <a:off x="5429250" y="6057900"/>
            <a:ext cx="1485900" cy="914400"/>
          </a:xfrm>
          <a:prstGeom prst="rect">
            <a:avLst/>
          </a:prstGeom>
          <a:solidFill>
            <a:srgbClr val="064E3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68"/>
          <p:cNvSpPr/>
          <p:nvPr/>
        </p:nvSpPr>
        <p:spPr>
          <a:xfrm>
            <a:off x="5429250" y="6057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9"/>
          <p:cNvSpPr/>
          <p:nvPr/>
        </p:nvSpPr>
        <p:spPr>
          <a:xfrm>
            <a:off x="5543550" y="611505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788" dirty="0"/>
          </a:p>
        </p:txBody>
      </p:sp>
      <p:sp>
        <p:nvSpPr>
          <p:cNvPr id="77" name="Text 70"/>
          <p:cNvSpPr/>
          <p:nvPr/>
        </p:nvSpPr>
        <p:spPr>
          <a:xfrm>
            <a:off x="5543550" y="6257925"/>
            <a:ext cx="144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factorial(1)</a:t>
            </a:r>
            <a:endParaRPr lang="en-US" sz="900" dirty="0"/>
          </a:p>
        </p:txBody>
      </p:sp>
      <p:sp>
        <p:nvSpPr>
          <p:cNvPr id="78" name="Text 71"/>
          <p:cNvSpPr/>
          <p:nvPr/>
        </p:nvSpPr>
        <p:spPr>
          <a:xfrm>
            <a:off x="5543550" y="64579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= 1, so base case</a:t>
            </a:r>
            <a:endParaRPr lang="en-US" sz="675" dirty="0"/>
          </a:p>
        </p:txBody>
      </p:sp>
      <p:sp>
        <p:nvSpPr>
          <p:cNvPr id="79" name="Text 72"/>
          <p:cNvSpPr/>
          <p:nvPr/>
        </p:nvSpPr>
        <p:spPr>
          <a:xfrm>
            <a:off x="5543550" y="65722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1</a:t>
            </a:r>
            <a:endParaRPr lang="en-US" sz="675" dirty="0"/>
          </a:p>
        </p:txBody>
      </p:sp>
      <p:sp>
        <p:nvSpPr>
          <p:cNvPr id="80" name="Shape 73"/>
          <p:cNvSpPr/>
          <p:nvPr/>
        </p:nvSpPr>
        <p:spPr>
          <a:xfrm>
            <a:off x="7029450" y="6057900"/>
            <a:ext cx="1485900" cy="91440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4"/>
          <p:cNvSpPr/>
          <p:nvPr/>
        </p:nvSpPr>
        <p:spPr>
          <a:xfrm>
            <a:off x="7029450" y="6057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7143750" y="6115050"/>
            <a:ext cx="1443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</a:t>
            </a:r>
            <a:endParaRPr lang="en-US" sz="788" dirty="0"/>
          </a:p>
        </p:txBody>
      </p:sp>
      <p:sp>
        <p:nvSpPr>
          <p:cNvPr id="83" name="Text 76"/>
          <p:cNvSpPr/>
          <p:nvPr/>
        </p:nvSpPr>
        <p:spPr>
          <a:xfrm>
            <a:off x="7143750" y="6257925"/>
            <a:ext cx="1443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Unwinding begins</a:t>
            </a:r>
            <a:endParaRPr lang="en-US" sz="900" dirty="0"/>
          </a:p>
        </p:txBody>
      </p:sp>
      <p:sp>
        <p:nvSpPr>
          <p:cNvPr id="84" name="Text 77"/>
          <p:cNvSpPr/>
          <p:nvPr/>
        </p:nvSpPr>
        <p:spPr>
          <a:xfrm>
            <a:off x="7143750" y="64579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factorial(1) = 1</a:t>
            </a:r>
            <a:endParaRPr lang="en-US" sz="675" dirty="0"/>
          </a:p>
        </p:txBody>
      </p:sp>
      <p:sp>
        <p:nvSpPr>
          <p:cNvPr id="85" name="Text 78"/>
          <p:cNvSpPr/>
          <p:nvPr/>
        </p:nvSpPr>
        <p:spPr>
          <a:xfrm>
            <a:off x="7143750" y="65722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factorial(2) = 2 * 1 = 2</a:t>
            </a:r>
            <a:endParaRPr lang="en-US" sz="675" dirty="0"/>
          </a:p>
        </p:txBody>
      </p:sp>
      <p:sp>
        <p:nvSpPr>
          <p:cNvPr id="86" name="Text 79"/>
          <p:cNvSpPr/>
          <p:nvPr/>
        </p:nvSpPr>
        <p:spPr>
          <a:xfrm>
            <a:off x="7143750" y="66865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 = 3 * 2 = 6</a:t>
            </a:r>
            <a:endParaRPr lang="en-US" sz="675" dirty="0"/>
          </a:p>
        </p:txBody>
      </p:sp>
      <p:sp>
        <p:nvSpPr>
          <p:cNvPr id="87" name="Text 80"/>
          <p:cNvSpPr/>
          <p:nvPr/>
        </p:nvSpPr>
        <p:spPr>
          <a:xfrm>
            <a:off x="7143750" y="6800850"/>
            <a:ext cx="1443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factorial(4) = 4 * 6 = 24</a:t>
            </a:r>
            <a:endParaRPr lang="en-US" sz="675" dirty="0"/>
          </a:p>
        </p:txBody>
      </p:sp>
      <p:sp>
        <p:nvSpPr>
          <p:cNvPr id="88" name="Shape 81"/>
          <p:cNvSpPr/>
          <p:nvPr/>
        </p:nvSpPr>
        <p:spPr>
          <a:xfrm>
            <a:off x="628650" y="7143750"/>
            <a:ext cx="5257800" cy="17716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2"/>
          <p:cNvSpPr/>
          <p:nvPr/>
        </p:nvSpPr>
        <p:spPr>
          <a:xfrm>
            <a:off x="742950" y="7258050"/>
            <a:ext cx="5100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Tree Visualization</a:t>
            </a:r>
            <a:endParaRPr lang="en-US" sz="1013" dirty="0"/>
          </a:p>
        </p:txBody>
      </p:sp>
      <p:sp>
        <p:nvSpPr>
          <p:cNvPr id="90" name="Shape 83"/>
          <p:cNvSpPr/>
          <p:nvPr/>
        </p:nvSpPr>
        <p:spPr>
          <a:xfrm>
            <a:off x="2900363" y="751522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4"/>
          <p:cNvSpPr/>
          <p:nvPr/>
        </p:nvSpPr>
        <p:spPr>
          <a:xfrm>
            <a:off x="2957513" y="757237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factorial(4)</a:t>
            </a:r>
            <a:endParaRPr lang="en-US" sz="900" dirty="0"/>
          </a:p>
        </p:txBody>
      </p:sp>
      <p:sp>
        <p:nvSpPr>
          <p:cNvPr id="92" name="Shape 85"/>
          <p:cNvSpPr/>
          <p:nvPr/>
        </p:nvSpPr>
        <p:spPr>
          <a:xfrm>
            <a:off x="2900363" y="797242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86"/>
          <p:cNvSpPr/>
          <p:nvPr/>
        </p:nvSpPr>
        <p:spPr>
          <a:xfrm>
            <a:off x="2957513" y="802957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</a:t>
            </a:r>
            <a:endParaRPr lang="en-US" sz="900" dirty="0"/>
          </a:p>
        </p:txBody>
      </p:sp>
      <p:sp>
        <p:nvSpPr>
          <p:cNvPr id="94" name="Shape 87"/>
          <p:cNvSpPr/>
          <p:nvPr/>
        </p:nvSpPr>
        <p:spPr>
          <a:xfrm>
            <a:off x="2900363" y="842962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2957513" y="848677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factorial(2)</a:t>
            </a:r>
            <a:endParaRPr lang="en-US" sz="900" dirty="0"/>
          </a:p>
        </p:txBody>
      </p:sp>
      <p:sp>
        <p:nvSpPr>
          <p:cNvPr id="96" name="Shape 89"/>
          <p:cNvSpPr/>
          <p:nvPr/>
        </p:nvSpPr>
        <p:spPr>
          <a:xfrm>
            <a:off x="2900363" y="8886825"/>
            <a:ext cx="714375" cy="414338"/>
          </a:xfrm>
          <a:prstGeom prst="rect">
            <a:avLst/>
          </a:prstGeom>
          <a:solidFill>
            <a:srgbClr val="047857">
              <a:alpha val="50000"/>
            </a:srgbClr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0"/>
          <p:cNvSpPr/>
          <p:nvPr/>
        </p:nvSpPr>
        <p:spPr>
          <a:xfrm>
            <a:off x="2957513" y="894397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factorial(1)</a:t>
            </a:r>
            <a:endParaRPr lang="en-US" sz="900" dirty="0"/>
          </a:p>
        </p:txBody>
      </p:sp>
      <p:sp>
        <p:nvSpPr>
          <p:cNvPr id="98" name="Text 91"/>
          <p:cNvSpPr/>
          <p:nvPr/>
        </p:nvSpPr>
        <p:spPr>
          <a:xfrm>
            <a:off x="2957513" y="9115425"/>
            <a:ext cx="6715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1</a:t>
            </a:r>
            <a:endParaRPr lang="en-US" sz="675" dirty="0"/>
          </a:p>
        </p:txBody>
      </p:sp>
      <p:pic>
        <p:nvPicPr>
          <p:cNvPr id="9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1613" y="7515225"/>
            <a:ext cx="3571875" cy="1285875"/>
          </a:xfrm>
          <a:prstGeom prst="rect">
            <a:avLst/>
          </a:prstGeom>
        </p:spPr>
      </p:pic>
      <p:sp>
        <p:nvSpPr>
          <p:cNvPr id="100" name="Shape 92"/>
          <p:cNvSpPr/>
          <p:nvPr/>
        </p:nvSpPr>
        <p:spPr>
          <a:xfrm>
            <a:off x="3864769" y="7972425"/>
            <a:ext cx="571500" cy="185738"/>
          </a:xfrm>
          <a:prstGeom prst="rect">
            <a:avLst/>
          </a:prstGeom>
          <a:solidFill>
            <a:srgbClr val="6D28D9">
              <a:alpha val="30000"/>
            </a:srgbClr>
          </a:solidFill>
          <a:ln w="99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3893344" y="8001000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* 6 = 24</a:t>
            </a:r>
            <a:endParaRPr lang="en-US" sz="675" dirty="0"/>
          </a:p>
        </p:txBody>
      </p:sp>
      <p:sp>
        <p:nvSpPr>
          <p:cNvPr id="102" name="Shape 94"/>
          <p:cNvSpPr/>
          <p:nvPr/>
        </p:nvSpPr>
        <p:spPr>
          <a:xfrm>
            <a:off x="3864769" y="8429625"/>
            <a:ext cx="571500" cy="185738"/>
          </a:xfrm>
          <a:prstGeom prst="rect">
            <a:avLst/>
          </a:prstGeom>
          <a:solidFill>
            <a:srgbClr val="6D28D9">
              <a:alpha val="30000"/>
            </a:srgbClr>
          </a:solidFill>
          <a:ln w="99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/>
          <p:nvPr/>
        </p:nvSpPr>
        <p:spPr>
          <a:xfrm>
            <a:off x="3893344" y="8458200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* 2 = 6</a:t>
            </a:r>
            <a:endParaRPr lang="en-US" sz="675" dirty="0"/>
          </a:p>
        </p:txBody>
      </p:sp>
      <p:sp>
        <p:nvSpPr>
          <p:cNvPr id="104" name="Shape 96"/>
          <p:cNvSpPr/>
          <p:nvPr/>
        </p:nvSpPr>
        <p:spPr>
          <a:xfrm>
            <a:off x="3864769" y="8886825"/>
            <a:ext cx="571500" cy="185738"/>
          </a:xfrm>
          <a:prstGeom prst="rect">
            <a:avLst/>
          </a:prstGeom>
          <a:solidFill>
            <a:srgbClr val="6D28D9">
              <a:alpha val="30000"/>
            </a:srgbClr>
          </a:solidFill>
          <a:ln w="99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3893344" y="8915400"/>
            <a:ext cx="5857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* 1 = 2</a:t>
            </a:r>
            <a:endParaRPr lang="en-US" sz="675" dirty="0"/>
          </a:p>
        </p:txBody>
      </p:sp>
      <p:sp>
        <p:nvSpPr>
          <p:cNvPr id="106" name="Shape 98"/>
          <p:cNvSpPr/>
          <p:nvPr/>
        </p:nvSpPr>
        <p:spPr>
          <a:xfrm>
            <a:off x="6057900" y="7572375"/>
            <a:ext cx="2457450" cy="91440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7715250"/>
            <a:ext cx="107156" cy="142875"/>
          </a:xfrm>
          <a:prstGeom prst="rect">
            <a:avLst/>
          </a:prstGeom>
        </p:spPr>
      </p:pic>
      <p:sp>
        <p:nvSpPr>
          <p:cNvPr id="108" name="Text 99"/>
          <p:cNvSpPr/>
          <p:nvPr/>
        </p:nvSpPr>
        <p:spPr>
          <a:xfrm>
            <a:off x="6336506" y="7686675"/>
            <a:ext cx="7644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013" dirty="0"/>
          </a:p>
        </p:txBody>
      </p:sp>
      <p:sp>
        <p:nvSpPr>
          <p:cNvPr id="109" name="Text 100"/>
          <p:cNvSpPr/>
          <p:nvPr/>
        </p:nvSpPr>
        <p:spPr>
          <a:xfrm>
            <a:off x="6172200" y="7943850"/>
            <a:ext cx="23002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recursive call waits for its child call to complete before continuing. The results are combined as the call stack unwinds.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915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2615450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Example: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3001212" y="455414"/>
            <a:ext cx="2558188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Fibonacci Sequence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49291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Fibonacci Sequence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3144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Fibonacci sequence is a series of numbers where each number is the sum of the two preceding ones, usually starting with 0 and 1.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742950" y="2286000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0, 1, 1, 2, 3, 5, 8, 13, 21, 34, ...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2950" y="254317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F(n) = F(n-1) + F(n-2)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628650" y="297180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Mathematical Definition: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628650" y="3257550"/>
            <a:ext cx="3657600" cy="6858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14375" y="3343275"/>
            <a:ext cx="3557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 = 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4375" y="3514725"/>
            <a:ext cx="3557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 = 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4375" y="3686175"/>
            <a:ext cx="3557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F(n) = F(n-1) + F(n-2) for n &gt;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8650" y="411480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Examples: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628650" y="44005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 = 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8650" y="46291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 =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8650" y="48577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F(2) = F(1) + F(0) = 1 + 0 = 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8650" y="50863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F(3) = F(2) + F(1) = 1 + 1 =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8650" y="53149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F(4) = F(3) + F(2) = 2 + 1 =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8650" y="5543550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F(5) = F(4) + F(3) = 3 + 2 = 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86300" y="971550"/>
            <a:ext cx="4000500" cy="49291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Implementation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4857750" y="1485900"/>
            <a:ext cx="3657600" cy="28289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9720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13" dirty="0"/>
          </a:p>
        </p:txBody>
      </p:sp>
      <p:sp>
        <p:nvSpPr>
          <p:cNvPr id="27" name="Text 24"/>
          <p:cNvSpPr/>
          <p:nvPr/>
        </p:nvSpPr>
        <p:spPr>
          <a:xfrm>
            <a:off x="5512129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013" dirty="0"/>
          </a:p>
        </p:txBody>
      </p:sp>
      <p:sp>
        <p:nvSpPr>
          <p:cNvPr id="28" name="Text 25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29" name="Text 26"/>
          <p:cNvSpPr/>
          <p:nvPr/>
        </p:nvSpPr>
        <p:spPr>
          <a:xfrm>
            <a:off x="6283682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1013" dirty="0"/>
          </a:p>
        </p:txBody>
      </p:sp>
      <p:sp>
        <p:nvSpPr>
          <p:cNvPr id="30" name="Text 27"/>
          <p:cNvSpPr/>
          <p:nvPr/>
        </p:nvSpPr>
        <p:spPr>
          <a:xfrm>
            <a:off x="7132365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1" name="Text 28"/>
          <p:cNvSpPr/>
          <p:nvPr/>
        </p:nvSpPr>
        <p:spPr>
          <a:xfrm>
            <a:off x="7363839" y="16127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5126366" y="1812727"/>
            <a:ext cx="107443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cases</a:t>
            </a:r>
            <a:endParaRPr lang="en-US" sz="1013" dirty="0"/>
          </a:p>
        </p:txBody>
      </p:sp>
      <p:sp>
        <p:nvSpPr>
          <p:cNvPr id="33" name="Text 30"/>
          <p:cNvSpPr/>
          <p:nvPr/>
        </p:nvSpPr>
        <p:spPr>
          <a:xfrm>
            <a:off x="5126366" y="2012752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5280682" y="201275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0) {</a:t>
            </a:r>
            <a:endParaRPr lang="en-US" sz="1013" dirty="0"/>
          </a:p>
        </p:txBody>
      </p:sp>
      <p:sp>
        <p:nvSpPr>
          <p:cNvPr id="35" name="Text 32"/>
          <p:cNvSpPr/>
          <p:nvPr/>
        </p:nvSpPr>
        <p:spPr>
          <a:xfrm>
            <a:off x="5280682" y="2212777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36" name="Text 33"/>
          <p:cNvSpPr/>
          <p:nvPr/>
        </p:nvSpPr>
        <p:spPr>
          <a:xfrm>
            <a:off x="5743603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1013" dirty="0"/>
          </a:p>
        </p:txBody>
      </p:sp>
      <p:sp>
        <p:nvSpPr>
          <p:cNvPr id="37" name="Text 34"/>
          <p:cNvSpPr/>
          <p:nvPr/>
        </p:nvSpPr>
        <p:spPr>
          <a:xfrm>
            <a:off x="4972050" y="24128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38" name="Text 35"/>
          <p:cNvSpPr/>
          <p:nvPr/>
        </p:nvSpPr>
        <p:spPr>
          <a:xfrm>
            <a:off x="5126366" y="26128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13" dirty="0"/>
          </a:p>
        </p:txBody>
      </p:sp>
      <p:sp>
        <p:nvSpPr>
          <p:cNvPr id="39" name="Text 36"/>
          <p:cNvSpPr/>
          <p:nvPr/>
        </p:nvSpPr>
        <p:spPr>
          <a:xfrm>
            <a:off x="5280682" y="261282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1) {</a:t>
            </a:r>
            <a:endParaRPr lang="en-US" sz="1013" dirty="0"/>
          </a:p>
        </p:txBody>
      </p:sp>
      <p:sp>
        <p:nvSpPr>
          <p:cNvPr id="40" name="Text 37"/>
          <p:cNvSpPr/>
          <p:nvPr/>
        </p:nvSpPr>
        <p:spPr>
          <a:xfrm>
            <a:off x="5280682" y="28128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1" name="Text 38"/>
          <p:cNvSpPr/>
          <p:nvPr/>
        </p:nvSpPr>
        <p:spPr>
          <a:xfrm>
            <a:off x="5743603" y="28128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013" dirty="0"/>
          </a:p>
        </p:txBody>
      </p:sp>
      <p:sp>
        <p:nvSpPr>
          <p:cNvPr id="42" name="Text 39"/>
          <p:cNvSpPr/>
          <p:nvPr/>
        </p:nvSpPr>
        <p:spPr>
          <a:xfrm>
            <a:off x="4972050" y="30128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3" name="Text 40"/>
          <p:cNvSpPr/>
          <p:nvPr/>
        </p:nvSpPr>
        <p:spPr>
          <a:xfrm>
            <a:off x="5126366" y="3412927"/>
            <a:ext cx="1383041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</a:t>
            </a:r>
            <a:endParaRPr lang="en-US" sz="1013" dirty="0"/>
          </a:p>
        </p:txBody>
      </p:sp>
      <p:sp>
        <p:nvSpPr>
          <p:cNvPr id="44" name="Text 41"/>
          <p:cNvSpPr/>
          <p:nvPr/>
        </p:nvSpPr>
        <p:spPr>
          <a:xfrm>
            <a:off x="5126366" y="36129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5" name="Text 42"/>
          <p:cNvSpPr/>
          <p:nvPr/>
        </p:nvSpPr>
        <p:spPr>
          <a:xfrm>
            <a:off x="4972050" y="3612952"/>
            <a:ext cx="323472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fibonacci(n - 1) + fibonacci(n - 2);</a:t>
            </a:r>
            <a:endParaRPr lang="en-US" sz="1013" dirty="0"/>
          </a:p>
        </p:txBody>
      </p:sp>
      <p:sp>
        <p:nvSpPr>
          <p:cNvPr id="46" name="Text 43"/>
          <p:cNvSpPr/>
          <p:nvPr/>
        </p:nvSpPr>
        <p:spPr>
          <a:xfrm>
            <a:off x="4972050" y="4013002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7" name="Shape 44"/>
          <p:cNvSpPr/>
          <p:nvPr/>
        </p:nvSpPr>
        <p:spPr>
          <a:xfrm>
            <a:off x="4857750" y="4486275"/>
            <a:ext cx="3657600" cy="12287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72050" y="4600575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Points:</a:t>
            </a:r>
            <a:endParaRPr lang="en-US" sz="1013" dirty="0"/>
          </a:p>
        </p:txBody>
      </p:sp>
      <p:pic>
        <p:nvPicPr>
          <p:cNvPr id="4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4886325"/>
            <a:ext cx="100013" cy="100013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5129213" y="4872038"/>
            <a:ext cx="64974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cases:</a:t>
            </a:r>
            <a:endParaRPr lang="en-US" sz="788" dirty="0"/>
          </a:p>
        </p:txBody>
      </p:sp>
      <p:sp>
        <p:nvSpPr>
          <p:cNvPr id="51" name="Text 47"/>
          <p:cNvSpPr/>
          <p:nvPr/>
        </p:nvSpPr>
        <p:spPr>
          <a:xfrm>
            <a:off x="5707521" y="4872038"/>
            <a:ext cx="102752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 = 0 and F(1) = 1</a:t>
            </a:r>
            <a:endParaRPr lang="en-US" sz="788" dirty="0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5086350"/>
            <a:ext cx="100013" cy="100013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129213" y="5072063"/>
            <a:ext cx="83316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case:</a:t>
            </a:r>
            <a:endParaRPr lang="en-US" sz="788" dirty="0"/>
          </a:p>
        </p:txBody>
      </p:sp>
      <p:sp>
        <p:nvSpPr>
          <p:cNvPr id="54" name="Text 49"/>
          <p:cNvSpPr/>
          <p:nvPr/>
        </p:nvSpPr>
        <p:spPr>
          <a:xfrm>
            <a:off x="5890943" y="5072063"/>
            <a:ext cx="105501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F(n) = F(n-1) + F(n-2)</a:t>
            </a:r>
            <a:endParaRPr lang="en-US" sz="788" dirty="0"/>
          </a:p>
        </p:txBody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5286375"/>
            <a:ext cx="100013" cy="100013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5129213" y="5272088"/>
            <a:ext cx="139998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toward base case:</a:t>
            </a:r>
            <a:endParaRPr lang="en-US" sz="788" dirty="0"/>
          </a:p>
        </p:txBody>
      </p:sp>
      <p:sp>
        <p:nvSpPr>
          <p:cNvPr id="57" name="Text 51"/>
          <p:cNvSpPr/>
          <p:nvPr/>
        </p:nvSpPr>
        <p:spPr>
          <a:xfrm>
            <a:off x="6457755" y="5272088"/>
            <a:ext cx="117221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decreases in each call</a:t>
            </a:r>
            <a:endParaRPr lang="en-US" sz="788" dirty="0"/>
          </a:p>
        </p:txBody>
      </p:sp>
      <p:pic>
        <p:nvPicPr>
          <p:cNvPr id="5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5486400"/>
            <a:ext cx="100013" cy="100013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5129213" y="5472113"/>
            <a:ext cx="65502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Inefficiency:</a:t>
            </a:r>
            <a:endParaRPr lang="en-US" sz="788" dirty="0"/>
          </a:p>
        </p:txBody>
      </p:sp>
      <p:sp>
        <p:nvSpPr>
          <p:cNvPr id="60" name="Text 53"/>
          <p:cNvSpPr/>
          <p:nvPr/>
        </p:nvSpPr>
        <p:spPr>
          <a:xfrm>
            <a:off x="5712795" y="5472113"/>
            <a:ext cx="1372381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redundant calculations</a:t>
            </a:r>
            <a:endParaRPr lang="en-US" sz="788" dirty="0"/>
          </a:p>
        </p:txBody>
      </p:sp>
      <p:sp>
        <p:nvSpPr>
          <p:cNvPr id="61" name="Shape 54"/>
          <p:cNvSpPr/>
          <p:nvPr/>
        </p:nvSpPr>
        <p:spPr>
          <a:xfrm>
            <a:off x="457200" y="6115050"/>
            <a:ext cx="8229600" cy="43291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5"/>
          <p:cNvSpPr/>
          <p:nvPr/>
        </p:nvSpPr>
        <p:spPr>
          <a:xfrm>
            <a:off x="628650" y="62865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Call Tree for fibonacci(5)</a:t>
            </a:r>
            <a:endParaRPr lang="en-US" sz="1350" dirty="0"/>
          </a:p>
        </p:txBody>
      </p:sp>
      <p:sp>
        <p:nvSpPr>
          <p:cNvPr id="63" name="Shape 56"/>
          <p:cNvSpPr/>
          <p:nvPr/>
        </p:nvSpPr>
        <p:spPr>
          <a:xfrm>
            <a:off x="4357688" y="66294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4467244" y="67579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F(5)</a:t>
            </a:r>
            <a:endParaRPr lang="en-US" sz="900" dirty="0"/>
          </a:p>
        </p:txBody>
      </p:sp>
      <p:sp>
        <p:nvSpPr>
          <p:cNvPr id="65" name="Shape 58"/>
          <p:cNvSpPr/>
          <p:nvPr/>
        </p:nvSpPr>
        <p:spPr>
          <a:xfrm>
            <a:off x="3405169" y="70866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59"/>
          <p:cNvSpPr/>
          <p:nvPr/>
        </p:nvSpPr>
        <p:spPr>
          <a:xfrm>
            <a:off x="3514725" y="72151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F(4)</a:t>
            </a:r>
            <a:endParaRPr lang="en-US" sz="900" dirty="0"/>
          </a:p>
        </p:txBody>
      </p:sp>
      <p:sp>
        <p:nvSpPr>
          <p:cNvPr id="67" name="Shape 60"/>
          <p:cNvSpPr/>
          <p:nvPr/>
        </p:nvSpPr>
        <p:spPr>
          <a:xfrm>
            <a:off x="5310178" y="70866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/>
          <p:nvPr/>
        </p:nvSpPr>
        <p:spPr>
          <a:xfrm>
            <a:off x="5419734" y="72151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F(3)</a:t>
            </a:r>
            <a:endParaRPr lang="en-US" sz="900" dirty="0"/>
          </a:p>
        </p:txBody>
      </p:sp>
      <p:sp>
        <p:nvSpPr>
          <p:cNvPr id="69" name="Shape 62"/>
          <p:cNvSpPr/>
          <p:nvPr/>
        </p:nvSpPr>
        <p:spPr>
          <a:xfrm>
            <a:off x="2928938" y="75438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/>
          <p:nvPr/>
        </p:nvSpPr>
        <p:spPr>
          <a:xfrm>
            <a:off x="3038494" y="76723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F(3)</a:t>
            </a:r>
            <a:endParaRPr lang="en-US" sz="900" dirty="0"/>
          </a:p>
        </p:txBody>
      </p:sp>
      <p:sp>
        <p:nvSpPr>
          <p:cNvPr id="71" name="Shape 64"/>
          <p:cNvSpPr/>
          <p:nvPr/>
        </p:nvSpPr>
        <p:spPr>
          <a:xfrm>
            <a:off x="1500188" y="75438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5"/>
          <p:cNvSpPr/>
          <p:nvPr/>
        </p:nvSpPr>
        <p:spPr>
          <a:xfrm>
            <a:off x="1609744" y="76723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F(2)</a:t>
            </a:r>
            <a:endParaRPr lang="en-US" sz="900" dirty="0"/>
          </a:p>
        </p:txBody>
      </p:sp>
      <p:sp>
        <p:nvSpPr>
          <p:cNvPr id="73" name="Shape 66"/>
          <p:cNvSpPr/>
          <p:nvPr/>
        </p:nvSpPr>
        <p:spPr>
          <a:xfrm>
            <a:off x="1500188" y="75438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67"/>
          <p:cNvSpPr/>
          <p:nvPr/>
        </p:nvSpPr>
        <p:spPr>
          <a:xfrm>
            <a:off x="1609744" y="76723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F(2)</a:t>
            </a:r>
            <a:endParaRPr lang="en-US" sz="900" dirty="0"/>
          </a:p>
        </p:txBody>
      </p:sp>
      <p:sp>
        <p:nvSpPr>
          <p:cNvPr id="75" name="Shape 68"/>
          <p:cNvSpPr/>
          <p:nvPr/>
        </p:nvSpPr>
        <p:spPr>
          <a:xfrm>
            <a:off x="5786438" y="75438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69"/>
          <p:cNvSpPr/>
          <p:nvPr/>
        </p:nvSpPr>
        <p:spPr>
          <a:xfrm>
            <a:off x="5895994" y="76723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</a:t>
            </a:r>
            <a:endParaRPr lang="en-US" sz="900" dirty="0"/>
          </a:p>
        </p:txBody>
      </p:sp>
      <p:sp>
        <p:nvSpPr>
          <p:cNvPr id="77" name="Shape 70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1"/>
          <p:cNvSpPr/>
          <p:nvPr/>
        </p:nvSpPr>
        <p:spPr>
          <a:xfrm>
            <a:off x="16097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F(2)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3"/>
          <p:cNvSpPr/>
          <p:nvPr/>
        </p:nvSpPr>
        <p:spPr>
          <a:xfrm>
            <a:off x="16097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</a:t>
            </a:r>
            <a:endParaRPr lang="en-US" sz="900" dirty="0"/>
          </a:p>
        </p:txBody>
      </p:sp>
      <p:sp>
        <p:nvSpPr>
          <p:cNvPr id="81" name="Shape 74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16097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</a:t>
            </a:r>
            <a:endParaRPr lang="en-US" sz="900" dirty="0"/>
          </a:p>
        </p:txBody>
      </p:sp>
      <p:sp>
        <p:nvSpPr>
          <p:cNvPr id="83" name="Shape 76"/>
          <p:cNvSpPr/>
          <p:nvPr/>
        </p:nvSpPr>
        <p:spPr>
          <a:xfrm>
            <a:off x="43576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77"/>
          <p:cNvSpPr/>
          <p:nvPr/>
        </p:nvSpPr>
        <p:spPr>
          <a:xfrm>
            <a:off x="44672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</a:t>
            </a:r>
            <a:endParaRPr lang="en-US" sz="900" dirty="0"/>
          </a:p>
        </p:txBody>
      </p:sp>
      <p:sp>
        <p:nvSpPr>
          <p:cNvPr id="85" name="Shape 78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16097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</a:t>
            </a:r>
            <a:endParaRPr lang="en-US" sz="900" dirty="0"/>
          </a:p>
        </p:txBody>
      </p:sp>
      <p:sp>
        <p:nvSpPr>
          <p:cNvPr id="87" name="Shape 80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1"/>
          <p:cNvSpPr/>
          <p:nvPr/>
        </p:nvSpPr>
        <p:spPr>
          <a:xfrm>
            <a:off x="1609744" y="81295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</a:t>
            </a:r>
            <a:endParaRPr lang="en-US" sz="900" dirty="0"/>
          </a:p>
        </p:txBody>
      </p:sp>
      <p:sp>
        <p:nvSpPr>
          <p:cNvPr id="89" name="Shape 82"/>
          <p:cNvSpPr/>
          <p:nvPr/>
        </p:nvSpPr>
        <p:spPr>
          <a:xfrm>
            <a:off x="1500188" y="84582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1609744" y="85867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</a:t>
            </a:r>
            <a:endParaRPr lang="en-US" sz="900" dirty="0"/>
          </a:p>
        </p:txBody>
      </p:sp>
      <p:sp>
        <p:nvSpPr>
          <p:cNvPr id="91" name="Shape 84"/>
          <p:cNvSpPr/>
          <p:nvPr/>
        </p:nvSpPr>
        <p:spPr>
          <a:xfrm>
            <a:off x="2928938" y="84582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5"/>
          <p:cNvSpPr/>
          <p:nvPr/>
        </p:nvSpPr>
        <p:spPr>
          <a:xfrm>
            <a:off x="3038494" y="8586788"/>
            <a:ext cx="2809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</a:t>
            </a:r>
            <a:endParaRPr lang="en-US" sz="900" dirty="0"/>
          </a:p>
        </p:txBody>
      </p:sp>
      <p:pic>
        <p:nvPicPr>
          <p:cNvPr id="9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6629400"/>
            <a:ext cx="5715000" cy="2143125"/>
          </a:xfrm>
          <a:prstGeom prst="rect">
            <a:avLst/>
          </a:prstGeom>
        </p:spPr>
      </p:pic>
      <p:sp>
        <p:nvSpPr>
          <p:cNvPr id="94" name="Shape 86"/>
          <p:cNvSpPr/>
          <p:nvPr/>
        </p:nvSpPr>
        <p:spPr>
          <a:xfrm>
            <a:off x="1500188" y="84582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87"/>
          <p:cNvSpPr/>
          <p:nvPr/>
        </p:nvSpPr>
        <p:spPr>
          <a:xfrm>
            <a:off x="1544585" y="85867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F(1)=1</a:t>
            </a:r>
            <a:endParaRPr lang="en-US" sz="900" dirty="0"/>
          </a:p>
        </p:txBody>
      </p:sp>
      <p:sp>
        <p:nvSpPr>
          <p:cNvPr id="96" name="Shape 88"/>
          <p:cNvSpPr/>
          <p:nvPr/>
        </p:nvSpPr>
        <p:spPr>
          <a:xfrm>
            <a:off x="2928938" y="84582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89"/>
          <p:cNvSpPr/>
          <p:nvPr/>
        </p:nvSpPr>
        <p:spPr>
          <a:xfrm>
            <a:off x="2973335" y="85867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F(0)=0</a:t>
            </a:r>
            <a:endParaRPr lang="en-US" sz="900" dirty="0"/>
          </a:p>
        </p:txBody>
      </p:sp>
      <p:sp>
        <p:nvSpPr>
          <p:cNvPr id="98" name="Shape 90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1"/>
          <p:cNvSpPr/>
          <p:nvPr/>
        </p:nvSpPr>
        <p:spPr>
          <a:xfrm>
            <a:off x="1544585" y="81295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F(1)=1</a:t>
            </a:r>
            <a:endParaRPr lang="en-US" sz="900" dirty="0"/>
          </a:p>
        </p:txBody>
      </p:sp>
      <p:sp>
        <p:nvSpPr>
          <p:cNvPr id="100" name="Shape 92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1544585" y="81295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F(1)=1</a:t>
            </a:r>
            <a:endParaRPr lang="en-US" sz="900" dirty="0"/>
          </a:p>
        </p:txBody>
      </p:sp>
      <p:sp>
        <p:nvSpPr>
          <p:cNvPr id="102" name="Shape 94"/>
          <p:cNvSpPr/>
          <p:nvPr/>
        </p:nvSpPr>
        <p:spPr>
          <a:xfrm>
            <a:off x="4357688" y="80010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95"/>
          <p:cNvSpPr/>
          <p:nvPr/>
        </p:nvSpPr>
        <p:spPr>
          <a:xfrm>
            <a:off x="4402085" y="81295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F(0)=0</a:t>
            </a:r>
            <a:endParaRPr lang="en-US" sz="900" dirty="0"/>
          </a:p>
        </p:txBody>
      </p:sp>
      <p:sp>
        <p:nvSpPr>
          <p:cNvPr id="104" name="Shape 96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97"/>
          <p:cNvSpPr/>
          <p:nvPr/>
        </p:nvSpPr>
        <p:spPr>
          <a:xfrm>
            <a:off x="1544585" y="81295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F(1)=1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1500188" y="80010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99"/>
          <p:cNvSpPr/>
          <p:nvPr/>
        </p:nvSpPr>
        <p:spPr>
          <a:xfrm>
            <a:off x="1544585" y="81295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F(0)=0</a:t>
            </a:r>
            <a:endParaRPr lang="en-US" sz="900" dirty="0"/>
          </a:p>
        </p:txBody>
      </p:sp>
      <p:sp>
        <p:nvSpPr>
          <p:cNvPr id="108" name="Shape 100"/>
          <p:cNvSpPr/>
          <p:nvPr/>
        </p:nvSpPr>
        <p:spPr>
          <a:xfrm>
            <a:off x="5786438" y="7543800"/>
            <a:ext cx="428625" cy="428625"/>
          </a:xfrm>
          <a:prstGeom prst="ellipse">
            <a:avLst/>
          </a:prstGeom>
          <a:solidFill>
            <a:srgbClr val="047857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1"/>
          <p:cNvSpPr/>
          <p:nvPr/>
        </p:nvSpPr>
        <p:spPr>
          <a:xfrm>
            <a:off x="5830835" y="7672388"/>
            <a:ext cx="41126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F(1)=1</a:t>
            </a:r>
            <a:endParaRPr lang="en-US" sz="900" dirty="0"/>
          </a:p>
        </p:txBody>
      </p:sp>
      <p:sp>
        <p:nvSpPr>
          <p:cNvPr id="110" name="Shape 102"/>
          <p:cNvSpPr/>
          <p:nvPr/>
        </p:nvSpPr>
        <p:spPr>
          <a:xfrm>
            <a:off x="628650" y="8886825"/>
            <a:ext cx="3829050" cy="13716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Text 103"/>
          <p:cNvSpPr/>
          <p:nvPr/>
        </p:nvSpPr>
        <p:spPr>
          <a:xfrm>
            <a:off x="742950" y="9001125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Observations:</a:t>
            </a:r>
            <a:endParaRPr lang="en-US" sz="1013" dirty="0"/>
          </a:p>
        </p:txBody>
      </p:sp>
      <p:pic>
        <p:nvPicPr>
          <p:cNvPr id="11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286875"/>
            <a:ext cx="100013" cy="100013"/>
          </a:xfrm>
          <a:prstGeom prst="rect">
            <a:avLst/>
          </a:prstGeom>
        </p:spPr>
      </p:pic>
      <p:sp>
        <p:nvSpPr>
          <p:cNvPr id="113" name="Text 104"/>
          <p:cNvSpPr/>
          <p:nvPr/>
        </p:nvSpPr>
        <p:spPr>
          <a:xfrm>
            <a:off x="900113" y="9272588"/>
            <a:ext cx="54953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 the</a:t>
            </a:r>
            <a:endParaRPr lang="en-US" sz="788" dirty="0"/>
          </a:p>
        </p:txBody>
      </p:sp>
      <p:sp>
        <p:nvSpPr>
          <p:cNvPr id="114" name="Text 105"/>
          <p:cNvSpPr/>
          <p:nvPr/>
        </p:nvSpPr>
        <p:spPr>
          <a:xfrm>
            <a:off x="1378214" y="9272588"/>
            <a:ext cx="111629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duplicate calculations</a:t>
            </a:r>
            <a:endParaRPr lang="en-US" sz="788" dirty="0"/>
          </a:p>
        </p:txBody>
      </p:sp>
      <p:sp>
        <p:nvSpPr>
          <p:cNvPr id="115" name="Text 106"/>
          <p:cNvSpPr/>
          <p:nvPr/>
        </p:nvSpPr>
        <p:spPr>
          <a:xfrm>
            <a:off x="2423071" y="9272588"/>
            <a:ext cx="178317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(F(3), F(2), etc. appear multiple times)</a:t>
            </a:r>
            <a:endParaRPr lang="en-US" sz="788" dirty="0"/>
          </a:p>
        </p:txBody>
      </p:sp>
      <p:pic>
        <p:nvPicPr>
          <p:cNvPr id="11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486900"/>
            <a:ext cx="100013" cy="100013"/>
          </a:xfrm>
          <a:prstGeom prst="rect">
            <a:avLst/>
          </a:prstGeom>
        </p:spPr>
      </p:pic>
      <p:sp>
        <p:nvSpPr>
          <p:cNvPr id="117" name="Text 107"/>
          <p:cNvSpPr/>
          <p:nvPr/>
        </p:nvSpPr>
        <p:spPr>
          <a:xfrm>
            <a:off x="900113" y="9472613"/>
            <a:ext cx="9180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 is</a:t>
            </a:r>
            <a:endParaRPr lang="en-US" sz="788" dirty="0"/>
          </a:p>
        </p:txBody>
      </p:sp>
      <p:sp>
        <p:nvSpPr>
          <p:cNvPr id="118" name="Text 108"/>
          <p:cNvSpPr/>
          <p:nvPr/>
        </p:nvSpPr>
        <p:spPr>
          <a:xfrm>
            <a:off x="1746675" y="9472613"/>
            <a:ext cx="31108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O(2ⁿ)</a:t>
            </a:r>
            <a:endParaRPr lang="en-US" sz="788" dirty="0"/>
          </a:p>
        </p:txBody>
      </p:sp>
      <p:sp>
        <p:nvSpPr>
          <p:cNvPr id="119" name="Text 109"/>
          <p:cNvSpPr/>
          <p:nvPr/>
        </p:nvSpPr>
        <p:spPr>
          <a:xfrm>
            <a:off x="1986325" y="9472613"/>
            <a:ext cx="99987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exponential growth</a:t>
            </a:r>
            <a:endParaRPr lang="en-US" sz="788" dirty="0"/>
          </a:p>
        </p:txBody>
      </p:sp>
      <p:pic>
        <p:nvPicPr>
          <p:cNvPr id="12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686925"/>
            <a:ext cx="100013" cy="100013"/>
          </a:xfrm>
          <a:prstGeom prst="rect">
            <a:avLst/>
          </a:prstGeom>
        </p:spPr>
      </p:pic>
      <p:sp>
        <p:nvSpPr>
          <p:cNvPr id="121" name="Text 110"/>
          <p:cNvSpPr/>
          <p:nvPr/>
        </p:nvSpPr>
        <p:spPr>
          <a:xfrm>
            <a:off x="900113" y="9672638"/>
            <a:ext cx="98304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 complexity is</a:t>
            </a:r>
            <a:endParaRPr lang="en-US" sz="788" dirty="0"/>
          </a:p>
        </p:txBody>
      </p:sp>
      <p:sp>
        <p:nvSpPr>
          <p:cNvPr id="122" name="Text 111"/>
          <p:cNvSpPr/>
          <p:nvPr/>
        </p:nvSpPr>
        <p:spPr>
          <a:xfrm>
            <a:off x="1811722" y="9672638"/>
            <a:ext cx="27693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O(n)</a:t>
            </a:r>
            <a:endParaRPr lang="en-US" sz="788" dirty="0"/>
          </a:p>
        </p:txBody>
      </p:sp>
      <p:sp>
        <p:nvSpPr>
          <p:cNvPr id="123" name="Text 112"/>
          <p:cNvSpPr/>
          <p:nvPr/>
        </p:nvSpPr>
        <p:spPr>
          <a:xfrm>
            <a:off x="2017216" y="9672638"/>
            <a:ext cx="1555607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due to maximum call stack depth</a:t>
            </a:r>
            <a:endParaRPr lang="en-US" sz="788" dirty="0"/>
          </a:p>
        </p:txBody>
      </p:sp>
      <p:sp>
        <p:nvSpPr>
          <p:cNvPr id="124" name="Shape 113"/>
          <p:cNvSpPr/>
          <p:nvPr/>
        </p:nvSpPr>
        <p:spPr>
          <a:xfrm>
            <a:off x="4686300" y="8886825"/>
            <a:ext cx="3829050" cy="137160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5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9029700"/>
            <a:ext cx="107156" cy="142875"/>
          </a:xfrm>
          <a:prstGeom prst="rect">
            <a:avLst/>
          </a:prstGeom>
        </p:spPr>
      </p:pic>
      <p:sp>
        <p:nvSpPr>
          <p:cNvPr id="126" name="Text 114"/>
          <p:cNvSpPr/>
          <p:nvPr/>
        </p:nvSpPr>
        <p:spPr>
          <a:xfrm>
            <a:off x="4964906" y="9001125"/>
            <a:ext cx="17287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Opportunities</a:t>
            </a:r>
            <a:endParaRPr lang="en-US" sz="1013" dirty="0"/>
          </a:p>
        </p:txBody>
      </p:sp>
      <p:sp>
        <p:nvSpPr>
          <p:cNvPr id="127" name="Text 115"/>
          <p:cNvSpPr/>
          <p:nvPr/>
        </p:nvSpPr>
        <p:spPr>
          <a:xfrm>
            <a:off x="4800600" y="9258300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naive recursive implementation is inefficient due to redundant calculations.</a:t>
            </a:r>
            <a:endParaRPr lang="en-US" sz="788" dirty="0"/>
          </a:p>
        </p:txBody>
      </p:sp>
      <p:sp>
        <p:nvSpPr>
          <p:cNvPr id="128" name="Text 116"/>
          <p:cNvSpPr/>
          <p:nvPr/>
        </p:nvSpPr>
        <p:spPr>
          <a:xfrm>
            <a:off x="4800600" y="9458325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approaches include:</a:t>
            </a:r>
            <a:endParaRPr lang="en-US" sz="788" dirty="0"/>
          </a:p>
        </p:txBody>
      </p:sp>
      <p:sp>
        <p:nvSpPr>
          <p:cNvPr id="129" name="Text 117"/>
          <p:cNvSpPr/>
          <p:nvPr/>
        </p:nvSpPr>
        <p:spPr>
          <a:xfrm>
            <a:off x="4800600" y="9658350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Iterative solution</a:t>
            </a:r>
            <a:endParaRPr lang="en-US" sz="788" dirty="0"/>
          </a:p>
        </p:txBody>
      </p:sp>
      <p:sp>
        <p:nvSpPr>
          <p:cNvPr id="130" name="Text 118"/>
          <p:cNvSpPr/>
          <p:nvPr/>
        </p:nvSpPr>
        <p:spPr>
          <a:xfrm>
            <a:off x="4800600" y="9829800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Memoization (caching results)</a:t>
            </a:r>
            <a:endParaRPr lang="en-US" sz="788" dirty="0"/>
          </a:p>
        </p:txBody>
      </p:sp>
      <p:sp>
        <p:nvSpPr>
          <p:cNvPr id="131" name="Text 119"/>
          <p:cNvSpPr/>
          <p:nvPr/>
        </p:nvSpPr>
        <p:spPr>
          <a:xfrm>
            <a:off x="4800600" y="10001250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Dynamic programming</a:t>
            </a:r>
            <a:endParaRPr lang="en-US" sz="7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315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241464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00406" y="455414"/>
            <a:ext cx="1300804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Stack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63293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Call Stack?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5144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call stack is a data structure that stores information about active function calls in a program.</a:t>
            </a:r>
            <a:endParaRPr lang="en-US" sz="101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14550"/>
            <a:ext cx="114300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107406"/>
            <a:ext cx="195203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time a function is called, a new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94992" y="2107406"/>
            <a:ext cx="70684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frame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" y="2107406"/>
            <a:ext cx="310848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pushed onto the stack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514600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486025"/>
            <a:ext cx="31252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function completes, its frame is popped off the stack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743200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736056"/>
            <a:ext cx="129128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stack operates in a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2134251" y="2736056"/>
            <a:ext cx="134771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In, First Out (LIFO)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410527" y="2736056"/>
            <a:ext cx="4907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manner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28650" y="317182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Stack Frame Contains:</a:t>
            </a:r>
            <a:endParaRPr lang="en-US" sz="1125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486150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0100" y="3457575"/>
            <a:ext cx="28033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address (where to go after function completes)</a:t>
            </a:r>
            <a:endParaRPr lang="en-US" sz="9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743325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0100" y="3714750"/>
            <a:ext cx="11196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parameters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000500"/>
            <a:ext cx="114300" cy="1143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00100" y="3971925"/>
            <a:ext cx="8338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variables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257675"/>
            <a:ext cx="114300" cy="1143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00100" y="4229100"/>
            <a:ext cx="16344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bookkeeping information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628650" y="4572000"/>
            <a:ext cx="3657600" cy="77152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714875"/>
            <a:ext cx="107156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07256" y="4686300"/>
            <a:ext cx="7644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013" dirty="0"/>
          </a:p>
        </p:txBody>
      </p:sp>
      <p:sp>
        <p:nvSpPr>
          <p:cNvPr id="31" name="Text 20"/>
          <p:cNvSpPr/>
          <p:nvPr/>
        </p:nvSpPr>
        <p:spPr>
          <a:xfrm>
            <a:off x="742950" y="4943475"/>
            <a:ext cx="3500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recursion, each recursive call creates a new stack frame, allowing the function to maintain separate states for each call.</a:t>
            </a:r>
            <a:endParaRPr lang="en-US" sz="788" dirty="0"/>
          </a:p>
        </p:txBody>
      </p:sp>
      <p:sp>
        <p:nvSpPr>
          <p:cNvPr id="32" name="Shape 21"/>
          <p:cNvSpPr/>
          <p:nvPr/>
        </p:nvSpPr>
        <p:spPr>
          <a:xfrm>
            <a:off x="4686300" y="971550"/>
            <a:ext cx="4000500" cy="63293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Stack Visualization</a:t>
            </a:r>
            <a:endParaRPr lang="en-US" sz="1350" dirty="0"/>
          </a:p>
        </p:txBody>
      </p:sp>
      <p:sp>
        <p:nvSpPr>
          <p:cNvPr id="34" name="Shape 23"/>
          <p:cNvSpPr/>
          <p:nvPr/>
        </p:nvSpPr>
        <p:spPr>
          <a:xfrm>
            <a:off x="4857750" y="1485900"/>
            <a:ext cx="3657600" cy="14287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4972050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6" name="Text 25"/>
          <p:cNvSpPr/>
          <p:nvPr/>
        </p:nvSpPr>
        <p:spPr>
          <a:xfrm>
            <a:off x="5203524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1013" dirty="0"/>
          </a:p>
        </p:txBody>
      </p:sp>
      <p:sp>
        <p:nvSpPr>
          <p:cNvPr id="37" name="Text 26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8" name="Text 27"/>
          <p:cNvSpPr/>
          <p:nvPr/>
        </p:nvSpPr>
        <p:spPr>
          <a:xfrm>
            <a:off x="6283682" y="16127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1013" dirty="0"/>
          </a:p>
        </p:txBody>
      </p:sp>
      <p:sp>
        <p:nvSpPr>
          <p:cNvPr id="39" name="Text 28"/>
          <p:cNvSpPr/>
          <p:nvPr/>
        </p:nvSpPr>
        <p:spPr>
          <a:xfrm>
            <a:off x="5126366" y="1812727"/>
            <a:ext cx="2257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13" dirty="0"/>
          </a:p>
        </p:txBody>
      </p:sp>
      <p:sp>
        <p:nvSpPr>
          <p:cNvPr id="40" name="Text 29"/>
          <p:cNvSpPr/>
          <p:nvPr/>
        </p:nvSpPr>
        <p:spPr>
          <a:xfrm>
            <a:off x="5280682" y="1812727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1013" dirty="0"/>
          </a:p>
        </p:txBody>
      </p:sp>
      <p:sp>
        <p:nvSpPr>
          <p:cNvPr id="41" name="Text 30"/>
          <p:cNvSpPr/>
          <p:nvPr/>
        </p:nvSpPr>
        <p:spPr>
          <a:xfrm>
            <a:off x="5280682" y="20127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2" name="Text 31"/>
          <p:cNvSpPr/>
          <p:nvPr/>
        </p:nvSpPr>
        <p:spPr>
          <a:xfrm>
            <a:off x="5743603" y="201275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1013" dirty="0"/>
          </a:p>
        </p:txBody>
      </p:sp>
      <p:sp>
        <p:nvSpPr>
          <p:cNvPr id="43" name="Text 32"/>
          <p:cNvSpPr/>
          <p:nvPr/>
        </p:nvSpPr>
        <p:spPr>
          <a:xfrm>
            <a:off x="4972050" y="2212777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4" name="Text 33"/>
          <p:cNvSpPr/>
          <p:nvPr/>
        </p:nvSpPr>
        <p:spPr>
          <a:xfrm>
            <a:off x="5126366" y="24128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5" name="Text 34"/>
          <p:cNvSpPr/>
          <p:nvPr/>
        </p:nvSpPr>
        <p:spPr>
          <a:xfrm>
            <a:off x="5589287" y="2412802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1013" dirty="0"/>
          </a:p>
        </p:txBody>
      </p:sp>
      <p:sp>
        <p:nvSpPr>
          <p:cNvPr id="46" name="Text 35"/>
          <p:cNvSpPr/>
          <p:nvPr/>
        </p:nvSpPr>
        <p:spPr>
          <a:xfrm>
            <a:off x="4972050" y="261282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7" name="Shape 36"/>
          <p:cNvSpPr/>
          <p:nvPr/>
        </p:nvSpPr>
        <p:spPr>
          <a:xfrm>
            <a:off x="4857750" y="3086100"/>
            <a:ext cx="3657600" cy="40290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37"/>
          <p:cNvSpPr/>
          <p:nvPr/>
        </p:nvSpPr>
        <p:spPr>
          <a:xfrm>
            <a:off x="4972050" y="3200400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Stack for factorial(3)</a:t>
            </a:r>
            <a:endParaRPr lang="en-US" sz="1013" dirty="0"/>
          </a:p>
        </p:txBody>
      </p:sp>
      <p:sp>
        <p:nvSpPr>
          <p:cNvPr id="49" name="Shape 38"/>
          <p:cNvSpPr/>
          <p:nvPr/>
        </p:nvSpPr>
        <p:spPr>
          <a:xfrm>
            <a:off x="5772150" y="3486150"/>
            <a:ext cx="1828800" cy="514350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39"/>
          <p:cNvSpPr/>
          <p:nvPr/>
        </p:nvSpPr>
        <p:spPr>
          <a:xfrm>
            <a:off x="5857875" y="3571875"/>
            <a:ext cx="1728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main()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5857875" y="3743325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Waiting for factorial(3) to return</a:t>
            </a:r>
            <a:endParaRPr lang="en-US" sz="788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4057650"/>
            <a:ext cx="171450" cy="171450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5772150" y="4314825"/>
            <a:ext cx="1828800" cy="657225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2"/>
          <p:cNvSpPr/>
          <p:nvPr/>
        </p:nvSpPr>
        <p:spPr>
          <a:xfrm>
            <a:off x="5857875" y="4400550"/>
            <a:ext cx="1728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5857875" y="4572000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3</a:t>
            </a:r>
            <a:endParaRPr lang="en-US" sz="788" dirty="0"/>
          </a:p>
        </p:txBody>
      </p:sp>
      <p:sp>
        <p:nvSpPr>
          <p:cNvPr id="56" name="Text 44"/>
          <p:cNvSpPr/>
          <p:nvPr/>
        </p:nvSpPr>
        <p:spPr>
          <a:xfrm>
            <a:off x="5857875" y="4714875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3 * factorial(2)</a:t>
            </a:r>
            <a:endParaRPr lang="en-US" sz="788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5029200"/>
            <a:ext cx="171450" cy="171450"/>
          </a:xfrm>
          <a:prstGeom prst="rect">
            <a:avLst/>
          </a:prstGeom>
        </p:spPr>
      </p:pic>
      <p:sp>
        <p:nvSpPr>
          <p:cNvPr id="58" name="Shape 45"/>
          <p:cNvSpPr/>
          <p:nvPr/>
        </p:nvSpPr>
        <p:spPr>
          <a:xfrm>
            <a:off x="5772150" y="5286375"/>
            <a:ext cx="1828800" cy="657225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6"/>
          <p:cNvSpPr/>
          <p:nvPr/>
        </p:nvSpPr>
        <p:spPr>
          <a:xfrm>
            <a:off x="5857875" y="5372100"/>
            <a:ext cx="1728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factorial(2)</a:t>
            </a:r>
            <a:endParaRPr lang="en-US" sz="900" dirty="0"/>
          </a:p>
        </p:txBody>
      </p:sp>
      <p:sp>
        <p:nvSpPr>
          <p:cNvPr id="60" name="Text 47"/>
          <p:cNvSpPr/>
          <p:nvPr/>
        </p:nvSpPr>
        <p:spPr>
          <a:xfrm>
            <a:off x="5857875" y="5543550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2</a:t>
            </a:r>
            <a:endParaRPr lang="en-US" sz="788" dirty="0"/>
          </a:p>
        </p:txBody>
      </p:sp>
      <p:sp>
        <p:nvSpPr>
          <p:cNvPr id="61" name="Text 48"/>
          <p:cNvSpPr/>
          <p:nvPr/>
        </p:nvSpPr>
        <p:spPr>
          <a:xfrm>
            <a:off x="5857875" y="5686425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2 * factorial(1)</a:t>
            </a:r>
            <a:endParaRPr lang="en-US" sz="788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6000750"/>
            <a:ext cx="171450" cy="171450"/>
          </a:xfrm>
          <a:prstGeom prst="rect">
            <a:avLst/>
          </a:prstGeom>
        </p:spPr>
      </p:pic>
      <p:sp>
        <p:nvSpPr>
          <p:cNvPr id="63" name="Shape 49"/>
          <p:cNvSpPr/>
          <p:nvPr/>
        </p:nvSpPr>
        <p:spPr>
          <a:xfrm>
            <a:off x="5772150" y="6257925"/>
            <a:ext cx="1828800" cy="657225"/>
          </a:xfrm>
          <a:prstGeom prst="rect">
            <a:avLst/>
          </a:prstGeom>
          <a:solidFill>
            <a:srgbClr val="064E3B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0"/>
          <p:cNvSpPr/>
          <p:nvPr/>
        </p:nvSpPr>
        <p:spPr>
          <a:xfrm>
            <a:off x="5857875" y="6343650"/>
            <a:ext cx="1728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factorial(1)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5857875" y="6515100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1</a:t>
            </a:r>
            <a:endParaRPr lang="en-US" sz="788" dirty="0"/>
          </a:p>
        </p:txBody>
      </p:sp>
      <p:sp>
        <p:nvSpPr>
          <p:cNvPr id="66" name="Text 52"/>
          <p:cNvSpPr/>
          <p:nvPr/>
        </p:nvSpPr>
        <p:spPr>
          <a:xfrm>
            <a:off x="5857875" y="6657975"/>
            <a:ext cx="1728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1 (base case)</a:t>
            </a:r>
            <a:endParaRPr lang="en-US" sz="788" dirty="0"/>
          </a:p>
        </p:txBody>
      </p:sp>
      <p:sp>
        <p:nvSpPr>
          <p:cNvPr id="67" name="Shape 53"/>
          <p:cNvSpPr/>
          <p:nvPr/>
        </p:nvSpPr>
        <p:spPr>
          <a:xfrm>
            <a:off x="457200" y="7400925"/>
            <a:ext cx="8229600" cy="33289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4"/>
          <p:cNvSpPr/>
          <p:nvPr/>
        </p:nvSpPr>
        <p:spPr>
          <a:xfrm>
            <a:off x="628650" y="75723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Stack Unwinding</a:t>
            </a:r>
            <a:endParaRPr lang="en-US" sz="1350" dirty="0"/>
          </a:p>
        </p:txBody>
      </p:sp>
      <p:sp>
        <p:nvSpPr>
          <p:cNvPr id="69" name="Shape 55"/>
          <p:cNvSpPr/>
          <p:nvPr/>
        </p:nvSpPr>
        <p:spPr>
          <a:xfrm>
            <a:off x="628650" y="7915275"/>
            <a:ext cx="1485900" cy="914400"/>
          </a:xfrm>
          <a:prstGeom prst="rect">
            <a:avLst/>
          </a:prstGeom>
          <a:solidFill>
            <a:srgbClr val="064E3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56"/>
          <p:cNvSpPr/>
          <p:nvPr/>
        </p:nvSpPr>
        <p:spPr>
          <a:xfrm>
            <a:off x="714375" y="8001000"/>
            <a:ext cx="1385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</a:t>
            </a:r>
            <a:endParaRPr lang="en-US" sz="900" dirty="0"/>
          </a:p>
        </p:txBody>
      </p:sp>
      <p:sp>
        <p:nvSpPr>
          <p:cNvPr id="71" name="Text 57"/>
          <p:cNvSpPr/>
          <p:nvPr/>
        </p:nvSpPr>
        <p:spPr>
          <a:xfrm>
            <a:off x="714375" y="8172450"/>
            <a:ext cx="1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factorial(1) returns 1</a:t>
            </a:r>
            <a:endParaRPr lang="en-US" sz="788" dirty="0"/>
          </a:p>
        </p:txBody>
      </p:sp>
      <p:sp>
        <p:nvSpPr>
          <p:cNvPr id="72" name="Shape 58"/>
          <p:cNvSpPr/>
          <p:nvPr/>
        </p:nvSpPr>
        <p:spPr>
          <a:xfrm>
            <a:off x="914400" y="8372475"/>
            <a:ext cx="914400" cy="257175"/>
          </a:xfrm>
          <a:prstGeom prst="rect">
            <a:avLst/>
          </a:prstGeom>
          <a:solidFill>
            <a:srgbClr val="064E3B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59"/>
          <p:cNvSpPr/>
          <p:nvPr/>
        </p:nvSpPr>
        <p:spPr>
          <a:xfrm>
            <a:off x="971550" y="8429625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factorial(1) = 1</a:t>
            </a:r>
            <a:endParaRPr lang="en-US" sz="675" dirty="0"/>
          </a:p>
        </p:txBody>
      </p:sp>
      <p:sp>
        <p:nvSpPr>
          <p:cNvPr id="74" name="Shape 60"/>
          <p:cNvSpPr/>
          <p:nvPr/>
        </p:nvSpPr>
        <p:spPr>
          <a:xfrm>
            <a:off x="2228850" y="7915275"/>
            <a:ext cx="14859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1"/>
          <p:cNvSpPr/>
          <p:nvPr/>
        </p:nvSpPr>
        <p:spPr>
          <a:xfrm>
            <a:off x="2314575" y="8001000"/>
            <a:ext cx="1385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</a:t>
            </a:r>
            <a:endParaRPr lang="en-US" sz="900" dirty="0"/>
          </a:p>
        </p:txBody>
      </p:sp>
      <p:sp>
        <p:nvSpPr>
          <p:cNvPr id="76" name="Text 62"/>
          <p:cNvSpPr/>
          <p:nvPr/>
        </p:nvSpPr>
        <p:spPr>
          <a:xfrm>
            <a:off x="2314575" y="8172450"/>
            <a:ext cx="1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factorial(2) calculates</a:t>
            </a:r>
            <a:endParaRPr lang="en-US" sz="788" dirty="0"/>
          </a:p>
        </p:txBody>
      </p:sp>
      <p:sp>
        <p:nvSpPr>
          <p:cNvPr id="77" name="Shape 63"/>
          <p:cNvSpPr/>
          <p:nvPr/>
        </p:nvSpPr>
        <p:spPr>
          <a:xfrm>
            <a:off x="2514600" y="8372475"/>
            <a:ext cx="914400" cy="371475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64"/>
          <p:cNvSpPr/>
          <p:nvPr/>
        </p:nvSpPr>
        <p:spPr>
          <a:xfrm>
            <a:off x="2571750" y="8429625"/>
            <a:ext cx="8715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factorial(2) = 2 * 1 = 2</a:t>
            </a:r>
            <a:endParaRPr lang="en-US" sz="675" dirty="0"/>
          </a:p>
        </p:txBody>
      </p:sp>
      <p:sp>
        <p:nvSpPr>
          <p:cNvPr id="79" name="Shape 65"/>
          <p:cNvSpPr/>
          <p:nvPr/>
        </p:nvSpPr>
        <p:spPr>
          <a:xfrm>
            <a:off x="3829050" y="7915275"/>
            <a:ext cx="14859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66"/>
          <p:cNvSpPr/>
          <p:nvPr/>
        </p:nvSpPr>
        <p:spPr>
          <a:xfrm>
            <a:off x="3914775" y="8001000"/>
            <a:ext cx="1385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</a:t>
            </a:r>
            <a:endParaRPr lang="en-US" sz="900" dirty="0"/>
          </a:p>
        </p:txBody>
      </p:sp>
      <p:sp>
        <p:nvSpPr>
          <p:cNvPr id="81" name="Text 67"/>
          <p:cNvSpPr/>
          <p:nvPr/>
        </p:nvSpPr>
        <p:spPr>
          <a:xfrm>
            <a:off x="3914775" y="8172450"/>
            <a:ext cx="1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 calculates</a:t>
            </a:r>
            <a:endParaRPr lang="en-US" sz="788" dirty="0"/>
          </a:p>
        </p:txBody>
      </p:sp>
      <p:sp>
        <p:nvSpPr>
          <p:cNvPr id="82" name="Shape 68"/>
          <p:cNvSpPr/>
          <p:nvPr/>
        </p:nvSpPr>
        <p:spPr>
          <a:xfrm>
            <a:off x="4114800" y="8372475"/>
            <a:ext cx="914400" cy="371475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69"/>
          <p:cNvSpPr/>
          <p:nvPr/>
        </p:nvSpPr>
        <p:spPr>
          <a:xfrm>
            <a:off x="4171950" y="8429625"/>
            <a:ext cx="8715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 = 3 * 2 = 6</a:t>
            </a:r>
            <a:endParaRPr lang="en-US" sz="675" dirty="0"/>
          </a:p>
        </p:txBody>
      </p:sp>
      <p:sp>
        <p:nvSpPr>
          <p:cNvPr id="84" name="Shape 70"/>
          <p:cNvSpPr/>
          <p:nvPr/>
        </p:nvSpPr>
        <p:spPr>
          <a:xfrm>
            <a:off x="5429250" y="7915275"/>
            <a:ext cx="1485900" cy="8858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1"/>
          <p:cNvSpPr/>
          <p:nvPr/>
        </p:nvSpPr>
        <p:spPr>
          <a:xfrm>
            <a:off x="5514975" y="8001000"/>
            <a:ext cx="1385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</a:t>
            </a:r>
            <a:endParaRPr lang="en-US" sz="900" dirty="0"/>
          </a:p>
        </p:txBody>
      </p:sp>
      <p:sp>
        <p:nvSpPr>
          <p:cNvPr id="86" name="Text 72"/>
          <p:cNvSpPr/>
          <p:nvPr/>
        </p:nvSpPr>
        <p:spPr>
          <a:xfrm>
            <a:off x="5514975" y="8172450"/>
            <a:ext cx="1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to main</a:t>
            </a:r>
            <a:endParaRPr lang="en-US" sz="788" dirty="0"/>
          </a:p>
        </p:txBody>
      </p:sp>
      <p:sp>
        <p:nvSpPr>
          <p:cNvPr id="87" name="Shape 73"/>
          <p:cNvSpPr/>
          <p:nvPr/>
        </p:nvSpPr>
        <p:spPr>
          <a:xfrm>
            <a:off x="5715000" y="8372475"/>
            <a:ext cx="914400" cy="257175"/>
          </a:xfrm>
          <a:prstGeom prst="rect">
            <a:avLst/>
          </a:prstGeom>
          <a:solidFill>
            <a:srgbClr val="1E3A8A">
              <a:alpha val="50000"/>
            </a:srgbClr>
          </a:solidFill>
          <a:ln w="198">
            <a:solidFill>
              <a:srgbClr val="63B3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4"/>
          <p:cNvSpPr/>
          <p:nvPr/>
        </p:nvSpPr>
        <p:spPr>
          <a:xfrm>
            <a:off x="5772150" y="8429625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main() receives 6</a:t>
            </a:r>
            <a:endParaRPr lang="en-US" sz="675" dirty="0"/>
          </a:p>
        </p:txBody>
      </p:sp>
      <p:sp>
        <p:nvSpPr>
          <p:cNvPr id="89" name="Shape 75"/>
          <p:cNvSpPr/>
          <p:nvPr/>
        </p:nvSpPr>
        <p:spPr>
          <a:xfrm>
            <a:off x="7029450" y="7915275"/>
            <a:ext cx="1485900" cy="885825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76"/>
          <p:cNvSpPr/>
          <p:nvPr/>
        </p:nvSpPr>
        <p:spPr>
          <a:xfrm>
            <a:off x="7115175" y="8001000"/>
            <a:ext cx="13858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Result</a:t>
            </a:r>
            <a:endParaRPr lang="en-US" sz="900" dirty="0"/>
          </a:p>
        </p:txBody>
      </p:sp>
      <p:sp>
        <p:nvSpPr>
          <p:cNvPr id="91" name="Text 77"/>
          <p:cNvSpPr/>
          <p:nvPr/>
        </p:nvSpPr>
        <p:spPr>
          <a:xfrm>
            <a:off x="7115175" y="8172450"/>
            <a:ext cx="1385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factorial(3) = 6</a:t>
            </a:r>
            <a:endParaRPr lang="en-US" sz="788" dirty="0"/>
          </a:p>
        </p:txBody>
      </p:sp>
      <p:sp>
        <p:nvSpPr>
          <p:cNvPr id="92" name="Shape 78"/>
          <p:cNvSpPr/>
          <p:nvPr/>
        </p:nvSpPr>
        <p:spPr>
          <a:xfrm>
            <a:off x="7315200" y="8372475"/>
            <a:ext cx="914400" cy="242888"/>
          </a:xfrm>
          <a:prstGeom prst="rect">
            <a:avLst/>
          </a:prstGeom>
          <a:solidFill>
            <a:srgbClr val="4C1D95">
              <a:alpha val="50000"/>
            </a:srgbClr>
          </a:solidFill>
          <a:ln w="99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79"/>
          <p:cNvSpPr/>
          <p:nvPr/>
        </p:nvSpPr>
        <p:spPr>
          <a:xfrm>
            <a:off x="7372350" y="8429625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is empty</a:t>
            </a:r>
            <a:endParaRPr lang="en-US" sz="675" dirty="0"/>
          </a:p>
        </p:txBody>
      </p:sp>
      <p:pic>
        <p:nvPicPr>
          <p:cNvPr id="9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9401175"/>
            <a:ext cx="171450" cy="171450"/>
          </a:xfrm>
          <a:prstGeom prst="rect">
            <a:avLst/>
          </a:prstGeom>
        </p:spPr>
      </p:pic>
      <p:sp>
        <p:nvSpPr>
          <p:cNvPr id="95" name="Text 80"/>
          <p:cNvSpPr/>
          <p:nvPr/>
        </p:nvSpPr>
        <p:spPr>
          <a:xfrm>
            <a:off x="914400" y="8972550"/>
            <a:ext cx="30413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call stack unwinds in reverse order (LIFO):</a:t>
            </a:r>
            <a:endParaRPr lang="en-US" sz="1013" dirty="0"/>
          </a:p>
        </p:txBody>
      </p:sp>
      <p:sp>
        <p:nvSpPr>
          <p:cNvPr id="96" name="Text 81"/>
          <p:cNvSpPr/>
          <p:nvPr/>
        </p:nvSpPr>
        <p:spPr>
          <a:xfrm>
            <a:off x="1085850" y="9229725"/>
            <a:ext cx="2869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 is reached (factorial(1) returns 1)</a:t>
            </a:r>
            <a:endParaRPr lang="en-US" sz="900" dirty="0"/>
          </a:p>
        </p:txBody>
      </p:sp>
      <p:sp>
        <p:nvSpPr>
          <p:cNvPr id="97" name="Text 82"/>
          <p:cNvSpPr/>
          <p:nvPr/>
        </p:nvSpPr>
        <p:spPr>
          <a:xfrm>
            <a:off x="1085850" y="9429750"/>
            <a:ext cx="2869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returns to factorial(2), which computes 2 * 1 = 2</a:t>
            </a:r>
            <a:endParaRPr lang="en-US" sz="900" dirty="0"/>
          </a:p>
        </p:txBody>
      </p:sp>
      <p:sp>
        <p:nvSpPr>
          <p:cNvPr id="98" name="Text 83"/>
          <p:cNvSpPr/>
          <p:nvPr/>
        </p:nvSpPr>
        <p:spPr>
          <a:xfrm>
            <a:off x="1085850" y="9629775"/>
            <a:ext cx="2869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returns to factorial(3), which computes 3 * 2 = 6</a:t>
            </a:r>
            <a:endParaRPr lang="en-US" sz="900" dirty="0"/>
          </a:p>
        </p:txBody>
      </p:sp>
      <p:sp>
        <p:nvSpPr>
          <p:cNvPr id="99" name="Text 84"/>
          <p:cNvSpPr/>
          <p:nvPr/>
        </p:nvSpPr>
        <p:spPr>
          <a:xfrm>
            <a:off x="1085850" y="9829800"/>
            <a:ext cx="28698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returns to main with the final result of 6</a:t>
            </a:r>
            <a:endParaRPr lang="en-US" sz="900" dirty="0"/>
          </a:p>
        </p:txBody>
      </p:sp>
      <p:sp>
        <p:nvSpPr>
          <p:cNvPr id="100" name="Shape 85"/>
          <p:cNvSpPr/>
          <p:nvPr/>
        </p:nvSpPr>
        <p:spPr>
          <a:xfrm>
            <a:off x="628650" y="10115550"/>
            <a:ext cx="7886700" cy="40005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1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10244138"/>
            <a:ext cx="142875" cy="142875"/>
          </a:xfrm>
          <a:prstGeom prst="rect">
            <a:avLst/>
          </a:prstGeom>
        </p:spPr>
      </p:pic>
      <p:sp>
        <p:nvSpPr>
          <p:cNvPr id="102" name="Text 86"/>
          <p:cNvSpPr/>
          <p:nvPr/>
        </p:nvSpPr>
        <p:spPr>
          <a:xfrm>
            <a:off x="942975" y="10229850"/>
            <a:ext cx="52234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recursive call consumes memory on the stack. Deep recursion can lead to stack overflow errors.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030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929566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315328" y="455414"/>
            <a:ext cx="914791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55864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Stack Overflow?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925116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stack overflow occurs when a program attempts to use more memory for the call stack than has been allocated.</a:t>
            </a:r>
            <a:endParaRPr lang="en-US" sz="101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19908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0125" y="2135981"/>
            <a:ext cx="129753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Java, this results in 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226227" y="2146697"/>
            <a:ext cx="199199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FCA5A5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java.lang.StackOverflowError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8650" y="2582466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Causes in Recursion:</a:t>
            </a:r>
            <a:endParaRPr lang="en-US" sz="1125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896791"/>
            <a:ext cx="114300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0100" y="2868216"/>
            <a:ext cx="16151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or incorrect base case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153966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0100" y="3125391"/>
            <a:ext cx="1367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 never reached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411141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0100" y="3382566"/>
            <a:ext cx="2435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calls not approaching the base case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668316"/>
            <a:ext cx="114300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0100" y="3639741"/>
            <a:ext cx="2892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Extremely deep recursion (even with correct base case)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628650" y="3982641"/>
            <a:ext cx="3657600" cy="1378744"/>
          </a:xfrm>
          <a:prstGeom prst="rect">
            <a:avLst/>
          </a:prstGeom>
          <a:solidFill>
            <a:srgbClr val="7F1D1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125516"/>
            <a:ext cx="142875" cy="142875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42975" y="4096941"/>
            <a:ext cx="11219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Size Limits</a:t>
            </a:r>
            <a:endParaRPr lang="en-US" sz="1013" dirty="0"/>
          </a:p>
        </p:txBody>
      </p:sp>
      <p:sp>
        <p:nvSpPr>
          <p:cNvPr id="24" name="Text 15"/>
          <p:cNvSpPr/>
          <p:nvPr/>
        </p:nvSpPr>
        <p:spPr>
          <a:xfrm>
            <a:off x="742950" y="4368403"/>
            <a:ext cx="332301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JVM has a default maximum stack size (typically 1MB), which can be adjusted using the</a:t>
            </a:r>
            <a:endParaRPr lang="en-US" sz="788" dirty="0"/>
          </a:p>
        </p:txBody>
      </p:sp>
      <p:sp>
        <p:nvSpPr>
          <p:cNvPr id="25" name="Text 16"/>
          <p:cNvSpPr/>
          <p:nvPr/>
        </p:nvSpPr>
        <p:spPr>
          <a:xfrm>
            <a:off x="1582564" y="4518422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-Xss</a:t>
            </a:r>
            <a:endParaRPr lang="en-US" sz="788" dirty="0"/>
          </a:p>
        </p:txBody>
      </p:sp>
      <p:sp>
        <p:nvSpPr>
          <p:cNvPr id="26" name="Text 17"/>
          <p:cNvSpPr/>
          <p:nvPr/>
        </p:nvSpPr>
        <p:spPr>
          <a:xfrm>
            <a:off x="1822633" y="4511278"/>
            <a:ext cx="28826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flag:</a:t>
            </a:r>
            <a:endParaRPr lang="en-US" sz="788" dirty="0"/>
          </a:p>
        </p:txBody>
      </p:sp>
      <p:sp>
        <p:nvSpPr>
          <p:cNvPr id="27" name="Shape 18"/>
          <p:cNvSpPr/>
          <p:nvPr/>
        </p:nvSpPr>
        <p:spPr>
          <a:xfrm>
            <a:off x="742950" y="4704159"/>
            <a:ext cx="3429000" cy="257175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742950" y="4704159"/>
            <a:ext cx="3500438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java -Xss2m MyRecursiveProgram</a:t>
            </a:r>
            <a:endParaRPr lang="en-US" sz="788" dirty="0"/>
          </a:p>
        </p:txBody>
      </p:sp>
      <p:sp>
        <p:nvSpPr>
          <p:cNvPr id="29" name="Text 20"/>
          <p:cNvSpPr/>
          <p:nvPr/>
        </p:nvSpPr>
        <p:spPr>
          <a:xfrm>
            <a:off x="742950" y="5018484"/>
            <a:ext cx="35004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i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sets the stack size to 2MB, but increasing stack size is often a band-aid solution rather than fixing the underlying issue.</a:t>
            </a:r>
            <a:endParaRPr lang="en-US" sz="675" dirty="0"/>
          </a:p>
        </p:txBody>
      </p:sp>
      <p:sp>
        <p:nvSpPr>
          <p:cNvPr id="30" name="Shape 21"/>
          <p:cNvSpPr/>
          <p:nvPr/>
        </p:nvSpPr>
        <p:spPr>
          <a:xfrm>
            <a:off x="4686300" y="971550"/>
            <a:ext cx="4000500" cy="55864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of Infinite Recursion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4857750" y="1485900"/>
            <a:ext cx="3657600" cy="10287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4972050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1013" dirty="0"/>
          </a:p>
        </p:txBody>
      </p:sp>
      <p:sp>
        <p:nvSpPr>
          <p:cNvPr id="34" name="Text 25"/>
          <p:cNvSpPr/>
          <p:nvPr/>
        </p:nvSpPr>
        <p:spPr>
          <a:xfrm>
            <a:off x="5512129" y="161270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endParaRPr lang="en-US" sz="1013" dirty="0"/>
          </a:p>
        </p:txBody>
      </p:sp>
      <p:sp>
        <p:nvSpPr>
          <p:cNvPr id="35" name="Text 26"/>
          <p:cNvSpPr/>
          <p:nvPr/>
        </p:nvSpPr>
        <p:spPr>
          <a:xfrm>
            <a:off x="6052207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6" name="Text 27"/>
          <p:cNvSpPr/>
          <p:nvPr/>
        </p:nvSpPr>
        <p:spPr>
          <a:xfrm>
            <a:off x="6283682" y="1612702"/>
            <a:ext cx="92012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1013" dirty="0"/>
          </a:p>
        </p:txBody>
      </p:sp>
      <p:sp>
        <p:nvSpPr>
          <p:cNvPr id="37" name="Text 28"/>
          <p:cNvSpPr/>
          <p:nvPr/>
        </p:nvSpPr>
        <p:spPr>
          <a:xfrm>
            <a:off x="7132365" y="1612702"/>
            <a:ext cx="3029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13" dirty="0"/>
          </a:p>
        </p:txBody>
      </p:sp>
      <p:sp>
        <p:nvSpPr>
          <p:cNvPr id="38" name="Text 29"/>
          <p:cNvSpPr/>
          <p:nvPr/>
        </p:nvSpPr>
        <p:spPr>
          <a:xfrm>
            <a:off x="7363839" y="1612702"/>
            <a:ext cx="4572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1013" dirty="0"/>
          </a:p>
        </p:txBody>
      </p:sp>
      <p:sp>
        <p:nvSpPr>
          <p:cNvPr id="39" name="Text 30"/>
          <p:cNvSpPr/>
          <p:nvPr/>
        </p:nvSpPr>
        <p:spPr>
          <a:xfrm>
            <a:off x="5126366" y="1812727"/>
            <a:ext cx="169164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Missing base case!</a:t>
            </a:r>
            <a:endParaRPr lang="en-US" sz="1013" dirty="0"/>
          </a:p>
        </p:txBody>
      </p:sp>
      <p:sp>
        <p:nvSpPr>
          <p:cNvPr id="40" name="Text 31"/>
          <p:cNvSpPr/>
          <p:nvPr/>
        </p:nvSpPr>
        <p:spPr>
          <a:xfrm>
            <a:off x="5126366" y="2012752"/>
            <a:ext cx="5343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013" dirty="0"/>
          </a:p>
        </p:txBody>
      </p:sp>
      <p:sp>
        <p:nvSpPr>
          <p:cNvPr id="41" name="Text 32"/>
          <p:cNvSpPr/>
          <p:nvPr/>
        </p:nvSpPr>
        <p:spPr>
          <a:xfrm>
            <a:off x="5589287" y="2012752"/>
            <a:ext cx="1768804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1013" dirty="0"/>
          </a:p>
        </p:txBody>
      </p:sp>
      <p:sp>
        <p:nvSpPr>
          <p:cNvPr id="42" name="Text 33"/>
          <p:cNvSpPr/>
          <p:nvPr/>
        </p:nvSpPr>
        <p:spPr>
          <a:xfrm>
            <a:off x="4972050" y="2212777"/>
            <a:ext cx="14859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13" dirty="0"/>
          </a:p>
        </p:txBody>
      </p:sp>
      <p:sp>
        <p:nvSpPr>
          <p:cNvPr id="43" name="Shape 34"/>
          <p:cNvSpPr/>
          <p:nvPr/>
        </p:nvSpPr>
        <p:spPr>
          <a:xfrm>
            <a:off x="4857750" y="2686050"/>
            <a:ext cx="3657600" cy="2228850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4972050" y="2800350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FECA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Happens:</a:t>
            </a:r>
            <a:endParaRPr lang="en-US" sz="1013" dirty="0"/>
          </a:p>
        </p:txBody>
      </p:sp>
      <p:sp>
        <p:nvSpPr>
          <p:cNvPr id="45" name="Text 36"/>
          <p:cNvSpPr/>
          <p:nvPr/>
        </p:nvSpPr>
        <p:spPr>
          <a:xfrm>
            <a:off x="4972050" y="305752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factorial(5) calls factorial(4)</a:t>
            </a:r>
            <a:endParaRPr lang="en-US" sz="788" dirty="0"/>
          </a:p>
        </p:txBody>
      </p:sp>
      <p:sp>
        <p:nvSpPr>
          <p:cNvPr id="46" name="Text 37"/>
          <p:cNvSpPr/>
          <p:nvPr/>
        </p:nvSpPr>
        <p:spPr>
          <a:xfrm>
            <a:off x="4972050" y="3257550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factorial(4) calls factorial(3)</a:t>
            </a:r>
            <a:endParaRPr lang="en-US" sz="788" dirty="0"/>
          </a:p>
        </p:txBody>
      </p:sp>
      <p:sp>
        <p:nvSpPr>
          <p:cNvPr id="47" name="Text 38"/>
          <p:cNvSpPr/>
          <p:nvPr/>
        </p:nvSpPr>
        <p:spPr>
          <a:xfrm>
            <a:off x="4972050" y="345757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factorial(3) calls factorial(2)</a:t>
            </a:r>
            <a:endParaRPr lang="en-US" sz="788" dirty="0"/>
          </a:p>
        </p:txBody>
      </p:sp>
      <p:sp>
        <p:nvSpPr>
          <p:cNvPr id="48" name="Text 39"/>
          <p:cNvSpPr/>
          <p:nvPr/>
        </p:nvSpPr>
        <p:spPr>
          <a:xfrm>
            <a:off x="4972050" y="3657600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factorial(2) calls factorial(1)</a:t>
            </a:r>
            <a:endParaRPr lang="en-US" sz="788" dirty="0"/>
          </a:p>
        </p:txBody>
      </p:sp>
      <p:sp>
        <p:nvSpPr>
          <p:cNvPr id="49" name="Text 40"/>
          <p:cNvSpPr/>
          <p:nvPr/>
        </p:nvSpPr>
        <p:spPr>
          <a:xfrm>
            <a:off x="4972050" y="385762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factorial(1) calls factorial(0)</a:t>
            </a:r>
            <a:endParaRPr lang="en-US" sz="788" dirty="0"/>
          </a:p>
        </p:txBody>
      </p:sp>
      <p:sp>
        <p:nvSpPr>
          <p:cNvPr id="50" name="Text 41"/>
          <p:cNvSpPr/>
          <p:nvPr/>
        </p:nvSpPr>
        <p:spPr>
          <a:xfrm>
            <a:off x="4972050" y="4057650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factorial(0) calls factorial(-1)</a:t>
            </a:r>
            <a:endParaRPr lang="en-US" sz="788" dirty="0"/>
          </a:p>
        </p:txBody>
      </p:sp>
      <p:sp>
        <p:nvSpPr>
          <p:cNvPr id="51" name="Text 42"/>
          <p:cNvSpPr/>
          <p:nvPr/>
        </p:nvSpPr>
        <p:spPr>
          <a:xfrm>
            <a:off x="4972050" y="425767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factorial(-1) calls factorial(-2)</a:t>
            </a:r>
            <a:endParaRPr lang="en-US" sz="788" dirty="0"/>
          </a:p>
        </p:txBody>
      </p:sp>
      <p:sp>
        <p:nvSpPr>
          <p:cNvPr id="52" name="Text 43"/>
          <p:cNvSpPr/>
          <p:nvPr/>
        </p:nvSpPr>
        <p:spPr>
          <a:xfrm>
            <a:off x="4972050" y="4457700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... continues indefinitely</a:t>
            </a:r>
            <a:endParaRPr lang="en-US" sz="788" dirty="0"/>
          </a:p>
        </p:txBody>
      </p:sp>
      <p:sp>
        <p:nvSpPr>
          <p:cNvPr id="53" name="Text 44"/>
          <p:cNvSpPr/>
          <p:nvPr/>
        </p:nvSpPr>
        <p:spPr>
          <a:xfrm>
            <a:off x="4972050" y="4657725"/>
            <a:ext cx="3500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Eventually: StackOverflowError!</a:t>
            </a:r>
            <a:endParaRPr lang="en-US" sz="788" dirty="0"/>
          </a:p>
        </p:txBody>
      </p:sp>
      <p:sp>
        <p:nvSpPr>
          <p:cNvPr id="54" name="Shape 45"/>
          <p:cNvSpPr/>
          <p:nvPr/>
        </p:nvSpPr>
        <p:spPr>
          <a:xfrm>
            <a:off x="4857750" y="5086350"/>
            <a:ext cx="3657600" cy="1285875"/>
          </a:xfrm>
          <a:prstGeom prst="rect">
            <a:avLst/>
          </a:prstGeom>
          <a:solidFill>
            <a:srgbClr val="7F1D1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4857750" y="5086350"/>
            <a:ext cx="28575" cy="1285875"/>
          </a:xfrm>
          <a:prstGeom prst="rect">
            <a:avLst/>
          </a:prstGeom>
          <a:solidFill>
            <a:srgbClr val="F5656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/>
          <p:nvPr/>
        </p:nvSpPr>
        <p:spPr>
          <a:xfrm>
            <a:off x="4972050" y="51720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FECAC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Output:</a:t>
            </a:r>
            <a:endParaRPr lang="en-US" sz="1013" dirty="0"/>
          </a:p>
        </p:txBody>
      </p:sp>
      <p:sp>
        <p:nvSpPr>
          <p:cNvPr id="57" name="Shape 48"/>
          <p:cNvSpPr/>
          <p:nvPr/>
        </p:nvSpPr>
        <p:spPr>
          <a:xfrm>
            <a:off x="4972050" y="5429250"/>
            <a:ext cx="3543300" cy="85725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/>
          <p:nvPr/>
        </p:nvSpPr>
        <p:spPr>
          <a:xfrm>
            <a:off x="5057775" y="5529263"/>
            <a:ext cx="337240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Exception in thread "main" java.lang.StackOverflowError</a:t>
            </a:r>
            <a:endParaRPr lang="en-US" sz="788" dirty="0"/>
          </a:p>
        </p:txBody>
      </p:sp>
      <p:sp>
        <p:nvSpPr>
          <p:cNvPr id="59" name="Text 50"/>
          <p:cNvSpPr/>
          <p:nvPr/>
        </p:nvSpPr>
        <p:spPr>
          <a:xfrm>
            <a:off x="5057775" y="5672138"/>
            <a:ext cx="3432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at RecursionExample.factorial(RecursionExample.java:5)</a:t>
            </a:r>
            <a:endParaRPr lang="en-US" sz="788" dirty="0"/>
          </a:p>
        </p:txBody>
      </p:sp>
      <p:sp>
        <p:nvSpPr>
          <p:cNvPr id="60" name="Text 51"/>
          <p:cNvSpPr/>
          <p:nvPr/>
        </p:nvSpPr>
        <p:spPr>
          <a:xfrm>
            <a:off x="5057775" y="5815013"/>
            <a:ext cx="3432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at RecursionExample.factorial(RecursionExample.java:5)</a:t>
            </a:r>
            <a:endParaRPr lang="en-US" sz="788" dirty="0"/>
          </a:p>
        </p:txBody>
      </p:sp>
      <p:sp>
        <p:nvSpPr>
          <p:cNvPr id="61" name="Text 52"/>
          <p:cNvSpPr/>
          <p:nvPr/>
        </p:nvSpPr>
        <p:spPr>
          <a:xfrm>
            <a:off x="5057775" y="5957888"/>
            <a:ext cx="3432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at RecursionExample.factorial(RecursionExample.java:5)</a:t>
            </a:r>
            <a:endParaRPr lang="en-US" sz="788" dirty="0"/>
          </a:p>
        </p:txBody>
      </p:sp>
      <p:sp>
        <p:nvSpPr>
          <p:cNvPr id="62" name="Text 53"/>
          <p:cNvSpPr/>
          <p:nvPr/>
        </p:nvSpPr>
        <p:spPr>
          <a:xfrm>
            <a:off x="5057775" y="6100763"/>
            <a:ext cx="34324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at RecursionExample.factorial(RecursionExample.java:5)</a:t>
            </a:r>
            <a:endParaRPr lang="en-US" sz="788" dirty="0"/>
          </a:p>
        </p:txBody>
      </p:sp>
      <p:sp>
        <p:nvSpPr>
          <p:cNvPr id="63" name="Text 54"/>
          <p:cNvSpPr/>
          <p:nvPr/>
        </p:nvSpPr>
        <p:spPr>
          <a:xfrm>
            <a:off x="5057775" y="6243638"/>
            <a:ext cx="2172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... (repeated thousands of times)</a:t>
            </a:r>
            <a:endParaRPr lang="en-US" sz="788" dirty="0"/>
          </a:p>
        </p:txBody>
      </p:sp>
      <p:sp>
        <p:nvSpPr>
          <p:cNvPr id="64" name="Shape 55"/>
          <p:cNvSpPr/>
          <p:nvPr/>
        </p:nvSpPr>
        <p:spPr>
          <a:xfrm>
            <a:off x="457200" y="6772275"/>
            <a:ext cx="8229600" cy="47863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6"/>
          <p:cNvSpPr/>
          <p:nvPr/>
        </p:nvSpPr>
        <p:spPr>
          <a:xfrm>
            <a:off x="628650" y="694372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Preventing Stack Overflow Errors</a:t>
            </a:r>
            <a:endParaRPr lang="en-US" sz="1350" dirty="0"/>
          </a:p>
        </p:txBody>
      </p:sp>
      <p:sp>
        <p:nvSpPr>
          <p:cNvPr id="66" name="Shape 57"/>
          <p:cNvSpPr/>
          <p:nvPr/>
        </p:nvSpPr>
        <p:spPr>
          <a:xfrm>
            <a:off x="628650" y="7286625"/>
            <a:ext cx="2514600" cy="2257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7429500"/>
            <a:ext cx="142875" cy="142875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942975" y="7400925"/>
            <a:ext cx="1715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Proper Base Cases</a:t>
            </a:r>
            <a:endParaRPr lang="en-US" sz="1013" dirty="0"/>
          </a:p>
        </p:txBody>
      </p:sp>
      <p:sp>
        <p:nvSpPr>
          <p:cNvPr id="69" name="Shape 59"/>
          <p:cNvSpPr/>
          <p:nvPr/>
        </p:nvSpPr>
        <p:spPr>
          <a:xfrm>
            <a:off x="742950" y="7686675"/>
            <a:ext cx="2286000" cy="10858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0"/>
          <p:cNvSpPr/>
          <p:nvPr/>
        </p:nvSpPr>
        <p:spPr>
          <a:xfrm>
            <a:off x="857250" y="7804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71" name="Text 61"/>
          <p:cNvSpPr/>
          <p:nvPr/>
        </p:nvSpPr>
        <p:spPr>
          <a:xfrm>
            <a:off x="1037295" y="78045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72" name="Text 62"/>
          <p:cNvSpPr/>
          <p:nvPr/>
        </p:nvSpPr>
        <p:spPr>
          <a:xfrm>
            <a:off x="1697394" y="7804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73" name="Text 63"/>
          <p:cNvSpPr/>
          <p:nvPr/>
        </p:nvSpPr>
        <p:spPr>
          <a:xfrm>
            <a:off x="1877439" y="780454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74" name="Text 64"/>
          <p:cNvSpPr/>
          <p:nvPr/>
        </p:nvSpPr>
        <p:spPr>
          <a:xfrm>
            <a:off x="977271" y="79474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75" name="Text 65"/>
          <p:cNvSpPr/>
          <p:nvPr/>
        </p:nvSpPr>
        <p:spPr>
          <a:xfrm>
            <a:off x="1097291" y="7947422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788" dirty="0"/>
          </a:p>
        </p:txBody>
      </p:sp>
      <p:sp>
        <p:nvSpPr>
          <p:cNvPr id="76" name="Text 66"/>
          <p:cNvSpPr/>
          <p:nvPr/>
        </p:nvSpPr>
        <p:spPr>
          <a:xfrm>
            <a:off x="1817387" y="7947422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case!</a:t>
            </a:r>
            <a:endParaRPr lang="en-US" sz="788" dirty="0"/>
          </a:p>
        </p:txBody>
      </p:sp>
      <p:sp>
        <p:nvSpPr>
          <p:cNvPr id="77" name="Text 67"/>
          <p:cNvSpPr/>
          <p:nvPr/>
        </p:nvSpPr>
        <p:spPr>
          <a:xfrm>
            <a:off x="1097291" y="80902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78" name="Text 68"/>
          <p:cNvSpPr/>
          <p:nvPr/>
        </p:nvSpPr>
        <p:spPr>
          <a:xfrm>
            <a:off x="1457353" y="80902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788" dirty="0"/>
          </a:p>
        </p:txBody>
      </p:sp>
      <p:sp>
        <p:nvSpPr>
          <p:cNvPr id="79" name="Text 69"/>
          <p:cNvSpPr/>
          <p:nvPr/>
        </p:nvSpPr>
        <p:spPr>
          <a:xfrm>
            <a:off x="857250" y="82331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80" name="Text 70"/>
          <p:cNvSpPr/>
          <p:nvPr/>
        </p:nvSpPr>
        <p:spPr>
          <a:xfrm>
            <a:off x="977271" y="83760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81" name="Text 71"/>
          <p:cNvSpPr/>
          <p:nvPr/>
        </p:nvSpPr>
        <p:spPr>
          <a:xfrm>
            <a:off x="1337332" y="8376047"/>
            <a:ext cx="13916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788" dirty="0"/>
          </a:p>
        </p:txBody>
      </p:sp>
      <p:sp>
        <p:nvSpPr>
          <p:cNvPr id="82" name="Text 72"/>
          <p:cNvSpPr/>
          <p:nvPr/>
        </p:nvSpPr>
        <p:spPr>
          <a:xfrm>
            <a:off x="857250" y="85189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83" name="Shape 73"/>
          <p:cNvSpPr/>
          <p:nvPr/>
        </p:nvSpPr>
        <p:spPr>
          <a:xfrm>
            <a:off x="3314700" y="7286625"/>
            <a:ext cx="2514600" cy="2257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7529513"/>
            <a:ext cx="142875" cy="142875"/>
          </a:xfrm>
          <a:prstGeom prst="rect">
            <a:avLst/>
          </a:prstGeom>
        </p:spPr>
      </p:pic>
      <p:sp>
        <p:nvSpPr>
          <p:cNvPr id="85" name="Text 74"/>
          <p:cNvSpPr/>
          <p:nvPr/>
        </p:nvSpPr>
        <p:spPr>
          <a:xfrm>
            <a:off x="3629025" y="7400925"/>
            <a:ext cx="21574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Progress Toward Base Case</a:t>
            </a:r>
            <a:endParaRPr lang="en-US" sz="1013" dirty="0"/>
          </a:p>
        </p:txBody>
      </p:sp>
      <p:sp>
        <p:nvSpPr>
          <p:cNvPr id="86" name="Text 75"/>
          <p:cNvSpPr/>
          <p:nvPr/>
        </p:nvSpPr>
        <p:spPr>
          <a:xfrm>
            <a:off x="3429000" y="7886700"/>
            <a:ext cx="235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each recursive call moves closer to the base case:</a:t>
            </a:r>
            <a:endParaRPr lang="en-US" sz="788" dirty="0"/>
          </a:p>
        </p:txBody>
      </p:sp>
      <p:sp>
        <p:nvSpPr>
          <p:cNvPr id="87" name="Text 76"/>
          <p:cNvSpPr/>
          <p:nvPr/>
        </p:nvSpPr>
        <p:spPr>
          <a:xfrm>
            <a:off x="3429000" y="82296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Decreasing a counter</a:t>
            </a:r>
            <a:endParaRPr lang="en-US" sz="788" dirty="0"/>
          </a:p>
        </p:txBody>
      </p:sp>
      <p:sp>
        <p:nvSpPr>
          <p:cNvPr id="88" name="Text 77"/>
          <p:cNvSpPr/>
          <p:nvPr/>
        </p:nvSpPr>
        <p:spPr>
          <a:xfrm>
            <a:off x="3429000" y="84010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Reducing problem size</a:t>
            </a:r>
            <a:endParaRPr lang="en-US" sz="788" dirty="0"/>
          </a:p>
        </p:txBody>
      </p:sp>
      <p:sp>
        <p:nvSpPr>
          <p:cNvPr id="89" name="Text 78"/>
          <p:cNvSpPr/>
          <p:nvPr/>
        </p:nvSpPr>
        <p:spPr>
          <a:xfrm>
            <a:off x="3429000" y="85725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Narrowing search space</a:t>
            </a:r>
            <a:endParaRPr lang="en-US" sz="788" dirty="0"/>
          </a:p>
        </p:txBody>
      </p:sp>
      <p:sp>
        <p:nvSpPr>
          <p:cNvPr id="90" name="Text 79"/>
          <p:cNvSpPr/>
          <p:nvPr/>
        </p:nvSpPr>
        <p:spPr>
          <a:xfrm>
            <a:off x="3429000" y="87725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validation to prevent invalid inputs:</a:t>
            </a:r>
            <a:endParaRPr lang="en-US" sz="788" dirty="0"/>
          </a:p>
        </p:txBody>
      </p:sp>
      <p:sp>
        <p:nvSpPr>
          <p:cNvPr id="91" name="Shape 80"/>
          <p:cNvSpPr/>
          <p:nvPr/>
        </p:nvSpPr>
        <p:spPr>
          <a:xfrm>
            <a:off x="3429000" y="8972550"/>
            <a:ext cx="2286000" cy="4572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1"/>
          <p:cNvSpPr/>
          <p:nvPr/>
        </p:nvSpPr>
        <p:spPr>
          <a:xfrm>
            <a:off x="3543300" y="9085064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93" name="Text 82"/>
          <p:cNvSpPr/>
          <p:nvPr/>
        </p:nvSpPr>
        <p:spPr>
          <a:xfrm>
            <a:off x="3646187" y="9085064"/>
            <a:ext cx="5343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 0)</a:t>
            </a:r>
            <a:endParaRPr lang="en-US" sz="675" dirty="0"/>
          </a:p>
        </p:txBody>
      </p:sp>
      <p:sp>
        <p:nvSpPr>
          <p:cNvPr id="94" name="Text 83"/>
          <p:cNvSpPr/>
          <p:nvPr/>
        </p:nvSpPr>
        <p:spPr>
          <a:xfrm>
            <a:off x="4109107" y="9085064"/>
            <a:ext cx="5343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endParaRPr lang="en-US" sz="675" dirty="0"/>
          </a:p>
        </p:txBody>
      </p:sp>
      <p:sp>
        <p:nvSpPr>
          <p:cNvPr id="95" name="Text 84"/>
          <p:cNvSpPr/>
          <p:nvPr/>
        </p:nvSpPr>
        <p:spPr>
          <a:xfrm>
            <a:off x="3543300" y="9199364"/>
            <a:ext cx="1460199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IllegalArgumentException();</a:t>
            </a:r>
            <a:endParaRPr lang="en-US" sz="675" dirty="0"/>
          </a:p>
        </p:txBody>
      </p:sp>
      <p:sp>
        <p:nvSpPr>
          <p:cNvPr id="96" name="Shape 85"/>
          <p:cNvSpPr/>
          <p:nvPr/>
        </p:nvSpPr>
        <p:spPr>
          <a:xfrm>
            <a:off x="6000750" y="7286625"/>
            <a:ext cx="2514600" cy="2257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7429500"/>
            <a:ext cx="142875" cy="142875"/>
          </a:xfrm>
          <a:prstGeom prst="rect">
            <a:avLst/>
          </a:prstGeom>
        </p:spPr>
      </p:pic>
      <p:sp>
        <p:nvSpPr>
          <p:cNvPr id="98" name="Text 86"/>
          <p:cNvSpPr/>
          <p:nvPr/>
        </p:nvSpPr>
        <p:spPr>
          <a:xfrm>
            <a:off x="6315075" y="7400925"/>
            <a:ext cx="13958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Alternatives</a:t>
            </a:r>
            <a:endParaRPr lang="en-US" sz="1013" dirty="0"/>
          </a:p>
        </p:txBody>
      </p:sp>
      <p:pic>
        <p:nvPicPr>
          <p:cNvPr id="9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7715250"/>
            <a:ext cx="87511" cy="100013"/>
          </a:xfrm>
          <a:prstGeom prst="rect">
            <a:avLst/>
          </a:prstGeom>
        </p:spPr>
      </p:pic>
      <p:sp>
        <p:nvSpPr>
          <p:cNvPr id="100" name="Text 87"/>
          <p:cNvSpPr/>
          <p:nvPr/>
        </p:nvSpPr>
        <p:spPr>
          <a:xfrm>
            <a:off x="6231136" y="7686675"/>
            <a:ext cx="15780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to iteration when possible</a:t>
            </a:r>
            <a:endParaRPr lang="en-US" sz="788" dirty="0"/>
          </a:p>
        </p:txBody>
      </p:sp>
      <p:pic>
        <p:nvPicPr>
          <p:cNvPr id="10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7915275"/>
            <a:ext cx="87511" cy="100013"/>
          </a:xfrm>
          <a:prstGeom prst="rect">
            <a:avLst/>
          </a:prstGeom>
        </p:spPr>
      </p:pic>
      <p:sp>
        <p:nvSpPr>
          <p:cNvPr id="102" name="Text 88"/>
          <p:cNvSpPr/>
          <p:nvPr/>
        </p:nvSpPr>
        <p:spPr>
          <a:xfrm>
            <a:off x="6231136" y="7886700"/>
            <a:ext cx="14055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tail recursion optimization</a:t>
            </a:r>
            <a:endParaRPr lang="en-US" sz="788" dirty="0"/>
          </a:p>
        </p:txBody>
      </p:sp>
      <p:pic>
        <p:nvPicPr>
          <p:cNvPr id="103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8115300"/>
            <a:ext cx="87511" cy="100013"/>
          </a:xfrm>
          <a:prstGeom prst="rect">
            <a:avLst/>
          </a:prstGeom>
        </p:spPr>
      </p:pic>
      <p:sp>
        <p:nvSpPr>
          <p:cNvPr id="104" name="Text 89"/>
          <p:cNvSpPr/>
          <p:nvPr/>
        </p:nvSpPr>
        <p:spPr>
          <a:xfrm>
            <a:off x="6231136" y="8086725"/>
            <a:ext cx="2033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 memoization to reduce call depth</a:t>
            </a:r>
            <a:endParaRPr lang="en-US" sz="788" dirty="0"/>
          </a:p>
        </p:txBody>
      </p:sp>
      <p:pic>
        <p:nvPicPr>
          <p:cNvPr id="10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8315325"/>
            <a:ext cx="87511" cy="100013"/>
          </a:xfrm>
          <a:prstGeom prst="rect">
            <a:avLst/>
          </a:prstGeom>
        </p:spPr>
      </p:pic>
      <p:sp>
        <p:nvSpPr>
          <p:cNvPr id="106" name="Text 90"/>
          <p:cNvSpPr/>
          <p:nvPr/>
        </p:nvSpPr>
        <p:spPr>
          <a:xfrm>
            <a:off x="6231136" y="8286750"/>
            <a:ext cx="1650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custom stack implementation</a:t>
            </a:r>
            <a:endParaRPr lang="en-US" sz="788" dirty="0"/>
          </a:p>
        </p:txBody>
      </p:sp>
      <p:sp>
        <p:nvSpPr>
          <p:cNvPr id="107" name="Shape 91"/>
          <p:cNvSpPr/>
          <p:nvPr/>
        </p:nvSpPr>
        <p:spPr>
          <a:xfrm>
            <a:off x="628650" y="9715500"/>
            <a:ext cx="7886700" cy="62865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8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9944100"/>
            <a:ext cx="128588" cy="171450"/>
          </a:xfrm>
          <a:prstGeom prst="rect">
            <a:avLst/>
          </a:prstGeom>
        </p:spPr>
      </p:pic>
      <p:sp>
        <p:nvSpPr>
          <p:cNvPr id="109" name="Text 92"/>
          <p:cNvSpPr/>
          <p:nvPr/>
        </p:nvSpPr>
        <p:spPr>
          <a:xfrm>
            <a:off x="985838" y="9829800"/>
            <a:ext cx="74252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</a:t>
            </a:r>
            <a:endParaRPr lang="en-US" sz="1013" dirty="0"/>
          </a:p>
        </p:txBody>
      </p:sp>
      <p:sp>
        <p:nvSpPr>
          <p:cNvPr id="110" name="Text 93"/>
          <p:cNvSpPr/>
          <p:nvPr/>
        </p:nvSpPr>
        <p:spPr>
          <a:xfrm>
            <a:off x="985838" y="10058400"/>
            <a:ext cx="74252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test recursive functions with boundary cases and large inputs to ensure they handle edge cases properly and don't cause stack overflows.</a:t>
            </a:r>
            <a:endParaRPr lang="en-US" sz="900" dirty="0"/>
          </a:p>
        </p:txBody>
      </p:sp>
      <p:sp>
        <p:nvSpPr>
          <p:cNvPr id="111" name="Shape 94"/>
          <p:cNvSpPr/>
          <p:nvPr/>
        </p:nvSpPr>
        <p:spPr>
          <a:xfrm>
            <a:off x="2743200" y="10458450"/>
            <a:ext cx="3657600" cy="914400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2" name="Text 95"/>
          <p:cNvSpPr/>
          <p:nvPr/>
        </p:nvSpPr>
        <p:spPr>
          <a:xfrm>
            <a:off x="2828925" y="10544175"/>
            <a:ext cx="35575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</a:t>
            </a:r>
            <a:endParaRPr lang="en-US" sz="1013" dirty="0"/>
          </a:p>
        </p:txBody>
      </p:sp>
      <p:sp>
        <p:nvSpPr>
          <p:cNvPr id="113" name="Text 96"/>
          <p:cNvSpPr/>
          <p:nvPr/>
        </p:nvSpPr>
        <p:spPr>
          <a:xfrm>
            <a:off x="2828925" y="10772775"/>
            <a:ext cx="355758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depth is limited by available stack space. For problems requiring very deep recursion, consider iterative solutions or algorithms with reduced recursive depth.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830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82444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Recursion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10209" y="455414"/>
            <a:ext cx="170012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51863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Tail Recursion?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0287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28775"/>
            <a:ext cx="31160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recursion is a special case of recursion where the recursive call is the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1872053" y="1828800"/>
            <a:ext cx="9145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operation</a:t>
            </a:r>
            <a:endParaRPr lang="en-US" sz="1013" dirty="0"/>
          </a:p>
        </p:txBody>
      </p:sp>
      <p:sp>
        <p:nvSpPr>
          <p:cNvPr id="10" name="Text 7"/>
          <p:cNvSpPr/>
          <p:nvPr/>
        </p:nvSpPr>
        <p:spPr>
          <a:xfrm>
            <a:off x="2715155" y="1828800"/>
            <a:ext cx="9435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function.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742950" y="2057400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other words, there are no pending operations after the recursive call returns.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28650" y="268605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Recursion vs. Tail Recursion: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628650" y="2971800"/>
            <a:ext cx="1771650" cy="20574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4375" y="3057525"/>
            <a:ext cx="1671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Regular Recursion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14375" y="3286125"/>
            <a:ext cx="1600200" cy="12287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8675" y="34039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1008720" y="3403997"/>
            <a:ext cx="12115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factorial(int n) {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948696" y="35468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1068716" y="354687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1068716" y="36897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1428778" y="36897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948696" y="38326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1068716" y="39754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828675" y="3975497"/>
            <a:ext cx="9715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factorial(n-1);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828675" y="42612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714375" y="4580930"/>
            <a:ext cx="943505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Multiplication happens</a:t>
            </a:r>
            <a:endParaRPr lang="en-US" sz="675" dirty="0"/>
          </a:p>
        </p:txBody>
      </p:sp>
      <p:sp>
        <p:nvSpPr>
          <p:cNvPr id="27" name="Text 24"/>
          <p:cNvSpPr/>
          <p:nvPr/>
        </p:nvSpPr>
        <p:spPr>
          <a:xfrm>
            <a:off x="1586443" y="4580930"/>
            <a:ext cx="257259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714375" y="4580930"/>
            <a:ext cx="16439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recursive call returns</a:t>
            </a:r>
            <a:endParaRPr lang="en-US" sz="675" dirty="0"/>
          </a:p>
        </p:txBody>
      </p:sp>
      <p:sp>
        <p:nvSpPr>
          <p:cNvPr id="29" name="Shape 26"/>
          <p:cNvSpPr/>
          <p:nvPr/>
        </p:nvSpPr>
        <p:spPr>
          <a:xfrm>
            <a:off x="2514600" y="2971800"/>
            <a:ext cx="1771650" cy="2057400"/>
          </a:xfrm>
          <a:prstGeom prst="rect">
            <a:avLst/>
          </a:prstGeom>
          <a:solidFill>
            <a:srgbClr val="064E3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600325" y="3057525"/>
            <a:ext cx="1671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Recursion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600325" y="3286125"/>
            <a:ext cx="1600200" cy="13716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2714625" y="34039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2714625" y="3403997"/>
            <a:ext cx="127161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factorial(int n, int acc) {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2834646" y="368974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35" name="Text 32"/>
          <p:cNvSpPr/>
          <p:nvPr/>
        </p:nvSpPr>
        <p:spPr>
          <a:xfrm>
            <a:off x="2954666" y="368974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2954666" y="38326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3314728" y="383262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acc;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2834646" y="397549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2954666" y="41183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2714625" y="4261247"/>
            <a:ext cx="13916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factorial(n-1, n*acc);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2714625" y="44041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2" name="Text 39"/>
          <p:cNvSpPr/>
          <p:nvPr/>
        </p:nvSpPr>
        <p:spPr>
          <a:xfrm>
            <a:off x="2600325" y="4723805"/>
            <a:ext cx="872096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happens</a:t>
            </a:r>
            <a:endParaRPr lang="en-US" sz="675" dirty="0"/>
          </a:p>
        </p:txBody>
      </p:sp>
      <p:sp>
        <p:nvSpPr>
          <p:cNvPr id="43" name="Text 40"/>
          <p:cNvSpPr/>
          <p:nvPr/>
        </p:nvSpPr>
        <p:spPr>
          <a:xfrm>
            <a:off x="3400983" y="4723805"/>
            <a:ext cx="333440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</a:t>
            </a:r>
            <a:endParaRPr lang="en-US" sz="675" dirty="0"/>
          </a:p>
        </p:txBody>
      </p:sp>
      <p:sp>
        <p:nvSpPr>
          <p:cNvPr id="44" name="Text 41"/>
          <p:cNvSpPr/>
          <p:nvPr/>
        </p:nvSpPr>
        <p:spPr>
          <a:xfrm>
            <a:off x="2600325" y="4723805"/>
            <a:ext cx="1648671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recursive call</a:t>
            </a:r>
            <a:endParaRPr lang="en-US" sz="675" dirty="0"/>
          </a:p>
        </p:txBody>
      </p:sp>
      <p:sp>
        <p:nvSpPr>
          <p:cNvPr id="45" name="Shape 42"/>
          <p:cNvSpPr/>
          <p:nvPr/>
        </p:nvSpPr>
        <p:spPr>
          <a:xfrm>
            <a:off x="628650" y="5200650"/>
            <a:ext cx="3657600" cy="77152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5343525"/>
            <a:ext cx="107156" cy="142875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907256" y="5314950"/>
            <a:ext cx="7644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013" dirty="0"/>
          </a:p>
        </p:txBody>
      </p:sp>
      <p:sp>
        <p:nvSpPr>
          <p:cNvPr id="48" name="Text 44"/>
          <p:cNvSpPr/>
          <p:nvPr/>
        </p:nvSpPr>
        <p:spPr>
          <a:xfrm>
            <a:off x="742950" y="5572125"/>
            <a:ext cx="3500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tail recursion, the recursive call is the final action, so there's no need to keep the current stack frame after making the recursive call.</a:t>
            </a:r>
            <a:endParaRPr lang="en-US" sz="788" dirty="0"/>
          </a:p>
        </p:txBody>
      </p:sp>
      <p:sp>
        <p:nvSpPr>
          <p:cNvPr id="49" name="Shape 45"/>
          <p:cNvSpPr/>
          <p:nvPr/>
        </p:nvSpPr>
        <p:spPr>
          <a:xfrm>
            <a:off x="4686300" y="971550"/>
            <a:ext cx="4000500" cy="5172075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Call Optimization (TCO)</a:t>
            </a:r>
            <a:endParaRPr lang="en-US" sz="1350" dirty="0"/>
          </a:p>
        </p:txBody>
      </p:sp>
      <p:sp>
        <p:nvSpPr>
          <p:cNvPr id="51" name="Shape 47"/>
          <p:cNvSpPr/>
          <p:nvPr/>
        </p:nvSpPr>
        <p:spPr>
          <a:xfrm>
            <a:off x="4857750" y="1485900"/>
            <a:ext cx="3657600" cy="10858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49720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Call Optimization is a compiler technique that transforms tail-recursive calls into iteration, eliminating the need for additional stack frames.</a:t>
            </a:r>
            <a:endParaRPr lang="en-US" sz="1013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314575"/>
            <a:ext cx="142875" cy="142875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5200650" y="2328863"/>
            <a:ext cx="5658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Important:</a:t>
            </a:r>
            <a:endParaRPr lang="en-US" sz="788" dirty="0"/>
          </a:p>
        </p:txBody>
      </p:sp>
      <p:sp>
        <p:nvSpPr>
          <p:cNvPr id="55" name="Text 50"/>
          <p:cNvSpPr/>
          <p:nvPr/>
        </p:nvSpPr>
        <p:spPr>
          <a:xfrm>
            <a:off x="5695104" y="2328863"/>
            <a:ext cx="58294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does</a:t>
            </a:r>
            <a:endParaRPr lang="en-US" sz="788" dirty="0"/>
          </a:p>
        </p:txBody>
      </p:sp>
      <p:sp>
        <p:nvSpPr>
          <p:cNvPr id="56" name="Text 51"/>
          <p:cNvSpPr/>
          <p:nvPr/>
        </p:nvSpPr>
        <p:spPr>
          <a:xfrm>
            <a:off x="6206607" y="2328863"/>
            <a:ext cx="2825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endParaRPr lang="en-US" sz="788" dirty="0"/>
          </a:p>
        </p:txBody>
      </p:sp>
      <p:sp>
        <p:nvSpPr>
          <p:cNvPr id="57" name="Text 52"/>
          <p:cNvSpPr/>
          <p:nvPr/>
        </p:nvSpPr>
        <p:spPr>
          <a:xfrm>
            <a:off x="6417739" y="2328863"/>
            <a:ext cx="1827907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automatic tail call optimization!</a:t>
            </a:r>
            <a:endParaRPr lang="en-US" sz="788" dirty="0"/>
          </a:p>
        </p:txBody>
      </p:sp>
      <p:sp>
        <p:nvSpPr>
          <p:cNvPr id="58" name="Text 53"/>
          <p:cNvSpPr/>
          <p:nvPr/>
        </p:nvSpPr>
        <p:spPr>
          <a:xfrm>
            <a:off x="4857750" y="274320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TCO Works:</a:t>
            </a:r>
            <a:endParaRPr lang="en-US" sz="1125" dirty="0"/>
          </a:p>
        </p:txBody>
      </p:sp>
      <p:sp>
        <p:nvSpPr>
          <p:cNvPr id="59" name="Shape 54"/>
          <p:cNvSpPr/>
          <p:nvPr/>
        </p:nvSpPr>
        <p:spPr>
          <a:xfrm>
            <a:off x="4857750" y="3043238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5"/>
          <p:cNvSpPr/>
          <p:nvPr/>
        </p:nvSpPr>
        <p:spPr>
          <a:xfrm>
            <a:off x="4857750" y="3043238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88" dirty="0"/>
          </a:p>
        </p:txBody>
      </p:sp>
      <p:sp>
        <p:nvSpPr>
          <p:cNvPr id="61" name="Text 56"/>
          <p:cNvSpPr/>
          <p:nvPr/>
        </p:nvSpPr>
        <p:spPr>
          <a:xfrm>
            <a:off x="5086350" y="3028950"/>
            <a:ext cx="27841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Compiler recognizes that a function ends with a recursive call</a:t>
            </a:r>
            <a:endParaRPr lang="en-US" sz="788" dirty="0"/>
          </a:p>
        </p:txBody>
      </p:sp>
      <p:sp>
        <p:nvSpPr>
          <p:cNvPr id="62" name="Shape 57"/>
          <p:cNvSpPr/>
          <p:nvPr/>
        </p:nvSpPr>
        <p:spPr>
          <a:xfrm>
            <a:off x="4857750" y="3286125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8"/>
          <p:cNvSpPr/>
          <p:nvPr/>
        </p:nvSpPr>
        <p:spPr>
          <a:xfrm>
            <a:off x="4857750" y="3286125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88" dirty="0"/>
          </a:p>
        </p:txBody>
      </p:sp>
      <p:sp>
        <p:nvSpPr>
          <p:cNvPr id="64" name="Text 59"/>
          <p:cNvSpPr/>
          <p:nvPr/>
        </p:nvSpPr>
        <p:spPr>
          <a:xfrm>
            <a:off x="5086350" y="3271838"/>
            <a:ext cx="28676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Instead of creating a new stack frame, it reuses the current one</a:t>
            </a:r>
            <a:endParaRPr lang="en-US" sz="788" dirty="0"/>
          </a:p>
        </p:txBody>
      </p:sp>
      <p:sp>
        <p:nvSpPr>
          <p:cNvPr id="65" name="Shape 60"/>
          <p:cNvSpPr/>
          <p:nvPr/>
        </p:nvSpPr>
        <p:spPr>
          <a:xfrm>
            <a:off x="4857750" y="3529013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1"/>
          <p:cNvSpPr/>
          <p:nvPr/>
        </p:nvSpPr>
        <p:spPr>
          <a:xfrm>
            <a:off x="4857750" y="3529013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88" dirty="0"/>
          </a:p>
        </p:txBody>
      </p:sp>
      <p:sp>
        <p:nvSpPr>
          <p:cNvPr id="67" name="Text 62"/>
          <p:cNvSpPr/>
          <p:nvPr/>
        </p:nvSpPr>
        <p:spPr>
          <a:xfrm>
            <a:off x="5086350" y="3514725"/>
            <a:ext cx="28344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are updated and execution jumps back to the start</a:t>
            </a:r>
            <a:endParaRPr lang="en-US" sz="788" dirty="0"/>
          </a:p>
        </p:txBody>
      </p:sp>
      <p:sp>
        <p:nvSpPr>
          <p:cNvPr id="68" name="Shape 63"/>
          <p:cNvSpPr/>
          <p:nvPr/>
        </p:nvSpPr>
        <p:spPr>
          <a:xfrm>
            <a:off x="4857750" y="3771900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4"/>
          <p:cNvSpPr/>
          <p:nvPr/>
        </p:nvSpPr>
        <p:spPr>
          <a:xfrm>
            <a:off x="4857750" y="3771900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88" dirty="0"/>
          </a:p>
        </p:txBody>
      </p:sp>
      <p:sp>
        <p:nvSpPr>
          <p:cNvPr id="70" name="Text 65"/>
          <p:cNvSpPr/>
          <p:nvPr/>
        </p:nvSpPr>
        <p:spPr>
          <a:xfrm>
            <a:off x="5086350" y="3757613"/>
            <a:ext cx="21596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effectively transforms recursion into a loop</a:t>
            </a:r>
            <a:endParaRPr lang="en-US" sz="788" dirty="0"/>
          </a:p>
        </p:txBody>
      </p:sp>
      <p:sp>
        <p:nvSpPr>
          <p:cNvPr id="71" name="Shape 66"/>
          <p:cNvSpPr/>
          <p:nvPr/>
        </p:nvSpPr>
        <p:spPr>
          <a:xfrm>
            <a:off x="4857750" y="4114800"/>
            <a:ext cx="3657600" cy="1114425"/>
          </a:xfrm>
          <a:prstGeom prst="rect">
            <a:avLst/>
          </a:prstGeom>
          <a:solidFill>
            <a:srgbClr val="4C1D9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7"/>
          <p:cNvSpPr/>
          <p:nvPr/>
        </p:nvSpPr>
        <p:spPr>
          <a:xfrm>
            <a:off x="4972050" y="4229100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DDD6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 with TCO Support:</a:t>
            </a:r>
            <a:endParaRPr lang="en-US" sz="1013" dirty="0"/>
          </a:p>
        </p:txBody>
      </p:sp>
      <p:sp>
        <p:nvSpPr>
          <p:cNvPr id="73" name="Shape 68"/>
          <p:cNvSpPr/>
          <p:nvPr/>
        </p:nvSpPr>
        <p:spPr>
          <a:xfrm>
            <a:off x="4972050" y="4486275"/>
            <a:ext cx="1104881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9"/>
          <p:cNvSpPr/>
          <p:nvPr/>
        </p:nvSpPr>
        <p:spPr>
          <a:xfrm>
            <a:off x="4972050" y="4486275"/>
            <a:ext cx="1176319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</a:t>
            </a:r>
            <a:endParaRPr lang="en-US" sz="900" dirty="0"/>
          </a:p>
        </p:txBody>
      </p:sp>
      <p:sp>
        <p:nvSpPr>
          <p:cNvPr id="75" name="Shape 70"/>
          <p:cNvSpPr/>
          <p:nvPr/>
        </p:nvSpPr>
        <p:spPr>
          <a:xfrm>
            <a:off x="6134081" y="4486275"/>
            <a:ext cx="1104909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1"/>
          <p:cNvSpPr/>
          <p:nvPr/>
        </p:nvSpPr>
        <p:spPr>
          <a:xfrm>
            <a:off x="6134081" y="4486275"/>
            <a:ext cx="1176347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Kotlin</a:t>
            </a:r>
            <a:endParaRPr lang="en-US" sz="900" dirty="0"/>
          </a:p>
        </p:txBody>
      </p:sp>
      <p:sp>
        <p:nvSpPr>
          <p:cNvPr id="77" name="Shape 72"/>
          <p:cNvSpPr/>
          <p:nvPr/>
        </p:nvSpPr>
        <p:spPr>
          <a:xfrm>
            <a:off x="7296141" y="4486275"/>
            <a:ext cx="1104909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3"/>
          <p:cNvSpPr/>
          <p:nvPr/>
        </p:nvSpPr>
        <p:spPr>
          <a:xfrm>
            <a:off x="7296141" y="4486275"/>
            <a:ext cx="1176347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Haskell</a:t>
            </a:r>
            <a:endParaRPr lang="en-US" sz="900" dirty="0"/>
          </a:p>
        </p:txBody>
      </p:sp>
      <p:sp>
        <p:nvSpPr>
          <p:cNvPr id="79" name="Shape 74"/>
          <p:cNvSpPr/>
          <p:nvPr/>
        </p:nvSpPr>
        <p:spPr>
          <a:xfrm>
            <a:off x="4972050" y="4829175"/>
            <a:ext cx="1104881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5"/>
          <p:cNvSpPr/>
          <p:nvPr/>
        </p:nvSpPr>
        <p:spPr>
          <a:xfrm>
            <a:off x="4972050" y="4829175"/>
            <a:ext cx="1176319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Scheme</a:t>
            </a:r>
            <a:endParaRPr lang="en-US" sz="900" dirty="0"/>
          </a:p>
        </p:txBody>
      </p:sp>
      <p:sp>
        <p:nvSpPr>
          <p:cNvPr id="81" name="Shape 76"/>
          <p:cNvSpPr/>
          <p:nvPr/>
        </p:nvSpPr>
        <p:spPr>
          <a:xfrm>
            <a:off x="6134081" y="4829175"/>
            <a:ext cx="1104909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7"/>
          <p:cNvSpPr/>
          <p:nvPr/>
        </p:nvSpPr>
        <p:spPr>
          <a:xfrm>
            <a:off x="6134081" y="4829175"/>
            <a:ext cx="1176347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Erlang</a:t>
            </a:r>
            <a:endParaRPr lang="en-US" sz="900" dirty="0"/>
          </a:p>
        </p:txBody>
      </p:sp>
      <p:sp>
        <p:nvSpPr>
          <p:cNvPr id="83" name="Shape 78"/>
          <p:cNvSpPr/>
          <p:nvPr/>
        </p:nvSpPr>
        <p:spPr>
          <a:xfrm>
            <a:off x="7296141" y="4829175"/>
            <a:ext cx="1104909" cy="285750"/>
          </a:xfrm>
          <a:prstGeom prst="rect">
            <a:avLst/>
          </a:prstGeom>
          <a:solidFill>
            <a:srgbClr val="4C1D95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9"/>
          <p:cNvSpPr/>
          <p:nvPr/>
        </p:nvSpPr>
        <p:spPr>
          <a:xfrm>
            <a:off x="7296141" y="4829175"/>
            <a:ext cx="1176347" cy="285750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Elixir</a:t>
            </a:r>
            <a:endParaRPr lang="en-US" sz="900" dirty="0"/>
          </a:p>
        </p:txBody>
      </p:sp>
      <p:sp>
        <p:nvSpPr>
          <p:cNvPr id="85" name="Shape 80"/>
          <p:cNvSpPr/>
          <p:nvPr/>
        </p:nvSpPr>
        <p:spPr>
          <a:xfrm>
            <a:off x="457200" y="6372225"/>
            <a:ext cx="8229600" cy="49863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1"/>
          <p:cNvSpPr/>
          <p:nvPr/>
        </p:nvSpPr>
        <p:spPr>
          <a:xfrm>
            <a:off x="628650" y="65436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Tail Recursion in Java</a:t>
            </a:r>
            <a:endParaRPr lang="en-US" sz="1350" dirty="0"/>
          </a:p>
        </p:txBody>
      </p:sp>
      <p:sp>
        <p:nvSpPr>
          <p:cNvPr id="87" name="Text 82"/>
          <p:cNvSpPr/>
          <p:nvPr/>
        </p:nvSpPr>
        <p:spPr>
          <a:xfrm>
            <a:off x="628650" y="6886575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Converting to Tail Recursion</a:t>
            </a:r>
            <a:endParaRPr lang="en-US" sz="1125" dirty="0"/>
          </a:p>
        </p:txBody>
      </p:sp>
      <p:sp>
        <p:nvSpPr>
          <p:cNvPr id="88" name="Text 83"/>
          <p:cNvSpPr/>
          <p:nvPr/>
        </p:nvSpPr>
        <p:spPr>
          <a:xfrm>
            <a:off x="628650" y="7172325"/>
            <a:ext cx="3900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convert a recursive function to tail-recursive form:</a:t>
            </a:r>
            <a:endParaRPr lang="en-US" sz="900" dirty="0"/>
          </a:p>
        </p:txBody>
      </p:sp>
      <p:sp>
        <p:nvSpPr>
          <p:cNvPr id="89" name="Shape 84"/>
          <p:cNvSpPr/>
          <p:nvPr/>
        </p:nvSpPr>
        <p:spPr>
          <a:xfrm>
            <a:off x="628650" y="7443788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5"/>
          <p:cNvSpPr/>
          <p:nvPr/>
        </p:nvSpPr>
        <p:spPr>
          <a:xfrm>
            <a:off x="628650" y="7443788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88" dirty="0"/>
          </a:p>
        </p:txBody>
      </p:sp>
      <p:sp>
        <p:nvSpPr>
          <p:cNvPr id="91" name="Text 86"/>
          <p:cNvSpPr/>
          <p:nvPr/>
        </p:nvSpPr>
        <p:spPr>
          <a:xfrm>
            <a:off x="857250" y="7429500"/>
            <a:ext cx="27063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an accumulator parameter to store intermediate results</a:t>
            </a:r>
            <a:endParaRPr lang="en-US" sz="788" dirty="0"/>
          </a:p>
        </p:txBody>
      </p:sp>
      <p:sp>
        <p:nvSpPr>
          <p:cNvPr id="92" name="Shape 87"/>
          <p:cNvSpPr/>
          <p:nvPr/>
        </p:nvSpPr>
        <p:spPr>
          <a:xfrm>
            <a:off x="628650" y="7686675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8"/>
          <p:cNvSpPr/>
          <p:nvPr/>
        </p:nvSpPr>
        <p:spPr>
          <a:xfrm>
            <a:off x="628650" y="7686675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88" dirty="0"/>
          </a:p>
        </p:txBody>
      </p:sp>
      <p:sp>
        <p:nvSpPr>
          <p:cNvPr id="94" name="Text 89"/>
          <p:cNvSpPr/>
          <p:nvPr/>
        </p:nvSpPr>
        <p:spPr>
          <a:xfrm>
            <a:off x="857250" y="7672388"/>
            <a:ext cx="20669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 calculations before the recursive call</a:t>
            </a:r>
            <a:endParaRPr lang="en-US" sz="788" dirty="0"/>
          </a:p>
        </p:txBody>
      </p:sp>
      <p:sp>
        <p:nvSpPr>
          <p:cNvPr id="95" name="Shape 90"/>
          <p:cNvSpPr/>
          <p:nvPr/>
        </p:nvSpPr>
        <p:spPr>
          <a:xfrm>
            <a:off x="628650" y="7929563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1"/>
          <p:cNvSpPr/>
          <p:nvPr/>
        </p:nvSpPr>
        <p:spPr>
          <a:xfrm>
            <a:off x="628650" y="7929563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88" dirty="0"/>
          </a:p>
        </p:txBody>
      </p:sp>
      <p:sp>
        <p:nvSpPr>
          <p:cNvPr id="97" name="Text 92"/>
          <p:cNvSpPr/>
          <p:nvPr/>
        </p:nvSpPr>
        <p:spPr>
          <a:xfrm>
            <a:off x="857250" y="7915275"/>
            <a:ext cx="25286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the updated accumulator to the next recursive call</a:t>
            </a:r>
            <a:endParaRPr lang="en-US" sz="788" dirty="0"/>
          </a:p>
        </p:txBody>
      </p:sp>
      <p:sp>
        <p:nvSpPr>
          <p:cNvPr id="98" name="Shape 93"/>
          <p:cNvSpPr/>
          <p:nvPr/>
        </p:nvSpPr>
        <p:spPr>
          <a:xfrm>
            <a:off x="628650" y="8172450"/>
            <a:ext cx="171450" cy="17145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94"/>
          <p:cNvSpPr/>
          <p:nvPr/>
        </p:nvSpPr>
        <p:spPr>
          <a:xfrm>
            <a:off x="628650" y="8172450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788" dirty="0"/>
          </a:p>
        </p:txBody>
      </p:sp>
      <p:sp>
        <p:nvSpPr>
          <p:cNvPr id="100" name="Text 95"/>
          <p:cNvSpPr/>
          <p:nvPr/>
        </p:nvSpPr>
        <p:spPr>
          <a:xfrm>
            <a:off x="857250" y="8158163"/>
            <a:ext cx="19170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the recursive call the final operation</a:t>
            </a:r>
            <a:endParaRPr lang="en-US" sz="788" dirty="0"/>
          </a:p>
        </p:txBody>
      </p:sp>
      <p:sp>
        <p:nvSpPr>
          <p:cNvPr id="101" name="Shape 96"/>
          <p:cNvSpPr/>
          <p:nvPr/>
        </p:nvSpPr>
        <p:spPr>
          <a:xfrm>
            <a:off x="628650" y="8458200"/>
            <a:ext cx="3829050" cy="18859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7"/>
          <p:cNvSpPr/>
          <p:nvPr/>
        </p:nvSpPr>
        <p:spPr>
          <a:xfrm>
            <a:off x="714375" y="85439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Java, create a public method that calls a private tail-recursive helper:</a:t>
            </a:r>
            <a:endParaRPr lang="en-US" sz="788" dirty="0"/>
          </a:p>
        </p:txBody>
      </p:sp>
      <p:sp>
        <p:nvSpPr>
          <p:cNvPr id="103" name="Shape 98"/>
          <p:cNvSpPr/>
          <p:nvPr/>
        </p:nvSpPr>
        <p:spPr>
          <a:xfrm>
            <a:off x="714375" y="8743950"/>
            <a:ext cx="3657600" cy="151447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99"/>
          <p:cNvSpPr/>
          <p:nvPr/>
        </p:nvSpPr>
        <p:spPr>
          <a:xfrm>
            <a:off x="828675" y="886182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</a:t>
            </a:r>
            <a:endParaRPr lang="en-US" sz="788" dirty="0"/>
          </a:p>
        </p:txBody>
      </p:sp>
      <p:sp>
        <p:nvSpPr>
          <p:cNvPr id="105" name="Text 100"/>
          <p:cNvSpPr/>
          <p:nvPr/>
        </p:nvSpPr>
        <p:spPr>
          <a:xfrm>
            <a:off x="1848808" y="886182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106" name="Text 101"/>
          <p:cNvSpPr/>
          <p:nvPr/>
        </p:nvSpPr>
        <p:spPr>
          <a:xfrm>
            <a:off x="2508907" y="8861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07" name="Text 102"/>
          <p:cNvSpPr/>
          <p:nvPr/>
        </p:nvSpPr>
        <p:spPr>
          <a:xfrm>
            <a:off x="2688952" y="886182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108" name="Text 103"/>
          <p:cNvSpPr/>
          <p:nvPr/>
        </p:nvSpPr>
        <p:spPr>
          <a:xfrm>
            <a:off x="948696" y="90046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09" name="Text 104"/>
          <p:cNvSpPr/>
          <p:nvPr/>
        </p:nvSpPr>
        <p:spPr>
          <a:xfrm>
            <a:off x="1308757" y="9004697"/>
            <a:ext cx="145163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factorialHelper(n, 1);</a:t>
            </a:r>
            <a:endParaRPr lang="en-US" sz="788" dirty="0"/>
          </a:p>
        </p:txBody>
      </p:sp>
      <p:sp>
        <p:nvSpPr>
          <p:cNvPr id="110" name="Text 105"/>
          <p:cNvSpPr/>
          <p:nvPr/>
        </p:nvSpPr>
        <p:spPr>
          <a:xfrm>
            <a:off x="828675" y="91475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11" name="Text 106"/>
          <p:cNvSpPr/>
          <p:nvPr/>
        </p:nvSpPr>
        <p:spPr>
          <a:xfrm>
            <a:off x="828675" y="9433322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int</a:t>
            </a:r>
            <a:endParaRPr lang="en-US" sz="788" dirty="0"/>
          </a:p>
        </p:txBody>
      </p:sp>
      <p:sp>
        <p:nvSpPr>
          <p:cNvPr id="112" name="Text 107"/>
          <p:cNvSpPr/>
          <p:nvPr/>
        </p:nvSpPr>
        <p:spPr>
          <a:xfrm>
            <a:off x="1908832" y="943332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factorialHelper(</a:t>
            </a:r>
            <a:endParaRPr lang="en-US" sz="788" dirty="0"/>
          </a:p>
        </p:txBody>
      </p:sp>
      <p:sp>
        <p:nvSpPr>
          <p:cNvPr id="113" name="Text 108"/>
          <p:cNvSpPr/>
          <p:nvPr/>
        </p:nvSpPr>
        <p:spPr>
          <a:xfrm>
            <a:off x="2928965" y="94333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4" name="Text 109"/>
          <p:cNvSpPr/>
          <p:nvPr/>
        </p:nvSpPr>
        <p:spPr>
          <a:xfrm>
            <a:off x="3109010" y="94333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115" name="Text 110"/>
          <p:cNvSpPr/>
          <p:nvPr/>
        </p:nvSpPr>
        <p:spPr>
          <a:xfrm>
            <a:off x="3349051" y="94333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6" name="Text 111"/>
          <p:cNvSpPr/>
          <p:nvPr/>
        </p:nvSpPr>
        <p:spPr>
          <a:xfrm>
            <a:off x="3529096" y="9433322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acc) {</a:t>
            </a:r>
            <a:endParaRPr lang="en-US" sz="788" dirty="0"/>
          </a:p>
        </p:txBody>
      </p:sp>
      <p:sp>
        <p:nvSpPr>
          <p:cNvPr id="117" name="Text 112"/>
          <p:cNvSpPr/>
          <p:nvPr/>
        </p:nvSpPr>
        <p:spPr>
          <a:xfrm>
            <a:off x="948696" y="95761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18" name="Text 113"/>
          <p:cNvSpPr/>
          <p:nvPr/>
        </p:nvSpPr>
        <p:spPr>
          <a:xfrm>
            <a:off x="1068716" y="95761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119" name="Text 114"/>
          <p:cNvSpPr/>
          <p:nvPr/>
        </p:nvSpPr>
        <p:spPr>
          <a:xfrm>
            <a:off x="1068716" y="97190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20" name="Text 115"/>
          <p:cNvSpPr/>
          <p:nvPr/>
        </p:nvSpPr>
        <p:spPr>
          <a:xfrm>
            <a:off x="1428778" y="97190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acc;</a:t>
            </a:r>
            <a:endParaRPr lang="en-US" sz="788" dirty="0"/>
          </a:p>
        </p:txBody>
      </p:sp>
      <p:sp>
        <p:nvSpPr>
          <p:cNvPr id="121" name="Text 116"/>
          <p:cNvSpPr/>
          <p:nvPr/>
        </p:nvSpPr>
        <p:spPr>
          <a:xfrm>
            <a:off x="948696" y="98619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22" name="Text 117"/>
          <p:cNvSpPr/>
          <p:nvPr/>
        </p:nvSpPr>
        <p:spPr>
          <a:xfrm>
            <a:off x="1308757" y="9861947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factorialHelper(n - 1, n * acc);</a:t>
            </a:r>
            <a:endParaRPr lang="en-US" sz="788" dirty="0"/>
          </a:p>
        </p:txBody>
      </p:sp>
      <p:sp>
        <p:nvSpPr>
          <p:cNvPr id="123" name="Text 118"/>
          <p:cNvSpPr/>
          <p:nvPr/>
        </p:nvSpPr>
        <p:spPr>
          <a:xfrm>
            <a:off x="828675" y="100048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24" name="Text 119"/>
          <p:cNvSpPr/>
          <p:nvPr/>
        </p:nvSpPr>
        <p:spPr>
          <a:xfrm>
            <a:off x="4686300" y="6886575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in Java</a:t>
            </a:r>
            <a:endParaRPr lang="en-US" sz="1125" dirty="0"/>
          </a:p>
        </p:txBody>
      </p:sp>
      <p:sp>
        <p:nvSpPr>
          <p:cNvPr id="125" name="Text 120"/>
          <p:cNvSpPr/>
          <p:nvPr/>
        </p:nvSpPr>
        <p:spPr>
          <a:xfrm>
            <a:off x="4686300" y="7172325"/>
            <a:ext cx="39004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without compiler optimization, tail recursion in Java offers benefits:</a:t>
            </a:r>
            <a:endParaRPr lang="en-US" sz="900" dirty="0"/>
          </a:p>
        </p:txBody>
      </p:sp>
      <p:pic>
        <p:nvPicPr>
          <p:cNvPr id="1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7458075"/>
            <a:ext cx="114300" cy="114300"/>
          </a:xfrm>
          <a:prstGeom prst="rect">
            <a:avLst/>
          </a:prstGeom>
        </p:spPr>
      </p:pic>
      <p:sp>
        <p:nvSpPr>
          <p:cNvPr id="127" name="Text 121"/>
          <p:cNvSpPr/>
          <p:nvPr/>
        </p:nvSpPr>
        <p:spPr>
          <a:xfrm>
            <a:off x="4857750" y="7429500"/>
            <a:ext cx="21870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readable code for certain algorithms</a:t>
            </a:r>
            <a:endParaRPr lang="en-US" sz="900" dirty="0"/>
          </a:p>
        </p:txBody>
      </p:sp>
      <p:pic>
        <p:nvPicPr>
          <p:cNvPr id="1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7715250"/>
            <a:ext cx="114300" cy="114300"/>
          </a:xfrm>
          <a:prstGeom prst="rect">
            <a:avLst/>
          </a:prstGeom>
        </p:spPr>
      </p:pic>
      <p:sp>
        <p:nvSpPr>
          <p:cNvPr id="129" name="Text 122"/>
          <p:cNvSpPr/>
          <p:nvPr/>
        </p:nvSpPr>
        <p:spPr>
          <a:xfrm>
            <a:off x="4857750" y="7686675"/>
            <a:ext cx="2485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to manually convert to iteration if needed</a:t>
            </a:r>
            <a:endParaRPr lang="en-US" sz="900" dirty="0"/>
          </a:p>
        </p:txBody>
      </p:sp>
      <p:pic>
        <p:nvPicPr>
          <p:cNvPr id="1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7972425"/>
            <a:ext cx="114300" cy="114300"/>
          </a:xfrm>
          <a:prstGeom prst="rect">
            <a:avLst/>
          </a:prstGeom>
        </p:spPr>
      </p:pic>
      <p:sp>
        <p:nvSpPr>
          <p:cNvPr id="131" name="Text 123"/>
          <p:cNvSpPr/>
          <p:nvPr/>
        </p:nvSpPr>
        <p:spPr>
          <a:xfrm>
            <a:off x="4857750" y="7943850"/>
            <a:ext cx="26635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practice for functional programming concepts</a:t>
            </a:r>
            <a:endParaRPr lang="en-US" sz="900" dirty="0"/>
          </a:p>
        </p:txBody>
      </p:sp>
      <p:sp>
        <p:nvSpPr>
          <p:cNvPr id="132" name="Shape 124"/>
          <p:cNvSpPr/>
          <p:nvPr/>
        </p:nvSpPr>
        <p:spPr>
          <a:xfrm>
            <a:off x="4686300" y="8229600"/>
            <a:ext cx="3829050" cy="220027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8372475"/>
            <a:ext cx="107156" cy="142875"/>
          </a:xfrm>
          <a:prstGeom prst="rect">
            <a:avLst/>
          </a:prstGeom>
        </p:spPr>
      </p:pic>
      <p:sp>
        <p:nvSpPr>
          <p:cNvPr id="134" name="Text 125"/>
          <p:cNvSpPr/>
          <p:nvPr/>
        </p:nvSpPr>
        <p:spPr>
          <a:xfrm>
            <a:off x="4964906" y="8343900"/>
            <a:ext cx="1328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Optimization</a:t>
            </a:r>
            <a:endParaRPr lang="en-US" sz="1013" dirty="0"/>
          </a:p>
        </p:txBody>
      </p:sp>
      <p:sp>
        <p:nvSpPr>
          <p:cNvPr id="135" name="Text 126"/>
          <p:cNvSpPr/>
          <p:nvPr/>
        </p:nvSpPr>
        <p:spPr>
          <a:xfrm>
            <a:off x="4800600" y="8601075"/>
            <a:ext cx="36718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performance-critical code in Java, manually convert tail-recursive functions to iterative versions:</a:t>
            </a:r>
            <a:endParaRPr lang="en-US" sz="788" dirty="0"/>
          </a:p>
        </p:txBody>
      </p:sp>
      <p:sp>
        <p:nvSpPr>
          <p:cNvPr id="136" name="Shape 127"/>
          <p:cNvSpPr/>
          <p:nvPr/>
        </p:nvSpPr>
        <p:spPr>
          <a:xfrm>
            <a:off x="4800600" y="8943975"/>
            <a:ext cx="3600450" cy="13716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28"/>
          <p:cNvSpPr/>
          <p:nvPr/>
        </p:nvSpPr>
        <p:spPr>
          <a:xfrm>
            <a:off x="4914900" y="9061847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</a:t>
            </a:r>
            <a:endParaRPr lang="en-US" sz="788" dirty="0"/>
          </a:p>
        </p:txBody>
      </p:sp>
      <p:sp>
        <p:nvSpPr>
          <p:cNvPr id="138" name="Text 129"/>
          <p:cNvSpPr/>
          <p:nvPr/>
        </p:nvSpPr>
        <p:spPr>
          <a:xfrm>
            <a:off x="5935033" y="90618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139" name="Text 130"/>
          <p:cNvSpPr/>
          <p:nvPr/>
        </p:nvSpPr>
        <p:spPr>
          <a:xfrm>
            <a:off x="6595132" y="90618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40" name="Text 131"/>
          <p:cNvSpPr/>
          <p:nvPr/>
        </p:nvSpPr>
        <p:spPr>
          <a:xfrm>
            <a:off x="6775177" y="906184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141" name="Text 132"/>
          <p:cNvSpPr/>
          <p:nvPr/>
        </p:nvSpPr>
        <p:spPr>
          <a:xfrm>
            <a:off x="5034921" y="92047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42" name="Text 133"/>
          <p:cNvSpPr/>
          <p:nvPr/>
        </p:nvSpPr>
        <p:spPr>
          <a:xfrm>
            <a:off x="5214965" y="9204722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1;</a:t>
            </a:r>
            <a:endParaRPr lang="en-US" sz="788" dirty="0"/>
          </a:p>
        </p:txBody>
      </p:sp>
      <p:sp>
        <p:nvSpPr>
          <p:cNvPr id="143" name="Text 134"/>
          <p:cNvSpPr/>
          <p:nvPr/>
        </p:nvSpPr>
        <p:spPr>
          <a:xfrm>
            <a:off x="5034921" y="934759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788" dirty="0"/>
          </a:p>
        </p:txBody>
      </p:sp>
      <p:sp>
        <p:nvSpPr>
          <p:cNvPr id="144" name="Text 135"/>
          <p:cNvSpPr/>
          <p:nvPr/>
        </p:nvSpPr>
        <p:spPr>
          <a:xfrm>
            <a:off x="5334958" y="934759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&gt; 1) {</a:t>
            </a:r>
            <a:endParaRPr lang="en-US" sz="788" dirty="0"/>
          </a:p>
        </p:txBody>
      </p:sp>
      <p:sp>
        <p:nvSpPr>
          <p:cNvPr id="145" name="Text 136"/>
          <p:cNvSpPr/>
          <p:nvPr/>
        </p:nvSpPr>
        <p:spPr>
          <a:xfrm>
            <a:off x="4914900" y="9490472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*= n;</a:t>
            </a:r>
            <a:endParaRPr lang="en-US" sz="788" dirty="0"/>
          </a:p>
        </p:txBody>
      </p:sp>
      <p:sp>
        <p:nvSpPr>
          <p:cNvPr id="146" name="Text 137"/>
          <p:cNvSpPr/>
          <p:nvPr/>
        </p:nvSpPr>
        <p:spPr>
          <a:xfrm>
            <a:off x="4914900" y="963334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n--;</a:t>
            </a:r>
            <a:endParaRPr lang="en-US" sz="788" dirty="0"/>
          </a:p>
        </p:txBody>
      </p:sp>
      <p:sp>
        <p:nvSpPr>
          <p:cNvPr id="147" name="Text 138"/>
          <p:cNvSpPr/>
          <p:nvPr/>
        </p:nvSpPr>
        <p:spPr>
          <a:xfrm>
            <a:off x="4914900" y="97762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8" name="Text 139"/>
          <p:cNvSpPr/>
          <p:nvPr/>
        </p:nvSpPr>
        <p:spPr>
          <a:xfrm>
            <a:off x="5034921" y="99190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9" name="Text 140"/>
          <p:cNvSpPr/>
          <p:nvPr/>
        </p:nvSpPr>
        <p:spPr>
          <a:xfrm>
            <a:off x="5394982" y="99190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788" dirty="0"/>
          </a:p>
        </p:txBody>
      </p:sp>
      <p:sp>
        <p:nvSpPr>
          <p:cNvPr id="150" name="Text 141"/>
          <p:cNvSpPr/>
          <p:nvPr/>
        </p:nvSpPr>
        <p:spPr>
          <a:xfrm>
            <a:off x="4914900" y="100619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51" name="Shape 142"/>
          <p:cNvSpPr/>
          <p:nvPr/>
        </p:nvSpPr>
        <p:spPr>
          <a:xfrm>
            <a:off x="628650" y="10601325"/>
            <a:ext cx="7886700" cy="571500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10801350"/>
            <a:ext cx="171450" cy="171450"/>
          </a:xfrm>
          <a:prstGeom prst="rect">
            <a:avLst/>
          </a:prstGeom>
        </p:spPr>
      </p:pic>
      <p:sp>
        <p:nvSpPr>
          <p:cNvPr id="153" name="Text 143"/>
          <p:cNvSpPr/>
          <p:nvPr/>
        </p:nvSpPr>
        <p:spPr>
          <a:xfrm>
            <a:off x="1028700" y="10715625"/>
            <a:ext cx="7443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Java doesn't optimize tail recursion automatically, writing tail-recursive code is still valuable for clarity and as a stepping stone to iterative implementations when needed for performance.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3732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2586930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Example: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972693" y="455414"/>
            <a:ext cx="267346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Tree Traversal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68151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Tree Structure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27432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binary tree is a hierarchical data structure where each node has at most two children, referred to as left and right child nodes.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742950" y="2314575"/>
            <a:ext cx="3429000" cy="18002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7250" y="243244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1157288" y="24324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{</a:t>
            </a:r>
            <a:endParaRPr lang="en-US" sz="788" dirty="0"/>
          </a:p>
        </p:txBody>
      </p:sp>
      <p:sp>
        <p:nvSpPr>
          <p:cNvPr id="12" name="Text 9"/>
          <p:cNvSpPr/>
          <p:nvPr/>
        </p:nvSpPr>
        <p:spPr>
          <a:xfrm>
            <a:off x="977271" y="25753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" name="Text 10"/>
          <p:cNvSpPr/>
          <p:nvPr/>
        </p:nvSpPr>
        <p:spPr>
          <a:xfrm>
            <a:off x="1157315" y="2575322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value;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857250" y="2718197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left;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857250" y="286107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right;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977271" y="31468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1337332" y="31468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1937407" y="3146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2117452" y="31468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value) {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1097291" y="328969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1337332" y="3289697"/>
            <a:ext cx="971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 = value;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1097291" y="343257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1337332" y="343257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.left =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1817415" y="343257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2057456" y="34325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26" name="Text 23"/>
          <p:cNvSpPr/>
          <p:nvPr/>
        </p:nvSpPr>
        <p:spPr>
          <a:xfrm>
            <a:off x="1097291" y="35754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1337332" y="357544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.right =</a:t>
            </a:r>
            <a:endParaRPr lang="en-US" sz="788" dirty="0"/>
          </a:p>
        </p:txBody>
      </p:sp>
      <p:sp>
        <p:nvSpPr>
          <p:cNvPr id="28" name="Text 25"/>
          <p:cNvSpPr/>
          <p:nvPr/>
        </p:nvSpPr>
        <p:spPr>
          <a:xfrm>
            <a:off x="1877411" y="35754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29" name="Text 26"/>
          <p:cNvSpPr/>
          <p:nvPr/>
        </p:nvSpPr>
        <p:spPr>
          <a:xfrm>
            <a:off x="2117452" y="35754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30" name="Text 27"/>
          <p:cNvSpPr/>
          <p:nvPr/>
        </p:nvSpPr>
        <p:spPr>
          <a:xfrm>
            <a:off x="857250" y="37183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1" name="Text 28"/>
          <p:cNvSpPr/>
          <p:nvPr/>
        </p:nvSpPr>
        <p:spPr>
          <a:xfrm>
            <a:off x="857250" y="386119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628650" y="440055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Binary Tree: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2243138" y="46863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425666" y="48148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1707356" y="51435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889885" y="52720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778919" y="51435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961447" y="52720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1171575" y="56007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354103" y="57292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1171575" y="56007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354103" y="57292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1171575" y="56007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354103" y="57292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171575" y="5600700"/>
            <a:ext cx="428625" cy="428625"/>
          </a:xfrm>
          <a:prstGeom prst="ellipse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354103" y="5729288"/>
            <a:ext cx="1350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5888" y="4686300"/>
            <a:ext cx="2143125" cy="1571625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628650" y="63722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tree would be constructed as:</a:t>
            </a:r>
            <a:endParaRPr lang="en-US" sz="788" dirty="0"/>
          </a:p>
        </p:txBody>
      </p:sp>
      <p:sp>
        <p:nvSpPr>
          <p:cNvPr id="49" name="Shape 45"/>
          <p:cNvSpPr/>
          <p:nvPr/>
        </p:nvSpPr>
        <p:spPr>
          <a:xfrm>
            <a:off x="628650" y="6572250"/>
            <a:ext cx="3657600" cy="10287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742950" y="6684764"/>
            <a:ext cx="894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root =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1565932" y="66847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52" name="Text 48"/>
          <p:cNvSpPr/>
          <p:nvPr/>
        </p:nvSpPr>
        <p:spPr>
          <a:xfrm>
            <a:off x="1720248" y="66847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TreeNode(1);</a:t>
            </a:r>
            <a:endParaRPr lang="en-US" sz="675" dirty="0"/>
          </a:p>
        </p:txBody>
      </p:sp>
      <p:sp>
        <p:nvSpPr>
          <p:cNvPr id="53" name="Text 49"/>
          <p:cNvSpPr/>
          <p:nvPr/>
        </p:nvSpPr>
        <p:spPr>
          <a:xfrm>
            <a:off x="742950" y="6799064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root.left =</a:t>
            </a:r>
            <a:endParaRPr lang="en-US" sz="675" dirty="0"/>
          </a:p>
        </p:txBody>
      </p:sp>
      <p:sp>
        <p:nvSpPr>
          <p:cNvPr id="54" name="Text 50"/>
          <p:cNvSpPr/>
          <p:nvPr/>
        </p:nvSpPr>
        <p:spPr>
          <a:xfrm>
            <a:off x="1360187" y="67990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55" name="Text 51"/>
          <p:cNvSpPr/>
          <p:nvPr/>
        </p:nvSpPr>
        <p:spPr>
          <a:xfrm>
            <a:off x="1514503" y="67990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TreeNode(2);</a:t>
            </a:r>
            <a:endParaRPr lang="en-US" sz="675" dirty="0"/>
          </a:p>
        </p:txBody>
      </p:sp>
      <p:sp>
        <p:nvSpPr>
          <p:cNvPr id="56" name="Text 52"/>
          <p:cNvSpPr/>
          <p:nvPr/>
        </p:nvSpPr>
        <p:spPr>
          <a:xfrm>
            <a:off x="742950" y="69133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root.right =</a:t>
            </a:r>
            <a:endParaRPr lang="en-US" sz="675" dirty="0"/>
          </a:p>
        </p:txBody>
      </p:sp>
      <p:sp>
        <p:nvSpPr>
          <p:cNvPr id="57" name="Text 53"/>
          <p:cNvSpPr/>
          <p:nvPr/>
        </p:nvSpPr>
        <p:spPr>
          <a:xfrm>
            <a:off x="1411616" y="69133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58" name="Text 54"/>
          <p:cNvSpPr/>
          <p:nvPr/>
        </p:nvSpPr>
        <p:spPr>
          <a:xfrm>
            <a:off x="1565932" y="69133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TreeNode(3);</a:t>
            </a:r>
            <a:endParaRPr lang="en-US" sz="675" dirty="0"/>
          </a:p>
        </p:txBody>
      </p:sp>
      <p:sp>
        <p:nvSpPr>
          <p:cNvPr id="59" name="Text 55"/>
          <p:cNvSpPr/>
          <p:nvPr/>
        </p:nvSpPr>
        <p:spPr>
          <a:xfrm>
            <a:off x="742950" y="7027664"/>
            <a:ext cx="9458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root.left.left =</a:t>
            </a:r>
            <a:endParaRPr lang="en-US" sz="675" dirty="0"/>
          </a:p>
        </p:txBody>
      </p:sp>
      <p:sp>
        <p:nvSpPr>
          <p:cNvPr id="60" name="Text 56"/>
          <p:cNvSpPr/>
          <p:nvPr/>
        </p:nvSpPr>
        <p:spPr>
          <a:xfrm>
            <a:off x="1617362" y="70276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61" name="Text 57"/>
          <p:cNvSpPr/>
          <p:nvPr/>
        </p:nvSpPr>
        <p:spPr>
          <a:xfrm>
            <a:off x="1771678" y="70276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TreeNode(4);</a:t>
            </a:r>
            <a:endParaRPr lang="en-US" sz="675" dirty="0"/>
          </a:p>
        </p:txBody>
      </p:sp>
      <p:sp>
        <p:nvSpPr>
          <p:cNvPr id="62" name="Text 58"/>
          <p:cNvSpPr/>
          <p:nvPr/>
        </p:nvSpPr>
        <p:spPr>
          <a:xfrm>
            <a:off x="742950" y="7141964"/>
            <a:ext cx="997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root.left.right =</a:t>
            </a:r>
            <a:endParaRPr lang="en-US" sz="675" dirty="0"/>
          </a:p>
        </p:txBody>
      </p:sp>
      <p:sp>
        <p:nvSpPr>
          <p:cNvPr id="63" name="Text 59"/>
          <p:cNvSpPr/>
          <p:nvPr/>
        </p:nvSpPr>
        <p:spPr>
          <a:xfrm>
            <a:off x="1668791" y="71419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64" name="Text 60"/>
          <p:cNvSpPr/>
          <p:nvPr/>
        </p:nvSpPr>
        <p:spPr>
          <a:xfrm>
            <a:off x="1823107" y="71419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TreeNode(5);</a:t>
            </a:r>
            <a:endParaRPr lang="en-US" sz="675" dirty="0"/>
          </a:p>
        </p:txBody>
      </p:sp>
      <p:sp>
        <p:nvSpPr>
          <p:cNvPr id="65" name="Text 61"/>
          <p:cNvSpPr/>
          <p:nvPr/>
        </p:nvSpPr>
        <p:spPr>
          <a:xfrm>
            <a:off x="742950" y="7256264"/>
            <a:ext cx="997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root.right.left =</a:t>
            </a:r>
            <a:endParaRPr lang="en-US" sz="675" dirty="0"/>
          </a:p>
        </p:txBody>
      </p:sp>
      <p:sp>
        <p:nvSpPr>
          <p:cNvPr id="66" name="Text 62"/>
          <p:cNvSpPr/>
          <p:nvPr/>
        </p:nvSpPr>
        <p:spPr>
          <a:xfrm>
            <a:off x="1668791" y="72562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67" name="Text 63"/>
          <p:cNvSpPr/>
          <p:nvPr/>
        </p:nvSpPr>
        <p:spPr>
          <a:xfrm>
            <a:off x="1823107" y="72562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TreeNode(6);</a:t>
            </a:r>
            <a:endParaRPr lang="en-US" sz="675" dirty="0"/>
          </a:p>
        </p:txBody>
      </p:sp>
      <p:sp>
        <p:nvSpPr>
          <p:cNvPr id="68" name="Text 64"/>
          <p:cNvSpPr/>
          <p:nvPr/>
        </p:nvSpPr>
        <p:spPr>
          <a:xfrm>
            <a:off x="742950" y="7370564"/>
            <a:ext cx="10487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root.right.right =</a:t>
            </a:r>
            <a:endParaRPr lang="en-US" sz="675" dirty="0"/>
          </a:p>
        </p:txBody>
      </p:sp>
      <p:sp>
        <p:nvSpPr>
          <p:cNvPr id="69" name="Text 65"/>
          <p:cNvSpPr/>
          <p:nvPr/>
        </p:nvSpPr>
        <p:spPr>
          <a:xfrm>
            <a:off x="1720221" y="7370564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70" name="Text 66"/>
          <p:cNvSpPr/>
          <p:nvPr/>
        </p:nvSpPr>
        <p:spPr>
          <a:xfrm>
            <a:off x="1874537" y="7370564"/>
            <a:ext cx="74010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TreeNode(7);</a:t>
            </a:r>
            <a:endParaRPr lang="en-US" sz="675" dirty="0"/>
          </a:p>
        </p:txBody>
      </p:sp>
      <p:sp>
        <p:nvSpPr>
          <p:cNvPr id="71" name="Shape 67"/>
          <p:cNvSpPr/>
          <p:nvPr/>
        </p:nvSpPr>
        <p:spPr>
          <a:xfrm>
            <a:off x="4686300" y="971550"/>
            <a:ext cx="4000500" cy="6800850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Traversal Methods</a:t>
            </a:r>
            <a:endParaRPr lang="en-US" sz="1350" dirty="0"/>
          </a:p>
        </p:txBody>
      </p:sp>
      <p:sp>
        <p:nvSpPr>
          <p:cNvPr id="73" name="Shape 69"/>
          <p:cNvSpPr/>
          <p:nvPr/>
        </p:nvSpPr>
        <p:spPr>
          <a:xfrm>
            <a:off x="4857750" y="1485900"/>
            <a:ext cx="3657600" cy="8286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0"/>
          <p:cNvSpPr/>
          <p:nvPr/>
        </p:nvSpPr>
        <p:spPr>
          <a:xfrm>
            <a:off x="49720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traversal is the process of visiting each node in a tree exactly once. There are three common depth-first traversal methods:</a:t>
            </a:r>
            <a:endParaRPr lang="en-US" sz="1013" dirty="0"/>
          </a:p>
        </p:txBody>
      </p:sp>
      <p:sp>
        <p:nvSpPr>
          <p:cNvPr id="75" name="Shape 71"/>
          <p:cNvSpPr/>
          <p:nvPr/>
        </p:nvSpPr>
        <p:spPr>
          <a:xfrm>
            <a:off x="4857750" y="2486025"/>
            <a:ext cx="1143000" cy="10001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4943475" y="2571750"/>
            <a:ext cx="10429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In-Order</a:t>
            </a:r>
            <a:endParaRPr lang="en-US" sz="1013" dirty="0"/>
          </a:p>
        </p:txBody>
      </p:sp>
      <p:sp>
        <p:nvSpPr>
          <p:cNvPr id="77" name="Text 73"/>
          <p:cNvSpPr/>
          <p:nvPr/>
        </p:nvSpPr>
        <p:spPr>
          <a:xfrm>
            <a:off x="4943475" y="2828925"/>
            <a:ext cx="10429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→ Root → Right</a:t>
            </a:r>
            <a:endParaRPr lang="en-US" sz="788" dirty="0"/>
          </a:p>
        </p:txBody>
      </p:sp>
      <p:sp>
        <p:nvSpPr>
          <p:cNvPr id="78" name="Text 74"/>
          <p:cNvSpPr/>
          <p:nvPr/>
        </p:nvSpPr>
        <p:spPr>
          <a:xfrm>
            <a:off x="4943475" y="3028950"/>
            <a:ext cx="10429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our sample tree:</a:t>
            </a:r>
            <a:endParaRPr lang="en-US" sz="675" dirty="0"/>
          </a:p>
        </p:txBody>
      </p:sp>
      <p:sp>
        <p:nvSpPr>
          <p:cNvPr id="79" name="Text 75"/>
          <p:cNvSpPr/>
          <p:nvPr/>
        </p:nvSpPr>
        <p:spPr>
          <a:xfrm>
            <a:off x="4943475" y="3171825"/>
            <a:ext cx="1042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4, 2, 5, 1, 6, 3, 7</a:t>
            </a:r>
            <a:endParaRPr lang="en-US" sz="675" dirty="0"/>
          </a:p>
        </p:txBody>
      </p:sp>
      <p:sp>
        <p:nvSpPr>
          <p:cNvPr id="80" name="Shape 76"/>
          <p:cNvSpPr/>
          <p:nvPr/>
        </p:nvSpPr>
        <p:spPr>
          <a:xfrm>
            <a:off x="6115050" y="2486025"/>
            <a:ext cx="1143000" cy="10001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/>
          <p:nvPr/>
        </p:nvSpPr>
        <p:spPr>
          <a:xfrm>
            <a:off x="6200775" y="2571750"/>
            <a:ext cx="10429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Pre-Order</a:t>
            </a:r>
            <a:endParaRPr lang="en-US" sz="1013" dirty="0"/>
          </a:p>
        </p:txBody>
      </p:sp>
      <p:sp>
        <p:nvSpPr>
          <p:cNvPr id="82" name="Text 78"/>
          <p:cNvSpPr/>
          <p:nvPr/>
        </p:nvSpPr>
        <p:spPr>
          <a:xfrm>
            <a:off x="6200775" y="2828925"/>
            <a:ext cx="10429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→ Left → Right</a:t>
            </a:r>
            <a:endParaRPr lang="en-US" sz="788" dirty="0"/>
          </a:p>
        </p:txBody>
      </p:sp>
      <p:sp>
        <p:nvSpPr>
          <p:cNvPr id="83" name="Text 79"/>
          <p:cNvSpPr/>
          <p:nvPr/>
        </p:nvSpPr>
        <p:spPr>
          <a:xfrm>
            <a:off x="6200775" y="3028950"/>
            <a:ext cx="10429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our sample tree:</a:t>
            </a:r>
            <a:endParaRPr lang="en-US" sz="675" dirty="0"/>
          </a:p>
        </p:txBody>
      </p:sp>
      <p:sp>
        <p:nvSpPr>
          <p:cNvPr id="84" name="Text 80"/>
          <p:cNvSpPr/>
          <p:nvPr/>
        </p:nvSpPr>
        <p:spPr>
          <a:xfrm>
            <a:off x="6200775" y="3171825"/>
            <a:ext cx="1042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1, 2, 4, 5, 3, 6, 7</a:t>
            </a:r>
            <a:endParaRPr lang="en-US" sz="675" dirty="0"/>
          </a:p>
        </p:txBody>
      </p:sp>
      <p:sp>
        <p:nvSpPr>
          <p:cNvPr id="85" name="Shape 81"/>
          <p:cNvSpPr/>
          <p:nvPr/>
        </p:nvSpPr>
        <p:spPr>
          <a:xfrm>
            <a:off x="7372350" y="2486025"/>
            <a:ext cx="1143000" cy="10001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7458075" y="2571750"/>
            <a:ext cx="104298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Post-Order</a:t>
            </a:r>
            <a:endParaRPr lang="en-US" sz="1013" dirty="0"/>
          </a:p>
        </p:txBody>
      </p:sp>
      <p:sp>
        <p:nvSpPr>
          <p:cNvPr id="87" name="Text 83"/>
          <p:cNvSpPr/>
          <p:nvPr/>
        </p:nvSpPr>
        <p:spPr>
          <a:xfrm>
            <a:off x="7458075" y="2828925"/>
            <a:ext cx="10429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 → Right → Root</a:t>
            </a:r>
            <a:endParaRPr lang="en-US" sz="788" dirty="0"/>
          </a:p>
        </p:txBody>
      </p:sp>
      <p:sp>
        <p:nvSpPr>
          <p:cNvPr id="88" name="Text 84"/>
          <p:cNvSpPr/>
          <p:nvPr/>
        </p:nvSpPr>
        <p:spPr>
          <a:xfrm>
            <a:off x="7458075" y="3028950"/>
            <a:ext cx="104298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our sample tree:</a:t>
            </a:r>
            <a:endParaRPr lang="en-US" sz="675" dirty="0"/>
          </a:p>
        </p:txBody>
      </p:sp>
      <p:sp>
        <p:nvSpPr>
          <p:cNvPr id="89" name="Text 85"/>
          <p:cNvSpPr/>
          <p:nvPr/>
        </p:nvSpPr>
        <p:spPr>
          <a:xfrm>
            <a:off x="7458075" y="3171825"/>
            <a:ext cx="104298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4, 5, 2, 6, 7, 3, 1</a:t>
            </a:r>
            <a:endParaRPr lang="en-US" sz="675" dirty="0"/>
          </a:p>
        </p:txBody>
      </p:sp>
      <p:sp>
        <p:nvSpPr>
          <p:cNvPr id="90" name="Text 86"/>
          <p:cNvSpPr/>
          <p:nvPr/>
        </p:nvSpPr>
        <p:spPr>
          <a:xfrm>
            <a:off x="4857750" y="3657600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Recursion is Perfect for Tree Traversal:</a:t>
            </a:r>
            <a:endParaRPr lang="en-US" sz="1125" dirty="0"/>
          </a:p>
        </p:txBody>
      </p:sp>
      <p:pic>
        <p:nvPicPr>
          <p:cNvPr id="9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971925"/>
            <a:ext cx="114300" cy="114300"/>
          </a:xfrm>
          <a:prstGeom prst="rect">
            <a:avLst/>
          </a:prstGeom>
        </p:spPr>
      </p:pic>
      <p:sp>
        <p:nvSpPr>
          <p:cNvPr id="92" name="Text 87"/>
          <p:cNvSpPr/>
          <p:nvPr/>
        </p:nvSpPr>
        <p:spPr>
          <a:xfrm>
            <a:off x="5029200" y="3943350"/>
            <a:ext cx="20490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Trees are naturally recursive structures</a:t>
            </a:r>
            <a:endParaRPr lang="en-US" sz="900" dirty="0"/>
          </a:p>
        </p:txBody>
      </p:sp>
      <p:pic>
        <p:nvPicPr>
          <p:cNvPr id="9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200525"/>
            <a:ext cx="114300" cy="114300"/>
          </a:xfrm>
          <a:prstGeom prst="rect">
            <a:avLst/>
          </a:prstGeom>
        </p:spPr>
      </p:pic>
      <p:sp>
        <p:nvSpPr>
          <p:cNvPr id="94" name="Text 88"/>
          <p:cNvSpPr/>
          <p:nvPr/>
        </p:nvSpPr>
        <p:spPr>
          <a:xfrm>
            <a:off x="5029200" y="4171950"/>
            <a:ext cx="14500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subtree is itself a tree</a:t>
            </a:r>
            <a:endParaRPr lang="en-US" sz="900" dirty="0"/>
          </a:p>
        </p:txBody>
      </p:sp>
      <p:pic>
        <p:nvPicPr>
          <p:cNvPr id="9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429125"/>
            <a:ext cx="114300" cy="114300"/>
          </a:xfrm>
          <a:prstGeom prst="rect">
            <a:avLst/>
          </a:prstGeom>
        </p:spPr>
      </p:pic>
      <p:sp>
        <p:nvSpPr>
          <p:cNvPr id="96" name="Text 89"/>
          <p:cNvSpPr/>
          <p:nvPr/>
        </p:nvSpPr>
        <p:spPr>
          <a:xfrm>
            <a:off x="5029200" y="4400550"/>
            <a:ext cx="2307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solutions are elegant and concise</a:t>
            </a:r>
            <a:endParaRPr lang="en-US" sz="900" dirty="0"/>
          </a:p>
        </p:txBody>
      </p:sp>
      <p:pic>
        <p:nvPicPr>
          <p:cNvPr id="9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657725"/>
            <a:ext cx="114300" cy="114300"/>
          </a:xfrm>
          <a:prstGeom prst="rect">
            <a:avLst/>
          </a:prstGeom>
        </p:spPr>
      </p:pic>
      <p:sp>
        <p:nvSpPr>
          <p:cNvPr id="98" name="Text 90"/>
          <p:cNvSpPr/>
          <p:nvPr/>
        </p:nvSpPr>
        <p:spPr>
          <a:xfrm>
            <a:off x="5029200" y="4629150"/>
            <a:ext cx="15517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case: empty (null) node</a:t>
            </a:r>
            <a:endParaRPr lang="en-US" sz="900" dirty="0"/>
          </a:p>
        </p:txBody>
      </p:sp>
      <p:pic>
        <p:nvPicPr>
          <p:cNvPr id="9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4886325"/>
            <a:ext cx="114300" cy="114300"/>
          </a:xfrm>
          <a:prstGeom prst="rect">
            <a:avLst/>
          </a:prstGeom>
        </p:spPr>
      </p:pic>
      <p:sp>
        <p:nvSpPr>
          <p:cNvPr id="100" name="Text 91"/>
          <p:cNvSpPr/>
          <p:nvPr/>
        </p:nvSpPr>
        <p:spPr>
          <a:xfrm>
            <a:off x="5029200" y="4857750"/>
            <a:ext cx="27905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case: process current node and its children</a:t>
            </a:r>
            <a:endParaRPr lang="en-US" sz="900" dirty="0"/>
          </a:p>
        </p:txBody>
      </p:sp>
      <p:sp>
        <p:nvSpPr>
          <p:cNvPr id="101" name="Shape 92"/>
          <p:cNvSpPr/>
          <p:nvPr/>
        </p:nvSpPr>
        <p:spPr>
          <a:xfrm>
            <a:off x="457200" y="8001000"/>
            <a:ext cx="8229600" cy="59007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93"/>
          <p:cNvSpPr/>
          <p:nvPr/>
        </p:nvSpPr>
        <p:spPr>
          <a:xfrm>
            <a:off x="628650" y="81724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Implementations</a:t>
            </a:r>
            <a:endParaRPr lang="en-US" sz="1350" dirty="0"/>
          </a:p>
        </p:txBody>
      </p:sp>
      <p:sp>
        <p:nvSpPr>
          <p:cNvPr id="103" name="Text 94"/>
          <p:cNvSpPr/>
          <p:nvPr/>
        </p:nvSpPr>
        <p:spPr>
          <a:xfrm>
            <a:off x="628650" y="8515350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In-Order Traversal</a:t>
            </a:r>
            <a:endParaRPr lang="en-US" sz="1125" dirty="0"/>
          </a:p>
        </p:txBody>
      </p:sp>
      <p:sp>
        <p:nvSpPr>
          <p:cNvPr id="104" name="Shape 95"/>
          <p:cNvSpPr/>
          <p:nvPr/>
        </p:nvSpPr>
        <p:spPr>
          <a:xfrm>
            <a:off x="628650" y="8801100"/>
            <a:ext cx="2514600" cy="18002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6"/>
          <p:cNvSpPr/>
          <p:nvPr/>
        </p:nvSpPr>
        <p:spPr>
          <a:xfrm>
            <a:off x="742950" y="891897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788" dirty="0"/>
          </a:p>
        </p:txBody>
      </p:sp>
      <p:sp>
        <p:nvSpPr>
          <p:cNvPr id="106" name="Text 97"/>
          <p:cNvSpPr/>
          <p:nvPr/>
        </p:nvSpPr>
        <p:spPr>
          <a:xfrm>
            <a:off x="982991" y="8918972"/>
            <a:ext cx="2111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inOrderTraversal(TreeNode node) {</a:t>
            </a:r>
            <a:endParaRPr lang="en-US" sz="788" dirty="0"/>
          </a:p>
        </p:txBody>
      </p:sp>
      <p:sp>
        <p:nvSpPr>
          <p:cNvPr id="107" name="Text 98"/>
          <p:cNvSpPr/>
          <p:nvPr/>
        </p:nvSpPr>
        <p:spPr>
          <a:xfrm>
            <a:off x="862971" y="906184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08" name="Text 99"/>
          <p:cNvSpPr/>
          <p:nvPr/>
        </p:nvSpPr>
        <p:spPr>
          <a:xfrm>
            <a:off x="982991" y="906184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(node ==</a:t>
            </a:r>
            <a:endParaRPr lang="en-US" sz="788" dirty="0"/>
          </a:p>
        </p:txBody>
      </p:sp>
      <p:sp>
        <p:nvSpPr>
          <p:cNvPr id="109" name="Text 100"/>
          <p:cNvSpPr/>
          <p:nvPr/>
        </p:nvSpPr>
        <p:spPr>
          <a:xfrm>
            <a:off x="1583066" y="90618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110" name="Text 101"/>
          <p:cNvSpPr/>
          <p:nvPr/>
        </p:nvSpPr>
        <p:spPr>
          <a:xfrm>
            <a:off x="1823107" y="90618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111" name="Text 102"/>
          <p:cNvSpPr/>
          <p:nvPr/>
        </p:nvSpPr>
        <p:spPr>
          <a:xfrm>
            <a:off x="982991" y="92047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12" name="Text 103"/>
          <p:cNvSpPr/>
          <p:nvPr/>
        </p:nvSpPr>
        <p:spPr>
          <a:xfrm>
            <a:off x="1343053" y="92047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113" name="Text 104"/>
          <p:cNvSpPr/>
          <p:nvPr/>
        </p:nvSpPr>
        <p:spPr>
          <a:xfrm>
            <a:off x="1463073" y="9204722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</a:t>
            </a:r>
            <a:endParaRPr lang="en-US" sz="788" dirty="0"/>
          </a:p>
        </p:txBody>
      </p:sp>
      <p:sp>
        <p:nvSpPr>
          <p:cNvPr id="114" name="Text 105"/>
          <p:cNvSpPr/>
          <p:nvPr/>
        </p:nvSpPr>
        <p:spPr>
          <a:xfrm>
            <a:off x="862971" y="9490472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cases</a:t>
            </a:r>
            <a:endParaRPr lang="en-US" sz="788" dirty="0"/>
          </a:p>
        </p:txBody>
      </p:sp>
      <p:sp>
        <p:nvSpPr>
          <p:cNvPr id="115" name="Text 106"/>
          <p:cNvSpPr/>
          <p:nvPr/>
        </p:nvSpPr>
        <p:spPr>
          <a:xfrm>
            <a:off x="742950" y="9633347"/>
            <a:ext cx="193168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inOrderTraversal(node.left);</a:t>
            </a:r>
            <a:endParaRPr lang="en-US" sz="788" dirty="0"/>
          </a:p>
        </p:txBody>
      </p:sp>
      <p:sp>
        <p:nvSpPr>
          <p:cNvPr id="116" name="Text 107"/>
          <p:cNvSpPr/>
          <p:nvPr/>
        </p:nvSpPr>
        <p:spPr>
          <a:xfrm>
            <a:off x="2603199" y="963334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</a:t>
            </a:r>
            <a:endParaRPr lang="en-US" sz="788" dirty="0"/>
          </a:p>
        </p:txBody>
      </p:sp>
      <p:sp>
        <p:nvSpPr>
          <p:cNvPr id="117" name="Text 108"/>
          <p:cNvSpPr/>
          <p:nvPr/>
        </p:nvSpPr>
        <p:spPr>
          <a:xfrm>
            <a:off x="742950" y="9776222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System.out.print(node.value + " ");</a:t>
            </a:r>
            <a:endParaRPr lang="en-US" sz="788" dirty="0"/>
          </a:p>
        </p:txBody>
      </p:sp>
      <p:sp>
        <p:nvSpPr>
          <p:cNvPr id="118" name="Text 109"/>
          <p:cNvSpPr/>
          <p:nvPr/>
        </p:nvSpPr>
        <p:spPr>
          <a:xfrm>
            <a:off x="742950" y="991909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</a:t>
            </a:r>
            <a:endParaRPr lang="en-US" sz="788" dirty="0"/>
          </a:p>
        </p:txBody>
      </p:sp>
      <p:sp>
        <p:nvSpPr>
          <p:cNvPr id="119" name="Text 110"/>
          <p:cNvSpPr/>
          <p:nvPr/>
        </p:nvSpPr>
        <p:spPr>
          <a:xfrm>
            <a:off x="742950" y="10061972"/>
            <a:ext cx="199168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inOrderTraversal(node.right);</a:t>
            </a:r>
            <a:endParaRPr lang="en-US" sz="788" dirty="0"/>
          </a:p>
        </p:txBody>
      </p:sp>
      <p:sp>
        <p:nvSpPr>
          <p:cNvPr id="120" name="Text 111"/>
          <p:cNvSpPr/>
          <p:nvPr/>
        </p:nvSpPr>
        <p:spPr>
          <a:xfrm>
            <a:off x="742950" y="10061972"/>
            <a:ext cx="211170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</a:t>
            </a:r>
            <a:endParaRPr lang="en-US" sz="788" dirty="0"/>
          </a:p>
        </p:txBody>
      </p:sp>
      <p:sp>
        <p:nvSpPr>
          <p:cNvPr id="121" name="Text 112"/>
          <p:cNvSpPr/>
          <p:nvPr/>
        </p:nvSpPr>
        <p:spPr>
          <a:xfrm>
            <a:off x="742950" y="103477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22" name="Shape 113"/>
          <p:cNvSpPr/>
          <p:nvPr/>
        </p:nvSpPr>
        <p:spPr>
          <a:xfrm>
            <a:off x="628650" y="10687050"/>
            <a:ext cx="2514600" cy="3429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Text 114"/>
          <p:cNvSpPr/>
          <p:nvPr/>
        </p:nvSpPr>
        <p:spPr>
          <a:xfrm>
            <a:off x="685800" y="10744200"/>
            <a:ext cx="247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use: Binary Search Tree (BST) traversal produces sorted output</a:t>
            </a:r>
            <a:endParaRPr lang="en-US" sz="675" dirty="0"/>
          </a:p>
        </p:txBody>
      </p:sp>
      <p:sp>
        <p:nvSpPr>
          <p:cNvPr id="124" name="Text 115"/>
          <p:cNvSpPr/>
          <p:nvPr/>
        </p:nvSpPr>
        <p:spPr>
          <a:xfrm>
            <a:off x="3314700" y="8515350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Pre-Order Traversal</a:t>
            </a:r>
            <a:endParaRPr lang="en-US" sz="1125" dirty="0"/>
          </a:p>
        </p:txBody>
      </p:sp>
      <p:sp>
        <p:nvSpPr>
          <p:cNvPr id="125" name="Shape 116"/>
          <p:cNvSpPr/>
          <p:nvPr/>
        </p:nvSpPr>
        <p:spPr>
          <a:xfrm>
            <a:off x="3314700" y="8801100"/>
            <a:ext cx="2514600" cy="208597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7"/>
          <p:cNvSpPr/>
          <p:nvPr/>
        </p:nvSpPr>
        <p:spPr>
          <a:xfrm>
            <a:off x="3429000" y="891897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788" dirty="0"/>
          </a:p>
        </p:txBody>
      </p:sp>
      <p:sp>
        <p:nvSpPr>
          <p:cNvPr id="127" name="Text 118"/>
          <p:cNvSpPr/>
          <p:nvPr/>
        </p:nvSpPr>
        <p:spPr>
          <a:xfrm>
            <a:off x="3429000" y="8918972"/>
            <a:ext cx="229174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preOrderTraversal(TreeNode node) {</a:t>
            </a:r>
            <a:endParaRPr lang="en-US" sz="788" dirty="0"/>
          </a:p>
        </p:txBody>
      </p:sp>
      <p:sp>
        <p:nvSpPr>
          <p:cNvPr id="128" name="Text 119"/>
          <p:cNvSpPr/>
          <p:nvPr/>
        </p:nvSpPr>
        <p:spPr>
          <a:xfrm>
            <a:off x="3549021" y="92047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29" name="Text 120"/>
          <p:cNvSpPr/>
          <p:nvPr/>
        </p:nvSpPr>
        <p:spPr>
          <a:xfrm>
            <a:off x="3669041" y="92047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(node ==</a:t>
            </a:r>
            <a:endParaRPr lang="en-US" sz="788" dirty="0"/>
          </a:p>
        </p:txBody>
      </p:sp>
      <p:sp>
        <p:nvSpPr>
          <p:cNvPr id="130" name="Text 121"/>
          <p:cNvSpPr/>
          <p:nvPr/>
        </p:nvSpPr>
        <p:spPr>
          <a:xfrm>
            <a:off x="4269116" y="92047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131" name="Text 122"/>
          <p:cNvSpPr/>
          <p:nvPr/>
        </p:nvSpPr>
        <p:spPr>
          <a:xfrm>
            <a:off x="4509157" y="92047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132" name="Text 123"/>
          <p:cNvSpPr/>
          <p:nvPr/>
        </p:nvSpPr>
        <p:spPr>
          <a:xfrm>
            <a:off x="3669041" y="93475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33" name="Text 124"/>
          <p:cNvSpPr/>
          <p:nvPr/>
        </p:nvSpPr>
        <p:spPr>
          <a:xfrm>
            <a:off x="4029103" y="93475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134" name="Text 125"/>
          <p:cNvSpPr/>
          <p:nvPr/>
        </p:nvSpPr>
        <p:spPr>
          <a:xfrm>
            <a:off x="4149123" y="934759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</a:t>
            </a:r>
            <a:endParaRPr lang="en-US" sz="788" dirty="0"/>
          </a:p>
        </p:txBody>
      </p:sp>
      <p:sp>
        <p:nvSpPr>
          <p:cNvPr id="135" name="Text 126"/>
          <p:cNvSpPr/>
          <p:nvPr/>
        </p:nvSpPr>
        <p:spPr>
          <a:xfrm>
            <a:off x="3549021" y="9633347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cases</a:t>
            </a:r>
            <a:endParaRPr lang="en-US" sz="788" dirty="0"/>
          </a:p>
        </p:txBody>
      </p:sp>
      <p:sp>
        <p:nvSpPr>
          <p:cNvPr id="136" name="Text 127"/>
          <p:cNvSpPr/>
          <p:nvPr/>
        </p:nvSpPr>
        <p:spPr>
          <a:xfrm>
            <a:off x="3429000" y="9776222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System.out.print(node.value + " ");</a:t>
            </a:r>
            <a:endParaRPr lang="en-US" sz="788" dirty="0"/>
          </a:p>
        </p:txBody>
      </p:sp>
      <p:sp>
        <p:nvSpPr>
          <p:cNvPr id="137" name="Text 128"/>
          <p:cNvSpPr/>
          <p:nvPr/>
        </p:nvSpPr>
        <p:spPr>
          <a:xfrm>
            <a:off x="3429000" y="991909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</a:t>
            </a:r>
            <a:endParaRPr lang="en-US" sz="788" dirty="0"/>
          </a:p>
        </p:txBody>
      </p:sp>
      <p:sp>
        <p:nvSpPr>
          <p:cNvPr id="138" name="Text 129"/>
          <p:cNvSpPr/>
          <p:nvPr/>
        </p:nvSpPr>
        <p:spPr>
          <a:xfrm>
            <a:off x="3429000" y="10061972"/>
            <a:ext cx="199168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preOrderTraversal(node.left);</a:t>
            </a:r>
            <a:endParaRPr lang="en-US" sz="788" dirty="0"/>
          </a:p>
        </p:txBody>
      </p:sp>
      <p:sp>
        <p:nvSpPr>
          <p:cNvPr id="139" name="Text 130"/>
          <p:cNvSpPr/>
          <p:nvPr/>
        </p:nvSpPr>
        <p:spPr>
          <a:xfrm>
            <a:off x="3429000" y="10061972"/>
            <a:ext cx="211170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</a:t>
            </a:r>
            <a:endParaRPr lang="en-US" sz="788" dirty="0"/>
          </a:p>
        </p:txBody>
      </p:sp>
      <p:sp>
        <p:nvSpPr>
          <p:cNvPr id="140" name="Text 131"/>
          <p:cNvSpPr/>
          <p:nvPr/>
        </p:nvSpPr>
        <p:spPr>
          <a:xfrm>
            <a:off x="3429000" y="10347722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preOrderTraversal(node.right);</a:t>
            </a:r>
            <a:endParaRPr lang="en-US" sz="788" dirty="0"/>
          </a:p>
        </p:txBody>
      </p:sp>
      <p:sp>
        <p:nvSpPr>
          <p:cNvPr id="141" name="Text 132"/>
          <p:cNvSpPr/>
          <p:nvPr/>
        </p:nvSpPr>
        <p:spPr>
          <a:xfrm>
            <a:off x="3429000" y="10347722"/>
            <a:ext cx="21717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</a:t>
            </a:r>
            <a:endParaRPr lang="en-US" sz="788" dirty="0"/>
          </a:p>
        </p:txBody>
      </p:sp>
      <p:sp>
        <p:nvSpPr>
          <p:cNvPr id="142" name="Text 133"/>
          <p:cNvSpPr/>
          <p:nvPr/>
        </p:nvSpPr>
        <p:spPr>
          <a:xfrm>
            <a:off x="3429000" y="106334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3" name="Shape 134"/>
          <p:cNvSpPr/>
          <p:nvPr/>
        </p:nvSpPr>
        <p:spPr>
          <a:xfrm>
            <a:off x="3314700" y="10972800"/>
            <a:ext cx="2514600" cy="3429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Text 135"/>
          <p:cNvSpPr/>
          <p:nvPr/>
        </p:nvSpPr>
        <p:spPr>
          <a:xfrm>
            <a:off x="3371850" y="11029950"/>
            <a:ext cx="24717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use: Creating a copy of the tree or prefix expression evaluation</a:t>
            </a:r>
            <a:endParaRPr lang="en-US" sz="675" dirty="0"/>
          </a:p>
        </p:txBody>
      </p:sp>
      <p:sp>
        <p:nvSpPr>
          <p:cNvPr id="145" name="Text 136"/>
          <p:cNvSpPr/>
          <p:nvPr/>
        </p:nvSpPr>
        <p:spPr>
          <a:xfrm>
            <a:off x="6000750" y="8515350"/>
            <a:ext cx="2586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Post-Order Traversal</a:t>
            </a:r>
            <a:endParaRPr lang="en-US" sz="1125" dirty="0"/>
          </a:p>
        </p:txBody>
      </p:sp>
      <p:sp>
        <p:nvSpPr>
          <p:cNvPr id="146" name="Shape 137"/>
          <p:cNvSpPr/>
          <p:nvPr/>
        </p:nvSpPr>
        <p:spPr>
          <a:xfrm>
            <a:off x="6000750" y="8801100"/>
            <a:ext cx="2514600" cy="208597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38"/>
          <p:cNvSpPr/>
          <p:nvPr/>
        </p:nvSpPr>
        <p:spPr>
          <a:xfrm>
            <a:off x="6115050" y="891897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788" dirty="0"/>
          </a:p>
        </p:txBody>
      </p:sp>
      <p:sp>
        <p:nvSpPr>
          <p:cNvPr id="148" name="Text 139"/>
          <p:cNvSpPr/>
          <p:nvPr/>
        </p:nvSpPr>
        <p:spPr>
          <a:xfrm>
            <a:off x="6115050" y="8918972"/>
            <a:ext cx="235174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postOrderTraversal(TreeNode node) {</a:t>
            </a:r>
            <a:endParaRPr lang="en-US" sz="788" dirty="0"/>
          </a:p>
        </p:txBody>
      </p:sp>
      <p:sp>
        <p:nvSpPr>
          <p:cNvPr id="149" name="Text 140"/>
          <p:cNvSpPr/>
          <p:nvPr/>
        </p:nvSpPr>
        <p:spPr>
          <a:xfrm>
            <a:off x="6235071" y="92047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50" name="Text 141"/>
          <p:cNvSpPr/>
          <p:nvPr/>
        </p:nvSpPr>
        <p:spPr>
          <a:xfrm>
            <a:off x="6355091" y="92047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(node ==</a:t>
            </a:r>
            <a:endParaRPr lang="en-US" sz="788" dirty="0"/>
          </a:p>
        </p:txBody>
      </p:sp>
      <p:sp>
        <p:nvSpPr>
          <p:cNvPr id="151" name="Text 142"/>
          <p:cNvSpPr/>
          <p:nvPr/>
        </p:nvSpPr>
        <p:spPr>
          <a:xfrm>
            <a:off x="6955166" y="92047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152" name="Text 143"/>
          <p:cNvSpPr/>
          <p:nvPr/>
        </p:nvSpPr>
        <p:spPr>
          <a:xfrm>
            <a:off x="7195207" y="92047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8" dirty="0"/>
          </a:p>
        </p:txBody>
      </p:sp>
      <p:sp>
        <p:nvSpPr>
          <p:cNvPr id="153" name="Text 144"/>
          <p:cNvSpPr/>
          <p:nvPr/>
        </p:nvSpPr>
        <p:spPr>
          <a:xfrm>
            <a:off x="6355091" y="93475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54" name="Text 145"/>
          <p:cNvSpPr/>
          <p:nvPr/>
        </p:nvSpPr>
        <p:spPr>
          <a:xfrm>
            <a:off x="6715153" y="93475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155" name="Text 146"/>
          <p:cNvSpPr/>
          <p:nvPr/>
        </p:nvSpPr>
        <p:spPr>
          <a:xfrm>
            <a:off x="6835173" y="934759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</a:t>
            </a:r>
            <a:endParaRPr lang="en-US" sz="788" dirty="0"/>
          </a:p>
        </p:txBody>
      </p:sp>
      <p:sp>
        <p:nvSpPr>
          <p:cNvPr id="156" name="Text 147"/>
          <p:cNvSpPr/>
          <p:nvPr/>
        </p:nvSpPr>
        <p:spPr>
          <a:xfrm>
            <a:off x="6235071" y="9633347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cases</a:t>
            </a:r>
            <a:endParaRPr lang="en-US" sz="788" dirty="0"/>
          </a:p>
        </p:txBody>
      </p:sp>
      <p:sp>
        <p:nvSpPr>
          <p:cNvPr id="157" name="Text 148"/>
          <p:cNvSpPr/>
          <p:nvPr/>
        </p:nvSpPr>
        <p:spPr>
          <a:xfrm>
            <a:off x="6115050" y="9776222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postOrderTraversal(node.left);</a:t>
            </a:r>
            <a:endParaRPr lang="en-US" sz="788" dirty="0"/>
          </a:p>
        </p:txBody>
      </p:sp>
      <p:sp>
        <p:nvSpPr>
          <p:cNvPr id="158" name="Text 149"/>
          <p:cNvSpPr/>
          <p:nvPr/>
        </p:nvSpPr>
        <p:spPr>
          <a:xfrm>
            <a:off x="6115050" y="9776222"/>
            <a:ext cx="21717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Left</a:t>
            </a:r>
            <a:endParaRPr lang="en-US" sz="788" dirty="0"/>
          </a:p>
        </p:txBody>
      </p:sp>
      <p:sp>
        <p:nvSpPr>
          <p:cNvPr id="159" name="Text 150"/>
          <p:cNvSpPr/>
          <p:nvPr/>
        </p:nvSpPr>
        <p:spPr>
          <a:xfrm>
            <a:off x="6115050" y="10061972"/>
            <a:ext cx="2111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postOrderTraversal(node.right);</a:t>
            </a:r>
            <a:endParaRPr lang="en-US" sz="788" dirty="0"/>
          </a:p>
        </p:txBody>
      </p:sp>
      <p:sp>
        <p:nvSpPr>
          <p:cNvPr id="160" name="Text 151"/>
          <p:cNvSpPr/>
          <p:nvPr/>
        </p:nvSpPr>
        <p:spPr>
          <a:xfrm>
            <a:off x="6115050" y="10061972"/>
            <a:ext cx="223172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Right</a:t>
            </a:r>
            <a:endParaRPr lang="en-US" sz="788" dirty="0"/>
          </a:p>
        </p:txBody>
      </p:sp>
      <p:sp>
        <p:nvSpPr>
          <p:cNvPr id="161" name="Text 152"/>
          <p:cNvSpPr/>
          <p:nvPr/>
        </p:nvSpPr>
        <p:spPr>
          <a:xfrm>
            <a:off x="6115050" y="10347722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System.out.print(node.value + " ");</a:t>
            </a:r>
            <a:endParaRPr lang="en-US" sz="788" dirty="0"/>
          </a:p>
        </p:txBody>
      </p:sp>
      <p:sp>
        <p:nvSpPr>
          <p:cNvPr id="162" name="Text 153"/>
          <p:cNvSpPr/>
          <p:nvPr/>
        </p:nvSpPr>
        <p:spPr>
          <a:xfrm>
            <a:off x="6115050" y="1049059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</a:t>
            </a:r>
            <a:endParaRPr lang="en-US" sz="788" dirty="0"/>
          </a:p>
        </p:txBody>
      </p:sp>
      <p:sp>
        <p:nvSpPr>
          <p:cNvPr id="163" name="Text 154"/>
          <p:cNvSpPr/>
          <p:nvPr/>
        </p:nvSpPr>
        <p:spPr>
          <a:xfrm>
            <a:off x="6115050" y="106334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64" name="Shape 155"/>
          <p:cNvSpPr/>
          <p:nvPr/>
        </p:nvSpPr>
        <p:spPr>
          <a:xfrm>
            <a:off x="6000750" y="10972800"/>
            <a:ext cx="2514600" cy="2286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5" name="Text 156"/>
          <p:cNvSpPr/>
          <p:nvPr/>
        </p:nvSpPr>
        <p:spPr>
          <a:xfrm>
            <a:off x="6057900" y="11029950"/>
            <a:ext cx="24717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use: Deleting a tree or postfix expression evaluation</a:t>
            </a:r>
            <a:endParaRPr lang="en-US" sz="675" dirty="0"/>
          </a:p>
        </p:txBody>
      </p:sp>
      <p:sp>
        <p:nvSpPr>
          <p:cNvPr id="166" name="Shape 157"/>
          <p:cNvSpPr/>
          <p:nvPr/>
        </p:nvSpPr>
        <p:spPr>
          <a:xfrm>
            <a:off x="628650" y="11487150"/>
            <a:ext cx="7886700" cy="80010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11801475"/>
            <a:ext cx="128588" cy="171450"/>
          </a:xfrm>
          <a:prstGeom prst="rect">
            <a:avLst/>
          </a:prstGeom>
        </p:spPr>
      </p:pic>
      <p:sp>
        <p:nvSpPr>
          <p:cNvPr id="168" name="Text 158"/>
          <p:cNvSpPr/>
          <p:nvPr/>
        </p:nvSpPr>
        <p:spPr>
          <a:xfrm>
            <a:off x="985838" y="11601450"/>
            <a:ext cx="7486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013" dirty="0"/>
          </a:p>
        </p:txBody>
      </p:sp>
      <p:sp>
        <p:nvSpPr>
          <p:cNvPr id="169" name="Text 159"/>
          <p:cNvSpPr/>
          <p:nvPr/>
        </p:nvSpPr>
        <p:spPr>
          <a:xfrm>
            <a:off x="985838" y="11830050"/>
            <a:ext cx="7486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only difference between these three traversal methods is the order in which we process the current node relative to its children. The recursive structure remains the same.</a:t>
            </a:r>
            <a:endParaRPr lang="en-US" sz="900" dirty="0"/>
          </a:p>
        </p:txBody>
      </p:sp>
      <p:sp>
        <p:nvSpPr>
          <p:cNvPr id="170" name="Shape 160"/>
          <p:cNvSpPr/>
          <p:nvPr/>
        </p:nvSpPr>
        <p:spPr>
          <a:xfrm>
            <a:off x="628650" y="12401550"/>
            <a:ext cx="3857625" cy="13144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Text 161"/>
          <p:cNvSpPr/>
          <p:nvPr/>
        </p:nvSpPr>
        <p:spPr>
          <a:xfrm>
            <a:off x="742950" y="12515850"/>
            <a:ext cx="37004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Tree Operations Using Recursion:</a:t>
            </a:r>
            <a:endParaRPr lang="en-US" sz="1013" dirty="0"/>
          </a:p>
        </p:txBody>
      </p:sp>
      <p:sp>
        <p:nvSpPr>
          <p:cNvPr id="172" name="Text 162"/>
          <p:cNvSpPr/>
          <p:nvPr/>
        </p:nvSpPr>
        <p:spPr>
          <a:xfrm>
            <a:off x="742950" y="12773025"/>
            <a:ext cx="3700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Finding tree height/depth</a:t>
            </a:r>
            <a:endParaRPr lang="en-US" sz="788" dirty="0"/>
          </a:p>
        </p:txBody>
      </p:sp>
      <p:sp>
        <p:nvSpPr>
          <p:cNvPr id="173" name="Text 163"/>
          <p:cNvSpPr/>
          <p:nvPr/>
        </p:nvSpPr>
        <p:spPr>
          <a:xfrm>
            <a:off x="742950" y="12944475"/>
            <a:ext cx="3700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Counting nodes</a:t>
            </a:r>
            <a:endParaRPr lang="en-US" sz="788" dirty="0"/>
          </a:p>
        </p:txBody>
      </p:sp>
      <p:sp>
        <p:nvSpPr>
          <p:cNvPr id="174" name="Text 164"/>
          <p:cNvSpPr/>
          <p:nvPr/>
        </p:nvSpPr>
        <p:spPr>
          <a:xfrm>
            <a:off x="742950" y="13115925"/>
            <a:ext cx="3700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Searching for a value</a:t>
            </a:r>
            <a:endParaRPr lang="en-US" sz="788" dirty="0"/>
          </a:p>
        </p:txBody>
      </p:sp>
      <p:sp>
        <p:nvSpPr>
          <p:cNvPr id="175" name="Text 165"/>
          <p:cNvSpPr/>
          <p:nvPr/>
        </p:nvSpPr>
        <p:spPr>
          <a:xfrm>
            <a:off x="742950" y="13287375"/>
            <a:ext cx="3700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Checking if two trees are identical</a:t>
            </a:r>
            <a:endParaRPr lang="en-US" sz="788" dirty="0"/>
          </a:p>
        </p:txBody>
      </p:sp>
      <p:sp>
        <p:nvSpPr>
          <p:cNvPr id="176" name="Text 166"/>
          <p:cNvSpPr/>
          <p:nvPr/>
        </p:nvSpPr>
        <p:spPr>
          <a:xfrm>
            <a:off x="742950" y="13458825"/>
            <a:ext cx="3700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Converting a tree to its mirror image</a:t>
            </a:r>
            <a:endParaRPr lang="en-US" sz="788" dirty="0"/>
          </a:p>
        </p:txBody>
      </p:sp>
      <p:sp>
        <p:nvSpPr>
          <p:cNvPr id="177" name="Shape 167"/>
          <p:cNvSpPr/>
          <p:nvPr/>
        </p:nvSpPr>
        <p:spPr>
          <a:xfrm>
            <a:off x="4657725" y="12401550"/>
            <a:ext cx="3857625" cy="13144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Text 168"/>
          <p:cNvSpPr/>
          <p:nvPr/>
        </p:nvSpPr>
        <p:spPr>
          <a:xfrm>
            <a:off x="4772025" y="12515850"/>
            <a:ext cx="37004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Considerations:</a:t>
            </a:r>
            <a:endParaRPr lang="en-US" sz="1013" dirty="0"/>
          </a:p>
        </p:txBody>
      </p:sp>
      <p:pic>
        <p:nvPicPr>
          <p:cNvPr id="17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12801600"/>
            <a:ext cx="100013" cy="100013"/>
          </a:xfrm>
          <a:prstGeom prst="rect">
            <a:avLst/>
          </a:prstGeom>
        </p:spPr>
      </p:pic>
      <p:sp>
        <p:nvSpPr>
          <p:cNvPr id="180" name="Text 169"/>
          <p:cNvSpPr/>
          <p:nvPr/>
        </p:nvSpPr>
        <p:spPr>
          <a:xfrm>
            <a:off x="4929188" y="12773025"/>
            <a:ext cx="3543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very deep trees, consider iterative approaches using stacks to avoid stack overflow</a:t>
            </a:r>
            <a:endParaRPr lang="en-US" sz="788" dirty="0"/>
          </a:p>
        </p:txBody>
      </p:sp>
      <p:pic>
        <p:nvPicPr>
          <p:cNvPr id="18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13115925"/>
            <a:ext cx="100013" cy="100013"/>
          </a:xfrm>
          <a:prstGeom prst="rect">
            <a:avLst/>
          </a:prstGeom>
        </p:spPr>
      </p:pic>
      <p:sp>
        <p:nvSpPr>
          <p:cNvPr id="182" name="Text 170"/>
          <p:cNvSpPr/>
          <p:nvPr/>
        </p:nvSpPr>
        <p:spPr>
          <a:xfrm>
            <a:off x="4929188" y="13087350"/>
            <a:ext cx="24745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complexity: O(n) where n is the number of nodes</a:t>
            </a:r>
            <a:endParaRPr lang="en-US" sz="788" dirty="0"/>
          </a:p>
        </p:txBody>
      </p:sp>
      <p:pic>
        <p:nvPicPr>
          <p:cNvPr id="183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13287375"/>
            <a:ext cx="100013" cy="100013"/>
          </a:xfrm>
          <a:prstGeom prst="rect">
            <a:avLst/>
          </a:prstGeom>
        </p:spPr>
      </p:pic>
      <p:sp>
        <p:nvSpPr>
          <p:cNvPr id="184" name="Text 171"/>
          <p:cNvSpPr/>
          <p:nvPr/>
        </p:nvSpPr>
        <p:spPr>
          <a:xfrm>
            <a:off x="4929188" y="13258800"/>
            <a:ext cx="33512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 complexity: O(h) where h is the height of the tree (due to call stack)</a:t>
            </a:r>
            <a:endParaRPr lang="en-US" sz="7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56162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257244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1643007" y="455414"/>
            <a:ext cx="2429601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Patterns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56149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 and Conquer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114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strategy that breaks a problem into smaller subproblems of the same type, solves them independently, and combines their results.</a:t>
            </a:r>
            <a:endParaRPr lang="en-US" sz="101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31457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0125" y="2314575"/>
            <a:ext cx="199634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Steps: Divide → Conquer → Combine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8650" y="2771775"/>
            <a:ext cx="3657600" cy="23717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8650" y="2771775"/>
            <a:ext cx="28575" cy="237172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742950" y="285750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Sort Example</a:t>
            </a:r>
            <a:endParaRPr lang="en-US" sz="1013" dirty="0"/>
          </a:p>
        </p:txBody>
      </p:sp>
      <p:sp>
        <p:nvSpPr>
          <p:cNvPr id="14" name="Shape 10"/>
          <p:cNvSpPr/>
          <p:nvPr/>
        </p:nvSpPr>
        <p:spPr>
          <a:xfrm>
            <a:off x="742950" y="3114675"/>
            <a:ext cx="3543300" cy="19431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57250" y="32325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788" dirty="0"/>
          </a:p>
        </p:txBody>
      </p:sp>
      <p:sp>
        <p:nvSpPr>
          <p:cNvPr id="16" name="Text 12"/>
          <p:cNvSpPr/>
          <p:nvPr/>
        </p:nvSpPr>
        <p:spPr>
          <a:xfrm>
            <a:off x="1097291" y="32325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</a:t>
            </a:r>
            <a:endParaRPr lang="en-US" sz="788" dirty="0"/>
          </a:p>
        </p:txBody>
      </p:sp>
      <p:sp>
        <p:nvSpPr>
          <p:cNvPr id="17" name="Text 13"/>
          <p:cNvSpPr/>
          <p:nvPr/>
        </p:nvSpPr>
        <p:spPr>
          <a:xfrm>
            <a:off x="1757390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8" name="Text 14"/>
          <p:cNvSpPr/>
          <p:nvPr/>
        </p:nvSpPr>
        <p:spPr>
          <a:xfrm>
            <a:off x="1937435" y="323254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arr,</a:t>
            </a:r>
            <a:endParaRPr lang="en-US" sz="788" dirty="0"/>
          </a:p>
        </p:txBody>
      </p:sp>
      <p:sp>
        <p:nvSpPr>
          <p:cNvPr id="19" name="Text 15"/>
          <p:cNvSpPr/>
          <p:nvPr/>
        </p:nvSpPr>
        <p:spPr>
          <a:xfrm>
            <a:off x="2417518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20" name="Text 16"/>
          <p:cNvSpPr/>
          <p:nvPr/>
        </p:nvSpPr>
        <p:spPr>
          <a:xfrm>
            <a:off x="2597562" y="323254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left,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3017620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22" name="Text 18"/>
          <p:cNvSpPr/>
          <p:nvPr/>
        </p:nvSpPr>
        <p:spPr>
          <a:xfrm>
            <a:off x="3197665" y="323254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right) {</a:t>
            </a:r>
            <a:endParaRPr lang="en-US" sz="788" dirty="0"/>
          </a:p>
        </p:txBody>
      </p:sp>
      <p:sp>
        <p:nvSpPr>
          <p:cNvPr id="23" name="Text 19"/>
          <p:cNvSpPr/>
          <p:nvPr/>
        </p:nvSpPr>
        <p:spPr>
          <a:xfrm>
            <a:off x="977271" y="33754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1097291" y="337542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(left &lt; right) {</a:t>
            </a:r>
            <a:endParaRPr lang="en-US" sz="788" dirty="0"/>
          </a:p>
        </p:txBody>
      </p:sp>
      <p:sp>
        <p:nvSpPr>
          <p:cNvPr id="25" name="Text 21"/>
          <p:cNvSpPr/>
          <p:nvPr/>
        </p:nvSpPr>
        <p:spPr>
          <a:xfrm>
            <a:off x="1097291" y="35182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26" name="Text 22"/>
          <p:cNvSpPr/>
          <p:nvPr/>
        </p:nvSpPr>
        <p:spPr>
          <a:xfrm>
            <a:off x="1277336" y="3518297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left + (right - left) / 2;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1097291" y="380404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Divide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857250" y="3946922"/>
            <a:ext cx="187166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mergeSort(arr, left, mid);</a:t>
            </a:r>
            <a:endParaRPr lang="en-US" sz="788" dirty="0"/>
          </a:p>
        </p:txBody>
      </p:sp>
      <p:sp>
        <p:nvSpPr>
          <p:cNvPr id="29" name="Text 25"/>
          <p:cNvSpPr/>
          <p:nvPr/>
        </p:nvSpPr>
        <p:spPr>
          <a:xfrm>
            <a:off x="857250" y="4089797"/>
            <a:ext cx="21717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mergeSort(arr, mid + 1, right);</a:t>
            </a:r>
            <a:endParaRPr lang="en-US" sz="788" dirty="0"/>
          </a:p>
        </p:txBody>
      </p:sp>
      <p:sp>
        <p:nvSpPr>
          <p:cNvPr id="30" name="Text 26"/>
          <p:cNvSpPr/>
          <p:nvPr/>
        </p:nvSpPr>
        <p:spPr>
          <a:xfrm>
            <a:off x="1097291" y="437554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Combine</a:t>
            </a:r>
            <a:endParaRPr lang="en-US" sz="788" dirty="0"/>
          </a:p>
        </p:txBody>
      </p:sp>
      <p:sp>
        <p:nvSpPr>
          <p:cNvPr id="31" name="Text 27"/>
          <p:cNvSpPr/>
          <p:nvPr/>
        </p:nvSpPr>
        <p:spPr>
          <a:xfrm>
            <a:off x="857250" y="4518422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merge(arr, left, mid, right);</a:t>
            </a:r>
            <a:endParaRPr lang="en-US" sz="788" dirty="0"/>
          </a:p>
        </p:txBody>
      </p:sp>
      <p:sp>
        <p:nvSpPr>
          <p:cNvPr id="32" name="Text 28"/>
          <p:cNvSpPr/>
          <p:nvPr/>
        </p:nvSpPr>
        <p:spPr>
          <a:xfrm>
            <a:off x="857250" y="46612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3" name="Text 29"/>
          <p:cNvSpPr/>
          <p:nvPr/>
        </p:nvSpPr>
        <p:spPr>
          <a:xfrm>
            <a:off x="857250" y="48041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4" name="Text 30"/>
          <p:cNvSpPr/>
          <p:nvPr/>
        </p:nvSpPr>
        <p:spPr>
          <a:xfrm>
            <a:off x="628650" y="525780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Examples: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628650" y="54578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Quick Sort</a:t>
            </a:r>
            <a:endParaRPr lang="en-US" sz="788" dirty="0"/>
          </a:p>
        </p:txBody>
      </p:sp>
      <p:sp>
        <p:nvSpPr>
          <p:cNvPr id="36" name="Text 32"/>
          <p:cNvSpPr/>
          <p:nvPr/>
        </p:nvSpPr>
        <p:spPr>
          <a:xfrm>
            <a:off x="628650" y="56292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Binary Search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628650" y="58007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Closest Pair of Points</a:t>
            </a:r>
            <a:endParaRPr lang="en-US" sz="788" dirty="0"/>
          </a:p>
        </p:txBody>
      </p:sp>
      <p:sp>
        <p:nvSpPr>
          <p:cNvPr id="38" name="Text 34"/>
          <p:cNvSpPr/>
          <p:nvPr/>
        </p:nvSpPr>
        <p:spPr>
          <a:xfrm>
            <a:off x="628650" y="59721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Strassen's Matrix Multiplication</a:t>
            </a:r>
            <a:endParaRPr lang="en-US" sz="788" dirty="0"/>
          </a:p>
        </p:txBody>
      </p:sp>
      <p:sp>
        <p:nvSpPr>
          <p:cNvPr id="39" name="Shape 35"/>
          <p:cNvSpPr/>
          <p:nvPr/>
        </p:nvSpPr>
        <p:spPr>
          <a:xfrm>
            <a:off x="4686300" y="971550"/>
            <a:ext cx="4000500" cy="56149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Backtracking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4857750" y="1485900"/>
            <a:ext cx="3657600" cy="1114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49720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technique that builds solutions incrementally, abandoning a path as soon as it determines the path cannot lead to a valid solution.</a:t>
            </a:r>
            <a:endParaRPr lang="en-US" sz="1013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2314575"/>
            <a:ext cx="171450" cy="17145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229225" y="2314575"/>
            <a:ext cx="20790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Steps: Choose → Explore → Unchoose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4857750" y="2771775"/>
            <a:ext cx="3657600" cy="26574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4857750" y="2771775"/>
            <a:ext cx="28575" cy="265747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4972050" y="285750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N-Queens Example</a:t>
            </a:r>
            <a:endParaRPr lang="en-US" sz="1013" dirty="0"/>
          </a:p>
        </p:txBody>
      </p:sp>
      <p:sp>
        <p:nvSpPr>
          <p:cNvPr id="48" name="Shape 43"/>
          <p:cNvSpPr/>
          <p:nvPr/>
        </p:nvSpPr>
        <p:spPr>
          <a:xfrm>
            <a:off x="4972050" y="3114675"/>
            <a:ext cx="3543300" cy="22288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5086350" y="32325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788" dirty="0"/>
          </a:p>
        </p:txBody>
      </p:sp>
      <p:sp>
        <p:nvSpPr>
          <p:cNvPr id="50" name="Text 45"/>
          <p:cNvSpPr/>
          <p:nvPr/>
        </p:nvSpPr>
        <p:spPr>
          <a:xfrm>
            <a:off x="5326391" y="3232547"/>
            <a:ext cx="9115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solveNQueens(</a:t>
            </a:r>
            <a:endParaRPr lang="en-US" sz="788" dirty="0"/>
          </a:p>
        </p:txBody>
      </p:sp>
      <p:sp>
        <p:nvSpPr>
          <p:cNvPr id="51" name="Text 46"/>
          <p:cNvSpPr/>
          <p:nvPr/>
        </p:nvSpPr>
        <p:spPr>
          <a:xfrm>
            <a:off x="6166507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52" name="Text 47"/>
          <p:cNvSpPr/>
          <p:nvPr/>
        </p:nvSpPr>
        <p:spPr>
          <a:xfrm>
            <a:off x="6346552" y="32325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row,</a:t>
            </a:r>
            <a:endParaRPr lang="en-US" sz="788" dirty="0"/>
          </a:p>
        </p:txBody>
      </p:sp>
      <p:sp>
        <p:nvSpPr>
          <p:cNvPr id="53" name="Text 48"/>
          <p:cNvSpPr/>
          <p:nvPr/>
        </p:nvSpPr>
        <p:spPr>
          <a:xfrm>
            <a:off x="6706614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54" name="Text 49"/>
          <p:cNvSpPr/>
          <p:nvPr/>
        </p:nvSpPr>
        <p:spPr>
          <a:xfrm>
            <a:off x="6886659" y="32325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55" name="Text 50"/>
          <p:cNvSpPr/>
          <p:nvPr/>
        </p:nvSpPr>
        <p:spPr>
          <a:xfrm>
            <a:off x="7126700" y="32325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56" name="Text 51"/>
          <p:cNvSpPr/>
          <p:nvPr/>
        </p:nvSpPr>
        <p:spPr>
          <a:xfrm>
            <a:off x="7306745" y="323254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queens) {</a:t>
            </a:r>
            <a:endParaRPr lang="en-US" sz="788" dirty="0"/>
          </a:p>
        </p:txBody>
      </p:sp>
      <p:sp>
        <p:nvSpPr>
          <p:cNvPr id="57" name="Text 52"/>
          <p:cNvSpPr/>
          <p:nvPr/>
        </p:nvSpPr>
        <p:spPr>
          <a:xfrm>
            <a:off x="5206371" y="33754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58" name="Text 53"/>
          <p:cNvSpPr/>
          <p:nvPr/>
        </p:nvSpPr>
        <p:spPr>
          <a:xfrm>
            <a:off x="5326391" y="3375422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(row == n) {</a:t>
            </a:r>
            <a:endParaRPr lang="en-US" sz="788" dirty="0"/>
          </a:p>
        </p:txBody>
      </p:sp>
      <p:sp>
        <p:nvSpPr>
          <p:cNvPr id="59" name="Text 54"/>
          <p:cNvSpPr/>
          <p:nvPr/>
        </p:nvSpPr>
        <p:spPr>
          <a:xfrm>
            <a:off x="5086350" y="3518297"/>
            <a:ext cx="163164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printSolution(queens);</a:t>
            </a:r>
            <a:endParaRPr lang="en-US" sz="788" dirty="0"/>
          </a:p>
        </p:txBody>
      </p:sp>
      <p:sp>
        <p:nvSpPr>
          <p:cNvPr id="60" name="Text 55"/>
          <p:cNvSpPr/>
          <p:nvPr/>
        </p:nvSpPr>
        <p:spPr>
          <a:xfrm>
            <a:off x="5326391" y="36611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61" name="Text 56"/>
          <p:cNvSpPr/>
          <p:nvPr/>
        </p:nvSpPr>
        <p:spPr>
          <a:xfrm>
            <a:off x="5686453" y="36611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788" dirty="0"/>
          </a:p>
        </p:txBody>
      </p:sp>
      <p:sp>
        <p:nvSpPr>
          <p:cNvPr id="62" name="Text 57"/>
          <p:cNvSpPr/>
          <p:nvPr/>
        </p:nvSpPr>
        <p:spPr>
          <a:xfrm>
            <a:off x="5086350" y="38040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63" name="Text 58"/>
          <p:cNvSpPr/>
          <p:nvPr/>
        </p:nvSpPr>
        <p:spPr>
          <a:xfrm>
            <a:off x="5206371" y="40897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788" dirty="0"/>
          </a:p>
        </p:txBody>
      </p:sp>
      <p:sp>
        <p:nvSpPr>
          <p:cNvPr id="64" name="Text 59"/>
          <p:cNvSpPr/>
          <p:nvPr/>
        </p:nvSpPr>
        <p:spPr>
          <a:xfrm>
            <a:off x="5386415" y="40897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788" dirty="0"/>
          </a:p>
        </p:txBody>
      </p:sp>
      <p:sp>
        <p:nvSpPr>
          <p:cNvPr id="65" name="Text 60"/>
          <p:cNvSpPr/>
          <p:nvPr/>
        </p:nvSpPr>
        <p:spPr>
          <a:xfrm>
            <a:off x="5506436" y="40897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66" name="Text 61"/>
          <p:cNvSpPr/>
          <p:nvPr/>
        </p:nvSpPr>
        <p:spPr>
          <a:xfrm>
            <a:off x="5686481" y="4089797"/>
            <a:ext cx="169164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 = 0; col &lt; n; col++) {</a:t>
            </a:r>
            <a:endParaRPr lang="en-US" sz="788" dirty="0"/>
          </a:p>
        </p:txBody>
      </p:sp>
      <p:sp>
        <p:nvSpPr>
          <p:cNvPr id="67" name="Text 62"/>
          <p:cNvSpPr/>
          <p:nvPr/>
        </p:nvSpPr>
        <p:spPr>
          <a:xfrm>
            <a:off x="5326391" y="42326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68" name="Text 63"/>
          <p:cNvSpPr/>
          <p:nvPr/>
        </p:nvSpPr>
        <p:spPr>
          <a:xfrm>
            <a:off x="5446412" y="4232672"/>
            <a:ext cx="181166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(isSafe(row, col, queens)) {</a:t>
            </a:r>
            <a:endParaRPr lang="en-US" sz="788" dirty="0"/>
          </a:p>
        </p:txBody>
      </p:sp>
      <p:sp>
        <p:nvSpPr>
          <p:cNvPr id="69" name="Text 64"/>
          <p:cNvSpPr/>
          <p:nvPr/>
        </p:nvSpPr>
        <p:spPr>
          <a:xfrm>
            <a:off x="5086350" y="4375547"/>
            <a:ext cx="1571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queens[row] = col;</a:t>
            </a:r>
            <a:endParaRPr lang="en-US" sz="788" dirty="0"/>
          </a:p>
        </p:txBody>
      </p:sp>
      <p:sp>
        <p:nvSpPr>
          <p:cNvPr id="70" name="Text 65"/>
          <p:cNvSpPr/>
          <p:nvPr/>
        </p:nvSpPr>
        <p:spPr>
          <a:xfrm>
            <a:off x="6586538" y="437554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Choose</a:t>
            </a:r>
            <a:endParaRPr lang="en-US" sz="788" dirty="0"/>
          </a:p>
        </p:txBody>
      </p:sp>
      <p:sp>
        <p:nvSpPr>
          <p:cNvPr id="71" name="Text 66"/>
          <p:cNvSpPr/>
          <p:nvPr/>
        </p:nvSpPr>
        <p:spPr>
          <a:xfrm>
            <a:off x="5086350" y="4518422"/>
            <a:ext cx="247173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solveNQueens(row + 1, n, queens);</a:t>
            </a:r>
            <a:endParaRPr lang="en-US" sz="788" dirty="0"/>
          </a:p>
        </p:txBody>
      </p:sp>
      <p:sp>
        <p:nvSpPr>
          <p:cNvPr id="72" name="Text 67"/>
          <p:cNvSpPr/>
          <p:nvPr/>
        </p:nvSpPr>
        <p:spPr>
          <a:xfrm>
            <a:off x="7486650" y="45184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Explore</a:t>
            </a:r>
            <a:endParaRPr lang="en-US" sz="788" dirty="0"/>
          </a:p>
        </p:txBody>
      </p:sp>
      <p:sp>
        <p:nvSpPr>
          <p:cNvPr id="73" name="Text 68"/>
          <p:cNvSpPr/>
          <p:nvPr/>
        </p:nvSpPr>
        <p:spPr>
          <a:xfrm>
            <a:off x="5446412" y="4661297"/>
            <a:ext cx="259175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Unchoose (backtrack) happens implicitly</a:t>
            </a:r>
            <a:endParaRPr lang="en-US" sz="788" dirty="0"/>
          </a:p>
        </p:txBody>
      </p:sp>
      <p:sp>
        <p:nvSpPr>
          <p:cNvPr id="74" name="Text 69"/>
          <p:cNvSpPr/>
          <p:nvPr/>
        </p:nvSpPr>
        <p:spPr>
          <a:xfrm>
            <a:off x="5086350" y="48041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75" name="Text 70"/>
          <p:cNvSpPr/>
          <p:nvPr/>
        </p:nvSpPr>
        <p:spPr>
          <a:xfrm>
            <a:off x="5086350" y="49470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76" name="Text 71"/>
          <p:cNvSpPr/>
          <p:nvPr/>
        </p:nvSpPr>
        <p:spPr>
          <a:xfrm>
            <a:off x="5086350" y="50899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77" name="Text 72"/>
          <p:cNvSpPr/>
          <p:nvPr/>
        </p:nvSpPr>
        <p:spPr>
          <a:xfrm>
            <a:off x="4857750" y="554355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Examples:</a:t>
            </a:r>
            <a:endParaRPr lang="en-US" sz="788" dirty="0"/>
          </a:p>
        </p:txBody>
      </p:sp>
      <p:sp>
        <p:nvSpPr>
          <p:cNvPr id="78" name="Text 73"/>
          <p:cNvSpPr/>
          <p:nvPr/>
        </p:nvSpPr>
        <p:spPr>
          <a:xfrm>
            <a:off x="4857750" y="57435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Sudoku Solver</a:t>
            </a:r>
            <a:endParaRPr lang="en-US" sz="788" dirty="0"/>
          </a:p>
        </p:txBody>
      </p:sp>
      <p:sp>
        <p:nvSpPr>
          <p:cNvPr id="79" name="Text 74"/>
          <p:cNvSpPr/>
          <p:nvPr/>
        </p:nvSpPr>
        <p:spPr>
          <a:xfrm>
            <a:off x="4857750" y="59150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Permutations and Combinations</a:t>
            </a:r>
            <a:endParaRPr lang="en-US" sz="788" dirty="0"/>
          </a:p>
        </p:txBody>
      </p:sp>
      <p:sp>
        <p:nvSpPr>
          <p:cNvPr id="80" name="Text 75"/>
          <p:cNvSpPr/>
          <p:nvPr/>
        </p:nvSpPr>
        <p:spPr>
          <a:xfrm>
            <a:off x="4857750" y="60864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Maze Solving</a:t>
            </a:r>
            <a:endParaRPr lang="en-US" sz="788" dirty="0"/>
          </a:p>
        </p:txBody>
      </p:sp>
      <p:sp>
        <p:nvSpPr>
          <p:cNvPr id="81" name="Text 76"/>
          <p:cNvSpPr/>
          <p:nvPr/>
        </p:nvSpPr>
        <p:spPr>
          <a:xfrm>
            <a:off x="4857750" y="62579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Subset Sum Problem</a:t>
            </a:r>
            <a:endParaRPr lang="en-US" sz="788" dirty="0"/>
          </a:p>
        </p:txBody>
      </p:sp>
      <p:sp>
        <p:nvSpPr>
          <p:cNvPr id="82" name="Shape 77"/>
          <p:cNvSpPr/>
          <p:nvPr/>
        </p:nvSpPr>
        <p:spPr>
          <a:xfrm>
            <a:off x="457200" y="6800850"/>
            <a:ext cx="4000500" cy="52720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78"/>
          <p:cNvSpPr/>
          <p:nvPr/>
        </p:nvSpPr>
        <p:spPr>
          <a:xfrm>
            <a:off x="628650" y="69723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Programming with Recursion</a:t>
            </a:r>
            <a:endParaRPr lang="en-US" sz="1350" dirty="0"/>
          </a:p>
        </p:txBody>
      </p:sp>
      <p:sp>
        <p:nvSpPr>
          <p:cNvPr id="84" name="Shape 79"/>
          <p:cNvSpPr/>
          <p:nvPr/>
        </p:nvSpPr>
        <p:spPr>
          <a:xfrm>
            <a:off x="628650" y="7315200"/>
            <a:ext cx="36576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0"/>
          <p:cNvSpPr/>
          <p:nvPr/>
        </p:nvSpPr>
        <p:spPr>
          <a:xfrm>
            <a:off x="742950" y="7429500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Combines recursion with memoization to solve problems by breaking them down into overlapping subproblems.</a:t>
            </a:r>
            <a:endParaRPr lang="en-US" sz="1013" dirty="0"/>
          </a:p>
        </p:txBody>
      </p:sp>
      <p:pic>
        <p:nvPicPr>
          <p:cNvPr id="8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7943850"/>
            <a:ext cx="192881" cy="171450"/>
          </a:xfrm>
          <a:prstGeom prst="rect">
            <a:avLst/>
          </a:prstGeom>
        </p:spPr>
      </p:pic>
      <p:sp>
        <p:nvSpPr>
          <p:cNvPr id="87" name="Text 81"/>
          <p:cNvSpPr/>
          <p:nvPr/>
        </p:nvSpPr>
        <p:spPr>
          <a:xfrm>
            <a:off x="1021556" y="7943850"/>
            <a:ext cx="31276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concept: Store solutions to avoid redundant calculations</a:t>
            </a:r>
            <a:endParaRPr lang="en-US" sz="900" dirty="0"/>
          </a:p>
        </p:txBody>
      </p:sp>
      <p:sp>
        <p:nvSpPr>
          <p:cNvPr id="88" name="Shape 82"/>
          <p:cNvSpPr/>
          <p:nvPr/>
        </p:nvSpPr>
        <p:spPr>
          <a:xfrm>
            <a:off x="628650" y="8401050"/>
            <a:ext cx="3657600" cy="22288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3"/>
          <p:cNvSpPr/>
          <p:nvPr/>
        </p:nvSpPr>
        <p:spPr>
          <a:xfrm>
            <a:off x="628650" y="8401050"/>
            <a:ext cx="28575" cy="22288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4"/>
          <p:cNvSpPr/>
          <p:nvPr/>
        </p:nvSpPr>
        <p:spPr>
          <a:xfrm>
            <a:off x="742950" y="84867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Fibonacci with Memoization</a:t>
            </a:r>
            <a:endParaRPr lang="en-US" sz="1013" dirty="0"/>
          </a:p>
        </p:txBody>
      </p:sp>
      <p:sp>
        <p:nvSpPr>
          <p:cNvPr id="91" name="Shape 85"/>
          <p:cNvSpPr/>
          <p:nvPr/>
        </p:nvSpPr>
        <p:spPr>
          <a:xfrm>
            <a:off x="742950" y="8743950"/>
            <a:ext cx="3543300" cy="18002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6"/>
          <p:cNvSpPr/>
          <p:nvPr/>
        </p:nvSpPr>
        <p:spPr>
          <a:xfrm>
            <a:off x="857250" y="8861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93" name="Text 87"/>
          <p:cNvSpPr/>
          <p:nvPr/>
        </p:nvSpPr>
        <p:spPr>
          <a:xfrm>
            <a:off x="1037295" y="886182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788" dirty="0"/>
          </a:p>
        </p:txBody>
      </p:sp>
      <p:sp>
        <p:nvSpPr>
          <p:cNvPr id="94" name="Text 88"/>
          <p:cNvSpPr/>
          <p:nvPr/>
        </p:nvSpPr>
        <p:spPr>
          <a:xfrm>
            <a:off x="1697394" y="8861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95" name="Text 89"/>
          <p:cNvSpPr/>
          <p:nvPr/>
        </p:nvSpPr>
        <p:spPr>
          <a:xfrm>
            <a:off x="1877439" y="88618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96" name="Text 90"/>
          <p:cNvSpPr/>
          <p:nvPr/>
        </p:nvSpPr>
        <p:spPr>
          <a:xfrm>
            <a:off x="2117480" y="88618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97" name="Text 91"/>
          <p:cNvSpPr/>
          <p:nvPr/>
        </p:nvSpPr>
        <p:spPr>
          <a:xfrm>
            <a:off x="2297525" y="88618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memo) {</a:t>
            </a:r>
            <a:endParaRPr lang="en-US" sz="788" dirty="0"/>
          </a:p>
        </p:txBody>
      </p:sp>
      <p:sp>
        <p:nvSpPr>
          <p:cNvPr id="98" name="Text 92"/>
          <p:cNvSpPr/>
          <p:nvPr/>
        </p:nvSpPr>
        <p:spPr>
          <a:xfrm>
            <a:off x="977271" y="90046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99" name="Text 93"/>
          <p:cNvSpPr/>
          <p:nvPr/>
        </p:nvSpPr>
        <p:spPr>
          <a:xfrm>
            <a:off x="1097291" y="90046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100" name="Text 94"/>
          <p:cNvSpPr/>
          <p:nvPr/>
        </p:nvSpPr>
        <p:spPr>
          <a:xfrm>
            <a:off x="1097291" y="91475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01" name="Text 95"/>
          <p:cNvSpPr/>
          <p:nvPr/>
        </p:nvSpPr>
        <p:spPr>
          <a:xfrm>
            <a:off x="1457353" y="91475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788" dirty="0"/>
          </a:p>
        </p:txBody>
      </p:sp>
      <p:sp>
        <p:nvSpPr>
          <p:cNvPr id="102" name="Text 96"/>
          <p:cNvSpPr/>
          <p:nvPr/>
        </p:nvSpPr>
        <p:spPr>
          <a:xfrm>
            <a:off x="977271" y="94333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03" name="Text 97"/>
          <p:cNvSpPr/>
          <p:nvPr/>
        </p:nvSpPr>
        <p:spPr>
          <a:xfrm>
            <a:off x="1097291" y="9433322"/>
            <a:ext cx="971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(memo[n] != 0)</a:t>
            </a:r>
            <a:endParaRPr lang="en-US" sz="788" dirty="0"/>
          </a:p>
        </p:txBody>
      </p:sp>
      <p:sp>
        <p:nvSpPr>
          <p:cNvPr id="104" name="Text 98"/>
          <p:cNvSpPr/>
          <p:nvPr/>
        </p:nvSpPr>
        <p:spPr>
          <a:xfrm>
            <a:off x="1097291" y="95761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05" name="Text 99"/>
          <p:cNvSpPr/>
          <p:nvPr/>
        </p:nvSpPr>
        <p:spPr>
          <a:xfrm>
            <a:off x="1457353" y="957619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06" name="Text 100"/>
          <p:cNvSpPr/>
          <p:nvPr/>
        </p:nvSpPr>
        <p:spPr>
          <a:xfrm>
            <a:off x="2057428" y="9576197"/>
            <a:ext cx="145163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cached result</a:t>
            </a:r>
            <a:endParaRPr lang="en-US" sz="788" dirty="0"/>
          </a:p>
        </p:txBody>
      </p:sp>
      <p:sp>
        <p:nvSpPr>
          <p:cNvPr id="107" name="Text 101"/>
          <p:cNvSpPr/>
          <p:nvPr/>
        </p:nvSpPr>
        <p:spPr>
          <a:xfrm>
            <a:off x="857250" y="9861947"/>
            <a:ext cx="30118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 = fibonacci(n-1, memo) + fibonacci(n-2, memo);</a:t>
            </a:r>
            <a:endParaRPr lang="en-US" sz="788" dirty="0"/>
          </a:p>
        </p:txBody>
      </p:sp>
      <p:sp>
        <p:nvSpPr>
          <p:cNvPr id="108" name="Text 102"/>
          <p:cNvSpPr/>
          <p:nvPr/>
        </p:nvSpPr>
        <p:spPr>
          <a:xfrm>
            <a:off x="977271" y="101476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09" name="Text 103"/>
          <p:cNvSpPr/>
          <p:nvPr/>
        </p:nvSpPr>
        <p:spPr>
          <a:xfrm>
            <a:off x="1337332" y="101476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10" name="Text 104"/>
          <p:cNvSpPr/>
          <p:nvPr/>
        </p:nvSpPr>
        <p:spPr>
          <a:xfrm>
            <a:off x="857250" y="102905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11" name="Text 105"/>
          <p:cNvSpPr/>
          <p:nvPr/>
        </p:nvSpPr>
        <p:spPr>
          <a:xfrm>
            <a:off x="628650" y="1074420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Examples:</a:t>
            </a:r>
            <a:endParaRPr lang="en-US" sz="788" dirty="0"/>
          </a:p>
        </p:txBody>
      </p:sp>
      <p:sp>
        <p:nvSpPr>
          <p:cNvPr id="112" name="Text 106"/>
          <p:cNvSpPr/>
          <p:nvPr/>
        </p:nvSpPr>
        <p:spPr>
          <a:xfrm>
            <a:off x="628650" y="109442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Longest Common Subsequence</a:t>
            </a:r>
            <a:endParaRPr lang="en-US" sz="788" dirty="0"/>
          </a:p>
        </p:txBody>
      </p:sp>
      <p:sp>
        <p:nvSpPr>
          <p:cNvPr id="113" name="Text 107"/>
          <p:cNvSpPr/>
          <p:nvPr/>
        </p:nvSpPr>
        <p:spPr>
          <a:xfrm>
            <a:off x="628650" y="111156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Knapsack Problem</a:t>
            </a:r>
            <a:endParaRPr lang="en-US" sz="788" dirty="0"/>
          </a:p>
        </p:txBody>
      </p:sp>
      <p:sp>
        <p:nvSpPr>
          <p:cNvPr id="114" name="Text 108"/>
          <p:cNvSpPr/>
          <p:nvPr/>
        </p:nvSpPr>
        <p:spPr>
          <a:xfrm>
            <a:off x="628650" y="112871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Edit Distance</a:t>
            </a:r>
            <a:endParaRPr lang="en-US" sz="788" dirty="0"/>
          </a:p>
        </p:txBody>
      </p:sp>
      <p:sp>
        <p:nvSpPr>
          <p:cNvPr id="115" name="Text 109"/>
          <p:cNvSpPr/>
          <p:nvPr/>
        </p:nvSpPr>
        <p:spPr>
          <a:xfrm>
            <a:off x="628650" y="114585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Matrix Chain Multiplication</a:t>
            </a:r>
            <a:endParaRPr lang="en-US" sz="788" dirty="0"/>
          </a:p>
        </p:txBody>
      </p:sp>
      <p:sp>
        <p:nvSpPr>
          <p:cNvPr id="116" name="Shape 110"/>
          <p:cNvSpPr/>
          <p:nvPr/>
        </p:nvSpPr>
        <p:spPr>
          <a:xfrm>
            <a:off x="4686300" y="6800850"/>
            <a:ext cx="4000500" cy="52720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1"/>
          <p:cNvSpPr/>
          <p:nvPr/>
        </p:nvSpPr>
        <p:spPr>
          <a:xfrm>
            <a:off x="4857750" y="69723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Data Structure Traversal</a:t>
            </a:r>
            <a:endParaRPr lang="en-US" sz="1350" dirty="0"/>
          </a:p>
        </p:txBody>
      </p:sp>
      <p:sp>
        <p:nvSpPr>
          <p:cNvPr id="118" name="Shape 112"/>
          <p:cNvSpPr/>
          <p:nvPr/>
        </p:nvSpPr>
        <p:spPr>
          <a:xfrm>
            <a:off x="4857750" y="7315200"/>
            <a:ext cx="36576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113"/>
          <p:cNvSpPr/>
          <p:nvPr/>
        </p:nvSpPr>
        <p:spPr>
          <a:xfrm>
            <a:off x="4972050" y="7429500"/>
            <a:ext cx="35004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Navigating hierarchical or nested data structures by applying the same operation to each element.</a:t>
            </a:r>
            <a:endParaRPr lang="en-US" sz="1013" dirty="0"/>
          </a:p>
        </p:txBody>
      </p:sp>
      <p:pic>
        <p:nvPicPr>
          <p:cNvPr id="1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2050" y="7943850"/>
            <a:ext cx="192881" cy="171450"/>
          </a:xfrm>
          <a:prstGeom prst="rect">
            <a:avLst/>
          </a:prstGeom>
        </p:spPr>
      </p:pic>
      <p:sp>
        <p:nvSpPr>
          <p:cNvPr id="121" name="Text 114"/>
          <p:cNvSpPr/>
          <p:nvPr/>
        </p:nvSpPr>
        <p:spPr>
          <a:xfrm>
            <a:off x="5250656" y="7943850"/>
            <a:ext cx="29936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with: Trees, graphs, nested objects, file systems</a:t>
            </a:r>
            <a:endParaRPr lang="en-US" sz="900" dirty="0"/>
          </a:p>
        </p:txBody>
      </p:sp>
      <p:sp>
        <p:nvSpPr>
          <p:cNvPr id="122" name="Shape 115"/>
          <p:cNvSpPr/>
          <p:nvPr/>
        </p:nvSpPr>
        <p:spPr>
          <a:xfrm>
            <a:off x="4857750" y="8401050"/>
            <a:ext cx="3657600" cy="25146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6"/>
          <p:cNvSpPr/>
          <p:nvPr/>
        </p:nvSpPr>
        <p:spPr>
          <a:xfrm>
            <a:off x="4857750" y="8401050"/>
            <a:ext cx="28575" cy="25146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7"/>
          <p:cNvSpPr/>
          <p:nvPr/>
        </p:nvSpPr>
        <p:spPr>
          <a:xfrm>
            <a:off x="4972050" y="84867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Directory Size Calculation</a:t>
            </a:r>
            <a:endParaRPr lang="en-US" sz="1013" dirty="0"/>
          </a:p>
        </p:txBody>
      </p:sp>
      <p:sp>
        <p:nvSpPr>
          <p:cNvPr id="125" name="Shape 118"/>
          <p:cNvSpPr/>
          <p:nvPr/>
        </p:nvSpPr>
        <p:spPr>
          <a:xfrm>
            <a:off x="4972050" y="8743950"/>
            <a:ext cx="3543300" cy="208597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19"/>
          <p:cNvSpPr/>
          <p:nvPr/>
        </p:nvSpPr>
        <p:spPr>
          <a:xfrm>
            <a:off x="5086350" y="88618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788" dirty="0"/>
          </a:p>
        </p:txBody>
      </p:sp>
      <p:sp>
        <p:nvSpPr>
          <p:cNvPr id="127" name="Text 120"/>
          <p:cNvSpPr/>
          <p:nvPr/>
        </p:nvSpPr>
        <p:spPr>
          <a:xfrm>
            <a:off x="5326391" y="8861822"/>
            <a:ext cx="169164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calculateSize(File file) {</a:t>
            </a:r>
            <a:endParaRPr lang="en-US" sz="788" dirty="0"/>
          </a:p>
        </p:txBody>
      </p:sp>
      <p:sp>
        <p:nvSpPr>
          <p:cNvPr id="128" name="Text 121"/>
          <p:cNvSpPr/>
          <p:nvPr/>
        </p:nvSpPr>
        <p:spPr>
          <a:xfrm>
            <a:off x="5206371" y="90046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29" name="Text 122"/>
          <p:cNvSpPr/>
          <p:nvPr/>
        </p:nvSpPr>
        <p:spPr>
          <a:xfrm>
            <a:off x="5326391" y="9004697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(file.isFile())</a:t>
            </a:r>
            <a:endParaRPr lang="en-US" sz="788" dirty="0"/>
          </a:p>
        </p:txBody>
      </p:sp>
      <p:sp>
        <p:nvSpPr>
          <p:cNvPr id="130" name="Text 123"/>
          <p:cNvSpPr/>
          <p:nvPr/>
        </p:nvSpPr>
        <p:spPr>
          <a:xfrm>
            <a:off x="5326391" y="91475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31" name="Text 124"/>
          <p:cNvSpPr/>
          <p:nvPr/>
        </p:nvSpPr>
        <p:spPr>
          <a:xfrm>
            <a:off x="5686453" y="9147572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file.length();</a:t>
            </a:r>
            <a:endParaRPr lang="en-US" sz="788" dirty="0"/>
          </a:p>
        </p:txBody>
      </p:sp>
      <p:sp>
        <p:nvSpPr>
          <p:cNvPr id="132" name="Text 125"/>
          <p:cNvSpPr/>
          <p:nvPr/>
        </p:nvSpPr>
        <p:spPr>
          <a:xfrm>
            <a:off x="6646590" y="9147572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case: file</a:t>
            </a:r>
            <a:endParaRPr lang="en-US" sz="788" dirty="0"/>
          </a:p>
        </p:txBody>
      </p:sp>
      <p:sp>
        <p:nvSpPr>
          <p:cNvPr id="133" name="Text 126"/>
          <p:cNvSpPr/>
          <p:nvPr/>
        </p:nvSpPr>
        <p:spPr>
          <a:xfrm>
            <a:off x="5206371" y="94333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788" dirty="0"/>
          </a:p>
        </p:txBody>
      </p:sp>
      <p:sp>
        <p:nvSpPr>
          <p:cNvPr id="134" name="Text 127"/>
          <p:cNvSpPr/>
          <p:nvPr/>
        </p:nvSpPr>
        <p:spPr>
          <a:xfrm>
            <a:off x="5446412" y="94333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= 0;</a:t>
            </a:r>
            <a:endParaRPr lang="en-US" sz="788" dirty="0"/>
          </a:p>
        </p:txBody>
      </p:sp>
      <p:sp>
        <p:nvSpPr>
          <p:cNvPr id="135" name="Text 128"/>
          <p:cNvSpPr/>
          <p:nvPr/>
        </p:nvSpPr>
        <p:spPr>
          <a:xfrm>
            <a:off x="5086350" y="9576197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File[] children = file.listFiles();</a:t>
            </a:r>
            <a:endParaRPr lang="en-US" sz="788" dirty="0"/>
          </a:p>
        </p:txBody>
      </p:sp>
      <p:sp>
        <p:nvSpPr>
          <p:cNvPr id="136" name="Text 129"/>
          <p:cNvSpPr/>
          <p:nvPr/>
        </p:nvSpPr>
        <p:spPr>
          <a:xfrm>
            <a:off x="5206371" y="98619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788" dirty="0"/>
          </a:p>
        </p:txBody>
      </p:sp>
      <p:sp>
        <p:nvSpPr>
          <p:cNvPr id="137" name="Text 130"/>
          <p:cNvSpPr/>
          <p:nvPr/>
        </p:nvSpPr>
        <p:spPr>
          <a:xfrm>
            <a:off x="5386415" y="9861947"/>
            <a:ext cx="163164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(File child : children) {</a:t>
            </a:r>
            <a:endParaRPr lang="en-US" sz="788" dirty="0"/>
          </a:p>
        </p:txBody>
      </p:sp>
      <p:sp>
        <p:nvSpPr>
          <p:cNvPr id="138" name="Text 131"/>
          <p:cNvSpPr/>
          <p:nvPr/>
        </p:nvSpPr>
        <p:spPr>
          <a:xfrm>
            <a:off x="5086350" y="10004822"/>
            <a:ext cx="211170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 += calculateSize(child);</a:t>
            </a:r>
            <a:endParaRPr lang="en-US" sz="788" dirty="0"/>
          </a:p>
        </p:txBody>
      </p:sp>
      <p:sp>
        <p:nvSpPr>
          <p:cNvPr id="139" name="Text 132"/>
          <p:cNvSpPr/>
          <p:nvPr/>
        </p:nvSpPr>
        <p:spPr>
          <a:xfrm>
            <a:off x="7126616" y="1000482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Recursive case</a:t>
            </a:r>
            <a:endParaRPr lang="en-US" sz="788" dirty="0"/>
          </a:p>
        </p:txBody>
      </p:sp>
      <p:sp>
        <p:nvSpPr>
          <p:cNvPr id="140" name="Text 133"/>
          <p:cNvSpPr/>
          <p:nvPr/>
        </p:nvSpPr>
        <p:spPr>
          <a:xfrm>
            <a:off x="5086350" y="101476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1" name="Text 134"/>
          <p:cNvSpPr/>
          <p:nvPr/>
        </p:nvSpPr>
        <p:spPr>
          <a:xfrm>
            <a:off x="5206371" y="104334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2" name="Text 135"/>
          <p:cNvSpPr/>
          <p:nvPr/>
        </p:nvSpPr>
        <p:spPr>
          <a:xfrm>
            <a:off x="5566432" y="104334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size;</a:t>
            </a:r>
            <a:endParaRPr lang="en-US" sz="788" dirty="0"/>
          </a:p>
        </p:txBody>
      </p:sp>
      <p:sp>
        <p:nvSpPr>
          <p:cNvPr id="143" name="Text 136"/>
          <p:cNvSpPr/>
          <p:nvPr/>
        </p:nvSpPr>
        <p:spPr>
          <a:xfrm>
            <a:off x="5086350" y="105763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4" name="Text 137"/>
          <p:cNvSpPr/>
          <p:nvPr/>
        </p:nvSpPr>
        <p:spPr>
          <a:xfrm>
            <a:off x="4857750" y="1102995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Examples:</a:t>
            </a:r>
            <a:endParaRPr lang="en-US" sz="788" dirty="0"/>
          </a:p>
        </p:txBody>
      </p:sp>
      <p:sp>
        <p:nvSpPr>
          <p:cNvPr id="145" name="Text 138"/>
          <p:cNvSpPr/>
          <p:nvPr/>
        </p:nvSpPr>
        <p:spPr>
          <a:xfrm>
            <a:off x="4857750" y="112299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 Tree Traversal</a:t>
            </a:r>
            <a:endParaRPr lang="en-US" sz="788" dirty="0"/>
          </a:p>
        </p:txBody>
      </p:sp>
      <p:sp>
        <p:nvSpPr>
          <p:cNvPr id="146" name="Text 139"/>
          <p:cNvSpPr/>
          <p:nvPr/>
        </p:nvSpPr>
        <p:spPr>
          <a:xfrm>
            <a:off x="4857750" y="114014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JSON/XML Parsing</a:t>
            </a:r>
            <a:endParaRPr lang="en-US" sz="788" dirty="0"/>
          </a:p>
        </p:txBody>
      </p:sp>
      <p:sp>
        <p:nvSpPr>
          <p:cNvPr id="147" name="Text 140"/>
          <p:cNvSpPr/>
          <p:nvPr/>
        </p:nvSpPr>
        <p:spPr>
          <a:xfrm>
            <a:off x="4857750" y="115728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Graph Traversal (DFS)</a:t>
            </a:r>
            <a:endParaRPr lang="en-US" sz="788" dirty="0"/>
          </a:p>
        </p:txBody>
      </p:sp>
      <p:sp>
        <p:nvSpPr>
          <p:cNvPr id="148" name="Text 141"/>
          <p:cNvSpPr/>
          <p:nvPr/>
        </p:nvSpPr>
        <p:spPr>
          <a:xfrm>
            <a:off x="4857750" y="1174432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Composite Pattern Implementation</a:t>
            </a:r>
            <a:endParaRPr lang="en-US" sz="788" dirty="0"/>
          </a:p>
        </p:txBody>
      </p:sp>
      <p:sp>
        <p:nvSpPr>
          <p:cNvPr id="149" name="Shape 142"/>
          <p:cNvSpPr/>
          <p:nvPr/>
        </p:nvSpPr>
        <p:spPr>
          <a:xfrm>
            <a:off x="457200" y="12287250"/>
            <a:ext cx="8229600" cy="284321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3"/>
          <p:cNvSpPr/>
          <p:nvPr/>
        </p:nvSpPr>
        <p:spPr>
          <a:xfrm>
            <a:off x="628650" y="1245870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Recognition Tips</a:t>
            </a:r>
            <a:endParaRPr lang="en-US" sz="1350" dirty="0"/>
          </a:p>
        </p:txBody>
      </p:sp>
      <p:sp>
        <p:nvSpPr>
          <p:cNvPr id="151" name="Shape 144"/>
          <p:cNvSpPr/>
          <p:nvPr/>
        </p:nvSpPr>
        <p:spPr>
          <a:xfrm>
            <a:off x="628650" y="12801600"/>
            <a:ext cx="2514600" cy="11715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2944475"/>
            <a:ext cx="142875" cy="142875"/>
          </a:xfrm>
          <a:prstGeom prst="rect">
            <a:avLst/>
          </a:prstGeom>
        </p:spPr>
      </p:pic>
      <p:sp>
        <p:nvSpPr>
          <p:cNvPr id="153" name="Text 145"/>
          <p:cNvSpPr/>
          <p:nvPr/>
        </p:nvSpPr>
        <p:spPr>
          <a:xfrm>
            <a:off x="942975" y="12915900"/>
            <a:ext cx="1836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Identifying Divide &amp; Conquer</a:t>
            </a:r>
            <a:endParaRPr lang="en-US" sz="1013" dirty="0"/>
          </a:p>
        </p:txBody>
      </p:sp>
      <p:sp>
        <p:nvSpPr>
          <p:cNvPr id="154" name="Text 146"/>
          <p:cNvSpPr/>
          <p:nvPr/>
        </p:nvSpPr>
        <p:spPr>
          <a:xfrm>
            <a:off x="742950" y="132016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Problem can be split into identical subproblems</a:t>
            </a:r>
            <a:endParaRPr lang="en-US" sz="788" dirty="0"/>
          </a:p>
        </p:txBody>
      </p:sp>
      <p:sp>
        <p:nvSpPr>
          <p:cNvPr id="155" name="Text 147"/>
          <p:cNvSpPr/>
          <p:nvPr/>
        </p:nvSpPr>
        <p:spPr>
          <a:xfrm>
            <a:off x="742950" y="133731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Subproblems are independent</a:t>
            </a:r>
            <a:endParaRPr lang="en-US" sz="788" dirty="0"/>
          </a:p>
        </p:txBody>
      </p:sp>
      <p:sp>
        <p:nvSpPr>
          <p:cNvPr id="156" name="Text 148"/>
          <p:cNvSpPr/>
          <p:nvPr/>
        </p:nvSpPr>
        <p:spPr>
          <a:xfrm>
            <a:off x="742950" y="135445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Results need to be combined</a:t>
            </a:r>
            <a:endParaRPr lang="en-US" sz="788" dirty="0"/>
          </a:p>
        </p:txBody>
      </p:sp>
      <p:sp>
        <p:nvSpPr>
          <p:cNvPr id="157" name="Text 149"/>
          <p:cNvSpPr/>
          <p:nvPr/>
        </p:nvSpPr>
        <p:spPr>
          <a:xfrm>
            <a:off x="742950" y="137160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Problem size reduces with each division</a:t>
            </a:r>
            <a:endParaRPr lang="en-US" sz="788" dirty="0"/>
          </a:p>
        </p:txBody>
      </p:sp>
      <p:sp>
        <p:nvSpPr>
          <p:cNvPr id="158" name="Shape 150"/>
          <p:cNvSpPr/>
          <p:nvPr/>
        </p:nvSpPr>
        <p:spPr>
          <a:xfrm>
            <a:off x="3314700" y="12801600"/>
            <a:ext cx="2514600" cy="11715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12944475"/>
            <a:ext cx="142875" cy="142875"/>
          </a:xfrm>
          <a:prstGeom prst="rect">
            <a:avLst/>
          </a:prstGeom>
        </p:spPr>
      </p:pic>
      <p:sp>
        <p:nvSpPr>
          <p:cNvPr id="160" name="Text 151"/>
          <p:cNvSpPr/>
          <p:nvPr/>
        </p:nvSpPr>
        <p:spPr>
          <a:xfrm>
            <a:off x="3629025" y="12915900"/>
            <a:ext cx="15648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Identifying Backtracking</a:t>
            </a:r>
            <a:endParaRPr lang="en-US" sz="1013" dirty="0"/>
          </a:p>
        </p:txBody>
      </p:sp>
      <p:sp>
        <p:nvSpPr>
          <p:cNvPr id="161" name="Text 152"/>
          <p:cNvSpPr/>
          <p:nvPr/>
        </p:nvSpPr>
        <p:spPr>
          <a:xfrm>
            <a:off x="3429000" y="132016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Involves finding all (or some) solutions</a:t>
            </a:r>
            <a:endParaRPr lang="en-US" sz="788" dirty="0"/>
          </a:p>
        </p:txBody>
      </p:sp>
      <p:sp>
        <p:nvSpPr>
          <p:cNvPr id="162" name="Text 153"/>
          <p:cNvSpPr/>
          <p:nvPr/>
        </p:nvSpPr>
        <p:spPr>
          <a:xfrm>
            <a:off x="3429000" y="133731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Constraints can eliminate partial solutions</a:t>
            </a:r>
            <a:endParaRPr lang="en-US" sz="788" dirty="0"/>
          </a:p>
        </p:txBody>
      </p:sp>
      <p:sp>
        <p:nvSpPr>
          <p:cNvPr id="163" name="Text 154"/>
          <p:cNvSpPr/>
          <p:nvPr/>
        </p:nvSpPr>
        <p:spPr>
          <a:xfrm>
            <a:off x="3429000" y="135445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Building solution incrementally</a:t>
            </a:r>
            <a:endParaRPr lang="en-US" sz="788" dirty="0"/>
          </a:p>
        </p:txBody>
      </p:sp>
      <p:sp>
        <p:nvSpPr>
          <p:cNvPr id="164" name="Text 155"/>
          <p:cNvSpPr/>
          <p:nvPr/>
        </p:nvSpPr>
        <p:spPr>
          <a:xfrm>
            <a:off x="3429000" y="137160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Need to explore multiple paths</a:t>
            </a:r>
            <a:endParaRPr lang="en-US" sz="788" dirty="0"/>
          </a:p>
        </p:txBody>
      </p:sp>
      <p:sp>
        <p:nvSpPr>
          <p:cNvPr id="165" name="Shape 156"/>
          <p:cNvSpPr/>
          <p:nvPr/>
        </p:nvSpPr>
        <p:spPr>
          <a:xfrm>
            <a:off x="6000750" y="12801600"/>
            <a:ext cx="2514600" cy="11715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12944475"/>
            <a:ext cx="142875" cy="142875"/>
          </a:xfrm>
          <a:prstGeom prst="rect">
            <a:avLst/>
          </a:prstGeom>
        </p:spPr>
      </p:pic>
      <p:sp>
        <p:nvSpPr>
          <p:cNvPr id="167" name="Text 157"/>
          <p:cNvSpPr/>
          <p:nvPr/>
        </p:nvSpPr>
        <p:spPr>
          <a:xfrm>
            <a:off x="6315075" y="12915900"/>
            <a:ext cx="18121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Identifying DP Opportunities</a:t>
            </a:r>
            <a:endParaRPr lang="en-US" sz="1013" dirty="0"/>
          </a:p>
        </p:txBody>
      </p:sp>
      <p:sp>
        <p:nvSpPr>
          <p:cNvPr id="168" name="Text 158"/>
          <p:cNvSpPr/>
          <p:nvPr/>
        </p:nvSpPr>
        <p:spPr>
          <a:xfrm>
            <a:off x="6115050" y="132016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Overlapping subproblems</a:t>
            </a:r>
            <a:endParaRPr lang="en-US" sz="788" dirty="0"/>
          </a:p>
        </p:txBody>
      </p:sp>
      <p:sp>
        <p:nvSpPr>
          <p:cNvPr id="169" name="Text 159"/>
          <p:cNvSpPr/>
          <p:nvPr/>
        </p:nvSpPr>
        <p:spPr>
          <a:xfrm>
            <a:off x="6115050" y="133731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Optimal substructure</a:t>
            </a:r>
            <a:endParaRPr lang="en-US" sz="788" dirty="0"/>
          </a:p>
        </p:txBody>
      </p:sp>
      <p:sp>
        <p:nvSpPr>
          <p:cNvPr id="170" name="Text 160"/>
          <p:cNvSpPr/>
          <p:nvPr/>
        </p:nvSpPr>
        <p:spPr>
          <a:xfrm>
            <a:off x="6115050" y="1354455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Repeated calculations</a:t>
            </a:r>
            <a:endParaRPr lang="en-US" sz="788" dirty="0"/>
          </a:p>
        </p:txBody>
      </p:sp>
      <p:sp>
        <p:nvSpPr>
          <p:cNvPr id="171" name="Text 161"/>
          <p:cNvSpPr/>
          <p:nvPr/>
        </p:nvSpPr>
        <p:spPr>
          <a:xfrm>
            <a:off x="6115050" y="13716000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Exponential naive recursive solution</a:t>
            </a:r>
            <a:endParaRPr lang="en-US" sz="788" dirty="0"/>
          </a:p>
        </p:txBody>
      </p:sp>
      <p:sp>
        <p:nvSpPr>
          <p:cNvPr id="172" name="Shape 162"/>
          <p:cNvSpPr/>
          <p:nvPr/>
        </p:nvSpPr>
        <p:spPr>
          <a:xfrm>
            <a:off x="628650" y="14144625"/>
            <a:ext cx="7886700" cy="80010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14458950"/>
            <a:ext cx="128588" cy="171450"/>
          </a:xfrm>
          <a:prstGeom prst="rect">
            <a:avLst/>
          </a:prstGeom>
        </p:spPr>
      </p:pic>
      <p:sp>
        <p:nvSpPr>
          <p:cNvPr id="174" name="Text 163"/>
          <p:cNvSpPr/>
          <p:nvPr/>
        </p:nvSpPr>
        <p:spPr>
          <a:xfrm>
            <a:off x="985838" y="14258925"/>
            <a:ext cx="7486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013" dirty="0"/>
          </a:p>
        </p:txBody>
      </p:sp>
      <p:sp>
        <p:nvSpPr>
          <p:cNvPr id="175" name="Text 164"/>
          <p:cNvSpPr/>
          <p:nvPr/>
        </p:nvSpPr>
        <p:spPr>
          <a:xfrm>
            <a:off x="985838" y="14487525"/>
            <a:ext cx="7486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Recognizing these common patterns helps you approach new problems more effectively. Many complex problems can be solved by applying or combining these recursive patterns.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2442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643760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029523" y="455414"/>
            <a:ext cx="201481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Considerations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4286250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and Space Complexity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8286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algorithms often have different time and space complexity characteristics compared to their iterative counterparts.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628650" y="248602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 Factors:</a:t>
            </a:r>
            <a:endParaRPr lang="en-US" sz="1125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800350"/>
            <a:ext cx="114300" cy="114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0100" y="2771775"/>
            <a:ext cx="13608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 of recursive calls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02895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" y="3000375"/>
            <a:ext cx="17210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done in each recursive call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257550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228975"/>
            <a:ext cx="29111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Branching factor (number of recursive calls per function)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48615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0100" y="3457575"/>
            <a:ext cx="10053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of recursion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28650" y="380047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 Complexity Factors:</a:t>
            </a:r>
            <a:endParaRPr lang="en-US" sz="112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4800"/>
            <a:ext cx="128588" cy="1143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14388" y="4086225"/>
            <a:ext cx="25428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stack depth (proportional to recursion depth)</a:t>
            </a:r>
            <a:endParaRPr lang="en-US" sz="9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343400"/>
            <a:ext cx="128588" cy="1143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14388" y="4314825"/>
            <a:ext cx="20472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of data stored in each stack frame</a:t>
            </a:r>
            <a:endParaRPr lang="en-US" sz="9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572000"/>
            <a:ext cx="128588" cy="1143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14388" y="4543425"/>
            <a:ext cx="29875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data structures used (e.g., memoization tables)</a:t>
            </a:r>
            <a:endParaRPr lang="en-US" sz="900" dirty="0"/>
          </a:p>
        </p:txBody>
      </p:sp>
      <p:sp>
        <p:nvSpPr>
          <p:cNvPr id="25" name="Shape 15"/>
          <p:cNvSpPr/>
          <p:nvPr/>
        </p:nvSpPr>
        <p:spPr>
          <a:xfrm>
            <a:off x="4686300" y="971550"/>
            <a:ext cx="4000500" cy="4286250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6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Implementations</a:t>
            </a:r>
            <a:endParaRPr lang="en-US" sz="13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485900"/>
            <a:ext cx="3643313" cy="1785938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4857750" y="3443288"/>
            <a:ext cx="1771650" cy="10572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8"/>
          <p:cNvSpPr/>
          <p:nvPr/>
        </p:nvSpPr>
        <p:spPr>
          <a:xfrm>
            <a:off x="4943475" y="3529013"/>
            <a:ext cx="1671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Fibonacci Example</a:t>
            </a:r>
            <a:endParaRPr lang="en-US" sz="1013" dirty="0"/>
          </a:p>
        </p:txBody>
      </p:sp>
      <p:sp>
        <p:nvSpPr>
          <p:cNvPr id="30" name="Text 19"/>
          <p:cNvSpPr/>
          <p:nvPr/>
        </p:nvSpPr>
        <p:spPr>
          <a:xfrm>
            <a:off x="4943475" y="3786188"/>
            <a:ext cx="989465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788" dirty="0"/>
          </a:p>
        </p:txBody>
      </p:sp>
      <p:sp>
        <p:nvSpPr>
          <p:cNvPr id="31" name="Text 20"/>
          <p:cNvSpPr/>
          <p:nvPr/>
        </p:nvSpPr>
        <p:spPr>
          <a:xfrm>
            <a:off x="5861503" y="3786188"/>
            <a:ext cx="377056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788" dirty="0"/>
          </a:p>
        </p:txBody>
      </p:sp>
      <p:sp>
        <p:nvSpPr>
          <p:cNvPr id="32" name="Text 21"/>
          <p:cNvSpPr/>
          <p:nvPr/>
        </p:nvSpPr>
        <p:spPr>
          <a:xfrm>
            <a:off x="6167121" y="3786188"/>
            <a:ext cx="447991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</a:t>
            </a:r>
            <a:endParaRPr lang="en-US" sz="788" dirty="0"/>
          </a:p>
        </p:txBody>
      </p:sp>
      <p:sp>
        <p:nvSpPr>
          <p:cNvPr id="33" name="Text 22"/>
          <p:cNvSpPr/>
          <p:nvPr/>
        </p:nvSpPr>
        <p:spPr>
          <a:xfrm>
            <a:off x="4943475" y="3943350"/>
            <a:ext cx="989465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Naive Recursive</a:t>
            </a:r>
            <a:endParaRPr lang="en-US" sz="788" dirty="0"/>
          </a:p>
        </p:txBody>
      </p:sp>
      <p:sp>
        <p:nvSpPr>
          <p:cNvPr id="34" name="Text 23"/>
          <p:cNvSpPr/>
          <p:nvPr/>
        </p:nvSpPr>
        <p:spPr>
          <a:xfrm>
            <a:off x="5861503" y="3943350"/>
            <a:ext cx="377056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O(2ⁿ)</a:t>
            </a:r>
            <a:endParaRPr lang="en-US" sz="788" dirty="0"/>
          </a:p>
        </p:txBody>
      </p:sp>
      <p:sp>
        <p:nvSpPr>
          <p:cNvPr id="35" name="Text 24"/>
          <p:cNvSpPr/>
          <p:nvPr/>
        </p:nvSpPr>
        <p:spPr>
          <a:xfrm>
            <a:off x="6167121" y="3943350"/>
            <a:ext cx="447991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O(n)</a:t>
            </a:r>
            <a:endParaRPr lang="en-US" sz="788" dirty="0"/>
          </a:p>
        </p:txBody>
      </p:sp>
      <p:sp>
        <p:nvSpPr>
          <p:cNvPr id="36" name="Text 25"/>
          <p:cNvSpPr/>
          <p:nvPr/>
        </p:nvSpPr>
        <p:spPr>
          <a:xfrm>
            <a:off x="4943475" y="4100513"/>
            <a:ext cx="989465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Memoized</a:t>
            </a:r>
            <a:endParaRPr lang="en-US" sz="788" dirty="0"/>
          </a:p>
        </p:txBody>
      </p:sp>
      <p:sp>
        <p:nvSpPr>
          <p:cNvPr id="37" name="Text 26"/>
          <p:cNvSpPr/>
          <p:nvPr/>
        </p:nvSpPr>
        <p:spPr>
          <a:xfrm>
            <a:off x="5861503" y="4100513"/>
            <a:ext cx="377056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O(n)</a:t>
            </a:r>
            <a:endParaRPr lang="en-US" sz="788" dirty="0"/>
          </a:p>
        </p:txBody>
      </p:sp>
      <p:sp>
        <p:nvSpPr>
          <p:cNvPr id="38" name="Text 27"/>
          <p:cNvSpPr/>
          <p:nvPr/>
        </p:nvSpPr>
        <p:spPr>
          <a:xfrm>
            <a:off x="6167121" y="4100513"/>
            <a:ext cx="447991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O(n)</a:t>
            </a:r>
            <a:endParaRPr lang="en-US" sz="788" dirty="0"/>
          </a:p>
        </p:txBody>
      </p:sp>
      <p:sp>
        <p:nvSpPr>
          <p:cNvPr id="39" name="Text 28"/>
          <p:cNvSpPr/>
          <p:nvPr/>
        </p:nvSpPr>
        <p:spPr>
          <a:xfrm>
            <a:off x="4943475" y="4257675"/>
            <a:ext cx="989465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</a:t>
            </a:r>
            <a:endParaRPr lang="en-US" sz="788" dirty="0"/>
          </a:p>
        </p:txBody>
      </p:sp>
      <p:sp>
        <p:nvSpPr>
          <p:cNvPr id="40" name="Text 29"/>
          <p:cNvSpPr/>
          <p:nvPr/>
        </p:nvSpPr>
        <p:spPr>
          <a:xfrm>
            <a:off x="5861503" y="4257675"/>
            <a:ext cx="377056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O(n)</a:t>
            </a:r>
            <a:endParaRPr lang="en-US" sz="788" dirty="0"/>
          </a:p>
        </p:txBody>
      </p:sp>
      <p:sp>
        <p:nvSpPr>
          <p:cNvPr id="41" name="Text 30"/>
          <p:cNvSpPr/>
          <p:nvPr/>
        </p:nvSpPr>
        <p:spPr>
          <a:xfrm>
            <a:off x="6167121" y="4257675"/>
            <a:ext cx="447991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O(1)</a:t>
            </a:r>
            <a:endParaRPr lang="en-US" sz="788" dirty="0"/>
          </a:p>
        </p:txBody>
      </p:sp>
      <p:sp>
        <p:nvSpPr>
          <p:cNvPr id="42" name="Shape 31"/>
          <p:cNvSpPr/>
          <p:nvPr/>
        </p:nvSpPr>
        <p:spPr>
          <a:xfrm>
            <a:off x="6743700" y="3443288"/>
            <a:ext cx="1771650" cy="10572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6829425" y="3529013"/>
            <a:ext cx="16716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</a:t>
            </a:r>
            <a:endParaRPr lang="en-US" sz="1013" dirty="0"/>
          </a:p>
        </p:txBody>
      </p:sp>
      <p:sp>
        <p:nvSpPr>
          <p:cNvPr id="44" name="Text 33"/>
          <p:cNvSpPr/>
          <p:nvPr/>
        </p:nvSpPr>
        <p:spPr>
          <a:xfrm>
            <a:off x="6829425" y="3786188"/>
            <a:ext cx="872710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788" dirty="0"/>
          </a:p>
        </p:txBody>
      </p:sp>
      <p:sp>
        <p:nvSpPr>
          <p:cNvPr id="45" name="Text 34"/>
          <p:cNvSpPr/>
          <p:nvPr/>
        </p:nvSpPr>
        <p:spPr>
          <a:xfrm>
            <a:off x="7630697" y="3786188"/>
            <a:ext cx="470874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788" dirty="0"/>
          </a:p>
        </p:txBody>
      </p:sp>
      <p:sp>
        <p:nvSpPr>
          <p:cNvPr id="46" name="Text 35"/>
          <p:cNvSpPr/>
          <p:nvPr/>
        </p:nvSpPr>
        <p:spPr>
          <a:xfrm>
            <a:off x="8030133" y="3786188"/>
            <a:ext cx="470929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 algn="l">
              <a:buNone/>
            </a:pPr>
            <a:r>
              <a:rPr lang="en-US" sz="7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</a:t>
            </a:r>
            <a:endParaRPr lang="en-US" sz="788" dirty="0"/>
          </a:p>
        </p:txBody>
      </p:sp>
      <p:sp>
        <p:nvSpPr>
          <p:cNvPr id="47" name="Text 36"/>
          <p:cNvSpPr/>
          <p:nvPr/>
        </p:nvSpPr>
        <p:spPr>
          <a:xfrm>
            <a:off x="6829425" y="3943350"/>
            <a:ext cx="872710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</a:t>
            </a:r>
            <a:endParaRPr lang="en-US" sz="788" dirty="0"/>
          </a:p>
        </p:txBody>
      </p:sp>
      <p:sp>
        <p:nvSpPr>
          <p:cNvPr id="48" name="Text 37"/>
          <p:cNvSpPr/>
          <p:nvPr/>
        </p:nvSpPr>
        <p:spPr>
          <a:xfrm>
            <a:off x="7630697" y="3943350"/>
            <a:ext cx="470874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</a:t>
            </a:r>
            <a:endParaRPr lang="en-US" sz="788" dirty="0"/>
          </a:p>
        </p:txBody>
      </p:sp>
      <p:sp>
        <p:nvSpPr>
          <p:cNvPr id="49" name="Text 38"/>
          <p:cNvSpPr/>
          <p:nvPr/>
        </p:nvSpPr>
        <p:spPr>
          <a:xfrm>
            <a:off x="8030133" y="3943350"/>
            <a:ext cx="470929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</a:t>
            </a:r>
            <a:endParaRPr lang="en-US" sz="788" dirty="0"/>
          </a:p>
        </p:txBody>
      </p:sp>
      <p:sp>
        <p:nvSpPr>
          <p:cNvPr id="50" name="Text 39"/>
          <p:cNvSpPr/>
          <p:nvPr/>
        </p:nvSpPr>
        <p:spPr>
          <a:xfrm>
            <a:off x="6829425" y="4100513"/>
            <a:ext cx="872710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</a:t>
            </a:r>
            <a:endParaRPr lang="en-US" sz="788" dirty="0"/>
          </a:p>
        </p:txBody>
      </p:sp>
      <p:sp>
        <p:nvSpPr>
          <p:cNvPr id="51" name="Text 40"/>
          <p:cNvSpPr/>
          <p:nvPr/>
        </p:nvSpPr>
        <p:spPr>
          <a:xfrm>
            <a:off x="7630697" y="4100513"/>
            <a:ext cx="470874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O(log n)</a:t>
            </a:r>
            <a:endParaRPr lang="en-US" sz="788" dirty="0"/>
          </a:p>
        </p:txBody>
      </p:sp>
      <p:sp>
        <p:nvSpPr>
          <p:cNvPr id="52" name="Text 41"/>
          <p:cNvSpPr/>
          <p:nvPr/>
        </p:nvSpPr>
        <p:spPr>
          <a:xfrm>
            <a:off x="8030133" y="4100513"/>
            <a:ext cx="470929" cy="157163"/>
          </a:xfrm>
          <a:prstGeom prst="rect">
            <a:avLst/>
          </a:prstGeom>
          <a:noFill/>
          <a:ln/>
        </p:spPr>
        <p:txBody>
          <a:bodyPr wrap="none" lIns="8509" tIns="8509" rIns="8509" bIns="8509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O(1)</a:t>
            </a:r>
            <a:endParaRPr lang="en-US" sz="788" dirty="0"/>
          </a:p>
        </p:txBody>
      </p:sp>
      <p:sp>
        <p:nvSpPr>
          <p:cNvPr id="53" name="Shape 42"/>
          <p:cNvSpPr/>
          <p:nvPr/>
        </p:nvSpPr>
        <p:spPr>
          <a:xfrm>
            <a:off x="4857750" y="4614863"/>
            <a:ext cx="3657600" cy="457200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3475" y="4772025"/>
            <a:ext cx="107156" cy="142875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107781" y="4700588"/>
            <a:ext cx="33932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many cases, iterative solutions have better space complexity due to not using the call stack, while time complexity may be similar.</a:t>
            </a:r>
            <a:endParaRPr lang="en-US" sz="788" dirty="0"/>
          </a:p>
        </p:txBody>
      </p:sp>
      <p:sp>
        <p:nvSpPr>
          <p:cNvPr id="56" name="Shape 44"/>
          <p:cNvSpPr/>
          <p:nvPr/>
        </p:nvSpPr>
        <p:spPr>
          <a:xfrm>
            <a:off x="457200" y="5472113"/>
            <a:ext cx="8229600" cy="53006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5"/>
          <p:cNvSpPr/>
          <p:nvPr/>
        </p:nvSpPr>
        <p:spPr>
          <a:xfrm>
            <a:off x="628650" y="5643563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Optimization Strategies</a:t>
            </a:r>
            <a:endParaRPr lang="en-US" sz="1350" dirty="0"/>
          </a:p>
        </p:txBody>
      </p:sp>
      <p:sp>
        <p:nvSpPr>
          <p:cNvPr id="58" name="Shape 46"/>
          <p:cNvSpPr/>
          <p:nvPr/>
        </p:nvSpPr>
        <p:spPr>
          <a:xfrm>
            <a:off x="628650" y="5986463"/>
            <a:ext cx="2514600" cy="23717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6129338"/>
            <a:ext cx="160734" cy="142875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960834" y="6100763"/>
            <a:ext cx="8501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</a:t>
            </a:r>
            <a:endParaRPr lang="en-US" sz="1013" dirty="0"/>
          </a:p>
        </p:txBody>
      </p:sp>
      <p:sp>
        <p:nvSpPr>
          <p:cNvPr id="61" name="Text 48"/>
          <p:cNvSpPr/>
          <p:nvPr/>
        </p:nvSpPr>
        <p:spPr>
          <a:xfrm>
            <a:off x="742950" y="6386513"/>
            <a:ext cx="235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results of function calls to avoid redundant calculations.</a:t>
            </a:r>
            <a:endParaRPr lang="en-US" sz="788" dirty="0"/>
          </a:p>
        </p:txBody>
      </p:sp>
      <p:sp>
        <p:nvSpPr>
          <p:cNvPr id="62" name="Shape 49"/>
          <p:cNvSpPr/>
          <p:nvPr/>
        </p:nvSpPr>
        <p:spPr>
          <a:xfrm>
            <a:off x="742950" y="6757988"/>
            <a:ext cx="2286000" cy="14859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0"/>
          <p:cNvSpPr/>
          <p:nvPr/>
        </p:nvSpPr>
        <p:spPr>
          <a:xfrm>
            <a:off x="857250" y="68705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endParaRPr lang="en-US" sz="675" dirty="0"/>
          </a:p>
        </p:txBody>
      </p:sp>
      <p:sp>
        <p:nvSpPr>
          <p:cNvPr id="64" name="Text 51"/>
          <p:cNvSpPr/>
          <p:nvPr/>
        </p:nvSpPr>
        <p:spPr>
          <a:xfrm>
            <a:off x="1011566" y="6870502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675" dirty="0"/>
          </a:p>
        </p:txBody>
      </p:sp>
      <p:sp>
        <p:nvSpPr>
          <p:cNvPr id="65" name="Text 52"/>
          <p:cNvSpPr/>
          <p:nvPr/>
        </p:nvSpPr>
        <p:spPr>
          <a:xfrm>
            <a:off x="1063023" y="6870502"/>
            <a:ext cx="431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675" dirty="0"/>
          </a:p>
        </p:txBody>
      </p:sp>
      <p:sp>
        <p:nvSpPr>
          <p:cNvPr id="66" name="Text 53"/>
          <p:cNvSpPr/>
          <p:nvPr/>
        </p:nvSpPr>
        <p:spPr>
          <a:xfrm>
            <a:off x="1423085" y="6870502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675" dirty="0"/>
          </a:p>
        </p:txBody>
      </p:sp>
      <p:sp>
        <p:nvSpPr>
          <p:cNvPr id="67" name="Text 54"/>
          <p:cNvSpPr/>
          <p:nvPr/>
        </p:nvSpPr>
        <p:spPr>
          <a:xfrm>
            <a:off x="1525972" y="6870502"/>
            <a:ext cx="431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675" dirty="0"/>
          </a:p>
        </p:txBody>
      </p:sp>
      <p:sp>
        <p:nvSpPr>
          <p:cNvPr id="68" name="Text 55"/>
          <p:cNvSpPr/>
          <p:nvPr/>
        </p:nvSpPr>
        <p:spPr>
          <a:xfrm>
            <a:off x="1886034" y="6870502"/>
            <a:ext cx="5343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memo =</a:t>
            </a:r>
            <a:endParaRPr lang="en-US" sz="675" dirty="0"/>
          </a:p>
        </p:txBody>
      </p:sp>
      <p:sp>
        <p:nvSpPr>
          <p:cNvPr id="69" name="Text 56"/>
          <p:cNvSpPr/>
          <p:nvPr/>
        </p:nvSpPr>
        <p:spPr>
          <a:xfrm>
            <a:off x="2348954" y="68705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675" dirty="0"/>
          </a:p>
        </p:txBody>
      </p:sp>
      <p:sp>
        <p:nvSpPr>
          <p:cNvPr id="70" name="Text 57"/>
          <p:cNvSpPr/>
          <p:nvPr/>
        </p:nvSpPr>
        <p:spPr>
          <a:xfrm>
            <a:off x="857250" y="6984802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HashMap&lt;&gt;();</a:t>
            </a:r>
            <a:endParaRPr lang="en-US" sz="675" dirty="0"/>
          </a:p>
        </p:txBody>
      </p:sp>
      <p:sp>
        <p:nvSpPr>
          <p:cNvPr id="71" name="Text 58"/>
          <p:cNvSpPr/>
          <p:nvPr/>
        </p:nvSpPr>
        <p:spPr>
          <a:xfrm>
            <a:off x="857250" y="72134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72" name="Text 59"/>
          <p:cNvSpPr/>
          <p:nvPr/>
        </p:nvSpPr>
        <p:spPr>
          <a:xfrm>
            <a:off x="1011566" y="7213402"/>
            <a:ext cx="32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</a:t>
            </a:r>
            <a:endParaRPr lang="en-US" sz="675" dirty="0"/>
          </a:p>
        </p:txBody>
      </p:sp>
      <p:sp>
        <p:nvSpPr>
          <p:cNvPr id="73" name="Text 60"/>
          <p:cNvSpPr/>
          <p:nvPr/>
        </p:nvSpPr>
        <p:spPr>
          <a:xfrm>
            <a:off x="1268769" y="72134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74" name="Text 61"/>
          <p:cNvSpPr/>
          <p:nvPr/>
        </p:nvSpPr>
        <p:spPr>
          <a:xfrm>
            <a:off x="1423085" y="7213402"/>
            <a:ext cx="32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675" dirty="0"/>
          </a:p>
        </p:txBody>
      </p:sp>
      <p:sp>
        <p:nvSpPr>
          <p:cNvPr id="75" name="Text 62"/>
          <p:cNvSpPr/>
          <p:nvPr/>
        </p:nvSpPr>
        <p:spPr>
          <a:xfrm>
            <a:off x="960137" y="7327702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76" name="Text 63"/>
          <p:cNvSpPr/>
          <p:nvPr/>
        </p:nvSpPr>
        <p:spPr>
          <a:xfrm>
            <a:off x="1063023" y="7327702"/>
            <a:ext cx="5858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675" dirty="0"/>
          </a:p>
        </p:txBody>
      </p:sp>
      <p:sp>
        <p:nvSpPr>
          <p:cNvPr id="77" name="Text 64"/>
          <p:cNvSpPr/>
          <p:nvPr/>
        </p:nvSpPr>
        <p:spPr>
          <a:xfrm>
            <a:off x="1577401" y="73277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78" name="Text 65"/>
          <p:cNvSpPr/>
          <p:nvPr/>
        </p:nvSpPr>
        <p:spPr>
          <a:xfrm>
            <a:off x="1886034" y="73277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675" dirty="0"/>
          </a:p>
        </p:txBody>
      </p:sp>
      <p:sp>
        <p:nvSpPr>
          <p:cNvPr id="79" name="Text 66"/>
          <p:cNvSpPr/>
          <p:nvPr/>
        </p:nvSpPr>
        <p:spPr>
          <a:xfrm>
            <a:off x="960137" y="7442002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80" name="Text 67"/>
          <p:cNvSpPr/>
          <p:nvPr/>
        </p:nvSpPr>
        <p:spPr>
          <a:xfrm>
            <a:off x="1063023" y="7442002"/>
            <a:ext cx="1254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(memo.containsKey(n))</a:t>
            </a:r>
            <a:endParaRPr lang="en-US" sz="675" dirty="0"/>
          </a:p>
        </p:txBody>
      </p:sp>
      <p:sp>
        <p:nvSpPr>
          <p:cNvPr id="81" name="Text 68"/>
          <p:cNvSpPr/>
          <p:nvPr/>
        </p:nvSpPr>
        <p:spPr>
          <a:xfrm>
            <a:off x="2246040" y="74420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82" name="Text 69"/>
          <p:cNvSpPr/>
          <p:nvPr/>
        </p:nvSpPr>
        <p:spPr>
          <a:xfrm>
            <a:off x="857250" y="7556302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memo.get(n);</a:t>
            </a:r>
            <a:endParaRPr lang="en-US" sz="675" dirty="0"/>
          </a:p>
        </p:txBody>
      </p:sp>
      <p:sp>
        <p:nvSpPr>
          <p:cNvPr id="83" name="Text 70"/>
          <p:cNvSpPr/>
          <p:nvPr/>
        </p:nvSpPr>
        <p:spPr>
          <a:xfrm>
            <a:off x="960137" y="76706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84" name="Text 71"/>
          <p:cNvSpPr/>
          <p:nvPr/>
        </p:nvSpPr>
        <p:spPr>
          <a:xfrm>
            <a:off x="1114453" y="7670602"/>
            <a:ext cx="1614515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fib(n-1) + fib(n-2);</a:t>
            </a:r>
            <a:endParaRPr lang="en-US" sz="675" dirty="0"/>
          </a:p>
        </p:txBody>
      </p:sp>
      <p:sp>
        <p:nvSpPr>
          <p:cNvPr id="85" name="Text 72"/>
          <p:cNvSpPr/>
          <p:nvPr/>
        </p:nvSpPr>
        <p:spPr>
          <a:xfrm>
            <a:off x="857250" y="7784902"/>
            <a:ext cx="12030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memo.put(n, result);</a:t>
            </a:r>
            <a:endParaRPr lang="en-US" sz="675" dirty="0"/>
          </a:p>
        </p:txBody>
      </p:sp>
      <p:sp>
        <p:nvSpPr>
          <p:cNvPr id="86" name="Text 73"/>
          <p:cNvSpPr/>
          <p:nvPr/>
        </p:nvSpPr>
        <p:spPr>
          <a:xfrm>
            <a:off x="960137" y="78992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87" name="Text 74"/>
          <p:cNvSpPr/>
          <p:nvPr/>
        </p:nvSpPr>
        <p:spPr>
          <a:xfrm>
            <a:off x="1268769" y="7899202"/>
            <a:ext cx="4829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675" dirty="0"/>
          </a:p>
        </p:txBody>
      </p:sp>
      <p:sp>
        <p:nvSpPr>
          <p:cNvPr id="88" name="Text 75"/>
          <p:cNvSpPr/>
          <p:nvPr/>
        </p:nvSpPr>
        <p:spPr>
          <a:xfrm>
            <a:off x="857250" y="8013502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89" name="Shape 76"/>
          <p:cNvSpPr/>
          <p:nvPr/>
        </p:nvSpPr>
        <p:spPr>
          <a:xfrm>
            <a:off x="3314700" y="5986463"/>
            <a:ext cx="2514600" cy="23717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6129338"/>
            <a:ext cx="160734" cy="142875"/>
          </a:xfrm>
          <a:prstGeom prst="rect">
            <a:avLst/>
          </a:prstGeom>
        </p:spPr>
      </p:pic>
      <p:sp>
        <p:nvSpPr>
          <p:cNvPr id="91" name="Text 77"/>
          <p:cNvSpPr/>
          <p:nvPr/>
        </p:nvSpPr>
        <p:spPr>
          <a:xfrm>
            <a:off x="3646884" y="6100763"/>
            <a:ext cx="9479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Recursion</a:t>
            </a:r>
            <a:endParaRPr lang="en-US" sz="1013" dirty="0"/>
          </a:p>
        </p:txBody>
      </p:sp>
      <p:sp>
        <p:nvSpPr>
          <p:cNvPr id="92" name="Text 78"/>
          <p:cNvSpPr/>
          <p:nvPr/>
        </p:nvSpPr>
        <p:spPr>
          <a:xfrm>
            <a:off x="3429000" y="6386513"/>
            <a:ext cx="235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recursive call is the last operation to enable potential compiler optimizations.</a:t>
            </a:r>
            <a:endParaRPr lang="en-US" sz="788" dirty="0"/>
          </a:p>
        </p:txBody>
      </p:sp>
      <p:sp>
        <p:nvSpPr>
          <p:cNvPr id="93" name="Shape 79"/>
          <p:cNvSpPr/>
          <p:nvPr/>
        </p:nvSpPr>
        <p:spPr>
          <a:xfrm>
            <a:off x="3429000" y="6757988"/>
            <a:ext cx="2286000" cy="12573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80"/>
          <p:cNvSpPr/>
          <p:nvPr/>
        </p:nvSpPr>
        <p:spPr>
          <a:xfrm>
            <a:off x="3543300" y="68705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95" name="Text 81"/>
          <p:cNvSpPr/>
          <p:nvPr/>
        </p:nvSpPr>
        <p:spPr>
          <a:xfrm>
            <a:off x="3697616" y="6870502"/>
            <a:ext cx="637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675" dirty="0"/>
          </a:p>
        </p:txBody>
      </p:sp>
      <p:sp>
        <p:nvSpPr>
          <p:cNvPr id="96" name="Text 82"/>
          <p:cNvSpPr/>
          <p:nvPr/>
        </p:nvSpPr>
        <p:spPr>
          <a:xfrm>
            <a:off x="4263423" y="68705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97" name="Text 83"/>
          <p:cNvSpPr/>
          <p:nvPr/>
        </p:nvSpPr>
        <p:spPr>
          <a:xfrm>
            <a:off x="4417740" y="6870502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675" dirty="0"/>
          </a:p>
        </p:txBody>
      </p:sp>
      <p:sp>
        <p:nvSpPr>
          <p:cNvPr id="98" name="Text 84"/>
          <p:cNvSpPr/>
          <p:nvPr/>
        </p:nvSpPr>
        <p:spPr>
          <a:xfrm>
            <a:off x="4623485" y="68705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99" name="Text 85"/>
          <p:cNvSpPr/>
          <p:nvPr/>
        </p:nvSpPr>
        <p:spPr>
          <a:xfrm>
            <a:off x="4777801" y="6870502"/>
            <a:ext cx="431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acc) {</a:t>
            </a:r>
            <a:endParaRPr lang="en-US" sz="675" dirty="0"/>
          </a:p>
        </p:txBody>
      </p:sp>
      <p:sp>
        <p:nvSpPr>
          <p:cNvPr id="100" name="Text 86"/>
          <p:cNvSpPr/>
          <p:nvPr/>
        </p:nvSpPr>
        <p:spPr>
          <a:xfrm>
            <a:off x="3646187" y="6984802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01" name="Text 87"/>
          <p:cNvSpPr/>
          <p:nvPr/>
        </p:nvSpPr>
        <p:spPr>
          <a:xfrm>
            <a:off x="3749073" y="6984802"/>
            <a:ext cx="5858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675" dirty="0"/>
          </a:p>
        </p:txBody>
      </p:sp>
      <p:sp>
        <p:nvSpPr>
          <p:cNvPr id="102" name="Text 88"/>
          <p:cNvSpPr/>
          <p:nvPr/>
        </p:nvSpPr>
        <p:spPr>
          <a:xfrm>
            <a:off x="4263451" y="69848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03" name="Text 89"/>
          <p:cNvSpPr/>
          <p:nvPr/>
        </p:nvSpPr>
        <p:spPr>
          <a:xfrm>
            <a:off x="4572084" y="6984802"/>
            <a:ext cx="32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acc;</a:t>
            </a:r>
            <a:endParaRPr lang="en-US" sz="675" dirty="0"/>
          </a:p>
        </p:txBody>
      </p:sp>
      <p:sp>
        <p:nvSpPr>
          <p:cNvPr id="104" name="Text 90"/>
          <p:cNvSpPr/>
          <p:nvPr/>
        </p:nvSpPr>
        <p:spPr>
          <a:xfrm>
            <a:off x="3646187" y="70991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05" name="Text 91"/>
          <p:cNvSpPr/>
          <p:nvPr/>
        </p:nvSpPr>
        <p:spPr>
          <a:xfrm>
            <a:off x="3954819" y="7099102"/>
            <a:ext cx="1254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factorial(n-1, n*acc);</a:t>
            </a:r>
            <a:endParaRPr lang="en-US" sz="675" dirty="0"/>
          </a:p>
        </p:txBody>
      </p:sp>
      <p:sp>
        <p:nvSpPr>
          <p:cNvPr id="106" name="Text 92"/>
          <p:cNvSpPr/>
          <p:nvPr/>
        </p:nvSpPr>
        <p:spPr>
          <a:xfrm>
            <a:off x="3543300" y="7213402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107" name="Text 93"/>
          <p:cNvSpPr/>
          <p:nvPr/>
        </p:nvSpPr>
        <p:spPr>
          <a:xfrm>
            <a:off x="3543300" y="7442002"/>
            <a:ext cx="9458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wrapper</a:t>
            </a:r>
            <a:endParaRPr lang="en-US" sz="675" dirty="0"/>
          </a:p>
        </p:txBody>
      </p:sp>
      <p:sp>
        <p:nvSpPr>
          <p:cNvPr id="108" name="Text 94"/>
          <p:cNvSpPr/>
          <p:nvPr/>
        </p:nvSpPr>
        <p:spPr>
          <a:xfrm>
            <a:off x="3543300" y="75563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09" name="Text 95"/>
          <p:cNvSpPr/>
          <p:nvPr/>
        </p:nvSpPr>
        <p:spPr>
          <a:xfrm>
            <a:off x="3697616" y="7556302"/>
            <a:ext cx="637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675" dirty="0"/>
          </a:p>
        </p:txBody>
      </p:sp>
      <p:sp>
        <p:nvSpPr>
          <p:cNvPr id="110" name="Text 96"/>
          <p:cNvSpPr/>
          <p:nvPr/>
        </p:nvSpPr>
        <p:spPr>
          <a:xfrm>
            <a:off x="4263423" y="75563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11" name="Text 97"/>
          <p:cNvSpPr/>
          <p:nvPr/>
        </p:nvSpPr>
        <p:spPr>
          <a:xfrm>
            <a:off x="4417740" y="7556302"/>
            <a:ext cx="32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675" dirty="0"/>
          </a:p>
        </p:txBody>
      </p:sp>
      <p:sp>
        <p:nvSpPr>
          <p:cNvPr id="112" name="Text 98"/>
          <p:cNvSpPr/>
          <p:nvPr/>
        </p:nvSpPr>
        <p:spPr>
          <a:xfrm>
            <a:off x="3646187" y="76706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13" name="Text 99"/>
          <p:cNvSpPr/>
          <p:nvPr/>
        </p:nvSpPr>
        <p:spPr>
          <a:xfrm>
            <a:off x="3954819" y="7670602"/>
            <a:ext cx="94584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factorial(n, 1);</a:t>
            </a:r>
            <a:endParaRPr lang="en-US" sz="675" dirty="0"/>
          </a:p>
        </p:txBody>
      </p:sp>
      <p:sp>
        <p:nvSpPr>
          <p:cNvPr id="114" name="Text 100"/>
          <p:cNvSpPr/>
          <p:nvPr/>
        </p:nvSpPr>
        <p:spPr>
          <a:xfrm>
            <a:off x="3543300" y="7784902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115" name="Shape 101"/>
          <p:cNvSpPr/>
          <p:nvPr/>
        </p:nvSpPr>
        <p:spPr>
          <a:xfrm>
            <a:off x="6000750" y="5986463"/>
            <a:ext cx="2514600" cy="23717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6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6129338"/>
            <a:ext cx="160734" cy="142875"/>
          </a:xfrm>
          <a:prstGeom prst="rect">
            <a:avLst/>
          </a:prstGeom>
        </p:spPr>
      </p:pic>
      <p:sp>
        <p:nvSpPr>
          <p:cNvPr id="117" name="Text 102"/>
          <p:cNvSpPr/>
          <p:nvPr/>
        </p:nvSpPr>
        <p:spPr>
          <a:xfrm>
            <a:off x="6332934" y="6100763"/>
            <a:ext cx="13077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Conversion</a:t>
            </a:r>
            <a:endParaRPr lang="en-US" sz="1013" dirty="0"/>
          </a:p>
        </p:txBody>
      </p:sp>
      <p:sp>
        <p:nvSpPr>
          <p:cNvPr id="118" name="Text 103"/>
          <p:cNvSpPr/>
          <p:nvPr/>
        </p:nvSpPr>
        <p:spPr>
          <a:xfrm>
            <a:off x="6115050" y="6386513"/>
            <a:ext cx="235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Convert recursive algorithms to iterative form for better performance when appropriate.</a:t>
            </a:r>
            <a:endParaRPr lang="en-US" sz="788" dirty="0"/>
          </a:p>
        </p:txBody>
      </p:sp>
      <p:sp>
        <p:nvSpPr>
          <p:cNvPr id="119" name="Shape 104"/>
          <p:cNvSpPr/>
          <p:nvPr/>
        </p:nvSpPr>
        <p:spPr>
          <a:xfrm>
            <a:off x="6115050" y="6757988"/>
            <a:ext cx="2286000" cy="11430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05"/>
          <p:cNvSpPr/>
          <p:nvPr/>
        </p:nvSpPr>
        <p:spPr>
          <a:xfrm>
            <a:off x="6229350" y="6870502"/>
            <a:ext cx="1768804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Instead of recursive factorial</a:t>
            </a:r>
            <a:endParaRPr lang="en-US" sz="675" dirty="0"/>
          </a:p>
        </p:txBody>
      </p:sp>
      <p:sp>
        <p:nvSpPr>
          <p:cNvPr id="121" name="Text 106"/>
          <p:cNvSpPr/>
          <p:nvPr/>
        </p:nvSpPr>
        <p:spPr>
          <a:xfrm>
            <a:off x="6229350" y="69848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22" name="Text 107"/>
          <p:cNvSpPr/>
          <p:nvPr/>
        </p:nvSpPr>
        <p:spPr>
          <a:xfrm>
            <a:off x="6383666" y="6984802"/>
            <a:ext cx="6372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675" dirty="0"/>
          </a:p>
        </p:txBody>
      </p:sp>
      <p:sp>
        <p:nvSpPr>
          <p:cNvPr id="123" name="Text 108"/>
          <p:cNvSpPr/>
          <p:nvPr/>
        </p:nvSpPr>
        <p:spPr>
          <a:xfrm>
            <a:off x="6949473" y="69848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24" name="Text 109"/>
          <p:cNvSpPr/>
          <p:nvPr/>
        </p:nvSpPr>
        <p:spPr>
          <a:xfrm>
            <a:off x="7103790" y="6984802"/>
            <a:ext cx="3286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675" dirty="0"/>
          </a:p>
        </p:txBody>
      </p:sp>
      <p:sp>
        <p:nvSpPr>
          <p:cNvPr id="125" name="Text 110"/>
          <p:cNvSpPr/>
          <p:nvPr/>
        </p:nvSpPr>
        <p:spPr>
          <a:xfrm>
            <a:off x="6332237" y="70991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26" name="Text 111"/>
          <p:cNvSpPr/>
          <p:nvPr/>
        </p:nvSpPr>
        <p:spPr>
          <a:xfrm>
            <a:off x="6486553" y="7099102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1;</a:t>
            </a:r>
            <a:endParaRPr lang="en-US" sz="675" dirty="0"/>
          </a:p>
        </p:txBody>
      </p:sp>
      <p:sp>
        <p:nvSpPr>
          <p:cNvPr id="127" name="Text 112"/>
          <p:cNvSpPr/>
          <p:nvPr/>
        </p:nvSpPr>
        <p:spPr>
          <a:xfrm>
            <a:off x="6332237" y="72134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675" dirty="0"/>
          </a:p>
        </p:txBody>
      </p:sp>
      <p:sp>
        <p:nvSpPr>
          <p:cNvPr id="128" name="Text 113"/>
          <p:cNvSpPr/>
          <p:nvPr/>
        </p:nvSpPr>
        <p:spPr>
          <a:xfrm>
            <a:off x="6486553" y="7213402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675" dirty="0"/>
          </a:p>
        </p:txBody>
      </p:sp>
      <p:sp>
        <p:nvSpPr>
          <p:cNvPr id="129" name="Text 114"/>
          <p:cNvSpPr/>
          <p:nvPr/>
        </p:nvSpPr>
        <p:spPr>
          <a:xfrm>
            <a:off x="6589440" y="72134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30" name="Text 115"/>
          <p:cNvSpPr/>
          <p:nvPr/>
        </p:nvSpPr>
        <p:spPr>
          <a:xfrm>
            <a:off x="6743756" y="7213402"/>
            <a:ext cx="12030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1; i &lt;= n; i++) {</a:t>
            </a:r>
            <a:endParaRPr lang="en-US" sz="675" dirty="0"/>
          </a:p>
        </p:txBody>
      </p:sp>
      <p:sp>
        <p:nvSpPr>
          <p:cNvPr id="131" name="Text 116"/>
          <p:cNvSpPr/>
          <p:nvPr/>
        </p:nvSpPr>
        <p:spPr>
          <a:xfrm>
            <a:off x="6229350" y="7327702"/>
            <a:ext cx="894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*= i;</a:t>
            </a:r>
            <a:endParaRPr lang="en-US" sz="675" dirty="0"/>
          </a:p>
        </p:txBody>
      </p:sp>
      <p:sp>
        <p:nvSpPr>
          <p:cNvPr id="132" name="Text 117"/>
          <p:cNvSpPr/>
          <p:nvPr/>
        </p:nvSpPr>
        <p:spPr>
          <a:xfrm>
            <a:off x="6229350" y="7442002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133" name="Text 118"/>
          <p:cNvSpPr/>
          <p:nvPr/>
        </p:nvSpPr>
        <p:spPr>
          <a:xfrm>
            <a:off x="6332237" y="7556302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34" name="Text 119"/>
          <p:cNvSpPr/>
          <p:nvPr/>
        </p:nvSpPr>
        <p:spPr>
          <a:xfrm>
            <a:off x="6640869" y="7556302"/>
            <a:ext cx="4829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675" dirty="0"/>
          </a:p>
        </p:txBody>
      </p:sp>
      <p:sp>
        <p:nvSpPr>
          <p:cNvPr id="135" name="Text 120"/>
          <p:cNvSpPr/>
          <p:nvPr/>
        </p:nvSpPr>
        <p:spPr>
          <a:xfrm>
            <a:off x="6229350" y="7670602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136" name="Shape 121"/>
          <p:cNvSpPr/>
          <p:nvPr/>
        </p:nvSpPr>
        <p:spPr>
          <a:xfrm>
            <a:off x="628650" y="8529638"/>
            <a:ext cx="3857625" cy="13144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122"/>
          <p:cNvSpPr/>
          <p:nvPr/>
        </p:nvSpPr>
        <p:spPr>
          <a:xfrm>
            <a:off x="742950" y="8643938"/>
            <a:ext cx="37004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Keep Recursion</a:t>
            </a:r>
            <a:endParaRPr lang="en-US" sz="1013" dirty="0"/>
          </a:p>
        </p:txBody>
      </p:sp>
      <p:pic>
        <p:nvPicPr>
          <p:cNvPr id="138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8929688"/>
            <a:ext cx="100013" cy="100013"/>
          </a:xfrm>
          <a:prstGeom prst="rect">
            <a:avLst/>
          </a:prstGeom>
        </p:spPr>
      </p:pic>
      <p:sp>
        <p:nvSpPr>
          <p:cNvPr id="139" name="Text 123"/>
          <p:cNvSpPr/>
          <p:nvPr/>
        </p:nvSpPr>
        <p:spPr>
          <a:xfrm>
            <a:off x="900113" y="8901113"/>
            <a:ext cx="20613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is naturally recursive (trees, graphs)</a:t>
            </a:r>
            <a:endParaRPr lang="en-US" sz="788" dirty="0"/>
          </a:p>
        </p:txBody>
      </p:sp>
      <p:pic>
        <p:nvPicPr>
          <p:cNvPr id="140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9101138"/>
            <a:ext cx="100013" cy="100013"/>
          </a:xfrm>
          <a:prstGeom prst="rect">
            <a:avLst/>
          </a:prstGeom>
        </p:spPr>
      </p:pic>
      <p:sp>
        <p:nvSpPr>
          <p:cNvPr id="141" name="Text 124"/>
          <p:cNvSpPr/>
          <p:nvPr/>
        </p:nvSpPr>
        <p:spPr>
          <a:xfrm>
            <a:off x="900113" y="9072563"/>
            <a:ext cx="2406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readability is more important than performance</a:t>
            </a:r>
            <a:endParaRPr lang="en-US" sz="788" dirty="0"/>
          </a:p>
        </p:txBody>
      </p:sp>
      <p:pic>
        <p:nvPicPr>
          <p:cNvPr id="142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9272588"/>
            <a:ext cx="100013" cy="100013"/>
          </a:xfrm>
          <a:prstGeom prst="rect">
            <a:avLst/>
          </a:prstGeom>
        </p:spPr>
      </p:pic>
      <p:sp>
        <p:nvSpPr>
          <p:cNvPr id="143" name="Text 125"/>
          <p:cNvSpPr/>
          <p:nvPr/>
        </p:nvSpPr>
        <p:spPr>
          <a:xfrm>
            <a:off x="900113" y="9244013"/>
            <a:ext cx="17836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depth is known to be limited</a:t>
            </a:r>
            <a:endParaRPr lang="en-US" sz="788" dirty="0"/>
          </a:p>
        </p:txBody>
      </p:sp>
      <p:pic>
        <p:nvPicPr>
          <p:cNvPr id="144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9444038"/>
            <a:ext cx="100013" cy="100013"/>
          </a:xfrm>
          <a:prstGeom prst="rect">
            <a:avLst/>
          </a:prstGeom>
        </p:spPr>
      </p:pic>
      <p:sp>
        <p:nvSpPr>
          <p:cNvPr id="145" name="Text 126"/>
          <p:cNvSpPr/>
          <p:nvPr/>
        </p:nvSpPr>
        <p:spPr>
          <a:xfrm>
            <a:off x="900113" y="9415463"/>
            <a:ext cx="26602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 can effectively reduce redundant calculations</a:t>
            </a:r>
            <a:endParaRPr lang="en-US" sz="788" dirty="0"/>
          </a:p>
        </p:txBody>
      </p:sp>
      <p:sp>
        <p:nvSpPr>
          <p:cNvPr id="146" name="Shape 127"/>
          <p:cNvSpPr/>
          <p:nvPr/>
        </p:nvSpPr>
        <p:spPr>
          <a:xfrm>
            <a:off x="4657725" y="8529638"/>
            <a:ext cx="3857625" cy="131445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Text 128"/>
          <p:cNvSpPr/>
          <p:nvPr/>
        </p:nvSpPr>
        <p:spPr>
          <a:xfrm>
            <a:off x="4772025" y="8643938"/>
            <a:ext cx="37004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Convert to Iteration</a:t>
            </a:r>
            <a:endParaRPr lang="en-US" sz="1013" dirty="0"/>
          </a:p>
        </p:txBody>
      </p:sp>
      <p:pic>
        <p:nvPicPr>
          <p:cNvPr id="148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8929688"/>
            <a:ext cx="100013" cy="100013"/>
          </a:xfrm>
          <a:prstGeom prst="rect">
            <a:avLst/>
          </a:prstGeom>
        </p:spPr>
      </p:pic>
      <p:sp>
        <p:nvSpPr>
          <p:cNvPr id="149" name="Text 129"/>
          <p:cNvSpPr/>
          <p:nvPr/>
        </p:nvSpPr>
        <p:spPr>
          <a:xfrm>
            <a:off x="4929188" y="8901113"/>
            <a:ext cx="10551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is critical</a:t>
            </a:r>
            <a:endParaRPr lang="en-US" sz="788" dirty="0"/>
          </a:p>
        </p:txBody>
      </p:sp>
      <p:pic>
        <p:nvPicPr>
          <p:cNvPr id="15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9101138"/>
            <a:ext cx="100013" cy="100013"/>
          </a:xfrm>
          <a:prstGeom prst="rect">
            <a:avLst/>
          </a:prstGeom>
        </p:spPr>
      </p:pic>
      <p:sp>
        <p:nvSpPr>
          <p:cNvPr id="151" name="Text 130"/>
          <p:cNvSpPr/>
          <p:nvPr/>
        </p:nvSpPr>
        <p:spPr>
          <a:xfrm>
            <a:off x="4929188" y="9072563"/>
            <a:ext cx="16725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depth could be very large</a:t>
            </a:r>
            <a:endParaRPr lang="en-US" sz="788" dirty="0"/>
          </a:p>
        </p:txBody>
      </p:sp>
      <p:pic>
        <p:nvPicPr>
          <p:cNvPr id="152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9272588"/>
            <a:ext cx="100013" cy="100013"/>
          </a:xfrm>
          <a:prstGeom prst="rect">
            <a:avLst/>
          </a:prstGeom>
        </p:spPr>
      </p:pic>
      <p:sp>
        <p:nvSpPr>
          <p:cNvPr id="153" name="Text 131"/>
          <p:cNvSpPr/>
          <p:nvPr/>
        </p:nvSpPr>
        <p:spPr>
          <a:xfrm>
            <a:off x="4929188" y="9244013"/>
            <a:ext cx="12887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overflow is a concern</a:t>
            </a:r>
            <a:endParaRPr lang="en-US" sz="788" dirty="0"/>
          </a:p>
        </p:txBody>
      </p:sp>
      <p:pic>
        <p:nvPicPr>
          <p:cNvPr id="154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9444038"/>
            <a:ext cx="100013" cy="100013"/>
          </a:xfrm>
          <a:prstGeom prst="rect">
            <a:avLst/>
          </a:prstGeom>
        </p:spPr>
      </p:pic>
      <p:sp>
        <p:nvSpPr>
          <p:cNvPr id="155" name="Text 132"/>
          <p:cNvSpPr/>
          <p:nvPr/>
        </p:nvSpPr>
        <p:spPr>
          <a:xfrm>
            <a:off x="4929188" y="9415463"/>
            <a:ext cx="176135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usage needs to be minimized</a:t>
            </a:r>
            <a:endParaRPr lang="en-US" sz="788" dirty="0"/>
          </a:p>
        </p:txBody>
      </p:sp>
      <p:pic>
        <p:nvPicPr>
          <p:cNvPr id="156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9615488"/>
            <a:ext cx="100013" cy="100013"/>
          </a:xfrm>
          <a:prstGeom prst="rect">
            <a:avLst/>
          </a:prstGeom>
        </p:spPr>
      </p:pic>
      <p:sp>
        <p:nvSpPr>
          <p:cNvPr id="157" name="Text 133"/>
          <p:cNvSpPr/>
          <p:nvPr/>
        </p:nvSpPr>
        <p:spPr>
          <a:xfrm>
            <a:off x="4929188" y="9586913"/>
            <a:ext cx="22671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Iterative solution is not significantly more complex</a:t>
            </a:r>
            <a:endParaRPr lang="en-US" sz="788" dirty="0"/>
          </a:p>
        </p:txBody>
      </p:sp>
      <p:sp>
        <p:nvSpPr>
          <p:cNvPr id="158" name="Shape 134"/>
          <p:cNvSpPr/>
          <p:nvPr/>
        </p:nvSpPr>
        <p:spPr>
          <a:xfrm>
            <a:off x="628650" y="10015538"/>
            <a:ext cx="7886700" cy="571500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9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10215563"/>
            <a:ext cx="214313" cy="171450"/>
          </a:xfrm>
          <a:prstGeom prst="rect">
            <a:avLst/>
          </a:prstGeom>
        </p:spPr>
      </p:pic>
      <p:sp>
        <p:nvSpPr>
          <p:cNvPr id="160" name="Text 135"/>
          <p:cNvSpPr/>
          <p:nvPr/>
        </p:nvSpPr>
        <p:spPr>
          <a:xfrm>
            <a:off x="1071563" y="10129838"/>
            <a:ext cx="7400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consider the trade-offs between code readability, maintainability, and performance when deciding between recursive and iterative approaches.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54876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62880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014565" y="455414"/>
            <a:ext cx="140980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46434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Memoization?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2858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2950" y="1600200"/>
            <a:ext cx="350043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 is an optimization technique that stores the results of expensive function calls and returns the cached result when the same inputs occur again.</a:t>
            </a:r>
            <a:endParaRPr lang="en-US" sz="1013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400300"/>
            <a:ext cx="192881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1556" y="2314575"/>
            <a:ext cx="32218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it as a "remember what you've already calculated" approach.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28650" y="294322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Benefits:</a:t>
            </a:r>
            <a:endParaRPr lang="en-US" sz="1125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25755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100" y="3228975"/>
            <a:ext cx="3557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Dramatically improves performance for recursive functions with overlapping subproblems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657600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629025"/>
            <a:ext cx="30191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time complexity (often from exponential to linear)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388620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0100" y="3857625"/>
            <a:ext cx="24156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Preserves the clean, recursive implementation</a:t>
            </a:r>
            <a:endParaRPr lang="en-US" sz="9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4800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0100" y="4086225"/>
            <a:ext cx="35575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Enables solutions to problems that would otherwise be computationally infeasible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628650" y="4600575"/>
            <a:ext cx="3657600" cy="77152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4743450"/>
            <a:ext cx="107156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07256" y="4714875"/>
            <a:ext cx="62153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</a:t>
            </a:r>
            <a:endParaRPr lang="en-US" sz="1013" dirty="0"/>
          </a:p>
        </p:txBody>
      </p:sp>
      <p:sp>
        <p:nvSpPr>
          <p:cNvPr id="23" name="Text 14"/>
          <p:cNvSpPr/>
          <p:nvPr/>
        </p:nvSpPr>
        <p:spPr>
          <a:xfrm>
            <a:off x="742950" y="4972050"/>
            <a:ext cx="3500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 trades space for time: we use additional memory to store results, but gain significant speed improvements.</a:t>
            </a:r>
            <a:endParaRPr lang="en-US" sz="788" dirty="0"/>
          </a:p>
        </p:txBody>
      </p:sp>
      <p:sp>
        <p:nvSpPr>
          <p:cNvPr id="24" name="Shape 15"/>
          <p:cNvSpPr/>
          <p:nvPr/>
        </p:nvSpPr>
        <p:spPr>
          <a:xfrm>
            <a:off x="4686300" y="971550"/>
            <a:ext cx="4000500" cy="46434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6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Redundant Calculations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4857750" y="1485900"/>
            <a:ext cx="3657600" cy="16287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8"/>
          <p:cNvSpPr/>
          <p:nvPr/>
        </p:nvSpPr>
        <p:spPr>
          <a:xfrm>
            <a:off x="4972050" y="1600200"/>
            <a:ext cx="3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the naive recursive Fibonacci implementation:</a:t>
            </a:r>
            <a:endParaRPr lang="en-US" sz="1013" dirty="0"/>
          </a:p>
        </p:txBody>
      </p:sp>
      <p:sp>
        <p:nvSpPr>
          <p:cNvPr id="28" name="Shape 19"/>
          <p:cNvSpPr/>
          <p:nvPr/>
        </p:nvSpPr>
        <p:spPr>
          <a:xfrm>
            <a:off x="4972050" y="1914525"/>
            <a:ext cx="3429000" cy="10858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5086350" y="20323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0" name="Text 21"/>
          <p:cNvSpPr/>
          <p:nvPr/>
        </p:nvSpPr>
        <p:spPr>
          <a:xfrm>
            <a:off x="5266395" y="203239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788" dirty="0"/>
          </a:p>
        </p:txBody>
      </p:sp>
      <p:sp>
        <p:nvSpPr>
          <p:cNvPr id="31" name="Text 22"/>
          <p:cNvSpPr/>
          <p:nvPr/>
        </p:nvSpPr>
        <p:spPr>
          <a:xfrm>
            <a:off x="5926494" y="20323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2" name="Text 23"/>
          <p:cNvSpPr/>
          <p:nvPr/>
        </p:nvSpPr>
        <p:spPr>
          <a:xfrm>
            <a:off x="6106539" y="203239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33" name="Text 24"/>
          <p:cNvSpPr/>
          <p:nvPr/>
        </p:nvSpPr>
        <p:spPr>
          <a:xfrm>
            <a:off x="5206371" y="21752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34" name="Text 25"/>
          <p:cNvSpPr/>
          <p:nvPr/>
        </p:nvSpPr>
        <p:spPr>
          <a:xfrm>
            <a:off x="5326391" y="217527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788" dirty="0"/>
          </a:p>
        </p:txBody>
      </p:sp>
      <p:sp>
        <p:nvSpPr>
          <p:cNvPr id="35" name="Text 26"/>
          <p:cNvSpPr/>
          <p:nvPr/>
        </p:nvSpPr>
        <p:spPr>
          <a:xfrm>
            <a:off x="5326391" y="23181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36" name="Text 27"/>
          <p:cNvSpPr/>
          <p:nvPr/>
        </p:nvSpPr>
        <p:spPr>
          <a:xfrm>
            <a:off x="5686453" y="23181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788" dirty="0"/>
          </a:p>
        </p:txBody>
      </p:sp>
      <p:sp>
        <p:nvSpPr>
          <p:cNvPr id="37" name="Text 28"/>
          <p:cNvSpPr/>
          <p:nvPr/>
        </p:nvSpPr>
        <p:spPr>
          <a:xfrm>
            <a:off x="5086350" y="24610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38" name="Text 29"/>
          <p:cNvSpPr/>
          <p:nvPr/>
        </p:nvSpPr>
        <p:spPr>
          <a:xfrm>
            <a:off x="5206371" y="26038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39" name="Text 30"/>
          <p:cNvSpPr/>
          <p:nvPr/>
        </p:nvSpPr>
        <p:spPr>
          <a:xfrm>
            <a:off x="5566432" y="2603897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fibonacci(n - 1) + fibonacci(n - 2);</a:t>
            </a:r>
            <a:endParaRPr lang="en-US" sz="788" dirty="0"/>
          </a:p>
        </p:txBody>
      </p:sp>
      <p:sp>
        <p:nvSpPr>
          <p:cNvPr id="40" name="Text 31"/>
          <p:cNvSpPr/>
          <p:nvPr/>
        </p:nvSpPr>
        <p:spPr>
          <a:xfrm>
            <a:off x="5086350" y="27467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1" name="Text 32"/>
          <p:cNvSpPr/>
          <p:nvPr/>
        </p:nvSpPr>
        <p:spPr>
          <a:xfrm>
            <a:off x="4857750" y="3286125"/>
            <a:ext cx="3729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Redundancy Visualization:</a:t>
            </a:r>
            <a:endParaRPr lang="en-US" sz="1125" dirty="0"/>
          </a:p>
        </p:txBody>
      </p:sp>
      <p:sp>
        <p:nvSpPr>
          <p:cNvPr id="42" name="Text 33"/>
          <p:cNvSpPr/>
          <p:nvPr/>
        </p:nvSpPr>
        <p:spPr>
          <a:xfrm>
            <a:off x="4857750" y="35718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fibonacci(5), notice how many times fibonacci(2) is calculated:</a:t>
            </a:r>
            <a:endParaRPr lang="en-US" sz="788" dirty="0"/>
          </a:p>
        </p:txBody>
      </p:sp>
      <p:sp>
        <p:nvSpPr>
          <p:cNvPr id="43" name="Shape 34"/>
          <p:cNvSpPr/>
          <p:nvPr/>
        </p:nvSpPr>
        <p:spPr>
          <a:xfrm>
            <a:off x="6329363" y="380047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6386513" y="38576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fib(5)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5853103" y="425767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7"/>
          <p:cNvSpPr/>
          <p:nvPr/>
        </p:nvSpPr>
        <p:spPr>
          <a:xfrm>
            <a:off x="5910253" y="43148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fib(4)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6805594" y="425767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/>
          <p:nvPr/>
        </p:nvSpPr>
        <p:spPr>
          <a:xfrm>
            <a:off x="6862744" y="43148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fib(3)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5614988" y="4714875"/>
            <a:ext cx="714375" cy="300038"/>
          </a:xfrm>
          <a:prstGeom prst="rect">
            <a:avLst/>
          </a:prstGeom>
          <a:solidFill>
            <a:srgbClr val="1E40AF">
              <a:alpha val="50000"/>
            </a:srgbClr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1"/>
          <p:cNvSpPr/>
          <p:nvPr/>
        </p:nvSpPr>
        <p:spPr>
          <a:xfrm>
            <a:off x="5672138" y="47720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fib(3)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4900613" y="4714875"/>
            <a:ext cx="714375" cy="300038"/>
          </a:xfrm>
          <a:prstGeom prst="rect">
            <a:avLst/>
          </a:prstGeom>
          <a:solidFill>
            <a:srgbClr val="991B1B">
              <a:alpha val="50000"/>
            </a:srgbClr>
          </a:solidFill>
          <a:ln w="99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3"/>
          <p:cNvSpPr/>
          <p:nvPr/>
        </p:nvSpPr>
        <p:spPr>
          <a:xfrm>
            <a:off x="4957763" y="47720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fib(2)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4900613" y="4714875"/>
            <a:ext cx="714375" cy="300038"/>
          </a:xfrm>
          <a:prstGeom prst="rect">
            <a:avLst/>
          </a:prstGeom>
          <a:solidFill>
            <a:srgbClr val="991B1B">
              <a:alpha val="50000"/>
            </a:srgbClr>
          </a:solidFill>
          <a:ln w="99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/>
          <p:nvPr/>
        </p:nvSpPr>
        <p:spPr>
          <a:xfrm>
            <a:off x="4957763" y="47720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fib(2)</a:t>
            </a:r>
            <a:endParaRPr lang="en-US" sz="900" dirty="0"/>
          </a:p>
        </p:txBody>
      </p:sp>
      <p:sp>
        <p:nvSpPr>
          <p:cNvPr id="55" name="Shape 46"/>
          <p:cNvSpPr/>
          <p:nvPr/>
        </p:nvSpPr>
        <p:spPr>
          <a:xfrm>
            <a:off x="7043738" y="4714875"/>
            <a:ext cx="714375" cy="300038"/>
          </a:xfrm>
          <a:prstGeom prst="rect">
            <a:avLst/>
          </a:prstGeom>
          <a:solidFill>
            <a:srgbClr val="047857">
              <a:alpha val="50000"/>
            </a:srgbClr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/>
          <p:nvPr/>
        </p:nvSpPr>
        <p:spPr>
          <a:xfrm>
            <a:off x="7100888" y="47720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fib(1)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4900613" y="5172075"/>
            <a:ext cx="714375" cy="300038"/>
          </a:xfrm>
          <a:prstGeom prst="rect">
            <a:avLst/>
          </a:prstGeom>
          <a:solidFill>
            <a:srgbClr val="991B1B">
              <a:alpha val="50000"/>
            </a:srgbClr>
          </a:solidFill>
          <a:ln w="99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/>
          <p:nvPr/>
        </p:nvSpPr>
        <p:spPr>
          <a:xfrm>
            <a:off x="4957763" y="52292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fib(2)</a:t>
            </a:r>
            <a:endParaRPr lang="en-US" sz="900" dirty="0"/>
          </a:p>
        </p:txBody>
      </p:sp>
      <p:sp>
        <p:nvSpPr>
          <p:cNvPr id="59" name="Shape 50"/>
          <p:cNvSpPr/>
          <p:nvPr/>
        </p:nvSpPr>
        <p:spPr>
          <a:xfrm>
            <a:off x="4900613" y="5172075"/>
            <a:ext cx="714375" cy="300038"/>
          </a:xfrm>
          <a:prstGeom prst="rect">
            <a:avLst/>
          </a:prstGeom>
          <a:solidFill>
            <a:srgbClr val="047857">
              <a:alpha val="50000"/>
            </a:srgbClr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/>
          <p:nvPr/>
        </p:nvSpPr>
        <p:spPr>
          <a:xfrm>
            <a:off x="4957763" y="5229225"/>
            <a:ext cx="6715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fib(1)</a:t>
            </a:r>
            <a:endParaRPr lang="en-US" sz="900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800475"/>
            <a:ext cx="2857500" cy="1285875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4857750" y="514350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fibonacci(2) is calculated 3 times!</a:t>
            </a:r>
            <a:endParaRPr lang="en-US" sz="788" dirty="0"/>
          </a:p>
        </p:txBody>
      </p:sp>
      <p:sp>
        <p:nvSpPr>
          <p:cNvPr id="63" name="Text 53"/>
          <p:cNvSpPr/>
          <p:nvPr/>
        </p:nvSpPr>
        <p:spPr>
          <a:xfrm>
            <a:off x="4857750" y="5314950"/>
            <a:ext cx="3729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larger values of n, redundancy grows exponentially</a:t>
            </a:r>
            <a:endParaRPr lang="en-US" sz="675" dirty="0"/>
          </a:p>
        </p:txBody>
      </p:sp>
      <p:sp>
        <p:nvSpPr>
          <p:cNvPr id="64" name="Shape 54"/>
          <p:cNvSpPr/>
          <p:nvPr/>
        </p:nvSpPr>
        <p:spPr>
          <a:xfrm>
            <a:off x="457200" y="5829300"/>
            <a:ext cx="8229600" cy="91868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5"/>
          <p:cNvSpPr/>
          <p:nvPr/>
        </p:nvSpPr>
        <p:spPr>
          <a:xfrm>
            <a:off x="628650" y="6000750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Implementing Memoization in Java</a:t>
            </a:r>
            <a:endParaRPr lang="en-US" sz="1350" dirty="0"/>
          </a:p>
        </p:txBody>
      </p:sp>
      <p:sp>
        <p:nvSpPr>
          <p:cNvPr id="66" name="Text 56"/>
          <p:cNvSpPr/>
          <p:nvPr/>
        </p:nvSpPr>
        <p:spPr>
          <a:xfrm>
            <a:off x="628650" y="6343650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a HashMap</a:t>
            </a:r>
            <a:endParaRPr lang="en-US" sz="1125" dirty="0"/>
          </a:p>
        </p:txBody>
      </p:sp>
      <p:sp>
        <p:nvSpPr>
          <p:cNvPr id="67" name="Shape 57"/>
          <p:cNvSpPr/>
          <p:nvPr/>
        </p:nvSpPr>
        <p:spPr>
          <a:xfrm>
            <a:off x="628650" y="6629400"/>
            <a:ext cx="3829050" cy="322897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58"/>
          <p:cNvSpPr/>
          <p:nvPr/>
        </p:nvSpPr>
        <p:spPr>
          <a:xfrm>
            <a:off x="742950" y="674727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</a:t>
            </a:r>
            <a:endParaRPr lang="en-US" sz="788" dirty="0"/>
          </a:p>
        </p:txBody>
      </p:sp>
      <p:sp>
        <p:nvSpPr>
          <p:cNvPr id="69" name="Text 59"/>
          <p:cNvSpPr/>
          <p:nvPr/>
        </p:nvSpPr>
        <p:spPr>
          <a:xfrm>
            <a:off x="1763083" y="674727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788" dirty="0"/>
          </a:p>
        </p:txBody>
      </p:sp>
      <p:sp>
        <p:nvSpPr>
          <p:cNvPr id="70" name="Text 60"/>
          <p:cNvSpPr/>
          <p:nvPr/>
        </p:nvSpPr>
        <p:spPr>
          <a:xfrm>
            <a:off x="2423182" y="67472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71" name="Text 61"/>
          <p:cNvSpPr/>
          <p:nvPr/>
        </p:nvSpPr>
        <p:spPr>
          <a:xfrm>
            <a:off x="2603227" y="67472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72" name="Text 62"/>
          <p:cNvSpPr/>
          <p:nvPr/>
        </p:nvSpPr>
        <p:spPr>
          <a:xfrm>
            <a:off x="862971" y="68901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73" name="Text 63"/>
          <p:cNvSpPr/>
          <p:nvPr/>
        </p:nvSpPr>
        <p:spPr>
          <a:xfrm>
            <a:off x="1223032" y="689014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fibMemo(n,</a:t>
            </a:r>
            <a:endParaRPr lang="en-US" sz="788" dirty="0"/>
          </a:p>
        </p:txBody>
      </p:sp>
      <p:sp>
        <p:nvSpPr>
          <p:cNvPr id="74" name="Text 64"/>
          <p:cNvSpPr/>
          <p:nvPr/>
        </p:nvSpPr>
        <p:spPr>
          <a:xfrm>
            <a:off x="1943128" y="68901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788" dirty="0"/>
          </a:p>
        </p:txBody>
      </p:sp>
      <p:sp>
        <p:nvSpPr>
          <p:cNvPr id="75" name="Text 65"/>
          <p:cNvSpPr/>
          <p:nvPr/>
        </p:nvSpPr>
        <p:spPr>
          <a:xfrm>
            <a:off x="2123173" y="6890147"/>
            <a:ext cx="9115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HashMap&lt;&gt;());</a:t>
            </a:r>
            <a:endParaRPr lang="en-US" sz="788" dirty="0"/>
          </a:p>
        </p:txBody>
      </p:sp>
      <p:sp>
        <p:nvSpPr>
          <p:cNvPr id="76" name="Text 66"/>
          <p:cNvSpPr/>
          <p:nvPr/>
        </p:nvSpPr>
        <p:spPr>
          <a:xfrm>
            <a:off x="742950" y="70330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77" name="Text 67"/>
          <p:cNvSpPr/>
          <p:nvPr/>
        </p:nvSpPr>
        <p:spPr>
          <a:xfrm>
            <a:off x="742950" y="7318772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int</a:t>
            </a:r>
            <a:endParaRPr lang="en-US" sz="788" dirty="0"/>
          </a:p>
        </p:txBody>
      </p:sp>
      <p:sp>
        <p:nvSpPr>
          <p:cNvPr id="78" name="Text 68"/>
          <p:cNvSpPr/>
          <p:nvPr/>
        </p:nvSpPr>
        <p:spPr>
          <a:xfrm>
            <a:off x="1823107" y="731877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fibMemo(</a:t>
            </a:r>
            <a:endParaRPr lang="en-US" sz="788" dirty="0"/>
          </a:p>
        </p:txBody>
      </p:sp>
      <p:sp>
        <p:nvSpPr>
          <p:cNvPr id="79" name="Text 69"/>
          <p:cNvSpPr/>
          <p:nvPr/>
        </p:nvSpPr>
        <p:spPr>
          <a:xfrm>
            <a:off x="2363186" y="73187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80" name="Text 70"/>
          <p:cNvSpPr/>
          <p:nvPr/>
        </p:nvSpPr>
        <p:spPr>
          <a:xfrm>
            <a:off x="2543231" y="7318772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 Map&lt;</a:t>
            </a:r>
            <a:endParaRPr lang="en-US" sz="788" dirty="0"/>
          </a:p>
        </p:txBody>
      </p:sp>
      <p:sp>
        <p:nvSpPr>
          <p:cNvPr id="81" name="Text 71"/>
          <p:cNvSpPr/>
          <p:nvPr/>
        </p:nvSpPr>
        <p:spPr>
          <a:xfrm>
            <a:off x="3023313" y="7318772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788" dirty="0"/>
          </a:p>
        </p:txBody>
      </p:sp>
      <p:sp>
        <p:nvSpPr>
          <p:cNvPr id="82" name="Text 72"/>
          <p:cNvSpPr/>
          <p:nvPr/>
        </p:nvSpPr>
        <p:spPr>
          <a:xfrm>
            <a:off x="3443371" y="73187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788" dirty="0"/>
          </a:p>
        </p:txBody>
      </p:sp>
      <p:sp>
        <p:nvSpPr>
          <p:cNvPr id="83" name="Text 73"/>
          <p:cNvSpPr/>
          <p:nvPr/>
        </p:nvSpPr>
        <p:spPr>
          <a:xfrm>
            <a:off x="3563392" y="7318772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788" dirty="0"/>
          </a:p>
        </p:txBody>
      </p:sp>
      <p:sp>
        <p:nvSpPr>
          <p:cNvPr id="84" name="Text 74"/>
          <p:cNvSpPr/>
          <p:nvPr/>
        </p:nvSpPr>
        <p:spPr>
          <a:xfrm>
            <a:off x="742950" y="7318772"/>
            <a:ext cx="337196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memo) {</a:t>
            </a:r>
            <a:endParaRPr lang="en-US" sz="788" dirty="0"/>
          </a:p>
        </p:txBody>
      </p:sp>
      <p:sp>
        <p:nvSpPr>
          <p:cNvPr id="85" name="Text 75"/>
          <p:cNvSpPr/>
          <p:nvPr/>
        </p:nvSpPr>
        <p:spPr>
          <a:xfrm>
            <a:off x="862971" y="7604522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cases</a:t>
            </a:r>
            <a:endParaRPr lang="en-US" sz="788" dirty="0"/>
          </a:p>
        </p:txBody>
      </p:sp>
      <p:sp>
        <p:nvSpPr>
          <p:cNvPr id="86" name="Text 76"/>
          <p:cNvSpPr/>
          <p:nvPr/>
        </p:nvSpPr>
        <p:spPr>
          <a:xfrm>
            <a:off x="862971" y="77473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87" name="Text 77"/>
          <p:cNvSpPr/>
          <p:nvPr/>
        </p:nvSpPr>
        <p:spPr>
          <a:xfrm>
            <a:off x="982991" y="774739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788" dirty="0"/>
          </a:p>
        </p:txBody>
      </p:sp>
      <p:sp>
        <p:nvSpPr>
          <p:cNvPr id="88" name="Text 78"/>
          <p:cNvSpPr/>
          <p:nvPr/>
        </p:nvSpPr>
        <p:spPr>
          <a:xfrm>
            <a:off x="982991" y="78902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89" name="Text 79"/>
          <p:cNvSpPr/>
          <p:nvPr/>
        </p:nvSpPr>
        <p:spPr>
          <a:xfrm>
            <a:off x="1343053" y="78902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788" dirty="0"/>
          </a:p>
        </p:txBody>
      </p:sp>
      <p:sp>
        <p:nvSpPr>
          <p:cNvPr id="90" name="Text 80"/>
          <p:cNvSpPr/>
          <p:nvPr/>
        </p:nvSpPr>
        <p:spPr>
          <a:xfrm>
            <a:off x="742950" y="80331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91" name="Text 81"/>
          <p:cNvSpPr/>
          <p:nvPr/>
        </p:nvSpPr>
        <p:spPr>
          <a:xfrm>
            <a:off x="862971" y="8318897"/>
            <a:ext cx="289179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if we've already calculated this value</a:t>
            </a:r>
            <a:endParaRPr lang="en-US" sz="788" dirty="0"/>
          </a:p>
        </p:txBody>
      </p:sp>
      <p:sp>
        <p:nvSpPr>
          <p:cNvPr id="92" name="Text 82"/>
          <p:cNvSpPr/>
          <p:nvPr/>
        </p:nvSpPr>
        <p:spPr>
          <a:xfrm>
            <a:off x="862971" y="846177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93" name="Text 83"/>
          <p:cNvSpPr/>
          <p:nvPr/>
        </p:nvSpPr>
        <p:spPr>
          <a:xfrm>
            <a:off x="982991" y="8461772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(memo.containsKey(n)) {</a:t>
            </a:r>
            <a:endParaRPr lang="en-US" sz="788" dirty="0"/>
          </a:p>
        </p:txBody>
      </p:sp>
      <p:sp>
        <p:nvSpPr>
          <p:cNvPr id="94" name="Text 84"/>
          <p:cNvSpPr/>
          <p:nvPr/>
        </p:nvSpPr>
        <p:spPr>
          <a:xfrm>
            <a:off x="982991" y="86046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95" name="Text 85"/>
          <p:cNvSpPr/>
          <p:nvPr/>
        </p:nvSpPr>
        <p:spPr>
          <a:xfrm>
            <a:off x="1343053" y="8604647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memo.get(n);</a:t>
            </a:r>
            <a:endParaRPr lang="en-US" sz="788" dirty="0"/>
          </a:p>
        </p:txBody>
      </p:sp>
      <p:sp>
        <p:nvSpPr>
          <p:cNvPr id="96" name="Text 86"/>
          <p:cNvSpPr/>
          <p:nvPr/>
        </p:nvSpPr>
        <p:spPr>
          <a:xfrm>
            <a:off x="742950" y="87475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97" name="Text 87"/>
          <p:cNvSpPr/>
          <p:nvPr/>
        </p:nvSpPr>
        <p:spPr>
          <a:xfrm>
            <a:off x="862971" y="9033272"/>
            <a:ext cx="205170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Calculate and store the result</a:t>
            </a:r>
            <a:endParaRPr lang="en-US" sz="788" dirty="0"/>
          </a:p>
        </p:txBody>
      </p:sp>
      <p:sp>
        <p:nvSpPr>
          <p:cNvPr id="98" name="Text 88"/>
          <p:cNvSpPr/>
          <p:nvPr/>
        </p:nvSpPr>
        <p:spPr>
          <a:xfrm>
            <a:off x="862971" y="91761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99" name="Text 89"/>
          <p:cNvSpPr/>
          <p:nvPr/>
        </p:nvSpPr>
        <p:spPr>
          <a:xfrm>
            <a:off x="1043015" y="9176147"/>
            <a:ext cx="331185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fibMemo(n - 1, memo) + fibMemo(n - 2, memo);</a:t>
            </a:r>
            <a:endParaRPr lang="en-US" sz="788" dirty="0"/>
          </a:p>
        </p:txBody>
      </p:sp>
      <p:sp>
        <p:nvSpPr>
          <p:cNvPr id="100" name="Text 90"/>
          <p:cNvSpPr/>
          <p:nvPr/>
        </p:nvSpPr>
        <p:spPr>
          <a:xfrm>
            <a:off x="742950" y="9319022"/>
            <a:ext cx="13916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memo.put(n, result);</a:t>
            </a:r>
            <a:endParaRPr lang="en-US" sz="788" dirty="0"/>
          </a:p>
        </p:txBody>
      </p:sp>
      <p:sp>
        <p:nvSpPr>
          <p:cNvPr id="101" name="Text 91"/>
          <p:cNvSpPr/>
          <p:nvPr/>
        </p:nvSpPr>
        <p:spPr>
          <a:xfrm>
            <a:off x="862971" y="94618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02" name="Text 92"/>
          <p:cNvSpPr/>
          <p:nvPr/>
        </p:nvSpPr>
        <p:spPr>
          <a:xfrm>
            <a:off x="1223032" y="94618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788" dirty="0"/>
          </a:p>
        </p:txBody>
      </p:sp>
      <p:sp>
        <p:nvSpPr>
          <p:cNvPr id="103" name="Text 93"/>
          <p:cNvSpPr/>
          <p:nvPr/>
        </p:nvSpPr>
        <p:spPr>
          <a:xfrm>
            <a:off x="742950" y="96047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04" name="Shape 94"/>
          <p:cNvSpPr/>
          <p:nvPr/>
        </p:nvSpPr>
        <p:spPr>
          <a:xfrm>
            <a:off x="628650" y="9972675"/>
            <a:ext cx="3829050" cy="4572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5"/>
          <p:cNvSpPr/>
          <p:nvPr/>
        </p:nvSpPr>
        <p:spPr>
          <a:xfrm>
            <a:off x="714375" y="10058400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complexity: O(n) - Each value is calculated exactly once</a:t>
            </a:r>
            <a:endParaRPr lang="en-US" sz="788" dirty="0"/>
          </a:p>
        </p:txBody>
      </p:sp>
      <p:sp>
        <p:nvSpPr>
          <p:cNvPr id="106" name="Text 96"/>
          <p:cNvSpPr/>
          <p:nvPr/>
        </p:nvSpPr>
        <p:spPr>
          <a:xfrm>
            <a:off x="714375" y="102012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Space complexity: O(n) - For storing n values in the memo map</a:t>
            </a:r>
            <a:endParaRPr lang="en-US" sz="788" dirty="0"/>
          </a:p>
        </p:txBody>
      </p:sp>
      <p:sp>
        <p:nvSpPr>
          <p:cNvPr id="107" name="Text 97"/>
          <p:cNvSpPr/>
          <p:nvPr/>
        </p:nvSpPr>
        <p:spPr>
          <a:xfrm>
            <a:off x="4686300" y="6343650"/>
            <a:ext cx="3900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an Array</a:t>
            </a:r>
            <a:endParaRPr lang="en-US" sz="1125" dirty="0"/>
          </a:p>
        </p:txBody>
      </p:sp>
      <p:sp>
        <p:nvSpPr>
          <p:cNvPr id="108" name="Shape 98"/>
          <p:cNvSpPr/>
          <p:nvPr/>
        </p:nvSpPr>
        <p:spPr>
          <a:xfrm>
            <a:off x="4686300" y="6629400"/>
            <a:ext cx="3829050" cy="394335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99"/>
          <p:cNvSpPr/>
          <p:nvPr/>
        </p:nvSpPr>
        <p:spPr>
          <a:xfrm>
            <a:off x="4800600" y="6747272"/>
            <a:ext cx="10915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int</a:t>
            </a:r>
            <a:endParaRPr lang="en-US" sz="788" dirty="0"/>
          </a:p>
        </p:txBody>
      </p:sp>
      <p:sp>
        <p:nvSpPr>
          <p:cNvPr id="110" name="Text 100"/>
          <p:cNvSpPr/>
          <p:nvPr/>
        </p:nvSpPr>
        <p:spPr>
          <a:xfrm>
            <a:off x="5820733" y="674727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788" dirty="0"/>
          </a:p>
        </p:txBody>
      </p:sp>
      <p:sp>
        <p:nvSpPr>
          <p:cNvPr id="111" name="Text 101"/>
          <p:cNvSpPr/>
          <p:nvPr/>
        </p:nvSpPr>
        <p:spPr>
          <a:xfrm>
            <a:off x="6480832" y="67472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2" name="Text 102"/>
          <p:cNvSpPr/>
          <p:nvPr/>
        </p:nvSpPr>
        <p:spPr>
          <a:xfrm>
            <a:off x="6660877" y="67472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113" name="Text 103"/>
          <p:cNvSpPr/>
          <p:nvPr/>
        </p:nvSpPr>
        <p:spPr>
          <a:xfrm>
            <a:off x="4920621" y="689014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14" name="Text 104"/>
          <p:cNvSpPr/>
          <p:nvPr/>
        </p:nvSpPr>
        <p:spPr>
          <a:xfrm>
            <a:off x="5040641" y="689014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 0) {</a:t>
            </a:r>
            <a:endParaRPr lang="en-US" sz="788" dirty="0"/>
          </a:p>
        </p:txBody>
      </p:sp>
      <p:sp>
        <p:nvSpPr>
          <p:cNvPr id="115" name="Text 105"/>
          <p:cNvSpPr/>
          <p:nvPr/>
        </p:nvSpPr>
        <p:spPr>
          <a:xfrm>
            <a:off x="5040641" y="70330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endParaRPr lang="en-US" sz="788" dirty="0"/>
          </a:p>
        </p:txBody>
      </p:sp>
      <p:sp>
        <p:nvSpPr>
          <p:cNvPr id="116" name="Text 106"/>
          <p:cNvSpPr/>
          <p:nvPr/>
        </p:nvSpPr>
        <p:spPr>
          <a:xfrm>
            <a:off x="4800600" y="7033022"/>
            <a:ext cx="355189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IllegalArgumentException("Input must be non-negative");</a:t>
            </a:r>
            <a:endParaRPr lang="en-US" sz="788" dirty="0"/>
          </a:p>
        </p:txBody>
      </p:sp>
      <p:sp>
        <p:nvSpPr>
          <p:cNvPr id="117" name="Text 107"/>
          <p:cNvSpPr/>
          <p:nvPr/>
        </p:nvSpPr>
        <p:spPr>
          <a:xfrm>
            <a:off x="4800600" y="73187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18" name="Text 108"/>
          <p:cNvSpPr/>
          <p:nvPr/>
        </p:nvSpPr>
        <p:spPr>
          <a:xfrm>
            <a:off x="4920621" y="7604522"/>
            <a:ext cx="169164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memoization array</a:t>
            </a:r>
            <a:endParaRPr lang="en-US" sz="788" dirty="0"/>
          </a:p>
        </p:txBody>
      </p:sp>
      <p:sp>
        <p:nvSpPr>
          <p:cNvPr id="119" name="Text 109"/>
          <p:cNvSpPr/>
          <p:nvPr/>
        </p:nvSpPr>
        <p:spPr>
          <a:xfrm>
            <a:off x="4920621" y="77473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20" name="Text 110"/>
          <p:cNvSpPr/>
          <p:nvPr/>
        </p:nvSpPr>
        <p:spPr>
          <a:xfrm>
            <a:off x="5100665" y="774739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memo =</a:t>
            </a:r>
            <a:endParaRPr lang="en-US" sz="788" dirty="0"/>
          </a:p>
        </p:txBody>
      </p:sp>
      <p:sp>
        <p:nvSpPr>
          <p:cNvPr id="121" name="Text 111"/>
          <p:cNvSpPr/>
          <p:nvPr/>
        </p:nvSpPr>
        <p:spPr>
          <a:xfrm>
            <a:off x="5700740" y="7747397"/>
            <a:ext cx="4914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int</a:t>
            </a:r>
            <a:endParaRPr lang="en-US" sz="788" dirty="0"/>
          </a:p>
        </p:txBody>
      </p:sp>
      <p:sp>
        <p:nvSpPr>
          <p:cNvPr id="122" name="Text 112"/>
          <p:cNvSpPr/>
          <p:nvPr/>
        </p:nvSpPr>
        <p:spPr>
          <a:xfrm>
            <a:off x="6120798" y="77473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 + 1];</a:t>
            </a:r>
            <a:endParaRPr lang="en-US" sz="788" dirty="0"/>
          </a:p>
        </p:txBody>
      </p:sp>
      <p:sp>
        <p:nvSpPr>
          <p:cNvPr id="123" name="Text 113"/>
          <p:cNvSpPr/>
          <p:nvPr/>
        </p:nvSpPr>
        <p:spPr>
          <a:xfrm>
            <a:off x="4800600" y="7890272"/>
            <a:ext cx="1571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Arrays.fill(memo, -1);</a:t>
            </a:r>
            <a:endParaRPr lang="en-US" sz="788" dirty="0"/>
          </a:p>
        </p:txBody>
      </p:sp>
      <p:sp>
        <p:nvSpPr>
          <p:cNvPr id="124" name="Text 114"/>
          <p:cNvSpPr/>
          <p:nvPr/>
        </p:nvSpPr>
        <p:spPr>
          <a:xfrm>
            <a:off x="4800600" y="7890272"/>
            <a:ext cx="2831799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Initialize with -1 (uncalculated)</a:t>
            </a:r>
            <a:endParaRPr lang="en-US" sz="788" dirty="0"/>
          </a:p>
        </p:txBody>
      </p:sp>
      <p:sp>
        <p:nvSpPr>
          <p:cNvPr id="125" name="Text 115"/>
          <p:cNvSpPr/>
          <p:nvPr/>
        </p:nvSpPr>
        <p:spPr>
          <a:xfrm>
            <a:off x="4920621" y="83188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26" name="Text 116"/>
          <p:cNvSpPr/>
          <p:nvPr/>
        </p:nvSpPr>
        <p:spPr>
          <a:xfrm>
            <a:off x="5280682" y="8318897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fibMemo(n, memo);</a:t>
            </a:r>
            <a:endParaRPr lang="en-US" sz="788" dirty="0"/>
          </a:p>
        </p:txBody>
      </p:sp>
      <p:sp>
        <p:nvSpPr>
          <p:cNvPr id="127" name="Text 117"/>
          <p:cNvSpPr/>
          <p:nvPr/>
        </p:nvSpPr>
        <p:spPr>
          <a:xfrm>
            <a:off x="4800600" y="84617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28" name="Text 118"/>
          <p:cNvSpPr/>
          <p:nvPr/>
        </p:nvSpPr>
        <p:spPr>
          <a:xfrm>
            <a:off x="4800600" y="8747522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int</a:t>
            </a:r>
            <a:endParaRPr lang="en-US" sz="788" dirty="0"/>
          </a:p>
        </p:txBody>
      </p:sp>
      <p:sp>
        <p:nvSpPr>
          <p:cNvPr id="129" name="Text 119"/>
          <p:cNvSpPr/>
          <p:nvPr/>
        </p:nvSpPr>
        <p:spPr>
          <a:xfrm>
            <a:off x="5880757" y="87475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fibMemo(</a:t>
            </a:r>
            <a:endParaRPr lang="en-US" sz="788" dirty="0"/>
          </a:p>
        </p:txBody>
      </p:sp>
      <p:sp>
        <p:nvSpPr>
          <p:cNvPr id="130" name="Text 120"/>
          <p:cNvSpPr/>
          <p:nvPr/>
        </p:nvSpPr>
        <p:spPr>
          <a:xfrm>
            <a:off x="6420836" y="87475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1" name="Text 121"/>
          <p:cNvSpPr/>
          <p:nvPr/>
        </p:nvSpPr>
        <p:spPr>
          <a:xfrm>
            <a:off x="6600881" y="87475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132" name="Text 122"/>
          <p:cNvSpPr/>
          <p:nvPr/>
        </p:nvSpPr>
        <p:spPr>
          <a:xfrm>
            <a:off x="6840922" y="87475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3" name="Text 123"/>
          <p:cNvSpPr/>
          <p:nvPr/>
        </p:nvSpPr>
        <p:spPr>
          <a:xfrm>
            <a:off x="7020967" y="87475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memo) {</a:t>
            </a:r>
            <a:endParaRPr lang="en-US" sz="788" dirty="0"/>
          </a:p>
        </p:txBody>
      </p:sp>
      <p:sp>
        <p:nvSpPr>
          <p:cNvPr id="134" name="Text 124"/>
          <p:cNvSpPr/>
          <p:nvPr/>
        </p:nvSpPr>
        <p:spPr>
          <a:xfrm>
            <a:off x="4920621" y="88903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35" name="Text 125"/>
          <p:cNvSpPr/>
          <p:nvPr/>
        </p:nvSpPr>
        <p:spPr>
          <a:xfrm>
            <a:off x="5040641" y="889039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788" dirty="0"/>
          </a:p>
        </p:txBody>
      </p:sp>
      <p:sp>
        <p:nvSpPr>
          <p:cNvPr id="136" name="Text 126"/>
          <p:cNvSpPr/>
          <p:nvPr/>
        </p:nvSpPr>
        <p:spPr>
          <a:xfrm>
            <a:off x="5040641" y="90332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37" name="Text 127"/>
          <p:cNvSpPr/>
          <p:nvPr/>
        </p:nvSpPr>
        <p:spPr>
          <a:xfrm>
            <a:off x="5400703" y="90332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788" dirty="0"/>
          </a:p>
        </p:txBody>
      </p:sp>
      <p:sp>
        <p:nvSpPr>
          <p:cNvPr id="138" name="Text 128"/>
          <p:cNvSpPr/>
          <p:nvPr/>
        </p:nvSpPr>
        <p:spPr>
          <a:xfrm>
            <a:off x="4800600" y="91761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39" name="Text 129"/>
          <p:cNvSpPr/>
          <p:nvPr/>
        </p:nvSpPr>
        <p:spPr>
          <a:xfrm>
            <a:off x="4920621" y="94618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40" name="Text 130"/>
          <p:cNvSpPr/>
          <p:nvPr/>
        </p:nvSpPr>
        <p:spPr>
          <a:xfrm>
            <a:off x="5040641" y="9461897"/>
            <a:ext cx="11515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(memo[n] != -1) {</a:t>
            </a:r>
            <a:endParaRPr lang="en-US" sz="788" dirty="0"/>
          </a:p>
        </p:txBody>
      </p:sp>
      <p:sp>
        <p:nvSpPr>
          <p:cNvPr id="141" name="Text 131"/>
          <p:cNvSpPr/>
          <p:nvPr/>
        </p:nvSpPr>
        <p:spPr>
          <a:xfrm>
            <a:off x="5040641" y="96047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2" name="Text 132"/>
          <p:cNvSpPr/>
          <p:nvPr/>
        </p:nvSpPr>
        <p:spPr>
          <a:xfrm>
            <a:off x="5400703" y="960477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43" name="Text 133"/>
          <p:cNvSpPr/>
          <p:nvPr/>
        </p:nvSpPr>
        <p:spPr>
          <a:xfrm>
            <a:off x="4800600" y="97476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4" name="Text 134"/>
          <p:cNvSpPr/>
          <p:nvPr/>
        </p:nvSpPr>
        <p:spPr>
          <a:xfrm>
            <a:off x="4800600" y="10033397"/>
            <a:ext cx="343187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 = fibMemo(n - 1, memo) + fibMemo(n - 2, memo);</a:t>
            </a:r>
            <a:endParaRPr lang="en-US" sz="788" dirty="0"/>
          </a:p>
        </p:txBody>
      </p:sp>
      <p:sp>
        <p:nvSpPr>
          <p:cNvPr id="145" name="Text 135"/>
          <p:cNvSpPr/>
          <p:nvPr/>
        </p:nvSpPr>
        <p:spPr>
          <a:xfrm>
            <a:off x="4920621" y="101762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6" name="Text 136"/>
          <p:cNvSpPr/>
          <p:nvPr/>
        </p:nvSpPr>
        <p:spPr>
          <a:xfrm>
            <a:off x="5280682" y="1017627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47" name="Text 137"/>
          <p:cNvSpPr/>
          <p:nvPr/>
        </p:nvSpPr>
        <p:spPr>
          <a:xfrm>
            <a:off x="4800600" y="103191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8" name="Shape 138"/>
          <p:cNvSpPr/>
          <p:nvPr/>
        </p:nvSpPr>
        <p:spPr>
          <a:xfrm>
            <a:off x="4686300" y="10687050"/>
            <a:ext cx="3829050" cy="60007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Text 139"/>
          <p:cNvSpPr/>
          <p:nvPr/>
        </p:nvSpPr>
        <p:spPr>
          <a:xfrm>
            <a:off x="4772025" y="10772775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Array-based memoization is more efficient when:</a:t>
            </a:r>
            <a:endParaRPr lang="en-US" sz="788" dirty="0"/>
          </a:p>
        </p:txBody>
      </p:sp>
      <p:sp>
        <p:nvSpPr>
          <p:cNvPr id="150" name="Text 140"/>
          <p:cNvSpPr/>
          <p:nvPr/>
        </p:nvSpPr>
        <p:spPr>
          <a:xfrm>
            <a:off x="4772025" y="10944225"/>
            <a:ext cx="3729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input domain is numeric with a reasonable range</a:t>
            </a:r>
            <a:endParaRPr lang="en-US" sz="675" dirty="0"/>
          </a:p>
        </p:txBody>
      </p:sp>
      <p:sp>
        <p:nvSpPr>
          <p:cNvPr id="151" name="Text 141"/>
          <p:cNvSpPr/>
          <p:nvPr/>
        </p:nvSpPr>
        <p:spPr>
          <a:xfrm>
            <a:off x="4772025" y="11087100"/>
            <a:ext cx="37290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Memory usage is a concern (arrays have less overhead than HashMaps)</a:t>
            </a:r>
            <a:endParaRPr lang="en-US" sz="675" dirty="0"/>
          </a:p>
        </p:txBody>
      </p:sp>
      <p:sp>
        <p:nvSpPr>
          <p:cNvPr id="152" name="Text 142"/>
          <p:cNvSpPr/>
          <p:nvPr/>
        </p:nvSpPr>
        <p:spPr>
          <a:xfrm>
            <a:off x="628650" y="11458575"/>
            <a:ext cx="7958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Memoization Examples</a:t>
            </a:r>
            <a:endParaRPr lang="en-US" sz="1125" dirty="0"/>
          </a:p>
        </p:txBody>
      </p:sp>
      <p:sp>
        <p:nvSpPr>
          <p:cNvPr id="153" name="Shape 143"/>
          <p:cNvSpPr/>
          <p:nvPr/>
        </p:nvSpPr>
        <p:spPr>
          <a:xfrm>
            <a:off x="628650" y="11744325"/>
            <a:ext cx="3886200" cy="18002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Shape 144"/>
          <p:cNvSpPr/>
          <p:nvPr/>
        </p:nvSpPr>
        <p:spPr>
          <a:xfrm>
            <a:off x="628650" y="11744325"/>
            <a:ext cx="28575" cy="180022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Text 145"/>
          <p:cNvSpPr/>
          <p:nvPr/>
        </p:nvSpPr>
        <p:spPr>
          <a:xfrm>
            <a:off x="742950" y="11830050"/>
            <a:ext cx="3843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Pascal's Triangle</a:t>
            </a:r>
            <a:endParaRPr lang="en-US" sz="1013" dirty="0"/>
          </a:p>
        </p:txBody>
      </p:sp>
      <p:sp>
        <p:nvSpPr>
          <p:cNvPr id="156" name="Shape 146"/>
          <p:cNvSpPr/>
          <p:nvPr/>
        </p:nvSpPr>
        <p:spPr>
          <a:xfrm>
            <a:off x="742950" y="12087225"/>
            <a:ext cx="3771900" cy="10287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Text 147"/>
          <p:cNvSpPr/>
          <p:nvPr/>
        </p:nvSpPr>
        <p:spPr>
          <a:xfrm>
            <a:off x="857250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58" name="Text 148"/>
          <p:cNvSpPr/>
          <p:nvPr/>
        </p:nvSpPr>
        <p:spPr>
          <a:xfrm>
            <a:off x="1011566" y="12199739"/>
            <a:ext cx="4829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pascal(</a:t>
            </a:r>
            <a:endParaRPr lang="en-US" sz="675" dirty="0"/>
          </a:p>
        </p:txBody>
      </p:sp>
      <p:sp>
        <p:nvSpPr>
          <p:cNvPr id="159" name="Text 149"/>
          <p:cNvSpPr/>
          <p:nvPr/>
        </p:nvSpPr>
        <p:spPr>
          <a:xfrm>
            <a:off x="1423057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60" name="Text 150"/>
          <p:cNvSpPr/>
          <p:nvPr/>
        </p:nvSpPr>
        <p:spPr>
          <a:xfrm>
            <a:off x="1577373" y="121997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row,</a:t>
            </a:r>
            <a:endParaRPr lang="en-US" sz="675" dirty="0"/>
          </a:p>
        </p:txBody>
      </p:sp>
      <p:sp>
        <p:nvSpPr>
          <p:cNvPr id="161" name="Text 151"/>
          <p:cNvSpPr/>
          <p:nvPr/>
        </p:nvSpPr>
        <p:spPr>
          <a:xfrm>
            <a:off x="1886006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62" name="Text 152"/>
          <p:cNvSpPr/>
          <p:nvPr/>
        </p:nvSpPr>
        <p:spPr>
          <a:xfrm>
            <a:off x="2040322" y="121997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col,</a:t>
            </a:r>
            <a:endParaRPr lang="en-US" sz="675" dirty="0"/>
          </a:p>
        </p:txBody>
      </p:sp>
      <p:sp>
        <p:nvSpPr>
          <p:cNvPr id="163" name="Text 153"/>
          <p:cNvSpPr/>
          <p:nvPr/>
        </p:nvSpPr>
        <p:spPr>
          <a:xfrm>
            <a:off x="2348954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64" name="Text 154"/>
          <p:cNvSpPr/>
          <p:nvPr/>
        </p:nvSpPr>
        <p:spPr>
          <a:xfrm>
            <a:off x="2503270" y="12199739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memo) {</a:t>
            </a:r>
            <a:endParaRPr lang="en-US" sz="675" dirty="0"/>
          </a:p>
        </p:txBody>
      </p:sp>
      <p:sp>
        <p:nvSpPr>
          <p:cNvPr id="165" name="Text 155"/>
          <p:cNvSpPr/>
          <p:nvPr/>
        </p:nvSpPr>
        <p:spPr>
          <a:xfrm>
            <a:off x="960137" y="1231403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66" name="Text 156"/>
          <p:cNvSpPr/>
          <p:nvPr/>
        </p:nvSpPr>
        <p:spPr>
          <a:xfrm>
            <a:off x="1063023" y="12314039"/>
            <a:ext cx="140877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 == 0 || col == row)</a:t>
            </a:r>
            <a:endParaRPr lang="en-US" sz="675" dirty="0"/>
          </a:p>
        </p:txBody>
      </p:sp>
      <p:sp>
        <p:nvSpPr>
          <p:cNvPr id="167" name="Text 157"/>
          <p:cNvSpPr/>
          <p:nvPr/>
        </p:nvSpPr>
        <p:spPr>
          <a:xfrm>
            <a:off x="2400356" y="123140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68" name="Text 158"/>
          <p:cNvSpPr/>
          <p:nvPr/>
        </p:nvSpPr>
        <p:spPr>
          <a:xfrm>
            <a:off x="2708988" y="123140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675" dirty="0"/>
          </a:p>
        </p:txBody>
      </p:sp>
      <p:sp>
        <p:nvSpPr>
          <p:cNvPr id="169" name="Text 159"/>
          <p:cNvSpPr/>
          <p:nvPr/>
        </p:nvSpPr>
        <p:spPr>
          <a:xfrm>
            <a:off x="960137" y="1242833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70" name="Text 160"/>
          <p:cNvSpPr/>
          <p:nvPr/>
        </p:nvSpPr>
        <p:spPr>
          <a:xfrm>
            <a:off x="1063023" y="12428339"/>
            <a:ext cx="12544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(memo[row][col] != 0)</a:t>
            </a:r>
            <a:endParaRPr lang="en-US" sz="675" dirty="0"/>
          </a:p>
        </p:txBody>
      </p:sp>
      <p:sp>
        <p:nvSpPr>
          <p:cNvPr id="171" name="Text 161"/>
          <p:cNvSpPr/>
          <p:nvPr/>
        </p:nvSpPr>
        <p:spPr>
          <a:xfrm>
            <a:off x="2246040" y="124283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72" name="Text 162"/>
          <p:cNvSpPr/>
          <p:nvPr/>
        </p:nvSpPr>
        <p:spPr>
          <a:xfrm>
            <a:off x="2554672" y="12428339"/>
            <a:ext cx="894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memo[row][col];</a:t>
            </a:r>
            <a:endParaRPr lang="en-US" sz="675" dirty="0"/>
          </a:p>
        </p:txBody>
      </p:sp>
      <p:sp>
        <p:nvSpPr>
          <p:cNvPr id="173" name="Text 163"/>
          <p:cNvSpPr/>
          <p:nvPr/>
        </p:nvSpPr>
        <p:spPr>
          <a:xfrm>
            <a:off x="857250" y="12542639"/>
            <a:ext cx="346617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memo[row][col] = pascal(row-1, col-1, memo) + pascal(row-1, col, memo);</a:t>
            </a:r>
            <a:endParaRPr lang="en-US" sz="675" dirty="0"/>
          </a:p>
        </p:txBody>
      </p:sp>
      <p:sp>
        <p:nvSpPr>
          <p:cNvPr id="174" name="Text 164"/>
          <p:cNvSpPr/>
          <p:nvPr/>
        </p:nvSpPr>
        <p:spPr>
          <a:xfrm>
            <a:off x="960137" y="127712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75" name="Text 165"/>
          <p:cNvSpPr/>
          <p:nvPr/>
        </p:nvSpPr>
        <p:spPr>
          <a:xfrm>
            <a:off x="1268769" y="12771239"/>
            <a:ext cx="894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memo[row][col];</a:t>
            </a:r>
            <a:endParaRPr lang="en-US" sz="675" dirty="0"/>
          </a:p>
        </p:txBody>
      </p:sp>
      <p:sp>
        <p:nvSpPr>
          <p:cNvPr id="176" name="Text 166"/>
          <p:cNvSpPr/>
          <p:nvPr/>
        </p:nvSpPr>
        <p:spPr>
          <a:xfrm>
            <a:off x="857250" y="1288553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177" name="Shape 167"/>
          <p:cNvSpPr/>
          <p:nvPr/>
        </p:nvSpPr>
        <p:spPr>
          <a:xfrm>
            <a:off x="4629150" y="11744325"/>
            <a:ext cx="3886200" cy="18002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Shape 168"/>
          <p:cNvSpPr/>
          <p:nvPr/>
        </p:nvSpPr>
        <p:spPr>
          <a:xfrm>
            <a:off x="4629150" y="11744325"/>
            <a:ext cx="28575" cy="180022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9" name="Text 169"/>
          <p:cNvSpPr/>
          <p:nvPr/>
        </p:nvSpPr>
        <p:spPr>
          <a:xfrm>
            <a:off x="4743450" y="11830050"/>
            <a:ext cx="38433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Longest Common Subsequence</a:t>
            </a:r>
            <a:endParaRPr lang="en-US" sz="1013" dirty="0"/>
          </a:p>
        </p:txBody>
      </p:sp>
      <p:sp>
        <p:nvSpPr>
          <p:cNvPr id="180" name="Shape 170"/>
          <p:cNvSpPr/>
          <p:nvPr/>
        </p:nvSpPr>
        <p:spPr>
          <a:xfrm>
            <a:off x="4743450" y="12087225"/>
            <a:ext cx="3771900" cy="13716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Text 171"/>
          <p:cNvSpPr/>
          <p:nvPr/>
        </p:nvSpPr>
        <p:spPr>
          <a:xfrm>
            <a:off x="4857750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82" name="Text 172"/>
          <p:cNvSpPr/>
          <p:nvPr/>
        </p:nvSpPr>
        <p:spPr>
          <a:xfrm>
            <a:off x="5012066" y="12199739"/>
            <a:ext cx="1460199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lcs(String s1, String s2,</a:t>
            </a:r>
            <a:endParaRPr lang="en-US" sz="675" dirty="0"/>
          </a:p>
        </p:txBody>
      </p:sp>
      <p:sp>
        <p:nvSpPr>
          <p:cNvPr id="183" name="Text 173"/>
          <p:cNvSpPr/>
          <p:nvPr/>
        </p:nvSpPr>
        <p:spPr>
          <a:xfrm>
            <a:off x="6400828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84" name="Text 174"/>
          <p:cNvSpPr/>
          <p:nvPr/>
        </p:nvSpPr>
        <p:spPr>
          <a:xfrm>
            <a:off x="6555144" y="12199739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</a:t>
            </a:r>
            <a:endParaRPr lang="en-US" sz="675" dirty="0"/>
          </a:p>
        </p:txBody>
      </p:sp>
      <p:sp>
        <p:nvSpPr>
          <p:cNvPr id="185" name="Text 175"/>
          <p:cNvSpPr/>
          <p:nvPr/>
        </p:nvSpPr>
        <p:spPr>
          <a:xfrm>
            <a:off x="6760890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86" name="Text 176"/>
          <p:cNvSpPr/>
          <p:nvPr/>
        </p:nvSpPr>
        <p:spPr>
          <a:xfrm>
            <a:off x="6915206" y="12199739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j,</a:t>
            </a:r>
            <a:endParaRPr lang="en-US" sz="675" dirty="0"/>
          </a:p>
        </p:txBody>
      </p:sp>
      <p:sp>
        <p:nvSpPr>
          <p:cNvPr id="187" name="Text 177"/>
          <p:cNvSpPr/>
          <p:nvPr/>
        </p:nvSpPr>
        <p:spPr>
          <a:xfrm>
            <a:off x="7120951" y="121997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675" dirty="0"/>
          </a:p>
        </p:txBody>
      </p:sp>
      <p:sp>
        <p:nvSpPr>
          <p:cNvPr id="188" name="Text 178"/>
          <p:cNvSpPr/>
          <p:nvPr/>
        </p:nvSpPr>
        <p:spPr>
          <a:xfrm>
            <a:off x="7275268" y="12199739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[][] memo) {</a:t>
            </a:r>
            <a:endParaRPr lang="en-US" sz="675" dirty="0"/>
          </a:p>
        </p:txBody>
      </p:sp>
      <p:sp>
        <p:nvSpPr>
          <p:cNvPr id="189" name="Text 179"/>
          <p:cNvSpPr/>
          <p:nvPr/>
        </p:nvSpPr>
        <p:spPr>
          <a:xfrm>
            <a:off x="4960637" y="1231403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90" name="Text 180"/>
          <p:cNvSpPr/>
          <p:nvPr/>
        </p:nvSpPr>
        <p:spPr>
          <a:xfrm>
            <a:off x="5063523" y="12314039"/>
            <a:ext cx="11001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 == 0 || j == 0)</a:t>
            </a:r>
            <a:endParaRPr lang="en-US" sz="675" dirty="0"/>
          </a:p>
        </p:txBody>
      </p:sp>
      <p:sp>
        <p:nvSpPr>
          <p:cNvPr id="191" name="Text 181"/>
          <p:cNvSpPr/>
          <p:nvPr/>
        </p:nvSpPr>
        <p:spPr>
          <a:xfrm>
            <a:off x="6092251" y="123140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92" name="Text 182"/>
          <p:cNvSpPr/>
          <p:nvPr/>
        </p:nvSpPr>
        <p:spPr>
          <a:xfrm>
            <a:off x="6400884" y="12314039"/>
            <a:ext cx="22575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0;</a:t>
            </a:r>
            <a:endParaRPr lang="en-US" sz="675" dirty="0"/>
          </a:p>
        </p:txBody>
      </p:sp>
      <p:sp>
        <p:nvSpPr>
          <p:cNvPr id="193" name="Text 183"/>
          <p:cNvSpPr/>
          <p:nvPr/>
        </p:nvSpPr>
        <p:spPr>
          <a:xfrm>
            <a:off x="4960637" y="1242833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94" name="Text 184"/>
          <p:cNvSpPr/>
          <p:nvPr/>
        </p:nvSpPr>
        <p:spPr>
          <a:xfrm>
            <a:off x="5063523" y="12428339"/>
            <a:ext cx="11001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(memo[i][j] != -1)</a:t>
            </a:r>
            <a:endParaRPr lang="en-US" sz="675" dirty="0"/>
          </a:p>
        </p:txBody>
      </p:sp>
      <p:sp>
        <p:nvSpPr>
          <p:cNvPr id="195" name="Text 185"/>
          <p:cNvSpPr/>
          <p:nvPr/>
        </p:nvSpPr>
        <p:spPr>
          <a:xfrm>
            <a:off x="6092251" y="124283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196" name="Text 186"/>
          <p:cNvSpPr/>
          <p:nvPr/>
        </p:nvSpPr>
        <p:spPr>
          <a:xfrm>
            <a:off x="6400884" y="12428339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memo[i][j];</a:t>
            </a:r>
            <a:endParaRPr lang="en-US" sz="675" dirty="0"/>
          </a:p>
        </p:txBody>
      </p:sp>
      <p:sp>
        <p:nvSpPr>
          <p:cNvPr id="197" name="Text 187"/>
          <p:cNvSpPr/>
          <p:nvPr/>
        </p:nvSpPr>
        <p:spPr>
          <a:xfrm>
            <a:off x="4960637" y="1254263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198" name="Text 188"/>
          <p:cNvSpPr/>
          <p:nvPr/>
        </p:nvSpPr>
        <p:spPr>
          <a:xfrm>
            <a:off x="5063523" y="12542639"/>
            <a:ext cx="1871690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(s1.charAt(i-1) == s2.charAt(j-1))</a:t>
            </a:r>
            <a:endParaRPr lang="en-US" sz="675" dirty="0"/>
          </a:p>
        </p:txBody>
      </p:sp>
      <p:sp>
        <p:nvSpPr>
          <p:cNvPr id="199" name="Text 189"/>
          <p:cNvSpPr/>
          <p:nvPr/>
        </p:nvSpPr>
        <p:spPr>
          <a:xfrm>
            <a:off x="4857750" y="12656939"/>
            <a:ext cx="259175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memo[i][j] = 1 + lcs(s1, s2, i-1, j-1, memo);</a:t>
            </a:r>
            <a:endParaRPr lang="en-US" sz="675" dirty="0"/>
          </a:p>
        </p:txBody>
      </p:sp>
      <p:sp>
        <p:nvSpPr>
          <p:cNvPr id="200" name="Text 190"/>
          <p:cNvSpPr/>
          <p:nvPr/>
        </p:nvSpPr>
        <p:spPr>
          <a:xfrm>
            <a:off x="4960637" y="12771239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675" dirty="0"/>
          </a:p>
        </p:txBody>
      </p:sp>
      <p:sp>
        <p:nvSpPr>
          <p:cNvPr id="201" name="Text 191"/>
          <p:cNvSpPr/>
          <p:nvPr/>
        </p:nvSpPr>
        <p:spPr>
          <a:xfrm>
            <a:off x="4857750" y="12885539"/>
            <a:ext cx="351759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memo[i][j] = Math.max(lcs(s1, s2, i-1, j, memo), lcs(s1, s2, i, j-1, memo));</a:t>
            </a:r>
            <a:endParaRPr lang="en-US" sz="675" dirty="0"/>
          </a:p>
        </p:txBody>
      </p:sp>
      <p:sp>
        <p:nvSpPr>
          <p:cNvPr id="202" name="Text 192"/>
          <p:cNvSpPr/>
          <p:nvPr/>
        </p:nvSpPr>
        <p:spPr>
          <a:xfrm>
            <a:off x="4960637" y="1311413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203" name="Text 193"/>
          <p:cNvSpPr/>
          <p:nvPr/>
        </p:nvSpPr>
        <p:spPr>
          <a:xfrm>
            <a:off x="5269269" y="13114139"/>
            <a:ext cx="68867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memo[i][j];</a:t>
            </a:r>
            <a:endParaRPr lang="en-US" sz="675" dirty="0"/>
          </a:p>
        </p:txBody>
      </p:sp>
      <p:sp>
        <p:nvSpPr>
          <p:cNvPr id="204" name="Text 194"/>
          <p:cNvSpPr/>
          <p:nvPr/>
        </p:nvSpPr>
        <p:spPr>
          <a:xfrm>
            <a:off x="4857750" y="1322843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205" name="Shape 195"/>
          <p:cNvSpPr/>
          <p:nvPr/>
        </p:nvSpPr>
        <p:spPr>
          <a:xfrm>
            <a:off x="628650" y="13716000"/>
            <a:ext cx="7886700" cy="111442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4187488"/>
            <a:ext cx="128588" cy="171450"/>
          </a:xfrm>
          <a:prstGeom prst="rect">
            <a:avLst/>
          </a:prstGeom>
        </p:spPr>
      </p:pic>
      <p:sp>
        <p:nvSpPr>
          <p:cNvPr id="207" name="Text 196"/>
          <p:cNvSpPr/>
          <p:nvPr/>
        </p:nvSpPr>
        <p:spPr>
          <a:xfrm>
            <a:off x="985838" y="13830300"/>
            <a:ext cx="55933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1013" dirty="0"/>
          </a:p>
        </p:txBody>
      </p:sp>
      <p:sp>
        <p:nvSpPr>
          <p:cNvPr id="208" name="Text 197"/>
          <p:cNvSpPr/>
          <p:nvPr/>
        </p:nvSpPr>
        <p:spPr>
          <a:xfrm>
            <a:off x="985838" y="14058900"/>
            <a:ext cx="5593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memoization when you notice overlapping subproblems in recursive solutions</a:t>
            </a:r>
            <a:endParaRPr lang="en-US" sz="788" dirty="0"/>
          </a:p>
        </p:txBody>
      </p:sp>
      <p:sp>
        <p:nvSpPr>
          <p:cNvPr id="209" name="Text 198"/>
          <p:cNvSpPr/>
          <p:nvPr/>
        </p:nvSpPr>
        <p:spPr>
          <a:xfrm>
            <a:off x="985838" y="14230350"/>
            <a:ext cx="5593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Choose the appropriate data structure based on your input domain (HashMap for general cases, arrays for numeric ranges)</a:t>
            </a:r>
            <a:endParaRPr lang="en-US" sz="788" dirty="0"/>
          </a:p>
        </p:txBody>
      </p:sp>
      <p:sp>
        <p:nvSpPr>
          <p:cNvPr id="210" name="Text 199"/>
          <p:cNvSpPr/>
          <p:nvPr/>
        </p:nvSpPr>
        <p:spPr>
          <a:xfrm>
            <a:off x="985838" y="14401800"/>
            <a:ext cx="5593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Consider using a wrapper method to hide memoization details from the public API</a:t>
            </a:r>
            <a:endParaRPr lang="en-US" sz="788" dirty="0"/>
          </a:p>
        </p:txBody>
      </p:sp>
      <p:sp>
        <p:nvSpPr>
          <p:cNvPr id="211" name="Text 200"/>
          <p:cNvSpPr/>
          <p:nvPr/>
        </p:nvSpPr>
        <p:spPr>
          <a:xfrm>
            <a:off x="985838" y="14573250"/>
            <a:ext cx="55933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 very large inputs, consider bottom-up dynamic programming instead of top-down memoization</a:t>
            </a:r>
            <a:endParaRPr lang="en-US" sz="7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2973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2329895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for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715657" y="455414"/>
            <a:ext cx="1329072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73580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18573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" y="1485900"/>
            <a:ext cx="28575" cy="185737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2950" y="15716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Base Cases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2950" y="1828800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define clear base cases that will terminate the recursion.</a:t>
            </a:r>
            <a:endParaRPr lang="en-US" sz="788" dirty="0"/>
          </a:p>
        </p:txBody>
      </p:sp>
      <p:sp>
        <p:nvSpPr>
          <p:cNvPr id="11" name="Shape 8"/>
          <p:cNvSpPr/>
          <p:nvPr/>
        </p:nvSpPr>
        <p:spPr>
          <a:xfrm>
            <a:off x="742950" y="2028825"/>
            <a:ext cx="3543300" cy="12287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7250" y="21466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" name="Text 10"/>
          <p:cNvSpPr/>
          <p:nvPr/>
        </p:nvSpPr>
        <p:spPr>
          <a:xfrm>
            <a:off x="1037295" y="214669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1697394" y="21466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1877439" y="2146697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16" name="Text 13"/>
          <p:cNvSpPr/>
          <p:nvPr/>
        </p:nvSpPr>
        <p:spPr>
          <a:xfrm>
            <a:off x="977271" y="2289572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 case - critical!</a:t>
            </a:r>
            <a:endParaRPr lang="en-US" sz="788" dirty="0"/>
          </a:p>
        </p:txBody>
      </p:sp>
      <p:sp>
        <p:nvSpPr>
          <p:cNvPr id="17" name="Text 14"/>
          <p:cNvSpPr/>
          <p:nvPr/>
        </p:nvSpPr>
        <p:spPr>
          <a:xfrm>
            <a:off x="977271" y="243244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8" name="Text 15"/>
          <p:cNvSpPr/>
          <p:nvPr/>
        </p:nvSpPr>
        <p:spPr>
          <a:xfrm>
            <a:off x="1097291" y="24324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 {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1097291" y="25753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1457353" y="25753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1;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857250" y="271819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977271" y="28610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23" name="Text 20"/>
          <p:cNvSpPr/>
          <p:nvPr/>
        </p:nvSpPr>
        <p:spPr>
          <a:xfrm>
            <a:off x="1337332" y="2861072"/>
            <a:ext cx="139160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* factorial(n - 1);</a:t>
            </a:r>
            <a:endParaRPr lang="en-US" sz="788" dirty="0"/>
          </a:p>
        </p:txBody>
      </p:sp>
      <p:sp>
        <p:nvSpPr>
          <p:cNvPr id="24" name="Text 21"/>
          <p:cNvSpPr/>
          <p:nvPr/>
        </p:nvSpPr>
        <p:spPr>
          <a:xfrm>
            <a:off x="857250" y="30039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25" name="Shape 22"/>
          <p:cNvSpPr/>
          <p:nvPr/>
        </p:nvSpPr>
        <p:spPr>
          <a:xfrm>
            <a:off x="628650" y="3457575"/>
            <a:ext cx="3657600" cy="20002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28650" y="3457575"/>
            <a:ext cx="28575" cy="20002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42950" y="354330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Input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742950" y="3800475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for invalid inputs to prevent unexpected behavior.</a:t>
            </a:r>
            <a:endParaRPr lang="en-US" sz="788" dirty="0"/>
          </a:p>
        </p:txBody>
      </p:sp>
      <p:sp>
        <p:nvSpPr>
          <p:cNvPr id="29" name="Shape 26"/>
          <p:cNvSpPr/>
          <p:nvPr/>
        </p:nvSpPr>
        <p:spPr>
          <a:xfrm>
            <a:off x="742950" y="4000500"/>
            <a:ext cx="3543300" cy="13716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57250" y="41183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1" name="Text 28"/>
          <p:cNvSpPr/>
          <p:nvPr/>
        </p:nvSpPr>
        <p:spPr>
          <a:xfrm>
            <a:off x="1037295" y="411837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1697394" y="41183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1877439" y="41183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n) {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977271" y="4261247"/>
            <a:ext cx="121159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 validation</a:t>
            </a:r>
            <a:endParaRPr lang="en-US" sz="788" dirty="0"/>
          </a:p>
        </p:txBody>
      </p:sp>
      <p:sp>
        <p:nvSpPr>
          <p:cNvPr id="35" name="Text 32"/>
          <p:cNvSpPr/>
          <p:nvPr/>
        </p:nvSpPr>
        <p:spPr>
          <a:xfrm>
            <a:off x="977271" y="44041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1097291" y="44041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 0) {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1097291" y="45469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1637370" y="4546997"/>
            <a:ext cx="163164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IllegalArgumentException(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857250" y="4689872"/>
            <a:ext cx="319183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"Factorial not defined for negative numbers");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857250" y="48327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977271" y="4975622"/>
            <a:ext cx="163164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of the function...</a:t>
            </a:r>
            <a:endParaRPr lang="en-US" sz="788" dirty="0"/>
          </a:p>
        </p:txBody>
      </p:sp>
      <p:sp>
        <p:nvSpPr>
          <p:cNvPr id="42" name="Text 39"/>
          <p:cNvSpPr/>
          <p:nvPr/>
        </p:nvSpPr>
        <p:spPr>
          <a:xfrm>
            <a:off x="857250" y="511849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43" name="Shape 40"/>
          <p:cNvSpPr/>
          <p:nvPr/>
        </p:nvSpPr>
        <p:spPr>
          <a:xfrm>
            <a:off x="628650" y="5572125"/>
            <a:ext cx="3657600" cy="16859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628650" y="5572125"/>
            <a:ext cx="28575" cy="168592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42950" y="56578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Toward Base Case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742950" y="5915025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each recursive call moves closer to the base case.</a:t>
            </a:r>
            <a:endParaRPr lang="en-US" sz="788" dirty="0"/>
          </a:p>
        </p:txBody>
      </p:sp>
      <p:sp>
        <p:nvSpPr>
          <p:cNvPr id="47" name="Shape 44"/>
          <p:cNvSpPr/>
          <p:nvPr/>
        </p:nvSpPr>
        <p:spPr>
          <a:xfrm>
            <a:off x="742950" y="6115050"/>
            <a:ext cx="1771650" cy="1057275"/>
          </a:xfrm>
          <a:prstGeom prst="rect">
            <a:avLst/>
          </a:prstGeom>
          <a:solidFill>
            <a:srgbClr val="7F1D1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00100" y="6172200"/>
            <a:ext cx="1728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Wrong</a:t>
            </a:r>
            <a:endParaRPr lang="en-US" sz="675" dirty="0"/>
          </a:p>
        </p:txBody>
      </p:sp>
      <p:sp>
        <p:nvSpPr>
          <p:cNvPr id="49" name="Shape 46"/>
          <p:cNvSpPr/>
          <p:nvPr/>
        </p:nvSpPr>
        <p:spPr>
          <a:xfrm>
            <a:off x="800100" y="6315075"/>
            <a:ext cx="1657350" cy="8001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14400" y="6427589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675" dirty="0"/>
          </a:p>
        </p:txBody>
      </p:sp>
      <p:sp>
        <p:nvSpPr>
          <p:cNvPr id="51" name="Text 48"/>
          <p:cNvSpPr/>
          <p:nvPr/>
        </p:nvSpPr>
        <p:spPr>
          <a:xfrm>
            <a:off x="1120146" y="6427589"/>
            <a:ext cx="99727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badRecursion(n) {</a:t>
            </a:r>
            <a:endParaRPr lang="en-US" sz="675" dirty="0"/>
          </a:p>
        </p:txBody>
      </p:sp>
      <p:sp>
        <p:nvSpPr>
          <p:cNvPr id="52" name="Text 49"/>
          <p:cNvSpPr/>
          <p:nvPr/>
        </p:nvSpPr>
        <p:spPr>
          <a:xfrm>
            <a:off x="1017287" y="654188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53" name="Text 50"/>
          <p:cNvSpPr/>
          <p:nvPr/>
        </p:nvSpPr>
        <p:spPr>
          <a:xfrm>
            <a:off x="1120173" y="6541889"/>
            <a:ext cx="5858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0)</a:t>
            </a:r>
            <a:endParaRPr lang="en-US" sz="675" dirty="0"/>
          </a:p>
        </p:txBody>
      </p:sp>
      <p:sp>
        <p:nvSpPr>
          <p:cNvPr id="54" name="Text 51"/>
          <p:cNvSpPr/>
          <p:nvPr/>
        </p:nvSpPr>
        <p:spPr>
          <a:xfrm>
            <a:off x="1634551" y="654188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55" name="Text 52"/>
          <p:cNvSpPr/>
          <p:nvPr/>
        </p:nvSpPr>
        <p:spPr>
          <a:xfrm>
            <a:off x="1943184" y="654188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675" dirty="0"/>
          </a:p>
        </p:txBody>
      </p:sp>
      <p:sp>
        <p:nvSpPr>
          <p:cNvPr id="56" name="Text 53"/>
          <p:cNvSpPr/>
          <p:nvPr/>
        </p:nvSpPr>
        <p:spPr>
          <a:xfrm>
            <a:off x="914400" y="6656189"/>
            <a:ext cx="10487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badRecursion(n);</a:t>
            </a:r>
            <a:endParaRPr lang="en-US" sz="675" dirty="0"/>
          </a:p>
        </p:txBody>
      </p:sp>
      <p:sp>
        <p:nvSpPr>
          <p:cNvPr id="57" name="Text 54"/>
          <p:cNvSpPr/>
          <p:nvPr/>
        </p:nvSpPr>
        <p:spPr>
          <a:xfrm>
            <a:off x="914400" y="6656189"/>
            <a:ext cx="1305911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 progress!</a:t>
            </a:r>
            <a:endParaRPr lang="en-US" sz="675" dirty="0"/>
          </a:p>
        </p:txBody>
      </p:sp>
      <p:sp>
        <p:nvSpPr>
          <p:cNvPr id="58" name="Text 55"/>
          <p:cNvSpPr/>
          <p:nvPr/>
        </p:nvSpPr>
        <p:spPr>
          <a:xfrm>
            <a:off x="914400" y="688478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59" name="Shape 56"/>
          <p:cNvSpPr/>
          <p:nvPr/>
        </p:nvSpPr>
        <p:spPr>
          <a:xfrm>
            <a:off x="2514600" y="6115050"/>
            <a:ext cx="1771650" cy="1057275"/>
          </a:xfrm>
          <a:prstGeom prst="rect">
            <a:avLst/>
          </a:prstGeom>
          <a:solidFill>
            <a:srgbClr val="064E3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2571750" y="6172200"/>
            <a:ext cx="1728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b="1" dirty="0">
                <a:solidFill>
                  <a:srgbClr val="6EE7B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Right</a:t>
            </a:r>
            <a:endParaRPr lang="en-US" sz="675" dirty="0"/>
          </a:p>
        </p:txBody>
      </p:sp>
      <p:sp>
        <p:nvSpPr>
          <p:cNvPr id="61" name="Shape 58"/>
          <p:cNvSpPr/>
          <p:nvPr/>
        </p:nvSpPr>
        <p:spPr>
          <a:xfrm>
            <a:off x="2571750" y="6315075"/>
            <a:ext cx="1657350" cy="8001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2686050" y="6427589"/>
            <a:ext cx="27718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endParaRPr lang="en-US" sz="675" dirty="0"/>
          </a:p>
        </p:txBody>
      </p:sp>
      <p:sp>
        <p:nvSpPr>
          <p:cNvPr id="63" name="Text 60"/>
          <p:cNvSpPr/>
          <p:nvPr/>
        </p:nvSpPr>
        <p:spPr>
          <a:xfrm>
            <a:off x="2891796" y="6427589"/>
            <a:ext cx="104870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goodRecursion(n) {</a:t>
            </a:r>
            <a:endParaRPr lang="en-US" sz="675" dirty="0"/>
          </a:p>
        </p:txBody>
      </p:sp>
      <p:sp>
        <p:nvSpPr>
          <p:cNvPr id="64" name="Text 61"/>
          <p:cNvSpPr/>
          <p:nvPr/>
        </p:nvSpPr>
        <p:spPr>
          <a:xfrm>
            <a:off x="2788937" y="6541889"/>
            <a:ext cx="17432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675" dirty="0"/>
          </a:p>
        </p:txBody>
      </p:sp>
      <p:sp>
        <p:nvSpPr>
          <p:cNvPr id="65" name="Text 62"/>
          <p:cNvSpPr/>
          <p:nvPr/>
        </p:nvSpPr>
        <p:spPr>
          <a:xfrm>
            <a:off x="2891823" y="6541889"/>
            <a:ext cx="58581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== 0)</a:t>
            </a:r>
            <a:endParaRPr lang="en-US" sz="675" dirty="0"/>
          </a:p>
        </p:txBody>
      </p:sp>
      <p:sp>
        <p:nvSpPr>
          <p:cNvPr id="66" name="Text 63"/>
          <p:cNvSpPr/>
          <p:nvPr/>
        </p:nvSpPr>
        <p:spPr>
          <a:xfrm>
            <a:off x="3406201" y="6541889"/>
            <a:ext cx="38007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675" dirty="0"/>
          </a:p>
        </p:txBody>
      </p:sp>
      <p:sp>
        <p:nvSpPr>
          <p:cNvPr id="67" name="Text 64"/>
          <p:cNvSpPr/>
          <p:nvPr/>
        </p:nvSpPr>
        <p:spPr>
          <a:xfrm>
            <a:off x="3714834" y="654188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675" dirty="0"/>
          </a:p>
        </p:txBody>
      </p:sp>
      <p:sp>
        <p:nvSpPr>
          <p:cNvPr id="68" name="Text 65"/>
          <p:cNvSpPr/>
          <p:nvPr/>
        </p:nvSpPr>
        <p:spPr>
          <a:xfrm>
            <a:off x="2686050" y="6656189"/>
            <a:ext cx="1305883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goodRecursion(n - 1);</a:t>
            </a:r>
            <a:endParaRPr lang="en-US" sz="675" dirty="0"/>
          </a:p>
        </p:txBody>
      </p:sp>
      <p:sp>
        <p:nvSpPr>
          <p:cNvPr id="69" name="Text 66"/>
          <p:cNvSpPr/>
          <p:nvPr/>
        </p:nvSpPr>
        <p:spPr>
          <a:xfrm>
            <a:off x="2686050" y="6656189"/>
            <a:ext cx="140877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Progress!</a:t>
            </a:r>
            <a:endParaRPr lang="en-US" sz="675" dirty="0"/>
          </a:p>
        </p:txBody>
      </p:sp>
      <p:sp>
        <p:nvSpPr>
          <p:cNvPr id="70" name="Text 67"/>
          <p:cNvSpPr/>
          <p:nvPr/>
        </p:nvSpPr>
        <p:spPr>
          <a:xfrm>
            <a:off x="2686050" y="6884789"/>
            <a:ext cx="1228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75" dirty="0"/>
          </a:p>
        </p:txBody>
      </p:sp>
      <p:sp>
        <p:nvSpPr>
          <p:cNvPr id="71" name="Shape 68"/>
          <p:cNvSpPr/>
          <p:nvPr/>
        </p:nvSpPr>
        <p:spPr>
          <a:xfrm>
            <a:off x="4686300" y="971550"/>
            <a:ext cx="4000500" cy="73580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Strategies</a:t>
            </a:r>
            <a:endParaRPr lang="en-US" sz="1350" dirty="0"/>
          </a:p>
        </p:txBody>
      </p:sp>
      <p:sp>
        <p:nvSpPr>
          <p:cNvPr id="73" name="Shape 70"/>
          <p:cNvSpPr/>
          <p:nvPr/>
        </p:nvSpPr>
        <p:spPr>
          <a:xfrm>
            <a:off x="4857750" y="1485900"/>
            <a:ext cx="3657600" cy="31432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4857750" y="1485900"/>
            <a:ext cx="28575" cy="31432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4972050" y="15716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Helper Methods</a:t>
            </a:r>
            <a:endParaRPr lang="en-US" sz="1125" dirty="0"/>
          </a:p>
        </p:txBody>
      </p:sp>
      <p:sp>
        <p:nvSpPr>
          <p:cNvPr id="76" name="Text 73"/>
          <p:cNvSpPr/>
          <p:nvPr/>
        </p:nvSpPr>
        <p:spPr>
          <a:xfrm>
            <a:off x="4972050" y="1828800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private helper methods with additional parameters for tracking state.</a:t>
            </a:r>
            <a:endParaRPr lang="en-US" sz="788" dirty="0"/>
          </a:p>
        </p:txBody>
      </p:sp>
      <p:sp>
        <p:nvSpPr>
          <p:cNvPr id="77" name="Shape 74"/>
          <p:cNvSpPr/>
          <p:nvPr/>
        </p:nvSpPr>
        <p:spPr>
          <a:xfrm>
            <a:off x="4972050" y="2028825"/>
            <a:ext cx="3543300" cy="25146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5"/>
          <p:cNvSpPr/>
          <p:nvPr/>
        </p:nvSpPr>
        <p:spPr>
          <a:xfrm>
            <a:off x="5086350" y="2146697"/>
            <a:ext cx="199168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API - clean and simple</a:t>
            </a:r>
            <a:endParaRPr lang="en-US" sz="788" dirty="0"/>
          </a:p>
        </p:txBody>
      </p:sp>
      <p:sp>
        <p:nvSpPr>
          <p:cNvPr id="79" name="Text 76"/>
          <p:cNvSpPr/>
          <p:nvPr/>
        </p:nvSpPr>
        <p:spPr>
          <a:xfrm>
            <a:off x="5086350" y="22895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788" dirty="0"/>
          </a:p>
        </p:txBody>
      </p:sp>
      <p:sp>
        <p:nvSpPr>
          <p:cNvPr id="80" name="Text 77"/>
          <p:cNvSpPr/>
          <p:nvPr/>
        </p:nvSpPr>
        <p:spPr>
          <a:xfrm>
            <a:off x="5446412" y="2289572"/>
            <a:ext cx="3714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788" dirty="0"/>
          </a:p>
        </p:txBody>
      </p:sp>
      <p:sp>
        <p:nvSpPr>
          <p:cNvPr id="81" name="Text 78"/>
          <p:cNvSpPr/>
          <p:nvPr/>
        </p:nvSpPr>
        <p:spPr>
          <a:xfrm>
            <a:off x="5746449" y="2289572"/>
            <a:ext cx="21717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generatePermutations(String str) {</a:t>
            </a:r>
            <a:endParaRPr lang="en-US" sz="788" dirty="0"/>
          </a:p>
        </p:txBody>
      </p:sp>
      <p:sp>
        <p:nvSpPr>
          <p:cNvPr id="82" name="Text 79"/>
          <p:cNvSpPr/>
          <p:nvPr/>
        </p:nvSpPr>
        <p:spPr>
          <a:xfrm>
            <a:off x="5086350" y="243244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788" dirty="0"/>
          </a:p>
        </p:txBody>
      </p:sp>
      <p:sp>
        <p:nvSpPr>
          <p:cNvPr id="83" name="Text 80"/>
          <p:cNvSpPr/>
          <p:nvPr/>
        </p:nvSpPr>
        <p:spPr>
          <a:xfrm>
            <a:off x="5446412" y="243244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</a:t>
            </a:r>
            <a:endParaRPr lang="en-US" sz="788" dirty="0"/>
          </a:p>
        </p:txBody>
      </p:sp>
      <p:sp>
        <p:nvSpPr>
          <p:cNvPr id="84" name="Text 81"/>
          <p:cNvSpPr/>
          <p:nvPr/>
        </p:nvSpPr>
        <p:spPr>
          <a:xfrm>
            <a:off x="6046487" y="24324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788" dirty="0"/>
          </a:p>
        </p:txBody>
      </p:sp>
      <p:sp>
        <p:nvSpPr>
          <p:cNvPr id="85" name="Text 82"/>
          <p:cNvSpPr/>
          <p:nvPr/>
        </p:nvSpPr>
        <p:spPr>
          <a:xfrm>
            <a:off x="6226532" y="2432447"/>
            <a:ext cx="971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ArrayList&lt;&gt;();</a:t>
            </a:r>
            <a:endParaRPr lang="en-US" sz="788" dirty="0"/>
          </a:p>
        </p:txBody>
      </p:sp>
      <p:sp>
        <p:nvSpPr>
          <p:cNvPr id="86" name="Text 83"/>
          <p:cNvSpPr/>
          <p:nvPr/>
        </p:nvSpPr>
        <p:spPr>
          <a:xfrm>
            <a:off x="5206371" y="25753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87" name="Text 84"/>
          <p:cNvSpPr/>
          <p:nvPr/>
        </p:nvSpPr>
        <p:spPr>
          <a:xfrm>
            <a:off x="5326391" y="25753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 ==</a:t>
            </a:r>
            <a:endParaRPr lang="en-US" sz="788" dirty="0"/>
          </a:p>
        </p:txBody>
      </p:sp>
      <p:sp>
        <p:nvSpPr>
          <p:cNvPr id="88" name="Text 85"/>
          <p:cNvSpPr/>
          <p:nvPr/>
        </p:nvSpPr>
        <p:spPr>
          <a:xfrm>
            <a:off x="5866470" y="25753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788" dirty="0"/>
          </a:p>
        </p:txBody>
      </p:sp>
      <p:sp>
        <p:nvSpPr>
          <p:cNvPr id="89" name="Text 86"/>
          <p:cNvSpPr/>
          <p:nvPr/>
        </p:nvSpPr>
        <p:spPr>
          <a:xfrm>
            <a:off x="6106511" y="2575322"/>
            <a:ext cx="15116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 str.length() == 0) {</a:t>
            </a:r>
            <a:endParaRPr lang="en-US" sz="788" dirty="0"/>
          </a:p>
        </p:txBody>
      </p:sp>
      <p:sp>
        <p:nvSpPr>
          <p:cNvPr id="90" name="Text 87"/>
          <p:cNvSpPr/>
          <p:nvPr/>
        </p:nvSpPr>
        <p:spPr>
          <a:xfrm>
            <a:off x="5326391" y="27181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91" name="Text 88"/>
          <p:cNvSpPr/>
          <p:nvPr/>
        </p:nvSpPr>
        <p:spPr>
          <a:xfrm>
            <a:off x="5686453" y="27181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788" dirty="0"/>
          </a:p>
        </p:txBody>
      </p:sp>
      <p:sp>
        <p:nvSpPr>
          <p:cNvPr id="92" name="Text 89"/>
          <p:cNvSpPr/>
          <p:nvPr/>
        </p:nvSpPr>
        <p:spPr>
          <a:xfrm>
            <a:off x="5086350" y="286107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93" name="Text 90"/>
          <p:cNvSpPr/>
          <p:nvPr/>
        </p:nvSpPr>
        <p:spPr>
          <a:xfrm>
            <a:off x="5206371" y="3003947"/>
            <a:ext cx="253176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helper with additional parameters</a:t>
            </a:r>
            <a:endParaRPr lang="en-US" sz="788" dirty="0"/>
          </a:p>
        </p:txBody>
      </p:sp>
      <p:sp>
        <p:nvSpPr>
          <p:cNvPr id="94" name="Text 91"/>
          <p:cNvSpPr/>
          <p:nvPr/>
        </p:nvSpPr>
        <p:spPr>
          <a:xfrm>
            <a:off x="5086350" y="3146822"/>
            <a:ext cx="229172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permutationHelper("", str, result);</a:t>
            </a:r>
            <a:endParaRPr lang="en-US" sz="788" dirty="0"/>
          </a:p>
        </p:txBody>
      </p:sp>
      <p:sp>
        <p:nvSpPr>
          <p:cNvPr id="95" name="Text 92"/>
          <p:cNvSpPr/>
          <p:nvPr/>
        </p:nvSpPr>
        <p:spPr>
          <a:xfrm>
            <a:off x="5206371" y="32896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96" name="Text 93"/>
          <p:cNvSpPr/>
          <p:nvPr/>
        </p:nvSpPr>
        <p:spPr>
          <a:xfrm>
            <a:off x="5566432" y="3289697"/>
            <a:ext cx="5515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result;</a:t>
            </a:r>
            <a:endParaRPr lang="en-US" sz="788" dirty="0"/>
          </a:p>
        </p:txBody>
      </p:sp>
      <p:sp>
        <p:nvSpPr>
          <p:cNvPr id="97" name="Text 94"/>
          <p:cNvSpPr/>
          <p:nvPr/>
        </p:nvSpPr>
        <p:spPr>
          <a:xfrm>
            <a:off x="5086350" y="343257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98" name="Text 95"/>
          <p:cNvSpPr/>
          <p:nvPr/>
        </p:nvSpPr>
        <p:spPr>
          <a:xfrm>
            <a:off x="5086350" y="3718322"/>
            <a:ext cx="271177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Private helper with additional parameters</a:t>
            </a:r>
            <a:endParaRPr lang="en-US" sz="788" dirty="0"/>
          </a:p>
        </p:txBody>
      </p:sp>
      <p:sp>
        <p:nvSpPr>
          <p:cNvPr id="99" name="Text 96"/>
          <p:cNvSpPr/>
          <p:nvPr/>
        </p:nvSpPr>
        <p:spPr>
          <a:xfrm>
            <a:off x="5086350" y="3861197"/>
            <a:ext cx="79153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</a:t>
            </a:r>
            <a:endParaRPr lang="en-US" sz="788" dirty="0"/>
          </a:p>
        </p:txBody>
      </p:sp>
      <p:sp>
        <p:nvSpPr>
          <p:cNvPr id="100" name="Text 97"/>
          <p:cNvSpPr/>
          <p:nvPr/>
        </p:nvSpPr>
        <p:spPr>
          <a:xfrm>
            <a:off x="5086350" y="3861197"/>
            <a:ext cx="319183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permutationHelper(String prefix, String remaining, List</a:t>
            </a:r>
            <a:endParaRPr lang="en-US" sz="788" dirty="0"/>
          </a:p>
        </p:txBody>
      </p:sp>
      <p:sp>
        <p:nvSpPr>
          <p:cNvPr id="101" name="Text 98"/>
          <p:cNvSpPr/>
          <p:nvPr/>
        </p:nvSpPr>
        <p:spPr>
          <a:xfrm>
            <a:off x="5986463" y="400407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result) {</a:t>
            </a:r>
            <a:endParaRPr lang="en-US" sz="788" dirty="0"/>
          </a:p>
        </p:txBody>
      </p:sp>
      <p:sp>
        <p:nvSpPr>
          <p:cNvPr id="102" name="Text 99"/>
          <p:cNvSpPr/>
          <p:nvPr/>
        </p:nvSpPr>
        <p:spPr>
          <a:xfrm>
            <a:off x="5206371" y="4146947"/>
            <a:ext cx="175167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Implementation details...</a:t>
            </a:r>
            <a:endParaRPr lang="en-US" sz="788" dirty="0"/>
          </a:p>
        </p:txBody>
      </p:sp>
      <p:sp>
        <p:nvSpPr>
          <p:cNvPr id="103" name="Text 100"/>
          <p:cNvSpPr/>
          <p:nvPr/>
        </p:nvSpPr>
        <p:spPr>
          <a:xfrm>
            <a:off x="5086350" y="4289822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04" name="Shape 101"/>
          <p:cNvSpPr/>
          <p:nvPr/>
        </p:nvSpPr>
        <p:spPr>
          <a:xfrm>
            <a:off x="4857750" y="4743450"/>
            <a:ext cx="3657600" cy="18573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102"/>
          <p:cNvSpPr/>
          <p:nvPr/>
        </p:nvSpPr>
        <p:spPr>
          <a:xfrm>
            <a:off x="4857750" y="4743450"/>
            <a:ext cx="28575" cy="185737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103"/>
          <p:cNvSpPr/>
          <p:nvPr/>
        </p:nvSpPr>
        <p:spPr>
          <a:xfrm>
            <a:off x="4972050" y="48291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Redundant Calculations</a:t>
            </a:r>
            <a:endParaRPr lang="en-US" sz="1125" dirty="0"/>
          </a:p>
        </p:txBody>
      </p:sp>
      <p:sp>
        <p:nvSpPr>
          <p:cNvPr id="107" name="Text 104"/>
          <p:cNvSpPr/>
          <p:nvPr/>
        </p:nvSpPr>
        <p:spPr>
          <a:xfrm>
            <a:off x="4972050" y="5086350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memoization to cache results of expensive calculations.</a:t>
            </a:r>
            <a:endParaRPr lang="en-US" sz="788" dirty="0"/>
          </a:p>
        </p:txBody>
      </p:sp>
      <p:sp>
        <p:nvSpPr>
          <p:cNvPr id="108" name="Shape 105"/>
          <p:cNvSpPr/>
          <p:nvPr/>
        </p:nvSpPr>
        <p:spPr>
          <a:xfrm>
            <a:off x="4972050" y="5286375"/>
            <a:ext cx="3543300" cy="1228725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6"/>
          <p:cNvSpPr/>
          <p:nvPr/>
        </p:nvSpPr>
        <p:spPr>
          <a:xfrm>
            <a:off x="5086350" y="54042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0" name="Text 107"/>
          <p:cNvSpPr/>
          <p:nvPr/>
        </p:nvSpPr>
        <p:spPr>
          <a:xfrm>
            <a:off x="5266395" y="5404247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fibonacci(</a:t>
            </a:r>
            <a:endParaRPr lang="en-US" sz="788" dirty="0"/>
          </a:p>
        </p:txBody>
      </p:sp>
      <p:sp>
        <p:nvSpPr>
          <p:cNvPr id="111" name="Text 108"/>
          <p:cNvSpPr/>
          <p:nvPr/>
        </p:nvSpPr>
        <p:spPr>
          <a:xfrm>
            <a:off x="5926494" y="54042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2" name="Text 109"/>
          <p:cNvSpPr/>
          <p:nvPr/>
        </p:nvSpPr>
        <p:spPr>
          <a:xfrm>
            <a:off x="6106539" y="5404247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113" name="Text 110"/>
          <p:cNvSpPr/>
          <p:nvPr/>
        </p:nvSpPr>
        <p:spPr>
          <a:xfrm>
            <a:off x="6346580" y="5404247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14" name="Text 111"/>
          <p:cNvSpPr/>
          <p:nvPr/>
        </p:nvSpPr>
        <p:spPr>
          <a:xfrm>
            <a:off x="6526625" y="540424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memo) {</a:t>
            </a:r>
            <a:endParaRPr lang="en-US" sz="788" dirty="0"/>
          </a:p>
        </p:txBody>
      </p:sp>
      <p:sp>
        <p:nvSpPr>
          <p:cNvPr id="115" name="Text 112"/>
          <p:cNvSpPr/>
          <p:nvPr/>
        </p:nvSpPr>
        <p:spPr>
          <a:xfrm>
            <a:off x="5206371" y="5547122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16" name="Text 113"/>
          <p:cNvSpPr/>
          <p:nvPr/>
        </p:nvSpPr>
        <p:spPr>
          <a:xfrm>
            <a:off x="5326391" y="5547122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117" name="Text 114"/>
          <p:cNvSpPr/>
          <p:nvPr/>
        </p:nvSpPr>
        <p:spPr>
          <a:xfrm>
            <a:off x="5926466" y="55471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18" name="Text 115"/>
          <p:cNvSpPr/>
          <p:nvPr/>
        </p:nvSpPr>
        <p:spPr>
          <a:xfrm>
            <a:off x="6286528" y="55471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n;</a:t>
            </a:r>
            <a:endParaRPr lang="en-US" sz="788" dirty="0"/>
          </a:p>
        </p:txBody>
      </p:sp>
      <p:sp>
        <p:nvSpPr>
          <p:cNvPr id="119" name="Text 116"/>
          <p:cNvSpPr/>
          <p:nvPr/>
        </p:nvSpPr>
        <p:spPr>
          <a:xfrm>
            <a:off x="5206371" y="56899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20" name="Text 117"/>
          <p:cNvSpPr/>
          <p:nvPr/>
        </p:nvSpPr>
        <p:spPr>
          <a:xfrm>
            <a:off x="5326391" y="5689997"/>
            <a:ext cx="10315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(memo[n] != 0)</a:t>
            </a:r>
            <a:endParaRPr lang="en-US" sz="788" dirty="0"/>
          </a:p>
        </p:txBody>
      </p:sp>
      <p:sp>
        <p:nvSpPr>
          <p:cNvPr id="121" name="Text 118"/>
          <p:cNvSpPr/>
          <p:nvPr/>
        </p:nvSpPr>
        <p:spPr>
          <a:xfrm>
            <a:off x="6286528" y="56899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22" name="Text 119"/>
          <p:cNvSpPr/>
          <p:nvPr/>
        </p:nvSpPr>
        <p:spPr>
          <a:xfrm>
            <a:off x="6646590" y="5689997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23" name="Text 120"/>
          <p:cNvSpPr/>
          <p:nvPr/>
        </p:nvSpPr>
        <p:spPr>
          <a:xfrm>
            <a:off x="5086350" y="5832872"/>
            <a:ext cx="30118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 = fibonacci(n-1, memo) + fibonacci(n-2, memo);</a:t>
            </a:r>
            <a:endParaRPr lang="en-US" sz="788" dirty="0"/>
          </a:p>
        </p:txBody>
      </p:sp>
      <p:sp>
        <p:nvSpPr>
          <p:cNvPr id="124" name="Text 121"/>
          <p:cNvSpPr/>
          <p:nvPr/>
        </p:nvSpPr>
        <p:spPr>
          <a:xfrm>
            <a:off x="5206371" y="611862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25" name="Text 122"/>
          <p:cNvSpPr/>
          <p:nvPr/>
        </p:nvSpPr>
        <p:spPr>
          <a:xfrm>
            <a:off x="5566432" y="6118622"/>
            <a:ext cx="6115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memo[n];</a:t>
            </a:r>
            <a:endParaRPr lang="en-US" sz="788" dirty="0"/>
          </a:p>
        </p:txBody>
      </p:sp>
      <p:sp>
        <p:nvSpPr>
          <p:cNvPr id="126" name="Text 123"/>
          <p:cNvSpPr/>
          <p:nvPr/>
        </p:nvSpPr>
        <p:spPr>
          <a:xfrm>
            <a:off x="5086350" y="626149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27" name="Shape 124"/>
          <p:cNvSpPr/>
          <p:nvPr/>
        </p:nvSpPr>
        <p:spPr>
          <a:xfrm>
            <a:off x="4857750" y="6715125"/>
            <a:ext cx="3657600" cy="14287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Shape 125"/>
          <p:cNvSpPr/>
          <p:nvPr/>
        </p:nvSpPr>
        <p:spPr>
          <a:xfrm>
            <a:off x="4857750" y="6715125"/>
            <a:ext cx="28575" cy="14287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9" name="Text 126"/>
          <p:cNvSpPr/>
          <p:nvPr/>
        </p:nvSpPr>
        <p:spPr>
          <a:xfrm>
            <a:off x="4972050" y="6800850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Tail Recursion</a:t>
            </a:r>
            <a:endParaRPr lang="en-US" sz="1125" dirty="0"/>
          </a:p>
        </p:txBody>
      </p:sp>
      <p:sp>
        <p:nvSpPr>
          <p:cNvPr id="130" name="Text 127"/>
          <p:cNvSpPr/>
          <p:nvPr/>
        </p:nvSpPr>
        <p:spPr>
          <a:xfrm>
            <a:off x="4972050" y="7058025"/>
            <a:ext cx="3614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recursive calls to be the final operation in the method.</a:t>
            </a:r>
            <a:endParaRPr lang="en-US" sz="788" dirty="0"/>
          </a:p>
        </p:txBody>
      </p:sp>
      <p:sp>
        <p:nvSpPr>
          <p:cNvPr id="131" name="Shape 128"/>
          <p:cNvSpPr/>
          <p:nvPr/>
        </p:nvSpPr>
        <p:spPr>
          <a:xfrm>
            <a:off x="4972050" y="7258050"/>
            <a:ext cx="3543300" cy="800100"/>
          </a:xfrm>
          <a:prstGeom prst="rect">
            <a:avLst/>
          </a:prstGeom>
          <a:solidFill>
            <a:srgbClr val="1A20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29"/>
          <p:cNvSpPr/>
          <p:nvPr/>
        </p:nvSpPr>
        <p:spPr>
          <a:xfrm>
            <a:off x="5086350" y="73759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3" name="Text 130"/>
          <p:cNvSpPr/>
          <p:nvPr/>
        </p:nvSpPr>
        <p:spPr>
          <a:xfrm>
            <a:off x="5266395" y="7375922"/>
            <a:ext cx="7315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</a:t>
            </a:r>
            <a:endParaRPr lang="en-US" sz="788" dirty="0"/>
          </a:p>
        </p:txBody>
      </p:sp>
      <p:sp>
        <p:nvSpPr>
          <p:cNvPr id="134" name="Text 131"/>
          <p:cNvSpPr/>
          <p:nvPr/>
        </p:nvSpPr>
        <p:spPr>
          <a:xfrm>
            <a:off x="5926494" y="73759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5" name="Text 132"/>
          <p:cNvSpPr/>
          <p:nvPr/>
        </p:nvSpPr>
        <p:spPr>
          <a:xfrm>
            <a:off x="6106539" y="7375922"/>
            <a:ext cx="3114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n,</a:t>
            </a:r>
            <a:endParaRPr lang="en-US" sz="788" dirty="0"/>
          </a:p>
        </p:txBody>
      </p:sp>
      <p:sp>
        <p:nvSpPr>
          <p:cNvPr id="136" name="Text 133"/>
          <p:cNvSpPr/>
          <p:nvPr/>
        </p:nvSpPr>
        <p:spPr>
          <a:xfrm>
            <a:off x="6346580" y="7375922"/>
            <a:ext cx="25148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788" dirty="0"/>
          </a:p>
        </p:txBody>
      </p:sp>
      <p:sp>
        <p:nvSpPr>
          <p:cNvPr id="137" name="Text 134"/>
          <p:cNvSpPr/>
          <p:nvPr/>
        </p:nvSpPr>
        <p:spPr>
          <a:xfrm>
            <a:off x="6526625" y="7375922"/>
            <a:ext cx="971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accumulator) {</a:t>
            </a:r>
            <a:endParaRPr lang="en-US" sz="788" dirty="0"/>
          </a:p>
        </p:txBody>
      </p:sp>
      <p:sp>
        <p:nvSpPr>
          <p:cNvPr id="138" name="Text 135"/>
          <p:cNvSpPr/>
          <p:nvPr/>
        </p:nvSpPr>
        <p:spPr>
          <a:xfrm>
            <a:off x="5206371" y="7518797"/>
            <a:ext cx="1914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788" dirty="0"/>
          </a:p>
        </p:txBody>
      </p:sp>
      <p:sp>
        <p:nvSpPr>
          <p:cNvPr id="139" name="Text 136"/>
          <p:cNvSpPr/>
          <p:nvPr/>
        </p:nvSpPr>
        <p:spPr>
          <a:xfrm>
            <a:off x="5326391" y="7518797"/>
            <a:ext cx="6715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&lt;= 1)</a:t>
            </a:r>
            <a:endParaRPr lang="en-US" sz="788" dirty="0"/>
          </a:p>
        </p:txBody>
      </p:sp>
      <p:sp>
        <p:nvSpPr>
          <p:cNvPr id="140" name="Text 137"/>
          <p:cNvSpPr/>
          <p:nvPr/>
        </p:nvSpPr>
        <p:spPr>
          <a:xfrm>
            <a:off x="5926466" y="7518797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1" name="Text 138"/>
          <p:cNvSpPr/>
          <p:nvPr/>
        </p:nvSpPr>
        <p:spPr>
          <a:xfrm>
            <a:off x="6286528" y="7518797"/>
            <a:ext cx="8515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accumulator;</a:t>
            </a:r>
            <a:endParaRPr lang="en-US" sz="788" dirty="0"/>
          </a:p>
        </p:txBody>
      </p:sp>
      <p:sp>
        <p:nvSpPr>
          <p:cNvPr id="142" name="Text 139"/>
          <p:cNvSpPr/>
          <p:nvPr/>
        </p:nvSpPr>
        <p:spPr>
          <a:xfrm>
            <a:off x="5206371" y="7661672"/>
            <a:ext cx="43149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788" dirty="0"/>
          </a:p>
        </p:txBody>
      </p:sp>
      <p:sp>
        <p:nvSpPr>
          <p:cNvPr id="143" name="Text 140"/>
          <p:cNvSpPr/>
          <p:nvPr/>
        </p:nvSpPr>
        <p:spPr>
          <a:xfrm>
            <a:off x="5566432" y="7661672"/>
            <a:ext cx="21717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factorial(n - 1, n * accumulator);</a:t>
            </a:r>
            <a:endParaRPr lang="en-US" sz="788" dirty="0"/>
          </a:p>
        </p:txBody>
      </p:sp>
      <p:sp>
        <p:nvSpPr>
          <p:cNvPr id="144" name="Text 141"/>
          <p:cNvSpPr/>
          <p:nvPr/>
        </p:nvSpPr>
        <p:spPr>
          <a:xfrm>
            <a:off x="5086350" y="7804547"/>
            <a:ext cx="1314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88" dirty="0"/>
          </a:p>
        </p:txBody>
      </p:sp>
      <p:sp>
        <p:nvSpPr>
          <p:cNvPr id="145" name="Shape 142"/>
          <p:cNvSpPr/>
          <p:nvPr/>
        </p:nvSpPr>
        <p:spPr>
          <a:xfrm>
            <a:off x="457200" y="8543925"/>
            <a:ext cx="8229600" cy="395763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3"/>
          <p:cNvSpPr/>
          <p:nvPr/>
        </p:nvSpPr>
        <p:spPr>
          <a:xfrm>
            <a:off x="628650" y="871537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Guidelines</a:t>
            </a:r>
            <a:endParaRPr lang="en-US" sz="1350" dirty="0"/>
          </a:p>
        </p:txBody>
      </p:sp>
      <p:sp>
        <p:nvSpPr>
          <p:cNvPr id="147" name="Shape 144"/>
          <p:cNvSpPr/>
          <p:nvPr/>
        </p:nvSpPr>
        <p:spPr>
          <a:xfrm>
            <a:off x="628650" y="9058275"/>
            <a:ext cx="2514600" cy="14001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9201150"/>
            <a:ext cx="142875" cy="142875"/>
          </a:xfrm>
          <a:prstGeom prst="rect">
            <a:avLst/>
          </a:prstGeom>
        </p:spPr>
      </p:pic>
      <p:sp>
        <p:nvSpPr>
          <p:cNvPr id="149" name="Text 145"/>
          <p:cNvSpPr/>
          <p:nvPr/>
        </p:nvSpPr>
        <p:spPr>
          <a:xfrm>
            <a:off x="942975" y="9172575"/>
            <a:ext cx="1507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 Stack Overflow</a:t>
            </a:r>
            <a:endParaRPr lang="en-US" sz="1013" dirty="0"/>
          </a:p>
        </p:txBody>
      </p:sp>
      <p:pic>
        <p:nvPicPr>
          <p:cNvPr id="1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486900"/>
            <a:ext cx="100013" cy="100013"/>
          </a:xfrm>
          <a:prstGeom prst="rect">
            <a:avLst/>
          </a:prstGeom>
        </p:spPr>
      </p:pic>
      <p:sp>
        <p:nvSpPr>
          <p:cNvPr id="151" name="Text 146"/>
          <p:cNvSpPr/>
          <p:nvPr/>
        </p:nvSpPr>
        <p:spPr>
          <a:xfrm>
            <a:off x="900113" y="9458325"/>
            <a:ext cx="1661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 recursion depth for user inputs</a:t>
            </a:r>
            <a:endParaRPr lang="en-US" sz="788" dirty="0"/>
          </a:p>
        </p:txBody>
      </p:sp>
      <p:pic>
        <p:nvPicPr>
          <p:cNvPr id="15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686925"/>
            <a:ext cx="100013" cy="100013"/>
          </a:xfrm>
          <a:prstGeom prst="rect">
            <a:avLst/>
          </a:prstGeom>
        </p:spPr>
      </p:pic>
      <p:sp>
        <p:nvSpPr>
          <p:cNvPr id="153" name="Text 147"/>
          <p:cNvSpPr/>
          <p:nvPr/>
        </p:nvSpPr>
        <p:spPr>
          <a:xfrm>
            <a:off x="900113" y="9658350"/>
            <a:ext cx="210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iterative solutions for deep recursion</a:t>
            </a:r>
            <a:endParaRPr lang="en-US" sz="788" dirty="0"/>
          </a:p>
        </p:txBody>
      </p:sp>
      <p:pic>
        <p:nvPicPr>
          <p:cNvPr id="15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9886950"/>
            <a:ext cx="100013" cy="100013"/>
          </a:xfrm>
          <a:prstGeom prst="rect">
            <a:avLst/>
          </a:prstGeom>
        </p:spPr>
      </p:pic>
      <p:sp>
        <p:nvSpPr>
          <p:cNvPr id="155" name="Text 148"/>
          <p:cNvSpPr/>
          <p:nvPr/>
        </p:nvSpPr>
        <p:spPr>
          <a:xfrm>
            <a:off x="900113" y="9858375"/>
            <a:ext cx="19338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with boundary cases and large inputs</a:t>
            </a:r>
            <a:endParaRPr lang="en-US" sz="788" dirty="0"/>
          </a:p>
        </p:txBody>
      </p:sp>
      <p:pic>
        <p:nvPicPr>
          <p:cNvPr id="15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10086975"/>
            <a:ext cx="100013" cy="100013"/>
          </a:xfrm>
          <a:prstGeom prst="rect">
            <a:avLst/>
          </a:prstGeom>
        </p:spPr>
      </p:pic>
      <p:sp>
        <p:nvSpPr>
          <p:cNvPr id="157" name="Text 149"/>
          <p:cNvSpPr/>
          <p:nvPr/>
        </p:nvSpPr>
        <p:spPr>
          <a:xfrm>
            <a:off x="900113" y="10058400"/>
            <a:ext cx="17447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memoization to reduce call depth</a:t>
            </a:r>
            <a:endParaRPr lang="en-US" sz="788" dirty="0"/>
          </a:p>
        </p:txBody>
      </p:sp>
      <p:sp>
        <p:nvSpPr>
          <p:cNvPr id="158" name="Shape 150"/>
          <p:cNvSpPr/>
          <p:nvPr/>
        </p:nvSpPr>
        <p:spPr>
          <a:xfrm>
            <a:off x="3314700" y="9058275"/>
            <a:ext cx="2514600" cy="14001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9201150"/>
            <a:ext cx="160734" cy="142875"/>
          </a:xfrm>
          <a:prstGeom prst="rect">
            <a:avLst/>
          </a:prstGeom>
        </p:spPr>
      </p:pic>
      <p:sp>
        <p:nvSpPr>
          <p:cNvPr id="160" name="Text 151"/>
          <p:cNvSpPr/>
          <p:nvPr/>
        </p:nvSpPr>
        <p:spPr>
          <a:xfrm>
            <a:off x="3646884" y="9172575"/>
            <a:ext cx="14363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Performance</a:t>
            </a:r>
            <a:endParaRPr lang="en-US" sz="1013" dirty="0"/>
          </a:p>
        </p:txBody>
      </p:sp>
      <p:pic>
        <p:nvPicPr>
          <p:cNvPr id="16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9486900"/>
            <a:ext cx="100013" cy="100013"/>
          </a:xfrm>
          <a:prstGeom prst="rect">
            <a:avLst/>
          </a:prstGeom>
        </p:spPr>
      </p:pic>
      <p:sp>
        <p:nvSpPr>
          <p:cNvPr id="162" name="Text 152"/>
          <p:cNvSpPr/>
          <p:nvPr/>
        </p:nvSpPr>
        <p:spPr>
          <a:xfrm>
            <a:off x="3586163" y="9458325"/>
            <a:ext cx="1483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results with memoization</a:t>
            </a:r>
            <a:endParaRPr lang="en-US" sz="788" dirty="0"/>
          </a:p>
        </p:txBody>
      </p:sp>
      <p:pic>
        <p:nvPicPr>
          <p:cNvPr id="163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9686925"/>
            <a:ext cx="100013" cy="100013"/>
          </a:xfrm>
          <a:prstGeom prst="rect">
            <a:avLst/>
          </a:prstGeom>
        </p:spPr>
      </p:pic>
      <p:sp>
        <p:nvSpPr>
          <p:cNvPr id="164" name="Text 153"/>
          <p:cNvSpPr/>
          <p:nvPr/>
        </p:nvSpPr>
        <p:spPr>
          <a:xfrm>
            <a:off x="3586163" y="9658350"/>
            <a:ext cx="16665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 work in each recursive call</a:t>
            </a:r>
            <a:endParaRPr lang="en-US" sz="788" dirty="0"/>
          </a:p>
        </p:txBody>
      </p:sp>
      <p:pic>
        <p:nvPicPr>
          <p:cNvPr id="165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9886950"/>
            <a:ext cx="100013" cy="100013"/>
          </a:xfrm>
          <a:prstGeom prst="rect">
            <a:avLst/>
          </a:prstGeom>
        </p:spPr>
      </p:pic>
      <p:sp>
        <p:nvSpPr>
          <p:cNvPr id="166" name="Text 154"/>
          <p:cNvSpPr/>
          <p:nvPr/>
        </p:nvSpPr>
        <p:spPr>
          <a:xfrm>
            <a:off x="3586163" y="9858375"/>
            <a:ext cx="2200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references instead of copying large objects</a:t>
            </a:r>
            <a:endParaRPr lang="en-US" sz="788" dirty="0"/>
          </a:p>
        </p:txBody>
      </p:sp>
      <p:pic>
        <p:nvPicPr>
          <p:cNvPr id="16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10229850"/>
            <a:ext cx="100013" cy="100013"/>
          </a:xfrm>
          <a:prstGeom prst="rect">
            <a:avLst/>
          </a:prstGeom>
        </p:spPr>
      </p:pic>
      <p:sp>
        <p:nvSpPr>
          <p:cNvPr id="168" name="Text 155"/>
          <p:cNvSpPr/>
          <p:nvPr/>
        </p:nvSpPr>
        <p:spPr>
          <a:xfrm>
            <a:off x="3586163" y="10201275"/>
            <a:ext cx="21895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bottom-up approaches for large inputs</a:t>
            </a:r>
            <a:endParaRPr lang="en-US" sz="788" dirty="0"/>
          </a:p>
        </p:txBody>
      </p:sp>
      <p:sp>
        <p:nvSpPr>
          <p:cNvPr id="169" name="Shape 156"/>
          <p:cNvSpPr/>
          <p:nvPr/>
        </p:nvSpPr>
        <p:spPr>
          <a:xfrm>
            <a:off x="6000750" y="9058275"/>
            <a:ext cx="2514600" cy="14001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0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9201150"/>
            <a:ext cx="178594" cy="142875"/>
          </a:xfrm>
          <a:prstGeom prst="rect">
            <a:avLst/>
          </a:prstGeom>
        </p:spPr>
      </p:pic>
      <p:sp>
        <p:nvSpPr>
          <p:cNvPr id="171" name="Text 157"/>
          <p:cNvSpPr/>
          <p:nvPr/>
        </p:nvSpPr>
        <p:spPr>
          <a:xfrm>
            <a:off x="6350794" y="9172575"/>
            <a:ext cx="1329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Readability</a:t>
            </a:r>
            <a:endParaRPr lang="en-US" sz="1013" dirty="0"/>
          </a:p>
        </p:txBody>
      </p:sp>
      <p:pic>
        <p:nvPicPr>
          <p:cNvPr id="17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9486900"/>
            <a:ext cx="100013" cy="100013"/>
          </a:xfrm>
          <a:prstGeom prst="rect">
            <a:avLst/>
          </a:prstGeom>
        </p:spPr>
      </p:pic>
      <p:sp>
        <p:nvSpPr>
          <p:cNvPr id="173" name="Text 158"/>
          <p:cNvSpPr/>
          <p:nvPr/>
        </p:nvSpPr>
        <p:spPr>
          <a:xfrm>
            <a:off x="6272213" y="9458325"/>
            <a:ext cx="21339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meaningful method and parameter names</a:t>
            </a:r>
            <a:endParaRPr lang="en-US" sz="788" dirty="0"/>
          </a:p>
        </p:txBody>
      </p:sp>
      <p:pic>
        <p:nvPicPr>
          <p:cNvPr id="174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9686925"/>
            <a:ext cx="100013" cy="100013"/>
          </a:xfrm>
          <a:prstGeom prst="rect">
            <a:avLst/>
          </a:prstGeom>
        </p:spPr>
      </p:pic>
      <p:sp>
        <p:nvSpPr>
          <p:cNvPr id="175" name="Text 159"/>
          <p:cNvSpPr/>
          <p:nvPr/>
        </p:nvSpPr>
        <p:spPr>
          <a:xfrm>
            <a:off x="6272213" y="9658350"/>
            <a:ext cx="20504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comments explaining the recursive logic</a:t>
            </a:r>
            <a:endParaRPr lang="en-US" sz="788" dirty="0"/>
          </a:p>
        </p:txBody>
      </p:sp>
      <p:pic>
        <p:nvPicPr>
          <p:cNvPr id="17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9886950"/>
            <a:ext cx="100013" cy="100013"/>
          </a:xfrm>
          <a:prstGeom prst="rect">
            <a:avLst/>
          </a:prstGeom>
        </p:spPr>
      </p:pic>
      <p:sp>
        <p:nvSpPr>
          <p:cNvPr id="177" name="Text 160"/>
          <p:cNvSpPr/>
          <p:nvPr/>
        </p:nvSpPr>
        <p:spPr>
          <a:xfrm>
            <a:off x="6272213" y="9858375"/>
            <a:ext cx="2178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Clearly identify base cases and recursive cases</a:t>
            </a:r>
            <a:endParaRPr lang="en-US" sz="788" dirty="0"/>
          </a:p>
        </p:txBody>
      </p:sp>
      <p:pic>
        <p:nvPicPr>
          <p:cNvPr id="178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0" y="10086975"/>
            <a:ext cx="100013" cy="100013"/>
          </a:xfrm>
          <a:prstGeom prst="rect">
            <a:avLst/>
          </a:prstGeom>
        </p:spPr>
      </p:pic>
      <p:sp>
        <p:nvSpPr>
          <p:cNvPr id="179" name="Text 161"/>
          <p:cNvSpPr/>
          <p:nvPr/>
        </p:nvSpPr>
        <p:spPr>
          <a:xfrm>
            <a:off x="6272213" y="10058400"/>
            <a:ext cx="22002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 implementation details with helper methods</a:t>
            </a:r>
            <a:endParaRPr lang="en-US" sz="788" dirty="0"/>
          </a:p>
        </p:txBody>
      </p:sp>
      <p:sp>
        <p:nvSpPr>
          <p:cNvPr id="180" name="Shape 162"/>
          <p:cNvSpPr/>
          <p:nvPr/>
        </p:nvSpPr>
        <p:spPr>
          <a:xfrm>
            <a:off x="628650" y="10629900"/>
            <a:ext cx="7886700" cy="1000125"/>
          </a:xfrm>
          <a:prstGeom prst="rect">
            <a:avLst/>
          </a:prstGeom>
          <a:solidFill>
            <a:srgbClr val="78350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1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950" y="11044238"/>
            <a:ext cx="128588" cy="171450"/>
          </a:xfrm>
          <a:prstGeom prst="rect">
            <a:avLst/>
          </a:prstGeom>
        </p:spPr>
      </p:pic>
      <p:sp>
        <p:nvSpPr>
          <p:cNvPr id="182" name="Text 163"/>
          <p:cNvSpPr/>
          <p:nvPr/>
        </p:nvSpPr>
        <p:spPr>
          <a:xfrm>
            <a:off x="985838" y="10744200"/>
            <a:ext cx="57143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Avoid Recursion</a:t>
            </a:r>
            <a:endParaRPr lang="en-US" sz="1013" dirty="0"/>
          </a:p>
        </p:txBody>
      </p:sp>
      <p:sp>
        <p:nvSpPr>
          <p:cNvPr id="183" name="Text 164"/>
          <p:cNvSpPr/>
          <p:nvPr/>
        </p:nvSpPr>
        <p:spPr>
          <a:xfrm>
            <a:off x="985838" y="10972800"/>
            <a:ext cx="57143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alternatives to recursion when:</a:t>
            </a:r>
            <a:endParaRPr lang="en-US" sz="788" dirty="0"/>
          </a:p>
        </p:txBody>
      </p:sp>
      <p:pic>
        <p:nvPicPr>
          <p:cNvPr id="184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8" y="11201400"/>
            <a:ext cx="100013" cy="100013"/>
          </a:xfrm>
          <a:prstGeom prst="rect">
            <a:avLst/>
          </a:prstGeom>
        </p:spPr>
      </p:pic>
      <p:sp>
        <p:nvSpPr>
          <p:cNvPr id="185" name="Text 165"/>
          <p:cNvSpPr/>
          <p:nvPr/>
        </p:nvSpPr>
        <p:spPr>
          <a:xfrm>
            <a:off x="1143000" y="11172825"/>
            <a:ext cx="201152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can be easily solved iteratively</a:t>
            </a:r>
            <a:endParaRPr lang="en-US" sz="788" dirty="0"/>
          </a:p>
        </p:txBody>
      </p:sp>
      <p:pic>
        <p:nvPicPr>
          <p:cNvPr id="186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4462" y="11201400"/>
            <a:ext cx="100013" cy="100013"/>
          </a:xfrm>
          <a:prstGeom prst="rect">
            <a:avLst/>
          </a:prstGeom>
        </p:spPr>
      </p:pic>
      <p:sp>
        <p:nvSpPr>
          <p:cNvPr id="187" name="Text 166"/>
          <p:cNvSpPr/>
          <p:nvPr/>
        </p:nvSpPr>
        <p:spPr>
          <a:xfrm>
            <a:off x="4021624" y="11172825"/>
            <a:ext cx="25060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is critical and memory usage is a concern</a:t>
            </a:r>
            <a:endParaRPr lang="en-US" sz="788" dirty="0"/>
          </a:p>
        </p:txBody>
      </p:sp>
      <p:pic>
        <p:nvPicPr>
          <p:cNvPr id="188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8" y="11401425"/>
            <a:ext cx="100013" cy="100013"/>
          </a:xfrm>
          <a:prstGeom prst="rect">
            <a:avLst/>
          </a:prstGeom>
        </p:spPr>
      </p:pic>
      <p:sp>
        <p:nvSpPr>
          <p:cNvPr id="189" name="Text 167"/>
          <p:cNvSpPr/>
          <p:nvPr/>
        </p:nvSpPr>
        <p:spPr>
          <a:xfrm>
            <a:off x="1143000" y="11372850"/>
            <a:ext cx="24176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depth could be very large or unpredictable</a:t>
            </a:r>
            <a:endParaRPr lang="en-US" sz="788" dirty="0"/>
          </a:p>
        </p:txBody>
      </p:sp>
      <p:pic>
        <p:nvPicPr>
          <p:cNvPr id="190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4462" y="11401425"/>
            <a:ext cx="100013" cy="100013"/>
          </a:xfrm>
          <a:prstGeom prst="rect">
            <a:avLst/>
          </a:prstGeom>
        </p:spPr>
      </p:pic>
      <p:sp>
        <p:nvSpPr>
          <p:cNvPr id="191" name="Text 168"/>
          <p:cNvSpPr/>
          <p:nvPr/>
        </p:nvSpPr>
        <p:spPr>
          <a:xfrm>
            <a:off x="4021624" y="11372850"/>
            <a:ext cx="2678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application runs in a memory-constrained environment</a:t>
            </a:r>
            <a:endParaRPr lang="en-US" sz="788" dirty="0"/>
          </a:p>
        </p:txBody>
      </p:sp>
      <p:sp>
        <p:nvSpPr>
          <p:cNvPr id="192" name="Shape 169"/>
          <p:cNvSpPr/>
          <p:nvPr/>
        </p:nvSpPr>
        <p:spPr>
          <a:xfrm>
            <a:off x="628650" y="11744325"/>
            <a:ext cx="7886700" cy="571500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3" name="Image 2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11944350"/>
            <a:ext cx="214313" cy="171450"/>
          </a:xfrm>
          <a:prstGeom prst="rect">
            <a:avLst/>
          </a:prstGeom>
        </p:spPr>
      </p:pic>
      <p:sp>
        <p:nvSpPr>
          <p:cNvPr id="194" name="Text 170"/>
          <p:cNvSpPr/>
          <p:nvPr/>
        </p:nvSpPr>
        <p:spPr>
          <a:xfrm>
            <a:off x="1071563" y="11858625"/>
            <a:ext cx="74009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 Recursion is a powerful tool, but it's not always the best solution. Choose the right approach based on the specific requirements of your problem, considering factors like readability, performance, and memory constraints.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172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843674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and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229436" y="455414"/>
            <a:ext cx="1953927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4000500" cy="51863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6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8650" y="1485900"/>
            <a:ext cx="3657600" cy="9144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28650" y="1485900"/>
            <a:ext cx="28575" cy="9144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2950" y="15716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742950" y="1800225"/>
            <a:ext cx="36147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is a programming technique where a function calls itself to solve a problem by breaking it down into smaller instances of the same problem.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8650" y="2514600"/>
            <a:ext cx="3657600" cy="10858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8650" y="2514600"/>
            <a:ext cx="28575" cy="108585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42950" y="260032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Components</a:t>
            </a:r>
            <a:endParaRPr lang="en-US" sz="1125" dirty="0"/>
          </a:p>
        </p:txBody>
      </p:sp>
      <p:sp>
        <p:nvSpPr>
          <p:cNvPr id="14" name="Shape 11"/>
          <p:cNvSpPr/>
          <p:nvPr/>
        </p:nvSpPr>
        <p:spPr>
          <a:xfrm>
            <a:off x="742950" y="2828925"/>
            <a:ext cx="228600" cy="2286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2950" y="2828925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85850" y="2828925"/>
            <a:ext cx="1627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Case(s)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85850" y="3000375"/>
            <a:ext cx="1627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Condition(s) that stop the recursion</a:t>
            </a:r>
            <a:endParaRPr lang="en-US" sz="788" dirty="0"/>
          </a:p>
        </p:txBody>
      </p:sp>
      <p:sp>
        <p:nvSpPr>
          <p:cNvPr id="18" name="Shape 15"/>
          <p:cNvSpPr/>
          <p:nvPr/>
        </p:nvSpPr>
        <p:spPr>
          <a:xfrm>
            <a:off x="742950" y="3200400"/>
            <a:ext cx="228600" cy="2286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42950" y="3200400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5850" y="3200400"/>
            <a:ext cx="2656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Case(s)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85850" y="3371850"/>
            <a:ext cx="26562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calling itself with a simpler version of the problem</a:t>
            </a:r>
            <a:endParaRPr lang="en-US" sz="788" dirty="0"/>
          </a:p>
        </p:txBody>
      </p:sp>
      <p:sp>
        <p:nvSpPr>
          <p:cNvPr id="22" name="Shape 19"/>
          <p:cNvSpPr/>
          <p:nvPr/>
        </p:nvSpPr>
        <p:spPr>
          <a:xfrm>
            <a:off x="628650" y="3714750"/>
            <a:ext cx="3657600" cy="225742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28650" y="3714750"/>
            <a:ext cx="28575" cy="2257425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2950" y="3800475"/>
            <a:ext cx="3614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Flow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742950" y="4029075"/>
            <a:ext cx="36147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calls build up on the call stack until a base case is reached, then results are returned back up the stack.</a:t>
            </a:r>
            <a:endParaRPr lang="en-US" sz="788" dirty="0"/>
          </a:p>
        </p:txBody>
      </p:sp>
      <p:sp>
        <p:nvSpPr>
          <p:cNvPr id="26" name="Shape 23"/>
          <p:cNvSpPr/>
          <p:nvPr/>
        </p:nvSpPr>
        <p:spPr>
          <a:xfrm>
            <a:off x="2057400" y="4371975"/>
            <a:ext cx="914400" cy="242888"/>
          </a:xfrm>
          <a:prstGeom prst="rect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114550" y="4429125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Call</a:t>
            </a:r>
            <a:endParaRPr lang="en-US" sz="675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8" y="4629150"/>
            <a:ext cx="85725" cy="1143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2057400" y="4743450"/>
            <a:ext cx="914400" cy="242888"/>
          </a:xfrm>
          <a:prstGeom prst="rect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2114550" y="4800600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Recursive Calls</a:t>
            </a:r>
            <a:endParaRPr lang="en-US" sz="675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8" y="5000625"/>
            <a:ext cx="85725" cy="1143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2057400" y="5114925"/>
            <a:ext cx="914400" cy="357188"/>
          </a:xfrm>
          <a:prstGeom prst="rect">
            <a:avLst/>
          </a:prstGeom>
          <a:solidFill>
            <a:srgbClr val="065F46"/>
          </a:solidFill>
          <a:ln w="99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2114550" y="5172075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 Reached</a:t>
            </a:r>
            <a:endParaRPr lang="en-US" sz="675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1738" y="5372100"/>
            <a:ext cx="85725" cy="11430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2057400" y="5486400"/>
            <a:ext cx="914400" cy="242888"/>
          </a:xfrm>
          <a:prstGeom prst="rect">
            <a:avLst/>
          </a:prstGeom>
          <a:solidFill>
            <a:srgbClr val="1E40AF"/>
          </a:solidFill>
          <a:ln w="99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2114550" y="5543550"/>
            <a:ext cx="8715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Results</a:t>
            </a:r>
            <a:endParaRPr lang="en-US" sz="675" dirty="0"/>
          </a:p>
        </p:txBody>
      </p:sp>
      <p:sp>
        <p:nvSpPr>
          <p:cNvPr id="37" name="Shape 31"/>
          <p:cNvSpPr/>
          <p:nvPr/>
        </p:nvSpPr>
        <p:spPr>
          <a:xfrm>
            <a:off x="4686300" y="971550"/>
            <a:ext cx="4000500" cy="5000625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857750" y="114300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Techniques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4857750" y="1485900"/>
            <a:ext cx="1771650" cy="8001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4857750" y="1485900"/>
            <a:ext cx="28575" cy="8001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/>
          <p:nvPr/>
        </p:nvSpPr>
        <p:spPr>
          <a:xfrm>
            <a:off x="4972050" y="1571625"/>
            <a:ext cx="1728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</a:t>
            </a:r>
            <a:endParaRPr lang="en-US" sz="1013" dirty="0"/>
          </a:p>
        </p:txBody>
      </p:sp>
      <p:sp>
        <p:nvSpPr>
          <p:cNvPr id="42" name="Text 36"/>
          <p:cNvSpPr/>
          <p:nvPr/>
        </p:nvSpPr>
        <p:spPr>
          <a:xfrm>
            <a:off x="4972050" y="1800225"/>
            <a:ext cx="1728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results to avoid redundant calculations</a:t>
            </a:r>
            <a:endParaRPr lang="en-US" sz="675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2085975"/>
            <a:ext cx="100013" cy="11430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129213" y="2085975"/>
            <a:ext cx="119348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O(2ⁿ) → O(n) time complexity</a:t>
            </a:r>
            <a:endParaRPr lang="en-US" sz="675" dirty="0"/>
          </a:p>
        </p:txBody>
      </p:sp>
      <p:sp>
        <p:nvSpPr>
          <p:cNvPr id="45" name="Shape 38"/>
          <p:cNvSpPr/>
          <p:nvPr/>
        </p:nvSpPr>
        <p:spPr>
          <a:xfrm>
            <a:off x="6743700" y="1485900"/>
            <a:ext cx="1771650" cy="8001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743700" y="1485900"/>
            <a:ext cx="28575" cy="8001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6858000" y="1571625"/>
            <a:ext cx="1728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 Recursion</a:t>
            </a:r>
            <a:endParaRPr lang="en-US" sz="1013" dirty="0"/>
          </a:p>
        </p:txBody>
      </p:sp>
      <p:sp>
        <p:nvSpPr>
          <p:cNvPr id="48" name="Text 41"/>
          <p:cNvSpPr/>
          <p:nvPr/>
        </p:nvSpPr>
        <p:spPr>
          <a:xfrm>
            <a:off x="6858000" y="1800225"/>
            <a:ext cx="17287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Making recursive call the final operation</a:t>
            </a:r>
            <a:endParaRPr lang="en-US" sz="675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1971675"/>
            <a:ext cx="100013" cy="1143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015163" y="1971675"/>
            <a:ext cx="13578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Potential for compiler optimization</a:t>
            </a:r>
            <a:endParaRPr lang="en-US" sz="675" dirty="0"/>
          </a:p>
        </p:txBody>
      </p:sp>
      <p:sp>
        <p:nvSpPr>
          <p:cNvPr id="51" name="Shape 43"/>
          <p:cNvSpPr/>
          <p:nvPr/>
        </p:nvSpPr>
        <p:spPr>
          <a:xfrm>
            <a:off x="4857750" y="2400300"/>
            <a:ext cx="1771650" cy="8001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4857750" y="2400300"/>
            <a:ext cx="28575" cy="8001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4972050" y="2486025"/>
            <a:ext cx="1728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Helper Methods</a:t>
            </a:r>
            <a:endParaRPr lang="en-US" sz="1013" dirty="0"/>
          </a:p>
        </p:txBody>
      </p:sp>
      <p:sp>
        <p:nvSpPr>
          <p:cNvPr id="54" name="Text 46"/>
          <p:cNvSpPr/>
          <p:nvPr/>
        </p:nvSpPr>
        <p:spPr>
          <a:xfrm>
            <a:off x="4972050" y="2714625"/>
            <a:ext cx="1728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private methods with additional parameters</a:t>
            </a:r>
            <a:endParaRPr lang="en-US" sz="675" dirty="0"/>
          </a:p>
        </p:txBody>
      </p:sp>
      <p:pic>
        <p:nvPicPr>
          <p:cNvPr id="5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000375"/>
            <a:ext cx="100013" cy="114300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5129213" y="3000375"/>
            <a:ext cx="77671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Cleaner public API</a:t>
            </a:r>
            <a:endParaRPr lang="en-US" sz="675" dirty="0"/>
          </a:p>
        </p:txBody>
      </p:sp>
      <p:sp>
        <p:nvSpPr>
          <p:cNvPr id="57" name="Shape 48"/>
          <p:cNvSpPr/>
          <p:nvPr/>
        </p:nvSpPr>
        <p:spPr>
          <a:xfrm>
            <a:off x="6743700" y="2400300"/>
            <a:ext cx="1771650" cy="80010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6743700" y="2400300"/>
            <a:ext cx="28575" cy="8001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/>
          <p:nvPr/>
        </p:nvSpPr>
        <p:spPr>
          <a:xfrm>
            <a:off x="6858000" y="2486025"/>
            <a:ext cx="1728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Patterns</a:t>
            </a:r>
            <a:endParaRPr lang="en-US" sz="1013" dirty="0"/>
          </a:p>
        </p:txBody>
      </p:sp>
      <p:sp>
        <p:nvSpPr>
          <p:cNvPr id="60" name="Text 51"/>
          <p:cNvSpPr/>
          <p:nvPr/>
        </p:nvSpPr>
        <p:spPr>
          <a:xfrm>
            <a:off x="6858000" y="2714625"/>
            <a:ext cx="1728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approaches to recursive problems</a:t>
            </a:r>
            <a:endParaRPr lang="en-US" sz="675" dirty="0"/>
          </a:p>
        </p:txBody>
      </p:sp>
      <p:pic>
        <p:nvPicPr>
          <p:cNvPr id="6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000375"/>
            <a:ext cx="100013" cy="114300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7015163" y="3000375"/>
            <a:ext cx="1434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Divide &amp; conquer, backtracking, etc.</a:t>
            </a:r>
            <a:endParaRPr lang="en-US" sz="675" dirty="0"/>
          </a:p>
        </p:txBody>
      </p:sp>
      <p:sp>
        <p:nvSpPr>
          <p:cNvPr id="63" name="Text 53"/>
          <p:cNvSpPr/>
          <p:nvPr/>
        </p:nvSpPr>
        <p:spPr>
          <a:xfrm>
            <a:off x="4857750" y="3371850"/>
            <a:ext cx="3729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Applications</a:t>
            </a:r>
            <a:endParaRPr lang="en-US" sz="1350" dirty="0"/>
          </a:p>
        </p:txBody>
      </p:sp>
      <p:sp>
        <p:nvSpPr>
          <p:cNvPr id="64" name="Shape 54"/>
          <p:cNvSpPr/>
          <p:nvPr/>
        </p:nvSpPr>
        <p:spPr>
          <a:xfrm>
            <a:off x="4857750" y="3714750"/>
            <a:ext cx="1162031" cy="5429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2325" y="3800475"/>
            <a:ext cx="192881" cy="171450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4943475" y="4029075"/>
            <a:ext cx="10620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 Traversal</a:t>
            </a:r>
            <a:endParaRPr lang="en-US" sz="788" dirty="0"/>
          </a:p>
        </p:txBody>
      </p:sp>
      <p:sp>
        <p:nvSpPr>
          <p:cNvPr id="67" name="Shape 56"/>
          <p:cNvSpPr/>
          <p:nvPr/>
        </p:nvSpPr>
        <p:spPr>
          <a:xfrm>
            <a:off x="6105506" y="3714750"/>
            <a:ext cx="1162059" cy="5429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0081" y="3800475"/>
            <a:ext cx="192881" cy="171450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6191231" y="4029075"/>
            <a:ext cx="10620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Sorting Algorithms</a:t>
            </a:r>
            <a:endParaRPr lang="en-US" sz="788" dirty="0"/>
          </a:p>
        </p:txBody>
      </p:sp>
      <p:sp>
        <p:nvSpPr>
          <p:cNvPr id="70" name="Shape 58"/>
          <p:cNvSpPr/>
          <p:nvPr/>
        </p:nvSpPr>
        <p:spPr>
          <a:xfrm>
            <a:off x="7353291" y="3714750"/>
            <a:ext cx="1162059" cy="542925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8581" y="3800475"/>
            <a:ext cx="171450" cy="171450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7439016" y="4029075"/>
            <a:ext cx="10620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Search</a:t>
            </a:r>
            <a:endParaRPr lang="en-US" sz="788" dirty="0"/>
          </a:p>
        </p:txBody>
      </p:sp>
      <p:sp>
        <p:nvSpPr>
          <p:cNvPr id="73" name="Shape 60"/>
          <p:cNvSpPr/>
          <p:nvPr/>
        </p:nvSpPr>
        <p:spPr>
          <a:xfrm>
            <a:off x="4857750" y="4343400"/>
            <a:ext cx="1162031" cy="6858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3041" y="4429125"/>
            <a:ext cx="171450" cy="171450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4943475" y="4657725"/>
            <a:ext cx="106201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Combinatorial Problems</a:t>
            </a:r>
            <a:endParaRPr lang="en-US" sz="788" dirty="0"/>
          </a:p>
        </p:txBody>
      </p:sp>
      <p:sp>
        <p:nvSpPr>
          <p:cNvPr id="76" name="Shape 62"/>
          <p:cNvSpPr/>
          <p:nvPr/>
        </p:nvSpPr>
        <p:spPr>
          <a:xfrm>
            <a:off x="6105506" y="4343400"/>
            <a:ext cx="1162059" cy="6858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00797" y="4429125"/>
            <a:ext cx="171450" cy="171450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6191231" y="4657725"/>
            <a:ext cx="106204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Graph Algorithms</a:t>
            </a:r>
            <a:endParaRPr lang="en-US" sz="788" dirty="0"/>
          </a:p>
        </p:txBody>
      </p:sp>
      <p:sp>
        <p:nvSpPr>
          <p:cNvPr id="79" name="Shape 64"/>
          <p:cNvSpPr/>
          <p:nvPr/>
        </p:nvSpPr>
        <p:spPr>
          <a:xfrm>
            <a:off x="7353291" y="4343400"/>
            <a:ext cx="1162059" cy="6858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0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866" y="4429125"/>
            <a:ext cx="192881" cy="171450"/>
          </a:xfrm>
          <a:prstGeom prst="rect">
            <a:avLst/>
          </a:prstGeom>
        </p:spPr>
      </p:pic>
      <p:sp>
        <p:nvSpPr>
          <p:cNvPr id="81" name="Text 65"/>
          <p:cNvSpPr/>
          <p:nvPr/>
        </p:nvSpPr>
        <p:spPr>
          <a:xfrm>
            <a:off x="7439016" y="4657725"/>
            <a:ext cx="1062047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System Operations</a:t>
            </a:r>
            <a:endParaRPr lang="en-US" sz="788" dirty="0"/>
          </a:p>
        </p:txBody>
      </p:sp>
      <p:sp>
        <p:nvSpPr>
          <p:cNvPr id="82" name="Shape 66"/>
          <p:cNvSpPr/>
          <p:nvPr/>
        </p:nvSpPr>
        <p:spPr>
          <a:xfrm>
            <a:off x="457200" y="6200775"/>
            <a:ext cx="8229600" cy="3328988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67"/>
          <p:cNvSpPr/>
          <p:nvPr/>
        </p:nvSpPr>
        <p:spPr>
          <a:xfrm>
            <a:off x="628650" y="6372225"/>
            <a:ext cx="79581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 &amp; Considerations</a:t>
            </a:r>
            <a:endParaRPr lang="en-US" sz="1350" dirty="0"/>
          </a:p>
        </p:txBody>
      </p:sp>
      <p:sp>
        <p:nvSpPr>
          <p:cNvPr id="84" name="Shape 68"/>
          <p:cNvSpPr/>
          <p:nvPr/>
        </p:nvSpPr>
        <p:spPr>
          <a:xfrm>
            <a:off x="628650" y="6715125"/>
            <a:ext cx="2514600" cy="16573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5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2950" y="6858000"/>
            <a:ext cx="142875" cy="142875"/>
          </a:xfrm>
          <a:prstGeom prst="rect">
            <a:avLst/>
          </a:prstGeom>
        </p:spPr>
      </p:pic>
      <p:sp>
        <p:nvSpPr>
          <p:cNvPr id="86" name="Text 69"/>
          <p:cNvSpPr/>
          <p:nvPr/>
        </p:nvSpPr>
        <p:spPr>
          <a:xfrm>
            <a:off x="942975" y="6829425"/>
            <a:ext cx="3449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Do's</a:t>
            </a:r>
            <a:endParaRPr lang="en-US" sz="1013" dirty="0"/>
          </a:p>
        </p:txBody>
      </p:sp>
      <p:sp>
        <p:nvSpPr>
          <p:cNvPr id="87" name="Text 70"/>
          <p:cNvSpPr/>
          <p:nvPr/>
        </p:nvSpPr>
        <p:spPr>
          <a:xfrm>
            <a:off x="742950" y="71151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Always define clear base cases</a:t>
            </a:r>
            <a:endParaRPr lang="en-US" sz="788" dirty="0"/>
          </a:p>
        </p:txBody>
      </p:sp>
      <p:sp>
        <p:nvSpPr>
          <p:cNvPr id="88" name="Text 71"/>
          <p:cNvSpPr/>
          <p:nvPr/>
        </p:nvSpPr>
        <p:spPr>
          <a:xfrm>
            <a:off x="742950" y="72866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Ensure progress toward base case</a:t>
            </a:r>
            <a:endParaRPr lang="en-US" sz="788" dirty="0"/>
          </a:p>
        </p:txBody>
      </p:sp>
      <p:sp>
        <p:nvSpPr>
          <p:cNvPr id="89" name="Text 72"/>
          <p:cNvSpPr/>
          <p:nvPr/>
        </p:nvSpPr>
        <p:spPr>
          <a:xfrm>
            <a:off x="742950" y="74580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 inputs</a:t>
            </a:r>
            <a:endParaRPr lang="en-US" sz="788" dirty="0"/>
          </a:p>
        </p:txBody>
      </p:sp>
      <p:sp>
        <p:nvSpPr>
          <p:cNvPr id="90" name="Text 73"/>
          <p:cNvSpPr/>
          <p:nvPr/>
        </p:nvSpPr>
        <p:spPr>
          <a:xfrm>
            <a:off x="742950" y="76295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memoization for overlapping subproblems</a:t>
            </a:r>
            <a:endParaRPr lang="en-US" sz="788" dirty="0"/>
          </a:p>
        </p:txBody>
      </p:sp>
      <p:sp>
        <p:nvSpPr>
          <p:cNvPr id="91" name="Text 74"/>
          <p:cNvSpPr/>
          <p:nvPr/>
        </p:nvSpPr>
        <p:spPr>
          <a:xfrm>
            <a:off x="742950" y="78009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Consider tail recursion</a:t>
            </a:r>
            <a:endParaRPr lang="en-US" sz="788" dirty="0"/>
          </a:p>
        </p:txBody>
      </p:sp>
      <p:sp>
        <p:nvSpPr>
          <p:cNvPr id="92" name="Text 75"/>
          <p:cNvSpPr/>
          <p:nvPr/>
        </p:nvSpPr>
        <p:spPr>
          <a:xfrm>
            <a:off x="742950" y="79724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 with boundary cases</a:t>
            </a:r>
            <a:endParaRPr lang="en-US" sz="788" dirty="0"/>
          </a:p>
        </p:txBody>
      </p:sp>
      <p:sp>
        <p:nvSpPr>
          <p:cNvPr id="93" name="Shape 76"/>
          <p:cNvSpPr/>
          <p:nvPr/>
        </p:nvSpPr>
        <p:spPr>
          <a:xfrm>
            <a:off x="3314700" y="6715125"/>
            <a:ext cx="2514600" cy="16573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4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0" y="6858000"/>
            <a:ext cx="142875" cy="142875"/>
          </a:xfrm>
          <a:prstGeom prst="rect">
            <a:avLst/>
          </a:prstGeom>
        </p:spPr>
      </p:pic>
      <p:sp>
        <p:nvSpPr>
          <p:cNvPr id="95" name="Text 77"/>
          <p:cNvSpPr/>
          <p:nvPr/>
        </p:nvSpPr>
        <p:spPr>
          <a:xfrm>
            <a:off x="3629025" y="6829425"/>
            <a:ext cx="4663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Don'ts</a:t>
            </a:r>
            <a:endParaRPr lang="en-US" sz="1013" dirty="0"/>
          </a:p>
        </p:txBody>
      </p:sp>
      <p:sp>
        <p:nvSpPr>
          <p:cNvPr id="96" name="Text 78"/>
          <p:cNvSpPr/>
          <p:nvPr/>
        </p:nvSpPr>
        <p:spPr>
          <a:xfrm>
            <a:off x="3429000" y="71151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Forget base cases</a:t>
            </a:r>
            <a:endParaRPr lang="en-US" sz="788" dirty="0"/>
          </a:p>
        </p:txBody>
      </p:sp>
      <p:sp>
        <p:nvSpPr>
          <p:cNvPr id="97" name="Text 79"/>
          <p:cNvSpPr/>
          <p:nvPr/>
        </p:nvSpPr>
        <p:spPr>
          <a:xfrm>
            <a:off x="3429000" y="72866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Ignore stack overflow risks</a:t>
            </a:r>
            <a:endParaRPr lang="en-US" sz="788" dirty="0"/>
          </a:p>
        </p:txBody>
      </p:sp>
      <p:sp>
        <p:nvSpPr>
          <p:cNvPr id="98" name="Text 80"/>
          <p:cNvSpPr/>
          <p:nvPr/>
        </p:nvSpPr>
        <p:spPr>
          <a:xfrm>
            <a:off x="3429000" y="74580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recursion for simple iterative problems</a:t>
            </a:r>
            <a:endParaRPr lang="en-US" sz="788" dirty="0"/>
          </a:p>
        </p:txBody>
      </p:sp>
      <p:sp>
        <p:nvSpPr>
          <p:cNvPr id="99" name="Text 81"/>
          <p:cNvSpPr/>
          <p:nvPr/>
        </p:nvSpPr>
        <p:spPr>
          <a:xfrm>
            <a:off x="3429000" y="762952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Repeat calculations unnecessarily</a:t>
            </a:r>
            <a:endParaRPr lang="en-US" sz="788" dirty="0"/>
          </a:p>
        </p:txBody>
      </p:sp>
      <p:sp>
        <p:nvSpPr>
          <p:cNvPr id="100" name="Text 82"/>
          <p:cNvSpPr/>
          <p:nvPr/>
        </p:nvSpPr>
        <p:spPr>
          <a:xfrm>
            <a:off x="3429000" y="78009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Ignore performance implications</a:t>
            </a:r>
            <a:endParaRPr lang="en-US" sz="788" dirty="0"/>
          </a:p>
        </p:txBody>
      </p:sp>
      <p:sp>
        <p:nvSpPr>
          <p:cNvPr id="101" name="Text 83"/>
          <p:cNvSpPr/>
          <p:nvPr/>
        </p:nvSpPr>
        <p:spPr>
          <a:xfrm>
            <a:off x="3429000" y="7972425"/>
            <a:ext cx="2357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 recursion blindly without considering alternatives</a:t>
            </a:r>
            <a:endParaRPr lang="en-US" sz="788" dirty="0"/>
          </a:p>
        </p:txBody>
      </p:sp>
      <p:sp>
        <p:nvSpPr>
          <p:cNvPr id="102" name="Shape 84"/>
          <p:cNvSpPr/>
          <p:nvPr/>
        </p:nvSpPr>
        <p:spPr>
          <a:xfrm>
            <a:off x="6000750" y="6715125"/>
            <a:ext cx="2514600" cy="1657350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3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15050" y="6858000"/>
            <a:ext cx="178594" cy="142875"/>
          </a:xfrm>
          <a:prstGeom prst="rect">
            <a:avLst/>
          </a:prstGeom>
        </p:spPr>
      </p:pic>
      <p:sp>
        <p:nvSpPr>
          <p:cNvPr id="104" name="Text 85"/>
          <p:cNvSpPr/>
          <p:nvPr/>
        </p:nvSpPr>
        <p:spPr>
          <a:xfrm>
            <a:off x="6350794" y="6829425"/>
            <a:ext cx="69302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</a:t>
            </a:r>
            <a:endParaRPr lang="en-US" sz="1013" dirty="0"/>
          </a:p>
        </p:txBody>
      </p:sp>
      <p:sp>
        <p:nvSpPr>
          <p:cNvPr id="105" name="Text 86"/>
          <p:cNvSpPr/>
          <p:nvPr/>
        </p:nvSpPr>
        <p:spPr>
          <a:xfrm>
            <a:off x="6115050" y="71151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vs. Iteration</a:t>
            </a:r>
            <a:endParaRPr lang="en-US" sz="788" dirty="0"/>
          </a:p>
        </p:txBody>
      </p:sp>
      <p:sp>
        <p:nvSpPr>
          <p:cNvPr id="106" name="Text 87"/>
          <p:cNvSpPr/>
          <p:nvPr/>
        </p:nvSpPr>
        <p:spPr>
          <a:xfrm>
            <a:off x="6115050" y="7258050"/>
            <a:ext cx="2357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 readability, performance, and memory usage</a:t>
            </a:r>
            <a:endParaRPr lang="en-US" sz="675" dirty="0"/>
          </a:p>
        </p:txBody>
      </p:sp>
      <p:sp>
        <p:nvSpPr>
          <p:cNvPr id="107" name="Text 88"/>
          <p:cNvSpPr/>
          <p:nvPr/>
        </p:nvSpPr>
        <p:spPr>
          <a:xfrm>
            <a:off x="6115050" y="74580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vs. Space</a:t>
            </a:r>
            <a:endParaRPr lang="en-US" sz="788" dirty="0"/>
          </a:p>
        </p:txBody>
      </p:sp>
      <p:sp>
        <p:nvSpPr>
          <p:cNvPr id="108" name="Text 89"/>
          <p:cNvSpPr/>
          <p:nvPr/>
        </p:nvSpPr>
        <p:spPr>
          <a:xfrm>
            <a:off x="6115050" y="7600950"/>
            <a:ext cx="2357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Memoization trades memory for speed</a:t>
            </a:r>
            <a:endParaRPr lang="en-US" sz="675" dirty="0"/>
          </a:p>
        </p:txBody>
      </p:sp>
      <p:sp>
        <p:nvSpPr>
          <p:cNvPr id="109" name="Text 90"/>
          <p:cNvSpPr/>
          <p:nvPr/>
        </p:nvSpPr>
        <p:spPr>
          <a:xfrm>
            <a:off x="6115050" y="7800975"/>
            <a:ext cx="23574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Elegance vs. Efficiency</a:t>
            </a:r>
            <a:endParaRPr lang="en-US" sz="788" dirty="0"/>
          </a:p>
        </p:txBody>
      </p:sp>
      <p:sp>
        <p:nvSpPr>
          <p:cNvPr id="110" name="Text 91"/>
          <p:cNvSpPr/>
          <p:nvPr/>
        </p:nvSpPr>
        <p:spPr>
          <a:xfrm>
            <a:off x="6115050" y="7943850"/>
            <a:ext cx="2357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67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Sometimes iterative solutions are more efficient</a:t>
            </a:r>
            <a:endParaRPr lang="en-US" sz="675" dirty="0"/>
          </a:p>
        </p:txBody>
      </p:sp>
      <p:sp>
        <p:nvSpPr>
          <p:cNvPr id="111" name="Shape 92"/>
          <p:cNvSpPr/>
          <p:nvPr/>
        </p:nvSpPr>
        <p:spPr>
          <a:xfrm>
            <a:off x="628650" y="8543925"/>
            <a:ext cx="7886700" cy="800100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2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950" y="8858250"/>
            <a:ext cx="128588" cy="171450"/>
          </a:xfrm>
          <a:prstGeom prst="rect">
            <a:avLst/>
          </a:prstGeom>
        </p:spPr>
      </p:pic>
      <p:sp>
        <p:nvSpPr>
          <p:cNvPr id="113" name="Text 93"/>
          <p:cNvSpPr/>
          <p:nvPr/>
        </p:nvSpPr>
        <p:spPr>
          <a:xfrm>
            <a:off x="985838" y="8658225"/>
            <a:ext cx="7486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Thought</a:t>
            </a:r>
            <a:endParaRPr lang="en-US" sz="1125" dirty="0"/>
          </a:p>
        </p:txBody>
      </p:sp>
      <p:sp>
        <p:nvSpPr>
          <p:cNvPr id="114" name="Text 94"/>
          <p:cNvSpPr/>
          <p:nvPr/>
        </p:nvSpPr>
        <p:spPr>
          <a:xfrm>
            <a:off x="985838" y="8886825"/>
            <a:ext cx="7486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Recursion is a powerful tool in a programmer's toolkit. Understanding when and how to use it effectively can lead to elegant solutions for complex problems. However, always consider the trade-offs and be mindful of its limitations.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437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5414"/>
            <a:ext cx="132893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63B3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1714695" y="455414"/>
            <a:ext cx="1462543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Answers</a:t>
            </a:r>
            <a:endParaRPr lang="en-US" sz="2025" dirty="0"/>
          </a:p>
        </p:txBody>
      </p:sp>
      <p:sp>
        <p:nvSpPr>
          <p:cNvPr id="5" name="Shape 2"/>
          <p:cNvSpPr/>
          <p:nvPr/>
        </p:nvSpPr>
        <p:spPr>
          <a:xfrm>
            <a:off x="457200" y="971550"/>
            <a:ext cx="8229600" cy="5414963"/>
          </a:xfrm>
          <a:prstGeom prst="rect">
            <a:avLst/>
          </a:prstGeom>
          <a:solidFill>
            <a:srgbClr val="FFFFFF">
              <a:alpha val="10000"/>
            </a:srgbClr>
          </a:solidFill>
          <a:ln w="99">
            <a:solidFill>
              <a:srgbClr val="63B3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60" y="1200150"/>
            <a:ext cx="428625" cy="428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00481" y="1743075"/>
            <a:ext cx="24144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1688" dirty="0"/>
          </a:p>
        </p:txBody>
      </p:sp>
      <p:sp>
        <p:nvSpPr>
          <p:cNvPr id="8" name="Text 4"/>
          <p:cNvSpPr/>
          <p:nvPr/>
        </p:nvSpPr>
        <p:spPr>
          <a:xfrm>
            <a:off x="3400481" y="2057400"/>
            <a:ext cx="24144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 about Java recursion?</a:t>
            </a:r>
            <a:endParaRPr lang="en-US" sz="1125" dirty="0"/>
          </a:p>
        </p:txBody>
      </p:sp>
      <p:sp>
        <p:nvSpPr>
          <p:cNvPr id="9" name="Shape 5"/>
          <p:cNvSpPr/>
          <p:nvPr/>
        </p:nvSpPr>
        <p:spPr>
          <a:xfrm>
            <a:off x="685800" y="2486025"/>
            <a:ext cx="3800475" cy="11430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85800" y="2486025"/>
            <a:ext cx="28575" cy="11430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00100" y="2571750"/>
            <a:ext cx="3757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Questions</a:t>
            </a:r>
            <a:endParaRPr lang="en-US" sz="1013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828925"/>
            <a:ext cx="50006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7256" y="2800350"/>
            <a:ext cx="19337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should I use recursion vs. iteration?</a:t>
            </a:r>
            <a:endParaRPr lang="en-US" sz="788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028950"/>
            <a:ext cx="50006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7256" y="3000375"/>
            <a:ext cx="18334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prevent stack overflow errors?</a:t>
            </a:r>
            <a:endParaRPr lang="en-US" sz="788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228975"/>
            <a:ext cx="50006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7256" y="3200400"/>
            <a:ext cx="26342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all recursive solutions be converted to iterative ones?</a:t>
            </a:r>
            <a:endParaRPr lang="en-US" sz="788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29000"/>
            <a:ext cx="50006" cy="10001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07256" y="3400425"/>
            <a:ext cx="21392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does memoization improve performance?</a:t>
            </a:r>
            <a:endParaRPr lang="en-US" sz="788" dirty="0"/>
          </a:p>
        </p:txBody>
      </p:sp>
      <p:sp>
        <p:nvSpPr>
          <p:cNvPr id="20" name="Shape 12"/>
          <p:cNvSpPr/>
          <p:nvPr/>
        </p:nvSpPr>
        <p:spPr>
          <a:xfrm>
            <a:off x="4657725" y="2486025"/>
            <a:ext cx="3800475" cy="1143000"/>
          </a:xfrm>
          <a:prstGeom prst="rect">
            <a:avLst/>
          </a:prstGeom>
          <a:solidFill>
            <a:srgbClr val="1E3A8A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3"/>
          <p:cNvSpPr/>
          <p:nvPr/>
        </p:nvSpPr>
        <p:spPr>
          <a:xfrm>
            <a:off x="4657725" y="2486025"/>
            <a:ext cx="28575" cy="1143000"/>
          </a:xfrm>
          <a:prstGeom prst="rect">
            <a:avLst/>
          </a:prstGeom>
          <a:solidFill>
            <a:srgbClr val="63B3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/>
          <p:nvPr/>
        </p:nvSpPr>
        <p:spPr>
          <a:xfrm>
            <a:off x="4772025" y="2571750"/>
            <a:ext cx="37576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13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Additional Resources</a:t>
            </a:r>
            <a:endParaRPr lang="en-US" sz="1013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2828925"/>
            <a:ext cx="87511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916686" y="2800350"/>
            <a:ext cx="9831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Documentation</a:t>
            </a:r>
            <a:endParaRPr lang="en-US" sz="788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3028950"/>
            <a:ext cx="125016" cy="1000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954191" y="3000375"/>
            <a:ext cx="1978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Problems: LeetCode, HackerRank</a:t>
            </a:r>
            <a:endParaRPr lang="en-US" sz="788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2025" y="3228975"/>
            <a:ext cx="112514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4941689" y="3200400"/>
            <a:ext cx="17188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Tutorials: Recursion Visualized</a:t>
            </a:r>
            <a:endParaRPr lang="en-US" sz="788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2025" y="3429000"/>
            <a:ext cx="125016" cy="100013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4954191" y="3400425"/>
            <a:ext cx="11829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Community Forums</a:t>
            </a:r>
            <a:endParaRPr lang="en-US" sz="788" dirty="0"/>
          </a:p>
        </p:txBody>
      </p:sp>
      <p:sp>
        <p:nvSpPr>
          <p:cNvPr id="31" name="Shape 19"/>
          <p:cNvSpPr/>
          <p:nvPr/>
        </p:nvSpPr>
        <p:spPr>
          <a:xfrm>
            <a:off x="685800" y="3857625"/>
            <a:ext cx="7772400" cy="1171575"/>
          </a:xfrm>
          <a:prstGeom prst="rect">
            <a:avLst/>
          </a:prstGeom>
          <a:solidFill>
            <a:srgbClr val="1E3A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4307681"/>
            <a:ext cx="192881" cy="257175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221581" y="4029075"/>
            <a:ext cx="71366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Makes Perfect</a:t>
            </a:r>
            <a:endParaRPr lang="en-US" sz="1125" dirty="0"/>
          </a:p>
        </p:txBody>
      </p:sp>
      <p:sp>
        <p:nvSpPr>
          <p:cNvPr id="34" name="Text 21"/>
          <p:cNvSpPr/>
          <p:nvPr/>
        </p:nvSpPr>
        <p:spPr>
          <a:xfrm>
            <a:off x="1221581" y="4286250"/>
            <a:ext cx="71366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way to master recursion is through practice. Start with simple problems like factorial and Fibonacci, then gradually move to more complex problems like tree traversals and backtracking algorithms.</a:t>
            </a:r>
            <a:endParaRPr lang="en-US" sz="900" dirty="0"/>
          </a:p>
        </p:txBody>
      </p:sp>
      <p:sp>
        <p:nvSpPr>
          <p:cNvPr id="35" name="Text 22"/>
          <p:cNvSpPr/>
          <p:nvPr/>
        </p:nvSpPr>
        <p:spPr>
          <a:xfrm>
            <a:off x="1221581" y="4686300"/>
            <a:ext cx="71366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Remember: Think about the base case first, then how to break down the problem into smaller instances!</a:t>
            </a:r>
            <a:endParaRPr lang="en-US" sz="900" dirty="0"/>
          </a:p>
        </p:txBody>
      </p:sp>
      <p:sp>
        <p:nvSpPr>
          <p:cNvPr id="36" name="Shape 23"/>
          <p:cNvSpPr/>
          <p:nvPr/>
        </p:nvSpPr>
        <p:spPr>
          <a:xfrm>
            <a:off x="3509228" y="5257800"/>
            <a:ext cx="2125545" cy="885825"/>
          </a:xfrm>
          <a:prstGeom prst="rect">
            <a:avLst/>
          </a:prstGeom>
          <a:solidFill>
            <a:srgbClr val="1E40A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4"/>
          <p:cNvSpPr/>
          <p:nvPr/>
        </p:nvSpPr>
        <p:spPr>
          <a:xfrm>
            <a:off x="3623528" y="5372100"/>
            <a:ext cx="1968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Information</a:t>
            </a:r>
            <a:endParaRPr lang="en-US" sz="135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3383" y="5686425"/>
            <a:ext cx="114300" cy="11430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4024833" y="5657850"/>
            <a:ext cx="133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instructor@example.com</a:t>
            </a:r>
            <a:endParaRPr lang="en-US" sz="9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3528" y="5886450"/>
            <a:ext cx="114300" cy="1143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3794978" y="5857875"/>
            <a:ext cx="1796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Hours: Mon-Fri, 10AM-4PM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6432</Words>
  <Application>Microsoft Office PowerPoint</Application>
  <PresentationFormat>On-screen Show (16:9)</PresentationFormat>
  <Paragraphs>1407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Consolas</vt:lpstr>
      <vt:lpstr>Segoe UI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Khurram Iqbal</cp:lastModifiedBy>
  <cp:revision>1</cp:revision>
  <dcterms:created xsi:type="dcterms:W3CDTF">2025-06-10T06:03:40Z</dcterms:created>
  <dcterms:modified xsi:type="dcterms:W3CDTF">2025-06-17T09:41:37Z</dcterms:modified>
</cp:coreProperties>
</file>