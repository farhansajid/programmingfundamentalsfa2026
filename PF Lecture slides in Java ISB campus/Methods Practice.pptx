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57" r:id="rId3"/>
    <p:sldId id="256" r:id="rId4"/>
    <p:sldId id="258" r:id="rId5"/>
    <p:sldId id="259" r:id="rId6"/>
    <p:sldId id="260" r:id="rId7"/>
    <p:sldId id="267" r:id="rId8"/>
    <p:sldId id="261" r:id="rId9"/>
    <p:sldId id="262" r:id="rId10"/>
    <p:sldId id="265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12D25D-CED2-44EA-8777-FBCB579E84BC}" v="14" dt="2025-10-14T14:01:33.3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148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urram Iqbal" userId="af32904b-6c78-4cff-8330-5f3a20d540de" providerId="ADAL" clId="{66A0FA1A-D85E-4C58-8269-D269B26C7570}"/>
    <pc:docChg chg="addSld modSld">
      <pc:chgData name="Khurram Iqbal" userId="af32904b-6c78-4cff-8330-5f3a20d540de" providerId="ADAL" clId="{66A0FA1A-D85E-4C58-8269-D269B26C7570}" dt="2025-10-14T14:04:02.530" v="43" actId="14100"/>
      <pc:docMkLst>
        <pc:docMk/>
      </pc:docMkLst>
      <pc:sldChg chg="addSp modSp new mod">
        <pc:chgData name="Khurram Iqbal" userId="af32904b-6c78-4cff-8330-5f3a20d540de" providerId="ADAL" clId="{66A0FA1A-D85E-4C58-8269-D269B26C7570}" dt="2025-10-14T14:04:02.530" v="43" actId="14100"/>
        <pc:sldMkLst>
          <pc:docMk/>
          <pc:sldMk cId="3787633545" sldId="267"/>
        </pc:sldMkLst>
        <pc:graphicFrameChg chg="add mod modGraphic">
          <ac:chgData name="Khurram Iqbal" userId="af32904b-6c78-4cff-8330-5f3a20d540de" providerId="ADAL" clId="{66A0FA1A-D85E-4C58-8269-D269B26C7570}" dt="2025-10-14T14:04:02.530" v="43" actId="14100"/>
          <ac:graphicFrameMkLst>
            <pc:docMk/>
            <pc:sldMk cId="3787633545" sldId="267"/>
            <ac:graphicFrameMk id="2" creationId="{D977A1BA-6F2E-E91C-02FB-DAB597A36965}"/>
          </ac:graphicFrameMkLst>
        </pc:graphicFrameChg>
      </pc:sldChg>
    </pc:docChg>
  </pc:docChgLst>
  <pc:docChgLst>
    <pc:chgData name="Khurram Iqbal" userId="af32904b-6c78-4cff-8330-5f3a20d540de" providerId="ADAL" clId="{4F12D25D-CED2-44EA-8777-FBCB579E84BC}"/>
    <pc:docChg chg="undo redo custSel addSld delSld modSld sldOrd">
      <pc:chgData name="Khurram Iqbal" userId="af32904b-6c78-4cff-8330-5f3a20d540de" providerId="ADAL" clId="{4F12D25D-CED2-44EA-8777-FBCB579E84BC}" dt="2025-04-09T04:33:49.375" v="166" actId="14100"/>
      <pc:docMkLst>
        <pc:docMk/>
      </pc:docMkLst>
      <pc:sldChg chg="addSp delSp modSp mod setBg">
        <pc:chgData name="Khurram Iqbal" userId="af32904b-6c78-4cff-8330-5f3a20d540de" providerId="ADAL" clId="{4F12D25D-CED2-44EA-8777-FBCB579E84BC}" dt="2025-04-09T04:32:11.985" v="161" actId="26606"/>
        <pc:sldMkLst>
          <pc:docMk/>
          <pc:sldMk cId="3043521515" sldId="256"/>
        </pc:sldMkLst>
      </pc:sldChg>
      <pc:sldChg chg="addSp modSp mod setBg">
        <pc:chgData name="Khurram Iqbal" userId="af32904b-6c78-4cff-8330-5f3a20d540de" providerId="ADAL" clId="{4F12D25D-CED2-44EA-8777-FBCB579E84BC}" dt="2025-04-09T04:30:53.859" v="152" actId="26606"/>
        <pc:sldMkLst>
          <pc:docMk/>
          <pc:sldMk cId="1928872268" sldId="257"/>
        </pc:sldMkLst>
      </pc:sldChg>
      <pc:sldChg chg="addSp modSp mod setBg">
        <pc:chgData name="Khurram Iqbal" userId="af32904b-6c78-4cff-8330-5f3a20d540de" providerId="ADAL" clId="{4F12D25D-CED2-44EA-8777-FBCB579E84BC}" dt="2025-04-09T04:32:28.337" v="162" actId="26606"/>
        <pc:sldMkLst>
          <pc:docMk/>
          <pc:sldMk cId="2606445874" sldId="258"/>
        </pc:sldMkLst>
      </pc:sldChg>
      <pc:sldChg chg="modSp mod">
        <pc:chgData name="Khurram Iqbal" userId="af32904b-6c78-4cff-8330-5f3a20d540de" providerId="ADAL" clId="{4F12D25D-CED2-44EA-8777-FBCB579E84BC}" dt="2025-04-09T04:25:26.304" v="149" actId="403"/>
        <pc:sldMkLst>
          <pc:docMk/>
          <pc:sldMk cId="802822841" sldId="259"/>
        </pc:sldMkLst>
      </pc:sldChg>
      <pc:sldChg chg="addSp modSp mod setBg">
        <pc:chgData name="Khurram Iqbal" userId="af32904b-6c78-4cff-8330-5f3a20d540de" providerId="ADAL" clId="{4F12D25D-CED2-44EA-8777-FBCB579E84BC}" dt="2025-04-09T04:32:36.620" v="163" actId="26606"/>
        <pc:sldMkLst>
          <pc:docMk/>
          <pc:sldMk cId="986169267" sldId="260"/>
        </pc:sldMkLst>
      </pc:sldChg>
      <pc:sldChg chg="addSp modSp mod setBg">
        <pc:chgData name="Khurram Iqbal" userId="af32904b-6c78-4cff-8330-5f3a20d540de" providerId="ADAL" clId="{4F12D25D-CED2-44EA-8777-FBCB579E84BC}" dt="2025-04-09T04:32:50.477" v="164" actId="26606"/>
        <pc:sldMkLst>
          <pc:docMk/>
          <pc:sldMk cId="2302587071" sldId="261"/>
        </pc:sldMkLst>
      </pc:sldChg>
      <pc:sldChg chg="add del">
        <pc:chgData name="Khurram Iqbal" userId="af32904b-6c78-4cff-8330-5f3a20d540de" providerId="ADAL" clId="{4F12D25D-CED2-44EA-8777-FBCB579E84BC}" dt="2025-04-09T04:16:29.945" v="97" actId="47"/>
        <pc:sldMkLst>
          <pc:docMk/>
          <pc:sldMk cId="3424048630" sldId="263"/>
        </pc:sldMkLst>
      </pc:sldChg>
      <pc:sldChg chg="modSp add mod">
        <pc:chgData name="Khurram Iqbal" userId="af32904b-6c78-4cff-8330-5f3a20d540de" providerId="ADAL" clId="{4F12D25D-CED2-44EA-8777-FBCB579E84BC}" dt="2025-04-09T04:16:06.203" v="96" actId="20577"/>
        <pc:sldMkLst>
          <pc:docMk/>
          <pc:sldMk cId="2294041101" sldId="264"/>
        </pc:sldMkLst>
      </pc:sldChg>
      <pc:sldChg chg="addSp modSp add mod setBg">
        <pc:chgData name="Khurram Iqbal" userId="af32904b-6c78-4cff-8330-5f3a20d540de" providerId="ADAL" clId="{4F12D25D-CED2-44EA-8777-FBCB579E84BC}" dt="2025-04-09T04:33:49.375" v="166" actId="14100"/>
        <pc:sldMkLst>
          <pc:docMk/>
          <pc:sldMk cId="3237755022" sldId="265"/>
        </pc:sldMkLst>
      </pc:sldChg>
      <pc:sldChg chg="addSp delSp modSp add mod ord setBg addAnim delDesignElem">
        <pc:chgData name="Khurram Iqbal" userId="af32904b-6c78-4cff-8330-5f3a20d540de" providerId="ADAL" clId="{4F12D25D-CED2-44EA-8777-FBCB579E84BC}" dt="2025-04-09T04:31:04.459" v="157"/>
        <pc:sldMkLst>
          <pc:docMk/>
          <pc:sldMk cId="1897967930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5287-6761-4C01-98A4-4B553F557551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893AC-AB7B-4212-89F9-FB1B71665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143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5287-6761-4C01-98A4-4B553F557551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893AC-AB7B-4212-89F9-FB1B71665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209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5287-6761-4C01-98A4-4B553F557551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893AC-AB7B-4212-89F9-FB1B71665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545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5287-6761-4C01-98A4-4B553F557551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893AC-AB7B-4212-89F9-FB1B71665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952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5287-6761-4C01-98A4-4B553F557551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893AC-AB7B-4212-89F9-FB1B71665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702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5287-6761-4C01-98A4-4B553F557551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893AC-AB7B-4212-89F9-FB1B71665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930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5287-6761-4C01-98A4-4B553F557551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893AC-AB7B-4212-89F9-FB1B71665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241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5287-6761-4C01-98A4-4B553F557551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893AC-AB7B-4212-89F9-FB1B71665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191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5287-6761-4C01-98A4-4B553F557551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893AC-AB7B-4212-89F9-FB1B71665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11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5287-6761-4C01-98A4-4B553F557551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893AC-AB7B-4212-89F9-FB1B71665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325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5287-6761-4C01-98A4-4B553F557551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893AC-AB7B-4212-89F9-FB1B71665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383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325287-6761-4C01-98A4-4B553F557551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8893AC-AB7B-4212-89F9-FB1B71665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01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3930" y="1008993"/>
            <a:ext cx="6923558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10000"/>
              <a:t>Methods in Java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3930" y="4582814"/>
            <a:ext cx="5349252" cy="1312657"/>
          </a:xfrm>
        </p:spPr>
        <p:txBody>
          <a:bodyPr anchor="t">
            <a:normAutofit/>
          </a:bodyPr>
          <a:lstStyle/>
          <a:p>
            <a:pPr algn="l"/>
            <a:r>
              <a:rPr lang="en-US"/>
              <a:t>Instructor Khurram Iqbal</a:t>
            </a:r>
          </a:p>
        </p:txBody>
      </p:sp>
    </p:spTree>
    <p:extLst>
      <p:ext uri="{BB962C8B-B14F-4D97-AF65-F5344CB8AC3E}">
        <p14:creationId xmlns:p14="http://schemas.microsoft.com/office/powerpoint/2010/main" val="1897967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7A5E5A-7D4A-F0D5-1D0F-0EF526BFAA48}"/>
              </a:ext>
            </a:extLst>
          </p:cNvPr>
          <p:cNvSpPr txBox="1"/>
          <p:nvPr/>
        </p:nvSpPr>
        <p:spPr>
          <a:xfrm>
            <a:off x="963930" y="1050595"/>
            <a:ext cx="6056111" cy="1618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defTabSz="914400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54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Exercise-1 – JAVA Methods</a:t>
            </a:r>
            <a:endParaRPr lang="en-US" sz="5400" kern="120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5470E4-9967-6149-3A1D-AE45C04112BC}"/>
              </a:ext>
            </a:extLst>
          </p:cNvPr>
          <p:cNvSpPr txBox="1"/>
          <p:nvPr/>
        </p:nvSpPr>
        <p:spPr>
          <a:xfrm>
            <a:off x="963930" y="2969469"/>
            <a:ext cx="6056111" cy="2800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b="1">
                <a:effectLst/>
              </a:rPr>
              <a:t>Write a method that computes the sum of the digits in an integer. Use the following method header: public static int sumDigits(long n)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 b="1">
                <a:effectLst/>
              </a:rPr>
              <a:t>For example, sumDigits(234) returns 9 (2 + 3 + 4).</a:t>
            </a:r>
            <a:endParaRPr lang="en-US" sz="2100" b="1"/>
          </a:p>
        </p:txBody>
      </p:sp>
    </p:spTree>
    <p:extLst>
      <p:ext uri="{BB962C8B-B14F-4D97-AF65-F5344CB8AC3E}">
        <p14:creationId xmlns:p14="http://schemas.microsoft.com/office/powerpoint/2010/main" val="1928872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135293F-2B08-3A39-92FA-4A7E18900E4F}"/>
              </a:ext>
            </a:extLst>
          </p:cNvPr>
          <p:cNvSpPr txBox="1"/>
          <p:nvPr/>
        </p:nvSpPr>
        <p:spPr>
          <a:xfrm>
            <a:off x="1977655" y="677468"/>
            <a:ext cx="4572000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public class DigitSum {</a:t>
            </a:r>
          </a:p>
          <a:p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    public static int sumDigits(long n) {</a:t>
            </a:r>
          </a:p>
          <a:p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</a:p>
          <a:p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	int sum = 0;</a:t>
            </a:r>
          </a:p>
          <a:p>
            <a:endParaRPr 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	while (n != 0) {</a:t>
            </a:r>
          </a:p>
          <a:p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            sum += n % 10; </a:t>
            </a:r>
          </a:p>
          <a:p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	    n /= 10;        </a:t>
            </a:r>
          </a:p>
          <a:p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        }</a:t>
            </a:r>
          </a:p>
          <a:p>
            <a:endParaRPr 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        return sum;</a:t>
            </a:r>
          </a:p>
          <a:p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    }</a:t>
            </a:r>
          </a:p>
          <a:p>
            <a:endParaRPr 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public static void main(String[] args) {</a:t>
            </a:r>
          </a:p>
          <a:p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        System.out.println(sumDigits(234));  </a:t>
            </a:r>
          </a:p>
          <a:p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    }</a:t>
            </a:r>
          </a:p>
          <a:p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3521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447F47-D278-64F4-0095-B840AF0D2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72A8FE-B1E1-2EAF-68F2-58D241623839}"/>
              </a:ext>
            </a:extLst>
          </p:cNvPr>
          <p:cNvSpPr txBox="1"/>
          <p:nvPr/>
        </p:nvSpPr>
        <p:spPr>
          <a:xfrm>
            <a:off x="963930" y="1050595"/>
            <a:ext cx="6056111" cy="1618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defTabSz="914400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54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Exercise 2 – JAVA Methods</a:t>
            </a:r>
            <a:endParaRPr lang="en-US" sz="5400" kern="120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B6ABEA-B97A-9D3F-50EF-0AF6BBF93CD2}"/>
              </a:ext>
            </a:extLst>
          </p:cNvPr>
          <p:cNvSpPr txBox="1"/>
          <p:nvPr/>
        </p:nvSpPr>
        <p:spPr>
          <a:xfrm>
            <a:off x="963930" y="2969469"/>
            <a:ext cx="6056111" cy="2800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b="1"/>
              <a:t>Write a method with the following header to display an integer in reverse order:</a:t>
            </a:r>
          </a:p>
          <a:p>
            <a:pPr marL="0" marR="0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b="1"/>
              <a:t>public static void reverse(int number)</a:t>
            </a:r>
          </a:p>
          <a:p>
            <a:pPr marL="0" marR="0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b="1"/>
              <a:t>For example, reverse(3456) displays 6543. Write a test program that prompts the user to enter an integer and displays its reversal.</a:t>
            </a:r>
          </a:p>
          <a:p>
            <a:pPr marL="0" marR="0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100" b="1"/>
          </a:p>
        </p:txBody>
      </p:sp>
    </p:spTree>
    <p:extLst>
      <p:ext uri="{BB962C8B-B14F-4D97-AF65-F5344CB8AC3E}">
        <p14:creationId xmlns:p14="http://schemas.microsoft.com/office/powerpoint/2010/main" val="2606445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C210F-2A9C-89BE-E732-6B5464B53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395ED99-A664-E9A3-6979-6B05F062F9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581783"/>
              </p:ext>
            </p:extLst>
          </p:nvPr>
        </p:nvGraphicFramePr>
        <p:xfrm>
          <a:off x="116958" y="661286"/>
          <a:ext cx="9027042" cy="5535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3521">
                  <a:extLst>
                    <a:ext uri="{9D8B030D-6E8A-4147-A177-3AD203B41FA5}">
                      <a16:colId xmlns:a16="http://schemas.microsoft.com/office/drawing/2014/main" val="3791379476"/>
                    </a:ext>
                  </a:extLst>
                </a:gridCol>
                <a:gridCol w="4513521">
                  <a:extLst>
                    <a:ext uri="{9D8B030D-6E8A-4147-A177-3AD203B41FA5}">
                      <a16:colId xmlns:a16="http://schemas.microsoft.com/office/drawing/2014/main" val="2875381792"/>
                    </a:ext>
                  </a:extLst>
                </a:gridCol>
              </a:tblGrid>
              <a:tr h="553542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import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java.util.Scanner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;</a:t>
                      </a:r>
                    </a:p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public class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ReverseInteger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{</a:t>
                      </a:r>
                    </a:p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   public static void reverse(int number) {</a:t>
                      </a:r>
                    </a:p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     int digit ;</a:t>
                      </a:r>
                    </a:p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      while (number != 0) {</a:t>
                      </a:r>
                    </a:p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          digit = number % 10</a:t>
                      </a:r>
                    </a:p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         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System.out.print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(digit);    </a:t>
                      </a:r>
                    </a:p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          number /= 10;               </a:t>
                      </a:r>
                    </a:p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      }</a:t>
                      </a:r>
                    </a:p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     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System.out.println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(); </a:t>
                      </a:r>
                    </a:p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  }</a:t>
                      </a:r>
                    </a:p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public static void main(String[]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args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 {  </a:t>
                      </a:r>
                    </a:p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int number; </a:t>
                      </a:r>
                    </a:p>
                    <a:p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Scanner input = new Scanner(System.in);</a:t>
                      </a:r>
                    </a:p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System.out.print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("Enter an integer: ");</a:t>
                      </a:r>
                    </a:p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number =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input.nextInt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();</a:t>
                      </a:r>
                    </a:p>
                    <a:p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System.out.print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("Reversed number: ");</a:t>
                      </a:r>
                    </a:p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reverse(number);</a:t>
                      </a:r>
                    </a:p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}</a:t>
                      </a:r>
                    </a:p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}</a:t>
                      </a:r>
                    </a:p>
                    <a:p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750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2822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55A2A8-42E5-D874-2199-14BCF3144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F0B4F9-9FC7-CCD2-3E1E-DF343891B244}"/>
              </a:ext>
            </a:extLst>
          </p:cNvPr>
          <p:cNvSpPr txBox="1"/>
          <p:nvPr/>
        </p:nvSpPr>
        <p:spPr>
          <a:xfrm>
            <a:off x="963930" y="1050595"/>
            <a:ext cx="6056111" cy="1618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defTabSz="914400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54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Exercise 3 – JAVA Methods</a:t>
            </a:r>
            <a:endParaRPr lang="en-US" sz="5400" kern="120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54125A-0892-D274-9550-4B6CEBF71793}"/>
              </a:ext>
            </a:extLst>
          </p:cNvPr>
          <p:cNvSpPr txBox="1"/>
          <p:nvPr/>
        </p:nvSpPr>
        <p:spPr>
          <a:xfrm>
            <a:off x="963930" y="2969469"/>
            <a:ext cx="6056111" cy="2800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Write the methods with the following headers</a:t>
            </a:r>
          </a:p>
          <a:p>
            <a:pPr marL="0" marR="0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// Return the reversal of an integer, i.e., reverse(456) returns 654</a:t>
            </a:r>
          </a:p>
          <a:p>
            <a:pPr marL="0" marR="0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</a:rPr>
              <a:t>public static int reverse(int number)</a:t>
            </a:r>
            <a:endParaRPr lang="en-US" sz="1600" dirty="0">
              <a:effectLst/>
            </a:endParaRPr>
          </a:p>
          <a:p>
            <a:pPr marL="0" marR="0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// Return true if number is a palindrome</a:t>
            </a:r>
          </a:p>
          <a:p>
            <a:pPr marL="0" marR="0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</a:rPr>
              <a:t>public static </a:t>
            </a:r>
            <a:r>
              <a:rPr lang="en-US" sz="1600" b="1" dirty="0" err="1">
                <a:effectLst/>
              </a:rPr>
              <a:t>boolean</a:t>
            </a:r>
            <a:r>
              <a:rPr lang="en-US" sz="1600" b="1" dirty="0">
                <a:effectLst/>
              </a:rPr>
              <a:t> </a:t>
            </a:r>
            <a:r>
              <a:rPr lang="en-US" sz="1600" b="1" dirty="0" err="1">
                <a:effectLst/>
              </a:rPr>
              <a:t>isPalindrome</a:t>
            </a:r>
            <a:r>
              <a:rPr lang="en-US" sz="1600" b="1" dirty="0">
                <a:effectLst/>
              </a:rPr>
              <a:t>(int number)</a:t>
            </a:r>
            <a:endParaRPr lang="en-US" sz="1600" dirty="0">
              <a:effectLst/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Use the reverse method to implement </a:t>
            </a:r>
            <a:r>
              <a:rPr lang="en-US" sz="1600" b="1" dirty="0" err="1">
                <a:effectLst/>
              </a:rPr>
              <a:t>isPalindrome</a:t>
            </a:r>
            <a:r>
              <a:rPr lang="en-US" sz="1600" dirty="0">
                <a:effectLst/>
              </a:rPr>
              <a:t>. A number is a palindrome if its reversal is the same as itself. Write a test program that prompts the user to enter an integer and reports whether the integer is a palindrome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986169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977A1BA-6F2E-E91C-02FB-DAB597A369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648242"/>
              </p:ext>
            </p:extLst>
          </p:nvPr>
        </p:nvGraphicFramePr>
        <p:xfrm>
          <a:off x="0" y="0"/>
          <a:ext cx="9144000" cy="685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400207137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3109213589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r>
                        <a:rPr lang="en-US" dirty="0"/>
                        <a:t>import </a:t>
                      </a:r>
                      <a:r>
                        <a:rPr lang="en-US" dirty="0" err="1"/>
                        <a:t>java.util.Scanner</a:t>
                      </a:r>
                      <a:r>
                        <a:rPr lang="en-US" dirty="0"/>
                        <a:t>;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public class </a:t>
                      </a:r>
                      <a:r>
                        <a:rPr lang="en-US" dirty="0" err="1"/>
                        <a:t>PalindromeCheck</a:t>
                      </a:r>
                      <a:r>
                        <a:rPr lang="en-US" dirty="0"/>
                        <a:t> {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public static int reverse(int number) {</a:t>
                      </a:r>
                    </a:p>
                    <a:p>
                      <a:r>
                        <a:rPr lang="en-US" dirty="0"/>
                        <a:t>        int reversed = 0;</a:t>
                      </a:r>
                    </a:p>
                    <a:p>
                      <a:r>
                        <a:rPr lang="en-US" dirty="0"/>
                        <a:t>        while (number != 0) {</a:t>
                      </a:r>
                    </a:p>
                    <a:p>
                      <a:r>
                        <a:rPr lang="en-US" dirty="0"/>
                        <a:t>            int digit = number % 10;</a:t>
                      </a:r>
                    </a:p>
                    <a:p>
                      <a:r>
                        <a:rPr lang="en-US" dirty="0"/>
                        <a:t>            reversed = reversed * 10 + digit;         </a:t>
                      </a:r>
                    </a:p>
                    <a:p>
                      <a:r>
                        <a:rPr lang="en-US" dirty="0"/>
                        <a:t>            number = number / 10;     </a:t>
                      </a:r>
                    </a:p>
                    <a:p>
                      <a:r>
                        <a:rPr lang="en-US" dirty="0"/>
                        <a:t>        }</a:t>
                      </a:r>
                    </a:p>
                    <a:p>
                      <a:r>
                        <a:rPr lang="en-US" dirty="0"/>
                        <a:t>        return reversed;</a:t>
                      </a:r>
                    </a:p>
                    <a:p>
                      <a:r>
                        <a:rPr lang="en-US" dirty="0"/>
                        <a:t>    }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    // Return true if number is a palindrome</a:t>
                      </a:r>
                    </a:p>
                    <a:p>
                      <a:r>
                        <a:rPr lang="en-US" dirty="0"/>
                        <a:t>    public static </a:t>
                      </a:r>
                      <a:r>
                        <a:rPr lang="en-US" dirty="0" err="1"/>
                        <a:t>boolean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isPalindrome</a:t>
                      </a:r>
                      <a:r>
                        <a:rPr lang="en-US" dirty="0"/>
                        <a:t>(int number) {</a:t>
                      </a:r>
                    </a:p>
                    <a:p>
                      <a:r>
                        <a:rPr lang="en-US" dirty="0"/>
                        <a:t>        // A number is a palindrome if its reverse is the same as itself</a:t>
                      </a:r>
                    </a:p>
                    <a:p>
                      <a:r>
                        <a:rPr lang="en-US" dirty="0"/>
                        <a:t>        return number == reverse(number);</a:t>
                      </a:r>
                    </a:p>
                    <a:p>
                      <a:r>
                        <a:rPr lang="en-US" dirty="0"/>
                        <a:t>    }</a:t>
                      </a:r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public static void main(String[] </a:t>
                      </a:r>
                      <a:r>
                        <a:rPr lang="en-US" dirty="0" err="1"/>
                        <a:t>args</a:t>
                      </a:r>
                      <a:r>
                        <a:rPr lang="en-US" dirty="0"/>
                        <a:t>) {</a:t>
                      </a:r>
                    </a:p>
                    <a:p>
                      <a:r>
                        <a:rPr lang="en-US" dirty="0"/>
                        <a:t>        Scanner input = new Scanner(System.in);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        </a:t>
                      </a:r>
                      <a:r>
                        <a:rPr lang="en-US" dirty="0" err="1"/>
                        <a:t>System.out.print</a:t>
                      </a:r>
                      <a:r>
                        <a:rPr lang="en-US" dirty="0"/>
                        <a:t>("Enter an integer: ");</a:t>
                      </a:r>
                    </a:p>
                    <a:p>
                      <a:r>
                        <a:rPr lang="en-US" dirty="0"/>
                        <a:t>        int number = </a:t>
                      </a:r>
                      <a:r>
                        <a:rPr lang="en-US" dirty="0" err="1"/>
                        <a:t>input.nextInt</a:t>
                      </a:r>
                      <a:r>
                        <a:rPr lang="en-US" dirty="0"/>
                        <a:t>();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        if (</a:t>
                      </a:r>
                      <a:r>
                        <a:rPr lang="en-US" dirty="0" err="1"/>
                        <a:t>isPalindrome</a:t>
                      </a:r>
                      <a:r>
                        <a:rPr lang="en-US" dirty="0"/>
                        <a:t>(number)) {</a:t>
                      </a:r>
                    </a:p>
                    <a:p>
                      <a:r>
                        <a:rPr lang="en-US" dirty="0"/>
                        <a:t>            </a:t>
                      </a:r>
                      <a:r>
                        <a:rPr lang="en-US" dirty="0" err="1"/>
                        <a:t>System.out.println</a:t>
                      </a:r>
                      <a:r>
                        <a:rPr lang="en-US" dirty="0"/>
                        <a:t>(number + " is a palindrome.");</a:t>
                      </a:r>
                    </a:p>
                    <a:p>
                      <a:r>
                        <a:rPr lang="en-US" dirty="0"/>
                        <a:t>        } else {</a:t>
                      </a:r>
                    </a:p>
                    <a:p>
                      <a:r>
                        <a:rPr lang="en-US" dirty="0"/>
                        <a:t>            </a:t>
                      </a:r>
                      <a:r>
                        <a:rPr lang="en-US" dirty="0" err="1"/>
                        <a:t>System.out.println</a:t>
                      </a:r>
                      <a:r>
                        <a:rPr lang="en-US" dirty="0"/>
                        <a:t>(number + " is not a palindrome.");</a:t>
                      </a:r>
                    </a:p>
                    <a:p>
                      <a:r>
                        <a:rPr lang="en-US" dirty="0"/>
                        <a:t>        }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        </a:t>
                      </a:r>
                      <a:r>
                        <a:rPr lang="en-US" dirty="0" err="1"/>
                        <a:t>input.close</a:t>
                      </a:r>
                      <a:r>
                        <a:rPr lang="en-US" dirty="0"/>
                        <a:t>();</a:t>
                      </a:r>
                    </a:p>
                    <a:p>
                      <a:r>
                        <a:rPr lang="en-US" dirty="0"/>
                        <a:t>    }</a:t>
                      </a:r>
                    </a:p>
                    <a:p>
                      <a:r>
                        <a:rPr lang="en-US" dirty="0"/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7568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7633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CFF436-FA8A-4E32-4163-3B0A9EC6F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30079E-384C-B657-F23F-CA95F0667ADE}"/>
              </a:ext>
            </a:extLst>
          </p:cNvPr>
          <p:cNvSpPr txBox="1"/>
          <p:nvPr/>
        </p:nvSpPr>
        <p:spPr>
          <a:xfrm>
            <a:off x="963930" y="1050595"/>
            <a:ext cx="6056111" cy="1618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defTabSz="914400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54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Exercise 4 – JAVA Methods</a:t>
            </a:r>
            <a:endParaRPr lang="en-US" sz="5400" kern="120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BE5D24-7A39-1057-F879-CC53B35F404F}"/>
              </a:ext>
            </a:extLst>
          </p:cNvPr>
          <p:cNvSpPr txBox="1"/>
          <p:nvPr/>
        </p:nvSpPr>
        <p:spPr>
          <a:xfrm>
            <a:off x="963930" y="2969469"/>
            <a:ext cx="6056111" cy="2800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>
                <a:effectLst/>
              </a:rPr>
              <a:t>Write a method with the following header to display three numbers in increasing order:</a:t>
            </a:r>
          </a:p>
          <a:p>
            <a:pPr marL="0" marR="0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b="1">
                <a:effectLst/>
              </a:rPr>
              <a:t>public static void displaySortedNumbers(double num1, double num2, double num3)</a:t>
            </a:r>
            <a:endParaRPr lang="en-US" sz="2100">
              <a:effectLst/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>
                <a:effectLst/>
              </a:rPr>
              <a:t>Write a test program that prompts the user to enter three numbers and invokes the method to display them in increasing order.</a:t>
            </a:r>
            <a:endParaRPr lang="en-US" sz="2100" b="1"/>
          </a:p>
        </p:txBody>
      </p:sp>
    </p:spTree>
    <p:extLst>
      <p:ext uri="{BB962C8B-B14F-4D97-AF65-F5344CB8AC3E}">
        <p14:creationId xmlns:p14="http://schemas.microsoft.com/office/powerpoint/2010/main" val="2302587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0A33B-F91E-07DB-E69F-E96E364AE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6B6654E-F936-2181-5C45-5A67DC3F3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403247"/>
              </p:ext>
            </p:extLst>
          </p:nvPr>
        </p:nvGraphicFramePr>
        <p:xfrm>
          <a:off x="58479" y="0"/>
          <a:ext cx="9027042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8972">
                  <a:extLst>
                    <a:ext uri="{9D8B030D-6E8A-4147-A177-3AD203B41FA5}">
                      <a16:colId xmlns:a16="http://schemas.microsoft.com/office/drawing/2014/main" val="3791379476"/>
                    </a:ext>
                  </a:extLst>
                </a:gridCol>
                <a:gridCol w="4758070">
                  <a:extLst>
                    <a:ext uri="{9D8B030D-6E8A-4147-A177-3AD203B41FA5}">
                      <a16:colId xmlns:a16="http://schemas.microsoft.com/office/drawing/2014/main" val="2875381792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import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java.util.Scanner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;</a:t>
                      </a:r>
                    </a:p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public class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SortThreeNumbers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{</a:t>
                      </a:r>
                    </a:p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public static void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displaySortedNumbers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(double num1, double num2, double num3) {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double temp;</a:t>
                      </a:r>
                    </a:p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if (num1 &gt; num2) {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    temp = num1;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    num1 = num2;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    num2 = temp;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}</a:t>
                      </a:r>
                    </a:p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if (num2 &gt; num3) {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    temp = num2;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    num2 = num3;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    num3 = temp;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}</a:t>
                      </a:r>
                    </a:p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if (num1 &gt; num2) {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    temp = num1;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    num1 = num2;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    num2 = temp;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System.out.println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("Sorted numbers: " + num1 + " " + num2 + " " + num3);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}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public static void main(String[]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args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) {</a:t>
                      </a:r>
                    </a:p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double num1 ,num2, num3</a:t>
                      </a:r>
                    </a:p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Scanner input = new Scanner(System.in);</a:t>
                      </a:r>
                    </a:p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System.out.print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("Enter three numbers: ");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num1 =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input.nextDouble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();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num2 =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input.nextDouble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();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num3 =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input.nextDouble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();</a:t>
                      </a:r>
                    </a:p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displaySortedNumbers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(num1, num2, num3);</a:t>
                      </a:r>
                    </a:p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}</a:t>
                      </a:r>
                    </a:p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750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5401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50EE28-25CA-6FF9-8274-BEA7E2231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BE4F56-9F1A-97B6-6846-05B2338B2F3D}"/>
              </a:ext>
            </a:extLst>
          </p:cNvPr>
          <p:cNvSpPr txBox="1"/>
          <p:nvPr/>
        </p:nvSpPr>
        <p:spPr>
          <a:xfrm>
            <a:off x="963930" y="1050595"/>
            <a:ext cx="6056111" cy="1618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defTabSz="914400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54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Exercise 5 – JAVA Methods</a:t>
            </a:r>
            <a:endParaRPr lang="en-US" sz="5400" kern="120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E3223E-234A-B0CE-2EBA-994B678BE39E}"/>
              </a:ext>
            </a:extLst>
          </p:cNvPr>
          <p:cNvSpPr txBox="1"/>
          <p:nvPr/>
        </p:nvSpPr>
        <p:spPr>
          <a:xfrm>
            <a:off x="963930" y="2969469"/>
            <a:ext cx="6553289" cy="2800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effectLst/>
              </a:rPr>
              <a:t>Write a Java method to count all vowels in a string. Here is sample run</a:t>
            </a:r>
          </a:p>
          <a:p>
            <a:pPr marL="0" marR="0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effectLst/>
              </a:rPr>
              <a:t>Enter a string: Welcome to Java</a:t>
            </a:r>
            <a:br>
              <a:rPr lang="en-US" sz="2100" dirty="0">
                <a:effectLst/>
              </a:rPr>
            </a:br>
            <a:endParaRPr lang="en-US" sz="2100" dirty="0">
              <a:effectLst/>
            </a:endParaRPr>
          </a:p>
          <a:p>
            <a:pPr marL="0" marR="0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effectLst/>
              </a:rPr>
              <a:t>Number of  Vowels in the string: 6</a:t>
            </a:r>
          </a:p>
        </p:txBody>
      </p:sp>
    </p:spTree>
    <p:extLst>
      <p:ext uri="{BB962C8B-B14F-4D97-AF65-F5344CB8AC3E}">
        <p14:creationId xmlns:p14="http://schemas.microsoft.com/office/powerpoint/2010/main" val="3237755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B8045-A04D-90DB-711A-B2A99074A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22AA5CE-F0F4-AE2A-B305-6C23968D08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035588"/>
              </p:ext>
            </p:extLst>
          </p:nvPr>
        </p:nvGraphicFramePr>
        <p:xfrm>
          <a:off x="58479" y="0"/>
          <a:ext cx="9027042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8972">
                  <a:extLst>
                    <a:ext uri="{9D8B030D-6E8A-4147-A177-3AD203B41FA5}">
                      <a16:colId xmlns:a16="http://schemas.microsoft.com/office/drawing/2014/main" val="3791379476"/>
                    </a:ext>
                  </a:extLst>
                </a:gridCol>
                <a:gridCol w="4758070">
                  <a:extLst>
                    <a:ext uri="{9D8B030D-6E8A-4147-A177-3AD203B41FA5}">
                      <a16:colId xmlns:a16="http://schemas.microsoft.com/office/drawing/2014/main" val="2875381792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import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java.util.Scanner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;</a:t>
                      </a:r>
                    </a:p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public class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VowelCounter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{</a:t>
                      </a:r>
                    </a:p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public static int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countVowels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(String str) {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int count = 0;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str =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str.toLowerCase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(); </a:t>
                      </a:r>
                    </a:p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for (int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= 0;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&lt;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str.length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();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++) {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    char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ch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=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str.charAt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);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   if (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ch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== 'a' ||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ch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== 'e' ||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ch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== '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' ||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ch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== 'o' ||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ch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== 'u') {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        count++;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    }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}</a:t>
                      </a:r>
                    </a:p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return count;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}</a:t>
                      </a:r>
                    </a:p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public static void main(String[]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args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) {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Scanner input = new Scanner(System.in);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String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userInput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int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vowelCount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;        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System.out.print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("Enter a string: ");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userInput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=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input.nextLine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();</a:t>
                      </a:r>
                    </a:p>
                    <a:p>
                      <a:endParaRPr lang="en-US" sz="17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vowelCount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=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countVowels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userInput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);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   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System.out.println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("Number of Vowels in the string: " +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</a:rPr>
                        <a:t>vowelCount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);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   }</a:t>
                      </a:r>
                    </a:p>
                    <a:p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}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750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4041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</TotalTime>
  <Words>1087</Words>
  <Application>Microsoft Office PowerPoint</Application>
  <PresentationFormat>On-screen Show (4:3)</PresentationFormat>
  <Paragraphs>182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Methods in Java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Khurram Iqbal</dc:creator>
  <cp:lastModifiedBy>Khurram Iqbal</cp:lastModifiedBy>
  <cp:revision>1</cp:revision>
  <dcterms:created xsi:type="dcterms:W3CDTF">2025-04-09T03:46:22Z</dcterms:created>
  <dcterms:modified xsi:type="dcterms:W3CDTF">2025-10-14T14:04:07Z</dcterms:modified>
</cp:coreProperties>
</file>