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2"/>
  </p:notesMasterIdLst>
  <p:sldIdLst>
    <p:sldId id="256" r:id="rId2"/>
    <p:sldId id="286" r:id="rId3"/>
    <p:sldId id="257" r:id="rId4"/>
    <p:sldId id="258" r:id="rId5"/>
    <p:sldId id="292" r:id="rId6"/>
    <p:sldId id="259" r:id="rId7"/>
    <p:sldId id="260" r:id="rId8"/>
    <p:sldId id="261" r:id="rId9"/>
    <p:sldId id="262" r:id="rId10"/>
    <p:sldId id="263" r:id="rId11"/>
    <p:sldId id="264" r:id="rId12"/>
    <p:sldId id="265" r:id="rId13"/>
    <p:sldId id="269" r:id="rId14"/>
    <p:sldId id="293" r:id="rId15"/>
    <p:sldId id="287" r:id="rId16"/>
    <p:sldId id="288" r:id="rId17"/>
    <p:sldId id="289" r:id="rId18"/>
    <p:sldId id="290" r:id="rId19"/>
    <p:sldId id="291" r:id="rId20"/>
    <p:sldId id="266" r:id="rId21"/>
    <p:sldId id="267" r:id="rId22"/>
    <p:sldId id="268" r:id="rId23"/>
    <p:sldId id="271" r:id="rId24"/>
    <p:sldId id="272" r:id="rId25"/>
    <p:sldId id="273" r:id="rId26"/>
    <p:sldId id="274" r:id="rId27"/>
    <p:sldId id="278" r:id="rId28"/>
    <p:sldId id="294" r:id="rId29"/>
    <p:sldId id="295" r:id="rId30"/>
    <p:sldId id="277" r:id="rId31"/>
    <p:sldId id="275" r:id="rId32"/>
    <p:sldId id="276" r:id="rId33"/>
    <p:sldId id="297" r:id="rId34"/>
    <p:sldId id="279" r:id="rId35"/>
    <p:sldId id="281" r:id="rId36"/>
    <p:sldId id="282" r:id="rId37"/>
    <p:sldId id="283" r:id="rId38"/>
    <p:sldId id="296" r:id="rId39"/>
    <p:sldId id="284" r:id="rId40"/>
    <p:sldId id="28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4" autoAdjust="0"/>
    <p:restoredTop sz="94660"/>
  </p:normalViewPr>
  <p:slideViewPr>
    <p:cSldViewPr snapToGrid="0">
      <p:cViewPr varScale="1">
        <p:scale>
          <a:sx n="64" d="100"/>
          <a:sy n="64" d="100"/>
        </p:scale>
        <p:origin x="63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ram Iqbal" userId="af32904b-6c78-4cff-8330-5f3a20d540de" providerId="ADAL" clId="{66A0FA1A-D85E-4C58-8269-D269B26C7570}"/>
    <pc:docChg chg="modSld">
      <pc:chgData name="Khurram Iqbal" userId="af32904b-6c78-4cff-8330-5f3a20d540de" providerId="ADAL" clId="{66A0FA1A-D85E-4C58-8269-D269B26C7570}" dt="2025-12-03T04:41:52.256" v="0" actId="1035"/>
      <pc:docMkLst>
        <pc:docMk/>
      </pc:docMkLst>
      <pc:sldChg chg="modSp mod">
        <pc:chgData name="Khurram Iqbal" userId="af32904b-6c78-4cff-8330-5f3a20d540de" providerId="ADAL" clId="{66A0FA1A-D85E-4C58-8269-D269B26C7570}" dt="2025-12-03T04:41:52.256" v="0" actId="1035"/>
        <pc:sldMkLst>
          <pc:docMk/>
          <pc:sldMk cId="3379041058" sldId="271"/>
        </pc:sldMkLst>
        <pc:picChg chg="mod">
          <ac:chgData name="Khurram Iqbal" userId="af32904b-6c78-4cff-8330-5f3a20d540de" providerId="ADAL" clId="{66A0FA1A-D85E-4C58-8269-D269B26C7570}" dt="2025-12-03T04:41:52.256" v="0" actId="1035"/>
          <ac:picMkLst>
            <pc:docMk/>
            <pc:sldMk cId="3379041058" sldId="271"/>
            <ac:picMk id="5" creationId="{C694EFDE-5097-415A-86A9-4B52CC7D14AC}"/>
          </ac:picMkLst>
        </pc:picChg>
        <pc:picChg chg="mod">
          <ac:chgData name="Khurram Iqbal" userId="af32904b-6c78-4cff-8330-5f3a20d540de" providerId="ADAL" clId="{66A0FA1A-D85E-4C58-8269-D269B26C7570}" dt="2025-12-03T04:41:52.256" v="0" actId="1035"/>
          <ac:picMkLst>
            <pc:docMk/>
            <pc:sldMk cId="3379041058" sldId="271"/>
            <ac:picMk id="6" creationId="{DE726C03-84F9-41D2-9238-DBB4D1F95A21}"/>
          </ac:picMkLst>
        </pc:picChg>
        <pc:picChg chg="mod">
          <ac:chgData name="Khurram Iqbal" userId="af32904b-6c78-4cff-8330-5f3a20d540de" providerId="ADAL" clId="{66A0FA1A-D85E-4C58-8269-D269B26C7570}" dt="2025-12-03T04:41:52.256" v="0" actId="1035"/>
          <ac:picMkLst>
            <pc:docMk/>
            <pc:sldMk cId="3379041058" sldId="271"/>
            <ac:picMk id="7" creationId="{3D17042B-C76D-40AA-A481-786E2E874753}"/>
          </ac:picMkLst>
        </pc:picChg>
        <pc:picChg chg="mod">
          <ac:chgData name="Khurram Iqbal" userId="af32904b-6c78-4cff-8330-5f3a20d540de" providerId="ADAL" clId="{66A0FA1A-D85E-4C58-8269-D269B26C7570}" dt="2025-12-03T04:41:52.256" v="0" actId="1035"/>
          <ac:picMkLst>
            <pc:docMk/>
            <pc:sldMk cId="3379041058" sldId="271"/>
            <ac:picMk id="8" creationId="{48F2A478-18D7-4157-A6FF-164739E7B659}"/>
          </ac:picMkLst>
        </pc:picChg>
        <pc:picChg chg="mod">
          <ac:chgData name="Khurram Iqbal" userId="af32904b-6c78-4cff-8330-5f3a20d540de" providerId="ADAL" clId="{66A0FA1A-D85E-4C58-8269-D269B26C7570}" dt="2025-12-03T04:41:52.256" v="0" actId="1035"/>
          <ac:picMkLst>
            <pc:docMk/>
            <pc:sldMk cId="3379041058" sldId="271"/>
            <ac:picMk id="9" creationId="{65B9BA3E-3189-482B-AD34-9ED891E0B2F8}"/>
          </ac:picMkLst>
        </pc:picChg>
        <pc:picChg chg="mod">
          <ac:chgData name="Khurram Iqbal" userId="af32904b-6c78-4cff-8330-5f3a20d540de" providerId="ADAL" clId="{66A0FA1A-D85E-4C58-8269-D269B26C7570}" dt="2025-12-03T04:41:52.256" v="0" actId="1035"/>
          <ac:picMkLst>
            <pc:docMk/>
            <pc:sldMk cId="3379041058" sldId="271"/>
            <ac:picMk id="10" creationId="{157491DC-FB65-459C-87B8-D11846991B7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7E85C9-D478-41ED-AEE2-1F9F0ADDD1CB}"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BF4B4F-64FD-4F21-802D-0D71B8AD9ABB}" type="slidenum">
              <a:rPr lang="en-US" smtClean="0"/>
              <a:t>‹#›</a:t>
            </a:fld>
            <a:endParaRPr lang="en-US"/>
          </a:p>
        </p:txBody>
      </p:sp>
    </p:spTree>
    <p:extLst>
      <p:ext uri="{BB962C8B-B14F-4D97-AF65-F5344CB8AC3E}">
        <p14:creationId xmlns:p14="http://schemas.microsoft.com/office/powerpoint/2010/main" val="3374236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9E6F2A7-84A3-4E8E-A051-DF7FF6CE599A}"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71485466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474599-2D28-417F-8555-9617442EB41F}"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747955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287154B-B50D-45D9-AA1B-782A44942718}"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275225686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EC826E9-CDDC-4004-8659-61F63DC6161E}" type="datetime1">
              <a:rPr lang="en-US" smtClean="0"/>
              <a:t>12/3/2025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67222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29D28F5-0CEC-4F2D-A766-EF2761038DEE}" type="datetime1">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917438-FD46-48DD-9C04-0EE101A21382}"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9229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6AAD7D-3AF8-4416-8B3E-EACBBF947729}" type="datetime1">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910063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FCACEA-1C24-44C5-8270-7150CD2C826B}" type="datetime1">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3018058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BA3D1D13-C9E4-4945-820F-D1FC9F03EB08}" type="datetime1">
              <a:rPr lang="en-US" smtClean="0"/>
              <a:t>12/3/2025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4028493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FB53A16C-641B-4903-9B21-3BCE49D8E7DC}" type="datetime1">
              <a:rPr lang="en-US" smtClean="0"/>
              <a:t>12/3/2025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961950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2CC1D2-59D4-4F91-A748-59D26AF75290}"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651527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715950-A43D-4395-9F46-1EB4272727A4}" type="datetime1">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917438-FD46-48DD-9C04-0EE101A21382}" type="slidenum">
              <a:rPr lang="en-US" smtClean="0"/>
              <a:t>‹#›</a:t>
            </a:fld>
            <a:endParaRPr lang="en-US"/>
          </a:p>
        </p:txBody>
      </p:sp>
    </p:spTree>
    <p:extLst>
      <p:ext uri="{BB962C8B-B14F-4D97-AF65-F5344CB8AC3E}">
        <p14:creationId xmlns:p14="http://schemas.microsoft.com/office/powerpoint/2010/main" val="1423598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91EBA3E-FF84-4453-ACB0-581B86B26FF7}" type="datetime1">
              <a:rPr lang="en-US" smtClean="0"/>
              <a:t>12/3/2025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4D917438-FD46-48DD-9C04-0EE101A21382}" type="slidenum">
              <a:rPr lang="en-US" smtClean="0"/>
              <a:t>‹#›</a:t>
            </a:fld>
            <a:endParaRPr lang="en-US"/>
          </a:p>
        </p:txBody>
      </p:sp>
    </p:spTree>
    <p:extLst>
      <p:ext uri="{BB962C8B-B14F-4D97-AF65-F5344CB8AC3E}">
        <p14:creationId xmlns:p14="http://schemas.microsoft.com/office/powerpoint/2010/main" val="2822013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6.xml"/><Relationship Id="rId5" Type="http://schemas.microsoft.com/office/2007/relationships/hdphoto" Target="../media/hdphoto4.wdp"/><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6.xml"/><Relationship Id="rId5" Type="http://schemas.microsoft.com/office/2007/relationships/hdphoto" Target="../media/hdphoto5.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6.xml"/><Relationship Id="rId5" Type="http://schemas.openxmlformats.org/officeDocument/2006/relationships/image" Target="../media/image11.emf"/><Relationship Id="rId4" Type="http://schemas.microsoft.com/office/2007/relationships/hdphoto" Target="../media/hdphoto6.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7.emf"/><Relationship Id="rId9" Type="http://schemas.microsoft.com/office/2007/relationships/hdphoto" Target="../media/hdphoto8.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emf"/><Relationship Id="rId7" Type="http://schemas.openxmlformats.org/officeDocument/2006/relationships/image" Target="../media/image31.emf"/><Relationship Id="rId2" Type="http://schemas.openxmlformats.org/officeDocument/2006/relationships/image" Target="../media/image26.emf"/><Relationship Id="rId1" Type="http://schemas.openxmlformats.org/officeDocument/2006/relationships/slideLayout" Target="../slideLayouts/slideLayout7.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28.emf"/></Relationships>
</file>

<file path=ppt/slides/_rels/slide2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809EE-8C92-4050-B308-7897E0728E80}"/>
              </a:ext>
            </a:extLst>
          </p:cNvPr>
          <p:cNvSpPr>
            <a:spLocks noGrp="1"/>
          </p:cNvSpPr>
          <p:nvPr>
            <p:ph type="ctrTitle"/>
          </p:nvPr>
        </p:nvSpPr>
        <p:spPr/>
        <p:txBody>
          <a:bodyPr/>
          <a:lstStyle/>
          <a:p>
            <a:r>
              <a:rPr lang="en-US" dirty="0"/>
              <a:t>Exception handling</a:t>
            </a:r>
          </a:p>
        </p:txBody>
      </p:sp>
      <p:sp>
        <p:nvSpPr>
          <p:cNvPr id="3" name="Subtitle 2">
            <a:extLst>
              <a:ext uri="{FF2B5EF4-FFF2-40B4-BE49-F238E27FC236}">
                <a16:creationId xmlns:a16="http://schemas.microsoft.com/office/drawing/2014/main" id="{DA713831-EAA2-4308-A8C3-E872EE015E94}"/>
              </a:ext>
            </a:extLst>
          </p:cNvPr>
          <p:cNvSpPr>
            <a:spLocks noGrp="1"/>
          </p:cNvSpPr>
          <p:nvPr>
            <p:ph type="subTitle" idx="1"/>
          </p:nvPr>
        </p:nvSpPr>
        <p:spPr/>
        <p:txBody>
          <a:bodyPr/>
          <a:lstStyle/>
          <a:p>
            <a:r>
              <a:rPr lang="en-US" dirty="0"/>
              <a:t>CSC103 Programming Fundamentals</a:t>
            </a:r>
          </a:p>
        </p:txBody>
      </p:sp>
    </p:spTree>
    <p:extLst>
      <p:ext uri="{BB962C8B-B14F-4D97-AF65-F5344CB8AC3E}">
        <p14:creationId xmlns:p14="http://schemas.microsoft.com/office/powerpoint/2010/main" val="2559287018"/>
      </p:ext>
    </p:extLst>
  </p:cSld>
  <p:clrMapOvr>
    <a:masterClrMapping/>
  </p:clrMapOvr>
  <mc:AlternateContent xmlns:mc="http://schemas.openxmlformats.org/markup-compatibility/2006" xmlns:p14="http://schemas.microsoft.com/office/powerpoint/2010/main">
    <mc:Choice Requires="p14">
      <p:transition spd="slow" p14:dur="2000" advTm="29372"/>
    </mc:Choice>
    <mc:Fallback xmlns="">
      <p:transition spd="slow" advTm="293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CA38-CEBC-4CE4-9EB6-1C1356754F97}"/>
              </a:ext>
            </a:extLst>
          </p:cNvPr>
          <p:cNvSpPr>
            <a:spLocks noGrp="1"/>
          </p:cNvSpPr>
          <p:nvPr>
            <p:ph type="title"/>
          </p:nvPr>
        </p:nvSpPr>
        <p:spPr/>
        <p:txBody>
          <a:bodyPr/>
          <a:lstStyle/>
          <a:p>
            <a:r>
              <a:rPr lang="en-US" dirty="0"/>
              <a:t>Today’s lecture</a:t>
            </a:r>
          </a:p>
        </p:txBody>
      </p:sp>
      <p:sp>
        <p:nvSpPr>
          <p:cNvPr id="3" name="Content Placeholder 2">
            <a:extLst>
              <a:ext uri="{FF2B5EF4-FFF2-40B4-BE49-F238E27FC236}">
                <a16:creationId xmlns:a16="http://schemas.microsoft.com/office/drawing/2014/main" id="{E1D90C7E-44E8-4EAB-A87C-2CF19B7B4808}"/>
              </a:ext>
            </a:extLst>
          </p:cNvPr>
          <p:cNvSpPr>
            <a:spLocks noGrp="1"/>
          </p:cNvSpPr>
          <p:nvPr>
            <p:ph idx="1"/>
          </p:nvPr>
        </p:nvSpPr>
        <p:spPr>
          <a:xfrm>
            <a:off x="2231136" y="2638044"/>
            <a:ext cx="7729728" cy="3945636"/>
          </a:xfrm>
        </p:spPr>
        <p:txBody>
          <a:bodyPr>
            <a:normAutofit/>
          </a:bodyPr>
          <a:lstStyle/>
          <a:p>
            <a:r>
              <a:rPr lang="en-US" dirty="0"/>
              <a:t>Exceptions and exception handling</a:t>
            </a:r>
          </a:p>
          <a:p>
            <a:r>
              <a:rPr lang="en-US" dirty="0">
                <a:solidFill>
                  <a:srgbClr val="0070C0"/>
                </a:solidFill>
                <a:latin typeface="Consolas" panose="020B0609020204030204" pitchFamily="49" charset="0"/>
                <a:cs typeface="Consolas" panose="020B0609020204030204" pitchFamily="49" charset="0"/>
              </a:rPr>
              <a:t>Try-throw-catch</a:t>
            </a:r>
            <a:r>
              <a:rPr lang="en-US" dirty="0"/>
              <a:t> template</a:t>
            </a:r>
          </a:p>
          <a:p>
            <a:r>
              <a:rPr lang="en-US" dirty="0"/>
              <a:t>Exception classes</a:t>
            </a:r>
          </a:p>
          <a:p>
            <a:r>
              <a:rPr lang="en-US" dirty="0"/>
              <a:t>Exception handling model</a:t>
            </a:r>
          </a:p>
          <a:p>
            <a:pPr lvl="1"/>
            <a:r>
              <a:rPr lang="en-US" dirty="0">
                <a:solidFill>
                  <a:srgbClr val="00B050"/>
                </a:solidFill>
              </a:rPr>
              <a:t>Declaring exceptions</a:t>
            </a:r>
          </a:p>
          <a:p>
            <a:pPr lvl="1"/>
            <a:r>
              <a:rPr lang="en-US" dirty="0">
                <a:solidFill>
                  <a:srgbClr val="00B050"/>
                </a:solidFill>
              </a:rPr>
              <a:t>Throwing exceptions</a:t>
            </a:r>
          </a:p>
          <a:p>
            <a:pPr lvl="1"/>
            <a:r>
              <a:rPr lang="en-US" dirty="0">
                <a:solidFill>
                  <a:srgbClr val="00B050"/>
                </a:solidFill>
              </a:rPr>
              <a:t>Catching exceptions</a:t>
            </a:r>
          </a:p>
          <a:p>
            <a:r>
              <a:rPr lang="en-US" dirty="0"/>
              <a:t>The </a:t>
            </a:r>
            <a:r>
              <a:rPr lang="en-US" dirty="0">
                <a:solidFill>
                  <a:srgbClr val="0070C0"/>
                </a:solidFill>
                <a:latin typeface="Consolas" panose="020B0609020204030204" pitchFamily="49" charset="0"/>
                <a:cs typeface="Consolas" panose="020B0609020204030204" pitchFamily="49" charset="0"/>
              </a:rPr>
              <a:t>finally</a:t>
            </a:r>
            <a:r>
              <a:rPr lang="en-US" dirty="0"/>
              <a:t> clause</a:t>
            </a:r>
          </a:p>
          <a:p>
            <a:r>
              <a:rPr lang="en-US" dirty="0"/>
              <a:t>Rethrowing exceptions</a:t>
            </a:r>
          </a:p>
          <a:p>
            <a:r>
              <a:rPr lang="en-US" dirty="0"/>
              <a:t>Chained exceptions</a:t>
            </a:r>
          </a:p>
          <a:p>
            <a:endParaRPr lang="en-US" dirty="0"/>
          </a:p>
        </p:txBody>
      </p:sp>
      <p:sp>
        <p:nvSpPr>
          <p:cNvPr id="4" name="Slide Number Placeholder 3">
            <a:extLst>
              <a:ext uri="{FF2B5EF4-FFF2-40B4-BE49-F238E27FC236}">
                <a16:creationId xmlns:a16="http://schemas.microsoft.com/office/drawing/2014/main" id="{C92EBF86-C650-42A9-BE62-454470C81D1F}"/>
              </a:ext>
            </a:extLst>
          </p:cNvPr>
          <p:cNvSpPr>
            <a:spLocks noGrp="1"/>
          </p:cNvSpPr>
          <p:nvPr>
            <p:ph type="sldNum" sz="quarter" idx="12"/>
          </p:nvPr>
        </p:nvSpPr>
        <p:spPr/>
        <p:txBody>
          <a:bodyPr/>
          <a:lstStyle/>
          <a:p>
            <a:fld id="{4D917438-FD46-48DD-9C04-0EE101A21382}" type="slidenum">
              <a:rPr lang="en-US" smtClean="0"/>
              <a:t>2</a:t>
            </a:fld>
            <a:endParaRPr lang="en-US"/>
          </a:p>
        </p:txBody>
      </p:sp>
    </p:spTree>
    <p:extLst>
      <p:ext uri="{BB962C8B-B14F-4D97-AF65-F5344CB8AC3E}">
        <p14:creationId xmlns:p14="http://schemas.microsoft.com/office/powerpoint/2010/main" val="2368925350"/>
      </p:ext>
    </p:extLst>
  </p:cSld>
  <p:clrMapOvr>
    <a:masterClrMapping/>
  </p:clrMapOvr>
  <mc:AlternateContent xmlns:mc="http://schemas.openxmlformats.org/markup-compatibility/2006" xmlns:p14="http://schemas.microsoft.com/office/powerpoint/2010/main">
    <mc:Choice Requires="p14">
      <p:transition spd="slow" p14:dur="2000" advTm="62629"/>
    </mc:Choice>
    <mc:Fallback xmlns="">
      <p:transition spd="slow" advTm="6262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79853-284F-46B0-97F3-773D8D996793}"/>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8FBFB8AC-2DFA-4CD2-80E6-5808011D15FC}"/>
              </a:ext>
            </a:extLst>
          </p:cNvPr>
          <p:cNvSpPr>
            <a:spLocks noGrp="1"/>
          </p:cNvSpPr>
          <p:nvPr>
            <p:ph idx="1"/>
          </p:nvPr>
        </p:nvSpPr>
        <p:spPr>
          <a:xfrm>
            <a:off x="2231136" y="2638044"/>
            <a:ext cx="7729728" cy="3684697"/>
          </a:xfrm>
        </p:spPr>
        <p:txBody>
          <a:bodyPr>
            <a:normAutofit/>
          </a:bodyPr>
          <a:lstStyle/>
          <a:p>
            <a:r>
              <a:rPr lang="en-US" i="1" dirty="0"/>
              <a:t>Exception handling enables a program to deal with exceptional situations and continue its normal execution</a:t>
            </a:r>
          </a:p>
          <a:p>
            <a:r>
              <a:rPr lang="en-US" dirty="0"/>
              <a:t>Runtime errors occur while a program is running (JVM detects an operation that is impossible to carry out)</a:t>
            </a:r>
          </a:p>
          <a:p>
            <a:r>
              <a:rPr lang="en-US" dirty="0"/>
              <a:t>Examples:</a:t>
            </a:r>
          </a:p>
          <a:p>
            <a:pPr lvl="1"/>
            <a:r>
              <a:rPr lang="en-US" dirty="0">
                <a:solidFill>
                  <a:srgbClr val="00B050"/>
                </a:solidFill>
              </a:rPr>
              <a:t>Accessing an array using an index that is out of bounds (</a:t>
            </a:r>
            <a:r>
              <a:rPr lang="en-US" dirty="0" err="1">
                <a:solidFill>
                  <a:srgbClr val="0070C0"/>
                </a:solidFill>
                <a:latin typeface="Consolas" panose="020B0609020204030204" pitchFamily="49" charset="0"/>
                <a:cs typeface="Consolas" panose="020B0609020204030204" pitchFamily="49" charset="0"/>
              </a:rPr>
              <a:t>ArrayIndexOutOfBoundsException</a:t>
            </a:r>
            <a:r>
              <a:rPr lang="en-US" dirty="0">
                <a:solidFill>
                  <a:srgbClr val="00B050"/>
                </a:solidFill>
              </a:rPr>
              <a:t>)</a:t>
            </a:r>
          </a:p>
          <a:p>
            <a:pPr lvl="1"/>
            <a:r>
              <a:rPr lang="en-US" dirty="0">
                <a:solidFill>
                  <a:srgbClr val="00B050"/>
                </a:solidFill>
              </a:rPr>
              <a:t>Entering a double value when your program expects an integer (</a:t>
            </a:r>
            <a:r>
              <a:rPr lang="en-US" dirty="0" err="1">
                <a:solidFill>
                  <a:srgbClr val="0070C0"/>
                </a:solidFill>
                <a:latin typeface="Consolas" panose="020B0609020204030204" pitchFamily="49" charset="0"/>
                <a:cs typeface="Consolas" panose="020B0609020204030204" pitchFamily="49" charset="0"/>
              </a:rPr>
              <a:t>InputMismatchException</a:t>
            </a:r>
            <a:r>
              <a:rPr lang="en-US" dirty="0">
                <a:solidFill>
                  <a:srgbClr val="00B050"/>
                </a:solidFill>
              </a:rPr>
              <a:t>)</a:t>
            </a:r>
          </a:p>
        </p:txBody>
      </p:sp>
      <p:sp>
        <p:nvSpPr>
          <p:cNvPr id="4" name="Slide Number Placeholder 3">
            <a:extLst>
              <a:ext uri="{FF2B5EF4-FFF2-40B4-BE49-F238E27FC236}">
                <a16:creationId xmlns:a16="http://schemas.microsoft.com/office/drawing/2014/main" id="{E3C6AE87-E4EE-48D0-B3B9-BF8531BC5F0D}"/>
              </a:ext>
            </a:extLst>
          </p:cNvPr>
          <p:cNvSpPr>
            <a:spLocks noGrp="1"/>
          </p:cNvSpPr>
          <p:nvPr>
            <p:ph type="sldNum" sz="quarter" idx="12"/>
          </p:nvPr>
        </p:nvSpPr>
        <p:spPr/>
        <p:txBody>
          <a:bodyPr/>
          <a:lstStyle/>
          <a:p>
            <a:fld id="{4D917438-FD46-48DD-9C04-0EE101A21382}" type="slidenum">
              <a:rPr lang="en-US" smtClean="0"/>
              <a:t>3</a:t>
            </a:fld>
            <a:endParaRPr lang="en-US"/>
          </a:p>
        </p:txBody>
      </p:sp>
    </p:spTree>
    <p:extLst>
      <p:ext uri="{BB962C8B-B14F-4D97-AF65-F5344CB8AC3E}">
        <p14:creationId xmlns:p14="http://schemas.microsoft.com/office/powerpoint/2010/main" val="937443899"/>
      </p:ext>
    </p:extLst>
  </p:cSld>
  <p:clrMapOvr>
    <a:masterClrMapping/>
  </p:clrMapOvr>
  <mc:AlternateContent xmlns:mc="http://schemas.openxmlformats.org/markup-compatibility/2006" xmlns:p14="http://schemas.microsoft.com/office/powerpoint/2010/main">
    <mc:Choice Requires="p14">
      <p:transition spd="slow" p14:dur="2000" advTm="94572"/>
    </mc:Choice>
    <mc:Fallback xmlns="">
      <p:transition spd="slow" advTm="9457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AD2D7-AA66-41FF-BBA7-B42A2BE2DA11}"/>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95D28935-B6AB-4E16-AC16-7BA8F1211EF5}"/>
              </a:ext>
            </a:extLst>
          </p:cNvPr>
          <p:cNvSpPr>
            <a:spLocks noGrp="1"/>
          </p:cNvSpPr>
          <p:nvPr>
            <p:ph idx="1"/>
          </p:nvPr>
        </p:nvSpPr>
        <p:spPr>
          <a:xfrm>
            <a:off x="469243" y="2604591"/>
            <a:ext cx="7729728" cy="3101983"/>
          </a:xfrm>
        </p:spPr>
        <p:txBody>
          <a:bodyPr>
            <a:normAutofit fontScale="92500"/>
          </a:bodyPr>
          <a:lstStyle/>
          <a:p>
            <a:r>
              <a:rPr lang="en-US" dirty="0"/>
              <a:t>In Java, </a:t>
            </a:r>
            <a:r>
              <a:rPr lang="en-US" dirty="0">
                <a:solidFill>
                  <a:srgbClr val="FF0000"/>
                </a:solidFill>
              </a:rPr>
              <a:t>runtime errors </a:t>
            </a:r>
            <a:r>
              <a:rPr lang="en-US" dirty="0"/>
              <a:t>are THROWN as </a:t>
            </a:r>
            <a:r>
              <a:rPr lang="en-US" i="1" dirty="0"/>
              <a:t>exceptions</a:t>
            </a:r>
          </a:p>
          <a:p>
            <a:r>
              <a:rPr lang="en-US" dirty="0">
                <a:solidFill>
                  <a:srgbClr val="C00000"/>
                </a:solidFill>
              </a:rPr>
              <a:t>Exception</a:t>
            </a:r>
            <a:r>
              <a:rPr lang="en-US" dirty="0"/>
              <a:t>: an object that represents an error or a condition that prevents execution from proceeding normally</a:t>
            </a:r>
          </a:p>
          <a:p>
            <a:pPr lvl="1"/>
            <a:r>
              <a:rPr lang="en-US" dirty="0"/>
              <a:t>If not handled, the program will terminate abnormally</a:t>
            </a:r>
          </a:p>
          <a:p>
            <a:r>
              <a:rPr lang="en-US" dirty="0">
                <a:solidFill>
                  <a:schemeClr val="tx1"/>
                </a:solidFill>
              </a:rPr>
              <a:t>Advantages:</a:t>
            </a:r>
          </a:p>
          <a:p>
            <a:pPr lvl="1"/>
            <a:r>
              <a:rPr lang="en-US" dirty="0">
                <a:solidFill>
                  <a:srgbClr val="00B050"/>
                </a:solidFill>
              </a:rPr>
              <a:t>The core advantage of exception handling is to maintain the normal flow of the application.</a:t>
            </a:r>
          </a:p>
          <a:p>
            <a:pPr lvl="1"/>
            <a:r>
              <a:rPr lang="en-US" dirty="0">
                <a:solidFill>
                  <a:srgbClr val="00B050"/>
                </a:solidFill>
              </a:rPr>
              <a:t>Enables a method to throw an exception to its caller, enabling the caller to handle the exception</a:t>
            </a:r>
          </a:p>
          <a:p>
            <a:pPr lvl="1"/>
            <a:r>
              <a:rPr lang="en-US" dirty="0">
                <a:solidFill>
                  <a:srgbClr val="00B050"/>
                </a:solidFill>
              </a:rPr>
              <a:t>Separates the detection of an error from the handling of an error</a:t>
            </a:r>
          </a:p>
        </p:txBody>
      </p:sp>
      <p:sp>
        <p:nvSpPr>
          <p:cNvPr id="4" name="Slide Number Placeholder 3">
            <a:extLst>
              <a:ext uri="{FF2B5EF4-FFF2-40B4-BE49-F238E27FC236}">
                <a16:creationId xmlns:a16="http://schemas.microsoft.com/office/drawing/2014/main" id="{18AF40C6-6991-441F-ABBD-4E0891C81292}"/>
              </a:ext>
            </a:extLst>
          </p:cNvPr>
          <p:cNvSpPr>
            <a:spLocks noGrp="1"/>
          </p:cNvSpPr>
          <p:nvPr>
            <p:ph type="sldNum" sz="quarter" idx="12"/>
          </p:nvPr>
        </p:nvSpPr>
        <p:spPr/>
        <p:txBody>
          <a:bodyPr/>
          <a:lstStyle/>
          <a:p>
            <a:fld id="{4D917438-FD46-48DD-9C04-0EE101A21382}" type="slidenum">
              <a:rPr lang="en-US" smtClean="0"/>
              <a:t>4</a:t>
            </a:fld>
            <a:endParaRPr lang="en-US"/>
          </a:p>
        </p:txBody>
      </p:sp>
      <p:sp>
        <p:nvSpPr>
          <p:cNvPr id="6" name="TextBox 5">
            <a:extLst>
              <a:ext uri="{FF2B5EF4-FFF2-40B4-BE49-F238E27FC236}">
                <a16:creationId xmlns:a16="http://schemas.microsoft.com/office/drawing/2014/main" id="{90AEB26D-2150-0D6D-04FF-271D29EA3A76}"/>
              </a:ext>
            </a:extLst>
          </p:cNvPr>
          <p:cNvSpPr txBox="1"/>
          <p:nvPr/>
        </p:nvSpPr>
        <p:spPr>
          <a:xfrm>
            <a:off x="8514886" y="2604591"/>
            <a:ext cx="3431788" cy="3139321"/>
          </a:xfrm>
          <a:prstGeom prst="rect">
            <a:avLst/>
          </a:prstGeom>
          <a:noFill/>
        </p:spPr>
        <p:txBody>
          <a:bodyPr wrap="square">
            <a:spAutoFit/>
          </a:bodyPr>
          <a:lstStyle/>
          <a:p>
            <a:pPr algn="just"/>
            <a:r>
              <a:rPr lang="en-US" b="1" i="0" dirty="0">
                <a:solidFill>
                  <a:srgbClr val="000000"/>
                </a:solidFill>
                <a:effectLst/>
                <a:latin typeface="inter-regular"/>
              </a:rPr>
              <a:t>Example</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1</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2</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3</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4</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5</a:t>
            </a:r>
            <a:r>
              <a:rPr lang="en-US" b="0" i="0" dirty="0">
                <a:solidFill>
                  <a:srgbClr val="000000"/>
                </a:solidFill>
                <a:effectLst/>
                <a:latin typeface="inter-regular"/>
              </a:rPr>
              <a:t>;</a:t>
            </a:r>
            <a:r>
              <a:rPr lang="en-US" b="0" i="0" dirty="0">
                <a:solidFill>
                  <a:srgbClr val="008200"/>
                </a:solidFill>
                <a:effectLst/>
                <a:latin typeface="inter-regular"/>
              </a:rPr>
              <a:t>//exception occurs</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6</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7</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8</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9</a:t>
            </a:r>
            <a:r>
              <a:rPr lang="en-US" b="0" i="0" dirty="0">
                <a:solidFill>
                  <a:srgbClr val="000000"/>
                </a:solidFill>
                <a:effectLst/>
                <a:latin typeface="inter-regular"/>
              </a:rPr>
              <a:t>;  </a:t>
            </a:r>
          </a:p>
          <a:p>
            <a:pPr algn="just">
              <a:buFont typeface="+mj-lt"/>
              <a:buAutoNum type="arabicPeriod"/>
            </a:pPr>
            <a:r>
              <a:rPr lang="en-US" b="0" i="0" dirty="0">
                <a:solidFill>
                  <a:srgbClr val="000000"/>
                </a:solidFill>
                <a:effectLst/>
                <a:latin typeface="inter-regular"/>
              </a:rPr>
              <a:t>statement </a:t>
            </a:r>
            <a:r>
              <a:rPr lang="en-US" b="0" i="0" dirty="0">
                <a:solidFill>
                  <a:srgbClr val="C00000"/>
                </a:solidFill>
                <a:effectLst/>
                <a:latin typeface="inter-regular"/>
              </a:rPr>
              <a:t>10</a:t>
            </a:r>
            <a:r>
              <a:rPr lang="en-US" b="0" i="0" dirty="0">
                <a:solidFill>
                  <a:srgbClr val="000000"/>
                </a:solidFill>
                <a:effectLst/>
                <a:latin typeface="inter-regular"/>
              </a:rPr>
              <a:t>;  </a:t>
            </a:r>
          </a:p>
        </p:txBody>
      </p:sp>
    </p:spTree>
    <p:extLst>
      <p:ext uri="{BB962C8B-B14F-4D97-AF65-F5344CB8AC3E}">
        <p14:creationId xmlns:p14="http://schemas.microsoft.com/office/powerpoint/2010/main" val="1591186673"/>
      </p:ext>
    </p:extLst>
  </p:cSld>
  <p:clrMapOvr>
    <a:masterClrMapping/>
  </p:clrMapOvr>
  <mc:AlternateContent xmlns:mc="http://schemas.openxmlformats.org/markup-compatibility/2006" xmlns:p14="http://schemas.microsoft.com/office/powerpoint/2010/main">
    <mc:Choice Requires="p14">
      <p:transition spd="slow" p14:dur="2000" advTm="53752"/>
    </mc:Choice>
    <mc:Fallback xmlns="">
      <p:transition spd="slow" advTm="5375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87C4-CB7F-F14F-3923-E550549C1E03}"/>
              </a:ext>
            </a:extLst>
          </p:cNvPr>
          <p:cNvSpPr>
            <a:spLocks noGrp="1"/>
          </p:cNvSpPr>
          <p:nvPr>
            <p:ph type="title"/>
          </p:nvPr>
        </p:nvSpPr>
        <p:spPr/>
        <p:txBody>
          <a:bodyPr/>
          <a:lstStyle/>
          <a:p>
            <a:r>
              <a:rPr lang="en-US" b="0" i="0" dirty="0">
                <a:solidFill>
                  <a:srgbClr val="610B38"/>
                </a:solidFill>
                <a:effectLst/>
                <a:latin typeface="erdana"/>
              </a:rPr>
              <a:t>Java Exception Handling Example and common scenarios</a:t>
            </a:r>
            <a:endParaRPr lang="en-US" dirty="0"/>
          </a:p>
        </p:txBody>
      </p:sp>
      <p:sp>
        <p:nvSpPr>
          <p:cNvPr id="10" name="Content Placeholder 9">
            <a:extLst>
              <a:ext uri="{FF2B5EF4-FFF2-40B4-BE49-F238E27FC236}">
                <a16:creationId xmlns:a16="http://schemas.microsoft.com/office/drawing/2014/main" id="{931EC555-860F-6C89-8FEA-3F901A8001C4}"/>
              </a:ext>
            </a:extLst>
          </p:cNvPr>
          <p:cNvSpPr>
            <a:spLocks noGrp="1"/>
          </p:cNvSpPr>
          <p:nvPr>
            <p:ph idx="1"/>
          </p:nvPr>
        </p:nvSpPr>
        <p:spPr>
          <a:xfrm>
            <a:off x="5146287" y="2417716"/>
            <a:ext cx="6796665" cy="3800203"/>
          </a:xfrm>
        </p:spPr>
        <p:txBody>
          <a:bodyPr>
            <a:normAutofit/>
          </a:bodyPr>
          <a:lstStyle/>
          <a:p>
            <a:r>
              <a:rPr lang="en-US" b="0" i="0" dirty="0">
                <a:solidFill>
                  <a:schemeClr val="tx1"/>
                </a:solidFill>
                <a:effectLst/>
                <a:latin typeface="erdana"/>
              </a:rPr>
              <a:t>A scenario where </a:t>
            </a:r>
            <a:r>
              <a:rPr lang="en-US" b="0" i="0" dirty="0" err="1">
                <a:solidFill>
                  <a:schemeClr val="tx1"/>
                </a:solidFill>
                <a:effectLst/>
                <a:latin typeface="erdana"/>
              </a:rPr>
              <a:t>ArithmeticException</a:t>
            </a:r>
            <a:r>
              <a:rPr lang="en-US" b="0" i="0" dirty="0">
                <a:solidFill>
                  <a:schemeClr val="tx1"/>
                </a:solidFill>
                <a:effectLst/>
                <a:latin typeface="erdana"/>
              </a:rPr>
              <a:t> occurs:  </a:t>
            </a:r>
          </a:p>
          <a:p>
            <a:pPr marL="1717675" indent="-1717675">
              <a:buNone/>
            </a:pPr>
            <a:r>
              <a:rPr lang="en-US" dirty="0">
                <a:solidFill>
                  <a:srgbClr val="0070C0"/>
                </a:solidFill>
                <a:latin typeface="erdana"/>
              </a:rPr>
              <a:t>	</a:t>
            </a:r>
            <a:r>
              <a:rPr lang="en-US" sz="1600" b="1" dirty="0">
                <a:solidFill>
                  <a:srgbClr val="0070C0"/>
                </a:solidFill>
                <a:latin typeface="inter-regular"/>
              </a:rPr>
              <a:t>int a = 100/0;</a:t>
            </a:r>
          </a:p>
          <a:p>
            <a:pPr algn="just"/>
            <a:r>
              <a:rPr lang="en-US" dirty="0">
                <a:solidFill>
                  <a:schemeClr val="tx1"/>
                </a:solidFill>
                <a:latin typeface="erdana"/>
              </a:rPr>
              <a:t>A scenario where </a:t>
            </a:r>
            <a:r>
              <a:rPr lang="en-US" dirty="0" err="1">
                <a:solidFill>
                  <a:schemeClr val="tx1"/>
                </a:solidFill>
                <a:latin typeface="erdana"/>
              </a:rPr>
              <a:t>NullPointerException</a:t>
            </a:r>
            <a:r>
              <a:rPr lang="en-US" dirty="0">
                <a:solidFill>
                  <a:schemeClr val="tx1"/>
                </a:solidFill>
                <a:latin typeface="erdana"/>
              </a:rPr>
              <a:t> occurs: </a:t>
            </a:r>
          </a:p>
          <a:p>
            <a:pPr marL="1717675" lvl="1" indent="0">
              <a:spcBef>
                <a:spcPts val="0"/>
              </a:spcBef>
              <a:buNone/>
            </a:pPr>
            <a:r>
              <a:rPr lang="en-US" b="0" i="0" dirty="0">
                <a:solidFill>
                  <a:srgbClr val="0070C0"/>
                </a:solidFill>
                <a:effectLst/>
                <a:latin typeface="inter-regular"/>
              </a:rPr>
              <a:t>String s=</a:t>
            </a:r>
            <a:r>
              <a:rPr lang="en-US" b="1" i="0" dirty="0">
                <a:solidFill>
                  <a:srgbClr val="0070C0"/>
                </a:solidFill>
                <a:effectLst/>
                <a:latin typeface="inter-regular"/>
              </a:rPr>
              <a:t>null</a:t>
            </a:r>
            <a:r>
              <a:rPr lang="en-US" b="0" i="0" dirty="0">
                <a:solidFill>
                  <a:srgbClr val="0070C0"/>
                </a:solidFill>
                <a:effectLst/>
                <a:latin typeface="inter-regular"/>
              </a:rPr>
              <a:t>;  </a:t>
            </a:r>
          </a:p>
          <a:p>
            <a:pPr marL="1717675" lvl="1" indent="0">
              <a:spcBef>
                <a:spcPts val="0"/>
              </a:spcBef>
              <a:buNone/>
            </a:pPr>
            <a:r>
              <a:rPr lang="en-US" b="0" i="0" dirty="0" err="1">
                <a:solidFill>
                  <a:srgbClr val="0070C0"/>
                </a:solidFill>
                <a:effectLst/>
                <a:latin typeface="inter-regular"/>
              </a:rPr>
              <a:t>System.out.println</a:t>
            </a:r>
            <a:r>
              <a:rPr lang="en-US" b="0" i="0" dirty="0">
                <a:solidFill>
                  <a:srgbClr val="0070C0"/>
                </a:solidFill>
                <a:effectLst/>
                <a:latin typeface="inter-regular"/>
              </a:rPr>
              <a:t>(</a:t>
            </a:r>
            <a:r>
              <a:rPr lang="en-US" b="0" i="0" dirty="0" err="1">
                <a:solidFill>
                  <a:srgbClr val="0070C0"/>
                </a:solidFill>
                <a:effectLst/>
                <a:latin typeface="inter-regular"/>
              </a:rPr>
              <a:t>s.length</a:t>
            </a:r>
            <a:r>
              <a:rPr lang="en-US" b="0" i="0" dirty="0">
                <a:solidFill>
                  <a:srgbClr val="0070C0"/>
                </a:solidFill>
                <a:effectLst/>
                <a:latin typeface="inter-regular"/>
              </a:rPr>
              <a:t>())</a:t>
            </a:r>
          </a:p>
          <a:p>
            <a:pPr marL="285750" lvl="1" indent="-285750">
              <a:lnSpc>
                <a:spcPct val="150000"/>
              </a:lnSpc>
              <a:spcBef>
                <a:spcPts val="0"/>
              </a:spcBef>
            </a:pPr>
            <a:r>
              <a:rPr lang="en-US" sz="1800" dirty="0">
                <a:solidFill>
                  <a:schemeClr val="tx1"/>
                </a:solidFill>
                <a:latin typeface="erdana"/>
              </a:rPr>
              <a:t>A scenario where </a:t>
            </a:r>
            <a:r>
              <a:rPr lang="en-US" sz="1800" dirty="0" err="1">
                <a:solidFill>
                  <a:schemeClr val="tx1"/>
                </a:solidFill>
                <a:latin typeface="erdana"/>
              </a:rPr>
              <a:t>NumberFormatException</a:t>
            </a:r>
            <a:r>
              <a:rPr lang="en-US" sz="1800" dirty="0">
                <a:solidFill>
                  <a:schemeClr val="tx1"/>
                </a:solidFill>
                <a:latin typeface="erdana"/>
              </a:rPr>
              <a:t> occurs</a:t>
            </a:r>
          </a:p>
          <a:p>
            <a:pPr marL="1717675" indent="0" algn="just">
              <a:spcBef>
                <a:spcPts val="0"/>
              </a:spcBef>
              <a:buNone/>
            </a:pPr>
            <a:r>
              <a:rPr lang="en-US" sz="1600" dirty="0">
                <a:solidFill>
                  <a:srgbClr val="0070C0"/>
                </a:solidFill>
                <a:latin typeface="inter-regular"/>
              </a:rPr>
              <a:t>String s="</a:t>
            </a:r>
            <a:r>
              <a:rPr lang="en-US" sz="1600" dirty="0" err="1">
                <a:solidFill>
                  <a:srgbClr val="0070C0"/>
                </a:solidFill>
                <a:latin typeface="inter-regular"/>
              </a:rPr>
              <a:t>abc</a:t>
            </a:r>
            <a:r>
              <a:rPr lang="en-US" sz="1600" dirty="0">
                <a:solidFill>
                  <a:srgbClr val="0070C0"/>
                </a:solidFill>
                <a:latin typeface="inter-regular"/>
              </a:rPr>
              <a:t>";  </a:t>
            </a:r>
          </a:p>
          <a:p>
            <a:pPr marL="1717675" indent="0" algn="just">
              <a:spcBef>
                <a:spcPts val="0"/>
              </a:spcBef>
              <a:buNone/>
            </a:pPr>
            <a:r>
              <a:rPr lang="en-US" sz="1600" dirty="0">
                <a:solidFill>
                  <a:srgbClr val="0070C0"/>
                </a:solidFill>
                <a:latin typeface="inter-regular"/>
              </a:rPr>
              <a:t>int </a:t>
            </a:r>
            <a:r>
              <a:rPr lang="en-US" sz="1600" dirty="0" err="1">
                <a:solidFill>
                  <a:srgbClr val="0070C0"/>
                </a:solidFill>
                <a:latin typeface="inter-regular"/>
              </a:rPr>
              <a:t>i</a:t>
            </a:r>
            <a:r>
              <a:rPr lang="en-US" sz="1600" dirty="0">
                <a:solidFill>
                  <a:srgbClr val="0070C0"/>
                </a:solidFill>
                <a:latin typeface="inter-regular"/>
              </a:rPr>
              <a:t>=</a:t>
            </a:r>
            <a:r>
              <a:rPr lang="en-US" sz="1600" dirty="0" err="1">
                <a:solidFill>
                  <a:srgbClr val="0070C0"/>
                </a:solidFill>
                <a:latin typeface="inter-regular"/>
              </a:rPr>
              <a:t>Integer.parseInt</a:t>
            </a:r>
            <a:r>
              <a:rPr lang="en-US" sz="1600" dirty="0">
                <a:solidFill>
                  <a:srgbClr val="0070C0"/>
                </a:solidFill>
                <a:latin typeface="inter-regular"/>
              </a:rPr>
              <a:t>(s);//</a:t>
            </a:r>
            <a:r>
              <a:rPr lang="en-US" sz="1600" dirty="0" err="1">
                <a:solidFill>
                  <a:srgbClr val="0070C0"/>
                </a:solidFill>
                <a:latin typeface="inter-regular"/>
              </a:rPr>
              <a:t>NumberFormatException</a:t>
            </a:r>
            <a:r>
              <a:rPr lang="en-US" sz="1600" dirty="0">
                <a:solidFill>
                  <a:srgbClr val="0070C0"/>
                </a:solidFill>
                <a:latin typeface="inter-regular"/>
              </a:rPr>
              <a:t> </a:t>
            </a:r>
          </a:p>
          <a:p>
            <a:pPr marL="290513" indent="-285750" algn="just">
              <a:lnSpc>
                <a:spcPct val="150000"/>
              </a:lnSpc>
              <a:spcBef>
                <a:spcPts val="0"/>
              </a:spcBef>
              <a:tabLst>
                <a:tab pos="290513" algn="l"/>
              </a:tabLst>
            </a:pPr>
            <a:r>
              <a:rPr lang="en-US" dirty="0">
                <a:solidFill>
                  <a:schemeClr val="tx1"/>
                </a:solidFill>
                <a:latin typeface="erdana"/>
              </a:rPr>
              <a:t>A scenario where </a:t>
            </a:r>
            <a:r>
              <a:rPr lang="en-US" dirty="0" err="1">
                <a:solidFill>
                  <a:schemeClr val="tx1"/>
                </a:solidFill>
                <a:latin typeface="erdana"/>
              </a:rPr>
              <a:t>ArrayIndexOutOfBoundsException</a:t>
            </a:r>
            <a:r>
              <a:rPr lang="en-US" dirty="0">
                <a:solidFill>
                  <a:schemeClr val="tx1"/>
                </a:solidFill>
                <a:latin typeface="erdana"/>
              </a:rPr>
              <a:t> occurs</a:t>
            </a:r>
          </a:p>
          <a:p>
            <a:pPr marL="1717675" indent="0" algn="just">
              <a:spcBef>
                <a:spcPts val="0"/>
              </a:spcBef>
              <a:buNone/>
            </a:pPr>
            <a:r>
              <a:rPr lang="en-US" sz="1600" b="1" i="0" dirty="0">
                <a:solidFill>
                  <a:srgbClr val="0070C0"/>
                </a:solidFill>
                <a:effectLst/>
                <a:latin typeface="inter-regular"/>
              </a:rPr>
              <a:t>int</a:t>
            </a:r>
            <a:r>
              <a:rPr lang="en-US" sz="1600" b="0" i="0" dirty="0">
                <a:solidFill>
                  <a:srgbClr val="0070C0"/>
                </a:solidFill>
                <a:effectLst/>
                <a:latin typeface="inter-regular"/>
              </a:rPr>
              <a:t> a[]=</a:t>
            </a:r>
            <a:r>
              <a:rPr lang="en-US" sz="1600" b="1" i="0" dirty="0">
                <a:solidFill>
                  <a:srgbClr val="0070C0"/>
                </a:solidFill>
                <a:effectLst/>
                <a:latin typeface="inter-regular"/>
              </a:rPr>
              <a:t>new</a:t>
            </a:r>
            <a:r>
              <a:rPr lang="en-US" sz="1600" b="0" i="0" dirty="0">
                <a:solidFill>
                  <a:srgbClr val="0070C0"/>
                </a:solidFill>
                <a:effectLst/>
                <a:latin typeface="inter-regular"/>
              </a:rPr>
              <a:t> </a:t>
            </a:r>
            <a:r>
              <a:rPr lang="en-US" sz="1600" b="1" i="0" dirty="0">
                <a:solidFill>
                  <a:srgbClr val="0070C0"/>
                </a:solidFill>
                <a:effectLst/>
                <a:latin typeface="inter-regular"/>
              </a:rPr>
              <a:t>int</a:t>
            </a:r>
            <a:r>
              <a:rPr lang="en-US" sz="1600" b="0" i="0" dirty="0">
                <a:solidFill>
                  <a:srgbClr val="0070C0"/>
                </a:solidFill>
                <a:effectLst/>
                <a:latin typeface="inter-regular"/>
              </a:rPr>
              <a:t>[5];  </a:t>
            </a:r>
          </a:p>
          <a:p>
            <a:pPr marL="1717675" indent="0" algn="just">
              <a:spcBef>
                <a:spcPts val="0"/>
              </a:spcBef>
              <a:buNone/>
            </a:pPr>
            <a:r>
              <a:rPr lang="en-US" sz="1600" b="0" i="0" dirty="0">
                <a:solidFill>
                  <a:srgbClr val="0070C0"/>
                </a:solidFill>
                <a:effectLst/>
                <a:latin typeface="inter-regular"/>
              </a:rPr>
              <a:t>a[10]=50; //</a:t>
            </a:r>
            <a:r>
              <a:rPr lang="en-US" sz="1600" b="0" i="0" dirty="0" err="1">
                <a:solidFill>
                  <a:srgbClr val="0070C0"/>
                </a:solidFill>
                <a:effectLst/>
                <a:latin typeface="inter-regular"/>
              </a:rPr>
              <a:t>ArrayIndexOutOfBoundsException</a:t>
            </a:r>
            <a:r>
              <a:rPr lang="en-US" sz="1600" b="0" i="0" dirty="0">
                <a:solidFill>
                  <a:srgbClr val="0070C0"/>
                </a:solidFill>
                <a:effectLst/>
                <a:latin typeface="inter-regular"/>
              </a:rPr>
              <a:t>  </a:t>
            </a:r>
            <a:endParaRPr lang="en-US" sz="1600" dirty="0">
              <a:solidFill>
                <a:srgbClr val="0070C0"/>
              </a:solidFill>
              <a:latin typeface="inter-regular"/>
            </a:endParaRPr>
          </a:p>
          <a:p>
            <a:pPr marL="285750" lvl="1" indent="-285750">
              <a:spcBef>
                <a:spcPts val="0"/>
              </a:spcBef>
            </a:pPr>
            <a:endParaRPr lang="en-US" sz="1800" dirty="0">
              <a:solidFill>
                <a:schemeClr val="tx1"/>
              </a:solidFill>
              <a:latin typeface="erdana"/>
            </a:endParaRPr>
          </a:p>
          <a:p>
            <a:pPr marL="0" lvl="1" indent="0">
              <a:spcBef>
                <a:spcPts val="0"/>
              </a:spcBef>
              <a:buNone/>
            </a:pPr>
            <a:endParaRPr lang="en-US" b="0" i="0" dirty="0">
              <a:solidFill>
                <a:srgbClr val="000000"/>
              </a:solidFill>
              <a:effectLst/>
              <a:latin typeface="inter-regular"/>
            </a:endParaRPr>
          </a:p>
          <a:p>
            <a:endParaRPr lang="en-US" dirty="0">
              <a:solidFill>
                <a:schemeClr val="tx1"/>
              </a:solidFill>
              <a:latin typeface="erdana"/>
            </a:endParaRPr>
          </a:p>
          <a:p>
            <a:endParaRPr lang="en-US" b="0" i="0" dirty="0">
              <a:solidFill>
                <a:srgbClr val="0070C0"/>
              </a:solidFill>
              <a:effectLst/>
              <a:latin typeface="erdana"/>
            </a:endParaRPr>
          </a:p>
          <a:p>
            <a:endParaRPr lang="en-US" b="0" i="0" dirty="0">
              <a:solidFill>
                <a:srgbClr val="0070C0"/>
              </a:solidFill>
              <a:effectLst/>
              <a:latin typeface="erdana"/>
            </a:endParaRPr>
          </a:p>
          <a:p>
            <a:endParaRPr lang="en-US" dirty="0"/>
          </a:p>
        </p:txBody>
      </p:sp>
      <p:sp>
        <p:nvSpPr>
          <p:cNvPr id="4" name="Slide Number Placeholder 3">
            <a:extLst>
              <a:ext uri="{FF2B5EF4-FFF2-40B4-BE49-F238E27FC236}">
                <a16:creationId xmlns:a16="http://schemas.microsoft.com/office/drawing/2014/main" id="{FFD7935A-D85E-E002-B5A8-25A208B129B4}"/>
              </a:ext>
            </a:extLst>
          </p:cNvPr>
          <p:cNvSpPr>
            <a:spLocks noGrp="1"/>
          </p:cNvSpPr>
          <p:nvPr>
            <p:ph type="sldNum" sz="quarter" idx="12"/>
          </p:nvPr>
        </p:nvSpPr>
        <p:spPr/>
        <p:txBody>
          <a:bodyPr/>
          <a:lstStyle/>
          <a:p>
            <a:fld id="{4D917438-FD46-48DD-9C04-0EE101A21382}" type="slidenum">
              <a:rPr lang="en-US" smtClean="0"/>
              <a:t>5</a:t>
            </a:fld>
            <a:endParaRPr lang="en-US"/>
          </a:p>
        </p:txBody>
      </p:sp>
      <p:sp>
        <p:nvSpPr>
          <p:cNvPr id="6" name="TextBox 5">
            <a:extLst>
              <a:ext uri="{FF2B5EF4-FFF2-40B4-BE49-F238E27FC236}">
                <a16:creationId xmlns:a16="http://schemas.microsoft.com/office/drawing/2014/main" id="{8039E93C-45FC-2AA5-5286-D8A3582C9E90}"/>
              </a:ext>
            </a:extLst>
          </p:cNvPr>
          <p:cNvSpPr txBox="1"/>
          <p:nvPr/>
        </p:nvSpPr>
        <p:spPr>
          <a:xfrm>
            <a:off x="406463" y="2357594"/>
            <a:ext cx="4422016" cy="3416320"/>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JavaExceptionExample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try</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//code that may raise exception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data=</a:t>
            </a:r>
            <a:r>
              <a:rPr lang="en-US" b="0" i="0" dirty="0">
                <a:solidFill>
                  <a:srgbClr val="C00000"/>
                </a:solidFill>
                <a:effectLst/>
                <a:latin typeface="inter-regular"/>
              </a:rPr>
              <a:t>100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ArithmeticException</a:t>
            </a:r>
            <a:r>
              <a:rPr lang="en-US" b="0" i="0" dirty="0">
                <a:solidFill>
                  <a:srgbClr val="000000"/>
                </a:solidFill>
                <a:effectLst/>
                <a:latin typeface="inter-regular"/>
              </a:rPr>
              <a:t> e){</a:t>
            </a:r>
          </a:p>
          <a:p>
            <a:pPr algn="just"/>
            <a:r>
              <a:rPr lang="en-US" dirty="0">
                <a:solidFill>
                  <a:srgbClr val="000000"/>
                </a:solidFill>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(e);</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//rest code of the program </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sp>
        <p:nvSpPr>
          <p:cNvPr id="7" name="Rectangle 1">
            <a:extLst>
              <a:ext uri="{FF2B5EF4-FFF2-40B4-BE49-F238E27FC236}">
                <a16:creationId xmlns:a16="http://schemas.microsoft.com/office/drawing/2014/main" id="{0C83E451-5F87-41C7-0F89-94D3BC4220A1}"/>
              </a:ext>
            </a:extLst>
          </p:cNvPr>
          <p:cNvSpPr>
            <a:spLocks noChangeArrowheads="1"/>
          </p:cNvSpPr>
          <p:nvPr/>
        </p:nvSpPr>
        <p:spPr bwMode="auto">
          <a:xfrm>
            <a:off x="213546" y="5939135"/>
            <a:ext cx="4705815" cy="461665"/>
          </a:xfrm>
          <a:prstGeom prst="rect">
            <a:avLst/>
          </a:prstGeom>
          <a:solidFill>
            <a:schemeClr val="tx1"/>
          </a:solidFill>
          <a:ln>
            <a:noFill/>
          </a:ln>
          <a:effectLst/>
        </p:spPr>
        <p:txBody>
          <a:bodyPr vert="horz" wrap="square" lIns="91440" tIns="45720" rIns="91440" bIns="45720" numCol="1" anchor="ctr" anchorCtr="0" compatLnSpc="1">
            <a:prstTxWarp prst="textNoShape">
              <a:avLst/>
            </a:prstTxWarp>
            <a:spAutoFit/>
          </a:bodyPr>
          <a:lstStyle/>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Exception in thread main </a:t>
            </a:r>
            <a:r>
              <a:rPr kumimoji="0" lang="en-US" altLang="en-US" sz="1200" b="0" i="0" u="none" strike="noStrike" cap="none" normalizeH="0" baseline="0" dirty="0" err="1">
                <a:ln>
                  <a:noFill/>
                </a:ln>
                <a:solidFill>
                  <a:srgbClr val="F9F9F9"/>
                </a:solidFill>
                <a:effectLst/>
                <a:latin typeface="Arial Unicode MS"/>
              </a:rPr>
              <a:t>java.lang.ArithmeticException</a:t>
            </a:r>
            <a:r>
              <a:rPr kumimoji="0" lang="en-US" altLang="en-US" sz="1200" b="0" i="0" u="none" strike="noStrike" cap="none" normalizeH="0" baseline="0" dirty="0">
                <a:ln>
                  <a:noFill/>
                </a:ln>
                <a:solidFill>
                  <a:srgbClr val="F9F9F9"/>
                </a:solidFill>
                <a:effectLst/>
                <a:latin typeface="Arial Unicode MS"/>
              </a:rPr>
              <a:t>:/ by zero </a:t>
            </a: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rest of the code...</a:t>
            </a:r>
            <a:r>
              <a:rPr kumimoji="0" lang="en-US" altLang="en-US" sz="9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9" name="Straight Connector 8">
            <a:extLst>
              <a:ext uri="{FF2B5EF4-FFF2-40B4-BE49-F238E27FC236}">
                <a16:creationId xmlns:a16="http://schemas.microsoft.com/office/drawing/2014/main" id="{D6928AE4-9E68-B17D-F856-2979BF7C6C73}"/>
              </a:ext>
            </a:extLst>
          </p:cNvPr>
          <p:cNvCxnSpPr/>
          <p:nvPr/>
        </p:nvCxnSpPr>
        <p:spPr>
          <a:xfrm>
            <a:off x="4931627" y="2495677"/>
            <a:ext cx="0" cy="3296074"/>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1889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EDF7-0A01-4B4A-BEF7-25A7553B3C8A}"/>
              </a:ext>
            </a:extLst>
          </p:cNvPr>
          <p:cNvSpPr>
            <a:spLocks noGrp="1"/>
          </p:cNvSpPr>
          <p:nvPr>
            <p:ph type="title"/>
          </p:nvPr>
        </p:nvSpPr>
        <p:spPr/>
        <p:txBody>
          <a:bodyPr/>
          <a:lstStyle/>
          <a:p>
            <a:r>
              <a:rPr lang="en-US" dirty="0"/>
              <a:t>Exception handling</a:t>
            </a:r>
          </a:p>
        </p:txBody>
      </p:sp>
      <p:sp>
        <p:nvSpPr>
          <p:cNvPr id="3" name="Content Placeholder 2">
            <a:extLst>
              <a:ext uri="{FF2B5EF4-FFF2-40B4-BE49-F238E27FC236}">
                <a16:creationId xmlns:a16="http://schemas.microsoft.com/office/drawing/2014/main" id="{EC0B0C56-BCEB-46C6-8262-79156C687D98}"/>
              </a:ext>
            </a:extLst>
          </p:cNvPr>
          <p:cNvSpPr>
            <a:spLocks noGrp="1"/>
          </p:cNvSpPr>
          <p:nvPr>
            <p:ph idx="1"/>
          </p:nvPr>
        </p:nvSpPr>
        <p:spPr>
          <a:xfrm>
            <a:off x="2231136" y="2373001"/>
            <a:ext cx="7729728" cy="3101983"/>
          </a:xfrm>
        </p:spPr>
        <p:txBody>
          <a:bodyPr/>
          <a:lstStyle/>
          <a:p>
            <a:r>
              <a:rPr lang="en-US" dirty="0"/>
              <a:t>Exceptions are thrown from a method</a:t>
            </a:r>
          </a:p>
          <a:p>
            <a:r>
              <a:rPr lang="en-US" dirty="0"/>
              <a:t>The caller of the method can catch and handle the exception</a:t>
            </a:r>
          </a:p>
        </p:txBody>
      </p:sp>
      <p:sp>
        <p:nvSpPr>
          <p:cNvPr id="4" name="Slide Number Placeholder 3">
            <a:extLst>
              <a:ext uri="{FF2B5EF4-FFF2-40B4-BE49-F238E27FC236}">
                <a16:creationId xmlns:a16="http://schemas.microsoft.com/office/drawing/2014/main" id="{E78565AB-BC88-487B-A36B-57AAC11514CE}"/>
              </a:ext>
            </a:extLst>
          </p:cNvPr>
          <p:cNvSpPr>
            <a:spLocks noGrp="1"/>
          </p:cNvSpPr>
          <p:nvPr>
            <p:ph type="sldNum" sz="quarter" idx="12"/>
          </p:nvPr>
        </p:nvSpPr>
        <p:spPr/>
        <p:txBody>
          <a:bodyPr/>
          <a:lstStyle/>
          <a:p>
            <a:fld id="{4D917438-FD46-48DD-9C04-0EE101A21382}" type="slidenum">
              <a:rPr lang="en-US" smtClean="0"/>
              <a:t>6</a:t>
            </a:fld>
            <a:endParaRPr lang="en-US"/>
          </a:p>
        </p:txBody>
      </p:sp>
      <p:pic>
        <p:nvPicPr>
          <p:cNvPr id="5" name="Picture 4">
            <a:extLst>
              <a:ext uri="{FF2B5EF4-FFF2-40B4-BE49-F238E27FC236}">
                <a16:creationId xmlns:a16="http://schemas.microsoft.com/office/drawing/2014/main" id="{3D782B5D-E35D-4C48-9975-5BA1DC5670E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34390" y="3146961"/>
            <a:ext cx="5773151" cy="3420093"/>
          </a:xfrm>
          <a:prstGeom prst="rect">
            <a:avLst/>
          </a:prstGeom>
        </p:spPr>
      </p:pic>
      <p:pic>
        <p:nvPicPr>
          <p:cNvPr id="6" name="Picture 5">
            <a:extLst>
              <a:ext uri="{FF2B5EF4-FFF2-40B4-BE49-F238E27FC236}">
                <a16:creationId xmlns:a16="http://schemas.microsoft.com/office/drawing/2014/main" id="{2B640676-8397-4850-8664-CE04AB78B0D6}"/>
              </a:ext>
            </a:extLst>
          </p:cNvPr>
          <p:cNvPicPr>
            <a:picLocks noChangeAspect="1"/>
          </p:cNvPicPr>
          <p:nvPr/>
        </p:nvPicPr>
        <p:blipFill>
          <a:blip r:embed="rId4">
            <a:lum bright="-20000" contrast="40000"/>
          </a:blip>
          <a:stretch>
            <a:fillRect/>
          </a:stretch>
        </p:blipFill>
        <p:spPr>
          <a:xfrm>
            <a:off x="7290588" y="3579536"/>
            <a:ext cx="3067840" cy="581647"/>
          </a:xfrm>
          <a:prstGeom prst="rect">
            <a:avLst/>
          </a:prstGeom>
        </p:spPr>
      </p:pic>
      <p:pic>
        <p:nvPicPr>
          <p:cNvPr id="7" name="Picture 6">
            <a:extLst>
              <a:ext uri="{FF2B5EF4-FFF2-40B4-BE49-F238E27FC236}">
                <a16:creationId xmlns:a16="http://schemas.microsoft.com/office/drawing/2014/main" id="{1A15C7A7-EAC0-4CE7-87E0-BCF14452E7A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6480809" y="4426675"/>
            <a:ext cx="5419643" cy="860942"/>
          </a:xfrm>
          <a:prstGeom prst="rect">
            <a:avLst/>
          </a:prstGeom>
        </p:spPr>
      </p:pic>
    </p:spTree>
    <p:extLst>
      <p:ext uri="{BB962C8B-B14F-4D97-AF65-F5344CB8AC3E}">
        <p14:creationId xmlns:p14="http://schemas.microsoft.com/office/powerpoint/2010/main" val="47234895"/>
      </p:ext>
    </p:extLst>
  </p:cSld>
  <p:clrMapOvr>
    <a:masterClrMapping/>
  </p:clrMapOvr>
  <mc:AlternateContent xmlns:mc="http://schemas.openxmlformats.org/markup-compatibility/2006" xmlns:p14="http://schemas.microsoft.com/office/powerpoint/2010/main">
    <mc:Choice Requires="p14">
      <p:transition spd="slow" p14:dur="2000" advTm="53450"/>
    </mc:Choice>
    <mc:Fallback xmlns="">
      <p:transition spd="slow" advTm="534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D778A-E75F-458B-8A27-6801C05A9D43}"/>
              </a:ext>
            </a:extLst>
          </p:cNvPr>
          <p:cNvSpPr>
            <a:spLocks noGrp="1"/>
          </p:cNvSpPr>
          <p:nvPr>
            <p:ph type="title"/>
          </p:nvPr>
        </p:nvSpPr>
        <p:spPr/>
        <p:txBody>
          <a:bodyPr/>
          <a:lstStyle/>
          <a:p>
            <a:r>
              <a:rPr lang="en-US" dirty="0"/>
              <a:t>Handling the exception using if statement</a:t>
            </a:r>
          </a:p>
        </p:txBody>
      </p:sp>
      <p:sp>
        <p:nvSpPr>
          <p:cNvPr id="4" name="Slide Number Placeholder 3">
            <a:extLst>
              <a:ext uri="{FF2B5EF4-FFF2-40B4-BE49-F238E27FC236}">
                <a16:creationId xmlns:a16="http://schemas.microsoft.com/office/drawing/2014/main" id="{F397344B-B8C7-47C3-BD5B-6CAE798F0A31}"/>
              </a:ext>
            </a:extLst>
          </p:cNvPr>
          <p:cNvSpPr>
            <a:spLocks noGrp="1"/>
          </p:cNvSpPr>
          <p:nvPr>
            <p:ph type="sldNum" sz="quarter" idx="12"/>
          </p:nvPr>
        </p:nvSpPr>
        <p:spPr/>
        <p:txBody>
          <a:bodyPr/>
          <a:lstStyle/>
          <a:p>
            <a:fld id="{4D917438-FD46-48DD-9C04-0EE101A21382}" type="slidenum">
              <a:rPr lang="en-US" smtClean="0"/>
              <a:t>7</a:t>
            </a:fld>
            <a:endParaRPr lang="en-US"/>
          </a:p>
        </p:txBody>
      </p:sp>
      <p:pic>
        <p:nvPicPr>
          <p:cNvPr id="5" name="Picture 4">
            <a:extLst>
              <a:ext uri="{FF2B5EF4-FFF2-40B4-BE49-F238E27FC236}">
                <a16:creationId xmlns:a16="http://schemas.microsoft.com/office/drawing/2014/main" id="{FA361B6E-62A4-4F8A-A9C7-1BB77239A6A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37948" y="2674454"/>
            <a:ext cx="5230261" cy="3581080"/>
          </a:xfrm>
          <a:prstGeom prst="rect">
            <a:avLst/>
          </a:prstGeom>
        </p:spPr>
      </p:pic>
      <p:pic>
        <p:nvPicPr>
          <p:cNvPr id="6" name="Picture 5">
            <a:extLst>
              <a:ext uri="{FF2B5EF4-FFF2-40B4-BE49-F238E27FC236}">
                <a16:creationId xmlns:a16="http://schemas.microsoft.com/office/drawing/2014/main" id="{F98016B8-C62A-4532-A08F-E477FAA456C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513364" y="4075297"/>
            <a:ext cx="2942602" cy="629292"/>
          </a:xfrm>
          <a:prstGeom prst="rect">
            <a:avLst/>
          </a:prstGeom>
        </p:spPr>
      </p:pic>
    </p:spTree>
    <p:extLst>
      <p:ext uri="{BB962C8B-B14F-4D97-AF65-F5344CB8AC3E}">
        <p14:creationId xmlns:p14="http://schemas.microsoft.com/office/powerpoint/2010/main" val="917543657"/>
      </p:ext>
    </p:extLst>
  </p:cSld>
  <p:clrMapOvr>
    <a:masterClrMapping/>
  </p:clrMapOvr>
  <mc:AlternateContent xmlns:mc="http://schemas.openxmlformats.org/markup-compatibility/2006" xmlns:p14="http://schemas.microsoft.com/office/powerpoint/2010/main">
    <mc:Choice Requires="p14">
      <p:transition spd="slow" p14:dur="2000" advTm="58953"/>
    </mc:Choice>
    <mc:Fallback xmlns="">
      <p:transition spd="slow" advTm="5895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54DBB-E0B7-42D1-98BC-26D03CC2B53E}"/>
              </a:ext>
            </a:extLst>
          </p:cNvPr>
          <p:cNvSpPr>
            <a:spLocks noGrp="1"/>
          </p:cNvSpPr>
          <p:nvPr>
            <p:ph type="title"/>
          </p:nvPr>
        </p:nvSpPr>
        <p:spPr/>
        <p:txBody>
          <a:bodyPr/>
          <a:lstStyle/>
          <a:p>
            <a:r>
              <a:rPr lang="en-US" dirty="0"/>
              <a:t>The problem</a:t>
            </a:r>
          </a:p>
        </p:txBody>
      </p:sp>
      <p:sp>
        <p:nvSpPr>
          <p:cNvPr id="3" name="Slide Number Placeholder 2">
            <a:extLst>
              <a:ext uri="{FF2B5EF4-FFF2-40B4-BE49-F238E27FC236}">
                <a16:creationId xmlns:a16="http://schemas.microsoft.com/office/drawing/2014/main" id="{3C84E1DB-C2DD-4828-9536-CAC76FC9BF5B}"/>
              </a:ext>
            </a:extLst>
          </p:cNvPr>
          <p:cNvSpPr>
            <a:spLocks noGrp="1"/>
          </p:cNvSpPr>
          <p:nvPr>
            <p:ph type="sldNum" sz="quarter" idx="12"/>
          </p:nvPr>
        </p:nvSpPr>
        <p:spPr/>
        <p:txBody>
          <a:bodyPr/>
          <a:lstStyle/>
          <a:p>
            <a:fld id="{4D917438-FD46-48DD-9C04-0EE101A21382}" type="slidenum">
              <a:rPr lang="en-US" smtClean="0"/>
              <a:t>8</a:t>
            </a:fld>
            <a:endParaRPr lang="en-US"/>
          </a:p>
        </p:txBody>
      </p:sp>
      <p:pic>
        <p:nvPicPr>
          <p:cNvPr id="4" name="Picture 3">
            <a:extLst>
              <a:ext uri="{FF2B5EF4-FFF2-40B4-BE49-F238E27FC236}">
                <a16:creationId xmlns:a16="http://schemas.microsoft.com/office/drawing/2014/main" id="{F94D3D38-872A-45A6-B8C5-F12B0C65688C}"/>
              </a:ext>
            </a:extLst>
          </p:cNvPr>
          <p:cNvPicPr>
            <a:picLocks noChangeAspect="1"/>
          </p:cNvPicPr>
          <p:nvPr/>
        </p:nvPicPr>
        <p:blipFill>
          <a:blip r:embed="rId2">
            <a:lum bright="-20000" contrast="40000"/>
          </a:blip>
          <a:stretch>
            <a:fillRect/>
          </a:stretch>
        </p:blipFill>
        <p:spPr>
          <a:xfrm>
            <a:off x="2231136" y="2318060"/>
            <a:ext cx="5176829" cy="4265620"/>
          </a:xfrm>
          <a:prstGeom prst="rect">
            <a:avLst/>
          </a:prstGeom>
        </p:spPr>
      </p:pic>
      <p:pic>
        <p:nvPicPr>
          <p:cNvPr id="5" name="Picture 4">
            <a:extLst>
              <a:ext uri="{FF2B5EF4-FFF2-40B4-BE49-F238E27FC236}">
                <a16:creationId xmlns:a16="http://schemas.microsoft.com/office/drawing/2014/main" id="{EFAEE0D3-3B86-4115-904D-768A900FD433}"/>
              </a:ext>
            </a:extLst>
          </p:cNvPr>
          <p:cNvPicPr>
            <a:picLocks noChangeAspect="1"/>
          </p:cNvPicPr>
          <p:nvPr/>
        </p:nvPicPr>
        <p:blipFill>
          <a:blip r:embed="rId3">
            <a:lum bright="-20000" contrast="40000"/>
          </a:blip>
          <a:stretch>
            <a:fillRect/>
          </a:stretch>
        </p:blipFill>
        <p:spPr>
          <a:xfrm>
            <a:off x="7509320" y="3510754"/>
            <a:ext cx="2451543" cy="623923"/>
          </a:xfrm>
          <a:prstGeom prst="rect">
            <a:avLst/>
          </a:prstGeom>
        </p:spPr>
      </p:pic>
      <p:pic>
        <p:nvPicPr>
          <p:cNvPr id="6" name="Picture 5">
            <a:extLst>
              <a:ext uri="{FF2B5EF4-FFF2-40B4-BE49-F238E27FC236}">
                <a16:creationId xmlns:a16="http://schemas.microsoft.com/office/drawing/2014/main" id="{78BC6057-4892-48D7-A111-7BA3596FF84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509320" y="4450870"/>
            <a:ext cx="2440402" cy="623922"/>
          </a:xfrm>
          <a:prstGeom prst="rect">
            <a:avLst/>
          </a:prstGeom>
        </p:spPr>
      </p:pic>
    </p:spTree>
    <p:extLst>
      <p:ext uri="{BB962C8B-B14F-4D97-AF65-F5344CB8AC3E}">
        <p14:creationId xmlns:p14="http://schemas.microsoft.com/office/powerpoint/2010/main" val="2444004026"/>
      </p:ext>
    </p:extLst>
  </p:cSld>
  <p:clrMapOvr>
    <a:masterClrMapping/>
  </p:clrMapOvr>
  <mc:AlternateContent xmlns:mc="http://schemas.openxmlformats.org/markup-compatibility/2006" xmlns:p14="http://schemas.microsoft.com/office/powerpoint/2010/main">
    <mc:Choice Requires="p14">
      <p:transition spd="slow" p14:dur="2000" advTm="89046"/>
    </mc:Choice>
    <mc:Fallback xmlns="">
      <p:transition spd="slow" advTm="8904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3478-B98A-4DF0-A039-8FE6202A4B07}"/>
              </a:ext>
            </a:extLst>
          </p:cNvPr>
          <p:cNvSpPr>
            <a:spLocks noGrp="1"/>
          </p:cNvSpPr>
          <p:nvPr>
            <p:ph type="title"/>
          </p:nvPr>
        </p:nvSpPr>
        <p:spPr>
          <a:xfrm>
            <a:off x="8468751" y="2602523"/>
            <a:ext cx="3390314" cy="1334313"/>
          </a:xfrm>
        </p:spPr>
        <p:txBody>
          <a:bodyPr>
            <a:normAutofit/>
          </a:bodyPr>
          <a:lstStyle/>
          <a:p>
            <a:r>
              <a:rPr lang="en-US" sz="2000"/>
              <a:t>The solution</a:t>
            </a:r>
          </a:p>
        </p:txBody>
      </p:sp>
      <p:sp>
        <p:nvSpPr>
          <p:cNvPr id="9" name="Rectangle 8">
            <a:extLst>
              <a:ext uri="{FF2B5EF4-FFF2-40B4-BE49-F238E27FC236}">
                <a16:creationId xmlns:a16="http://schemas.microsoft.com/office/drawing/2014/main" id="{B8AFBB67-2575-4F5A-96CF-CD2EB02A1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354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25245C-30CA-44DC-B5A8-D612300B4781}"/>
              </a:ext>
            </a:extLst>
          </p:cNvPr>
          <p:cNvPicPr>
            <a:picLocks noChangeAspect="1"/>
          </p:cNvPicPr>
          <p:nvPr/>
        </p:nvPicPr>
        <p:blipFill>
          <a:blip r:embed="rId2">
            <a:lum bright="-20000" contrast="40000"/>
          </a:blip>
          <a:stretch>
            <a:fillRect/>
          </a:stretch>
        </p:blipFill>
        <p:spPr>
          <a:xfrm>
            <a:off x="29608" y="35170"/>
            <a:ext cx="6469665" cy="6049758"/>
          </a:xfrm>
          <a:prstGeom prst="rect">
            <a:avLst/>
          </a:prstGeom>
        </p:spPr>
      </p:pic>
      <p:sp>
        <p:nvSpPr>
          <p:cNvPr id="3" name="Slide Number Placeholder 2">
            <a:extLst>
              <a:ext uri="{FF2B5EF4-FFF2-40B4-BE49-F238E27FC236}">
                <a16:creationId xmlns:a16="http://schemas.microsoft.com/office/drawing/2014/main" id="{FD71B29C-14A2-44A9-B938-7E5EBE1574A3}"/>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9</a:t>
            </a:fld>
            <a:endParaRPr lang="en-US"/>
          </a:p>
        </p:txBody>
      </p:sp>
      <p:pic>
        <p:nvPicPr>
          <p:cNvPr id="5" name="Picture 4">
            <a:extLst>
              <a:ext uri="{FF2B5EF4-FFF2-40B4-BE49-F238E27FC236}">
                <a16:creationId xmlns:a16="http://schemas.microsoft.com/office/drawing/2014/main" id="{258DBBBA-000A-4065-AF11-B28E3226F9A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670521" y="5168348"/>
            <a:ext cx="2464904" cy="774535"/>
          </a:xfrm>
          <a:prstGeom prst="rect">
            <a:avLst/>
          </a:prstGeom>
        </p:spPr>
      </p:pic>
      <p:pic>
        <p:nvPicPr>
          <p:cNvPr id="6" name="Picture 5">
            <a:extLst>
              <a:ext uri="{FF2B5EF4-FFF2-40B4-BE49-F238E27FC236}">
                <a16:creationId xmlns:a16="http://schemas.microsoft.com/office/drawing/2014/main" id="{3E156352-6DC1-476A-BB32-DB22D4C213FE}"/>
              </a:ext>
            </a:extLst>
          </p:cNvPr>
          <p:cNvPicPr>
            <a:picLocks noChangeAspect="1"/>
          </p:cNvPicPr>
          <p:nvPr/>
        </p:nvPicPr>
        <p:blipFill>
          <a:blip r:embed="rId5">
            <a:lum bright="-20000" contrast="40000"/>
          </a:blip>
          <a:stretch>
            <a:fillRect/>
          </a:stretch>
        </p:blipFill>
        <p:spPr>
          <a:xfrm>
            <a:off x="3861147" y="5989101"/>
            <a:ext cx="4249187" cy="774535"/>
          </a:xfrm>
          <a:prstGeom prst="rect">
            <a:avLst/>
          </a:prstGeom>
        </p:spPr>
      </p:pic>
    </p:spTree>
    <p:extLst>
      <p:ext uri="{BB962C8B-B14F-4D97-AF65-F5344CB8AC3E}">
        <p14:creationId xmlns:p14="http://schemas.microsoft.com/office/powerpoint/2010/main" val="1205424671"/>
      </p:ext>
    </p:extLst>
  </p:cSld>
  <p:clrMapOvr>
    <a:masterClrMapping/>
  </p:clrMapOvr>
  <mc:AlternateContent xmlns:mc="http://schemas.openxmlformats.org/markup-compatibility/2006" xmlns:p14="http://schemas.microsoft.com/office/powerpoint/2010/main">
    <mc:Choice Requires="p14">
      <p:transition spd="slow" p14:dur="2000" advTm="328275"/>
    </mc:Choice>
    <mc:Fallback xmlns="">
      <p:transition spd="slow" advTm="32827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F5C183-C22E-4336-89E8-EA9D77B19AF8}"/>
              </a:ext>
            </a:extLst>
          </p:cNvPr>
          <p:cNvSpPr>
            <a:spLocks noGrp="1"/>
          </p:cNvSpPr>
          <p:nvPr>
            <p:ph type="title"/>
          </p:nvPr>
        </p:nvSpPr>
        <p:spPr/>
        <p:txBody>
          <a:bodyPr/>
          <a:lstStyle/>
          <a:p>
            <a:r>
              <a:rPr lang="en-US" dirty="0"/>
              <a:t>Exception handling</a:t>
            </a:r>
          </a:p>
        </p:txBody>
      </p:sp>
      <p:sp>
        <p:nvSpPr>
          <p:cNvPr id="5" name="Content Placeholder 4">
            <a:extLst>
              <a:ext uri="{FF2B5EF4-FFF2-40B4-BE49-F238E27FC236}">
                <a16:creationId xmlns:a16="http://schemas.microsoft.com/office/drawing/2014/main" id="{C72AF737-2C6E-4A7A-892D-EE6CB394C120}"/>
              </a:ext>
            </a:extLst>
          </p:cNvPr>
          <p:cNvSpPr>
            <a:spLocks noGrp="1"/>
          </p:cNvSpPr>
          <p:nvPr>
            <p:ph idx="1"/>
          </p:nvPr>
        </p:nvSpPr>
        <p:spPr>
          <a:xfrm>
            <a:off x="927652" y="2266122"/>
            <a:ext cx="10469218" cy="4452730"/>
          </a:xfrm>
        </p:spPr>
        <p:txBody>
          <a:bodyPr>
            <a:normAutofit fontScale="92500" lnSpcReduction="10000"/>
          </a:bodyPr>
          <a:lstStyle/>
          <a:p>
            <a:pPr algn="just"/>
            <a:r>
              <a:rPr lang="en-US" dirty="0"/>
              <a:t>The value thrown in the example, </a:t>
            </a:r>
            <a:r>
              <a:rPr lang="en-US" dirty="0">
                <a:solidFill>
                  <a:srgbClr val="0070C0"/>
                </a:solidFill>
                <a:latin typeface="Consolas" panose="020B0609020204030204" pitchFamily="49" charset="0"/>
                <a:cs typeface="Consolas" panose="020B0609020204030204" pitchFamily="49" charset="0"/>
              </a:rPr>
              <a:t>new </a:t>
            </a:r>
            <a:r>
              <a:rPr lang="en-US" dirty="0" err="1">
                <a:solidFill>
                  <a:srgbClr val="0070C0"/>
                </a:solidFill>
                <a:latin typeface="Consolas" panose="020B0609020204030204" pitchFamily="49" charset="0"/>
                <a:cs typeface="Consolas" panose="020B0609020204030204" pitchFamily="49" charset="0"/>
              </a:rPr>
              <a:t>ArithmeticException</a:t>
            </a:r>
            <a:r>
              <a:rPr lang="en-US" dirty="0">
                <a:solidFill>
                  <a:srgbClr val="0070C0"/>
                </a:solidFill>
                <a:latin typeface="Consolas" panose="020B0609020204030204" pitchFamily="49" charset="0"/>
                <a:cs typeface="Consolas" panose="020B0609020204030204" pitchFamily="49" charset="0"/>
              </a:rPr>
              <a:t>(“Divisor cannot be zero”)</a:t>
            </a:r>
            <a:r>
              <a:rPr lang="en-US" dirty="0"/>
              <a:t>, is an </a:t>
            </a:r>
            <a:r>
              <a:rPr lang="en-US" b="1" dirty="0"/>
              <a:t>exception</a:t>
            </a:r>
          </a:p>
          <a:p>
            <a:r>
              <a:rPr lang="en-US" dirty="0"/>
              <a:t>The execution of a throw statement is called </a:t>
            </a:r>
            <a:r>
              <a:rPr lang="en-US" b="1" dirty="0"/>
              <a:t>throwing an exception</a:t>
            </a:r>
          </a:p>
          <a:p>
            <a:r>
              <a:rPr lang="en-US" dirty="0"/>
              <a:t>In this example, the exception class is </a:t>
            </a:r>
            <a:r>
              <a:rPr lang="en-US" dirty="0" err="1">
                <a:solidFill>
                  <a:srgbClr val="0070C0"/>
                </a:solidFill>
                <a:latin typeface="Consolas" panose="020B0609020204030204" pitchFamily="49" charset="0"/>
                <a:cs typeface="Consolas" panose="020B0609020204030204" pitchFamily="49" charset="0"/>
              </a:rPr>
              <a:t>java.lang.ArithmeticException</a:t>
            </a:r>
            <a:endParaRPr lang="en-US" dirty="0">
              <a:solidFill>
                <a:srgbClr val="0070C0"/>
              </a:solidFill>
              <a:latin typeface="Consolas" panose="020B0609020204030204" pitchFamily="49" charset="0"/>
              <a:cs typeface="Consolas" panose="020B0609020204030204" pitchFamily="49" charset="0"/>
            </a:endParaRPr>
          </a:p>
          <a:p>
            <a:r>
              <a:rPr lang="en-US" dirty="0"/>
              <a:t>The constructor </a:t>
            </a:r>
            <a:r>
              <a:rPr lang="en-US" dirty="0" err="1">
                <a:solidFill>
                  <a:srgbClr val="0070C0"/>
                </a:solidFill>
                <a:latin typeface="Consolas" panose="020B0609020204030204" pitchFamily="49" charset="0"/>
                <a:cs typeface="Consolas" panose="020B0609020204030204" pitchFamily="49" charset="0"/>
              </a:rPr>
              <a:t>ArithmeticException</a:t>
            </a:r>
            <a:r>
              <a:rPr lang="en-US" dirty="0">
                <a:solidFill>
                  <a:srgbClr val="0070C0"/>
                </a:solidFill>
                <a:latin typeface="Consolas" panose="020B0609020204030204" pitchFamily="49" charset="0"/>
                <a:cs typeface="Consolas" panose="020B0609020204030204" pitchFamily="49" charset="0"/>
              </a:rPr>
              <a:t>(str)</a:t>
            </a:r>
            <a:r>
              <a:rPr lang="en-US" dirty="0"/>
              <a:t> is invoked to construct an exception object, where </a:t>
            </a:r>
            <a:r>
              <a:rPr lang="en-US" dirty="0">
                <a:solidFill>
                  <a:srgbClr val="0070C0"/>
                </a:solidFill>
                <a:latin typeface="Consolas" panose="020B0609020204030204" pitchFamily="49" charset="0"/>
                <a:cs typeface="Consolas" panose="020B0609020204030204" pitchFamily="49" charset="0"/>
              </a:rPr>
              <a:t>str</a:t>
            </a:r>
            <a:r>
              <a:rPr lang="en-US" dirty="0"/>
              <a:t> is a message that describes the exception</a:t>
            </a:r>
          </a:p>
          <a:p>
            <a:r>
              <a:rPr lang="en-US" dirty="0"/>
              <a:t>When an exception is thrown, the normal flow execution is interrupted</a:t>
            </a:r>
          </a:p>
          <a:p>
            <a:pPr lvl="1"/>
            <a:r>
              <a:rPr lang="en-US" b="1" dirty="0">
                <a:solidFill>
                  <a:srgbClr val="C00000"/>
                </a:solidFill>
              </a:rPr>
              <a:t>Throwing</a:t>
            </a:r>
            <a:r>
              <a:rPr lang="en-US" dirty="0">
                <a:solidFill>
                  <a:srgbClr val="00B050"/>
                </a:solidFill>
              </a:rPr>
              <a:t>: passing an exception from one place to another</a:t>
            </a:r>
          </a:p>
          <a:p>
            <a:pPr lvl="1"/>
            <a:r>
              <a:rPr lang="en-US" dirty="0">
                <a:solidFill>
                  <a:srgbClr val="00B050"/>
                </a:solidFill>
              </a:rPr>
              <a:t>Analogous to a method call (but it calls the </a:t>
            </a:r>
            <a:r>
              <a:rPr lang="en-US" dirty="0">
                <a:solidFill>
                  <a:srgbClr val="00B050"/>
                </a:solidFill>
                <a:latin typeface="Consolas" panose="020B0609020204030204" pitchFamily="49" charset="0"/>
                <a:cs typeface="Consolas" panose="020B0609020204030204" pitchFamily="49" charset="0"/>
              </a:rPr>
              <a:t>catch</a:t>
            </a:r>
            <a:r>
              <a:rPr lang="en-US" dirty="0">
                <a:solidFill>
                  <a:srgbClr val="00B050"/>
                </a:solidFill>
              </a:rPr>
              <a:t> block)</a:t>
            </a:r>
          </a:p>
          <a:p>
            <a:pPr marL="228600" lvl="1">
              <a:lnSpc>
                <a:spcPct val="110000"/>
              </a:lnSpc>
            </a:pPr>
            <a:r>
              <a:rPr lang="en-US" sz="1800" dirty="0"/>
              <a:t>The method call is contained in a </a:t>
            </a:r>
            <a:r>
              <a:rPr lang="en-US" sz="1800" dirty="0">
                <a:solidFill>
                  <a:srgbClr val="0070C0"/>
                </a:solidFill>
                <a:latin typeface="Consolas" panose="020B0609020204030204" pitchFamily="49" charset="0"/>
                <a:cs typeface="Consolas" panose="020B0609020204030204" pitchFamily="49" charset="0"/>
              </a:rPr>
              <a:t>try</a:t>
            </a:r>
            <a:r>
              <a:rPr lang="en-US" sz="1800" dirty="0"/>
              <a:t> and </a:t>
            </a:r>
            <a:r>
              <a:rPr lang="en-US" sz="1800" dirty="0">
                <a:solidFill>
                  <a:srgbClr val="0070C0"/>
                </a:solidFill>
                <a:latin typeface="Consolas" panose="020B0609020204030204" pitchFamily="49" charset="0"/>
                <a:cs typeface="Consolas" panose="020B0609020204030204" pitchFamily="49" charset="0"/>
              </a:rPr>
              <a:t>catch</a:t>
            </a:r>
            <a:r>
              <a:rPr lang="en-US" sz="1800" dirty="0"/>
              <a:t> block</a:t>
            </a:r>
          </a:p>
          <a:p>
            <a:pPr marL="228600" lvl="1">
              <a:lnSpc>
                <a:spcPct val="110000"/>
              </a:lnSpc>
            </a:pPr>
            <a:r>
              <a:rPr lang="en-US" sz="1800" b="1" dirty="0">
                <a:solidFill>
                  <a:srgbClr val="0070C0"/>
                </a:solidFill>
                <a:latin typeface="Consolas" panose="020B0609020204030204" pitchFamily="49" charset="0"/>
                <a:cs typeface="Consolas" panose="020B0609020204030204" pitchFamily="49" charset="0"/>
              </a:rPr>
              <a:t>Try</a:t>
            </a:r>
            <a:r>
              <a:rPr lang="en-US" sz="1800" b="1" dirty="0"/>
              <a:t> block:</a:t>
            </a:r>
            <a:r>
              <a:rPr lang="en-US" sz="1800" dirty="0"/>
              <a:t> code that is executed in normal circumstances</a:t>
            </a:r>
          </a:p>
          <a:p>
            <a:pPr marL="228600" lvl="1">
              <a:lnSpc>
                <a:spcPct val="110000"/>
              </a:lnSpc>
            </a:pPr>
            <a:r>
              <a:rPr lang="en-US" sz="1800" b="1" dirty="0">
                <a:solidFill>
                  <a:srgbClr val="0070C0"/>
                </a:solidFill>
                <a:latin typeface="Consolas" panose="020B0609020204030204" pitchFamily="49" charset="0"/>
                <a:cs typeface="Consolas" panose="020B0609020204030204" pitchFamily="49" charset="0"/>
              </a:rPr>
              <a:t>Catch</a:t>
            </a:r>
            <a:r>
              <a:rPr lang="en-US" sz="1800" b="1" dirty="0"/>
              <a:t> block: </a:t>
            </a:r>
            <a:r>
              <a:rPr lang="en-US" sz="1800" dirty="0"/>
              <a:t>code that catches the exception; handles the exception</a:t>
            </a:r>
          </a:p>
          <a:p>
            <a:pPr lvl="1">
              <a:lnSpc>
                <a:spcPct val="110000"/>
              </a:lnSpc>
            </a:pPr>
            <a:r>
              <a:rPr lang="en-US" dirty="0">
                <a:solidFill>
                  <a:srgbClr val="00B050"/>
                </a:solidFill>
              </a:rPr>
              <a:t>Analogous to method definition with a parameter that matches the type of the value being thrown</a:t>
            </a:r>
          </a:p>
        </p:txBody>
      </p:sp>
      <p:sp>
        <p:nvSpPr>
          <p:cNvPr id="3" name="Slide Number Placeholder 2">
            <a:extLst>
              <a:ext uri="{FF2B5EF4-FFF2-40B4-BE49-F238E27FC236}">
                <a16:creationId xmlns:a16="http://schemas.microsoft.com/office/drawing/2014/main" id="{E97B82D3-38CF-4BC3-AE0E-91B321FEAB89}"/>
              </a:ext>
            </a:extLst>
          </p:cNvPr>
          <p:cNvSpPr>
            <a:spLocks noGrp="1"/>
          </p:cNvSpPr>
          <p:nvPr>
            <p:ph type="sldNum" sz="quarter" idx="12"/>
          </p:nvPr>
        </p:nvSpPr>
        <p:spPr/>
        <p:txBody>
          <a:bodyPr/>
          <a:lstStyle/>
          <a:p>
            <a:fld id="{4D917438-FD46-48DD-9C04-0EE101A21382}" type="slidenum">
              <a:rPr lang="en-US" smtClean="0"/>
              <a:t>10</a:t>
            </a:fld>
            <a:endParaRPr lang="en-US"/>
          </a:p>
        </p:txBody>
      </p:sp>
    </p:spTree>
    <p:extLst>
      <p:ext uri="{BB962C8B-B14F-4D97-AF65-F5344CB8AC3E}">
        <p14:creationId xmlns:p14="http://schemas.microsoft.com/office/powerpoint/2010/main" val="949701249"/>
      </p:ext>
    </p:extLst>
  </p:cSld>
  <p:clrMapOvr>
    <a:masterClrMapping/>
  </p:clrMapOvr>
  <mc:AlternateContent xmlns:mc="http://schemas.openxmlformats.org/markup-compatibility/2006" xmlns:p14="http://schemas.microsoft.com/office/powerpoint/2010/main">
    <mc:Choice Requires="p14">
      <p:transition spd="slow" p14:dur="2000" advTm="131638"/>
    </mc:Choice>
    <mc:Fallback xmlns="">
      <p:transition spd="slow" advTm="13163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4065-3772-453D-A92C-4AC3BF57439E}"/>
              </a:ext>
            </a:extLst>
          </p:cNvPr>
          <p:cNvSpPr>
            <a:spLocks noGrp="1"/>
          </p:cNvSpPr>
          <p:nvPr>
            <p:ph type="title"/>
          </p:nvPr>
        </p:nvSpPr>
        <p:spPr/>
        <p:txBody>
          <a:bodyPr/>
          <a:lstStyle/>
          <a:p>
            <a:r>
              <a:rPr lang="en-US" dirty="0"/>
              <a:t>Exception handling (Contd.)</a:t>
            </a:r>
          </a:p>
        </p:txBody>
      </p:sp>
      <p:sp>
        <p:nvSpPr>
          <p:cNvPr id="3" name="Content Placeholder 2">
            <a:extLst>
              <a:ext uri="{FF2B5EF4-FFF2-40B4-BE49-F238E27FC236}">
                <a16:creationId xmlns:a16="http://schemas.microsoft.com/office/drawing/2014/main" id="{07488D12-3082-445F-A860-C7EFF9456BE6}"/>
              </a:ext>
            </a:extLst>
          </p:cNvPr>
          <p:cNvSpPr>
            <a:spLocks noGrp="1"/>
          </p:cNvSpPr>
          <p:nvPr>
            <p:ph idx="1"/>
          </p:nvPr>
        </p:nvSpPr>
        <p:spPr/>
        <p:txBody>
          <a:bodyPr/>
          <a:lstStyle/>
          <a:p>
            <a:r>
              <a:rPr lang="en-US" dirty="0">
                <a:solidFill>
                  <a:srgbClr val="C00000"/>
                </a:solidFill>
                <a:latin typeface="Consolas" panose="020B0609020204030204" pitchFamily="49" charset="0"/>
                <a:cs typeface="Consolas" panose="020B0609020204030204" pitchFamily="49" charset="0"/>
              </a:rPr>
              <a:t>Catch</a:t>
            </a:r>
            <a:r>
              <a:rPr lang="en-US" dirty="0">
                <a:solidFill>
                  <a:srgbClr val="C00000"/>
                </a:solidFill>
              </a:rPr>
              <a:t>-block parameter</a:t>
            </a:r>
            <a:r>
              <a:rPr lang="en-US" dirty="0"/>
              <a:t>: the identifier </a:t>
            </a:r>
            <a:r>
              <a:rPr lang="en-US" dirty="0">
                <a:solidFill>
                  <a:srgbClr val="0070C0"/>
                </a:solidFill>
                <a:latin typeface="Consolas" panose="020B0609020204030204" pitchFamily="49" charset="0"/>
                <a:cs typeface="Consolas" panose="020B0609020204030204" pitchFamily="49" charset="0"/>
              </a:rPr>
              <a:t>ex</a:t>
            </a:r>
            <a:r>
              <a:rPr lang="en-US" dirty="0"/>
              <a:t> in the </a:t>
            </a:r>
            <a:r>
              <a:rPr lang="en-US" dirty="0">
                <a:solidFill>
                  <a:srgbClr val="0070C0"/>
                </a:solidFill>
                <a:latin typeface="Consolas" panose="020B0609020204030204" pitchFamily="49" charset="0"/>
                <a:cs typeface="Consolas" panose="020B0609020204030204" pitchFamily="49" charset="0"/>
              </a:rPr>
              <a:t>catch</a:t>
            </a:r>
            <a:r>
              <a:rPr lang="en-US" dirty="0"/>
              <a:t> block header</a:t>
            </a:r>
          </a:p>
          <a:p>
            <a:pPr lvl="1"/>
            <a:r>
              <a:rPr lang="en-US" dirty="0"/>
              <a:t>The type (e.g. </a:t>
            </a:r>
            <a:r>
              <a:rPr lang="en-US" sz="1800" dirty="0" err="1">
                <a:solidFill>
                  <a:srgbClr val="0070C0"/>
                </a:solidFill>
                <a:latin typeface="Consolas" panose="020B0609020204030204" pitchFamily="49" charset="0"/>
                <a:cs typeface="Consolas" panose="020B0609020204030204" pitchFamily="49" charset="0"/>
              </a:rPr>
              <a:t>ArithmeticException</a:t>
            </a:r>
            <a:r>
              <a:rPr lang="en-US" dirty="0"/>
              <a:t>) preceding </a:t>
            </a:r>
            <a:r>
              <a:rPr lang="en-US" sz="1800" dirty="0">
                <a:solidFill>
                  <a:srgbClr val="0070C0"/>
                </a:solidFill>
                <a:latin typeface="Consolas" panose="020B0609020204030204" pitchFamily="49" charset="0"/>
                <a:cs typeface="Consolas" panose="020B0609020204030204" pitchFamily="49" charset="0"/>
              </a:rPr>
              <a:t>ex</a:t>
            </a:r>
            <a:r>
              <a:rPr lang="en-US" dirty="0"/>
              <a:t> specifies what kind of exception the </a:t>
            </a:r>
            <a:r>
              <a:rPr lang="en-US" sz="1800" dirty="0">
                <a:solidFill>
                  <a:srgbClr val="0070C0"/>
                </a:solidFill>
                <a:latin typeface="Consolas" panose="020B0609020204030204" pitchFamily="49" charset="0"/>
                <a:cs typeface="Consolas" panose="020B0609020204030204" pitchFamily="49" charset="0"/>
              </a:rPr>
              <a:t>catch</a:t>
            </a:r>
            <a:r>
              <a:rPr lang="en-US" dirty="0"/>
              <a:t> block can catch</a:t>
            </a:r>
          </a:p>
          <a:p>
            <a:pPr lvl="1"/>
            <a:r>
              <a:rPr lang="en-US" dirty="0"/>
              <a:t>The thrown value can be accessed from this parameter in the body of </a:t>
            </a:r>
            <a:r>
              <a:rPr lang="en-US" sz="1800" dirty="0">
                <a:solidFill>
                  <a:srgbClr val="0070C0"/>
                </a:solidFill>
                <a:latin typeface="Consolas" panose="020B0609020204030204" pitchFamily="49" charset="0"/>
                <a:cs typeface="Consolas" panose="020B0609020204030204" pitchFamily="49" charset="0"/>
              </a:rPr>
              <a:t>catch</a:t>
            </a:r>
            <a:r>
              <a:rPr lang="en-US" dirty="0"/>
              <a:t> block</a:t>
            </a:r>
          </a:p>
          <a:p>
            <a:r>
              <a:rPr lang="en-US" dirty="0"/>
              <a:t>Template of </a:t>
            </a:r>
            <a:r>
              <a:rPr lang="en-US" dirty="0">
                <a:solidFill>
                  <a:srgbClr val="0070C0"/>
                </a:solidFill>
                <a:latin typeface="Consolas" panose="020B0609020204030204" pitchFamily="49" charset="0"/>
                <a:cs typeface="Consolas" panose="020B0609020204030204" pitchFamily="49" charset="0"/>
              </a:rPr>
              <a:t>try-throw-catch</a:t>
            </a:r>
          </a:p>
        </p:txBody>
      </p:sp>
      <p:sp>
        <p:nvSpPr>
          <p:cNvPr id="4" name="Slide Number Placeholder 3">
            <a:extLst>
              <a:ext uri="{FF2B5EF4-FFF2-40B4-BE49-F238E27FC236}">
                <a16:creationId xmlns:a16="http://schemas.microsoft.com/office/drawing/2014/main" id="{4355765F-8D86-4A75-ABF7-E68BD36A7202}"/>
              </a:ext>
            </a:extLst>
          </p:cNvPr>
          <p:cNvSpPr>
            <a:spLocks noGrp="1"/>
          </p:cNvSpPr>
          <p:nvPr>
            <p:ph type="sldNum" sz="quarter" idx="12"/>
          </p:nvPr>
        </p:nvSpPr>
        <p:spPr/>
        <p:txBody>
          <a:bodyPr/>
          <a:lstStyle/>
          <a:p>
            <a:fld id="{4D917438-FD46-48DD-9C04-0EE101A21382}" type="slidenum">
              <a:rPr lang="en-US" smtClean="0"/>
              <a:t>11</a:t>
            </a:fld>
            <a:endParaRPr lang="en-US"/>
          </a:p>
        </p:txBody>
      </p:sp>
      <p:pic>
        <p:nvPicPr>
          <p:cNvPr id="5" name="Picture 4">
            <a:extLst>
              <a:ext uri="{FF2B5EF4-FFF2-40B4-BE49-F238E27FC236}">
                <a16:creationId xmlns:a16="http://schemas.microsoft.com/office/drawing/2014/main" id="{93321B5D-4891-472D-888B-A97D33A4530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595974" y="4573345"/>
            <a:ext cx="5630784" cy="1704273"/>
          </a:xfrm>
          <a:prstGeom prst="rect">
            <a:avLst/>
          </a:prstGeom>
        </p:spPr>
      </p:pic>
      <p:sp>
        <p:nvSpPr>
          <p:cNvPr id="6" name="TextBox 5">
            <a:extLst>
              <a:ext uri="{FF2B5EF4-FFF2-40B4-BE49-F238E27FC236}">
                <a16:creationId xmlns:a16="http://schemas.microsoft.com/office/drawing/2014/main" id="{6C90FFA1-19E7-4816-945C-846E141F6BF4}"/>
              </a:ext>
            </a:extLst>
          </p:cNvPr>
          <p:cNvSpPr txBox="1"/>
          <p:nvPr/>
        </p:nvSpPr>
        <p:spPr>
          <a:xfrm>
            <a:off x="8494644" y="4691270"/>
            <a:ext cx="3433500" cy="1200329"/>
          </a:xfrm>
          <a:prstGeom prst="rect">
            <a:avLst/>
          </a:prstGeom>
          <a:noFill/>
        </p:spPr>
        <p:txBody>
          <a:bodyPr wrap="square" rtlCol="0">
            <a:spAutoFit/>
          </a:bodyPr>
          <a:lstStyle/>
          <a:p>
            <a:r>
              <a:rPr lang="en-US" dirty="0">
                <a:solidFill>
                  <a:srgbClr val="00B050"/>
                </a:solidFill>
              </a:rPr>
              <a:t>Throwing an exception:</a:t>
            </a:r>
          </a:p>
          <a:p>
            <a:pPr marL="285750" indent="-285750">
              <a:buFont typeface="Arial" panose="020B0604020202020204" pitchFamily="34" charset="0"/>
              <a:buChar char="•"/>
            </a:pPr>
            <a:r>
              <a:rPr lang="en-US" dirty="0">
                <a:solidFill>
                  <a:srgbClr val="00B050"/>
                </a:solidFill>
              </a:rPr>
              <a:t>A </a:t>
            </a:r>
            <a:r>
              <a:rPr lang="en-US" dirty="0">
                <a:solidFill>
                  <a:srgbClr val="00B050"/>
                </a:solidFill>
                <a:latin typeface="Consolas" panose="020B0609020204030204" pitchFamily="49" charset="0"/>
                <a:cs typeface="Consolas" panose="020B0609020204030204" pitchFamily="49" charset="0"/>
              </a:rPr>
              <a:t>throw</a:t>
            </a:r>
            <a:r>
              <a:rPr lang="en-US" dirty="0">
                <a:solidFill>
                  <a:srgbClr val="00B050"/>
                </a:solidFill>
              </a:rPr>
              <a:t> statement in a </a:t>
            </a:r>
            <a:r>
              <a:rPr lang="en-US" dirty="0">
                <a:solidFill>
                  <a:srgbClr val="00B050"/>
                </a:solidFill>
                <a:latin typeface="Consolas" panose="020B0609020204030204" pitchFamily="49" charset="0"/>
                <a:cs typeface="Consolas" panose="020B0609020204030204" pitchFamily="49" charset="0"/>
              </a:rPr>
              <a:t>try</a:t>
            </a:r>
            <a:r>
              <a:rPr lang="en-US" dirty="0">
                <a:solidFill>
                  <a:srgbClr val="00B050"/>
                </a:solidFill>
              </a:rPr>
              <a:t> block</a:t>
            </a:r>
          </a:p>
          <a:p>
            <a:pPr marL="285750" indent="-285750">
              <a:buFont typeface="Arial" panose="020B0604020202020204" pitchFamily="34" charset="0"/>
              <a:buChar char="•"/>
            </a:pPr>
            <a:r>
              <a:rPr lang="en-US" dirty="0">
                <a:solidFill>
                  <a:srgbClr val="00B050"/>
                </a:solidFill>
              </a:rPr>
              <a:t>Method invocation </a:t>
            </a:r>
          </a:p>
        </p:txBody>
      </p:sp>
    </p:spTree>
    <p:extLst>
      <p:ext uri="{BB962C8B-B14F-4D97-AF65-F5344CB8AC3E}">
        <p14:creationId xmlns:p14="http://schemas.microsoft.com/office/powerpoint/2010/main" val="948752260"/>
      </p:ext>
    </p:extLst>
  </p:cSld>
  <p:clrMapOvr>
    <a:masterClrMapping/>
  </p:clrMapOvr>
  <mc:AlternateContent xmlns:mc="http://schemas.openxmlformats.org/markup-compatibility/2006" xmlns:p14="http://schemas.microsoft.com/office/powerpoint/2010/main">
    <mc:Choice Requires="p14">
      <p:transition spd="slow" p14:dur="2000" advTm="104355"/>
    </mc:Choice>
    <mc:Fallback xmlns="">
      <p:transition spd="slow" advTm="10435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C7F0-2567-4473-B241-5B38EEE2EEFC}"/>
              </a:ext>
            </a:extLst>
          </p:cNvPr>
          <p:cNvSpPr>
            <a:spLocks noGrp="1"/>
          </p:cNvSpPr>
          <p:nvPr>
            <p:ph type="title"/>
          </p:nvPr>
        </p:nvSpPr>
        <p:spPr>
          <a:xfrm rot="16200000">
            <a:off x="-2219744" y="2831329"/>
            <a:ext cx="6427309" cy="1188720"/>
          </a:xfrm>
        </p:spPr>
        <p:txBody>
          <a:bodyPr/>
          <a:lstStyle/>
          <a:p>
            <a:r>
              <a:rPr lang="en-US" dirty="0"/>
              <a:t>Example: library method throwing exception</a:t>
            </a:r>
          </a:p>
        </p:txBody>
      </p:sp>
      <p:sp>
        <p:nvSpPr>
          <p:cNvPr id="4" name="Slide Number Placeholder 3">
            <a:extLst>
              <a:ext uri="{FF2B5EF4-FFF2-40B4-BE49-F238E27FC236}">
                <a16:creationId xmlns:a16="http://schemas.microsoft.com/office/drawing/2014/main" id="{67A69B0D-5C7E-44B9-BB99-3482C28AD986}"/>
              </a:ext>
            </a:extLst>
          </p:cNvPr>
          <p:cNvSpPr>
            <a:spLocks noGrp="1"/>
          </p:cNvSpPr>
          <p:nvPr>
            <p:ph type="sldNum" sz="quarter" idx="12"/>
          </p:nvPr>
        </p:nvSpPr>
        <p:spPr/>
        <p:txBody>
          <a:bodyPr/>
          <a:lstStyle/>
          <a:p>
            <a:fld id="{4D917438-FD46-48DD-9C04-0EE101A21382}" type="slidenum">
              <a:rPr lang="en-US" smtClean="0"/>
              <a:t>12</a:t>
            </a:fld>
            <a:endParaRPr lang="en-US"/>
          </a:p>
        </p:txBody>
      </p:sp>
      <p:pic>
        <p:nvPicPr>
          <p:cNvPr id="5" name="Picture 4">
            <a:extLst>
              <a:ext uri="{FF2B5EF4-FFF2-40B4-BE49-F238E27FC236}">
                <a16:creationId xmlns:a16="http://schemas.microsoft.com/office/drawing/2014/main" id="{5269BEE5-D29E-4D00-AE11-99AE8CA5CC1D}"/>
              </a:ext>
            </a:extLst>
          </p:cNvPr>
          <p:cNvPicPr>
            <a:picLocks noChangeAspect="1"/>
          </p:cNvPicPr>
          <p:nvPr/>
        </p:nvPicPr>
        <p:blipFill>
          <a:blip r:embed="rId2">
            <a:lum bright="-20000" contrast="40000"/>
          </a:blip>
          <a:stretch>
            <a:fillRect/>
          </a:stretch>
        </p:blipFill>
        <p:spPr>
          <a:xfrm>
            <a:off x="1769912" y="456806"/>
            <a:ext cx="5704315" cy="5943994"/>
          </a:xfrm>
          <a:prstGeom prst="rect">
            <a:avLst/>
          </a:prstGeom>
        </p:spPr>
      </p:pic>
      <p:pic>
        <p:nvPicPr>
          <p:cNvPr id="6" name="Picture 5">
            <a:extLst>
              <a:ext uri="{FF2B5EF4-FFF2-40B4-BE49-F238E27FC236}">
                <a16:creationId xmlns:a16="http://schemas.microsoft.com/office/drawing/2014/main" id="{85DCC206-57D8-4E58-A1D0-760D3FD8C19E}"/>
              </a:ext>
            </a:extLst>
          </p:cNvPr>
          <p:cNvPicPr>
            <a:picLocks noChangeAspect="1"/>
          </p:cNvPicPr>
          <p:nvPr/>
        </p:nvPicPr>
        <p:blipFill>
          <a:blip r:embed="rId3">
            <a:lum bright="-20000" contrast="40000"/>
          </a:blip>
          <a:stretch>
            <a:fillRect/>
          </a:stretch>
        </p:blipFill>
        <p:spPr>
          <a:xfrm>
            <a:off x="7601544" y="2994991"/>
            <a:ext cx="4476891" cy="1219200"/>
          </a:xfrm>
          <a:prstGeom prst="rect">
            <a:avLst/>
          </a:prstGeom>
        </p:spPr>
      </p:pic>
    </p:spTree>
    <p:extLst>
      <p:ext uri="{BB962C8B-B14F-4D97-AF65-F5344CB8AC3E}">
        <p14:creationId xmlns:p14="http://schemas.microsoft.com/office/powerpoint/2010/main" val="2836248101"/>
      </p:ext>
    </p:extLst>
  </p:cSld>
  <p:clrMapOvr>
    <a:masterClrMapping/>
  </p:clrMapOvr>
  <mc:AlternateContent xmlns:mc="http://schemas.openxmlformats.org/markup-compatibility/2006" xmlns:p14="http://schemas.microsoft.com/office/powerpoint/2010/main">
    <mc:Choice Requires="p14">
      <p:transition spd="slow" p14:dur="2000" advTm="103233"/>
    </mc:Choice>
    <mc:Fallback xmlns="">
      <p:transition spd="slow" advTm="10323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C9B5CF2-CE07-4245-B58D-FFEC6160E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6DE1682-8696-47A1-8336-33686F81B849}"/>
              </a:ext>
            </a:extLst>
          </p:cNvPr>
          <p:cNvPicPr>
            <a:picLocks noChangeAspect="1"/>
          </p:cNvPicPr>
          <p:nvPr/>
        </p:nvPicPr>
        <p:blipFill rotWithShape="1">
          <a:blip r:embed="rId2"/>
          <a:srcRect l="5217" t="69188" r="37283" b="21725"/>
          <a:stretch/>
        </p:blipFill>
        <p:spPr>
          <a:xfrm>
            <a:off x="552882" y="2918776"/>
            <a:ext cx="5357582" cy="1024423"/>
          </a:xfrm>
          <a:prstGeom prst="rect">
            <a:avLst/>
          </a:prstGeom>
        </p:spPr>
      </p:pic>
      <p:pic>
        <p:nvPicPr>
          <p:cNvPr id="3" name="Picture 2">
            <a:extLst>
              <a:ext uri="{FF2B5EF4-FFF2-40B4-BE49-F238E27FC236}">
                <a16:creationId xmlns:a16="http://schemas.microsoft.com/office/drawing/2014/main" id="{B73AF2FA-D5D2-4A82-BC27-815B9C6B86BB}"/>
              </a:ext>
            </a:extLst>
          </p:cNvPr>
          <p:cNvPicPr>
            <a:picLocks noChangeAspect="1"/>
          </p:cNvPicPr>
          <p:nvPr/>
        </p:nvPicPr>
        <p:blipFill rotWithShape="1">
          <a:blip r:embed="rId3"/>
          <a:srcRect l="5109" t="68942" r="87065" b="26752"/>
          <a:stretch/>
        </p:blipFill>
        <p:spPr>
          <a:xfrm>
            <a:off x="2403484" y="4433530"/>
            <a:ext cx="1368533" cy="424418"/>
          </a:xfrm>
          <a:prstGeom prst="rect">
            <a:avLst/>
          </a:prstGeom>
        </p:spPr>
      </p:pic>
      <p:pic>
        <p:nvPicPr>
          <p:cNvPr id="6" name="Picture 5">
            <a:extLst>
              <a:ext uri="{FF2B5EF4-FFF2-40B4-BE49-F238E27FC236}">
                <a16:creationId xmlns:a16="http://schemas.microsoft.com/office/drawing/2014/main" id="{B3072B3E-BBE9-4945-AECF-3FDABB183987}"/>
              </a:ext>
            </a:extLst>
          </p:cNvPr>
          <p:cNvPicPr>
            <a:picLocks noChangeAspect="1"/>
          </p:cNvPicPr>
          <p:nvPr/>
        </p:nvPicPr>
        <p:blipFill>
          <a:blip r:embed="rId4">
            <a:lum bright="-20000" contrast="40000"/>
          </a:blip>
          <a:stretch>
            <a:fillRect/>
          </a:stretch>
        </p:blipFill>
        <p:spPr>
          <a:xfrm>
            <a:off x="1509911" y="2023858"/>
            <a:ext cx="3032879" cy="750814"/>
          </a:xfrm>
          <a:prstGeom prst="rect">
            <a:avLst/>
          </a:prstGeom>
        </p:spPr>
      </p:pic>
      <p:sp>
        <p:nvSpPr>
          <p:cNvPr id="4" name="Slide Number Placeholder 3">
            <a:extLst>
              <a:ext uri="{FF2B5EF4-FFF2-40B4-BE49-F238E27FC236}">
                <a16:creationId xmlns:a16="http://schemas.microsoft.com/office/drawing/2014/main" id="{68398871-2EF2-44ED-BBC1-B2EC870FD4D9}"/>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4D917438-FD46-48DD-9C04-0EE101A21382}" type="slidenum">
              <a:rPr lang="en-US" smtClean="0"/>
              <a:pPr>
                <a:lnSpc>
                  <a:spcPct val="90000"/>
                </a:lnSpc>
                <a:spcAft>
                  <a:spcPts val="600"/>
                </a:spcAft>
              </a:pPr>
              <a:t>13</a:t>
            </a:fld>
            <a:endParaRPr lang="en-US"/>
          </a:p>
        </p:txBody>
      </p:sp>
      <p:pic>
        <p:nvPicPr>
          <p:cNvPr id="13" name="Picture 12">
            <a:extLst>
              <a:ext uri="{FF2B5EF4-FFF2-40B4-BE49-F238E27FC236}">
                <a16:creationId xmlns:a16="http://schemas.microsoft.com/office/drawing/2014/main" id="{802E0E09-A299-4CB4-AD88-BDBE39C55D62}"/>
              </a:ext>
            </a:extLst>
          </p:cNvPr>
          <p:cNvPicPr>
            <a:picLocks noChangeAspect="1"/>
          </p:cNvPicPr>
          <p:nvPr/>
        </p:nvPicPr>
        <p:blipFill rotWithShape="1">
          <a:blip r:embed="rId5"/>
          <a:srcRect l="5000" t="69574" r="90978" b="27332"/>
          <a:stretch/>
        </p:blipFill>
        <p:spPr>
          <a:xfrm>
            <a:off x="4704510" y="5552671"/>
            <a:ext cx="887896" cy="328801"/>
          </a:xfrm>
          <a:prstGeom prst="rect">
            <a:avLst/>
          </a:prstGeom>
        </p:spPr>
      </p:pic>
      <p:sp>
        <p:nvSpPr>
          <p:cNvPr id="14" name="TextBox 13">
            <a:extLst>
              <a:ext uri="{FF2B5EF4-FFF2-40B4-BE49-F238E27FC236}">
                <a16:creationId xmlns:a16="http://schemas.microsoft.com/office/drawing/2014/main" id="{1A47C6C6-B67B-401E-B5D7-B0DCB0AB310C}"/>
              </a:ext>
            </a:extLst>
          </p:cNvPr>
          <p:cNvSpPr txBox="1"/>
          <p:nvPr/>
        </p:nvSpPr>
        <p:spPr>
          <a:xfrm>
            <a:off x="365224" y="5562608"/>
            <a:ext cx="3730508" cy="369332"/>
          </a:xfrm>
          <a:prstGeom prst="rect">
            <a:avLst/>
          </a:prstGeom>
          <a:noFill/>
        </p:spPr>
        <p:txBody>
          <a:bodyPr wrap="none" rtlCol="0">
            <a:spAutoFit/>
          </a:bodyPr>
          <a:lstStyle/>
          <a:p>
            <a:r>
              <a:rPr lang="en-US" b="1" dirty="0" err="1">
                <a:latin typeface="Consolas" panose="020B0609020204030204" pitchFamily="49" charset="0"/>
                <a:cs typeface="Consolas" panose="020B0609020204030204" pitchFamily="49" charset="0"/>
              </a:rPr>
              <a:t>System.out.println</a:t>
            </a:r>
            <a:r>
              <a:rPr lang="en-US" b="1" dirty="0">
                <a:latin typeface="Consolas" panose="020B0609020204030204" pitchFamily="49" charset="0"/>
                <a:cs typeface="Consolas" panose="020B0609020204030204" pitchFamily="49" charset="0"/>
              </a:rPr>
              <a:t>(</a:t>
            </a:r>
            <a:r>
              <a:rPr lang="en-US" b="1" dirty="0">
                <a:solidFill>
                  <a:srgbClr val="00B0F0"/>
                </a:solidFill>
                <a:latin typeface="Consolas" panose="020B0609020204030204" pitchFamily="49" charset="0"/>
                <a:cs typeface="Consolas" panose="020B0609020204030204" pitchFamily="49" charset="0"/>
              </a:rPr>
              <a:t>0.0</a:t>
            </a:r>
            <a:r>
              <a:rPr lang="en-US" b="1" dirty="0">
                <a:latin typeface="Consolas" panose="020B0609020204030204" pitchFamily="49" charset="0"/>
                <a:cs typeface="Consolas" panose="020B0609020204030204" pitchFamily="49" charset="0"/>
              </a:rPr>
              <a:t> / </a:t>
            </a:r>
            <a:r>
              <a:rPr lang="en-US" b="1" dirty="0">
                <a:solidFill>
                  <a:srgbClr val="00B0F0"/>
                </a:solidFill>
                <a:latin typeface="Consolas" panose="020B0609020204030204" pitchFamily="49" charset="0"/>
                <a:cs typeface="Consolas" panose="020B0609020204030204" pitchFamily="49" charset="0"/>
              </a:rPr>
              <a:t>0</a:t>
            </a:r>
            <a:r>
              <a:rPr lang="en-US" b="1" dirty="0">
                <a:latin typeface="Consolas" panose="020B0609020204030204" pitchFamily="49" charset="0"/>
                <a:cs typeface="Consolas" panose="020B0609020204030204" pitchFamily="49" charset="0"/>
              </a:rPr>
              <a:t>);</a:t>
            </a:r>
          </a:p>
        </p:txBody>
      </p:sp>
      <p:pic>
        <p:nvPicPr>
          <p:cNvPr id="15" name="Picture 14">
            <a:extLst>
              <a:ext uri="{FF2B5EF4-FFF2-40B4-BE49-F238E27FC236}">
                <a16:creationId xmlns:a16="http://schemas.microsoft.com/office/drawing/2014/main" id="{26F30A89-5CC7-49E6-969F-86DBF3B72047}"/>
              </a:ext>
            </a:extLst>
          </p:cNvPr>
          <p:cNvPicPr>
            <a:picLocks noChangeAspect="1"/>
          </p:cNvPicPr>
          <p:nvPr/>
        </p:nvPicPr>
        <p:blipFill>
          <a:blip r:embed="rId6">
            <a:lum bright="-20000" contrast="40000"/>
          </a:blip>
          <a:stretch>
            <a:fillRect/>
          </a:stretch>
        </p:blipFill>
        <p:spPr>
          <a:xfrm>
            <a:off x="6374630" y="1868557"/>
            <a:ext cx="5480654" cy="2759101"/>
          </a:xfrm>
          <a:prstGeom prst="rect">
            <a:avLst/>
          </a:prstGeom>
        </p:spPr>
      </p:pic>
      <p:pic>
        <p:nvPicPr>
          <p:cNvPr id="16" name="Picture 15">
            <a:extLst>
              <a:ext uri="{FF2B5EF4-FFF2-40B4-BE49-F238E27FC236}">
                <a16:creationId xmlns:a16="http://schemas.microsoft.com/office/drawing/2014/main" id="{EC364884-48E6-4C76-8941-9AA0BA94B502}"/>
              </a:ext>
            </a:extLst>
          </p:cNvPr>
          <p:cNvPicPr>
            <a:picLocks noChangeAspect="1"/>
          </p:cNvPicPr>
          <p:nvPr/>
        </p:nvPicPr>
        <p:blipFill>
          <a:blip r:embed="rId7">
            <a:lum bright="-20000" contrast="40000"/>
          </a:blip>
          <a:stretch>
            <a:fillRect/>
          </a:stretch>
        </p:blipFill>
        <p:spPr>
          <a:xfrm>
            <a:off x="6374631" y="5570836"/>
            <a:ext cx="1778390" cy="381094"/>
          </a:xfrm>
          <a:prstGeom prst="rect">
            <a:avLst/>
          </a:prstGeom>
        </p:spPr>
      </p:pic>
      <p:pic>
        <p:nvPicPr>
          <p:cNvPr id="17" name="Picture 16">
            <a:extLst>
              <a:ext uri="{FF2B5EF4-FFF2-40B4-BE49-F238E27FC236}">
                <a16:creationId xmlns:a16="http://schemas.microsoft.com/office/drawing/2014/main" id="{483A8D70-DE21-4523-8C42-C8CAB786B1F2}"/>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922" t="69909" r="71875" b="24572"/>
          <a:stretch/>
        </p:blipFill>
        <p:spPr>
          <a:xfrm>
            <a:off x="7241034" y="4776164"/>
            <a:ext cx="3365548" cy="450160"/>
          </a:xfrm>
          <a:prstGeom prst="rect">
            <a:avLst/>
          </a:prstGeom>
        </p:spPr>
      </p:pic>
      <p:pic>
        <p:nvPicPr>
          <p:cNvPr id="18" name="Picture 17">
            <a:extLst>
              <a:ext uri="{FF2B5EF4-FFF2-40B4-BE49-F238E27FC236}">
                <a16:creationId xmlns:a16="http://schemas.microsoft.com/office/drawing/2014/main" id="{59561621-4F9F-4ABD-B2BF-5E58CD4217F7}"/>
              </a:ext>
            </a:extLst>
          </p:cNvPr>
          <p:cNvPicPr>
            <a:picLocks noChangeAspect="1"/>
          </p:cNvPicPr>
          <p:nvPr/>
        </p:nvPicPr>
        <p:blipFill rotWithShape="1">
          <a:blip r:embed="rId8">
            <a:extLst>
              <a:ext uri="{BEBA8EAE-BF5A-486C-A8C5-ECC9F3942E4B}">
                <a14:imgProps xmlns:a14="http://schemas.microsoft.com/office/drawing/2010/main">
                  <a14:imgLayer r:embed="rId9">
                    <a14:imgEffect>
                      <a14:sharpenSoften amount="50000"/>
                    </a14:imgEffect>
                  </a14:imgLayer>
                </a14:imgProps>
              </a:ext>
            </a:extLst>
          </a:blip>
          <a:srcRect l="4922" t="72354" r="71875" b="24572"/>
          <a:stretch/>
        </p:blipFill>
        <p:spPr>
          <a:xfrm>
            <a:off x="8489736" y="5623844"/>
            <a:ext cx="3365548" cy="250687"/>
          </a:xfrm>
          <a:prstGeom prst="rect">
            <a:avLst/>
          </a:prstGeom>
        </p:spPr>
      </p:pic>
      <p:sp>
        <p:nvSpPr>
          <p:cNvPr id="5" name="Title 4">
            <a:extLst>
              <a:ext uri="{FF2B5EF4-FFF2-40B4-BE49-F238E27FC236}">
                <a16:creationId xmlns:a16="http://schemas.microsoft.com/office/drawing/2014/main" id="{358583D7-E37E-4CFD-BFD4-61D190526588}"/>
              </a:ext>
            </a:extLst>
          </p:cNvPr>
          <p:cNvSpPr>
            <a:spLocks noGrp="1"/>
          </p:cNvSpPr>
          <p:nvPr>
            <p:ph type="title" idx="4294967295"/>
          </p:nvPr>
        </p:nvSpPr>
        <p:spPr>
          <a:xfrm>
            <a:off x="3826169" y="27853"/>
            <a:ext cx="4486656" cy="1645920"/>
          </a:xfrm>
        </p:spPr>
        <p:txBody>
          <a:bodyPr vert="horz" lIns="274320" tIns="182880" rIns="274320" bIns="182880" rtlCol="0" anchor="ctr" anchorCtr="1">
            <a:normAutofit/>
          </a:bodyPr>
          <a:lstStyle/>
          <a:p>
            <a:r>
              <a:rPr lang="en-US" sz="3200" dirty="0"/>
              <a:t>examples</a:t>
            </a:r>
          </a:p>
        </p:txBody>
      </p:sp>
    </p:spTree>
    <p:extLst>
      <p:ext uri="{BB962C8B-B14F-4D97-AF65-F5344CB8AC3E}">
        <p14:creationId xmlns:p14="http://schemas.microsoft.com/office/powerpoint/2010/main" val="2451937724"/>
      </p:ext>
    </p:extLst>
  </p:cSld>
  <p:clrMapOvr>
    <a:masterClrMapping/>
  </p:clrMapOvr>
  <mc:AlternateContent xmlns:mc="http://schemas.openxmlformats.org/markup-compatibility/2006" xmlns:p14="http://schemas.microsoft.com/office/powerpoint/2010/main">
    <mc:Choice Requires="p14">
      <p:transition spd="slow" p14:dur="2000" advTm="230452"/>
    </mc:Choice>
    <mc:Fallback xmlns="">
      <p:transition spd="slow" advTm="2304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3F8AC-1707-F99C-4179-D71C08BE4820}"/>
              </a:ext>
            </a:extLst>
          </p:cNvPr>
          <p:cNvSpPr>
            <a:spLocks noGrp="1"/>
          </p:cNvSpPr>
          <p:nvPr>
            <p:ph type="title"/>
          </p:nvPr>
        </p:nvSpPr>
        <p:spPr/>
        <p:txBody>
          <a:bodyPr/>
          <a:lstStyle/>
          <a:p>
            <a:r>
              <a:rPr lang="en-US" dirty="0"/>
              <a:t>Try – catch – finally Syntax</a:t>
            </a:r>
          </a:p>
        </p:txBody>
      </p:sp>
      <p:sp>
        <p:nvSpPr>
          <p:cNvPr id="4" name="Content Placeholder 3">
            <a:extLst>
              <a:ext uri="{FF2B5EF4-FFF2-40B4-BE49-F238E27FC236}">
                <a16:creationId xmlns:a16="http://schemas.microsoft.com/office/drawing/2014/main" id="{08542BF7-BA50-F359-4AE5-473C958989F9}"/>
              </a:ext>
            </a:extLst>
          </p:cNvPr>
          <p:cNvSpPr>
            <a:spLocks noGrp="1"/>
          </p:cNvSpPr>
          <p:nvPr>
            <p:ph idx="1"/>
          </p:nvPr>
        </p:nvSpPr>
        <p:spPr/>
        <p:txBody>
          <a:bodyPr>
            <a:normAutofit/>
          </a:bodyPr>
          <a:lstStyle/>
          <a:p>
            <a:pPr marL="0" indent="0" algn="ctr">
              <a:buNone/>
            </a:pPr>
            <a:r>
              <a:rPr lang="en-US" sz="2800" dirty="0"/>
              <a:t>try{ … }</a:t>
            </a:r>
          </a:p>
          <a:p>
            <a:pPr marL="0" indent="0" algn="ctr">
              <a:buNone/>
            </a:pPr>
            <a:r>
              <a:rPr lang="en-US" sz="2800" dirty="0"/>
              <a:t>catch(){</a:t>
            </a:r>
          </a:p>
          <a:p>
            <a:pPr marL="0" indent="0" algn="ctr">
              <a:buNone/>
            </a:pPr>
            <a:r>
              <a:rPr lang="en-US" sz="2800" dirty="0"/>
              <a:t>}</a:t>
            </a:r>
          </a:p>
          <a:p>
            <a:pPr marL="0" indent="0" algn="ctr">
              <a:buNone/>
            </a:pPr>
            <a:r>
              <a:rPr lang="en-US" sz="2800" dirty="0"/>
              <a:t>finally{</a:t>
            </a:r>
          </a:p>
          <a:p>
            <a:pPr marL="0" indent="0" algn="ctr">
              <a:buNone/>
            </a:pPr>
            <a:r>
              <a:rPr lang="en-US" sz="2800" dirty="0"/>
              <a:t>}</a:t>
            </a:r>
            <a:endParaRPr lang="en-US" dirty="0"/>
          </a:p>
        </p:txBody>
      </p:sp>
      <p:sp>
        <p:nvSpPr>
          <p:cNvPr id="2" name="Slide Number Placeholder 1">
            <a:extLst>
              <a:ext uri="{FF2B5EF4-FFF2-40B4-BE49-F238E27FC236}">
                <a16:creationId xmlns:a16="http://schemas.microsoft.com/office/drawing/2014/main" id="{6BC4C384-FA77-D6E0-A9B1-ED0C2AC745DE}"/>
              </a:ext>
            </a:extLst>
          </p:cNvPr>
          <p:cNvSpPr>
            <a:spLocks noGrp="1"/>
          </p:cNvSpPr>
          <p:nvPr>
            <p:ph type="sldNum" sz="quarter" idx="12"/>
          </p:nvPr>
        </p:nvSpPr>
        <p:spPr/>
        <p:txBody>
          <a:bodyPr/>
          <a:lstStyle/>
          <a:p>
            <a:fld id="{4D917438-FD46-48DD-9C04-0EE101A21382}" type="slidenum">
              <a:rPr lang="en-US" smtClean="0"/>
              <a:t>14</a:t>
            </a:fld>
            <a:endParaRPr lang="en-US"/>
          </a:p>
        </p:txBody>
      </p:sp>
    </p:spTree>
    <p:extLst>
      <p:ext uri="{BB962C8B-B14F-4D97-AF65-F5344CB8AC3E}">
        <p14:creationId xmlns:p14="http://schemas.microsoft.com/office/powerpoint/2010/main" val="3700283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BD9648-60A7-7EC3-17F1-0EEAD958DDC2}"/>
              </a:ext>
            </a:extLst>
          </p:cNvPr>
          <p:cNvSpPr>
            <a:spLocks noGrp="1"/>
          </p:cNvSpPr>
          <p:nvPr>
            <p:ph type="title"/>
          </p:nvPr>
        </p:nvSpPr>
        <p:spPr/>
        <p:txBody>
          <a:bodyPr/>
          <a:lstStyle/>
          <a:p>
            <a:r>
              <a:rPr lang="en-US" dirty="0"/>
              <a:t>Four Possibilities of exception</a:t>
            </a:r>
          </a:p>
        </p:txBody>
      </p:sp>
      <p:sp>
        <p:nvSpPr>
          <p:cNvPr id="4" name="Content Placeholder 3">
            <a:extLst>
              <a:ext uri="{FF2B5EF4-FFF2-40B4-BE49-F238E27FC236}">
                <a16:creationId xmlns:a16="http://schemas.microsoft.com/office/drawing/2014/main" id="{1D055352-3D62-E2E1-1B04-4949A0310282}"/>
              </a:ext>
            </a:extLst>
          </p:cNvPr>
          <p:cNvSpPr>
            <a:spLocks noGrp="1"/>
          </p:cNvSpPr>
          <p:nvPr>
            <p:ph idx="1"/>
          </p:nvPr>
        </p:nvSpPr>
        <p:spPr/>
        <p:txBody>
          <a:bodyPr>
            <a:normAutofit/>
          </a:bodyPr>
          <a:lstStyle/>
          <a:p>
            <a:r>
              <a:rPr lang="en-US" sz="2000" dirty="0"/>
              <a:t>Default Throw and Default Catch</a:t>
            </a:r>
          </a:p>
          <a:p>
            <a:r>
              <a:rPr lang="en-US" sz="2000" dirty="0"/>
              <a:t>Default Throw and our Catch</a:t>
            </a:r>
          </a:p>
          <a:p>
            <a:r>
              <a:rPr lang="en-US" sz="2000" dirty="0"/>
              <a:t>Our Throw and Default Catch</a:t>
            </a:r>
          </a:p>
          <a:p>
            <a:r>
              <a:rPr lang="en-US" sz="2000" dirty="0"/>
              <a:t>Our Throw and Our Catch</a:t>
            </a:r>
          </a:p>
        </p:txBody>
      </p:sp>
      <p:sp>
        <p:nvSpPr>
          <p:cNvPr id="2" name="Slide Number Placeholder 1">
            <a:extLst>
              <a:ext uri="{FF2B5EF4-FFF2-40B4-BE49-F238E27FC236}">
                <a16:creationId xmlns:a16="http://schemas.microsoft.com/office/drawing/2014/main" id="{0AB812FC-D2FE-F409-52B0-FDE926550610}"/>
              </a:ext>
            </a:extLst>
          </p:cNvPr>
          <p:cNvSpPr>
            <a:spLocks noGrp="1"/>
          </p:cNvSpPr>
          <p:nvPr>
            <p:ph type="sldNum" sz="quarter" idx="12"/>
          </p:nvPr>
        </p:nvSpPr>
        <p:spPr>
          <a:xfrm>
            <a:off x="10758922" y="6048957"/>
            <a:ext cx="365760" cy="365760"/>
          </a:xfrm>
        </p:spPr>
        <p:txBody>
          <a:bodyPr/>
          <a:lstStyle/>
          <a:p>
            <a:fld id="{4D917438-FD46-48DD-9C04-0EE101A21382}" type="slidenum">
              <a:rPr lang="en-US" smtClean="0"/>
              <a:t>15</a:t>
            </a:fld>
            <a:endParaRPr lang="en-US"/>
          </a:p>
        </p:txBody>
      </p:sp>
    </p:spTree>
    <p:extLst>
      <p:ext uri="{BB962C8B-B14F-4D97-AF65-F5344CB8AC3E}">
        <p14:creationId xmlns:p14="http://schemas.microsoft.com/office/powerpoint/2010/main" val="547309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3AE94-9EFF-E506-6D93-F5E4C6668DC9}"/>
              </a:ext>
            </a:extLst>
          </p:cNvPr>
          <p:cNvSpPr>
            <a:spLocks noGrp="1"/>
          </p:cNvSpPr>
          <p:nvPr>
            <p:ph type="title"/>
          </p:nvPr>
        </p:nvSpPr>
        <p:spPr/>
        <p:txBody>
          <a:bodyPr/>
          <a:lstStyle/>
          <a:p>
            <a:r>
              <a:rPr lang="en-US" dirty="0"/>
              <a:t>Default Throw and Default Catch</a:t>
            </a:r>
          </a:p>
        </p:txBody>
      </p:sp>
      <p:sp>
        <p:nvSpPr>
          <p:cNvPr id="4" name="Slide Number Placeholder 3">
            <a:extLst>
              <a:ext uri="{FF2B5EF4-FFF2-40B4-BE49-F238E27FC236}">
                <a16:creationId xmlns:a16="http://schemas.microsoft.com/office/drawing/2014/main" id="{1B313C33-80E5-BAB6-8A8D-AB42ECBE6CA7}"/>
              </a:ext>
            </a:extLst>
          </p:cNvPr>
          <p:cNvSpPr>
            <a:spLocks noGrp="1"/>
          </p:cNvSpPr>
          <p:nvPr>
            <p:ph type="sldNum" sz="quarter" idx="12"/>
          </p:nvPr>
        </p:nvSpPr>
        <p:spPr/>
        <p:txBody>
          <a:bodyPr/>
          <a:lstStyle/>
          <a:p>
            <a:fld id="{4D917438-FD46-48DD-9C04-0EE101A21382}" type="slidenum">
              <a:rPr lang="en-US" smtClean="0"/>
              <a:t>16</a:t>
            </a:fld>
            <a:endParaRPr lang="en-US"/>
          </a:p>
        </p:txBody>
      </p:sp>
      <p:sp>
        <p:nvSpPr>
          <p:cNvPr id="6" name="TextBox 5">
            <a:extLst>
              <a:ext uri="{FF2B5EF4-FFF2-40B4-BE49-F238E27FC236}">
                <a16:creationId xmlns:a16="http://schemas.microsoft.com/office/drawing/2014/main" id="{B0132206-E7A8-F6A9-6F67-D4264EBB1FA4}"/>
              </a:ext>
            </a:extLst>
          </p:cNvPr>
          <p:cNvSpPr txBox="1"/>
          <p:nvPr/>
        </p:nvSpPr>
        <p:spPr>
          <a:xfrm>
            <a:off x="1085533" y="2888707"/>
            <a:ext cx="9673389" cy="1815882"/>
          </a:xfrm>
          <a:prstGeom prst="rect">
            <a:avLst/>
          </a:prstGeom>
          <a:noFill/>
        </p:spPr>
        <p:txBody>
          <a:bodyPr wrap="square">
            <a:spAutoFit/>
          </a:bodyPr>
          <a:lstStyle/>
          <a:p>
            <a:r>
              <a:rPr lang="en-US" sz="2800" dirty="0"/>
              <a:t>int[ ] </a:t>
            </a:r>
            <a:r>
              <a:rPr lang="en-US" sz="2800" dirty="0" err="1"/>
              <a:t>abc</a:t>
            </a:r>
            <a:r>
              <a:rPr lang="en-US" sz="2800" dirty="0"/>
              <a:t> = new int[5]; </a:t>
            </a:r>
          </a:p>
          <a:p>
            <a:r>
              <a:rPr lang="en-US" sz="2800" dirty="0" err="1"/>
              <a:t>System.out.println</a:t>
            </a:r>
            <a:r>
              <a:rPr lang="en-US" sz="2800" dirty="0"/>
              <a:t>("First Line"+</a:t>
            </a:r>
            <a:r>
              <a:rPr lang="en-US" sz="2800" dirty="0" err="1"/>
              <a:t>abc</a:t>
            </a:r>
            <a:r>
              <a:rPr lang="en-US" sz="2800" dirty="0"/>
              <a:t>[5]); </a:t>
            </a:r>
            <a:r>
              <a:rPr lang="en-US" sz="2000" dirty="0"/>
              <a:t>//</a:t>
            </a:r>
            <a:r>
              <a:rPr lang="en-US" sz="2000" dirty="0" err="1"/>
              <a:t>ArrayIndexOutOfBoundsException</a:t>
            </a:r>
            <a:endParaRPr lang="en-US" sz="2800" dirty="0"/>
          </a:p>
          <a:p>
            <a:r>
              <a:rPr lang="en-US" sz="2800" dirty="0" err="1"/>
              <a:t>System.out.println</a:t>
            </a:r>
            <a:r>
              <a:rPr lang="en-US" sz="2800" dirty="0"/>
              <a:t>(2/0);</a:t>
            </a:r>
            <a:r>
              <a:rPr lang="en-US" sz="2000" dirty="0"/>
              <a:t>//</a:t>
            </a:r>
            <a:r>
              <a:rPr lang="en-US" sz="2000" dirty="0" err="1"/>
              <a:t>ArithmeticException</a:t>
            </a:r>
            <a:endParaRPr lang="en-US" sz="2800" dirty="0"/>
          </a:p>
          <a:p>
            <a:r>
              <a:rPr lang="en-US" sz="2800" dirty="0" err="1"/>
              <a:t>System.out.println</a:t>
            </a:r>
            <a:r>
              <a:rPr lang="en-US" sz="2800" dirty="0"/>
              <a:t>("Last Line");</a:t>
            </a:r>
          </a:p>
        </p:txBody>
      </p:sp>
    </p:spTree>
    <p:extLst>
      <p:ext uri="{BB962C8B-B14F-4D97-AF65-F5344CB8AC3E}">
        <p14:creationId xmlns:p14="http://schemas.microsoft.com/office/powerpoint/2010/main" val="300840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322C-1581-EF9F-E057-307F4CEC59CA}"/>
              </a:ext>
            </a:extLst>
          </p:cNvPr>
          <p:cNvSpPr>
            <a:spLocks noGrp="1"/>
          </p:cNvSpPr>
          <p:nvPr>
            <p:ph type="title"/>
          </p:nvPr>
        </p:nvSpPr>
        <p:spPr/>
        <p:txBody>
          <a:bodyPr/>
          <a:lstStyle/>
          <a:p>
            <a:r>
              <a:rPr lang="en-US" dirty="0"/>
              <a:t>Default Throw and our Catch</a:t>
            </a:r>
          </a:p>
        </p:txBody>
      </p:sp>
      <p:sp>
        <p:nvSpPr>
          <p:cNvPr id="3" name="Content Placeholder 2">
            <a:extLst>
              <a:ext uri="{FF2B5EF4-FFF2-40B4-BE49-F238E27FC236}">
                <a16:creationId xmlns:a16="http://schemas.microsoft.com/office/drawing/2014/main" id="{9E439FB7-3D64-BBCF-83C5-996B6B9DCA7C}"/>
              </a:ext>
            </a:extLst>
          </p:cNvPr>
          <p:cNvSpPr>
            <a:spLocks noGrp="1"/>
          </p:cNvSpPr>
          <p:nvPr>
            <p:ph idx="1"/>
          </p:nvPr>
        </p:nvSpPr>
        <p:spPr>
          <a:xfrm>
            <a:off x="2231136" y="2349286"/>
            <a:ext cx="7729728" cy="939787"/>
          </a:xfrm>
        </p:spPr>
        <p:txBody>
          <a:bodyPr/>
          <a:lstStyle/>
          <a:p>
            <a:r>
              <a:rPr lang="en-US" dirty="0"/>
              <a:t>catch can be more than one associated with one try</a:t>
            </a:r>
          </a:p>
          <a:p>
            <a:r>
              <a:rPr lang="en-US" dirty="0"/>
              <a:t>Each try must have one catch(){…}</a:t>
            </a:r>
          </a:p>
        </p:txBody>
      </p:sp>
      <p:sp>
        <p:nvSpPr>
          <p:cNvPr id="4" name="Slide Number Placeholder 3">
            <a:extLst>
              <a:ext uri="{FF2B5EF4-FFF2-40B4-BE49-F238E27FC236}">
                <a16:creationId xmlns:a16="http://schemas.microsoft.com/office/drawing/2014/main" id="{EF0C49E2-6411-1C09-DBA8-EA87CBCFCC1C}"/>
              </a:ext>
            </a:extLst>
          </p:cNvPr>
          <p:cNvSpPr>
            <a:spLocks noGrp="1"/>
          </p:cNvSpPr>
          <p:nvPr>
            <p:ph type="sldNum" sz="quarter" idx="12"/>
          </p:nvPr>
        </p:nvSpPr>
        <p:spPr/>
        <p:txBody>
          <a:bodyPr/>
          <a:lstStyle/>
          <a:p>
            <a:fld id="{4D917438-FD46-48DD-9C04-0EE101A21382}" type="slidenum">
              <a:rPr lang="en-US" smtClean="0"/>
              <a:t>17</a:t>
            </a:fld>
            <a:endParaRPr lang="en-US"/>
          </a:p>
        </p:txBody>
      </p:sp>
      <p:sp>
        <p:nvSpPr>
          <p:cNvPr id="6" name="TextBox 5">
            <a:extLst>
              <a:ext uri="{FF2B5EF4-FFF2-40B4-BE49-F238E27FC236}">
                <a16:creationId xmlns:a16="http://schemas.microsoft.com/office/drawing/2014/main" id="{73A993EB-5EB5-AB63-A402-CB0B7B53DA9F}"/>
              </a:ext>
            </a:extLst>
          </p:cNvPr>
          <p:cNvSpPr txBox="1"/>
          <p:nvPr/>
        </p:nvSpPr>
        <p:spPr>
          <a:xfrm>
            <a:off x="1704556" y="3568927"/>
            <a:ext cx="9237246" cy="2862322"/>
          </a:xfrm>
          <a:prstGeom prst="rect">
            <a:avLst/>
          </a:prstGeom>
          <a:noFill/>
        </p:spPr>
        <p:txBody>
          <a:bodyPr wrap="square">
            <a:spAutoFit/>
          </a:bodyPr>
          <a:lstStyle/>
          <a:p>
            <a:r>
              <a:rPr lang="en-US" dirty="0"/>
              <a:t>	  try{</a:t>
            </a:r>
          </a:p>
          <a:p>
            <a:r>
              <a:rPr lang="en-US" dirty="0"/>
              <a:t>			String </a:t>
            </a:r>
            <a:r>
              <a:rPr lang="en-US" dirty="0" err="1"/>
              <a:t>st</a:t>
            </a:r>
            <a:r>
              <a:rPr lang="en-US" dirty="0"/>
              <a:t> = null; //</a:t>
            </a:r>
            <a:r>
              <a:rPr lang="en-US" dirty="0" err="1"/>
              <a:t>NullPointerException</a:t>
            </a:r>
            <a:endParaRPr lang="en-US" dirty="0"/>
          </a:p>
          <a:p>
            <a:r>
              <a:rPr lang="en-US" dirty="0"/>
              <a:t>			int[] </a:t>
            </a:r>
            <a:r>
              <a:rPr lang="en-US" dirty="0" err="1"/>
              <a:t>abc</a:t>
            </a:r>
            <a:r>
              <a:rPr lang="en-US" dirty="0"/>
              <a:t> = null; //</a:t>
            </a:r>
            <a:r>
              <a:rPr lang="en-US" dirty="0" err="1"/>
              <a:t>NullPointerException</a:t>
            </a:r>
            <a:endParaRPr lang="en-US" dirty="0"/>
          </a:p>
          <a:p>
            <a:r>
              <a:rPr lang="en-US" dirty="0"/>
              <a:t>			</a:t>
            </a:r>
            <a:r>
              <a:rPr lang="en-US" dirty="0" err="1"/>
              <a:t>System.out.println</a:t>
            </a:r>
            <a:r>
              <a:rPr lang="en-US" dirty="0"/>
              <a:t>("First Line"+</a:t>
            </a:r>
            <a:r>
              <a:rPr lang="en-US" dirty="0" err="1"/>
              <a:t>st.length</a:t>
            </a:r>
            <a:r>
              <a:rPr lang="en-US" dirty="0"/>
              <a:t>());</a:t>
            </a:r>
          </a:p>
          <a:p>
            <a:r>
              <a:rPr lang="en-US" dirty="0"/>
              <a:t>			</a:t>
            </a:r>
            <a:r>
              <a:rPr lang="en-US" dirty="0" err="1"/>
              <a:t>System.out.println</a:t>
            </a:r>
            <a:r>
              <a:rPr lang="en-US" dirty="0"/>
              <a:t>("Last Line after exception");</a:t>
            </a:r>
          </a:p>
          <a:p>
            <a:r>
              <a:rPr lang="en-US" dirty="0"/>
              <a:t>			//</a:t>
            </a:r>
            <a:r>
              <a:rPr lang="en-US" dirty="0" err="1"/>
              <a:t>System.out.println</a:t>
            </a:r>
            <a:r>
              <a:rPr lang="en-US" dirty="0"/>
              <a:t>(20/0);//</a:t>
            </a:r>
            <a:r>
              <a:rPr lang="en-US" dirty="0" err="1"/>
              <a:t>ArithmeticException</a:t>
            </a:r>
            <a:r>
              <a:rPr lang="en-US" dirty="0"/>
              <a:t>: Java by default make its object</a:t>
            </a:r>
          </a:p>
          <a:p>
            <a:r>
              <a:rPr lang="en-US" dirty="0"/>
              <a:t>		} </a:t>
            </a:r>
          </a:p>
          <a:p>
            <a:r>
              <a:rPr lang="en-US" dirty="0"/>
              <a:t>		catch(</a:t>
            </a:r>
            <a:r>
              <a:rPr lang="en-US" dirty="0" err="1"/>
              <a:t>NullPointerException</a:t>
            </a:r>
            <a:r>
              <a:rPr lang="en-US" dirty="0"/>
              <a:t> ex){</a:t>
            </a:r>
          </a:p>
          <a:p>
            <a:r>
              <a:rPr lang="en-US" dirty="0"/>
              <a:t>			</a:t>
            </a:r>
            <a:r>
              <a:rPr lang="en-US" dirty="0" err="1"/>
              <a:t>System.out.println</a:t>
            </a:r>
            <a:r>
              <a:rPr lang="en-US" dirty="0"/>
              <a:t>("!!!No Reference to Object!!!");</a:t>
            </a:r>
          </a:p>
          <a:p>
            <a:r>
              <a:rPr lang="en-US" dirty="0"/>
              <a:t>		}</a:t>
            </a:r>
          </a:p>
        </p:txBody>
      </p:sp>
    </p:spTree>
    <p:extLst>
      <p:ext uri="{BB962C8B-B14F-4D97-AF65-F5344CB8AC3E}">
        <p14:creationId xmlns:p14="http://schemas.microsoft.com/office/powerpoint/2010/main" val="2273050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D8918-C0CC-2B8A-51CB-443C84710391}"/>
              </a:ext>
            </a:extLst>
          </p:cNvPr>
          <p:cNvSpPr>
            <a:spLocks noGrp="1"/>
          </p:cNvSpPr>
          <p:nvPr>
            <p:ph type="title"/>
          </p:nvPr>
        </p:nvSpPr>
        <p:spPr/>
        <p:txBody>
          <a:bodyPr/>
          <a:lstStyle/>
          <a:p>
            <a:r>
              <a:rPr lang="en-US" dirty="0"/>
              <a:t> Our Throw and Default Catch</a:t>
            </a:r>
          </a:p>
        </p:txBody>
      </p:sp>
      <p:sp>
        <p:nvSpPr>
          <p:cNvPr id="3" name="Content Placeholder 2">
            <a:extLst>
              <a:ext uri="{FF2B5EF4-FFF2-40B4-BE49-F238E27FC236}">
                <a16:creationId xmlns:a16="http://schemas.microsoft.com/office/drawing/2014/main" id="{3F9407C5-606F-D6E8-FE15-4ADCA1CA0FEC}"/>
              </a:ext>
            </a:extLst>
          </p:cNvPr>
          <p:cNvSpPr>
            <a:spLocks noGrp="1"/>
          </p:cNvSpPr>
          <p:nvPr>
            <p:ph idx="1"/>
          </p:nvPr>
        </p:nvSpPr>
        <p:spPr>
          <a:xfrm>
            <a:off x="2226443" y="2314659"/>
            <a:ext cx="7729728" cy="1705356"/>
          </a:xfrm>
        </p:spPr>
        <p:txBody>
          <a:bodyPr/>
          <a:lstStyle/>
          <a:p>
            <a:r>
              <a:rPr lang="en-US" dirty="0"/>
              <a:t>Explicit Throw: A program can explicitly throw an Exception using the "throw" statement besides the implicit exception thrown</a:t>
            </a:r>
          </a:p>
          <a:p>
            <a:r>
              <a:rPr lang="en-US" dirty="0"/>
              <a:t>            Syntax:  throw &lt;</a:t>
            </a:r>
            <a:r>
              <a:rPr lang="en-US" dirty="0" err="1"/>
              <a:t>throwableInstance</a:t>
            </a:r>
            <a:r>
              <a:rPr lang="en-US" dirty="0"/>
              <a:t>&gt;</a:t>
            </a:r>
          </a:p>
          <a:p>
            <a:r>
              <a:rPr lang="en-US" dirty="0"/>
              <a:t>            Example: throw new </a:t>
            </a:r>
            <a:r>
              <a:rPr lang="en-US" dirty="0" err="1"/>
              <a:t>ArithmeticException</a:t>
            </a:r>
            <a:r>
              <a:rPr lang="en-US" dirty="0"/>
              <a:t>("Division by Zero")</a:t>
            </a:r>
          </a:p>
        </p:txBody>
      </p:sp>
      <p:sp>
        <p:nvSpPr>
          <p:cNvPr id="4" name="Slide Number Placeholder 3">
            <a:extLst>
              <a:ext uri="{FF2B5EF4-FFF2-40B4-BE49-F238E27FC236}">
                <a16:creationId xmlns:a16="http://schemas.microsoft.com/office/drawing/2014/main" id="{9AD76BDC-CE5E-C8C8-805A-8623E74BD7AD}"/>
              </a:ext>
            </a:extLst>
          </p:cNvPr>
          <p:cNvSpPr>
            <a:spLocks noGrp="1"/>
          </p:cNvSpPr>
          <p:nvPr>
            <p:ph type="sldNum" sz="quarter" idx="12"/>
          </p:nvPr>
        </p:nvSpPr>
        <p:spPr/>
        <p:txBody>
          <a:bodyPr/>
          <a:lstStyle/>
          <a:p>
            <a:fld id="{4D917438-FD46-48DD-9C04-0EE101A21382}" type="slidenum">
              <a:rPr lang="en-US" smtClean="0"/>
              <a:t>18</a:t>
            </a:fld>
            <a:endParaRPr lang="en-US"/>
          </a:p>
        </p:txBody>
      </p:sp>
      <p:sp>
        <p:nvSpPr>
          <p:cNvPr id="6" name="TextBox 5">
            <a:extLst>
              <a:ext uri="{FF2B5EF4-FFF2-40B4-BE49-F238E27FC236}">
                <a16:creationId xmlns:a16="http://schemas.microsoft.com/office/drawing/2014/main" id="{1EA0331D-7FCE-8949-BF38-ED8F6F7DD662}"/>
              </a:ext>
            </a:extLst>
          </p:cNvPr>
          <p:cNvSpPr txBox="1"/>
          <p:nvPr/>
        </p:nvSpPr>
        <p:spPr>
          <a:xfrm>
            <a:off x="2226443" y="4369475"/>
            <a:ext cx="8715359" cy="2031325"/>
          </a:xfrm>
          <a:prstGeom prst="rect">
            <a:avLst/>
          </a:prstGeom>
          <a:noFill/>
        </p:spPr>
        <p:txBody>
          <a:bodyPr wrap="square">
            <a:spAutoFit/>
          </a:bodyPr>
          <a:lstStyle/>
          <a:p>
            <a:r>
              <a:rPr lang="en-US" dirty="0"/>
              <a:t>int balance = 1000;</a:t>
            </a:r>
          </a:p>
          <a:p>
            <a:r>
              <a:rPr lang="en-US" dirty="0"/>
              <a:t>int </a:t>
            </a:r>
            <a:r>
              <a:rPr lang="en-US" dirty="0" err="1"/>
              <a:t>withdrawlAmount</a:t>
            </a:r>
            <a:r>
              <a:rPr lang="en-US" dirty="0"/>
              <a:t> = 3000;</a:t>
            </a:r>
          </a:p>
          <a:p>
            <a:r>
              <a:rPr lang="en-US" dirty="0"/>
              <a:t>if(balance &lt; </a:t>
            </a:r>
            <a:r>
              <a:rPr lang="en-US" dirty="0" err="1"/>
              <a:t>withdrawlAmount</a:t>
            </a:r>
            <a:r>
              <a:rPr lang="en-US" dirty="0"/>
              <a:t>){</a:t>
            </a:r>
          </a:p>
          <a:p>
            <a:r>
              <a:rPr lang="en-US" dirty="0"/>
              <a:t>				throw new </a:t>
            </a:r>
            <a:r>
              <a:rPr lang="en-US" dirty="0" err="1"/>
              <a:t>ArithmeticException</a:t>
            </a:r>
            <a:r>
              <a:rPr lang="en-US" dirty="0"/>
              <a:t>("&lt;&lt;&lt;Insufficient Balance...&gt;&gt;&gt;");</a:t>
            </a:r>
          </a:p>
          <a:p>
            <a:r>
              <a:rPr lang="en-US" dirty="0"/>
              <a:t>			}</a:t>
            </a:r>
          </a:p>
          <a:p>
            <a:r>
              <a:rPr lang="en-US" dirty="0"/>
              <a:t>balance = balance - </a:t>
            </a:r>
            <a:r>
              <a:rPr lang="en-US" dirty="0" err="1"/>
              <a:t>withdrawlAmount</a:t>
            </a:r>
            <a:r>
              <a:rPr lang="en-US" dirty="0"/>
              <a:t>;</a:t>
            </a:r>
          </a:p>
          <a:p>
            <a:r>
              <a:rPr lang="en-US" dirty="0" err="1"/>
              <a:t>System.out.println</a:t>
            </a:r>
            <a:r>
              <a:rPr lang="en-US" dirty="0"/>
              <a:t>("</a:t>
            </a:r>
            <a:r>
              <a:rPr lang="en-US" dirty="0" err="1"/>
              <a:t>Sucessfully</a:t>
            </a:r>
            <a:r>
              <a:rPr lang="en-US" dirty="0"/>
              <a:t> Completed");	</a:t>
            </a:r>
          </a:p>
        </p:txBody>
      </p:sp>
    </p:spTree>
    <p:extLst>
      <p:ext uri="{BB962C8B-B14F-4D97-AF65-F5344CB8AC3E}">
        <p14:creationId xmlns:p14="http://schemas.microsoft.com/office/powerpoint/2010/main" val="1173583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B5568-C8EF-4579-DA77-0DF823361590}"/>
              </a:ext>
            </a:extLst>
          </p:cNvPr>
          <p:cNvSpPr>
            <a:spLocks noGrp="1"/>
          </p:cNvSpPr>
          <p:nvPr>
            <p:ph type="title"/>
          </p:nvPr>
        </p:nvSpPr>
        <p:spPr/>
        <p:txBody>
          <a:bodyPr/>
          <a:lstStyle/>
          <a:p>
            <a:r>
              <a:rPr lang="en-US" dirty="0"/>
              <a:t>Our Throw and Our Catch</a:t>
            </a:r>
          </a:p>
        </p:txBody>
      </p:sp>
      <p:sp>
        <p:nvSpPr>
          <p:cNvPr id="4" name="Slide Number Placeholder 3">
            <a:extLst>
              <a:ext uri="{FF2B5EF4-FFF2-40B4-BE49-F238E27FC236}">
                <a16:creationId xmlns:a16="http://schemas.microsoft.com/office/drawing/2014/main" id="{111F8177-16DA-D9DC-CA52-2723C59B0DB4}"/>
              </a:ext>
            </a:extLst>
          </p:cNvPr>
          <p:cNvSpPr>
            <a:spLocks noGrp="1"/>
          </p:cNvSpPr>
          <p:nvPr>
            <p:ph type="sldNum" sz="quarter" idx="12"/>
          </p:nvPr>
        </p:nvSpPr>
        <p:spPr/>
        <p:txBody>
          <a:bodyPr/>
          <a:lstStyle/>
          <a:p>
            <a:fld id="{4D917438-FD46-48DD-9C04-0EE101A21382}" type="slidenum">
              <a:rPr lang="en-US" smtClean="0"/>
              <a:t>19</a:t>
            </a:fld>
            <a:endParaRPr lang="en-US"/>
          </a:p>
        </p:txBody>
      </p:sp>
      <p:sp>
        <p:nvSpPr>
          <p:cNvPr id="6" name="TextBox 5">
            <a:extLst>
              <a:ext uri="{FF2B5EF4-FFF2-40B4-BE49-F238E27FC236}">
                <a16:creationId xmlns:a16="http://schemas.microsoft.com/office/drawing/2014/main" id="{40A7D9E1-AE75-9AD4-20F9-16DDFD99C40E}"/>
              </a:ext>
            </a:extLst>
          </p:cNvPr>
          <p:cNvSpPr txBox="1"/>
          <p:nvPr/>
        </p:nvSpPr>
        <p:spPr>
          <a:xfrm>
            <a:off x="2058165" y="2476988"/>
            <a:ext cx="9066517" cy="3416320"/>
          </a:xfrm>
          <a:prstGeom prst="rect">
            <a:avLst/>
          </a:prstGeom>
          <a:noFill/>
        </p:spPr>
        <p:txBody>
          <a:bodyPr wrap="square">
            <a:spAutoFit/>
          </a:bodyPr>
          <a:lstStyle/>
          <a:p>
            <a:r>
              <a:rPr lang="en-US" dirty="0"/>
              <a:t>try{</a:t>
            </a:r>
          </a:p>
          <a:p>
            <a:r>
              <a:rPr lang="en-US" dirty="0"/>
              <a:t>			int balance = 1000;</a:t>
            </a:r>
          </a:p>
          <a:p>
            <a:r>
              <a:rPr lang="en-US" dirty="0"/>
              <a:t>			int </a:t>
            </a:r>
            <a:r>
              <a:rPr lang="en-US" dirty="0" err="1"/>
              <a:t>withdrawlAmount</a:t>
            </a:r>
            <a:r>
              <a:rPr lang="en-US" dirty="0"/>
              <a:t> = 3000;</a:t>
            </a:r>
          </a:p>
          <a:p>
            <a:r>
              <a:rPr lang="en-US" dirty="0"/>
              <a:t>			if(balance &lt; </a:t>
            </a:r>
            <a:r>
              <a:rPr lang="en-US" dirty="0" err="1"/>
              <a:t>withdrawlAmount</a:t>
            </a:r>
            <a:r>
              <a:rPr lang="en-US" dirty="0"/>
              <a:t>){</a:t>
            </a:r>
          </a:p>
          <a:p>
            <a:r>
              <a:rPr lang="en-US" dirty="0"/>
              <a:t>				throw new </a:t>
            </a:r>
            <a:r>
              <a:rPr lang="en-US" dirty="0" err="1"/>
              <a:t>ArithmeticException</a:t>
            </a:r>
            <a:r>
              <a:rPr lang="en-US" dirty="0"/>
              <a:t>("Insufficient Balance...");</a:t>
            </a:r>
          </a:p>
          <a:p>
            <a:r>
              <a:rPr lang="en-US" dirty="0"/>
              <a:t>			}</a:t>
            </a:r>
          </a:p>
          <a:p>
            <a:r>
              <a:rPr lang="en-US" dirty="0"/>
              <a:t>			balance = balance - </a:t>
            </a:r>
            <a:r>
              <a:rPr lang="en-US" dirty="0" err="1"/>
              <a:t>withdrawlAmount</a:t>
            </a:r>
            <a:r>
              <a:rPr lang="en-US" dirty="0"/>
              <a:t>;</a:t>
            </a:r>
          </a:p>
          <a:p>
            <a:r>
              <a:rPr lang="en-US" dirty="0"/>
              <a:t>			</a:t>
            </a:r>
            <a:r>
              <a:rPr lang="en-US" dirty="0" err="1"/>
              <a:t>System.out.println</a:t>
            </a:r>
            <a:r>
              <a:rPr lang="en-US" dirty="0"/>
              <a:t>("</a:t>
            </a:r>
            <a:r>
              <a:rPr lang="en-US" dirty="0" err="1"/>
              <a:t>Sucessfully</a:t>
            </a:r>
            <a:r>
              <a:rPr lang="en-US" dirty="0"/>
              <a:t> Completed");	</a:t>
            </a:r>
          </a:p>
          <a:p>
            <a:r>
              <a:rPr lang="en-US" dirty="0"/>
              <a:t>		}</a:t>
            </a:r>
          </a:p>
          <a:p>
            <a:r>
              <a:rPr lang="en-US" dirty="0"/>
              <a:t>		catch(</a:t>
            </a:r>
            <a:r>
              <a:rPr lang="en-US" dirty="0" err="1"/>
              <a:t>ArithmeticException</a:t>
            </a:r>
            <a:r>
              <a:rPr lang="en-US" dirty="0"/>
              <a:t> e){</a:t>
            </a:r>
          </a:p>
          <a:p>
            <a:r>
              <a:rPr lang="en-US" dirty="0"/>
              <a:t>			</a:t>
            </a:r>
            <a:r>
              <a:rPr lang="en-US" dirty="0" err="1"/>
              <a:t>System.out.println</a:t>
            </a:r>
            <a:r>
              <a:rPr lang="en-US" dirty="0"/>
              <a:t>("Exception: "+ </a:t>
            </a:r>
            <a:r>
              <a:rPr lang="en-US" dirty="0" err="1"/>
              <a:t>e.getMessage</a:t>
            </a:r>
            <a:r>
              <a:rPr lang="en-US" dirty="0"/>
              <a:t>());</a:t>
            </a:r>
          </a:p>
          <a:p>
            <a:r>
              <a:rPr lang="en-US" dirty="0"/>
              <a:t>		}</a:t>
            </a:r>
          </a:p>
        </p:txBody>
      </p:sp>
    </p:spTree>
    <p:extLst>
      <p:ext uri="{BB962C8B-B14F-4D97-AF65-F5344CB8AC3E}">
        <p14:creationId xmlns:p14="http://schemas.microsoft.com/office/powerpoint/2010/main" val="1002257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B9F03A2-CF9C-4D5C-9A3D-AE723FE749CA}"/>
              </a:ext>
            </a:extLst>
          </p:cNvPr>
          <p:cNvSpPr>
            <a:spLocks noGrp="1"/>
          </p:cNvSpPr>
          <p:nvPr>
            <p:ph type="title"/>
          </p:nvPr>
        </p:nvSpPr>
        <p:spPr>
          <a:xfrm>
            <a:off x="804672" y="964692"/>
            <a:ext cx="3066937" cy="1188720"/>
          </a:xfrm>
        </p:spPr>
        <p:txBody>
          <a:bodyPr>
            <a:normAutofit/>
          </a:bodyPr>
          <a:lstStyle/>
          <a:p>
            <a:r>
              <a:rPr lang="en-US" dirty="0"/>
              <a:t>Exception types</a:t>
            </a:r>
          </a:p>
        </p:txBody>
      </p:sp>
      <p:sp>
        <p:nvSpPr>
          <p:cNvPr id="7" name="Content Placeholder 6">
            <a:extLst>
              <a:ext uri="{FF2B5EF4-FFF2-40B4-BE49-F238E27FC236}">
                <a16:creationId xmlns:a16="http://schemas.microsoft.com/office/drawing/2014/main" id="{848DC962-EFFE-4913-9F59-D7E7C7CC404F}"/>
              </a:ext>
            </a:extLst>
          </p:cNvPr>
          <p:cNvSpPr>
            <a:spLocks noGrp="1"/>
          </p:cNvSpPr>
          <p:nvPr>
            <p:ph idx="1"/>
          </p:nvPr>
        </p:nvSpPr>
        <p:spPr>
          <a:xfrm>
            <a:off x="649357" y="2638044"/>
            <a:ext cx="3366051" cy="3263206"/>
          </a:xfrm>
        </p:spPr>
        <p:txBody>
          <a:bodyPr>
            <a:normAutofit/>
          </a:bodyPr>
          <a:lstStyle/>
          <a:p>
            <a:pPr algn="just"/>
            <a:r>
              <a:rPr lang="en-US" dirty="0"/>
              <a:t>Exception are objects; Objects are defined using classes</a:t>
            </a:r>
          </a:p>
          <a:p>
            <a:pPr algn="just"/>
            <a:r>
              <a:rPr lang="en-US" dirty="0"/>
              <a:t>Many predefined exception classes in the Java API; one can define one’s own exception classes</a:t>
            </a:r>
          </a:p>
          <a:p>
            <a:pPr algn="just"/>
            <a:r>
              <a:rPr lang="en-US" dirty="0"/>
              <a:t>The root class for exceptions is </a:t>
            </a:r>
            <a:r>
              <a:rPr lang="en-US" b="1" dirty="0" err="1">
                <a:solidFill>
                  <a:srgbClr val="0070C0"/>
                </a:solidFill>
                <a:latin typeface="Consolas" panose="020B0609020204030204" pitchFamily="49" charset="0"/>
                <a:cs typeface="Consolas" panose="020B0609020204030204" pitchFamily="49" charset="0"/>
              </a:rPr>
              <a:t>java.lang.Throwable</a:t>
            </a:r>
            <a:endParaRPr lang="en-US" b="1" dirty="0">
              <a:solidFill>
                <a:srgbClr val="0070C0"/>
              </a:solidFill>
              <a:latin typeface="Consolas" panose="020B0609020204030204" pitchFamily="49" charset="0"/>
              <a:cs typeface="Consolas" panose="020B0609020204030204" pitchFamily="49" charset="0"/>
            </a:endParaRPr>
          </a:p>
        </p:txBody>
      </p:sp>
      <p:sp>
        <p:nvSpPr>
          <p:cNvPr id="17" name="Rectangle 12">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4">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2344D4B0-1F6F-4044-B7F1-6DE36AC1D2AB}"/>
              </a:ext>
            </a:extLst>
          </p:cNvPr>
          <p:cNvPicPr>
            <a:picLocks noChangeAspect="1"/>
          </p:cNvPicPr>
          <p:nvPr/>
        </p:nvPicPr>
        <p:blipFill>
          <a:blip r:embed="rId2">
            <a:lum bright="-20000" contrast="40000"/>
          </a:blip>
          <a:stretch>
            <a:fillRect/>
          </a:stretch>
        </p:blipFill>
        <p:spPr>
          <a:xfrm>
            <a:off x="4657802" y="1484243"/>
            <a:ext cx="6558192" cy="3737114"/>
          </a:xfrm>
          <a:prstGeom prst="rect">
            <a:avLst/>
          </a:prstGeom>
        </p:spPr>
      </p:pic>
      <p:sp>
        <p:nvSpPr>
          <p:cNvPr id="3" name="Slide Number Placeholder 2">
            <a:extLst>
              <a:ext uri="{FF2B5EF4-FFF2-40B4-BE49-F238E27FC236}">
                <a16:creationId xmlns:a16="http://schemas.microsoft.com/office/drawing/2014/main" id="{6065770D-4650-4978-A6E6-2B9E716C3A72}"/>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20</a:t>
            </a:fld>
            <a:endParaRPr lang="en-US"/>
          </a:p>
        </p:txBody>
      </p:sp>
    </p:spTree>
    <p:extLst>
      <p:ext uri="{BB962C8B-B14F-4D97-AF65-F5344CB8AC3E}">
        <p14:creationId xmlns:p14="http://schemas.microsoft.com/office/powerpoint/2010/main" val="8807248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B0B5-3A6B-4F23-B42C-C6CC98A0E4DB}"/>
              </a:ext>
            </a:extLst>
          </p:cNvPr>
          <p:cNvSpPr>
            <a:spLocks noGrp="1"/>
          </p:cNvSpPr>
          <p:nvPr>
            <p:ph type="title"/>
          </p:nvPr>
        </p:nvSpPr>
        <p:spPr>
          <a:xfrm>
            <a:off x="2231136" y="10537"/>
            <a:ext cx="7729728" cy="1188720"/>
          </a:xfrm>
        </p:spPr>
        <p:txBody>
          <a:bodyPr/>
          <a:lstStyle/>
          <a:p>
            <a:r>
              <a:rPr lang="en-US" dirty="0"/>
              <a:t>Exception classes</a:t>
            </a:r>
          </a:p>
        </p:txBody>
      </p:sp>
      <p:sp>
        <p:nvSpPr>
          <p:cNvPr id="4" name="Slide Number Placeholder 3">
            <a:extLst>
              <a:ext uri="{FF2B5EF4-FFF2-40B4-BE49-F238E27FC236}">
                <a16:creationId xmlns:a16="http://schemas.microsoft.com/office/drawing/2014/main" id="{0BA6B216-BF1A-4F30-B853-7EB5829D6BF4}"/>
              </a:ext>
            </a:extLst>
          </p:cNvPr>
          <p:cNvSpPr>
            <a:spLocks noGrp="1"/>
          </p:cNvSpPr>
          <p:nvPr>
            <p:ph type="sldNum" sz="quarter" idx="12"/>
          </p:nvPr>
        </p:nvSpPr>
        <p:spPr/>
        <p:txBody>
          <a:bodyPr/>
          <a:lstStyle/>
          <a:p>
            <a:fld id="{4D917438-FD46-48DD-9C04-0EE101A21382}" type="slidenum">
              <a:rPr lang="en-US" smtClean="0"/>
              <a:t>21</a:t>
            </a:fld>
            <a:endParaRPr lang="en-US"/>
          </a:p>
        </p:txBody>
      </p:sp>
      <p:grpSp>
        <p:nvGrpSpPr>
          <p:cNvPr id="27" name="Group 26">
            <a:extLst>
              <a:ext uri="{FF2B5EF4-FFF2-40B4-BE49-F238E27FC236}">
                <a16:creationId xmlns:a16="http://schemas.microsoft.com/office/drawing/2014/main" id="{E890CEC4-C7EB-41B6-9578-4117DB52313A}"/>
              </a:ext>
            </a:extLst>
          </p:cNvPr>
          <p:cNvGrpSpPr/>
          <p:nvPr/>
        </p:nvGrpSpPr>
        <p:grpSpPr>
          <a:xfrm>
            <a:off x="2231136" y="1199257"/>
            <a:ext cx="7729728" cy="693963"/>
            <a:chOff x="2231136" y="1199257"/>
            <a:chExt cx="7729728" cy="1007228"/>
          </a:xfrm>
        </p:grpSpPr>
        <p:cxnSp>
          <p:nvCxnSpPr>
            <p:cNvPr id="8" name="Straight Connector 7">
              <a:extLst>
                <a:ext uri="{FF2B5EF4-FFF2-40B4-BE49-F238E27FC236}">
                  <a16:creationId xmlns:a16="http://schemas.microsoft.com/office/drawing/2014/main" id="{01195D94-6084-4617-BDEF-77BCF5EFB909}"/>
                </a:ext>
              </a:extLst>
            </p:cNvPr>
            <p:cNvCxnSpPr>
              <a:stCxn id="2" idx="2"/>
            </p:cNvCxnSpPr>
            <p:nvPr/>
          </p:nvCxnSpPr>
          <p:spPr>
            <a:xfrm>
              <a:off x="6096000" y="1199257"/>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C216792E-D9B8-49A1-9D58-BE2C4B3C2C28}"/>
                </a:ext>
              </a:extLst>
            </p:cNvPr>
            <p:cNvCxnSpPr/>
            <p:nvPr/>
          </p:nvCxnSpPr>
          <p:spPr>
            <a:xfrm>
              <a:off x="2231136" y="1696281"/>
              <a:ext cx="7729728" cy="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8EB32FBF-7560-4FBF-B586-D1E12733C1BA}"/>
                </a:ext>
              </a:extLst>
            </p:cNvPr>
            <p:cNvCxnSpPr/>
            <p:nvPr/>
          </p:nvCxnSpPr>
          <p:spPr>
            <a:xfrm>
              <a:off x="2232990" y="1696210"/>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E1237BFD-EA9A-45F7-BFF0-B43FA465C7B6}"/>
                </a:ext>
              </a:extLst>
            </p:cNvPr>
            <p:cNvCxnSpPr/>
            <p:nvPr/>
          </p:nvCxnSpPr>
          <p:spPr>
            <a:xfrm>
              <a:off x="6089376" y="1682958"/>
              <a:ext cx="0" cy="51027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18B93978-D516-47AE-9480-4F62B5372BD2}"/>
                </a:ext>
              </a:extLst>
            </p:cNvPr>
            <p:cNvCxnSpPr/>
            <p:nvPr/>
          </p:nvCxnSpPr>
          <p:spPr>
            <a:xfrm>
              <a:off x="9945760" y="1696210"/>
              <a:ext cx="0" cy="510275"/>
            </a:xfrm>
            <a:prstGeom prst="line">
              <a:avLst/>
            </a:prstGeom>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1F9C7880-9546-42D7-903D-3A57FC7A25A3}"/>
              </a:ext>
            </a:extLst>
          </p:cNvPr>
          <p:cNvSpPr txBox="1"/>
          <p:nvPr/>
        </p:nvSpPr>
        <p:spPr>
          <a:xfrm>
            <a:off x="1457742" y="1812244"/>
            <a:ext cx="1500732" cy="369332"/>
          </a:xfrm>
          <a:prstGeom prst="rect">
            <a:avLst/>
          </a:prstGeom>
          <a:noFill/>
        </p:spPr>
        <p:txBody>
          <a:bodyPr wrap="none" rtlCol="0">
            <a:spAutoFit/>
          </a:bodyPr>
          <a:lstStyle/>
          <a:p>
            <a:r>
              <a:rPr lang="en-US" dirty="0">
                <a:solidFill>
                  <a:srgbClr val="C00000"/>
                </a:solidFill>
              </a:rPr>
              <a:t>System errors</a:t>
            </a:r>
          </a:p>
        </p:txBody>
      </p:sp>
      <p:sp>
        <p:nvSpPr>
          <p:cNvPr id="15" name="TextBox 14">
            <a:extLst>
              <a:ext uri="{FF2B5EF4-FFF2-40B4-BE49-F238E27FC236}">
                <a16:creationId xmlns:a16="http://schemas.microsoft.com/office/drawing/2014/main" id="{5CC41480-8653-46EE-941B-366E359A851B}"/>
              </a:ext>
            </a:extLst>
          </p:cNvPr>
          <p:cNvSpPr txBox="1"/>
          <p:nvPr/>
        </p:nvSpPr>
        <p:spPr>
          <a:xfrm>
            <a:off x="5532790" y="1805620"/>
            <a:ext cx="1200970" cy="369332"/>
          </a:xfrm>
          <a:prstGeom prst="rect">
            <a:avLst/>
          </a:prstGeom>
          <a:noFill/>
        </p:spPr>
        <p:txBody>
          <a:bodyPr wrap="none" rtlCol="0">
            <a:spAutoFit/>
          </a:bodyPr>
          <a:lstStyle/>
          <a:p>
            <a:r>
              <a:rPr lang="en-US" dirty="0">
                <a:solidFill>
                  <a:srgbClr val="C00000"/>
                </a:solidFill>
              </a:rPr>
              <a:t>Exceptions</a:t>
            </a:r>
          </a:p>
        </p:txBody>
      </p:sp>
      <p:sp>
        <p:nvSpPr>
          <p:cNvPr id="16" name="TextBox 15">
            <a:extLst>
              <a:ext uri="{FF2B5EF4-FFF2-40B4-BE49-F238E27FC236}">
                <a16:creationId xmlns:a16="http://schemas.microsoft.com/office/drawing/2014/main" id="{E0CE4D85-974B-4139-B604-0F90CB516F47}"/>
              </a:ext>
            </a:extLst>
          </p:cNvPr>
          <p:cNvSpPr txBox="1"/>
          <p:nvPr/>
        </p:nvSpPr>
        <p:spPr>
          <a:xfrm>
            <a:off x="9047745" y="1826352"/>
            <a:ext cx="2052165" cy="369332"/>
          </a:xfrm>
          <a:prstGeom prst="rect">
            <a:avLst/>
          </a:prstGeom>
          <a:noFill/>
        </p:spPr>
        <p:txBody>
          <a:bodyPr wrap="none" rtlCol="0">
            <a:spAutoFit/>
          </a:bodyPr>
          <a:lstStyle/>
          <a:p>
            <a:r>
              <a:rPr lang="en-US" dirty="0">
                <a:solidFill>
                  <a:srgbClr val="C00000"/>
                </a:solidFill>
              </a:rPr>
              <a:t>Runtime Exceptions</a:t>
            </a:r>
          </a:p>
        </p:txBody>
      </p:sp>
      <p:sp>
        <p:nvSpPr>
          <p:cNvPr id="17" name="TextBox 16">
            <a:extLst>
              <a:ext uri="{FF2B5EF4-FFF2-40B4-BE49-F238E27FC236}">
                <a16:creationId xmlns:a16="http://schemas.microsoft.com/office/drawing/2014/main" id="{69C2FB61-C24D-41A2-912C-648E79E734B2}"/>
              </a:ext>
            </a:extLst>
          </p:cNvPr>
          <p:cNvSpPr txBox="1"/>
          <p:nvPr/>
        </p:nvSpPr>
        <p:spPr>
          <a:xfrm>
            <a:off x="490329" y="2146863"/>
            <a:ext cx="2783839"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70C0"/>
                </a:solidFill>
              </a:rPr>
              <a:t>Thrown by JVM</a:t>
            </a:r>
          </a:p>
          <a:p>
            <a:pPr marL="285750" indent="-285750">
              <a:buFont typeface="Arial" panose="020B0604020202020204" pitchFamily="34" charset="0"/>
              <a:buChar char="•"/>
            </a:pPr>
            <a:r>
              <a:rPr lang="en-US" sz="1600" dirty="0">
                <a:solidFill>
                  <a:srgbClr val="0070C0"/>
                </a:solidFill>
              </a:rPr>
              <a:t>Represented in </a:t>
            </a:r>
            <a:r>
              <a:rPr lang="en-US" sz="1600" u="sng" dirty="0">
                <a:solidFill>
                  <a:srgbClr val="0070C0"/>
                </a:solidFill>
                <a:latin typeface="Consolas" panose="020B0609020204030204" pitchFamily="49" charset="0"/>
                <a:cs typeface="Consolas" panose="020B0609020204030204" pitchFamily="49" charset="0"/>
              </a:rPr>
              <a:t>Error</a:t>
            </a:r>
            <a:r>
              <a:rPr lang="en-US" sz="1600" dirty="0">
                <a:solidFill>
                  <a:srgbClr val="0070C0"/>
                </a:solidFill>
              </a:rPr>
              <a:t> class</a:t>
            </a:r>
          </a:p>
        </p:txBody>
      </p:sp>
      <p:sp>
        <p:nvSpPr>
          <p:cNvPr id="18" name="TextBox 17">
            <a:extLst>
              <a:ext uri="{FF2B5EF4-FFF2-40B4-BE49-F238E27FC236}">
                <a16:creationId xmlns:a16="http://schemas.microsoft.com/office/drawing/2014/main" id="{1EBFD7A2-3027-484A-9860-DC07D34B2FA8}"/>
              </a:ext>
            </a:extLst>
          </p:cNvPr>
          <p:cNvSpPr txBox="1"/>
          <p:nvPr/>
        </p:nvSpPr>
        <p:spPr>
          <a:xfrm>
            <a:off x="1417461" y="2676945"/>
            <a:ext cx="2571730" cy="307777"/>
          </a:xfrm>
          <a:prstGeom prst="rect">
            <a:avLst/>
          </a:prstGeom>
          <a:noFill/>
        </p:spPr>
        <p:txBody>
          <a:bodyPr wrap="none" rtlCol="0">
            <a:spAutoFit/>
          </a:bodyPr>
          <a:lstStyle/>
          <a:p>
            <a:r>
              <a:rPr lang="en-US" sz="1400" dirty="0">
                <a:solidFill>
                  <a:srgbClr val="00B050"/>
                </a:solidFill>
              </a:rPr>
              <a:t>Describes internal system errors</a:t>
            </a:r>
          </a:p>
        </p:txBody>
      </p:sp>
      <p:pic>
        <p:nvPicPr>
          <p:cNvPr id="19" name="Picture 18">
            <a:extLst>
              <a:ext uri="{FF2B5EF4-FFF2-40B4-BE49-F238E27FC236}">
                <a16:creationId xmlns:a16="http://schemas.microsoft.com/office/drawing/2014/main" id="{67FE1408-B6E3-4761-84E7-F1F1183FFAE6}"/>
              </a:ext>
            </a:extLst>
          </p:cNvPr>
          <p:cNvPicPr>
            <a:picLocks noChangeAspect="1"/>
          </p:cNvPicPr>
          <p:nvPr/>
        </p:nvPicPr>
        <p:blipFill>
          <a:blip r:embed="rId2">
            <a:lum bright="-20000" contrast="40000"/>
          </a:blip>
          <a:stretch>
            <a:fillRect/>
          </a:stretch>
        </p:blipFill>
        <p:spPr>
          <a:xfrm>
            <a:off x="44527" y="3173751"/>
            <a:ext cx="5625633" cy="1446466"/>
          </a:xfrm>
          <a:prstGeom prst="rect">
            <a:avLst/>
          </a:prstGeom>
        </p:spPr>
      </p:pic>
      <p:sp>
        <p:nvSpPr>
          <p:cNvPr id="20" name="TextBox 19">
            <a:extLst>
              <a:ext uri="{FF2B5EF4-FFF2-40B4-BE49-F238E27FC236}">
                <a16:creationId xmlns:a16="http://schemas.microsoft.com/office/drawing/2014/main" id="{97EA2472-A39F-4B11-8107-6D4C5D4DD4C2}"/>
              </a:ext>
            </a:extLst>
          </p:cNvPr>
          <p:cNvSpPr txBox="1"/>
          <p:nvPr/>
        </p:nvSpPr>
        <p:spPr>
          <a:xfrm>
            <a:off x="4419604" y="2126987"/>
            <a:ext cx="3414717"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solidFill>
                  <a:srgbClr val="0070C0"/>
                </a:solidFill>
              </a:rPr>
              <a:t>Caught &amp; handled by your program</a:t>
            </a:r>
          </a:p>
          <a:p>
            <a:pPr marL="285750" indent="-285750">
              <a:buFont typeface="Arial" panose="020B0604020202020204" pitchFamily="34" charset="0"/>
              <a:buChar char="•"/>
            </a:pPr>
            <a:r>
              <a:rPr lang="en-US" sz="1600" dirty="0">
                <a:solidFill>
                  <a:srgbClr val="0070C0"/>
                </a:solidFill>
              </a:rPr>
              <a:t>Represented in </a:t>
            </a:r>
            <a:r>
              <a:rPr lang="en-US" sz="1600" u="sng" dirty="0">
                <a:solidFill>
                  <a:srgbClr val="0070C0"/>
                </a:solidFill>
                <a:latin typeface="Consolas" panose="020B0609020204030204" pitchFamily="49" charset="0"/>
                <a:cs typeface="Consolas" panose="020B0609020204030204" pitchFamily="49" charset="0"/>
              </a:rPr>
              <a:t>Exception</a:t>
            </a:r>
            <a:r>
              <a:rPr lang="en-US" sz="1600" dirty="0">
                <a:solidFill>
                  <a:srgbClr val="0070C0"/>
                </a:solidFill>
              </a:rPr>
              <a:t> class</a:t>
            </a:r>
          </a:p>
        </p:txBody>
      </p:sp>
      <p:sp>
        <p:nvSpPr>
          <p:cNvPr id="21" name="TextBox 20">
            <a:extLst>
              <a:ext uri="{FF2B5EF4-FFF2-40B4-BE49-F238E27FC236}">
                <a16:creationId xmlns:a16="http://schemas.microsoft.com/office/drawing/2014/main" id="{E9D48918-C2DD-4CFB-81C4-CFC984DEB79B}"/>
              </a:ext>
            </a:extLst>
          </p:cNvPr>
          <p:cNvSpPr txBox="1"/>
          <p:nvPr/>
        </p:nvSpPr>
        <p:spPr>
          <a:xfrm>
            <a:off x="5267747" y="2630563"/>
            <a:ext cx="2895593" cy="523220"/>
          </a:xfrm>
          <a:prstGeom prst="rect">
            <a:avLst/>
          </a:prstGeom>
          <a:noFill/>
        </p:spPr>
        <p:txBody>
          <a:bodyPr wrap="square" rtlCol="0">
            <a:spAutoFit/>
          </a:bodyPr>
          <a:lstStyle/>
          <a:p>
            <a:pPr algn="just"/>
            <a:r>
              <a:rPr lang="en-US" sz="1400" dirty="0">
                <a:solidFill>
                  <a:srgbClr val="00B050"/>
                </a:solidFill>
              </a:rPr>
              <a:t>Describes errors caused by your program &amp; by external circumstances</a:t>
            </a:r>
          </a:p>
        </p:txBody>
      </p:sp>
      <p:cxnSp>
        <p:nvCxnSpPr>
          <p:cNvPr id="24" name="Straight Arrow Connector 23">
            <a:extLst>
              <a:ext uri="{FF2B5EF4-FFF2-40B4-BE49-F238E27FC236}">
                <a16:creationId xmlns:a16="http://schemas.microsoft.com/office/drawing/2014/main" id="{092089DD-10C8-42E5-AE14-26B546EAB791}"/>
              </a:ext>
            </a:extLst>
          </p:cNvPr>
          <p:cNvCxnSpPr>
            <a:cxnSpLocks/>
          </p:cNvCxnSpPr>
          <p:nvPr/>
        </p:nvCxnSpPr>
        <p:spPr>
          <a:xfrm>
            <a:off x="6086969" y="3106283"/>
            <a:ext cx="0" cy="2007742"/>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30296F95-412E-45E0-AC41-3A89EFA09147}"/>
              </a:ext>
            </a:extLst>
          </p:cNvPr>
          <p:cNvSpPr txBox="1"/>
          <p:nvPr/>
        </p:nvSpPr>
        <p:spPr>
          <a:xfrm>
            <a:off x="8188438" y="2160119"/>
            <a:ext cx="4003562"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70C0"/>
                </a:solidFill>
              </a:rPr>
              <a:t>Caught &amp; handled by your program</a:t>
            </a:r>
          </a:p>
          <a:p>
            <a:pPr marL="285750" indent="-285750">
              <a:buFont typeface="Arial" panose="020B0604020202020204" pitchFamily="34" charset="0"/>
              <a:buChar char="•"/>
            </a:pPr>
            <a:r>
              <a:rPr lang="en-US" sz="1600" dirty="0">
                <a:solidFill>
                  <a:srgbClr val="0070C0"/>
                </a:solidFill>
              </a:rPr>
              <a:t>Represented in </a:t>
            </a:r>
            <a:r>
              <a:rPr lang="en-US" sz="1600" u="sng" dirty="0" err="1">
                <a:solidFill>
                  <a:srgbClr val="0070C0"/>
                </a:solidFill>
                <a:latin typeface="Consolas" panose="020B0609020204030204" pitchFamily="49" charset="0"/>
                <a:cs typeface="Consolas" panose="020B0609020204030204" pitchFamily="49" charset="0"/>
              </a:rPr>
              <a:t>RuntimeException</a:t>
            </a:r>
            <a:r>
              <a:rPr lang="en-US" sz="1600" dirty="0">
                <a:solidFill>
                  <a:srgbClr val="0070C0"/>
                </a:solidFill>
              </a:rPr>
              <a:t> class</a:t>
            </a:r>
          </a:p>
        </p:txBody>
      </p:sp>
      <p:sp>
        <p:nvSpPr>
          <p:cNvPr id="26" name="TextBox 25">
            <a:extLst>
              <a:ext uri="{FF2B5EF4-FFF2-40B4-BE49-F238E27FC236}">
                <a16:creationId xmlns:a16="http://schemas.microsoft.com/office/drawing/2014/main" id="{F09CF5A3-4FBC-4141-A205-3C24474BB950}"/>
              </a:ext>
            </a:extLst>
          </p:cNvPr>
          <p:cNvSpPr txBox="1"/>
          <p:nvPr/>
        </p:nvSpPr>
        <p:spPr>
          <a:xfrm>
            <a:off x="9382541" y="2661793"/>
            <a:ext cx="2895593" cy="307777"/>
          </a:xfrm>
          <a:prstGeom prst="rect">
            <a:avLst/>
          </a:prstGeom>
          <a:noFill/>
        </p:spPr>
        <p:txBody>
          <a:bodyPr wrap="square" rtlCol="0">
            <a:spAutoFit/>
          </a:bodyPr>
          <a:lstStyle/>
          <a:p>
            <a:pPr algn="just"/>
            <a:r>
              <a:rPr lang="en-US" sz="1400" dirty="0">
                <a:solidFill>
                  <a:srgbClr val="00B050"/>
                </a:solidFill>
              </a:rPr>
              <a:t>Describes programming errors</a:t>
            </a:r>
          </a:p>
        </p:txBody>
      </p:sp>
      <p:pic>
        <p:nvPicPr>
          <p:cNvPr id="29" name="Picture 28">
            <a:extLst>
              <a:ext uri="{FF2B5EF4-FFF2-40B4-BE49-F238E27FC236}">
                <a16:creationId xmlns:a16="http://schemas.microsoft.com/office/drawing/2014/main" id="{2FB02030-1E23-4AE4-BDF5-5204D93ADE04}"/>
              </a:ext>
            </a:extLst>
          </p:cNvPr>
          <p:cNvPicPr>
            <a:picLocks noChangeAspect="1"/>
          </p:cNvPicPr>
          <p:nvPr/>
        </p:nvPicPr>
        <p:blipFill>
          <a:blip r:embed="rId3">
            <a:lum bright="-20000" contrast="40000"/>
          </a:blip>
          <a:stretch>
            <a:fillRect/>
          </a:stretch>
        </p:blipFill>
        <p:spPr>
          <a:xfrm>
            <a:off x="6998805" y="3189616"/>
            <a:ext cx="5193195" cy="2126680"/>
          </a:xfrm>
          <a:prstGeom prst="rect">
            <a:avLst/>
          </a:prstGeom>
        </p:spPr>
      </p:pic>
      <p:pic>
        <p:nvPicPr>
          <p:cNvPr id="22" name="Picture 21">
            <a:extLst>
              <a:ext uri="{FF2B5EF4-FFF2-40B4-BE49-F238E27FC236}">
                <a16:creationId xmlns:a16="http://schemas.microsoft.com/office/drawing/2014/main" id="{E3028A9F-B4BC-4810-B76B-75B3A014B174}"/>
              </a:ext>
            </a:extLst>
          </p:cNvPr>
          <p:cNvPicPr>
            <a:picLocks noChangeAspect="1"/>
          </p:cNvPicPr>
          <p:nvPr/>
        </p:nvPicPr>
        <p:blipFill>
          <a:blip r:embed="rId4">
            <a:lum bright="-20000" contrast="40000"/>
          </a:blip>
          <a:stretch>
            <a:fillRect/>
          </a:stretch>
        </p:blipFill>
        <p:spPr>
          <a:xfrm>
            <a:off x="149139" y="5114025"/>
            <a:ext cx="8039299" cy="1651168"/>
          </a:xfrm>
          <a:prstGeom prst="rect">
            <a:avLst/>
          </a:prstGeom>
        </p:spPr>
      </p:pic>
    </p:spTree>
    <p:extLst>
      <p:ext uri="{BB962C8B-B14F-4D97-AF65-F5344CB8AC3E}">
        <p14:creationId xmlns:p14="http://schemas.microsoft.com/office/powerpoint/2010/main" val="1242114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DEC1-C43A-4FB1-B1B7-9FD97F0F80EA}"/>
              </a:ext>
            </a:extLst>
          </p:cNvPr>
          <p:cNvSpPr>
            <a:spLocks noGrp="1"/>
          </p:cNvSpPr>
          <p:nvPr>
            <p:ph type="title"/>
          </p:nvPr>
        </p:nvSpPr>
        <p:spPr/>
        <p:txBody>
          <a:bodyPr/>
          <a:lstStyle/>
          <a:p>
            <a:r>
              <a:rPr lang="en-US" dirty="0"/>
              <a:t>Un/checked exceptions</a:t>
            </a:r>
          </a:p>
        </p:txBody>
      </p:sp>
      <p:sp>
        <p:nvSpPr>
          <p:cNvPr id="3" name="Content Placeholder 2">
            <a:extLst>
              <a:ext uri="{FF2B5EF4-FFF2-40B4-BE49-F238E27FC236}">
                <a16:creationId xmlns:a16="http://schemas.microsoft.com/office/drawing/2014/main" id="{67761192-9A17-4928-B569-C1A781F4EF95}"/>
              </a:ext>
            </a:extLst>
          </p:cNvPr>
          <p:cNvSpPr>
            <a:spLocks noGrp="1"/>
          </p:cNvSpPr>
          <p:nvPr>
            <p:ph idx="1"/>
          </p:nvPr>
        </p:nvSpPr>
        <p:spPr>
          <a:xfrm>
            <a:off x="2231136" y="2638044"/>
            <a:ext cx="7729728" cy="3736252"/>
          </a:xfrm>
        </p:spPr>
        <p:txBody>
          <a:bodyPr>
            <a:normAutofit lnSpcReduction="10000"/>
          </a:bodyPr>
          <a:lstStyle/>
          <a:p>
            <a:r>
              <a:rPr lang="en-US" dirty="0">
                <a:solidFill>
                  <a:srgbClr val="C00000"/>
                </a:solidFill>
              </a:rPr>
              <a:t>Unchecked exceptions</a:t>
            </a:r>
            <a:r>
              <a:rPr lang="en-US" dirty="0"/>
              <a:t>: </a:t>
            </a:r>
            <a:r>
              <a:rPr lang="en-US" dirty="0" err="1">
                <a:solidFill>
                  <a:srgbClr val="0070C0"/>
                </a:solidFill>
                <a:latin typeface="Consolas" panose="020B0609020204030204" pitchFamily="49" charset="0"/>
                <a:cs typeface="Consolas" panose="020B0609020204030204" pitchFamily="49" charset="0"/>
              </a:rPr>
              <a:t>RuntimeException</a:t>
            </a:r>
            <a:r>
              <a:rPr lang="en-US" dirty="0">
                <a:solidFill>
                  <a:srgbClr val="0070C0"/>
                </a:solidFill>
                <a:latin typeface="Consolas" panose="020B0609020204030204" pitchFamily="49" charset="0"/>
                <a:cs typeface="Consolas" panose="020B0609020204030204" pitchFamily="49" charset="0"/>
              </a:rPr>
              <a:t>, Error</a:t>
            </a:r>
          </a:p>
          <a:p>
            <a:pPr lvl="1"/>
            <a:r>
              <a:rPr lang="en-US" dirty="0"/>
              <a:t>Programming logic errors that are unrecoverable; not mandatory to catch or declare</a:t>
            </a:r>
          </a:p>
          <a:p>
            <a:pPr lvl="1"/>
            <a:r>
              <a:rPr lang="en-US" dirty="0" err="1">
                <a:solidFill>
                  <a:srgbClr val="00B050"/>
                </a:solidFill>
                <a:latin typeface="Consolas" panose="020B0609020204030204" pitchFamily="49" charset="0"/>
                <a:cs typeface="Consolas" panose="020B0609020204030204" pitchFamily="49" charset="0"/>
              </a:rPr>
              <a:t>NullPointerException</a:t>
            </a:r>
            <a:r>
              <a:rPr lang="en-US" dirty="0"/>
              <a:t>: if you access an object through a reference variable before an object is assigned to it</a:t>
            </a:r>
          </a:p>
          <a:p>
            <a:pPr lvl="1"/>
            <a:r>
              <a:rPr lang="en-US" dirty="0" err="1">
                <a:solidFill>
                  <a:srgbClr val="00B050"/>
                </a:solidFill>
                <a:latin typeface="Consolas" panose="020B0609020204030204" pitchFamily="49" charset="0"/>
                <a:cs typeface="Consolas" panose="020B0609020204030204" pitchFamily="49" charset="0"/>
              </a:rPr>
              <a:t>IndexOutOfBoundsException</a:t>
            </a:r>
            <a:r>
              <a:rPr lang="en-US" dirty="0"/>
              <a:t>: if you access an element in an array outside the bounds of array</a:t>
            </a:r>
          </a:p>
          <a:p>
            <a:r>
              <a:rPr lang="en-US" dirty="0">
                <a:solidFill>
                  <a:srgbClr val="C00000"/>
                </a:solidFill>
              </a:rPr>
              <a:t>Checked exceptions</a:t>
            </a:r>
            <a:r>
              <a:rPr lang="en-US" dirty="0"/>
              <a:t>: all other exceptions</a:t>
            </a:r>
          </a:p>
          <a:p>
            <a:pPr lvl="1"/>
            <a:r>
              <a:rPr lang="en-US" dirty="0"/>
              <a:t>Compiler forces the programmer to check</a:t>
            </a:r>
          </a:p>
          <a:p>
            <a:pPr lvl="1"/>
            <a:r>
              <a:rPr lang="en-US" dirty="0"/>
              <a:t>Dealt in</a:t>
            </a:r>
          </a:p>
          <a:p>
            <a:pPr lvl="2"/>
            <a:r>
              <a:rPr lang="en-US" dirty="0">
                <a:solidFill>
                  <a:srgbClr val="0070C0"/>
                </a:solidFill>
                <a:latin typeface="Consolas" panose="020B0609020204030204" pitchFamily="49" charset="0"/>
                <a:cs typeface="Consolas" panose="020B0609020204030204" pitchFamily="49" charset="0"/>
              </a:rPr>
              <a:t>Try-catch</a:t>
            </a:r>
            <a:r>
              <a:rPr lang="en-US" dirty="0"/>
              <a:t> block</a:t>
            </a:r>
          </a:p>
          <a:p>
            <a:pPr lvl="2"/>
            <a:r>
              <a:rPr lang="en-US" dirty="0"/>
              <a:t>Declared in the method header </a:t>
            </a:r>
          </a:p>
        </p:txBody>
      </p:sp>
      <p:sp>
        <p:nvSpPr>
          <p:cNvPr id="4" name="Slide Number Placeholder 3">
            <a:extLst>
              <a:ext uri="{FF2B5EF4-FFF2-40B4-BE49-F238E27FC236}">
                <a16:creationId xmlns:a16="http://schemas.microsoft.com/office/drawing/2014/main" id="{D03AC7AA-14F8-4B9D-9706-72FFA3BC3D58}"/>
              </a:ext>
            </a:extLst>
          </p:cNvPr>
          <p:cNvSpPr>
            <a:spLocks noGrp="1"/>
          </p:cNvSpPr>
          <p:nvPr>
            <p:ph type="sldNum" sz="quarter" idx="12"/>
          </p:nvPr>
        </p:nvSpPr>
        <p:spPr/>
        <p:txBody>
          <a:bodyPr/>
          <a:lstStyle/>
          <a:p>
            <a:fld id="{4D917438-FD46-48DD-9C04-0EE101A21382}" type="slidenum">
              <a:rPr lang="en-US" smtClean="0"/>
              <a:t>22</a:t>
            </a:fld>
            <a:endParaRPr lang="en-US"/>
          </a:p>
        </p:txBody>
      </p:sp>
    </p:spTree>
    <p:extLst>
      <p:ext uri="{BB962C8B-B14F-4D97-AF65-F5344CB8AC3E}">
        <p14:creationId xmlns:p14="http://schemas.microsoft.com/office/powerpoint/2010/main" val="147001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EB9C2F-E301-4484-A678-326156276D71}"/>
              </a:ext>
            </a:extLst>
          </p:cNvPr>
          <p:cNvSpPr>
            <a:spLocks noGrp="1"/>
          </p:cNvSpPr>
          <p:nvPr>
            <p:ph type="sldNum" sz="quarter" idx="12"/>
          </p:nvPr>
        </p:nvSpPr>
        <p:spPr>
          <a:xfrm>
            <a:off x="10758922" y="6227859"/>
            <a:ext cx="365760" cy="365760"/>
          </a:xfrm>
        </p:spPr>
        <p:txBody>
          <a:bodyPr vert="horz" lIns="18288" tIns="45720" rIns="18288" bIns="45720" rtlCol="0" anchor="ctr">
            <a:normAutofit/>
          </a:bodyPr>
          <a:lstStyle/>
          <a:p>
            <a:pPr>
              <a:lnSpc>
                <a:spcPct val="90000"/>
              </a:lnSpc>
              <a:spcAft>
                <a:spcPts val="600"/>
              </a:spcAft>
            </a:pPr>
            <a:fld id="{4D917438-FD46-48DD-9C04-0EE101A21382}" type="slidenum">
              <a:rPr lang="en-US" smtClean="0"/>
              <a:pPr>
                <a:lnSpc>
                  <a:spcPct val="90000"/>
                </a:lnSpc>
                <a:spcAft>
                  <a:spcPts val="600"/>
                </a:spcAft>
              </a:pPr>
              <a:t>23</a:t>
            </a:fld>
            <a:endParaRPr lang="en-US"/>
          </a:p>
        </p:txBody>
      </p:sp>
      <p:pic>
        <p:nvPicPr>
          <p:cNvPr id="7" name="Picture 6">
            <a:extLst>
              <a:ext uri="{FF2B5EF4-FFF2-40B4-BE49-F238E27FC236}">
                <a16:creationId xmlns:a16="http://schemas.microsoft.com/office/drawing/2014/main" id="{3D17042B-C76D-40AA-A481-786E2E874753}"/>
              </a:ext>
            </a:extLst>
          </p:cNvPr>
          <p:cNvPicPr>
            <a:picLocks noChangeAspect="1"/>
          </p:cNvPicPr>
          <p:nvPr/>
        </p:nvPicPr>
        <p:blipFill>
          <a:blip r:embed="rId2">
            <a:lum bright="-20000" contrast="40000"/>
          </a:blip>
          <a:stretch>
            <a:fillRect/>
          </a:stretch>
        </p:blipFill>
        <p:spPr>
          <a:xfrm>
            <a:off x="605632" y="455520"/>
            <a:ext cx="3624459" cy="1204468"/>
          </a:xfrm>
          <a:prstGeom prst="rect">
            <a:avLst/>
          </a:prstGeom>
        </p:spPr>
      </p:pic>
      <p:pic>
        <p:nvPicPr>
          <p:cNvPr id="5" name="Picture 4">
            <a:extLst>
              <a:ext uri="{FF2B5EF4-FFF2-40B4-BE49-F238E27FC236}">
                <a16:creationId xmlns:a16="http://schemas.microsoft.com/office/drawing/2014/main" id="{C694EFDE-5097-415A-86A9-4B52CC7D14AC}"/>
              </a:ext>
            </a:extLst>
          </p:cNvPr>
          <p:cNvPicPr>
            <a:picLocks noChangeAspect="1"/>
          </p:cNvPicPr>
          <p:nvPr/>
        </p:nvPicPr>
        <p:blipFill>
          <a:blip r:embed="rId3">
            <a:lum bright="-20000" contrast="40000"/>
          </a:blip>
          <a:stretch>
            <a:fillRect/>
          </a:stretch>
        </p:blipFill>
        <p:spPr>
          <a:xfrm>
            <a:off x="739526" y="2661926"/>
            <a:ext cx="3490565" cy="1138690"/>
          </a:xfrm>
          <a:prstGeom prst="rect">
            <a:avLst/>
          </a:prstGeom>
        </p:spPr>
      </p:pic>
      <p:pic>
        <p:nvPicPr>
          <p:cNvPr id="6" name="Picture 5">
            <a:extLst>
              <a:ext uri="{FF2B5EF4-FFF2-40B4-BE49-F238E27FC236}">
                <a16:creationId xmlns:a16="http://schemas.microsoft.com/office/drawing/2014/main" id="{DE726C03-84F9-41D2-9238-DBB4D1F95A21}"/>
              </a:ext>
            </a:extLst>
          </p:cNvPr>
          <p:cNvPicPr>
            <a:picLocks noChangeAspect="1"/>
          </p:cNvPicPr>
          <p:nvPr/>
        </p:nvPicPr>
        <p:blipFill>
          <a:blip r:embed="rId4">
            <a:lum bright="-20000" contrast="40000"/>
          </a:blip>
          <a:stretch>
            <a:fillRect/>
          </a:stretch>
        </p:blipFill>
        <p:spPr>
          <a:xfrm>
            <a:off x="739526" y="5079230"/>
            <a:ext cx="3609435" cy="1138690"/>
          </a:xfrm>
          <a:prstGeom prst="rect">
            <a:avLst/>
          </a:prstGeom>
        </p:spPr>
      </p:pic>
      <p:pic>
        <p:nvPicPr>
          <p:cNvPr id="8" name="Picture 7">
            <a:extLst>
              <a:ext uri="{FF2B5EF4-FFF2-40B4-BE49-F238E27FC236}">
                <a16:creationId xmlns:a16="http://schemas.microsoft.com/office/drawing/2014/main" id="{48F2A478-18D7-4157-A6FF-164739E7B659}"/>
              </a:ext>
            </a:extLst>
          </p:cNvPr>
          <p:cNvPicPr>
            <a:picLocks noChangeAspect="1"/>
          </p:cNvPicPr>
          <p:nvPr/>
        </p:nvPicPr>
        <p:blipFill>
          <a:blip r:embed="rId5">
            <a:lum bright="-20000" contrast="40000"/>
          </a:blip>
          <a:stretch>
            <a:fillRect/>
          </a:stretch>
        </p:blipFill>
        <p:spPr>
          <a:xfrm>
            <a:off x="7008980" y="2661925"/>
            <a:ext cx="3851278" cy="1194823"/>
          </a:xfrm>
          <a:prstGeom prst="rect">
            <a:avLst/>
          </a:prstGeom>
        </p:spPr>
      </p:pic>
      <p:pic>
        <p:nvPicPr>
          <p:cNvPr id="9" name="Picture 8">
            <a:extLst>
              <a:ext uri="{FF2B5EF4-FFF2-40B4-BE49-F238E27FC236}">
                <a16:creationId xmlns:a16="http://schemas.microsoft.com/office/drawing/2014/main" id="{65B9BA3E-3189-482B-AD34-9ED891E0B2F8}"/>
              </a:ext>
            </a:extLst>
          </p:cNvPr>
          <p:cNvPicPr>
            <a:picLocks noChangeAspect="1"/>
          </p:cNvPicPr>
          <p:nvPr/>
        </p:nvPicPr>
        <p:blipFill>
          <a:blip r:embed="rId6">
            <a:lum bright="-20000" contrast="40000"/>
          </a:blip>
          <a:stretch>
            <a:fillRect/>
          </a:stretch>
        </p:blipFill>
        <p:spPr>
          <a:xfrm>
            <a:off x="7008980" y="455520"/>
            <a:ext cx="4115702" cy="1257610"/>
          </a:xfrm>
          <a:prstGeom prst="rect">
            <a:avLst/>
          </a:prstGeom>
        </p:spPr>
      </p:pic>
      <p:pic>
        <p:nvPicPr>
          <p:cNvPr id="10" name="Picture 9">
            <a:extLst>
              <a:ext uri="{FF2B5EF4-FFF2-40B4-BE49-F238E27FC236}">
                <a16:creationId xmlns:a16="http://schemas.microsoft.com/office/drawing/2014/main" id="{157491DC-FB65-459C-87B8-D11846991B78}"/>
              </a:ext>
            </a:extLst>
          </p:cNvPr>
          <p:cNvPicPr>
            <a:picLocks noChangeAspect="1"/>
          </p:cNvPicPr>
          <p:nvPr/>
        </p:nvPicPr>
        <p:blipFill>
          <a:blip r:embed="rId7">
            <a:lum bright="-20000" contrast="40000"/>
          </a:blip>
          <a:stretch>
            <a:fillRect/>
          </a:stretch>
        </p:blipFill>
        <p:spPr>
          <a:xfrm>
            <a:off x="7008980" y="4609940"/>
            <a:ext cx="4166513" cy="1295719"/>
          </a:xfrm>
          <a:prstGeom prst="rect">
            <a:avLst/>
          </a:prstGeom>
        </p:spPr>
      </p:pic>
    </p:spTree>
    <p:extLst>
      <p:ext uri="{BB962C8B-B14F-4D97-AF65-F5344CB8AC3E}">
        <p14:creationId xmlns:p14="http://schemas.microsoft.com/office/powerpoint/2010/main" val="3379041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C9B46F-5DBC-4380-94C8-A30492879C9A}"/>
              </a:ext>
            </a:extLst>
          </p:cNvPr>
          <p:cNvSpPr>
            <a:spLocks noGrp="1"/>
          </p:cNvSpPr>
          <p:nvPr>
            <p:ph type="title"/>
          </p:nvPr>
        </p:nvSpPr>
        <p:spPr>
          <a:xfrm>
            <a:off x="640079" y="640079"/>
            <a:ext cx="3402531" cy="5272242"/>
          </a:xfrm>
        </p:spPr>
        <p:txBody>
          <a:bodyPr>
            <a:normAutofit/>
          </a:bodyPr>
          <a:lstStyle/>
          <a:p>
            <a:r>
              <a:rPr lang="en-US" dirty="0"/>
              <a:t>More on exception handling</a:t>
            </a:r>
          </a:p>
        </p:txBody>
      </p:sp>
      <p:sp>
        <p:nvSpPr>
          <p:cNvPr id="4" name="Content Placeholder 3">
            <a:extLst>
              <a:ext uri="{FF2B5EF4-FFF2-40B4-BE49-F238E27FC236}">
                <a16:creationId xmlns:a16="http://schemas.microsoft.com/office/drawing/2014/main" id="{CF02E678-B821-4842-AF63-1C3D1DFECF54}"/>
              </a:ext>
            </a:extLst>
          </p:cNvPr>
          <p:cNvSpPr>
            <a:spLocks noGrp="1"/>
          </p:cNvSpPr>
          <p:nvPr>
            <p:ph idx="1"/>
          </p:nvPr>
        </p:nvSpPr>
        <p:spPr>
          <a:xfrm>
            <a:off x="4672103" y="640079"/>
            <a:ext cx="6883072" cy="2834737"/>
          </a:xfrm>
        </p:spPr>
        <p:txBody>
          <a:bodyPr>
            <a:normAutofit/>
          </a:bodyPr>
          <a:lstStyle/>
          <a:p>
            <a:r>
              <a:rPr lang="en-US" dirty="0"/>
              <a:t>A handler for an exception is found by propagating the exception backward through a chain of method calls, starting from the current method</a:t>
            </a:r>
          </a:p>
          <a:p>
            <a:r>
              <a:rPr lang="en-US" dirty="0"/>
              <a:t>Exception-handling model in Java</a:t>
            </a:r>
          </a:p>
          <a:p>
            <a:pPr lvl="1"/>
            <a:r>
              <a:rPr lang="en-US" dirty="0">
                <a:solidFill>
                  <a:srgbClr val="00B050"/>
                </a:solidFill>
              </a:rPr>
              <a:t>Declaring an exception</a:t>
            </a:r>
          </a:p>
          <a:p>
            <a:pPr lvl="1"/>
            <a:r>
              <a:rPr lang="en-US" dirty="0">
                <a:solidFill>
                  <a:srgbClr val="00B050"/>
                </a:solidFill>
              </a:rPr>
              <a:t>Throwing an exception</a:t>
            </a:r>
          </a:p>
          <a:p>
            <a:pPr lvl="1"/>
            <a:r>
              <a:rPr lang="en-US" dirty="0">
                <a:solidFill>
                  <a:srgbClr val="00B050"/>
                </a:solidFill>
              </a:rPr>
              <a:t>Catching an exception</a:t>
            </a:r>
          </a:p>
        </p:txBody>
      </p:sp>
      <p:pic>
        <p:nvPicPr>
          <p:cNvPr id="5" name="Picture 4">
            <a:extLst>
              <a:ext uri="{FF2B5EF4-FFF2-40B4-BE49-F238E27FC236}">
                <a16:creationId xmlns:a16="http://schemas.microsoft.com/office/drawing/2014/main" id="{CBD1F122-1F7A-4831-A7FF-AFAEA9D5500A}"/>
              </a:ext>
            </a:extLst>
          </p:cNvPr>
          <p:cNvPicPr>
            <a:picLocks noChangeAspect="1"/>
          </p:cNvPicPr>
          <p:nvPr/>
        </p:nvPicPr>
        <p:blipFill>
          <a:blip r:embed="rId2">
            <a:lum bright="-20000" contrast="40000"/>
          </a:blip>
          <a:stretch>
            <a:fillRect/>
          </a:stretch>
        </p:blipFill>
        <p:spPr>
          <a:xfrm>
            <a:off x="4360985" y="3474815"/>
            <a:ext cx="7512147" cy="2437505"/>
          </a:xfrm>
          <a:prstGeom prst="rect">
            <a:avLst/>
          </a:prstGeom>
          <a:ln w="31750" cap="sq">
            <a:solidFill>
              <a:srgbClr val="FFFFFF"/>
            </a:solidFill>
            <a:miter lim="800000"/>
          </a:ln>
        </p:spPr>
      </p:pic>
      <p:sp>
        <p:nvSpPr>
          <p:cNvPr id="2" name="Slide Number Placeholder 1">
            <a:extLst>
              <a:ext uri="{FF2B5EF4-FFF2-40B4-BE49-F238E27FC236}">
                <a16:creationId xmlns:a16="http://schemas.microsoft.com/office/drawing/2014/main" id="{D4ED5426-3D7B-42E0-8AAA-368418DBF115}"/>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24</a:t>
            </a:fld>
            <a:endParaRPr lang="en-US"/>
          </a:p>
        </p:txBody>
      </p:sp>
    </p:spTree>
    <p:extLst>
      <p:ext uri="{BB962C8B-B14F-4D97-AF65-F5344CB8AC3E}">
        <p14:creationId xmlns:p14="http://schemas.microsoft.com/office/powerpoint/2010/main" val="12315599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9CB3-D168-463C-9B61-4DF4A61330B1}"/>
              </a:ext>
            </a:extLst>
          </p:cNvPr>
          <p:cNvSpPr>
            <a:spLocks noGrp="1"/>
          </p:cNvSpPr>
          <p:nvPr>
            <p:ph type="title"/>
          </p:nvPr>
        </p:nvSpPr>
        <p:spPr/>
        <p:txBody>
          <a:bodyPr/>
          <a:lstStyle/>
          <a:p>
            <a:r>
              <a:rPr lang="en-US"/>
              <a:t>Declaring exceptions</a:t>
            </a:r>
          </a:p>
        </p:txBody>
      </p:sp>
      <p:sp>
        <p:nvSpPr>
          <p:cNvPr id="3" name="Content Placeholder 2">
            <a:extLst>
              <a:ext uri="{FF2B5EF4-FFF2-40B4-BE49-F238E27FC236}">
                <a16:creationId xmlns:a16="http://schemas.microsoft.com/office/drawing/2014/main" id="{6DFCFFE5-4466-4902-97F4-0CC1EC169B11}"/>
              </a:ext>
            </a:extLst>
          </p:cNvPr>
          <p:cNvSpPr>
            <a:spLocks noGrp="1"/>
          </p:cNvSpPr>
          <p:nvPr>
            <p:ph idx="1"/>
          </p:nvPr>
        </p:nvSpPr>
        <p:spPr/>
        <p:txBody>
          <a:bodyPr/>
          <a:lstStyle/>
          <a:p>
            <a:pPr algn="just"/>
            <a:r>
              <a:rPr lang="en-US" dirty="0"/>
              <a:t>Every method must state the types of </a:t>
            </a:r>
            <a:r>
              <a:rPr lang="en-US" b="1" dirty="0"/>
              <a:t>checked</a:t>
            </a:r>
            <a:r>
              <a:rPr lang="en-US" dirty="0"/>
              <a:t> exceptions it might throw. This is known as </a:t>
            </a:r>
            <a:r>
              <a:rPr lang="en-US" dirty="0">
                <a:solidFill>
                  <a:srgbClr val="C00000"/>
                </a:solidFill>
              </a:rPr>
              <a:t>declaring exceptions</a:t>
            </a:r>
            <a:r>
              <a:rPr lang="en-US" dirty="0"/>
              <a:t>.</a:t>
            </a:r>
          </a:p>
          <a:p>
            <a:pPr algn="just"/>
            <a:r>
              <a:rPr lang="en-US" b="1" dirty="0"/>
              <a:t>Unchecked</a:t>
            </a:r>
            <a:r>
              <a:rPr lang="en-US" dirty="0"/>
              <a:t> exceptions need not be declared explicitly in the method</a:t>
            </a:r>
          </a:p>
          <a:p>
            <a:pPr algn="just"/>
            <a:r>
              <a:rPr lang="en-US" dirty="0"/>
              <a:t>Use </a:t>
            </a:r>
            <a:r>
              <a:rPr lang="en-US"/>
              <a:t>keyword </a:t>
            </a:r>
            <a:r>
              <a:rPr lang="en-US">
                <a:solidFill>
                  <a:srgbClr val="0070C0"/>
                </a:solidFill>
                <a:latin typeface="Consolas" panose="020B0609020204030204" pitchFamily="49" charset="0"/>
                <a:cs typeface="Consolas" panose="020B0609020204030204" pitchFamily="49" charset="0"/>
              </a:rPr>
              <a:t>throws</a:t>
            </a:r>
            <a:r>
              <a:rPr lang="en-US"/>
              <a:t> </a:t>
            </a:r>
            <a:r>
              <a:rPr lang="en-US" dirty="0"/>
              <a:t>in the method header</a:t>
            </a:r>
          </a:p>
        </p:txBody>
      </p:sp>
      <p:sp>
        <p:nvSpPr>
          <p:cNvPr id="4" name="Slide Number Placeholder 3">
            <a:extLst>
              <a:ext uri="{FF2B5EF4-FFF2-40B4-BE49-F238E27FC236}">
                <a16:creationId xmlns:a16="http://schemas.microsoft.com/office/drawing/2014/main" id="{A1E00783-A682-434B-869D-5D1E31A0B6E9}"/>
              </a:ext>
            </a:extLst>
          </p:cNvPr>
          <p:cNvSpPr>
            <a:spLocks noGrp="1"/>
          </p:cNvSpPr>
          <p:nvPr>
            <p:ph type="sldNum" sz="quarter" idx="12"/>
          </p:nvPr>
        </p:nvSpPr>
        <p:spPr/>
        <p:txBody>
          <a:bodyPr/>
          <a:lstStyle/>
          <a:p>
            <a:fld id="{4D917438-FD46-48DD-9C04-0EE101A21382}" type="slidenum">
              <a:rPr lang="en-US" smtClean="0"/>
              <a:t>25</a:t>
            </a:fld>
            <a:endParaRPr lang="en-US"/>
          </a:p>
        </p:txBody>
      </p:sp>
      <p:pic>
        <p:nvPicPr>
          <p:cNvPr id="5" name="Picture 4">
            <a:extLst>
              <a:ext uri="{FF2B5EF4-FFF2-40B4-BE49-F238E27FC236}">
                <a16:creationId xmlns:a16="http://schemas.microsoft.com/office/drawing/2014/main" id="{5CFF490C-D267-4122-91C8-D9FE5B6E3632}"/>
              </a:ext>
            </a:extLst>
          </p:cNvPr>
          <p:cNvPicPr>
            <a:picLocks noChangeAspect="1"/>
          </p:cNvPicPr>
          <p:nvPr/>
        </p:nvPicPr>
        <p:blipFill>
          <a:blip r:embed="rId2">
            <a:lum bright="-20000" contrast="40000"/>
          </a:blip>
          <a:stretch>
            <a:fillRect/>
          </a:stretch>
        </p:blipFill>
        <p:spPr>
          <a:xfrm>
            <a:off x="3987338" y="4198974"/>
            <a:ext cx="4217324" cy="279469"/>
          </a:xfrm>
          <a:prstGeom prst="rect">
            <a:avLst/>
          </a:prstGeom>
        </p:spPr>
      </p:pic>
      <p:pic>
        <p:nvPicPr>
          <p:cNvPr id="6" name="Picture 5">
            <a:extLst>
              <a:ext uri="{FF2B5EF4-FFF2-40B4-BE49-F238E27FC236}">
                <a16:creationId xmlns:a16="http://schemas.microsoft.com/office/drawing/2014/main" id="{9DAC04AB-DE82-4400-965B-294F902D3A46}"/>
              </a:ext>
            </a:extLst>
          </p:cNvPr>
          <p:cNvPicPr>
            <a:picLocks noChangeAspect="1"/>
          </p:cNvPicPr>
          <p:nvPr/>
        </p:nvPicPr>
        <p:blipFill>
          <a:blip r:embed="rId3">
            <a:lum bright="-20000" contrast="40000"/>
          </a:blip>
          <a:stretch>
            <a:fillRect/>
          </a:stretch>
        </p:blipFill>
        <p:spPr>
          <a:xfrm>
            <a:off x="3802670" y="4651921"/>
            <a:ext cx="5030302" cy="457313"/>
          </a:xfrm>
          <a:prstGeom prst="rect">
            <a:avLst/>
          </a:prstGeom>
        </p:spPr>
      </p:pic>
    </p:spTree>
    <p:extLst>
      <p:ext uri="{BB962C8B-B14F-4D97-AF65-F5344CB8AC3E}">
        <p14:creationId xmlns:p14="http://schemas.microsoft.com/office/powerpoint/2010/main" val="3157985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BBDC-D5C7-4C28-8233-B48A1DEA2D90}"/>
              </a:ext>
            </a:extLst>
          </p:cNvPr>
          <p:cNvSpPr>
            <a:spLocks noGrp="1"/>
          </p:cNvSpPr>
          <p:nvPr>
            <p:ph type="title"/>
          </p:nvPr>
        </p:nvSpPr>
        <p:spPr/>
        <p:txBody>
          <a:bodyPr/>
          <a:lstStyle/>
          <a:p>
            <a:r>
              <a:rPr lang="en-US" dirty="0"/>
              <a:t>Throwing exceptions</a:t>
            </a:r>
          </a:p>
        </p:txBody>
      </p:sp>
      <p:sp>
        <p:nvSpPr>
          <p:cNvPr id="3" name="Content Placeholder 2">
            <a:extLst>
              <a:ext uri="{FF2B5EF4-FFF2-40B4-BE49-F238E27FC236}">
                <a16:creationId xmlns:a16="http://schemas.microsoft.com/office/drawing/2014/main" id="{0D1A7D02-F4E1-4FB7-AC1B-7ED283800BD5}"/>
              </a:ext>
            </a:extLst>
          </p:cNvPr>
          <p:cNvSpPr>
            <a:spLocks noGrp="1"/>
          </p:cNvSpPr>
          <p:nvPr>
            <p:ph idx="1"/>
          </p:nvPr>
        </p:nvSpPr>
        <p:spPr/>
        <p:txBody>
          <a:bodyPr/>
          <a:lstStyle/>
          <a:p>
            <a:pPr algn="just"/>
            <a:r>
              <a:rPr lang="en-US" dirty="0"/>
              <a:t>A program that detects an error can create an instance/object of an appropriate exception type and throw it – </a:t>
            </a:r>
            <a:r>
              <a:rPr lang="en-US" dirty="0">
                <a:solidFill>
                  <a:srgbClr val="C00000"/>
                </a:solidFill>
              </a:rPr>
              <a:t>throwing exception</a:t>
            </a:r>
          </a:p>
        </p:txBody>
      </p:sp>
      <p:sp>
        <p:nvSpPr>
          <p:cNvPr id="4" name="Slide Number Placeholder 3">
            <a:extLst>
              <a:ext uri="{FF2B5EF4-FFF2-40B4-BE49-F238E27FC236}">
                <a16:creationId xmlns:a16="http://schemas.microsoft.com/office/drawing/2014/main" id="{7BAA872E-EA06-4F39-8A25-76ABFAC0452E}"/>
              </a:ext>
            </a:extLst>
          </p:cNvPr>
          <p:cNvSpPr>
            <a:spLocks noGrp="1"/>
          </p:cNvSpPr>
          <p:nvPr>
            <p:ph type="sldNum" sz="quarter" idx="12"/>
          </p:nvPr>
        </p:nvSpPr>
        <p:spPr/>
        <p:txBody>
          <a:bodyPr/>
          <a:lstStyle/>
          <a:p>
            <a:fld id="{4D917438-FD46-48DD-9C04-0EE101A21382}" type="slidenum">
              <a:rPr lang="en-US" smtClean="0"/>
              <a:t>26</a:t>
            </a:fld>
            <a:endParaRPr lang="en-US"/>
          </a:p>
        </p:txBody>
      </p:sp>
      <p:pic>
        <p:nvPicPr>
          <p:cNvPr id="5" name="Picture 4">
            <a:extLst>
              <a:ext uri="{FF2B5EF4-FFF2-40B4-BE49-F238E27FC236}">
                <a16:creationId xmlns:a16="http://schemas.microsoft.com/office/drawing/2014/main" id="{FF96A633-3F57-440B-886D-D146AFC496DF}"/>
              </a:ext>
            </a:extLst>
          </p:cNvPr>
          <p:cNvPicPr>
            <a:picLocks noChangeAspect="1"/>
          </p:cNvPicPr>
          <p:nvPr/>
        </p:nvPicPr>
        <p:blipFill>
          <a:blip r:embed="rId2">
            <a:lum bright="-20000" contrast="40000"/>
          </a:blip>
          <a:stretch>
            <a:fillRect/>
          </a:stretch>
        </p:blipFill>
        <p:spPr>
          <a:xfrm>
            <a:off x="3598496" y="3503066"/>
            <a:ext cx="5233547" cy="685969"/>
          </a:xfrm>
          <a:prstGeom prst="rect">
            <a:avLst/>
          </a:prstGeom>
        </p:spPr>
      </p:pic>
      <p:pic>
        <p:nvPicPr>
          <p:cNvPr id="6" name="Picture 5">
            <a:extLst>
              <a:ext uri="{FF2B5EF4-FFF2-40B4-BE49-F238E27FC236}">
                <a16:creationId xmlns:a16="http://schemas.microsoft.com/office/drawing/2014/main" id="{0012A5D2-7053-4C48-B966-C1EF36737475}"/>
              </a:ext>
            </a:extLst>
          </p:cNvPr>
          <p:cNvPicPr>
            <a:picLocks noChangeAspect="1"/>
          </p:cNvPicPr>
          <p:nvPr/>
        </p:nvPicPr>
        <p:blipFill>
          <a:blip r:embed="rId3">
            <a:lum bright="-20000" contrast="40000"/>
          </a:blip>
          <a:stretch>
            <a:fillRect/>
          </a:stretch>
        </p:blipFill>
        <p:spPr>
          <a:xfrm>
            <a:off x="3496873" y="4344234"/>
            <a:ext cx="5436791" cy="352016"/>
          </a:xfrm>
          <a:prstGeom prst="rect">
            <a:avLst/>
          </a:prstGeom>
        </p:spPr>
      </p:pic>
      <p:sp>
        <p:nvSpPr>
          <p:cNvPr id="7" name="TextBox 6">
            <a:extLst>
              <a:ext uri="{FF2B5EF4-FFF2-40B4-BE49-F238E27FC236}">
                <a16:creationId xmlns:a16="http://schemas.microsoft.com/office/drawing/2014/main" id="{61D7C2BD-EFF8-42CE-B00E-60F8D322E2B2}"/>
              </a:ext>
            </a:extLst>
          </p:cNvPr>
          <p:cNvSpPr txBox="1"/>
          <p:nvPr/>
        </p:nvSpPr>
        <p:spPr>
          <a:xfrm>
            <a:off x="3087760" y="5054057"/>
            <a:ext cx="6357831" cy="1200329"/>
          </a:xfrm>
          <a:prstGeom prst="rect">
            <a:avLst/>
          </a:prstGeom>
          <a:noFill/>
        </p:spPr>
        <p:txBody>
          <a:bodyPr wrap="none" rtlCol="0">
            <a:spAutoFit/>
          </a:bodyPr>
          <a:lstStyle/>
          <a:p>
            <a:pPr marL="285750" indent="-285750">
              <a:buFont typeface="Arial" panose="020B0604020202020204" pitchFamily="34" charset="0"/>
              <a:buChar char="•"/>
            </a:pPr>
            <a:r>
              <a:rPr lang="en-US" dirty="0">
                <a:solidFill>
                  <a:srgbClr val="00B050"/>
                </a:solidFill>
              </a:rPr>
              <a:t>Each exception class has at least 2 constructors:</a:t>
            </a:r>
          </a:p>
          <a:p>
            <a:pPr marL="285750" indent="-285750">
              <a:buFont typeface="Arial" panose="020B0604020202020204" pitchFamily="34" charset="0"/>
              <a:buChar char="•"/>
            </a:pPr>
            <a:r>
              <a:rPr lang="en-US" dirty="0">
                <a:solidFill>
                  <a:srgbClr val="00B050"/>
                </a:solidFill>
              </a:rPr>
              <a:t>A non-argument constructor</a:t>
            </a:r>
          </a:p>
          <a:p>
            <a:pPr marL="285750" indent="-285750">
              <a:buFont typeface="Arial" panose="020B0604020202020204" pitchFamily="34" charset="0"/>
              <a:buChar char="•"/>
            </a:pPr>
            <a:r>
              <a:rPr lang="en-US" dirty="0">
                <a:solidFill>
                  <a:srgbClr val="00B050"/>
                </a:solidFill>
              </a:rPr>
              <a:t>An argument constructor</a:t>
            </a:r>
          </a:p>
          <a:p>
            <a:pPr marL="742950" lvl="1" indent="-285750">
              <a:buFont typeface="Arial" panose="020B0604020202020204" pitchFamily="34" charset="0"/>
              <a:buChar char="•"/>
            </a:pPr>
            <a:r>
              <a:rPr lang="en-US" dirty="0">
                <a:solidFill>
                  <a:srgbClr val="00B050"/>
                </a:solidFill>
              </a:rPr>
              <a:t>Exception message can be obtained using </a:t>
            </a:r>
            <a:r>
              <a:rPr lang="en-US" dirty="0" err="1">
                <a:solidFill>
                  <a:srgbClr val="0070C0"/>
                </a:solidFill>
                <a:latin typeface="Consolas" panose="020B0609020204030204" pitchFamily="49" charset="0"/>
                <a:cs typeface="Consolas" panose="020B0609020204030204" pitchFamily="49" charset="0"/>
              </a:rPr>
              <a:t>getMessage</a:t>
            </a:r>
            <a:r>
              <a:rPr lang="en-US" dirty="0">
                <a:solidFill>
                  <a:srgbClr val="0070C0"/>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28237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15F0A-C0D9-42FD-B955-1C5451F29CA0}"/>
              </a:ext>
            </a:extLst>
          </p:cNvPr>
          <p:cNvSpPr>
            <a:spLocks noGrp="1"/>
          </p:cNvSpPr>
          <p:nvPr>
            <p:ph type="title"/>
          </p:nvPr>
        </p:nvSpPr>
        <p:spPr/>
        <p:txBody>
          <a:bodyPr/>
          <a:lstStyle/>
          <a:p>
            <a:r>
              <a:rPr lang="en-US" dirty="0"/>
              <a:t>Catch/declare checked exceptions</a:t>
            </a:r>
          </a:p>
        </p:txBody>
      </p:sp>
      <p:sp>
        <p:nvSpPr>
          <p:cNvPr id="4" name="Slide Number Placeholder 3">
            <a:extLst>
              <a:ext uri="{FF2B5EF4-FFF2-40B4-BE49-F238E27FC236}">
                <a16:creationId xmlns:a16="http://schemas.microsoft.com/office/drawing/2014/main" id="{D35B84D9-0CFC-437B-9621-BA910D167190}"/>
              </a:ext>
            </a:extLst>
          </p:cNvPr>
          <p:cNvSpPr>
            <a:spLocks noGrp="1"/>
          </p:cNvSpPr>
          <p:nvPr>
            <p:ph type="sldNum" sz="quarter" idx="12"/>
          </p:nvPr>
        </p:nvSpPr>
        <p:spPr/>
        <p:txBody>
          <a:bodyPr/>
          <a:lstStyle/>
          <a:p>
            <a:fld id="{4D917438-FD46-48DD-9C04-0EE101A21382}" type="slidenum">
              <a:rPr lang="en-US" smtClean="0"/>
              <a:t>27</a:t>
            </a:fld>
            <a:endParaRPr lang="en-US"/>
          </a:p>
        </p:txBody>
      </p:sp>
      <p:pic>
        <p:nvPicPr>
          <p:cNvPr id="5" name="Picture 4">
            <a:extLst>
              <a:ext uri="{FF2B5EF4-FFF2-40B4-BE49-F238E27FC236}">
                <a16:creationId xmlns:a16="http://schemas.microsoft.com/office/drawing/2014/main" id="{CE11BA2A-61DF-47F7-A9EF-A3B0B076B5FD}"/>
              </a:ext>
            </a:extLst>
          </p:cNvPr>
          <p:cNvPicPr>
            <a:picLocks noChangeAspect="1"/>
          </p:cNvPicPr>
          <p:nvPr/>
        </p:nvPicPr>
        <p:blipFill>
          <a:blip r:embed="rId2">
            <a:lum bright="-20000" contrast="40000"/>
          </a:blip>
          <a:stretch>
            <a:fillRect/>
          </a:stretch>
        </p:blipFill>
        <p:spPr>
          <a:xfrm>
            <a:off x="2951204" y="2361937"/>
            <a:ext cx="6554636" cy="2134125"/>
          </a:xfrm>
          <a:prstGeom prst="rect">
            <a:avLst/>
          </a:prstGeom>
        </p:spPr>
      </p:pic>
      <p:pic>
        <p:nvPicPr>
          <p:cNvPr id="6" name="Picture 5">
            <a:extLst>
              <a:ext uri="{FF2B5EF4-FFF2-40B4-BE49-F238E27FC236}">
                <a16:creationId xmlns:a16="http://schemas.microsoft.com/office/drawing/2014/main" id="{FF0ECBD6-9A5A-488C-A561-2BD234DE452D}"/>
              </a:ext>
            </a:extLst>
          </p:cNvPr>
          <p:cNvPicPr>
            <a:picLocks noChangeAspect="1"/>
          </p:cNvPicPr>
          <p:nvPr/>
        </p:nvPicPr>
        <p:blipFill>
          <a:blip r:embed="rId3">
            <a:lum bright="-20000" contrast="40000"/>
          </a:blip>
          <a:stretch>
            <a:fillRect/>
          </a:stretch>
        </p:blipFill>
        <p:spPr>
          <a:xfrm>
            <a:off x="3332287" y="5131120"/>
            <a:ext cx="5792469" cy="762188"/>
          </a:xfrm>
          <a:prstGeom prst="rect">
            <a:avLst/>
          </a:prstGeom>
        </p:spPr>
      </p:pic>
    </p:spTree>
    <p:extLst>
      <p:ext uri="{BB962C8B-B14F-4D97-AF65-F5344CB8AC3E}">
        <p14:creationId xmlns:p14="http://schemas.microsoft.com/office/powerpoint/2010/main" val="693001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11E54-5BE7-B7AB-F9B9-C9408C0DEC8B}"/>
              </a:ext>
            </a:extLst>
          </p:cNvPr>
          <p:cNvSpPr>
            <a:spLocks noGrp="1"/>
          </p:cNvSpPr>
          <p:nvPr>
            <p:ph type="title"/>
          </p:nvPr>
        </p:nvSpPr>
        <p:spPr>
          <a:xfrm>
            <a:off x="804672" y="964692"/>
            <a:ext cx="4476806" cy="1188720"/>
          </a:xfrm>
        </p:spPr>
        <p:txBody>
          <a:bodyPr>
            <a:normAutofit/>
          </a:bodyPr>
          <a:lstStyle/>
          <a:p>
            <a:r>
              <a:rPr lang="en-US" b="0" i="0">
                <a:effectLst/>
                <a:latin typeface="erdana"/>
              </a:rPr>
              <a:t>Java Multi-catch block</a:t>
            </a:r>
            <a:endParaRPr lang="en-US" dirty="0"/>
          </a:p>
        </p:txBody>
      </p:sp>
      <p:sp>
        <p:nvSpPr>
          <p:cNvPr id="3" name="Content Placeholder 2">
            <a:extLst>
              <a:ext uri="{FF2B5EF4-FFF2-40B4-BE49-F238E27FC236}">
                <a16:creationId xmlns:a16="http://schemas.microsoft.com/office/drawing/2014/main" id="{742F283D-F98F-3569-CA07-5304DB6EC22A}"/>
              </a:ext>
            </a:extLst>
          </p:cNvPr>
          <p:cNvSpPr>
            <a:spLocks noGrp="1"/>
          </p:cNvSpPr>
          <p:nvPr>
            <p:ph idx="1"/>
          </p:nvPr>
        </p:nvSpPr>
        <p:spPr>
          <a:xfrm>
            <a:off x="803244" y="2638044"/>
            <a:ext cx="4492932" cy="3263206"/>
          </a:xfrm>
        </p:spPr>
        <p:txBody>
          <a:bodyPr>
            <a:normAutofit/>
          </a:bodyPr>
          <a:lstStyle/>
          <a:p>
            <a:r>
              <a:rPr lang="en-US"/>
              <a:t>A try block can be followed by one or more catch blocks</a:t>
            </a:r>
          </a:p>
          <a:p>
            <a:r>
              <a:rPr lang="en-US"/>
              <a:t>At a time only one exception occurs and at a time only one catch block is executed</a:t>
            </a:r>
          </a:p>
          <a:p>
            <a:r>
              <a:rPr lang="en-US"/>
              <a:t>All catch blocks must be ordered from most specific to most general, i.e. catch for ArithmeticException must come before catch for Exception.</a:t>
            </a:r>
          </a:p>
          <a:p>
            <a:endParaRPr lang="en-US" dirty="0"/>
          </a:p>
        </p:txBody>
      </p:sp>
      <p:pic>
        <p:nvPicPr>
          <p:cNvPr id="2050" name="Picture 2" descr="Java Catch Multiple Exceptions">
            <a:extLst>
              <a:ext uri="{FF2B5EF4-FFF2-40B4-BE49-F238E27FC236}">
                <a16:creationId xmlns:a16="http://schemas.microsoft.com/office/drawing/2014/main" id="{EECE3599-247D-EE41-1FC9-2A9017CC1E1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72789" y="1866764"/>
            <a:ext cx="4782312" cy="3132414"/>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83F16625-156F-B4B6-7FC1-7C93C453565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28</a:t>
            </a:fld>
            <a:endParaRPr lang="en-US"/>
          </a:p>
        </p:txBody>
      </p:sp>
    </p:spTree>
    <p:extLst>
      <p:ext uri="{BB962C8B-B14F-4D97-AF65-F5344CB8AC3E}">
        <p14:creationId xmlns:p14="http://schemas.microsoft.com/office/powerpoint/2010/main" val="141243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7B6EFCE-C369-EF0E-8B40-524E9D9A4146}"/>
              </a:ext>
            </a:extLst>
          </p:cNvPr>
          <p:cNvSpPr>
            <a:spLocks noGrp="1"/>
          </p:cNvSpPr>
          <p:nvPr>
            <p:ph type="title"/>
          </p:nvPr>
        </p:nvSpPr>
        <p:spPr>
          <a:xfrm>
            <a:off x="1" y="0"/>
            <a:ext cx="3645568" cy="6857999"/>
          </a:xfrm>
          <a:solidFill>
            <a:schemeClr val="tx1"/>
          </a:solidFill>
        </p:spPr>
        <p:txBody>
          <a:bodyPr/>
          <a:lstStyle/>
          <a:p>
            <a:r>
              <a:rPr lang="en-US" dirty="0">
                <a:solidFill>
                  <a:schemeClr val="bg1"/>
                </a:solidFill>
              </a:rPr>
              <a:t>Example</a:t>
            </a:r>
          </a:p>
        </p:txBody>
      </p:sp>
      <p:sp>
        <p:nvSpPr>
          <p:cNvPr id="4" name="Slide Number Placeholder 3">
            <a:extLst>
              <a:ext uri="{FF2B5EF4-FFF2-40B4-BE49-F238E27FC236}">
                <a16:creationId xmlns:a16="http://schemas.microsoft.com/office/drawing/2014/main" id="{3BD7535A-07D5-F867-31C2-2FE19D1C8DCD}"/>
              </a:ext>
            </a:extLst>
          </p:cNvPr>
          <p:cNvSpPr>
            <a:spLocks noGrp="1"/>
          </p:cNvSpPr>
          <p:nvPr>
            <p:ph type="sldNum" sz="quarter" idx="12"/>
          </p:nvPr>
        </p:nvSpPr>
        <p:spPr/>
        <p:txBody>
          <a:bodyPr/>
          <a:lstStyle/>
          <a:p>
            <a:fld id="{4D917438-FD46-48DD-9C04-0EE101A21382}" type="slidenum">
              <a:rPr lang="en-US" smtClean="0"/>
              <a:t>29</a:t>
            </a:fld>
            <a:endParaRPr lang="en-US"/>
          </a:p>
        </p:txBody>
      </p:sp>
      <p:sp>
        <p:nvSpPr>
          <p:cNvPr id="8" name="TextBox 7">
            <a:extLst>
              <a:ext uri="{FF2B5EF4-FFF2-40B4-BE49-F238E27FC236}">
                <a16:creationId xmlns:a16="http://schemas.microsoft.com/office/drawing/2014/main" id="{5D3285F8-A90D-7DB3-517F-E0C7EF7B5F09}"/>
              </a:ext>
            </a:extLst>
          </p:cNvPr>
          <p:cNvSpPr txBox="1"/>
          <p:nvPr/>
        </p:nvSpPr>
        <p:spPr>
          <a:xfrm>
            <a:off x="4754822" y="120372"/>
            <a:ext cx="8022715" cy="6463308"/>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MultipleCatchBlock1 {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try</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a[]=</a:t>
            </a:r>
            <a:r>
              <a:rPr lang="en-US" b="1" i="0" dirty="0">
                <a:solidFill>
                  <a:srgbClr val="006699"/>
                </a:solidFill>
                <a:effectLst/>
                <a:latin typeface="inter-regular"/>
              </a:rPr>
              <a:t>new</a:t>
            </a:r>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a:t>
            </a:r>
            <a:r>
              <a:rPr lang="en-US" b="0" i="0" dirty="0">
                <a:solidFill>
                  <a:srgbClr val="C00000"/>
                </a:solidFill>
                <a:effectLst/>
                <a:latin typeface="inter-regular"/>
              </a:rPr>
              <a:t>5</a:t>
            </a:r>
            <a:r>
              <a:rPr lang="en-US" b="0" i="0" dirty="0">
                <a:solidFill>
                  <a:srgbClr val="000000"/>
                </a:solidFill>
                <a:effectLst/>
                <a:latin typeface="inter-regular"/>
              </a:rPr>
              <a:t>];    </a:t>
            </a:r>
          </a:p>
          <a:p>
            <a:pPr algn="just"/>
            <a:r>
              <a:rPr lang="en-US" b="0" i="0" dirty="0">
                <a:solidFill>
                  <a:srgbClr val="000000"/>
                </a:solidFill>
                <a:effectLst/>
                <a:latin typeface="inter-regular"/>
              </a:rPr>
              <a:t>                a[</a:t>
            </a:r>
            <a:r>
              <a:rPr lang="en-US" b="0" i="0" dirty="0">
                <a:solidFill>
                  <a:srgbClr val="C00000"/>
                </a:solidFill>
                <a:effectLst/>
                <a:latin typeface="inter-regular"/>
              </a:rPr>
              <a:t>5</a:t>
            </a:r>
            <a:r>
              <a:rPr lang="en-US" b="0" i="0" dirty="0">
                <a:solidFill>
                  <a:srgbClr val="000000"/>
                </a:solidFill>
                <a:effectLst/>
                <a:latin typeface="inter-regular"/>
              </a:rPr>
              <a:t>]=</a:t>
            </a:r>
            <a:r>
              <a:rPr lang="en-US" b="0" i="0" dirty="0">
                <a:solidFill>
                  <a:srgbClr val="C00000"/>
                </a:solidFill>
                <a:effectLst/>
                <a:latin typeface="inter-regular"/>
              </a:rPr>
              <a:t>30</a:t>
            </a:r>
            <a:r>
              <a:rPr lang="en-US" b="0" i="0" dirty="0">
                <a:solidFill>
                  <a:srgbClr val="000000"/>
                </a:solidFill>
                <a:effectLst/>
                <a:latin typeface="inter-regular"/>
              </a:rPr>
              <a:t>/</a:t>
            </a:r>
            <a:r>
              <a:rPr lang="en-US" b="0" i="0" dirty="0">
                <a:solidFill>
                  <a:srgbClr val="C00000"/>
                </a:solidFill>
                <a:effectLst/>
                <a:latin typeface="inter-regular"/>
              </a:rPr>
              <a:t>0</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ArithmeticException</a:t>
            </a:r>
            <a:r>
              <a:rPr lang="en-US" b="0" i="0" dirty="0">
                <a:solidFill>
                  <a:srgbClr val="000000"/>
                </a:solidFill>
                <a:effectLst/>
                <a:latin typeface="inter-regular"/>
              </a:rPr>
              <a:t>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"Arithmetic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a:t>
            </a:r>
            <a:r>
              <a:rPr lang="en-US" b="0" i="0" dirty="0" err="1">
                <a:solidFill>
                  <a:srgbClr val="000000"/>
                </a:solidFill>
                <a:effectLst/>
                <a:latin typeface="inter-regular"/>
              </a:rPr>
              <a:t>ArrayIndexOutOfBoundsException</a:t>
            </a:r>
            <a:r>
              <a:rPr lang="en-US" b="0" i="0" dirty="0">
                <a:solidFill>
                  <a:srgbClr val="000000"/>
                </a:solidFill>
                <a:effectLst/>
                <a:latin typeface="inter-regular"/>
              </a:rPr>
              <a:t>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a:t>
            </a:r>
            <a:r>
              <a:rPr lang="en-US" b="0" i="0" dirty="0" err="1">
                <a:solidFill>
                  <a:srgbClr val="0000FF"/>
                </a:solidFill>
                <a:effectLst/>
                <a:latin typeface="inter-regular"/>
              </a:rPr>
              <a:t>ArrayIndexOutOfBounds</a:t>
            </a:r>
            <a:r>
              <a:rPr lang="en-US" b="0" i="0" dirty="0">
                <a:solidFill>
                  <a:srgbClr val="0000FF"/>
                </a:solidFill>
                <a:effectLst/>
                <a:latin typeface="inter-regular"/>
              </a:rPr>
              <a:t>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catch</a:t>
            </a:r>
            <a:r>
              <a:rPr lang="en-US" b="0" i="0" dirty="0">
                <a:solidFill>
                  <a:srgbClr val="000000"/>
                </a:solidFill>
                <a:effectLst/>
                <a:latin typeface="inter-regular"/>
              </a:rPr>
              <a:t>(Exception e)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"Parent Exception occurs"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"rest of the code"</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spTree>
    <p:extLst>
      <p:ext uri="{BB962C8B-B14F-4D97-AF65-F5344CB8AC3E}">
        <p14:creationId xmlns:p14="http://schemas.microsoft.com/office/powerpoint/2010/main" val="322655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15370-BE0B-4C88-8F6B-E06900466233}"/>
              </a:ext>
            </a:extLst>
          </p:cNvPr>
          <p:cNvSpPr>
            <a:spLocks noGrp="1"/>
          </p:cNvSpPr>
          <p:nvPr>
            <p:ph type="title"/>
          </p:nvPr>
        </p:nvSpPr>
        <p:spPr/>
        <p:txBody>
          <a:bodyPr/>
          <a:lstStyle/>
          <a:p>
            <a:r>
              <a:rPr lang="en-US" dirty="0"/>
              <a:t>Order of exceptions</a:t>
            </a:r>
          </a:p>
        </p:txBody>
      </p:sp>
      <p:sp>
        <p:nvSpPr>
          <p:cNvPr id="4" name="Content Placeholder 3">
            <a:extLst>
              <a:ext uri="{FF2B5EF4-FFF2-40B4-BE49-F238E27FC236}">
                <a16:creationId xmlns:a16="http://schemas.microsoft.com/office/drawing/2014/main" id="{F550C631-F486-4CA7-A699-360B64EAD605}"/>
              </a:ext>
            </a:extLst>
          </p:cNvPr>
          <p:cNvSpPr>
            <a:spLocks noGrp="1"/>
          </p:cNvSpPr>
          <p:nvPr>
            <p:ph idx="1"/>
          </p:nvPr>
        </p:nvSpPr>
        <p:spPr/>
        <p:txBody>
          <a:bodyPr/>
          <a:lstStyle/>
          <a:p>
            <a:r>
              <a:rPr lang="en-US" dirty="0"/>
              <a:t>The order in which exceptions are specified in </a:t>
            </a:r>
            <a:r>
              <a:rPr lang="en-US" dirty="0">
                <a:solidFill>
                  <a:srgbClr val="0070C0"/>
                </a:solidFill>
                <a:latin typeface="Consolas" panose="020B0609020204030204" pitchFamily="49" charset="0"/>
                <a:cs typeface="Consolas" panose="020B0609020204030204" pitchFamily="49" charset="0"/>
              </a:rPr>
              <a:t>catch</a:t>
            </a:r>
            <a:r>
              <a:rPr lang="en-US" dirty="0"/>
              <a:t> blocks is important.</a:t>
            </a:r>
          </a:p>
          <a:p>
            <a:r>
              <a:rPr lang="en-US" b="1" dirty="0"/>
              <a:t>A compile error</a:t>
            </a:r>
            <a:r>
              <a:rPr lang="en-US" dirty="0"/>
              <a:t>: if a </a:t>
            </a:r>
            <a:r>
              <a:rPr lang="en-US" dirty="0">
                <a:solidFill>
                  <a:srgbClr val="0070C0"/>
                </a:solidFill>
                <a:latin typeface="Consolas" panose="020B0609020204030204" pitchFamily="49" charset="0"/>
                <a:cs typeface="Consolas" panose="020B0609020204030204" pitchFamily="49" charset="0"/>
              </a:rPr>
              <a:t>catch</a:t>
            </a:r>
            <a:r>
              <a:rPr lang="en-US" dirty="0"/>
              <a:t> block for a superclass type appears before a </a:t>
            </a:r>
            <a:r>
              <a:rPr lang="en-US" dirty="0">
                <a:solidFill>
                  <a:srgbClr val="0070C0"/>
                </a:solidFill>
                <a:latin typeface="Consolas" panose="020B0609020204030204" pitchFamily="49" charset="0"/>
                <a:cs typeface="Consolas" panose="020B0609020204030204" pitchFamily="49" charset="0"/>
              </a:rPr>
              <a:t>catch</a:t>
            </a:r>
            <a:r>
              <a:rPr lang="en-US" dirty="0"/>
              <a:t> block for a subclass type</a:t>
            </a:r>
          </a:p>
        </p:txBody>
      </p:sp>
      <p:sp>
        <p:nvSpPr>
          <p:cNvPr id="2" name="Slide Number Placeholder 1">
            <a:extLst>
              <a:ext uri="{FF2B5EF4-FFF2-40B4-BE49-F238E27FC236}">
                <a16:creationId xmlns:a16="http://schemas.microsoft.com/office/drawing/2014/main" id="{90D13622-4476-41C8-9D94-2B45B0AC521C}"/>
              </a:ext>
            </a:extLst>
          </p:cNvPr>
          <p:cNvSpPr>
            <a:spLocks noGrp="1"/>
          </p:cNvSpPr>
          <p:nvPr>
            <p:ph type="sldNum" sz="quarter" idx="12"/>
          </p:nvPr>
        </p:nvSpPr>
        <p:spPr/>
        <p:txBody>
          <a:bodyPr/>
          <a:lstStyle/>
          <a:p>
            <a:fld id="{4D917438-FD46-48DD-9C04-0EE101A21382}" type="slidenum">
              <a:rPr lang="en-US" smtClean="0"/>
              <a:t>30</a:t>
            </a:fld>
            <a:endParaRPr lang="en-US"/>
          </a:p>
        </p:txBody>
      </p:sp>
      <p:pic>
        <p:nvPicPr>
          <p:cNvPr id="5" name="Picture 4">
            <a:extLst>
              <a:ext uri="{FF2B5EF4-FFF2-40B4-BE49-F238E27FC236}">
                <a16:creationId xmlns:a16="http://schemas.microsoft.com/office/drawing/2014/main" id="{078B3068-55B4-4EC1-9E63-34781D51DD61}"/>
              </a:ext>
            </a:extLst>
          </p:cNvPr>
          <p:cNvPicPr>
            <a:picLocks noChangeAspect="1"/>
          </p:cNvPicPr>
          <p:nvPr/>
        </p:nvPicPr>
        <p:blipFill>
          <a:blip r:embed="rId2">
            <a:lum bright="-20000" contrast="40000"/>
          </a:blip>
          <a:stretch>
            <a:fillRect/>
          </a:stretch>
        </p:blipFill>
        <p:spPr>
          <a:xfrm>
            <a:off x="2998831" y="4065127"/>
            <a:ext cx="6503825" cy="2159532"/>
          </a:xfrm>
          <a:prstGeom prst="rect">
            <a:avLst/>
          </a:prstGeom>
        </p:spPr>
      </p:pic>
    </p:spTree>
    <p:extLst>
      <p:ext uri="{BB962C8B-B14F-4D97-AF65-F5344CB8AC3E}">
        <p14:creationId xmlns:p14="http://schemas.microsoft.com/office/powerpoint/2010/main" val="21020906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966A4D4-049A-4389-B407-0E7091A0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B03F00-E7BA-4133-BBAF-AA16FFE630E9}"/>
              </a:ext>
            </a:extLst>
          </p:cNvPr>
          <p:cNvSpPr>
            <a:spLocks noGrp="1"/>
          </p:cNvSpPr>
          <p:nvPr>
            <p:ph type="title"/>
          </p:nvPr>
        </p:nvSpPr>
        <p:spPr>
          <a:xfrm>
            <a:off x="804672" y="1290025"/>
            <a:ext cx="4475892" cy="1188720"/>
          </a:xfrm>
          <a:solidFill>
            <a:srgbClr val="FFFFFF"/>
          </a:solidFill>
          <a:ln>
            <a:solidFill>
              <a:srgbClr val="404040"/>
            </a:solidFill>
          </a:ln>
        </p:spPr>
        <p:txBody>
          <a:bodyPr>
            <a:normAutofit/>
          </a:bodyPr>
          <a:lstStyle/>
          <a:p>
            <a:r>
              <a:rPr lang="en-US" dirty="0"/>
              <a:t>Catching exceptions</a:t>
            </a:r>
          </a:p>
        </p:txBody>
      </p:sp>
      <p:sp>
        <p:nvSpPr>
          <p:cNvPr id="3" name="Content Placeholder 2">
            <a:extLst>
              <a:ext uri="{FF2B5EF4-FFF2-40B4-BE49-F238E27FC236}">
                <a16:creationId xmlns:a16="http://schemas.microsoft.com/office/drawing/2014/main" id="{9FDB5572-6703-47D4-BFB0-4EC8FA6CDBD9}"/>
              </a:ext>
            </a:extLst>
          </p:cNvPr>
          <p:cNvSpPr>
            <a:spLocks noGrp="1"/>
          </p:cNvSpPr>
          <p:nvPr>
            <p:ph idx="1"/>
          </p:nvPr>
        </p:nvSpPr>
        <p:spPr>
          <a:xfrm>
            <a:off x="804672" y="2858703"/>
            <a:ext cx="4475892" cy="3042547"/>
          </a:xfrm>
        </p:spPr>
        <p:txBody>
          <a:bodyPr>
            <a:normAutofit/>
          </a:bodyPr>
          <a:lstStyle/>
          <a:p>
            <a:pPr algn="just"/>
            <a:r>
              <a:rPr lang="en-US" dirty="0">
                <a:solidFill>
                  <a:srgbClr val="FFFFFF"/>
                </a:solidFill>
              </a:rPr>
              <a:t>An exception can be caught and handled in a </a:t>
            </a:r>
            <a:r>
              <a:rPr lang="en-US" dirty="0">
                <a:solidFill>
                  <a:srgbClr val="0070C0"/>
                </a:solidFill>
                <a:latin typeface="Consolas" panose="020B0609020204030204" pitchFamily="49" charset="0"/>
                <a:cs typeface="Consolas" panose="020B0609020204030204" pitchFamily="49" charset="0"/>
              </a:rPr>
              <a:t>try-catch</a:t>
            </a:r>
            <a:r>
              <a:rPr lang="en-US" dirty="0">
                <a:solidFill>
                  <a:srgbClr val="FFFFFF"/>
                </a:solidFill>
              </a:rPr>
              <a:t> block</a:t>
            </a:r>
          </a:p>
          <a:p>
            <a:pPr algn="just"/>
            <a:r>
              <a:rPr lang="en-US" dirty="0">
                <a:solidFill>
                  <a:srgbClr val="FFFFFF"/>
                </a:solidFill>
              </a:rPr>
              <a:t>In case no exceptions are thrown, </a:t>
            </a:r>
            <a:r>
              <a:rPr lang="en-US" dirty="0">
                <a:solidFill>
                  <a:srgbClr val="0070C0"/>
                </a:solidFill>
                <a:latin typeface="Consolas" panose="020B0609020204030204" pitchFamily="49" charset="0"/>
                <a:cs typeface="Consolas" panose="020B0609020204030204" pitchFamily="49" charset="0"/>
              </a:rPr>
              <a:t>catch</a:t>
            </a:r>
            <a:r>
              <a:rPr lang="en-US" dirty="0">
                <a:solidFill>
                  <a:srgbClr val="FFFFFF"/>
                </a:solidFill>
              </a:rPr>
              <a:t> block(s) are skipped</a:t>
            </a:r>
          </a:p>
          <a:p>
            <a:pPr algn="just"/>
            <a:r>
              <a:rPr lang="en-US" b="1" i="1" dirty="0">
                <a:solidFill>
                  <a:srgbClr val="C00000"/>
                </a:solidFill>
              </a:rPr>
              <a:t>Exception handler</a:t>
            </a:r>
            <a:r>
              <a:rPr lang="en-US" dirty="0">
                <a:solidFill>
                  <a:srgbClr val="FFFFFF"/>
                </a:solidFill>
              </a:rPr>
              <a:t>: The code that handles the exception </a:t>
            </a:r>
          </a:p>
          <a:p>
            <a:pPr lvl="1" algn="just"/>
            <a:r>
              <a:rPr lang="en-US" dirty="0">
                <a:solidFill>
                  <a:schemeClr val="tx2"/>
                </a:solidFill>
              </a:rPr>
              <a:t>Found by propagating the exception backward through a chain of method calls, starting from the current method</a:t>
            </a:r>
          </a:p>
        </p:txBody>
      </p:sp>
      <p:sp>
        <p:nvSpPr>
          <p:cNvPr id="12" name="Rectangle 11">
            <a:extLst>
              <a:ext uri="{FF2B5EF4-FFF2-40B4-BE49-F238E27FC236}">
                <a16:creationId xmlns:a16="http://schemas.microsoft.com/office/drawing/2014/main" id="{B5899359-8523-4D4D-B568-3FDFAF982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E9C9585-DA89-4D7E-BCDF-576461A1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7586"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2AEE2EF-166C-410B-B6AC-426A770380FF}"/>
              </a:ext>
            </a:extLst>
          </p:cNvPr>
          <p:cNvPicPr>
            <a:picLocks noChangeAspect="1"/>
          </p:cNvPicPr>
          <p:nvPr/>
        </p:nvPicPr>
        <p:blipFill>
          <a:blip r:embed="rId2">
            <a:lum bright="-20000" contrast="40000"/>
          </a:blip>
          <a:stretch>
            <a:fillRect/>
          </a:stretch>
        </p:blipFill>
        <p:spPr>
          <a:xfrm>
            <a:off x="6877586" y="1828799"/>
            <a:ext cx="4509742" cy="3376247"/>
          </a:xfrm>
          <a:prstGeom prst="rect">
            <a:avLst/>
          </a:prstGeom>
        </p:spPr>
      </p:pic>
      <p:sp>
        <p:nvSpPr>
          <p:cNvPr id="4" name="Slide Number Placeholder 3">
            <a:extLst>
              <a:ext uri="{FF2B5EF4-FFF2-40B4-BE49-F238E27FC236}">
                <a16:creationId xmlns:a16="http://schemas.microsoft.com/office/drawing/2014/main" id="{3375BAB8-4772-4885-BA2A-DE5AF676620C}"/>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4D917438-FD46-48DD-9C04-0EE101A21382}" type="slidenum">
              <a:rPr lang="en-US" smtClean="0"/>
              <a:pPr>
                <a:lnSpc>
                  <a:spcPct val="90000"/>
                </a:lnSpc>
                <a:spcAft>
                  <a:spcPts val="600"/>
                </a:spcAft>
              </a:pPr>
              <a:t>31</a:t>
            </a:fld>
            <a:endParaRPr lang="en-US"/>
          </a:p>
        </p:txBody>
      </p:sp>
    </p:spTree>
    <p:extLst>
      <p:ext uri="{BB962C8B-B14F-4D97-AF65-F5344CB8AC3E}">
        <p14:creationId xmlns:p14="http://schemas.microsoft.com/office/powerpoint/2010/main" val="1953606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A7492-D599-5E21-0A76-D45037D4A4AD}"/>
              </a:ext>
            </a:extLst>
          </p:cNvPr>
          <p:cNvSpPr>
            <a:spLocks noGrp="1"/>
          </p:cNvSpPr>
          <p:nvPr>
            <p:ph type="title"/>
          </p:nvPr>
        </p:nvSpPr>
        <p:spPr>
          <a:xfrm>
            <a:off x="2295421" y="412595"/>
            <a:ext cx="7774129" cy="1188720"/>
          </a:xfrm>
        </p:spPr>
        <p:txBody>
          <a:bodyPr>
            <a:normAutofit/>
          </a:bodyPr>
          <a:lstStyle/>
          <a:p>
            <a:r>
              <a:rPr lang="en-US" dirty="0"/>
              <a:t>Catching exceptions/</a:t>
            </a:r>
            <a:br>
              <a:rPr lang="en-US" dirty="0"/>
            </a:br>
            <a:r>
              <a:rPr lang="en-US" dirty="0"/>
              <a:t>Exception Propagation</a:t>
            </a:r>
          </a:p>
        </p:txBody>
      </p:sp>
      <p:sp>
        <p:nvSpPr>
          <p:cNvPr id="3" name="Content Placeholder 2">
            <a:extLst>
              <a:ext uri="{FF2B5EF4-FFF2-40B4-BE49-F238E27FC236}">
                <a16:creationId xmlns:a16="http://schemas.microsoft.com/office/drawing/2014/main" id="{37FD2869-DA25-63F7-6600-51EFA1127E22}"/>
              </a:ext>
            </a:extLst>
          </p:cNvPr>
          <p:cNvSpPr>
            <a:spLocks noGrp="1"/>
          </p:cNvSpPr>
          <p:nvPr>
            <p:ph idx="1"/>
          </p:nvPr>
        </p:nvSpPr>
        <p:spPr>
          <a:xfrm>
            <a:off x="235858" y="1878008"/>
            <a:ext cx="3842664" cy="4567397"/>
          </a:xfrm>
        </p:spPr>
        <p:txBody>
          <a:bodyPr>
            <a:normAutofit fontScale="92500" lnSpcReduction="10000"/>
          </a:bodyPr>
          <a:lstStyle/>
          <a:p>
            <a:r>
              <a:rPr lang="en-US" sz="2400" dirty="0"/>
              <a:t>An exception is first thrown from the top of the stack</a:t>
            </a:r>
          </a:p>
          <a:p>
            <a:r>
              <a:rPr lang="en-US" sz="2400" dirty="0"/>
              <a:t>If it is not caught, it drops down the call stack to the previous method. </a:t>
            </a:r>
          </a:p>
          <a:p>
            <a:r>
              <a:rPr lang="en-US" sz="2400" dirty="0"/>
              <a:t>If not caught there, the exception again drops down to the previous method, and so on until they are caught or until they reach the very bottom of the call stack. This is called exception propagation</a:t>
            </a:r>
          </a:p>
        </p:txBody>
      </p:sp>
      <p:sp>
        <p:nvSpPr>
          <p:cNvPr id="4" name="Slide Number Placeholder 3">
            <a:extLst>
              <a:ext uri="{FF2B5EF4-FFF2-40B4-BE49-F238E27FC236}">
                <a16:creationId xmlns:a16="http://schemas.microsoft.com/office/drawing/2014/main" id="{B66C0302-5935-43FC-91DC-9245ED577A96}"/>
              </a:ext>
            </a:extLst>
          </p:cNvPr>
          <p:cNvSpPr>
            <a:spLocks noGrp="1"/>
          </p:cNvSpPr>
          <p:nvPr>
            <p:ph type="sldNum" sz="quarter" idx="12"/>
          </p:nvPr>
        </p:nvSpPr>
        <p:spPr/>
        <p:txBody>
          <a:bodyPr/>
          <a:lstStyle/>
          <a:p>
            <a:fld id="{4D917438-FD46-48DD-9C04-0EE101A21382}" type="slidenum">
              <a:rPr lang="en-US" smtClean="0"/>
              <a:t>32</a:t>
            </a:fld>
            <a:endParaRPr lang="en-US"/>
          </a:p>
        </p:txBody>
      </p:sp>
      <p:pic>
        <p:nvPicPr>
          <p:cNvPr id="5" name="Picture 4">
            <a:extLst>
              <a:ext uri="{FF2B5EF4-FFF2-40B4-BE49-F238E27FC236}">
                <a16:creationId xmlns:a16="http://schemas.microsoft.com/office/drawing/2014/main" id="{A6C311E6-9524-4BD1-B925-A2E3F9C2CB9E}"/>
              </a:ext>
            </a:extLst>
          </p:cNvPr>
          <p:cNvPicPr>
            <a:picLocks noChangeAspect="1"/>
          </p:cNvPicPr>
          <p:nvPr/>
        </p:nvPicPr>
        <p:blipFill>
          <a:blip r:embed="rId2">
            <a:lum bright="-20000" contrast="40000"/>
          </a:blip>
          <a:stretch>
            <a:fillRect/>
          </a:stretch>
        </p:blipFill>
        <p:spPr>
          <a:xfrm>
            <a:off x="4226415" y="1737980"/>
            <a:ext cx="7774129" cy="3586615"/>
          </a:xfrm>
          <a:prstGeom prst="rect">
            <a:avLst/>
          </a:prstGeom>
        </p:spPr>
      </p:pic>
    </p:spTree>
    <p:extLst>
      <p:ext uri="{BB962C8B-B14F-4D97-AF65-F5344CB8AC3E}">
        <p14:creationId xmlns:p14="http://schemas.microsoft.com/office/powerpoint/2010/main" val="33138705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D97EA4-1CEE-D930-AFB9-F024E76EACB1}"/>
              </a:ext>
            </a:extLst>
          </p:cNvPr>
          <p:cNvSpPr>
            <a:spLocks noGrp="1"/>
          </p:cNvSpPr>
          <p:nvPr>
            <p:ph type="title"/>
          </p:nvPr>
        </p:nvSpPr>
        <p:spPr/>
        <p:txBody>
          <a:bodyPr/>
          <a:lstStyle/>
          <a:p>
            <a:r>
              <a:rPr lang="en-US" dirty="0"/>
              <a:t>Catching exceptions/</a:t>
            </a:r>
            <a:br>
              <a:rPr lang="en-US" dirty="0"/>
            </a:br>
            <a:r>
              <a:rPr lang="en-US" dirty="0"/>
              <a:t>Exception Propagation</a:t>
            </a:r>
          </a:p>
        </p:txBody>
      </p:sp>
      <p:sp>
        <p:nvSpPr>
          <p:cNvPr id="2" name="Slide Number Placeholder 1">
            <a:extLst>
              <a:ext uri="{FF2B5EF4-FFF2-40B4-BE49-F238E27FC236}">
                <a16:creationId xmlns:a16="http://schemas.microsoft.com/office/drawing/2014/main" id="{AB8C617A-8186-197E-CFCA-8643FD830E8C}"/>
              </a:ext>
            </a:extLst>
          </p:cNvPr>
          <p:cNvSpPr>
            <a:spLocks noGrp="1"/>
          </p:cNvSpPr>
          <p:nvPr>
            <p:ph type="sldNum" sz="quarter" idx="12"/>
          </p:nvPr>
        </p:nvSpPr>
        <p:spPr/>
        <p:txBody>
          <a:bodyPr/>
          <a:lstStyle/>
          <a:p>
            <a:fld id="{4D917438-FD46-48DD-9C04-0EE101A21382}" type="slidenum">
              <a:rPr lang="en-US" smtClean="0"/>
              <a:t>33</a:t>
            </a:fld>
            <a:endParaRPr lang="en-US"/>
          </a:p>
        </p:txBody>
      </p:sp>
      <p:sp>
        <p:nvSpPr>
          <p:cNvPr id="4" name="TextBox 3">
            <a:extLst>
              <a:ext uri="{FF2B5EF4-FFF2-40B4-BE49-F238E27FC236}">
                <a16:creationId xmlns:a16="http://schemas.microsoft.com/office/drawing/2014/main" id="{A48E2284-FB56-E2F4-CEA4-4179BD48DBBA}"/>
              </a:ext>
            </a:extLst>
          </p:cNvPr>
          <p:cNvSpPr txBox="1"/>
          <p:nvPr/>
        </p:nvSpPr>
        <p:spPr>
          <a:xfrm>
            <a:off x="872656" y="2575437"/>
            <a:ext cx="10446687" cy="3631763"/>
          </a:xfrm>
          <a:prstGeom prst="rect">
            <a:avLst/>
          </a:prstGeom>
          <a:noFill/>
        </p:spPr>
        <p:txBody>
          <a:bodyPr wrap="square">
            <a:spAutoFit/>
          </a:bodyPr>
          <a:lstStyle/>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Exception3</a:t>
            </a:r>
            <a:r>
              <a:rPr lang="en-US" sz="2000" dirty="0">
                <a:solidFill>
                  <a:srgbClr val="231F20"/>
                </a:solidFill>
                <a:latin typeface="+mj-lt"/>
              </a:rPr>
              <a:t>, it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ex3 </a:t>
            </a:r>
            <a:r>
              <a:rPr lang="en-US" sz="2000" dirty="0">
                <a:solidFill>
                  <a:srgbClr val="231F20"/>
                </a:solidFill>
                <a:latin typeface="+mj-lt"/>
              </a:rPr>
              <a:t>in </a:t>
            </a:r>
            <a:r>
              <a:rPr lang="en-US" dirty="0">
                <a:solidFill>
                  <a:srgbClr val="00ADEE"/>
                </a:solidFill>
                <a:latin typeface="+mj-lt"/>
              </a:rPr>
              <a:t>method2</a:t>
            </a:r>
            <a:r>
              <a:rPr lang="en-US" sz="2000" dirty="0">
                <a:solidFill>
                  <a:srgbClr val="231F20"/>
                </a:solidFill>
                <a:latin typeface="+mj-lt"/>
              </a:rPr>
              <a:t>. </a:t>
            </a:r>
            <a:r>
              <a:rPr lang="en-US" dirty="0">
                <a:solidFill>
                  <a:srgbClr val="00ADEE"/>
                </a:solidFill>
                <a:latin typeface="+mj-lt"/>
              </a:rPr>
              <a:t>statement5</a:t>
            </a:r>
            <a:r>
              <a:rPr lang="en-US" sz="2000" dirty="0">
                <a:solidFill>
                  <a:srgbClr val="231F20"/>
                </a:solidFill>
                <a:latin typeface="+mj-lt"/>
              </a:rPr>
              <a:t> is skipped, and </a:t>
            </a:r>
            <a:r>
              <a:rPr lang="en-US" dirty="0">
                <a:solidFill>
                  <a:srgbClr val="00ADEE"/>
                </a:solidFill>
                <a:latin typeface="+mj-lt"/>
              </a:rPr>
              <a:t>statement6</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Exception2</a:t>
            </a:r>
            <a:r>
              <a:rPr lang="en-US" sz="2000" dirty="0">
                <a:solidFill>
                  <a:srgbClr val="231F20"/>
                </a:solidFill>
                <a:latin typeface="+mj-lt"/>
              </a:rPr>
              <a:t>, </a:t>
            </a:r>
            <a:r>
              <a:rPr lang="en-US" dirty="0">
                <a:solidFill>
                  <a:srgbClr val="00ADEE"/>
                </a:solidFill>
                <a:latin typeface="+mj-lt"/>
              </a:rPr>
              <a:t>method2</a:t>
            </a:r>
            <a:r>
              <a:rPr lang="en-US" sz="2000" dirty="0">
                <a:solidFill>
                  <a:srgbClr val="231F20"/>
                </a:solidFill>
                <a:latin typeface="+mj-lt"/>
              </a:rPr>
              <a:t> is aborted, the control is returned to </a:t>
            </a:r>
            <a:r>
              <a:rPr lang="en-US" dirty="0">
                <a:solidFill>
                  <a:srgbClr val="00ADEE"/>
                </a:solidFill>
                <a:latin typeface="+mj-lt"/>
              </a:rPr>
              <a:t>method1</a:t>
            </a:r>
            <a:r>
              <a:rPr lang="en-US" sz="2000" dirty="0">
                <a:solidFill>
                  <a:srgbClr val="231F20"/>
                </a:solidFill>
                <a:latin typeface="+mj-lt"/>
              </a:rPr>
              <a:t>, and the exception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ex2</a:t>
            </a:r>
            <a:r>
              <a:rPr lang="en-US" sz="2000" dirty="0">
                <a:solidFill>
                  <a:srgbClr val="231F20"/>
                </a:solidFill>
                <a:latin typeface="+mj-lt"/>
              </a:rPr>
              <a:t> in </a:t>
            </a:r>
            <a:r>
              <a:rPr lang="en-US" dirty="0">
                <a:solidFill>
                  <a:srgbClr val="00ADEE"/>
                </a:solidFill>
                <a:latin typeface="+mj-lt"/>
              </a:rPr>
              <a:t>method1</a:t>
            </a:r>
            <a:r>
              <a:rPr lang="en-US" sz="2000" dirty="0">
                <a:solidFill>
                  <a:srgbClr val="231F20"/>
                </a:solidFill>
                <a:latin typeface="+mj-lt"/>
              </a:rPr>
              <a:t>. </a:t>
            </a:r>
            <a:r>
              <a:rPr lang="en-US" dirty="0">
                <a:solidFill>
                  <a:srgbClr val="00ADEE"/>
                </a:solidFill>
                <a:latin typeface="+mj-lt"/>
              </a:rPr>
              <a:t>statement3</a:t>
            </a:r>
            <a:r>
              <a:rPr lang="en-US" sz="2000" dirty="0">
                <a:solidFill>
                  <a:srgbClr val="231F20"/>
                </a:solidFill>
                <a:latin typeface="+mj-lt"/>
              </a:rPr>
              <a:t> is skipped, and </a:t>
            </a:r>
            <a:r>
              <a:rPr lang="en-US" dirty="0">
                <a:solidFill>
                  <a:srgbClr val="00ADEE"/>
                </a:solidFill>
                <a:latin typeface="+mj-lt"/>
              </a:rPr>
              <a:t>statement4</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a:t>
            </a:r>
            <a:r>
              <a:rPr lang="en-US" dirty="0">
                <a:solidFill>
                  <a:srgbClr val="00ADEE"/>
                </a:solidFill>
                <a:latin typeface="+mj-lt"/>
              </a:rPr>
              <a:t>Exception1</a:t>
            </a:r>
            <a:r>
              <a:rPr lang="en-US" sz="2000" dirty="0">
                <a:solidFill>
                  <a:srgbClr val="231F20"/>
                </a:solidFill>
                <a:latin typeface="+mj-lt"/>
              </a:rPr>
              <a:t>, </a:t>
            </a:r>
            <a:r>
              <a:rPr lang="en-US" dirty="0">
                <a:solidFill>
                  <a:srgbClr val="00ADEE"/>
                </a:solidFill>
                <a:latin typeface="+mj-lt"/>
              </a:rPr>
              <a:t>method1</a:t>
            </a:r>
            <a:r>
              <a:rPr lang="en-US" sz="2000" dirty="0">
                <a:solidFill>
                  <a:srgbClr val="231F20"/>
                </a:solidFill>
                <a:latin typeface="+mj-lt"/>
              </a:rPr>
              <a:t> is aborted, the control is returned to the </a:t>
            </a:r>
            <a:r>
              <a:rPr lang="en-US" dirty="0">
                <a:solidFill>
                  <a:srgbClr val="00ADEE"/>
                </a:solidFill>
                <a:latin typeface="+mj-lt"/>
              </a:rPr>
              <a:t>main</a:t>
            </a:r>
            <a:r>
              <a:rPr lang="en-US" sz="2000" dirty="0">
                <a:solidFill>
                  <a:srgbClr val="231F20"/>
                </a:solidFill>
                <a:latin typeface="+mj-lt"/>
              </a:rPr>
              <a:t> method, and the exception is caught by the </a:t>
            </a:r>
            <a:r>
              <a:rPr lang="en-US" dirty="0">
                <a:solidFill>
                  <a:srgbClr val="00ADEE"/>
                </a:solidFill>
                <a:latin typeface="+mj-lt"/>
              </a:rPr>
              <a:t>catch</a:t>
            </a:r>
            <a:r>
              <a:rPr lang="en-US" sz="2000" dirty="0">
                <a:solidFill>
                  <a:srgbClr val="231F20"/>
                </a:solidFill>
                <a:latin typeface="+mj-lt"/>
              </a:rPr>
              <a:t> block for handling exception </a:t>
            </a:r>
            <a:r>
              <a:rPr lang="en-US" dirty="0">
                <a:solidFill>
                  <a:srgbClr val="00ADEE"/>
                </a:solidFill>
                <a:latin typeface="+mj-lt"/>
              </a:rPr>
              <a:t>ex1</a:t>
            </a:r>
            <a:r>
              <a:rPr lang="en-US" sz="2000" dirty="0">
                <a:solidFill>
                  <a:srgbClr val="231F20"/>
                </a:solidFill>
                <a:latin typeface="+mj-lt"/>
              </a:rPr>
              <a:t> in the </a:t>
            </a:r>
            <a:r>
              <a:rPr lang="en-US" dirty="0">
                <a:solidFill>
                  <a:srgbClr val="00ADEE"/>
                </a:solidFill>
                <a:latin typeface="+mj-lt"/>
              </a:rPr>
              <a:t>main</a:t>
            </a:r>
            <a:r>
              <a:rPr lang="en-US" sz="2000" dirty="0">
                <a:solidFill>
                  <a:srgbClr val="231F20"/>
                </a:solidFill>
                <a:latin typeface="+mj-lt"/>
              </a:rPr>
              <a:t> method. </a:t>
            </a:r>
            <a:r>
              <a:rPr lang="en-US" dirty="0">
                <a:solidFill>
                  <a:srgbClr val="00ADEE"/>
                </a:solidFill>
                <a:latin typeface="+mj-lt"/>
              </a:rPr>
              <a:t>statement1</a:t>
            </a:r>
            <a:r>
              <a:rPr lang="en-US" sz="2000" dirty="0">
                <a:solidFill>
                  <a:srgbClr val="231F20"/>
                </a:solidFill>
                <a:latin typeface="+mj-lt"/>
              </a:rPr>
              <a:t> is skipped, and </a:t>
            </a:r>
            <a:r>
              <a:rPr lang="en-US" dirty="0">
                <a:solidFill>
                  <a:srgbClr val="00ADEE"/>
                </a:solidFill>
                <a:latin typeface="+mj-lt"/>
              </a:rPr>
              <a:t>statement2</a:t>
            </a:r>
            <a:r>
              <a:rPr lang="en-US" sz="2000" dirty="0">
                <a:solidFill>
                  <a:srgbClr val="231F20"/>
                </a:solidFill>
                <a:latin typeface="+mj-lt"/>
              </a:rPr>
              <a:t> is executed.</a:t>
            </a:r>
          </a:p>
          <a:p>
            <a:pPr marL="285750" indent="-285750">
              <a:spcBef>
                <a:spcPts val="1200"/>
              </a:spcBef>
              <a:buFont typeface="Arial" panose="020B0604020202020204" pitchFamily="34" charset="0"/>
              <a:buChar char="•"/>
            </a:pPr>
            <a:r>
              <a:rPr lang="en-US" sz="2000" dirty="0">
                <a:solidFill>
                  <a:srgbClr val="231F20"/>
                </a:solidFill>
                <a:latin typeface="+mj-lt"/>
              </a:rPr>
              <a:t>If the exception type is not caught in </a:t>
            </a:r>
            <a:r>
              <a:rPr lang="en-US" dirty="0">
                <a:solidFill>
                  <a:srgbClr val="00ADEE"/>
                </a:solidFill>
                <a:latin typeface="+mj-lt"/>
              </a:rPr>
              <a:t>method2</a:t>
            </a:r>
            <a:r>
              <a:rPr lang="en-US" sz="2000" dirty="0">
                <a:solidFill>
                  <a:srgbClr val="231F20"/>
                </a:solidFill>
                <a:latin typeface="+mj-lt"/>
              </a:rPr>
              <a:t>, </a:t>
            </a:r>
            <a:r>
              <a:rPr lang="en-US" dirty="0">
                <a:solidFill>
                  <a:srgbClr val="00ADEE"/>
                </a:solidFill>
                <a:latin typeface="+mj-lt"/>
              </a:rPr>
              <a:t>method1</a:t>
            </a:r>
            <a:r>
              <a:rPr lang="en-US" sz="2000" dirty="0">
                <a:solidFill>
                  <a:srgbClr val="231F20"/>
                </a:solidFill>
                <a:latin typeface="+mj-lt"/>
              </a:rPr>
              <a:t>, or </a:t>
            </a:r>
            <a:r>
              <a:rPr lang="en-US" dirty="0">
                <a:solidFill>
                  <a:srgbClr val="00ADEE"/>
                </a:solidFill>
                <a:latin typeface="+mj-lt"/>
              </a:rPr>
              <a:t>main</a:t>
            </a:r>
            <a:r>
              <a:rPr lang="en-US" sz="2000" dirty="0">
                <a:solidFill>
                  <a:srgbClr val="231F20"/>
                </a:solidFill>
                <a:latin typeface="+mj-lt"/>
              </a:rPr>
              <a:t>, the program terminates, and </a:t>
            </a:r>
            <a:r>
              <a:rPr lang="en-US" dirty="0">
                <a:solidFill>
                  <a:srgbClr val="00ADEE"/>
                </a:solidFill>
                <a:latin typeface="+mj-lt"/>
              </a:rPr>
              <a:t>statement1</a:t>
            </a:r>
            <a:r>
              <a:rPr lang="en-US" sz="2000" dirty="0">
                <a:solidFill>
                  <a:srgbClr val="231F20"/>
                </a:solidFill>
                <a:latin typeface="+mj-lt"/>
              </a:rPr>
              <a:t> and </a:t>
            </a:r>
            <a:r>
              <a:rPr lang="en-US" dirty="0">
                <a:solidFill>
                  <a:srgbClr val="00ADEE"/>
                </a:solidFill>
                <a:latin typeface="+mj-lt"/>
              </a:rPr>
              <a:t>statement2</a:t>
            </a:r>
            <a:r>
              <a:rPr lang="en-US" sz="2000" dirty="0">
                <a:solidFill>
                  <a:srgbClr val="231F20"/>
                </a:solidFill>
                <a:latin typeface="+mj-lt"/>
              </a:rPr>
              <a:t> are not executed.</a:t>
            </a:r>
            <a:endParaRPr lang="en-US" sz="2000" dirty="0">
              <a:latin typeface="+mj-lt"/>
            </a:endParaRPr>
          </a:p>
        </p:txBody>
      </p:sp>
    </p:spTree>
    <p:extLst>
      <p:ext uri="{BB962C8B-B14F-4D97-AF65-F5344CB8AC3E}">
        <p14:creationId xmlns:p14="http://schemas.microsoft.com/office/powerpoint/2010/main" val="2519484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ED7577E-DBB3-466B-B80E-3B3C5A385B5B}"/>
              </a:ext>
            </a:extLst>
          </p:cNvPr>
          <p:cNvSpPr>
            <a:spLocks noGrp="1"/>
          </p:cNvSpPr>
          <p:nvPr>
            <p:ph type="sldNum" sz="quarter" idx="12"/>
          </p:nvPr>
        </p:nvSpPr>
        <p:spPr/>
        <p:txBody>
          <a:bodyPr vert="horz" lIns="18288" tIns="45720" rIns="18288" bIns="45720" rtlCol="0" anchor="ctr">
            <a:normAutofit/>
          </a:bodyPr>
          <a:lstStyle/>
          <a:p>
            <a:pPr>
              <a:lnSpc>
                <a:spcPct val="90000"/>
              </a:lnSpc>
              <a:spcAft>
                <a:spcPts val="600"/>
              </a:spcAft>
            </a:pPr>
            <a:fld id="{4D917438-FD46-48DD-9C04-0EE101A21382}" type="slidenum">
              <a:rPr lang="en-US" kern="1200" spc="0" baseline="0" dirty="0">
                <a:solidFill>
                  <a:srgbClr val="FFFFFF"/>
                </a:solidFill>
                <a:latin typeface="+mn-lt"/>
                <a:ea typeface="+mn-ea"/>
                <a:cs typeface="+mn-cs"/>
              </a:rPr>
              <a:pPr>
                <a:lnSpc>
                  <a:spcPct val="90000"/>
                </a:lnSpc>
                <a:spcAft>
                  <a:spcPts val="600"/>
                </a:spcAft>
              </a:pPr>
              <a:t>34</a:t>
            </a:fld>
            <a:endParaRPr lang="en-US" kern="1200" spc="0" baseline="0" dirty="0">
              <a:solidFill>
                <a:srgbClr val="FFFFFF"/>
              </a:solidFill>
              <a:latin typeface="+mn-lt"/>
              <a:ea typeface="+mn-ea"/>
              <a:cs typeface="+mn-cs"/>
            </a:endParaRPr>
          </a:p>
        </p:txBody>
      </p:sp>
      <p:sp>
        <p:nvSpPr>
          <p:cNvPr id="2" name="Title 1">
            <a:extLst>
              <a:ext uri="{FF2B5EF4-FFF2-40B4-BE49-F238E27FC236}">
                <a16:creationId xmlns:a16="http://schemas.microsoft.com/office/drawing/2014/main" id="{E0465332-8C9E-483C-9CBB-C5885EFA8A9A}"/>
              </a:ext>
            </a:extLst>
          </p:cNvPr>
          <p:cNvSpPr>
            <a:spLocks noGrp="1"/>
          </p:cNvSpPr>
          <p:nvPr>
            <p:ph type="title" idx="4294967295"/>
          </p:nvPr>
        </p:nvSpPr>
        <p:spPr>
          <a:xfrm>
            <a:off x="1874000" y="0"/>
            <a:ext cx="8991600" cy="1265237"/>
          </a:xfrm>
        </p:spPr>
        <p:txBody>
          <a:bodyPr vert="horz" lIns="274320" tIns="182880" rIns="274320" bIns="182880" rtlCol="0" anchor="ctr" anchorCtr="1">
            <a:normAutofit/>
          </a:bodyPr>
          <a:lstStyle/>
          <a:p>
            <a:r>
              <a:rPr lang="en-US" sz="3200"/>
              <a:t>Getting information from exceptions</a:t>
            </a:r>
          </a:p>
        </p:txBody>
      </p:sp>
      <p:pic>
        <p:nvPicPr>
          <p:cNvPr id="7" name="Picture 6">
            <a:extLst>
              <a:ext uri="{FF2B5EF4-FFF2-40B4-BE49-F238E27FC236}">
                <a16:creationId xmlns:a16="http://schemas.microsoft.com/office/drawing/2014/main" id="{3424D774-DE70-4D68-8B17-3602B3ED7323}"/>
              </a:ext>
            </a:extLst>
          </p:cNvPr>
          <p:cNvPicPr>
            <a:picLocks noChangeAspect="1"/>
          </p:cNvPicPr>
          <p:nvPr/>
        </p:nvPicPr>
        <p:blipFill rotWithShape="1">
          <a:blip r:embed="rId2">
            <a:lum bright="-20000" contrast="40000"/>
          </a:blip>
          <a:srcRect l="3168" t="4339" b="4605"/>
          <a:stretch/>
        </p:blipFill>
        <p:spPr>
          <a:xfrm>
            <a:off x="2849217" y="4231554"/>
            <a:ext cx="6944139" cy="2460793"/>
          </a:xfrm>
          <a:prstGeom prst="rect">
            <a:avLst/>
          </a:prstGeom>
        </p:spPr>
      </p:pic>
      <p:pic>
        <p:nvPicPr>
          <p:cNvPr id="6" name="Picture 5">
            <a:extLst>
              <a:ext uri="{FF2B5EF4-FFF2-40B4-BE49-F238E27FC236}">
                <a16:creationId xmlns:a16="http://schemas.microsoft.com/office/drawing/2014/main" id="{9E3355B2-85C4-4FAF-B108-182D2E54205B}"/>
              </a:ext>
            </a:extLst>
          </p:cNvPr>
          <p:cNvPicPr>
            <a:picLocks noChangeAspect="1"/>
          </p:cNvPicPr>
          <p:nvPr/>
        </p:nvPicPr>
        <p:blipFill rotWithShape="1">
          <a:blip r:embed="rId3">
            <a:lum bright="-20000" contrast="40000"/>
          </a:blip>
          <a:srcRect l="1495" t="4233" r="3205" b="3842"/>
          <a:stretch/>
        </p:blipFill>
        <p:spPr>
          <a:xfrm>
            <a:off x="2433711" y="1463041"/>
            <a:ext cx="8159261" cy="2570710"/>
          </a:xfrm>
          <a:prstGeom prst="rect">
            <a:avLst/>
          </a:prstGeom>
        </p:spPr>
      </p:pic>
    </p:spTree>
    <p:extLst>
      <p:ext uri="{BB962C8B-B14F-4D97-AF65-F5344CB8AC3E}">
        <p14:creationId xmlns:p14="http://schemas.microsoft.com/office/powerpoint/2010/main" val="13971029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BC368E-E47B-4B40-8228-35F20A39FBF5}"/>
              </a:ext>
            </a:extLst>
          </p:cNvPr>
          <p:cNvSpPr>
            <a:spLocks noGrp="1"/>
          </p:cNvSpPr>
          <p:nvPr>
            <p:ph type="title"/>
          </p:nvPr>
        </p:nvSpPr>
        <p:spPr/>
        <p:txBody>
          <a:bodyPr/>
          <a:lstStyle/>
          <a:p>
            <a:r>
              <a:rPr lang="en-US" dirty="0"/>
              <a:t>The finally clause</a:t>
            </a:r>
          </a:p>
        </p:txBody>
      </p:sp>
      <p:sp>
        <p:nvSpPr>
          <p:cNvPr id="5" name="Content Placeholder 4">
            <a:extLst>
              <a:ext uri="{FF2B5EF4-FFF2-40B4-BE49-F238E27FC236}">
                <a16:creationId xmlns:a16="http://schemas.microsoft.com/office/drawing/2014/main" id="{AD0D1BD0-2135-4CCE-BC8C-2B0106D58338}"/>
              </a:ext>
            </a:extLst>
          </p:cNvPr>
          <p:cNvSpPr>
            <a:spLocks noGrp="1"/>
          </p:cNvSpPr>
          <p:nvPr>
            <p:ph idx="1"/>
          </p:nvPr>
        </p:nvSpPr>
        <p:spPr>
          <a:xfrm>
            <a:off x="97539" y="2398643"/>
            <a:ext cx="5534635" cy="4459357"/>
          </a:xfrm>
        </p:spPr>
        <p:txBody>
          <a:bodyPr>
            <a:normAutofit fontScale="92500"/>
          </a:bodyPr>
          <a:lstStyle/>
          <a:p>
            <a:pPr algn="just"/>
            <a:r>
              <a:rPr lang="en-US" sz="2000" dirty="0"/>
              <a:t>The </a:t>
            </a:r>
            <a:r>
              <a:rPr lang="en-US" sz="2000" dirty="0">
                <a:solidFill>
                  <a:srgbClr val="0070C0"/>
                </a:solidFill>
                <a:latin typeface="Consolas" panose="020B0609020204030204" pitchFamily="49" charset="0"/>
                <a:cs typeface="Consolas" panose="020B0609020204030204" pitchFamily="49" charset="0"/>
              </a:rPr>
              <a:t>finally</a:t>
            </a:r>
            <a:r>
              <a:rPr lang="en-US" sz="2000" dirty="0"/>
              <a:t> clause is always executed regardless whether an exception has occurred or not</a:t>
            </a:r>
          </a:p>
          <a:p>
            <a:pPr algn="just"/>
            <a:r>
              <a:rPr lang="en-US" sz="2000" dirty="0"/>
              <a:t>Three possible cases:</a:t>
            </a:r>
          </a:p>
          <a:p>
            <a:pPr lvl="1" algn="just"/>
            <a:r>
              <a:rPr lang="en-US" sz="1800" dirty="0">
                <a:solidFill>
                  <a:srgbClr val="00B050"/>
                </a:solidFill>
              </a:rPr>
              <a:t>No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t>
            </a:r>
            <a:r>
              <a:rPr lang="en-US" sz="1800" dirty="0" err="1">
                <a:solidFill>
                  <a:srgbClr val="0070C0"/>
                </a:solidFill>
                <a:latin typeface="Consolas" panose="020B0609020204030204" pitchFamily="49" charset="0"/>
                <a:cs typeface="Consolas" panose="020B0609020204030204" pitchFamily="49" charset="0"/>
              </a:rPr>
              <a:t>finalStatements</a:t>
            </a:r>
            <a:r>
              <a:rPr lang="en-US" sz="1800" dirty="0">
                <a:solidFill>
                  <a:srgbClr val="00B050"/>
                </a:solidFill>
              </a:rPr>
              <a:t> is executed,  &amp; the next statement after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statement is executed</a:t>
            </a:r>
          </a:p>
          <a:p>
            <a:pPr lvl="1" algn="just"/>
            <a:r>
              <a:rPr lang="en-US" sz="1800" dirty="0">
                <a:solidFill>
                  <a:srgbClr val="00B050"/>
                </a:solidFill>
              </a:rPr>
              <a:t>An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caught in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the rest of the statements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are skipped,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is executed, &amp; </a:t>
            </a:r>
            <a:r>
              <a:rPr lang="en-US" sz="1800" dirty="0">
                <a:solidFill>
                  <a:srgbClr val="0070C0"/>
                </a:solidFill>
                <a:latin typeface="Consolas" panose="020B0609020204030204" pitchFamily="49" charset="0"/>
                <a:cs typeface="Consolas" panose="020B0609020204030204" pitchFamily="49" charset="0"/>
              </a:rPr>
              <a:t>finally</a:t>
            </a:r>
            <a:r>
              <a:rPr lang="en-US" sz="1800" dirty="0">
                <a:solidFill>
                  <a:srgbClr val="00B050"/>
                </a:solidFill>
              </a:rPr>
              <a:t> clause is executed. The next statement after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statement is executed</a:t>
            </a:r>
          </a:p>
          <a:p>
            <a:pPr lvl="1" algn="just"/>
            <a:r>
              <a:rPr lang="en-US" sz="1800" dirty="0">
                <a:solidFill>
                  <a:srgbClr val="00B050"/>
                </a:solidFill>
              </a:rPr>
              <a:t>An exception in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not caught in </a:t>
            </a:r>
            <a:r>
              <a:rPr lang="en-US" sz="1800" dirty="0">
                <a:solidFill>
                  <a:srgbClr val="0070C0"/>
                </a:solidFill>
                <a:latin typeface="Consolas" panose="020B0609020204030204" pitchFamily="49" charset="0"/>
                <a:cs typeface="Consolas" panose="020B0609020204030204" pitchFamily="49" charset="0"/>
              </a:rPr>
              <a:t>catch</a:t>
            </a:r>
            <a:r>
              <a:rPr lang="en-US" sz="1800" dirty="0">
                <a:solidFill>
                  <a:srgbClr val="00B050"/>
                </a:solidFill>
              </a:rPr>
              <a:t> block, the other statements in the </a:t>
            </a:r>
            <a:r>
              <a:rPr lang="en-US" sz="1800" dirty="0">
                <a:solidFill>
                  <a:srgbClr val="0070C0"/>
                </a:solidFill>
                <a:latin typeface="Consolas" panose="020B0609020204030204" pitchFamily="49" charset="0"/>
                <a:cs typeface="Consolas" panose="020B0609020204030204" pitchFamily="49" charset="0"/>
              </a:rPr>
              <a:t>try</a:t>
            </a:r>
            <a:r>
              <a:rPr lang="en-US" sz="1800" dirty="0">
                <a:solidFill>
                  <a:srgbClr val="00B050"/>
                </a:solidFill>
              </a:rPr>
              <a:t> block are skipped, the </a:t>
            </a:r>
            <a:r>
              <a:rPr lang="en-US" sz="1800" dirty="0">
                <a:solidFill>
                  <a:srgbClr val="0070C0"/>
                </a:solidFill>
                <a:latin typeface="Consolas" panose="020B0609020204030204" pitchFamily="49" charset="0"/>
                <a:cs typeface="Consolas" panose="020B0609020204030204" pitchFamily="49" charset="0"/>
              </a:rPr>
              <a:t>finally</a:t>
            </a:r>
            <a:r>
              <a:rPr lang="en-US" sz="1800" dirty="0">
                <a:solidFill>
                  <a:srgbClr val="00B050"/>
                </a:solidFill>
              </a:rPr>
              <a:t> clause is executed, &amp; the exception is passed to the caller method</a:t>
            </a:r>
          </a:p>
        </p:txBody>
      </p:sp>
      <p:sp>
        <p:nvSpPr>
          <p:cNvPr id="3" name="Slide Number Placeholder 2">
            <a:extLst>
              <a:ext uri="{FF2B5EF4-FFF2-40B4-BE49-F238E27FC236}">
                <a16:creationId xmlns:a16="http://schemas.microsoft.com/office/drawing/2014/main" id="{1EAF1224-D170-44D2-9E65-77890398592D}"/>
              </a:ext>
            </a:extLst>
          </p:cNvPr>
          <p:cNvSpPr>
            <a:spLocks noGrp="1"/>
          </p:cNvSpPr>
          <p:nvPr>
            <p:ph type="sldNum" sz="quarter" idx="12"/>
          </p:nvPr>
        </p:nvSpPr>
        <p:spPr/>
        <p:txBody>
          <a:bodyPr/>
          <a:lstStyle/>
          <a:p>
            <a:fld id="{4D917438-FD46-48DD-9C04-0EE101A21382}" type="slidenum">
              <a:rPr lang="en-US" smtClean="0"/>
              <a:t>35</a:t>
            </a:fld>
            <a:endParaRPr lang="en-US"/>
          </a:p>
        </p:txBody>
      </p:sp>
      <p:grpSp>
        <p:nvGrpSpPr>
          <p:cNvPr id="9" name="Group 8">
            <a:extLst>
              <a:ext uri="{FF2B5EF4-FFF2-40B4-BE49-F238E27FC236}">
                <a16:creationId xmlns:a16="http://schemas.microsoft.com/office/drawing/2014/main" id="{5E4AB0E4-E7A9-4689-9DDC-28ED58F05EFC}"/>
              </a:ext>
            </a:extLst>
          </p:cNvPr>
          <p:cNvGrpSpPr/>
          <p:nvPr/>
        </p:nvGrpSpPr>
        <p:grpSpPr>
          <a:xfrm>
            <a:off x="5857464" y="3148073"/>
            <a:ext cx="2692991" cy="2055416"/>
            <a:chOff x="4608828" y="3234036"/>
            <a:chExt cx="2692991" cy="2055416"/>
          </a:xfrm>
        </p:grpSpPr>
        <p:pic>
          <p:nvPicPr>
            <p:cNvPr id="6" name="Picture 5">
              <a:extLst>
                <a:ext uri="{FF2B5EF4-FFF2-40B4-BE49-F238E27FC236}">
                  <a16:creationId xmlns:a16="http://schemas.microsoft.com/office/drawing/2014/main" id="{573F16D1-827F-40AB-86D5-E4FEA4B16323}"/>
                </a:ext>
              </a:extLst>
            </p:cNvPr>
            <p:cNvPicPr>
              <a:picLocks noChangeAspect="1"/>
            </p:cNvPicPr>
            <p:nvPr/>
          </p:nvPicPr>
          <p:blipFill>
            <a:blip r:embed="rId2">
              <a:lum bright="-20000" contrast="40000"/>
            </a:blip>
            <a:stretch>
              <a:fillRect/>
            </a:stretch>
          </p:blipFill>
          <p:spPr>
            <a:xfrm>
              <a:off x="4608828" y="3234036"/>
              <a:ext cx="2692990" cy="1346531"/>
            </a:xfrm>
            <a:prstGeom prst="rect">
              <a:avLst/>
            </a:prstGeom>
          </p:spPr>
        </p:pic>
        <p:pic>
          <p:nvPicPr>
            <p:cNvPr id="8" name="Picture 7">
              <a:extLst>
                <a:ext uri="{FF2B5EF4-FFF2-40B4-BE49-F238E27FC236}">
                  <a16:creationId xmlns:a16="http://schemas.microsoft.com/office/drawing/2014/main" id="{63A8FB5E-3677-4EB2-94C2-2F53F270E7E2}"/>
                </a:ext>
              </a:extLst>
            </p:cNvPr>
            <p:cNvPicPr>
              <a:picLocks noChangeAspect="1"/>
            </p:cNvPicPr>
            <p:nvPr/>
          </p:nvPicPr>
          <p:blipFill>
            <a:blip r:embed="rId3">
              <a:lum bright="-20000" contrast="40000"/>
            </a:blip>
            <a:stretch>
              <a:fillRect/>
            </a:stretch>
          </p:blipFill>
          <p:spPr>
            <a:xfrm>
              <a:off x="4608829" y="4554106"/>
              <a:ext cx="2692990" cy="735346"/>
            </a:xfrm>
            <a:prstGeom prst="rect">
              <a:avLst/>
            </a:prstGeom>
          </p:spPr>
        </p:pic>
      </p:grpSp>
      <p:sp>
        <p:nvSpPr>
          <p:cNvPr id="10" name="Rectangle 9">
            <a:extLst>
              <a:ext uri="{FF2B5EF4-FFF2-40B4-BE49-F238E27FC236}">
                <a16:creationId xmlns:a16="http://schemas.microsoft.com/office/drawing/2014/main" id="{26913ACA-72B1-4474-983F-CAFC0B757BE3}"/>
              </a:ext>
            </a:extLst>
          </p:cNvPr>
          <p:cNvSpPr/>
          <p:nvPr/>
        </p:nvSpPr>
        <p:spPr>
          <a:xfrm>
            <a:off x="8864912" y="2845480"/>
            <a:ext cx="2926753" cy="3077766"/>
          </a:xfrm>
          <a:prstGeom prst="rect">
            <a:avLst/>
          </a:prstGeom>
        </p:spPr>
        <p:txBody>
          <a:bodyPr wrap="square">
            <a:spAutoFit/>
          </a:bodyPr>
          <a:lstStyle/>
          <a:p>
            <a:r>
              <a:rPr lang="en-US" sz="1600" dirty="0">
                <a:solidFill>
                  <a:srgbClr val="C00000"/>
                </a:solidFill>
                <a:latin typeface="Consolas" panose="020B0609020204030204" pitchFamily="49" charset="0"/>
                <a:cs typeface="Consolas" panose="020B0609020204030204" pitchFamily="49" charset="0"/>
              </a:rPr>
              <a:t>try {</a:t>
            </a:r>
          </a:p>
          <a:p>
            <a:r>
              <a:rPr lang="en-US" sz="1600" dirty="0">
                <a:solidFill>
                  <a:srgbClr val="C00000"/>
                </a:solidFill>
                <a:latin typeface="Consolas" panose="020B0609020204030204" pitchFamily="49" charset="0"/>
                <a:cs typeface="Consolas" panose="020B0609020204030204" pitchFamily="49" charset="0"/>
              </a:rPr>
              <a:t>	statement1;</a:t>
            </a:r>
          </a:p>
          <a:p>
            <a:r>
              <a:rPr lang="en-US" sz="1600" dirty="0">
                <a:solidFill>
                  <a:srgbClr val="C00000"/>
                </a:solidFill>
                <a:latin typeface="Consolas" panose="020B0609020204030204" pitchFamily="49" charset="0"/>
                <a:cs typeface="Consolas" panose="020B0609020204030204" pitchFamily="49" charset="0"/>
              </a:rPr>
              <a:t>	</a:t>
            </a:r>
            <a:r>
              <a:rPr lang="en-US" sz="1600" b="1" dirty="0">
                <a:solidFill>
                  <a:srgbClr val="C00000"/>
                </a:solidFill>
                <a:latin typeface="Consolas" panose="020B0609020204030204" pitchFamily="49" charset="0"/>
                <a:cs typeface="Consolas" panose="020B0609020204030204" pitchFamily="49" charset="0"/>
              </a:rPr>
              <a:t>statement2;</a:t>
            </a:r>
          </a:p>
          <a:p>
            <a:r>
              <a:rPr lang="en-US" sz="1600" dirty="0">
                <a:solidFill>
                  <a:srgbClr val="C00000"/>
                </a:solidFill>
                <a:latin typeface="Consolas" panose="020B0609020204030204" pitchFamily="49" charset="0"/>
                <a:cs typeface="Consolas" panose="020B0609020204030204" pitchFamily="49" charset="0"/>
              </a:rPr>
              <a:t>	statement3;</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catch (Exception1 ex1) {</a:t>
            </a:r>
          </a:p>
          <a:p>
            <a:r>
              <a:rPr lang="en-US" sz="1600" dirty="0">
                <a:solidFill>
                  <a:srgbClr val="C00000"/>
                </a:solidFill>
                <a:latin typeface="Consolas" panose="020B0609020204030204" pitchFamily="49" charset="0"/>
                <a:cs typeface="Consolas" panose="020B0609020204030204" pitchFamily="49" charset="0"/>
              </a:rPr>
              <a:t>	statement4;</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finally {</a:t>
            </a:r>
          </a:p>
          <a:p>
            <a:r>
              <a:rPr lang="en-US" sz="1600" dirty="0">
                <a:solidFill>
                  <a:srgbClr val="C00000"/>
                </a:solidFill>
                <a:latin typeface="Consolas" panose="020B0609020204030204" pitchFamily="49" charset="0"/>
                <a:cs typeface="Consolas" panose="020B0609020204030204" pitchFamily="49" charset="0"/>
              </a:rPr>
              <a:t>	statement5;</a:t>
            </a:r>
          </a:p>
          <a:p>
            <a:r>
              <a:rPr lang="en-US" sz="1600" dirty="0">
                <a:solidFill>
                  <a:srgbClr val="C00000"/>
                </a:solidFill>
                <a:latin typeface="Consolas" panose="020B0609020204030204" pitchFamily="49" charset="0"/>
                <a:cs typeface="Consolas" panose="020B0609020204030204" pitchFamily="49" charset="0"/>
              </a:rPr>
              <a:t>}</a:t>
            </a:r>
          </a:p>
          <a:p>
            <a:r>
              <a:rPr lang="en-US" sz="1600" dirty="0">
                <a:solidFill>
                  <a:srgbClr val="C00000"/>
                </a:solidFill>
                <a:latin typeface="Consolas" panose="020B0609020204030204" pitchFamily="49" charset="0"/>
                <a:cs typeface="Consolas" panose="020B0609020204030204" pitchFamily="49" charset="0"/>
              </a:rPr>
              <a:t>statement6;</a:t>
            </a:r>
          </a:p>
        </p:txBody>
      </p:sp>
    </p:spTree>
    <p:extLst>
      <p:ext uri="{BB962C8B-B14F-4D97-AF65-F5344CB8AC3E}">
        <p14:creationId xmlns:p14="http://schemas.microsoft.com/office/powerpoint/2010/main" val="1217894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261F-3C83-44AF-9D81-80B5443C1154}"/>
              </a:ext>
            </a:extLst>
          </p:cNvPr>
          <p:cNvSpPr>
            <a:spLocks noGrp="1"/>
          </p:cNvSpPr>
          <p:nvPr>
            <p:ph type="title"/>
          </p:nvPr>
        </p:nvSpPr>
        <p:spPr/>
        <p:txBody>
          <a:bodyPr/>
          <a:lstStyle/>
          <a:p>
            <a:r>
              <a:rPr lang="en-US" dirty="0"/>
              <a:t>When to use exceptions</a:t>
            </a:r>
          </a:p>
        </p:txBody>
      </p:sp>
      <p:sp>
        <p:nvSpPr>
          <p:cNvPr id="3" name="Content Placeholder 2">
            <a:extLst>
              <a:ext uri="{FF2B5EF4-FFF2-40B4-BE49-F238E27FC236}">
                <a16:creationId xmlns:a16="http://schemas.microsoft.com/office/drawing/2014/main" id="{DC939E63-888F-490C-86B8-B06C85359A93}"/>
              </a:ext>
            </a:extLst>
          </p:cNvPr>
          <p:cNvSpPr>
            <a:spLocks noGrp="1"/>
          </p:cNvSpPr>
          <p:nvPr>
            <p:ph idx="1"/>
          </p:nvPr>
        </p:nvSpPr>
        <p:spPr>
          <a:xfrm>
            <a:off x="2133600" y="2638044"/>
            <a:ext cx="7827264" cy="3579876"/>
          </a:xfrm>
        </p:spPr>
        <p:txBody>
          <a:bodyPr>
            <a:normAutofit/>
          </a:bodyPr>
          <a:lstStyle/>
          <a:p>
            <a:pPr algn="just"/>
            <a:r>
              <a:rPr lang="en-US" dirty="0"/>
              <a:t>A method should throw an exception if the error needs to be handled by its caller</a:t>
            </a:r>
          </a:p>
          <a:p>
            <a:pPr algn="just"/>
            <a:r>
              <a:rPr lang="en-US" dirty="0"/>
              <a:t>Exception handling separates error-handling code from normal programming tasks</a:t>
            </a:r>
          </a:p>
          <a:p>
            <a:pPr algn="just"/>
            <a:r>
              <a:rPr lang="en-US" dirty="0"/>
              <a:t>Makes program easier to read and to modify</a:t>
            </a:r>
          </a:p>
          <a:p>
            <a:pPr algn="just"/>
            <a:r>
              <a:rPr lang="en-US" b="1" dirty="0"/>
              <a:t>Drawback</a:t>
            </a:r>
            <a:r>
              <a:rPr lang="en-US" dirty="0"/>
              <a:t>: more time, more resources</a:t>
            </a:r>
          </a:p>
          <a:p>
            <a:pPr algn="just"/>
            <a:r>
              <a:rPr lang="en-US" dirty="0"/>
              <a:t>Simple errors that may occur in individual methods are best handled without throwing exceptions</a:t>
            </a:r>
          </a:p>
          <a:p>
            <a:pPr algn="just"/>
            <a:r>
              <a:rPr lang="en-US" dirty="0"/>
              <a:t>Use </a:t>
            </a:r>
            <a:r>
              <a:rPr lang="en-US" dirty="0">
                <a:solidFill>
                  <a:srgbClr val="0070C0"/>
                </a:solidFill>
                <a:latin typeface="Consolas" panose="020B0609020204030204" pitchFamily="49" charset="0"/>
                <a:cs typeface="Consolas" panose="020B0609020204030204" pitchFamily="49" charset="0"/>
              </a:rPr>
              <a:t>try-catch</a:t>
            </a:r>
            <a:r>
              <a:rPr lang="en-US" dirty="0"/>
              <a:t> block while dealing with unexpected error conditions </a:t>
            </a:r>
          </a:p>
        </p:txBody>
      </p:sp>
      <p:sp>
        <p:nvSpPr>
          <p:cNvPr id="4" name="Slide Number Placeholder 3">
            <a:extLst>
              <a:ext uri="{FF2B5EF4-FFF2-40B4-BE49-F238E27FC236}">
                <a16:creationId xmlns:a16="http://schemas.microsoft.com/office/drawing/2014/main" id="{78E221E5-D0A8-40C4-8E3A-E646B1FCEE85}"/>
              </a:ext>
            </a:extLst>
          </p:cNvPr>
          <p:cNvSpPr>
            <a:spLocks noGrp="1"/>
          </p:cNvSpPr>
          <p:nvPr>
            <p:ph type="sldNum" sz="quarter" idx="12"/>
          </p:nvPr>
        </p:nvSpPr>
        <p:spPr/>
        <p:txBody>
          <a:bodyPr/>
          <a:lstStyle/>
          <a:p>
            <a:fld id="{4D917438-FD46-48DD-9C04-0EE101A21382}" type="slidenum">
              <a:rPr lang="en-US" smtClean="0"/>
              <a:t>36</a:t>
            </a:fld>
            <a:endParaRPr lang="en-US"/>
          </a:p>
        </p:txBody>
      </p:sp>
    </p:spTree>
    <p:extLst>
      <p:ext uri="{BB962C8B-B14F-4D97-AF65-F5344CB8AC3E}">
        <p14:creationId xmlns:p14="http://schemas.microsoft.com/office/powerpoint/2010/main" val="4159071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D1A95-E2F2-4AF6-A6D2-E34FE9505A90}"/>
              </a:ext>
            </a:extLst>
          </p:cNvPr>
          <p:cNvSpPr>
            <a:spLocks noGrp="1"/>
          </p:cNvSpPr>
          <p:nvPr>
            <p:ph type="title"/>
          </p:nvPr>
        </p:nvSpPr>
        <p:spPr/>
        <p:txBody>
          <a:bodyPr/>
          <a:lstStyle/>
          <a:p>
            <a:r>
              <a:rPr lang="en-US" dirty="0"/>
              <a:t>Rethrowing exceptions</a:t>
            </a:r>
          </a:p>
        </p:txBody>
      </p:sp>
      <p:sp>
        <p:nvSpPr>
          <p:cNvPr id="3" name="Content Placeholder 2">
            <a:extLst>
              <a:ext uri="{FF2B5EF4-FFF2-40B4-BE49-F238E27FC236}">
                <a16:creationId xmlns:a16="http://schemas.microsoft.com/office/drawing/2014/main" id="{C8455762-00AA-4B67-B42B-E0384C0C6B54}"/>
              </a:ext>
            </a:extLst>
          </p:cNvPr>
          <p:cNvSpPr>
            <a:spLocks noGrp="1"/>
          </p:cNvSpPr>
          <p:nvPr>
            <p:ph idx="1"/>
          </p:nvPr>
        </p:nvSpPr>
        <p:spPr/>
        <p:txBody>
          <a:bodyPr/>
          <a:lstStyle/>
          <a:p>
            <a:r>
              <a:rPr lang="en-US" dirty="0"/>
              <a:t>Rethrowing exception:</a:t>
            </a:r>
          </a:p>
          <a:p>
            <a:pPr lvl="1"/>
            <a:r>
              <a:rPr lang="en-US" dirty="0">
                <a:solidFill>
                  <a:srgbClr val="00B050"/>
                </a:solidFill>
              </a:rPr>
              <a:t>If the handler cannot process the exception</a:t>
            </a:r>
          </a:p>
          <a:p>
            <a:pPr lvl="1"/>
            <a:r>
              <a:rPr lang="en-US" dirty="0">
                <a:solidFill>
                  <a:srgbClr val="00B050"/>
                </a:solidFill>
              </a:rPr>
              <a:t>If the caller must be notified of the exception</a:t>
            </a:r>
          </a:p>
        </p:txBody>
      </p:sp>
      <p:sp>
        <p:nvSpPr>
          <p:cNvPr id="4" name="Slide Number Placeholder 3">
            <a:extLst>
              <a:ext uri="{FF2B5EF4-FFF2-40B4-BE49-F238E27FC236}">
                <a16:creationId xmlns:a16="http://schemas.microsoft.com/office/drawing/2014/main" id="{BE9F24F7-9EBA-4FA7-8C16-F36684DBCB3D}"/>
              </a:ext>
            </a:extLst>
          </p:cNvPr>
          <p:cNvSpPr>
            <a:spLocks noGrp="1"/>
          </p:cNvSpPr>
          <p:nvPr>
            <p:ph type="sldNum" sz="quarter" idx="12"/>
          </p:nvPr>
        </p:nvSpPr>
        <p:spPr/>
        <p:txBody>
          <a:bodyPr/>
          <a:lstStyle/>
          <a:p>
            <a:fld id="{4D917438-FD46-48DD-9C04-0EE101A21382}" type="slidenum">
              <a:rPr lang="en-US" smtClean="0"/>
              <a:t>37</a:t>
            </a:fld>
            <a:endParaRPr lang="en-US"/>
          </a:p>
        </p:txBody>
      </p:sp>
      <p:pic>
        <p:nvPicPr>
          <p:cNvPr id="5" name="Picture 4">
            <a:extLst>
              <a:ext uri="{FF2B5EF4-FFF2-40B4-BE49-F238E27FC236}">
                <a16:creationId xmlns:a16="http://schemas.microsoft.com/office/drawing/2014/main" id="{3FD5BF7C-0206-4C61-90EC-25189B563CF7}"/>
              </a:ext>
            </a:extLst>
          </p:cNvPr>
          <p:cNvPicPr>
            <a:picLocks noChangeAspect="1"/>
          </p:cNvPicPr>
          <p:nvPr/>
        </p:nvPicPr>
        <p:blipFill>
          <a:blip r:embed="rId2">
            <a:lum bright="-20000" contrast="40000"/>
          </a:blip>
          <a:stretch>
            <a:fillRect/>
          </a:stretch>
        </p:blipFill>
        <p:spPr>
          <a:xfrm>
            <a:off x="4253948" y="4070484"/>
            <a:ext cx="3678556" cy="1669544"/>
          </a:xfrm>
          <a:prstGeom prst="rect">
            <a:avLst/>
          </a:prstGeom>
        </p:spPr>
      </p:pic>
    </p:spTree>
    <p:extLst>
      <p:ext uri="{BB962C8B-B14F-4D97-AF65-F5344CB8AC3E}">
        <p14:creationId xmlns:p14="http://schemas.microsoft.com/office/powerpoint/2010/main" val="10664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3176E-8D7D-9493-97CF-3737C343E676}"/>
              </a:ext>
            </a:extLst>
          </p:cNvPr>
          <p:cNvSpPr>
            <a:spLocks noGrp="1"/>
          </p:cNvSpPr>
          <p:nvPr>
            <p:ph type="title"/>
          </p:nvPr>
        </p:nvSpPr>
        <p:spPr>
          <a:xfrm>
            <a:off x="323385" y="964692"/>
            <a:ext cx="2252547" cy="1188720"/>
          </a:xfrm>
        </p:spPr>
        <p:txBody>
          <a:bodyPr/>
          <a:lstStyle/>
          <a:p>
            <a:r>
              <a:rPr lang="en-US" dirty="0"/>
              <a:t>Example</a:t>
            </a:r>
          </a:p>
        </p:txBody>
      </p:sp>
      <p:sp>
        <p:nvSpPr>
          <p:cNvPr id="4" name="Slide Number Placeholder 3">
            <a:extLst>
              <a:ext uri="{FF2B5EF4-FFF2-40B4-BE49-F238E27FC236}">
                <a16:creationId xmlns:a16="http://schemas.microsoft.com/office/drawing/2014/main" id="{9413174E-1239-FA13-A927-8F59A810578D}"/>
              </a:ext>
            </a:extLst>
          </p:cNvPr>
          <p:cNvSpPr>
            <a:spLocks noGrp="1"/>
          </p:cNvSpPr>
          <p:nvPr>
            <p:ph type="sldNum" sz="quarter" idx="12"/>
          </p:nvPr>
        </p:nvSpPr>
        <p:spPr/>
        <p:txBody>
          <a:bodyPr/>
          <a:lstStyle/>
          <a:p>
            <a:fld id="{4D917438-FD46-48DD-9C04-0EE101A21382}" type="slidenum">
              <a:rPr lang="en-US" smtClean="0"/>
              <a:t>38</a:t>
            </a:fld>
            <a:endParaRPr lang="en-US"/>
          </a:p>
        </p:txBody>
      </p:sp>
      <p:sp>
        <p:nvSpPr>
          <p:cNvPr id="6" name="TextBox 5">
            <a:extLst>
              <a:ext uri="{FF2B5EF4-FFF2-40B4-BE49-F238E27FC236}">
                <a16:creationId xmlns:a16="http://schemas.microsoft.com/office/drawing/2014/main" id="{919F71DE-4BFE-24B6-CEBD-3543468A8DE9}"/>
              </a:ext>
            </a:extLst>
          </p:cNvPr>
          <p:cNvSpPr txBox="1"/>
          <p:nvPr/>
        </p:nvSpPr>
        <p:spPr>
          <a:xfrm>
            <a:off x="3121411" y="397371"/>
            <a:ext cx="8821545" cy="6186309"/>
          </a:xfrm>
          <a:prstGeom prst="rect">
            <a:avLst/>
          </a:prstGeom>
          <a:noFill/>
        </p:spPr>
        <p:txBody>
          <a:bodyPr wrap="square">
            <a:spAutoFit/>
          </a:bodyPr>
          <a:lstStyle/>
          <a:p>
            <a:r>
              <a:rPr lang="en-US" dirty="0"/>
              <a:t>public class Demo {</a:t>
            </a:r>
          </a:p>
          <a:p>
            <a:r>
              <a:rPr lang="en-US" dirty="0"/>
              <a:t>   public static void test1() {</a:t>
            </a:r>
          </a:p>
          <a:p>
            <a:r>
              <a:rPr lang="en-US" dirty="0"/>
              <a:t>      </a:t>
            </a:r>
            <a:r>
              <a:rPr lang="en-US" dirty="0" err="1"/>
              <a:t>System.out.println</a:t>
            </a:r>
            <a:r>
              <a:rPr lang="en-US" dirty="0"/>
              <a:t>("The Exception in test1() method");</a:t>
            </a:r>
          </a:p>
          <a:p>
            <a:r>
              <a:rPr lang="en-US" dirty="0"/>
              <a:t>      throw new </a:t>
            </a:r>
            <a:r>
              <a:rPr lang="en-US" dirty="0" err="1"/>
              <a:t>ArithmeticException</a:t>
            </a:r>
            <a:r>
              <a:rPr lang="en-US" dirty="0"/>
              <a:t>("(</a:t>
            </a:r>
            <a:r>
              <a:rPr lang="en-US" dirty="0" err="1"/>
              <a:t>ArithmeticException</a:t>
            </a:r>
            <a:r>
              <a:rPr lang="en-US" dirty="0"/>
              <a:t>) thrown from test1() method");</a:t>
            </a:r>
          </a:p>
          <a:p>
            <a:r>
              <a:rPr lang="en-US" dirty="0"/>
              <a:t>   }</a:t>
            </a:r>
          </a:p>
          <a:p>
            <a:r>
              <a:rPr lang="en-US" dirty="0"/>
              <a:t>   public static void test2(){</a:t>
            </a:r>
          </a:p>
          <a:p>
            <a:r>
              <a:rPr lang="en-US" dirty="0"/>
              <a:t>      try {</a:t>
            </a:r>
          </a:p>
          <a:p>
            <a:r>
              <a:rPr lang="en-US" dirty="0"/>
              <a:t>         test1();</a:t>
            </a:r>
          </a:p>
          <a:p>
            <a:r>
              <a:rPr lang="en-US" dirty="0"/>
              <a:t>      } catch(</a:t>
            </a:r>
            <a:r>
              <a:rPr lang="en-US" dirty="0" err="1"/>
              <a:t>ArithmeticException</a:t>
            </a:r>
            <a:r>
              <a:rPr lang="en-US" dirty="0"/>
              <a:t> e) {</a:t>
            </a:r>
          </a:p>
          <a:p>
            <a:r>
              <a:rPr lang="en-US" dirty="0"/>
              <a:t>         </a:t>
            </a:r>
            <a:r>
              <a:rPr lang="en-US" dirty="0" err="1"/>
              <a:t>System.out.println</a:t>
            </a:r>
            <a:r>
              <a:rPr lang="en-US" dirty="0"/>
              <a:t>("Inside test2() method");</a:t>
            </a:r>
          </a:p>
          <a:p>
            <a:r>
              <a:rPr lang="en-US" dirty="0"/>
              <a:t>         throw e;</a:t>
            </a:r>
          </a:p>
          <a:p>
            <a:r>
              <a:rPr lang="en-US" dirty="0"/>
              <a:t>      }</a:t>
            </a:r>
          </a:p>
          <a:p>
            <a:r>
              <a:rPr lang="en-US" dirty="0"/>
              <a:t>   }</a:t>
            </a:r>
          </a:p>
          <a:p>
            <a:r>
              <a:rPr lang="en-US" dirty="0"/>
              <a:t>   public static void main(String[] </a:t>
            </a:r>
            <a:r>
              <a:rPr lang="en-US" dirty="0" err="1"/>
              <a:t>args</a:t>
            </a:r>
            <a:r>
              <a:rPr lang="en-US" dirty="0"/>
              <a:t>)  {</a:t>
            </a:r>
          </a:p>
          <a:p>
            <a:r>
              <a:rPr lang="en-US" dirty="0"/>
              <a:t>      try {</a:t>
            </a:r>
          </a:p>
          <a:p>
            <a:r>
              <a:rPr lang="en-US" dirty="0"/>
              <a:t>         test2();</a:t>
            </a:r>
          </a:p>
          <a:p>
            <a:r>
              <a:rPr lang="en-US" dirty="0"/>
              <a:t>      } catch(</a:t>
            </a:r>
            <a:r>
              <a:rPr lang="en-US" dirty="0" err="1"/>
              <a:t>ArithmeticException</a:t>
            </a:r>
            <a:r>
              <a:rPr lang="en-US" dirty="0"/>
              <a:t> e) {</a:t>
            </a:r>
          </a:p>
          <a:p>
            <a:r>
              <a:rPr lang="en-US" dirty="0"/>
              <a:t>         </a:t>
            </a:r>
            <a:r>
              <a:rPr lang="en-US" dirty="0" err="1"/>
              <a:t>System.out.println</a:t>
            </a:r>
            <a:r>
              <a:rPr lang="en-US" dirty="0"/>
              <a:t>("Caught in main  " +</a:t>
            </a:r>
            <a:r>
              <a:rPr lang="en-US" dirty="0" err="1"/>
              <a:t>e.getMessage</a:t>
            </a:r>
            <a:r>
              <a:rPr lang="en-US" dirty="0"/>
              <a:t>());</a:t>
            </a:r>
          </a:p>
          <a:p>
            <a:r>
              <a:rPr lang="en-US" dirty="0"/>
              <a:t>         //</a:t>
            </a:r>
            <a:r>
              <a:rPr lang="en-US" dirty="0" err="1"/>
              <a:t>e.printStackTrace</a:t>
            </a:r>
            <a:r>
              <a:rPr lang="en-US" dirty="0"/>
              <a:t>();</a:t>
            </a:r>
          </a:p>
          <a:p>
            <a:r>
              <a:rPr lang="en-US" dirty="0"/>
              <a:t>      }</a:t>
            </a:r>
          </a:p>
          <a:p>
            <a:r>
              <a:rPr lang="en-US" dirty="0"/>
              <a:t>   }</a:t>
            </a:r>
          </a:p>
          <a:p>
            <a:r>
              <a:rPr lang="en-US" dirty="0"/>
              <a:t>}</a:t>
            </a:r>
          </a:p>
        </p:txBody>
      </p:sp>
      <p:sp>
        <p:nvSpPr>
          <p:cNvPr id="8" name="TextBox 7">
            <a:extLst>
              <a:ext uri="{FF2B5EF4-FFF2-40B4-BE49-F238E27FC236}">
                <a16:creationId xmlns:a16="http://schemas.microsoft.com/office/drawing/2014/main" id="{3434A6DD-F6A8-94D9-E6F5-536891EB526B}"/>
              </a:ext>
            </a:extLst>
          </p:cNvPr>
          <p:cNvSpPr txBox="1"/>
          <p:nvPr/>
        </p:nvSpPr>
        <p:spPr>
          <a:xfrm>
            <a:off x="7620000" y="3429000"/>
            <a:ext cx="4434468" cy="1200329"/>
          </a:xfrm>
          <a:prstGeom prst="rect">
            <a:avLst/>
          </a:prstGeom>
          <a:solidFill>
            <a:schemeClr val="tx1"/>
          </a:solidFill>
        </p:spPr>
        <p:txBody>
          <a:bodyPr wrap="square">
            <a:spAutoFit/>
          </a:bodyPr>
          <a:lstStyle/>
          <a:p>
            <a:r>
              <a:rPr lang="en-US" dirty="0">
                <a:solidFill>
                  <a:schemeClr val="bg1"/>
                </a:solidFill>
              </a:rPr>
              <a:t>The Exception in test1() method</a:t>
            </a:r>
          </a:p>
          <a:p>
            <a:r>
              <a:rPr lang="en-US" dirty="0">
                <a:solidFill>
                  <a:schemeClr val="bg1"/>
                </a:solidFill>
              </a:rPr>
              <a:t>Inside test2() method</a:t>
            </a:r>
          </a:p>
          <a:p>
            <a:r>
              <a:rPr lang="en-US" dirty="0">
                <a:solidFill>
                  <a:schemeClr val="bg1"/>
                </a:solidFill>
              </a:rPr>
              <a:t>Caught in main  (</a:t>
            </a:r>
            <a:r>
              <a:rPr lang="en-US" dirty="0" err="1">
                <a:solidFill>
                  <a:schemeClr val="bg1"/>
                </a:solidFill>
              </a:rPr>
              <a:t>ArithmeticException</a:t>
            </a:r>
            <a:r>
              <a:rPr lang="en-US" dirty="0">
                <a:solidFill>
                  <a:schemeClr val="bg1"/>
                </a:solidFill>
              </a:rPr>
              <a:t>) thrown from test1() method</a:t>
            </a:r>
          </a:p>
        </p:txBody>
      </p:sp>
    </p:spTree>
    <p:extLst>
      <p:ext uri="{BB962C8B-B14F-4D97-AF65-F5344CB8AC3E}">
        <p14:creationId xmlns:p14="http://schemas.microsoft.com/office/powerpoint/2010/main" val="2256159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74FD-90EF-4D72-97C9-8118920B48A4}"/>
              </a:ext>
            </a:extLst>
          </p:cNvPr>
          <p:cNvSpPr>
            <a:spLocks noGrp="1"/>
          </p:cNvSpPr>
          <p:nvPr>
            <p:ph type="title"/>
          </p:nvPr>
        </p:nvSpPr>
        <p:spPr>
          <a:xfrm>
            <a:off x="804672" y="1419334"/>
            <a:ext cx="4486656" cy="1645920"/>
          </a:xfrm>
        </p:spPr>
        <p:txBody>
          <a:bodyPr vert="horz" lIns="274320" tIns="182880" rIns="274320" bIns="182880" rtlCol="0" anchor="ctr" anchorCtr="1">
            <a:normAutofit/>
          </a:bodyPr>
          <a:lstStyle/>
          <a:p>
            <a:r>
              <a:rPr lang="en-US" sz="3200"/>
              <a:t>Chained exceptions</a:t>
            </a:r>
          </a:p>
        </p:txBody>
      </p:sp>
      <p:sp>
        <p:nvSpPr>
          <p:cNvPr id="3" name="Content Placeholder 2">
            <a:extLst>
              <a:ext uri="{FF2B5EF4-FFF2-40B4-BE49-F238E27FC236}">
                <a16:creationId xmlns:a16="http://schemas.microsoft.com/office/drawing/2014/main" id="{202E548C-7BAC-487F-8198-D97975D9906E}"/>
              </a:ext>
            </a:extLst>
          </p:cNvPr>
          <p:cNvSpPr>
            <a:spLocks noGrp="1"/>
          </p:cNvSpPr>
          <p:nvPr>
            <p:ph idx="1"/>
          </p:nvPr>
        </p:nvSpPr>
        <p:spPr>
          <a:xfrm>
            <a:off x="1148615" y="3146596"/>
            <a:ext cx="3798770" cy="1239894"/>
          </a:xfrm>
        </p:spPr>
        <p:txBody>
          <a:bodyPr vert="horz" lIns="91440" tIns="45720" rIns="91440" bIns="45720" rtlCol="0">
            <a:normAutofit/>
          </a:bodyPr>
          <a:lstStyle/>
          <a:p>
            <a:pPr marL="0" indent="0" algn="ctr">
              <a:buNone/>
            </a:pPr>
            <a:r>
              <a:rPr lang="en-US" dirty="0">
                <a:solidFill>
                  <a:schemeClr val="bg1"/>
                </a:solidFill>
              </a:rPr>
              <a:t>Throwing an exception along with another exception forms a </a:t>
            </a:r>
            <a:r>
              <a:rPr lang="en-US" dirty="0">
                <a:solidFill>
                  <a:srgbClr val="C00000"/>
                </a:solidFill>
              </a:rPr>
              <a:t>chained exception</a:t>
            </a:r>
          </a:p>
        </p:txBody>
      </p:sp>
      <p:sp>
        <p:nvSpPr>
          <p:cNvPr id="11" name="Rectangle 10">
            <a:extLst>
              <a:ext uri="{FF2B5EF4-FFF2-40B4-BE49-F238E27FC236}">
                <a16:creationId xmlns:a16="http://schemas.microsoft.com/office/drawing/2014/main" id="{2F0F143B-3981-4FC2-BB15-0C5867633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9E62F451-44D0-409A-9FAB-52867EB9C492}"/>
              </a:ext>
            </a:extLst>
          </p:cNvPr>
          <p:cNvGrpSpPr/>
          <p:nvPr/>
        </p:nvGrpSpPr>
        <p:grpSpPr>
          <a:xfrm>
            <a:off x="6181862" y="140678"/>
            <a:ext cx="5719406" cy="4868644"/>
            <a:chOff x="6181862" y="140678"/>
            <a:chExt cx="5719406" cy="4868644"/>
          </a:xfrm>
        </p:grpSpPr>
        <p:pic>
          <p:nvPicPr>
            <p:cNvPr id="5" name="Picture 4">
              <a:extLst>
                <a:ext uri="{FF2B5EF4-FFF2-40B4-BE49-F238E27FC236}">
                  <a16:creationId xmlns:a16="http://schemas.microsoft.com/office/drawing/2014/main" id="{F7E48A90-5318-4718-AC17-954C928E627C}"/>
                </a:ext>
              </a:extLst>
            </p:cNvPr>
            <p:cNvPicPr>
              <a:picLocks noChangeAspect="1"/>
            </p:cNvPicPr>
            <p:nvPr/>
          </p:nvPicPr>
          <p:blipFill>
            <a:blip r:embed="rId2">
              <a:lum bright="-20000" contrast="40000"/>
            </a:blip>
            <a:stretch>
              <a:fillRect/>
            </a:stretch>
          </p:blipFill>
          <p:spPr>
            <a:xfrm>
              <a:off x="6181862" y="140678"/>
              <a:ext cx="5719406" cy="3891986"/>
            </a:xfrm>
            <a:prstGeom prst="rect">
              <a:avLst/>
            </a:prstGeom>
          </p:spPr>
        </p:pic>
        <p:pic>
          <p:nvPicPr>
            <p:cNvPr id="6" name="Picture 5">
              <a:extLst>
                <a:ext uri="{FF2B5EF4-FFF2-40B4-BE49-F238E27FC236}">
                  <a16:creationId xmlns:a16="http://schemas.microsoft.com/office/drawing/2014/main" id="{715DE3D7-5840-4B04-9774-266C3F04E934}"/>
                </a:ext>
              </a:extLst>
            </p:cNvPr>
            <p:cNvPicPr>
              <a:picLocks noChangeAspect="1"/>
            </p:cNvPicPr>
            <p:nvPr/>
          </p:nvPicPr>
          <p:blipFill>
            <a:blip r:embed="rId3">
              <a:lum bright="-20000" contrast="40000"/>
            </a:blip>
            <a:stretch>
              <a:fillRect/>
            </a:stretch>
          </p:blipFill>
          <p:spPr>
            <a:xfrm>
              <a:off x="6224495" y="3849602"/>
              <a:ext cx="5000096" cy="1159720"/>
            </a:xfrm>
            <a:prstGeom prst="rect">
              <a:avLst/>
            </a:prstGeom>
          </p:spPr>
        </p:pic>
      </p:grpSp>
      <p:sp>
        <p:nvSpPr>
          <p:cNvPr id="4" name="Slide Number Placeholder 3">
            <a:extLst>
              <a:ext uri="{FF2B5EF4-FFF2-40B4-BE49-F238E27FC236}">
                <a16:creationId xmlns:a16="http://schemas.microsoft.com/office/drawing/2014/main" id="{2E4EF5F3-0882-48A1-8FD6-F1082D8F28C0}"/>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4D917438-FD46-48DD-9C04-0EE101A21382}" type="slidenum">
              <a:rPr lang="en-US" kern="1200" spc="0" baseline="0" dirty="0">
                <a:solidFill>
                  <a:srgbClr val="FFFFFF"/>
                </a:solidFill>
                <a:latin typeface="+mn-lt"/>
                <a:ea typeface="+mn-ea"/>
                <a:cs typeface="+mn-cs"/>
              </a:rPr>
              <a:pPr>
                <a:lnSpc>
                  <a:spcPct val="90000"/>
                </a:lnSpc>
                <a:spcAft>
                  <a:spcPts val="600"/>
                </a:spcAft>
              </a:pPr>
              <a:t>39</a:t>
            </a:fld>
            <a:endParaRPr lang="en-US" kern="1200" spc="0" baseline="0" dirty="0">
              <a:solidFill>
                <a:srgbClr val="FFFFFF"/>
              </a:solidFill>
              <a:latin typeface="+mn-lt"/>
              <a:ea typeface="+mn-ea"/>
              <a:cs typeface="+mn-cs"/>
            </a:endParaRPr>
          </a:p>
        </p:txBody>
      </p:sp>
      <p:pic>
        <p:nvPicPr>
          <p:cNvPr id="8" name="Picture 7">
            <a:extLst>
              <a:ext uri="{FF2B5EF4-FFF2-40B4-BE49-F238E27FC236}">
                <a16:creationId xmlns:a16="http://schemas.microsoft.com/office/drawing/2014/main" id="{547A373B-E30E-4ED8-BB11-CF59EABA7E71}"/>
              </a:ext>
            </a:extLst>
          </p:cNvPr>
          <p:cNvPicPr>
            <a:picLocks noChangeAspect="1"/>
          </p:cNvPicPr>
          <p:nvPr/>
        </p:nvPicPr>
        <p:blipFill>
          <a:blip r:embed="rId4">
            <a:lum bright="-20000" contrast="40000"/>
          </a:blip>
          <a:stretch>
            <a:fillRect/>
          </a:stretch>
        </p:blipFill>
        <p:spPr>
          <a:xfrm>
            <a:off x="2690195" y="5136491"/>
            <a:ext cx="6808692" cy="1562485"/>
          </a:xfrm>
          <a:prstGeom prst="rect">
            <a:avLst/>
          </a:prstGeom>
        </p:spPr>
      </p:pic>
    </p:spTree>
    <p:extLst>
      <p:ext uri="{BB962C8B-B14F-4D97-AF65-F5344CB8AC3E}">
        <p14:creationId xmlns:p14="http://schemas.microsoft.com/office/powerpoint/2010/main" val="261581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64194-B290-4072-AE5C-E339F3951400}"/>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F9A6D6FC-EF7D-4768-B36A-312CB08C719E}"/>
              </a:ext>
            </a:extLst>
          </p:cNvPr>
          <p:cNvSpPr>
            <a:spLocks noGrp="1"/>
          </p:cNvSpPr>
          <p:nvPr>
            <p:ph idx="1"/>
          </p:nvPr>
        </p:nvSpPr>
        <p:spPr/>
        <p:txBody>
          <a:bodyPr/>
          <a:lstStyle/>
          <a:p>
            <a:r>
              <a:rPr lang="en-US" dirty="0"/>
              <a:t>Exception handling</a:t>
            </a:r>
          </a:p>
          <a:p>
            <a:r>
              <a:rPr lang="en-US" dirty="0"/>
              <a:t>Exception handling model</a:t>
            </a:r>
          </a:p>
          <a:p>
            <a:pPr lvl="1"/>
            <a:r>
              <a:rPr lang="en-US" dirty="0">
                <a:solidFill>
                  <a:srgbClr val="00B050"/>
                </a:solidFill>
              </a:rPr>
              <a:t>Declaring, throwing, &amp; catching exceptions</a:t>
            </a:r>
          </a:p>
          <a:p>
            <a:r>
              <a:rPr lang="en-US" dirty="0"/>
              <a:t>Exception types</a:t>
            </a:r>
          </a:p>
          <a:p>
            <a:r>
              <a:rPr lang="en-US" dirty="0"/>
              <a:t>The </a:t>
            </a:r>
            <a:r>
              <a:rPr lang="en-US" dirty="0">
                <a:solidFill>
                  <a:srgbClr val="C00000"/>
                </a:solidFill>
                <a:latin typeface="Consolas" panose="020B0609020204030204" pitchFamily="49" charset="0"/>
                <a:cs typeface="Consolas" panose="020B0609020204030204" pitchFamily="49" charset="0"/>
              </a:rPr>
              <a:t>finally</a:t>
            </a:r>
            <a:r>
              <a:rPr lang="en-US" dirty="0"/>
              <a:t> clause</a:t>
            </a:r>
          </a:p>
          <a:p>
            <a:r>
              <a:rPr lang="en-US" dirty="0"/>
              <a:t>Rethrowing exceptions</a:t>
            </a:r>
          </a:p>
          <a:p>
            <a:r>
              <a:rPr lang="en-US" dirty="0"/>
              <a:t>Chained exceptions</a:t>
            </a:r>
          </a:p>
        </p:txBody>
      </p:sp>
      <p:sp>
        <p:nvSpPr>
          <p:cNvPr id="4" name="Slide Number Placeholder 3">
            <a:extLst>
              <a:ext uri="{FF2B5EF4-FFF2-40B4-BE49-F238E27FC236}">
                <a16:creationId xmlns:a16="http://schemas.microsoft.com/office/drawing/2014/main" id="{422DEC39-19FF-48BD-9560-FD0D32E58CEF}"/>
              </a:ext>
            </a:extLst>
          </p:cNvPr>
          <p:cNvSpPr>
            <a:spLocks noGrp="1"/>
          </p:cNvSpPr>
          <p:nvPr>
            <p:ph type="sldNum" sz="quarter" idx="12"/>
          </p:nvPr>
        </p:nvSpPr>
        <p:spPr/>
        <p:txBody>
          <a:bodyPr/>
          <a:lstStyle/>
          <a:p>
            <a:fld id="{4D917438-FD46-48DD-9C04-0EE101A21382}" type="slidenum">
              <a:rPr lang="en-US" smtClean="0"/>
              <a:t>40</a:t>
            </a:fld>
            <a:endParaRPr lang="en-US"/>
          </a:p>
        </p:txBody>
      </p:sp>
    </p:spTree>
    <p:extLst>
      <p:ext uri="{BB962C8B-B14F-4D97-AF65-F5344CB8AC3E}">
        <p14:creationId xmlns:p14="http://schemas.microsoft.com/office/powerpoint/2010/main" val="3421275428"/>
      </p:ext>
    </p:extLst>
  </p:cSld>
  <p:clrMapOvr>
    <a:masterClrMapping/>
  </p:clrMapOvr>
</p:sld>
</file>

<file path=ppt/theme/theme1.xml><?xml version="1.0" encoding="utf-8"?>
<a:theme xmlns:a="http://schemas.openxmlformats.org/drawingml/2006/main" name="Parcel">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8876</TotalTime>
  <Words>2309</Words>
  <Application>Microsoft Office PowerPoint</Application>
  <PresentationFormat>Widescreen</PresentationFormat>
  <Paragraphs>344</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Arial Unicode MS</vt:lpstr>
      <vt:lpstr>Calibri</vt:lpstr>
      <vt:lpstr>Consolas</vt:lpstr>
      <vt:lpstr>erdana</vt:lpstr>
      <vt:lpstr>Gill Sans MT</vt:lpstr>
      <vt:lpstr>inter-regular</vt:lpstr>
      <vt:lpstr>Parcel</vt:lpstr>
      <vt:lpstr>Exception handling</vt:lpstr>
      <vt:lpstr>Today’s lecture</vt:lpstr>
      <vt:lpstr>introduction</vt:lpstr>
      <vt:lpstr>exceptions</vt:lpstr>
      <vt:lpstr>Java Exception Handling Example and common scenarios</vt:lpstr>
      <vt:lpstr>Exception handling</vt:lpstr>
      <vt:lpstr>Handling the exception using if statement</vt:lpstr>
      <vt:lpstr>The problem</vt:lpstr>
      <vt:lpstr>The solution</vt:lpstr>
      <vt:lpstr>Exception handling</vt:lpstr>
      <vt:lpstr>Exception handling (Contd.)</vt:lpstr>
      <vt:lpstr>Example: library method throwing exception</vt:lpstr>
      <vt:lpstr>examples</vt:lpstr>
      <vt:lpstr>Try – catch – finally Syntax</vt:lpstr>
      <vt:lpstr>Four Possibilities of exception</vt:lpstr>
      <vt:lpstr>Default Throw and Default Catch</vt:lpstr>
      <vt:lpstr>Default Throw and our Catch</vt:lpstr>
      <vt:lpstr> Our Throw and Default Catch</vt:lpstr>
      <vt:lpstr>Our Throw and Our Catch</vt:lpstr>
      <vt:lpstr>Exception types</vt:lpstr>
      <vt:lpstr>Exception classes</vt:lpstr>
      <vt:lpstr>Un/checked exceptions</vt:lpstr>
      <vt:lpstr>PowerPoint Presentation</vt:lpstr>
      <vt:lpstr>More on exception handling</vt:lpstr>
      <vt:lpstr>Declaring exceptions</vt:lpstr>
      <vt:lpstr>Throwing exceptions</vt:lpstr>
      <vt:lpstr>Catch/declare checked exceptions</vt:lpstr>
      <vt:lpstr>Java Multi-catch block</vt:lpstr>
      <vt:lpstr>Example</vt:lpstr>
      <vt:lpstr>Order of exceptions</vt:lpstr>
      <vt:lpstr>Catching exceptions</vt:lpstr>
      <vt:lpstr>Catching exceptions/ Exception Propagation</vt:lpstr>
      <vt:lpstr>Catching exceptions/ Exception Propagation</vt:lpstr>
      <vt:lpstr>Getting information from exceptions</vt:lpstr>
      <vt:lpstr>The finally clause</vt:lpstr>
      <vt:lpstr>When to use exceptions</vt:lpstr>
      <vt:lpstr>Rethrowing exceptions</vt:lpstr>
      <vt:lpstr>Example</vt:lpstr>
      <vt:lpstr>Chained exceptions</vt:lpstr>
      <vt:lpstr>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handling</dc:title>
  <dc:creator>Behjat Zuhaira</dc:creator>
  <cp:lastModifiedBy>Khurram Iqbal</cp:lastModifiedBy>
  <cp:revision>31</cp:revision>
  <dcterms:created xsi:type="dcterms:W3CDTF">2020-05-01T07:54:32Z</dcterms:created>
  <dcterms:modified xsi:type="dcterms:W3CDTF">2025-12-03T04:42:03Z</dcterms:modified>
</cp:coreProperties>
</file>