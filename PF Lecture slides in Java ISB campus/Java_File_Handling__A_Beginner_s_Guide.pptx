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microsoft.com/office/2016/11/relationships/changesInfo" Target="changesInfos/changesInfo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2F9619A-A9CE-3C56-92E5-71DE8363BE1A}"/>
    <pc:docChg chg="custSel modSld">
      <pc:chgData name="Khurram Iqbal" userId="af32904b-6c78-4cff-8330-5f3a20d540de" providerId="ADAL" clId="{62F9619A-A9CE-3C56-92E5-71DE8363BE1A}" dt="2026-05-18T15:19:46.548" v="0" actId="21"/>
      <pc:docMkLst>
        <pc:docMk/>
      </pc:docMkLst>
      <pc:sldChg chg="delSp mod">
        <pc:chgData name="Khurram Iqbal" userId="af32904b-6c78-4cff-8330-5f3a20d540de" providerId="ADAL" clId="{62F9619A-A9CE-3C56-92E5-71DE8363BE1A}" dt="2026-05-18T15:19:46.548" v="0" actId="21"/>
        <pc:sldMkLst>
          <pc:docMk/>
          <pc:sldMk cId="0" sldId="256"/>
        </pc:sldMkLst>
        <pc:spChg chg="del">
          <ac:chgData name="Khurram Iqbal" userId="af32904b-6c78-4cff-8330-5f3a20d540de" providerId="ADAL" clId="{62F9619A-A9CE-3C56-92E5-71DE8363BE1A}" dt="2026-05-18T15:19:46.548" v="0" actId="21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EC6E7-F531-0942-B923-06B0FACB50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78828-9273-E64C-8B74-7C084EE64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0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9.png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0">
            <a:off x="7358062" y="2643188"/>
            <a:ext cx="2143125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77976" y="1972401"/>
            <a:ext cx="4388048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Java File Handling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377976" y="2663893"/>
            <a:ext cx="438804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Beginner's Guide with Practical Examples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to File Handling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1285875"/>
            <a:ext cx="241637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is File Handling?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28625" y="1741289"/>
            <a:ext cx="3929063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handling in Java refers to the process of working with files stored on a computer's file system. This includes operations such as creating, reading, writing, updating, and deleting files.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8625" y="2747107"/>
            <a:ext cx="3929063" cy="8972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It's a fundamental aspect of many applications, allowing programs to interact with persistent data beyond their execution lifetime.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86313" y="1285875"/>
            <a:ext cx="224849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Why is it Important?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741289"/>
            <a:ext cx="137517" cy="1928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30986" y="1741289"/>
            <a:ext cx="368438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Persistence:</a:t>
            </a: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Store data permanently, even after the program closes.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351354"/>
            <a:ext cx="157163" cy="1928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50631" y="2351354"/>
            <a:ext cx="3527227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Configuration:</a:t>
            </a: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 application settings from files.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709965"/>
            <a:ext cx="157163" cy="1928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50631" y="2709965"/>
            <a:ext cx="3053953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Logging:</a:t>
            </a: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Record program events and errors.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068575"/>
            <a:ext cx="157163" cy="1928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50631" y="3068575"/>
            <a:ext cx="36647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Exchange:</a:t>
            </a: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Share data between different applications or systems.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Concepts in Java File I/O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9215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8" y="1464469"/>
            <a:ext cx="99119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Streams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28625" y="1827014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sequence of data representing a flow from source to destination.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28625" y="2319933"/>
            <a:ext cx="2571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Types: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28625" y="2548533"/>
            <a:ext cx="25717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Stream:</a:t>
            </a: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 data from a source.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8625" y="2798564"/>
            <a:ext cx="2571750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Stream:</a:t>
            </a: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Write data to a destination.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8625" y="2548533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28625" y="2798564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1492151"/>
            <a:ext cx="175022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2584" y="1464469"/>
            <a:ext cx="153412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Stream Types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286125" y="1827014"/>
            <a:ext cx="2571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Byte Streams: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86125" y="2075259"/>
            <a:ext cx="254138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raw binary data (images, audio, text).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286125" y="2273498"/>
            <a:ext cx="5143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Classes: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800475" y="2257425"/>
            <a:ext cx="848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InputStream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49158" y="2273498"/>
            <a:ext cx="571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06308" y="2257425"/>
            <a:ext cx="92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OutputStream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632149" y="2273498"/>
            <a:ext cx="339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286125" y="2553891"/>
            <a:ext cx="2571750" cy="264319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 Streams: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286125" y="2873573"/>
            <a:ext cx="210383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text data with auto-encoding.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286125" y="3071813"/>
            <a:ext cx="5143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Classes: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800475" y="3055739"/>
            <a:ext cx="462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Reader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263396" y="3071813"/>
            <a:ext cx="571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320546" y="3055739"/>
            <a:ext cx="462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Writer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783466" y="3071813"/>
            <a:ext cx="339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1492151"/>
            <a:ext cx="150019" cy="2000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65081" y="1464469"/>
            <a:ext cx="151626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The File Class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143625" y="1827014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Represents a file or directory path on the system.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143625" y="2319933"/>
            <a:ext cx="2571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Functions: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143625" y="2548533"/>
            <a:ext cx="25717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existence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143625" y="2798564"/>
            <a:ext cx="25717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file properties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143625" y="3048595"/>
            <a:ext cx="25717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Create/Delete files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143625" y="3298627"/>
            <a:ext cx="25717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directories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143625" y="2548533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143625" y="2798564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143625" y="3048595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143625" y="3298627"/>
            <a:ext cx="428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Basic File Operations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9" y="1402854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6547" y="1357313"/>
            <a:ext cx="178950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Creating a File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64369" y="1743075"/>
            <a:ext cx="51256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1176933" y="1725216"/>
            <a:ext cx="394357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9" name="Text 5"/>
          <p:cNvSpPr/>
          <p:nvPr/>
        </p:nvSpPr>
        <p:spPr>
          <a:xfrm>
            <a:off x="1176933" y="1725216"/>
            <a:ext cx="394357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571290" y="1743075"/>
            <a:ext cx="212526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to initialize a file object and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64369" y="1939528"/>
            <a:ext cx="1243040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8"/>
          <p:cNvSpPr/>
          <p:nvPr/>
        </p:nvSpPr>
        <p:spPr>
          <a:xfrm>
            <a:off x="664369" y="1939528"/>
            <a:ext cx="1243040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createNewFile()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907409" y="1957388"/>
            <a:ext cx="124122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create it on disk.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619" y="1402854"/>
            <a:ext cx="200025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7800" y="1357313"/>
            <a:ext cx="198596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Writing to a File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50619" y="1743075"/>
            <a:ext cx="2768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227439" y="1725216"/>
            <a:ext cx="857278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8" name="Text 13"/>
          <p:cNvSpPr/>
          <p:nvPr/>
        </p:nvSpPr>
        <p:spPr>
          <a:xfrm>
            <a:off x="5227439" y="1725216"/>
            <a:ext cx="857278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FileWriter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084717" y="1743075"/>
            <a:ext cx="2018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86528" y="1725216"/>
            <a:ext cx="1165882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1" name="Text 16"/>
          <p:cNvSpPr/>
          <p:nvPr/>
        </p:nvSpPr>
        <p:spPr>
          <a:xfrm>
            <a:off x="6286528" y="1725216"/>
            <a:ext cx="1165882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BufferedWriter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452410" y="1743075"/>
            <a:ext cx="114121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send character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950619" y="1957388"/>
            <a:ext cx="9340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into a file.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9" y="2551212"/>
            <a:ext cx="225028" cy="2000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6553" y="2505670"/>
            <a:ext cx="236636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Reading from a File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64369" y="2891433"/>
            <a:ext cx="2768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41189" y="2873573"/>
            <a:ext cx="625804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8" name="Text 22"/>
          <p:cNvSpPr/>
          <p:nvPr/>
        </p:nvSpPr>
        <p:spPr>
          <a:xfrm>
            <a:off x="941189" y="2873573"/>
            <a:ext cx="625804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Scanner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566993" y="2891433"/>
            <a:ext cx="2018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768804" y="2873573"/>
            <a:ext cx="1165882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1" name="Text 25"/>
          <p:cNvSpPr/>
          <p:nvPr/>
        </p:nvSpPr>
        <p:spPr>
          <a:xfrm>
            <a:off x="1768804" y="2873573"/>
            <a:ext cx="1165882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BufferedReader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2934686" y="2891433"/>
            <a:ext cx="143768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retrieve data from a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64369" y="3105745"/>
            <a:ext cx="6625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file.</a:t>
            </a:r>
            <a:endParaRPr lang="en-US" sz="10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0619" y="2551212"/>
            <a:ext cx="175022" cy="2000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32797" y="2505670"/>
            <a:ext cx="18145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 Deleting a File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4950619" y="2891433"/>
            <a:ext cx="51256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5463183" y="2873573"/>
            <a:ext cx="702962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8" name="Text 31"/>
          <p:cNvSpPr/>
          <p:nvPr/>
        </p:nvSpPr>
        <p:spPr>
          <a:xfrm>
            <a:off x="5463183" y="2873573"/>
            <a:ext cx="702962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delete()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166145" y="2891433"/>
            <a:ext cx="9626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 of the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128765" y="2873573"/>
            <a:ext cx="394357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41" name="Text 34"/>
          <p:cNvSpPr/>
          <p:nvPr/>
        </p:nvSpPr>
        <p:spPr>
          <a:xfrm>
            <a:off x="7128765" y="2873573"/>
            <a:ext cx="394357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523122" y="2891433"/>
            <a:ext cx="11519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to remove a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4950619" y="3105745"/>
            <a:ext cx="1296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from the system.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Example 1: Creating a File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800600" cy="3571875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143000"/>
            <a:ext cx="4800600" cy="3571875"/>
          </a:xfrm>
          <a:prstGeom prst="rect">
            <a:avLst/>
          </a:prstGeom>
          <a:noFill/>
          <a:ln/>
        </p:spPr>
        <p:txBody>
          <a:bodyPr wrap="square" lIns="255143" tIns="255143" rIns="25514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CreateFile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static void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main(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[] args)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try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myFile =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"my_first_file.txt"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if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(myFile.createNewFile())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"File created: 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+ myFile.getName()); }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else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"File already exists."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} }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catch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e) { e.printStackTrace(); } } }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14975" y="1285875"/>
            <a:ext cx="124837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14975" y="1728788"/>
            <a:ext cx="1768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63220" y="1728788"/>
            <a:ext cx="44648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09705" y="1712714"/>
            <a:ext cx="92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java.io.File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5546" y="1728788"/>
            <a:ext cx="24645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14975" y="1922004"/>
            <a:ext cx="14659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java.io.IOException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80895" y="1938077"/>
            <a:ext cx="158412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file operations and error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14975" y="2143795"/>
            <a:ext cx="5268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14975" y="2495959"/>
            <a:ext cx="1768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63220" y="2495959"/>
            <a:ext cx="53935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02573" y="2479886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11206" y="2495959"/>
            <a:ext cx="194667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object. This doesn't create the file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14975" y="2701677"/>
            <a:ext cx="223778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disk yet, just a reference to the path.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14975" y="3053842"/>
            <a:ext cx="1768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3220" y="3053842"/>
            <a:ext cx="28217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045398" y="3037768"/>
            <a:ext cx="11573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createNewFile()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202714" y="3053842"/>
            <a:ext cx="61257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returns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815290" y="3037768"/>
            <a:ext cx="3086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true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123923" y="3053842"/>
            <a:ext cx="47863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 new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14975" y="3263131"/>
            <a:ext cx="106799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is created, and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582966" y="3247058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false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968756" y="3263131"/>
            <a:ext cx="106799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it already exists.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14975" y="3615296"/>
            <a:ext cx="1768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63220" y="3615296"/>
            <a:ext cx="38397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47197" y="3599222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try-catch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841592" y="3615296"/>
            <a:ext cx="93940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 to handle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780995" y="3599222"/>
            <a:ext cx="848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IOException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629678" y="3615296"/>
            <a:ext cx="2500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514975" y="3821013"/>
            <a:ext cx="236815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is required for most file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Example 2: Writing to a File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WriteToFile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static void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main(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[] args)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try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writer =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"my_output.txt"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writer.write(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"Hello, Java File Handling!\n"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writer.write(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"This is a second line."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writer.close(); </a:t>
            </a:r>
            <a:r>
              <a:rPr lang="en-US" sz="950" i="1" dirty="0">
                <a:solidFill>
                  <a:srgbClr val="5C637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Important: close the 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"Successfully wrote to the file."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}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catch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e) { e.printStackTrace(); } } }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14975" y="1143000"/>
            <a:ext cx="124837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14975" y="1555552"/>
            <a:ext cx="214313" cy="214313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9" name="Text 6"/>
          <p:cNvSpPr/>
          <p:nvPr/>
        </p:nvSpPr>
        <p:spPr>
          <a:xfrm>
            <a:off x="5514975" y="155555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36444" y="1555552"/>
            <a:ext cx="28789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FileWriter:</a:t>
            </a: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 use this class to write character data to the specified file.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14975" y="2109862"/>
            <a:ext cx="214313" cy="214313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2" name="Text 9"/>
          <p:cNvSpPr/>
          <p:nvPr/>
        </p:nvSpPr>
        <p:spPr>
          <a:xfrm>
            <a:off x="5514975" y="210986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36444" y="2109862"/>
            <a:ext cx="28789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write():</a:t>
            </a: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method adds the string content into the file buffer.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14975" y="2664172"/>
            <a:ext cx="214313" cy="214313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5" name="Text 12"/>
          <p:cNvSpPr/>
          <p:nvPr/>
        </p:nvSpPr>
        <p:spPr>
          <a:xfrm>
            <a:off x="5514975" y="266417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36444" y="2664172"/>
            <a:ext cx="28789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close():</a:t>
            </a: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Crucial step! It flushes the data to the disk and releases system resources.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14975" y="3218483"/>
            <a:ext cx="214313" cy="214313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8" name="Text 15"/>
          <p:cNvSpPr/>
          <p:nvPr/>
        </p:nvSpPr>
        <p:spPr>
          <a:xfrm>
            <a:off x="5514975" y="321848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36444" y="3245272"/>
            <a:ext cx="113764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Exception Handling: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74086" y="3245272"/>
            <a:ext cx="13733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operations must be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36444" y="3454561"/>
            <a:ext cx="175914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wrapped in try-catch to handle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95592" y="3438488"/>
            <a:ext cx="848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IOException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444275" y="3454561"/>
            <a:ext cx="339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Example 3: Reading from a File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800600" cy="3743213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43000"/>
            <a:ext cx="71438" cy="3743213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43000"/>
            <a:ext cx="4800600" cy="3743213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java.io.File;
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java.io.FileNotFoundException;
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java.util.Scanner;
 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ReadFromFile {
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static void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main(String[] args) {
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try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
File myFile = 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File(</a:t>
            </a:r>
            <a:r>
              <a:rPr lang="en-US" sz="950" dirty="0">
                <a:solidFill>
                  <a:srgbClr val="28A74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"my_output.txt"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
Scanner myReader = 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Scanner(myFile);
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(myReader.hasNextLine()) {
String data = myReader.nextLine();
System.out.println(data);
}
myReader.close();
} </a:t>
            </a:r>
            <a:r>
              <a:rPr lang="en-US" sz="950" dirty="0">
                <a:solidFill>
                  <a:srgbClr val="007B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catch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(FileNotFoundException e) {
System.out.println(</a:t>
            </a:r>
            <a:r>
              <a:rPr lang="en-US" sz="950" dirty="0">
                <a:solidFill>
                  <a:srgbClr val="28A74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"An error occurred."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
e.printStackTrace();
}
}
}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14975" y="1214438"/>
            <a:ext cx="124837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14975" y="1626989"/>
            <a:ext cx="32004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Scanner Class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14975" y="1880592"/>
            <a:ext cx="24824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3220" y="1864519"/>
            <a:ext cx="540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Scanner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03299" y="1880592"/>
            <a:ext cx="211812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is a versatile tool that can read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14975" y="2073473"/>
            <a:ext cx="20895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various sources, including files.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14975" y="2389584"/>
            <a:ext cx="32004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Iteration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14975" y="2627114"/>
            <a:ext cx="10029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hasNextLine()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17974" y="2643188"/>
            <a:ext cx="21341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if there is another line of text,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14975" y="2841427"/>
            <a:ext cx="33218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47159" y="2825353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nextLine()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18712" y="2841427"/>
            <a:ext cx="6643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retrieves it.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14975" y="3157538"/>
            <a:ext cx="32004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Resource Management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14975" y="3411141"/>
            <a:ext cx="67329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call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8273" y="3395067"/>
            <a:ext cx="540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close()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728352" y="3411141"/>
            <a:ext cx="190023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the Scanner to release the file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14975" y="3604022"/>
            <a:ext cx="1562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lock and system resources.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514975" y="3920133"/>
            <a:ext cx="32004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Exception Handling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14975" y="4173736"/>
            <a:ext cx="15144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Reading requires handling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029450" y="4157663"/>
            <a:ext cx="16202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FileNotFoundException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14975" y="4366617"/>
            <a:ext cx="184130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case the target file is missing.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Example 4: Appending to a File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43000"/>
            <a:ext cx="71438" cy="34290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AppendToFile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static void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main(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[] args)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try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i="1" dirty="0">
                <a:solidFill>
                  <a:srgbClr val="5C637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true for append mode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writer =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FileWriter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"my_output.txt"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writer.write(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"\nThis line is appended.\n"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writer.write(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"Another appended line."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writer.close();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"Successfully appended."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}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catch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IOException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e) { e.printStackTrace(); } } }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14975" y="1285875"/>
            <a:ext cx="124837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14975" y="1734145"/>
            <a:ext cx="70008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default,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15063" y="1714500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FileWriter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72313" y="1734145"/>
            <a:ext cx="14573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overwrites the existing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14975" y="1962745"/>
            <a:ext cx="7429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content.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14975" y="2160984"/>
            <a:ext cx="320040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</a:t>
            </a:r>
            <a:r>
              <a:rPr lang="en-US" sz="10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append</a:t>
            </a: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data, we use the constructor that accepts a boolean flag.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3102173"/>
            <a:ext cx="85725" cy="114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29300" y="3096816"/>
            <a:ext cx="56257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Detail: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672138" y="3302198"/>
            <a:ext cx="113764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second argument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809780" y="3309342"/>
            <a:ext cx="2229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true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7032687" y="3302198"/>
            <a:ext cx="14823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672138" y="3309342"/>
            <a:ext cx="2623235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 FileWriter(file, true)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5950772" y="3436144"/>
            <a:ext cx="232529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tells Java to start writing at the end of the file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672138" y="3570089"/>
            <a:ext cx="125551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the beginning.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Example 5: Deleting a File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43000"/>
            <a:ext cx="71438" cy="34290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43000"/>
            <a:ext cx="4800600" cy="34290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import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java.io.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DeleteFile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static void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main(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String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[] args)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myFile =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"my_first_file.txt"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if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(myFile.delete())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"Deleted the file: 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+ myFile.getName()); } </a:t>
            </a:r>
            <a:r>
              <a:rPr lang="en-US" sz="950" dirty="0">
                <a:solidFill>
                  <a:srgbClr val="C678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else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 </a:t>
            </a:r>
            <a:r>
              <a:rPr lang="en-US" sz="950" dirty="0">
                <a:solidFill>
                  <a:srgbClr val="E5C0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.out.println(</a:t>
            </a:r>
            <a:r>
              <a:rPr lang="en-US" sz="950" dirty="0">
                <a:solidFill>
                  <a:srgbClr val="98C3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"Failed to delete the file."</a:t>
            </a:r>
            <a:r>
              <a:rPr lang="en-US" sz="950" dirty="0">
                <a:solidFill>
                  <a:srgbClr val="F8F9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 } } }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14975" y="1285875"/>
            <a:ext cx="124837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14975" y="1734145"/>
            <a:ext cx="2750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90009" y="1714500"/>
            <a:ext cx="685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delete()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75809" y="1734145"/>
            <a:ext cx="9626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 of the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38430" y="1714500"/>
            <a:ext cx="342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81330" y="1734145"/>
            <a:ext cx="85546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is used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14975" y="1962745"/>
            <a:ext cx="23806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remove a file or an empty directory.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14975" y="2303859"/>
            <a:ext cx="71794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returns 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32922" y="2303859"/>
            <a:ext cx="51077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boolean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43700" y="2303859"/>
            <a:ext cx="43934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83041" y="2284214"/>
            <a:ext cx="342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true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25941" y="2303859"/>
            <a:ext cx="86975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successful,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14975" y="2518172"/>
            <a:ext cx="428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false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0" y="2537817"/>
            <a:ext cx="6947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otherwise.</a:t>
            </a:r>
            <a:endParaRPr lang="en-US" sz="10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3112889"/>
            <a:ext cx="114300" cy="114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857875" y="3107531"/>
            <a:ext cx="83581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Note: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672138" y="3241477"/>
            <a:ext cx="2886075" cy="47327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Deletion is permanent! There is no "recycle bin" for files deleted via Java code. Always ensure you have the correct file path before calling this method.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Best Practices for File Handling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99295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457325"/>
            <a:ext cx="210204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Always Close Streams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28625" y="1850231"/>
            <a:ext cx="25003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78656" y="1819870"/>
            <a:ext cx="1474487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9" name="Text 5"/>
          <p:cNvSpPr/>
          <p:nvPr/>
        </p:nvSpPr>
        <p:spPr>
          <a:xfrm>
            <a:off x="678656" y="1819870"/>
            <a:ext cx="1474487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try-with-resources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153143" y="1850231"/>
            <a:ext cx="18609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(Java 7+) to automatically close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28625" y="2055949"/>
            <a:ext cx="343971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streams and writers, preventing memory and resource leaks.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499295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93481" y="1457325"/>
            <a:ext cx="21145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Robust Error Handling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714875" y="1850231"/>
            <a:ext cx="64650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361384" y="1819870"/>
            <a:ext cx="780120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6" name="Text 11"/>
          <p:cNvSpPr/>
          <p:nvPr/>
        </p:nvSpPr>
        <p:spPr>
          <a:xfrm>
            <a:off x="5361384" y="1819870"/>
            <a:ext cx="780120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try-catch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141504" y="1850231"/>
            <a:ext cx="159662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blocks to gracefully handle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738132" y="1819870"/>
            <a:ext cx="934408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9" name="Text 14"/>
          <p:cNvSpPr/>
          <p:nvPr/>
        </p:nvSpPr>
        <p:spPr>
          <a:xfrm>
            <a:off x="7738132" y="1819870"/>
            <a:ext cx="934408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IOException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14875" y="2055949"/>
            <a:ext cx="186809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other file-related exceptions.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34047"/>
            <a:ext cx="192881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663" y="2692078"/>
            <a:ext cx="208954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 Buffered Streams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28625" y="3084984"/>
            <a:ext cx="13198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performance, wrap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1748433" y="3054623"/>
            <a:ext cx="857278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5" name="Text 19"/>
          <p:cNvSpPr/>
          <p:nvPr/>
        </p:nvSpPr>
        <p:spPr>
          <a:xfrm>
            <a:off x="1748433" y="3054623"/>
            <a:ext cx="857278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FileReader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605711" y="3084984"/>
            <a:ext cx="16787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773589" y="3054623"/>
            <a:ext cx="1165882" cy="20359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8" name="Text 22"/>
          <p:cNvSpPr/>
          <p:nvPr/>
        </p:nvSpPr>
        <p:spPr>
          <a:xfrm>
            <a:off x="2773589" y="3054623"/>
            <a:ext cx="1165882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BufferedReader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3939471" y="3084984"/>
            <a:ext cx="33932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28625" y="3290701"/>
            <a:ext cx="28360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dealing with large text files to reduce disk access.</a:t>
            </a:r>
            <a:endParaRPr lang="en-US" sz="9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734047"/>
            <a:ext cx="171450" cy="1714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93481" y="2692078"/>
            <a:ext cx="191095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Character Encoding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714875" y="3054623"/>
            <a:ext cx="40005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mindful of character encoding (like UTF-8) when reading or writing text files to ensure international characters display correctly.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795885" y="1600200"/>
            <a:ext cx="355223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Mastering Java File Handling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481" y="2386013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" y="2871788"/>
            <a:ext cx="25717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28625" y="3196828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your applications to store and retrieve data permanently on the disk.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2386013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86125" y="2871788"/>
            <a:ext cx="25717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Control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286125" y="3196828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 full control over file system properties, directories, and file lifecycle.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2386013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43625" y="2871788"/>
            <a:ext cx="25717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5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43625" y="3196828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buffered streams and modern NIO.2 features for high-performance I/O.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1257300" y="4232672"/>
            <a:ext cx="66294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practicing with these examples and explore the </a:t>
            </a:r>
            <a:r>
              <a:rPr lang="en-US" sz="1000" b="1" dirty="0">
                <a:solidFill>
                  <a:srgbClr val="28A7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java.nio.file</a:t>
            </a: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package for advanced operations!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Khurram Iqbal</cp:lastModifiedBy>
  <cp:revision>2</cp:revision>
  <dcterms:created xsi:type="dcterms:W3CDTF">2026-05-18T15:17:54Z</dcterms:created>
  <dcterms:modified xsi:type="dcterms:W3CDTF">2026-05-18T15:19:56Z</dcterms:modified>
</cp:coreProperties>
</file>