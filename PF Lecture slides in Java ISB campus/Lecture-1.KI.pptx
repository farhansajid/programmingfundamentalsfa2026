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440" r:id="rId2"/>
    <p:sldId id="442" r:id="rId3"/>
    <p:sldId id="449" r:id="rId4"/>
    <p:sldId id="450" r:id="rId5"/>
    <p:sldId id="451" r:id="rId6"/>
    <p:sldId id="455" r:id="rId7"/>
    <p:sldId id="443" r:id="rId8"/>
    <p:sldId id="302" r:id="rId9"/>
    <p:sldId id="444" r:id="rId10"/>
    <p:sldId id="432" r:id="rId11"/>
    <p:sldId id="275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445" r:id="rId30"/>
    <p:sldId id="446" r:id="rId31"/>
    <p:sldId id="452" r:id="rId32"/>
    <p:sldId id="453" r:id="rId33"/>
    <p:sldId id="447" r:id="rId34"/>
    <p:sldId id="448" r:id="rId35"/>
    <p:sldId id="454" r:id="rId3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74853B-05CD-4317-B550-421590576FAE}" v="2" dt="2026-02-20T03:30:55.46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E01CBE59-94E2-4607-A170-EBFE72D8B202}"/>
    <pc:docChg chg="undo custSel modSld">
      <pc:chgData name="Khurram Iqbal" userId="af32904b-6c78-4cff-8330-5f3a20d540de" providerId="ADAL" clId="{E01CBE59-94E2-4607-A170-EBFE72D8B202}" dt="2026-02-20T03:33:02.795" v="32" actId="1036"/>
      <pc:docMkLst>
        <pc:docMk/>
      </pc:docMkLst>
      <pc:sldChg chg="modSp mod">
        <pc:chgData name="Khurram Iqbal" userId="af32904b-6c78-4cff-8330-5f3a20d540de" providerId="ADAL" clId="{E01CBE59-94E2-4607-A170-EBFE72D8B202}" dt="2026-02-06T15:27:29.742" v="7" actId="20577"/>
        <pc:sldMkLst>
          <pc:docMk/>
          <pc:sldMk cId="0" sldId="260"/>
        </pc:sldMkLst>
        <pc:graphicFrameChg chg="modGraphic">
          <ac:chgData name="Khurram Iqbal" userId="af32904b-6c78-4cff-8330-5f3a20d540de" providerId="ADAL" clId="{E01CBE59-94E2-4607-A170-EBFE72D8B202}" dt="2026-02-06T15:27:29.742" v="7" actId="20577"/>
          <ac:graphicFrameMkLst>
            <pc:docMk/>
            <pc:sldMk cId="0" sldId="260"/>
            <ac:graphicFrameMk id="5" creationId="{1FA6A18B-35C9-140E-268A-85EBC4C798AD}"/>
          </ac:graphicFrameMkLst>
        </pc:graphicFrameChg>
      </pc:sldChg>
      <pc:sldChg chg="modSp mod">
        <pc:chgData name="Khurram Iqbal" userId="af32904b-6c78-4cff-8330-5f3a20d540de" providerId="ADAL" clId="{E01CBE59-94E2-4607-A170-EBFE72D8B202}" dt="2026-02-20T03:31:35.167" v="29" actId="14100"/>
        <pc:sldMkLst>
          <pc:docMk/>
          <pc:sldMk cId="0" sldId="264"/>
        </pc:sldMkLst>
        <pc:spChg chg="mod">
          <ac:chgData name="Khurram Iqbal" userId="af32904b-6c78-4cff-8330-5f3a20d540de" providerId="ADAL" clId="{E01CBE59-94E2-4607-A170-EBFE72D8B202}" dt="2026-02-20T03:31:35.167" v="29" actId="1410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Khurram Iqbal" userId="af32904b-6c78-4cff-8330-5f3a20d540de" providerId="ADAL" clId="{E01CBE59-94E2-4607-A170-EBFE72D8B202}" dt="2026-02-20T03:33:02.795" v="32" actId="1036"/>
        <pc:sldMkLst>
          <pc:docMk/>
          <pc:sldMk cId="0" sldId="446"/>
        </pc:sldMkLst>
        <pc:spChg chg="mod">
          <ac:chgData name="Khurram Iqbal" userId="af32904b-6c78-4cff-8330-5f3a20d540de" providerId="ADAL" clId="{E01CBE59-94E2-4607-A170-EBFE72D8B202}" dt="2026-02-20T03:33:02.795" v="32" actId="1036"/>
          <ac:spMkLst>
            <pc:docMk/>
            <pc:sldMk cId="0" sldId="446"/>
            <ac:spMk id="7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hyperlink" Target="https://www.oracle.com/java/technologies/downloads/" TargetMode="External"/><Relationship Id="rId1" Type="http://schemas.openxmlformats.org/officeDocument/2006/relationships/hyperlink" Target="https://en.wikipedia.org/wiki/Java_version_history" TargetMode="Externa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racle.com/java/technologies/downloads/" TargetMode="External"/><Relationship Id="rId3" Type="http://schemas.openxmlformats.org/officeDocument/2006/relationships/hyperlink" Target="https://en.wikipedia.org/wiki/Java_version_history" TargetMode="External"/><Relationship Id="rId7" Type="http://schemas.openxmlformats.org/officeDocument/2006/relationships/image" Target="../media/image27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C412D9-708F-408D-94AD-17A6C03F2EF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BF3EEAB-26B4-4AA0-B3F0-CF250C69A514}">
      <dgm:prSet/>
      <dgm:spPr/>
      <dgm:t>
        <a:bodyPr/>
        <a:lstStyle/>
        <a:p>
          <a:pPr>
            <a:defRPr cap="all"/>
          </a:pPr>
          <a:r>
            <a:rPr lang="en-US"/>
            <a:t>Java Standard Edition (Java SE)</a:t>
          </a:r>
        </a:p>
      </dgm:t>
    </dgm:pt>
    <dgm:pt modelId="{6B89A207-FCF7-4B23-8B85-30A731710E42}" type="parTrans" cxnId="{31BCF8B8-13E7-49F2-BA68-C73158BE77F8}">
      <dgm:prSet/>
      <dgm:spPr/>
      <dgm:t>
        <a:bodyPr/>
        <a:lstStyle/>
        <a:p>
          <a:endParaRPr lang="en-US"/>
        </a:p>
      </dgm:t>
    </dgm:pt>
    <dgm:pt modelId="{227AE91F-C9DB-4463-9920-C5EB9700611F}" type="sibTrans" cxnId="{31BCF8B8-13E7-49F2-BA68-C73158BE77F8}">
      <dgm:prSet/>
      <dgm:spPr/>
      <dgm:t>
        <a:bodyPr/>
        <a:lstStyle/>
        <a:p>
          <a:endParaRPr lang="en-US"/>
        </a:p>
      </dgm:t>
    </dgm:pt>
    <dgm:pt modelId="{EC760655-96BA-42A2-A449-6CE96555CBBA}">
      <dgm:prSet/>
      <dgm:spPr/>
      <dgm:t>
        <a:bodyPr/>
        <a:lstStyle/>
        <a:p>
          <a:pPr>
            <a:defRPr cap="all"/>
          </a:pPr>
          <a:r>
            <a:rPr lang="en-US"/>
            <a:t>Java Enterprise Edition (Java EE)</a:t>
          </a:r>
        </a:p>
      </dgm:t>
    </dgm:pt>
    <dgm:pt modelId="{071505DC-381E-4817-96C4-9E4BAB341C8C}" type="parTrans" cxnId="{5542808B-0A78-42AA-BC0D-2D0CB865FDA1}">
      <dgm:prSet/>
      <dgm:spPr/>
      <dgm:t>
        <a:bodyPr/>
        <a:lstStyle/>
        <a:p>
          <a:endParaRPr lang="en-US"/>
        </a:p>
      </dgm:t>
    </dgm:pt>
    <dgm:pt modelId="{7476507C-F248-4A2F-B09E-D79E6FA87C2D}" type="sibTrans" cxnId="{5542808B-0A78-42AA-BC0D-2D0CB865FDA1}">
      <dgm:prSet/>
      <dgm:spPr/>
      <dgm:t>
        <a:bodyPr/>
        <a:lstStyle/>
        <a:p>
          <a:endParaRPr lang="en-US"/>
        </a:p>
      </dgm:t>
    </dgm:pt>
    <dgm:pt modelId="{5F0C18B2-CB42-49C9-8F6D-66416A18F595}">
      <dgm:prSet/>
      <dgm:spPr/>
      <dgm:t>
        <a:bodyPr/>
        <a:lstStyle/>
        <a:p>
          <a:pPr>
            <a:defRPr cap="all"/>
          </a:pPr>
          <a:r>
            <a:rPr lang="en-US"/>
            <a:t>Java Micro Edition (Java ME)</a:t>
          </a:r>
        </a:p>
      </dgm:t>
    </dgm:pt>
    <dgm:pt modelId="{5A1B0F67-8DEA-4264-9686-38AC454624ED}" type="parTrans" cxnId="{EFAC6D51-2C75-4A75-95BF-1ABA7D4C3C8D}">
      <dgm:prSet/>
      <dgm:spPr/>
      <dgm:t>
        <a:bodyPr/>
        <a:lstStyle/>
        <a:p>
          <a:endParaRPr lang="en-US"/>
        </a:p>
      </dgm:t>
    </dgm:pt>
    <dgm:pt modelId="{BBF4F9E2-A90C-40FF-BFE3-505BC9B38860}" type="sibTrans" cxnId="{EFAC6D51-2C75-4A75-95BF-1ABA7D4C3C8D}">
      <dgm:prSet/>
      <dgm:spPr/>
      <dgm:t>
        <a:bodyPr/>
        <a:lstStyle/>
        <a:p>
          <a:endParaRPr lang="en-US"/>
        </a:p>
      </dgm:t>
    </dgm:pt>
    <dgm:pt modelId="{FE3B75EA-FB78-4C8F-8983-4DFA924DB5C1}" type="pres">
      <dgm:prSet presAssocID="{06C412D9-708F-408D-94AD-17A6C03F2EFC}" presName="root" presStyleCnt="0">
        <dgm:presLayoutVars>
          <dgm:dir/>
          <dgm:resizeHandles val="exact"/>
        </dgm:presLayoutVars>
      </dgm:prSet>
      <dgm:spPr/>
    </dgm:pt>
    <dgm:pt modelId="{E3C24330-A51A-4E77-AA44-BF072CBC1BA6}" type="pres">
      <dgm:prSet presAssocID="{DBF3EEAB-26B4-4AA0-B3F0-CF250C69A514}" presName="compNode" presStyleCnt="0"/>
      <dgm:spPr/>
    </dgm:pt>
    <dgm:pt modelId="{D7DA1B99-E7AA-497E-8A42-3763D0AF5680}" type="pres">
      <dgm:prSet presAssocID="{DBF3EEAB-26B4-4AA0-B3F0-CF250C69A514}" presName="iconBgRect" presStyleLbl="bgShp" presStyleIdx="0" presStyleCnt="3"/>
      <dgm:spPr/>
    </dgm:pt>
    <dgm:pt modelId="{BE65CF3D-5C24-4A68-A705-9841E29F336A}" type="pres">
      <dgm:prSet presAssocID="{DBF3EEAB-26B4-4AA0-B3F0-CF250C69A51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79F01D52-4726-4BF9-83A9-B9EB2AC67FE4}" type="pres">
      <dgm:prSet presAssocID="{DBF3EEAB-26B4-4AA0-B3F0-CF250C69A514}" presName="spaceRect" presStyleCnt="0"/>
      <dgm:spPr/>
    </dgm:pt>
    <dgm:pt modelId="{32E3DDDD-3BB1-4E79-BF3F-260F2983ADAB}" type="pres">
      <dgm:prSet presAssocID="{DBF3EEAB-26B4-4AA0-B3F0-CF250C69A514}" presName="textRect" presStyleLbl="revTx" presStyleIdx="0" presStyleCnt="3">
        <dgm:presLayoutVars>
          <dgm:chMax val="1"/>
          <dgm:chPref val="1"/>
        </dgm:presLayoutVars>
      </dgm:prSet>
      <dgm:spPr/>
    </dgm:pt>
    <dgm:pt modelId="{29C75C49-8481-4B9A-AF88-5255EB88C399}" type="pres">
      <dgm:prSet presAssocID="{227AE91F-C9DB-4463-9920-C5EB9700611F}" presName="sibTrans" presStyleCnt="0"/>
      <dgm:spPr/>
    </dgm:pt>
    <dgm:pt modelId="{0D20BC1F-BE22-4FAE-84D6-1A3F5BE44CB0}" type="pres">
      <dgm:prSet presAssocID="{EC760655-96BA-42A2-A449-6CE96555CBBA}" presName="compNode" presStyleCnt="0"/>
      <dgm:spPr/>
    </dgm:pt>
    <dgm:pt modelId="{095EFFE2-CAEE-4FB1-913A-9CEDC673FD37}" type="pres">
      <dgm:prSet presAssocID="{EC760655-96BA-42A2-A449-6CE96555CBBA}" presName="iconBgRect" presStyleLbl="bgShp" presStyleIdx="1" presStyleCnt="3"/>
      <dgm:spPr/>
    </dgm:pt>
    <dgm:pt modelId="{5B4BA570-4CD7-477C-9C78-3BD190E48AAD}" type="pres">
      <dgm:prSet presAssocID="{EC760655-96BA-42A2-A449-6CE96555CBB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D689A719-3F0D-4DFA-A8A7-FDBC6FA4AAF0}" type="pres">
      <dgm:prSet presAssocID="{EC760655-96BA-42A2-A449-6CE96555CBBA}" presName="spaceRect" presStyleCnt="0"/>
      <dgm:spPr/>
    </dgm:pt>
    <dgm:pt modelId="{C1A34955-5AAC-4271-B71B-80833CD9E08E}" type="pres">
      <dgm:prSet presAssocID="{EC760655-96BA-42A2-A449-6CE96555CBBA}" presName="textRect" presStyleLbl="revTx" presStyleIdx="1" presStyleCnt="3">
        <dgm:presLayoutVars>
          <dgm:chMax val="1"/>
          <dgm:chPref val="1"/>
        </dgm:presLayoutVars>
      </dgm:prSet>
      <dgm:spPr/>
    </dgm:pt>
    <dgm:pt modelId="{8D6E9337-E6E7-4481-A50E-890C7839AC3E}" type="pres">
      <dgm:prSet presAssocID="{7476507C-F248-4A2F-B09E-D79E6FA87C2D}" presName="sibTrans" presStyleCnt="0"/>
      <dgm:spPr/>
    </dgm:pt>
    <dgm:pt modelId="{8D137315-33F3-4377-A4E1-3D19715BA8A5}" type="pres">
      <dgm:prSet presAssocID="{5F0C18B2-CB42-49C9-8F6D-66416A18F595}" presName="compNode" presStyleCnt="0"/>
      <dgm:spPr/>
    </dgm:pt>
    <dgm:pt modelId="{C34936A5-B97A-40CD-BC22-13CCC6DF36ED}" type="pres">
      <dgm:prSet presAssocID="{5F0C18B2-CB42-49C9-8F6D-66416A18F595}" presName="iconBgRect" presStyleLbl="bgShp" presStyleIdx="2" presStyleCnt="3"/>
      <dgm:spPr/>
    </dgm:pt>
    <dgm:pt modelId="{E45CC38B-B340-47D6-BDCB-0960B6E2A58C}" type="pres">
      <dgm:prSet presAssocID="{5F0C18B2-CB42-49C9-8F6D-66416A18F5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t"/>
        </a:ext>
      </dgm:extLst>
    </dgm:pt>
    <dgm:pt modelId="{05F55C63-E039-442B-B8CE-465D6D69B2C0}" type="pres">
      <dgm:prSet presAssocID="{5F0C18B2-CB42-49C9-8F6D-66416A18F595}" presName="spaceRect" presStyleCnt="0"/>
      <dgm:spPr/>
    </dgm:pt>
    <dgm:pt modelId="{E41A9660-0FD5-4E8D-AB5C-ABEFAB8F5785}" type="pres">
      <dgm:prSet presAssocID="{5F0C18B2-CB42-49C9-8F6D-66416A18F59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CB56645-6F45-4384-9C0F-A00B0B427E86}" type="presOf" srcId="{DBF3EEAB-26B4-4AA0-B3F0-CF250C69A514}" destId="{32E3DDDD-3BB1-4E79-BF3F-260F2983ADAB}" srcOrd="0" destOrd="0" presId="urn:microsoft.com/office/officeart/2018/5/layout/IconCircleLabelList"/>
    <dgm:cxn modelId="{4C805F66-B1DD-4AF6-8B1D-FFD2ACF26EC6}" type="presOf" srcId="{5F0C18B2-CB42-49C9-8F6D-66416A18F595}" destId="{E41A9660-0FD5-4E8D-AB5C-ABEFAB8F5785}" srcOrd="0" destOrd="0" presId="urn:microsoft.com/office/officeart/2018/5/layout/IconCircleLabelList"/>
    <dgm:cxn modelId="{EFAC6D51-2C75-4A75-95BF-1ABA7D4C3C8D}" srcId="{06C412D9-708F-408D-94AD-17A6C03F2EFC}" destId="{5F0C18B2-CB42-49C9-8F6D-66416A18F595}" srcOrd="2" destOrd="0" parTransId="{5A1B0F67-8DEA-4264-9686-38AC454624ED}" sibTransId="{BBF4F9E2-A90C-40FF-BFE3-505BC9B38860}"/>
    <dgm:cxn modelId="{8217877B-2D40-47CA-BE56-E244DC418F58}" type="presOf" srcId="{06C412D9-708F-408D-94AD-17A6C03F2EFC}" destId="{FE3B75EA-FB78-4C8F-8983-4DFA924DB5C1}" srcOrd="0" destOrd="0" presId="urn:microsoft.com/office/officeart/2018/5/layout/IconCircleLabelList"/>
    <dgm:cxn modelId="{5542808B-0A78-42AA-BC0D-2D0CB865FDA1}" srcId="{06C412D9-708F-408D-94AD-17A6C03F2EFC}" destId="{EC760655-96BA-42A2-A449-6CE96555CBBA}" srcOrd="1" destOrd="0" parTransId="{071505DC-381E-4817-96C4-9E4BAB341C8C}" sibTransId="{7476507C-F248-4A2F-B09E-D79E6FA87C2D}"/>
    <dgm:cxn modelId="{31BCF8B8-13E7-49F2-BA68-C73158BE77F8}" srcId="{06C412D9-708F-408D-94AD-17A6C03F2EFC}" destId="{DBF3EEAB-26B4-4AA0-B3F0-CF250C69A514}" srcOrd="0" destOrd="0" parTransId="{6B89A207-FCF7-4B23-8B85-30A731710E42}" sibTransId="{227AE91F-C9DB-4463-9920-C5EB9700611F}"/>
    <dgm:cxn modelId="{4CDFD7DB-916C-492A-842A-92CB1F5B6CC1}" type="presOf" srcId="{EC760655-96BA-42A2-A449-6CE96555CBBA}" destId="{C1A34955-5AAC-4271-B71B-80833CD9E08E}" srcOrd="0" destOrd="0" presId="urn:microsoft.com/office/officeart/2018/5/layout/IconCircleLabelList"/>
    <dgm:cxn modelId="{7DAE85EA-18AB-448E-8053-1873487729B2}" type="presParOf" srcId="{FE3B75EA-FB78-4C8F-8983-4DFA924DB5C1}" destId="{E3C24330-A51A-4E77-AA44-BF072CBC1BA6}" srcOrd="0" destOrd="0" presId="urn:microsoft.com/office/officeart/2018/5/layout/IconCircleLabelList"/>
    <dgm:cxn modelId="{E33E00C7-7743-4FB7-B172-EE026B5D9AFD}" type="presParOf" srcId="{E3C24330-A51A-4E77-AA44-BF072CBC1BA6}" destId="{D7DA1B99-E7AA-497E-8A42-3763D0AF5680}" srcOrd="0" destOrd="0" presId="urn:microsoft.com/office/officeart/2018/5/layout/IconCircleLabelList"/>
    <dgm:cxn modelId="{84C2FE33-8362-45F3-8A4C-B07D1376277E}" type="presParOf" srcId="{E3C24330-A51A-4E77-AA44-BF072CBC1BA6}" destId="{BE65CF3D-5C24-4A68-A705-9841E29F336A}" srcOrd="1" destOrd="0" presId="urn:microsoft.com/office/officeart/2018/5/layout/IconCircleLabelList"/>
    <dgm:cxn modelId="{F225ABD6-A24B-4059-B67B-524EE9838B6A}" type="presParOf" srcId="{E3C24330-A51A-4E77-AA44-BF072CBC1BA6}" destId="{79F01D52-4726-4BF9-83A9-B9EB2AC67FE4}" srcOrd="2" destOrd="0" presId="urn:microsoft.com/office/officeart/2018/5/layout/IconCircleLabelList"/>
    <dgm:cxn modelId="{7DF94C1A-EC28-47AC-8590-6A4A54F3AEE8}" type="presParOf" srcId="{E3C24330-A51A-4E77-AA44-BF072CBC1BA6}" destId="{32E3DDDD-3BB1-4E79-BF3F-260F2983ADAB}" srcOrd="3" destOrd="0" presId="urn:microsoft.com/office/officeart/2018/5/layout/IconCircleLabelList"/>
    <dgm:cxn modelId="{F08B2426-3304-4323-B2A6-1AA7F1D5234E}" type="presParOf" srcId="{FE3B75EA-FB78-4C8F-8983-4DFA924DB5C1}" destId="{29C75C49-8481-4B9A-AF88-5255EB88C399}" srcOrd="1" destOrd="0" presId="urn:microsoft.com/office/officeart/2018/5/layout/IconCircleLabelList"/>
    <dgm:cxn modelId="{A52CF5FB-258C-47FC-931D-B1402E961D44}" type="presParOf" srcId="{FE3B75EA-FB78-4C8F-8983-4DFA924DB5C1}" destId="{0D20BC1F-BE22-4FAE-84D6-1A3F5BE44CB0}" srcOrd="2" destOrd="0" presId="urn:microsoft.com/office/officeart/2018/5/layout/IconCircleLabelList"/>
    <dgm:cxn modelId="{1345A0E4-9C3D-4F8C-8A5E-71211EAD3B8B}" type="presParOf" srcId="{0D20BC1F-BE22-4FAE-84D6-1A3F5BE44CB0}" destId="{095EFFE2-CAEE-4FB1-913A-9CEDC673FD37}" srcOrd="0" destOrd="0" presId="urn:microsoft.com/office/officeart/2018/5/layout/IconCircleLabelList"/>
    <dgm:cxn modelId="{769B9BA4-ADDF-4FE0-958B-60C5A3693DDA}" type="presParOf" srcId="{0D20BC1F-BE22-4FAE-84D6-1A3F5BE44CB0}" destId="{5B4BA570-4CD7-477C-9C78-3BD190E48AAD}" srcOrd="1" destOrd="0" presId="urn:microsoft.com/office/officeart/2018/5/layout/IconCircleLabelList"/>
    <dgm:cxn modelId="{FAEAB34D-E884-498E-9D74-AC976375C656}" type="presParOf" srcId="{0D20BC1F-BE22-4FAE-84D6-1A3F5BE44CB0}" destId="{D689A719-3F0D-4DFA-A8A7-FDBC6FA4AAF0}" srcOrd="2" destOrd="0" presId="urn:microsoft.com/office/officeart/2018/5/layout/IconCircleLabelList"/>
    <dgm:cxn modelId="{226FFAE3-30A9-441E-9F8E-56193F92DB94}" type="presParOf" srcId="{0D20BC1F-BE22-4FAE-84D6-1A3F5BE44CB0}" destId="{C1A34955-5AAC-4271-B71B-80833CD9E08E}" srcOrd="3" destOrd="0" presId="urn:microsoft.com/office/officeart/2018/5/layout/IconCircleLabelList"/>
    <dgm:cxn modelId="{964AF9B0-2490-4E17-8A5B-70F034B311AD}" type="presParOf" srcId="{FE3B75EA-FB78-4C8F-8983-4DFA924DB5C1}" destId="{8D6E9337-E6E7-4481-A50E-890C7839AC3E}" srcOrd="3" destOrd="0" presId="urn:microsoft.com/office/officeart/2018/5/layout/IconCircleLabelList"/>
    <dgm:cxn modelId="{205F79C3-544D-444D-A4CF-7C27570EDC29}" type="presParOf" srcId="{FE3B75EA-FB78-4C8F-8983-4DFA924DB5C1}" destId="{8D137315-33F3-4377-A4E1-3D19715BA8A5}" srcOrd="4" destOrd="0" presId="urn:microsoft.com/office/officeart/2018/5/layout/IconCircleLabelList"/>
    <dgm:cxn modelId="{C7D3621F-472F-41D8-A5D8-8F3A32379873}" type="presParOf" srcId="{8D137315-33F3-4377-A4E1-3D19715BA8A5}" destId="{C34936A5-B97A-40CD-BC22-13CCC6DF36ED}" srcOrd="0" destOrd="0" presId="urn:microsoft.com/office/officeart/2018/5/layout/IconCircleLabelList"/>
    <dgm:cxn modelId="{2082591E-6865-479A-AB85-512B7F7A4435}" type="presParOf" srcId="{8D137315-33F3-4377-A4E1-3D19715BA8A5}" destId="{E45CC38B-B340-47D6-BDCB-0960B6E2A58C}" srcOrd="1" destOrd="0" presId="urn:microsoft.com/office/officeart/2018/5/layout/IconCircleLabelList"/>
    <dgm:cxn modelId="{0D467B18-4BDF-4018-AD3A-993DE3CDEDF2}" type="presParOf" srcId="{8D137315-33F3-4377-A4E1-3D19715BA8A5}" destId="{05F55C63-E039-442B-B8CE-465D6D69B2C0}" srcOrd="2" destOrd="0" presId="urn:microsoft.com/office/officeart/2018/5/layout/IconCircleLabelList"/>
    <dgm:cxn modelId="{D1FB37AD-BB8D-4726-A48C-B7EE0DBAD37C}" type="presParOf" srcId="{8D137315-33F3-4377-A4E1-3D19715BA8A5}" destId="{E41A9660-0FD5-4E8D-AB5C-ABEFAB8F578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E36F7E-E906-409E-81F5-ED30E406BF7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58FDCF9-4FF7-4E48-AE41-5C9A4722D819}">
      <dgm:prSet/>
      <dgm:spPr/>
      <dgm:t>
        <a:bodyPr/>
        <a:lstStyle/>
        <a:p>
          <a:pPr>
            <a:defRPr b="1"/>
          </a:pPr>
          <a:r>
            <a:rPr lang="en-US"/>
            <a:t>History of JDK version</a:t>
          </a:r>
        </a:p>
      </dgm:t>
    </dgm:pt>
    <dgm:pt modelId="{3148713E-16BA-437A-9DFA-86E3F7F9BD34}" type="parTrans" cxnId="{5AF33768-1C05-435D-952B-BD0BB66CE68C}">
      <dgm:prSet/>
      <dgm:spPr/>
      <dgm:t>
        <a:bodyPr/>
        <a:lstStyle/>
        <a:p>
          <a:endParaRPr lang="en-US"/>
        </a:p>
      </dgm:t>
    </dgm:pt>
    <dgm:pt modelId="{CC93467D-BF82-4532-BFF1-F9C5964BE120}" type="sibTrans" cxnId="{5AF33768-1C05-435D-952B-BD0BB66CE68C}">
      <dgm:prSet/>
      <dgm:spPr/>
      <dgm:t>
        <a:bodyPr/>
        <a:lstStyle/>
        <a:p>
          <a:endParaRPr lang="en-US"/>
        </a:p>
      </dgm:t>
    </dgm:pt>
    <dgm:pt modelId="{7EC018F9-FCAC-4879-8AC4-C667810B1510}">
      <dgm:prSet/>
      <dgm:spPr/>
      <dgm:t>
        <a:bodyPr/>
        <a:lstStyle/>
        <a:p>
          <a:r>
            <a:rPr lang="en-US" u="sng">
              <a:uFillTx/>
              <a:hlinkClick xmlns:r="http://schemas.openxmlformats.org/officeDocument/2006/relationships" r:id="rId1"/>
            </a:rPr>
            <a:t>https://en.wikipedia.org/wiki/Java_version_history</a:t>
          </a:r>
          <a:endParaRPr lang="en-US"/>
        </a:p>
      </dgm:t>
    </dgm:pt>
    <dgm:pt modelId="{73C11E41-F022-4924-B32F-C706912FB21A}" type="parTrans" cxnId="{19600A3B-BCD6-4C62-A731-E5520A2AE2A6}">
      <dgm:prSet/>
      <dgm:spPr/>
      <dgm:t>
        <a:bodyPr/>
        <a:lstStyle/>
        <a:p>
          <a:endParaRPr lang="en-US"/>
        </a:p>
      </dgm:t>
    </dgm:pt>
    <dgm:pt modelId="{BC944E02-D629-4B5C-B6AF-A17A4A4ABD27}" type="sibTrans" cxnId="{19600A3B-BCD6-4C62-A731-E5520A2AE2A6}">
      <dgm:prSet/>
      <dgm:spPr/>
      <dgm:t>
        <a:bodyPr/>
        <a:lstStyle/>
        <a:p>
          <a:endParaRPr lang="en-US"/>
        </a:p>
      </dgm:t>
    </dgm:pt>
    <dgm:pt modelId="{1ED23131-B602-439E-9C8D-06284AE44337}">
      <dgm:prSet/>
      <dgm:spPr/>
      <dgm:t>
        <a:bodyPr/>
        <a:lstStyle/>
        <a:p>
          <a:pPr>
            <a:defRPr b="1"/>
          </a:pPr>
          <a:r>
            <a:rPr lang="en-US" b="1" dirty="0"/>
            <a:t>Latest is Java </a:t>
          </a:r>
          <a:r>
            <a:rPr lang="en-US" b="1"/>
            <a:t>SE 25[</a:t>
          </a:r>
          <a:r>
            <a:rPr lang="en-US" b="1" dirty="0"/>
            <a:t>Java </a:t>
          </a:r>
          <a:r>
            <a:rPr lang="en-US" b="1"/>
            <a:t>SE 25]</a:t>
          </a:r>
          <a:endParaRPr lang="en-US" dirty="0"/>
        </a:p>
      </dgm:t>
    </dgm:pt>
    <dgm:pt modelId="{F327622E-E3E6-4A6C-B359-CC555DBDED6A}" type="parTrans" cxnId="{90F0160D-CD0C-4A5A-8F3B-91BA091A21BF}">
      <dgm:prSet/>
      <dgm:spPr/>
      <dgm:t>
        <a:bodyPr/>
        <a:lstStyle/>
        <a:p>
          <a:endParaRPr lang="en-US"/>
        </a:p>
      </dgm:t>
    </dgm:pt>
    <dgm:pt modelId="{7945FC08-90A1-43E1-88BC-FD602FE1D902}" type="sibTrans" cxnId="{90F0160D-CD0C-4A5A-8F3B-91BA091A21BF}">
      <dgm:prSet/>
      <dgm:spPr/>
      <dgm:t>
        <a:bodyPr/>
        <a:lstStyle/>
        <a:p>
          <a:endParaRPr lang="en-US"/>
        </a:p>
      </dgm:t>
    </dgm:pt>
    <dgm:pt modelId="{C9809F30-77A3-40A3-85D7-F605FDB6ABC5}">
      <dgm:prSet/>
      <dgm:spPr/>
      <dgm:t>
        <a:bodyPr/>
        <a:lstStyle/>
        <a:p>
          <a:pPr>
            <a:defRPr b="1"/>
          </a:pPr>
          <a:r>
            <a:rPr lang="en-US"/>
            <a:t>Download from:</a:t>
          </a:r>
        </a:p>
      </dgm:t>
    </dgm:pt>
    <dgm:pt modelId="{F529FF25-7DA0-429E-B8FE-2A8C6C2B8815}" type="parTrans" cxnId="{1FEF6514-68CB-4EA2-A1FB-B15ABAD21334}">
      <dgm:prSet/>
      <dgm:spPr/>
      <dgm:t>
        <a:bodyPr/>
        <a:lstStyle/>
        <a:p>
          <a:endParaRPr lang="en-US"/>
        </a:p>
      </dgm:t>
    </dgm:pt>
    <dgm:pt modelId="{E8C7D7D3-F4EE-44FE-A59A-98B72046A8F3}" type="sibTrans" cxnId="{1FEF6514-68CB-4EA2-A1FB-B15ABAD21334}">
      <dgm:prSet/>
      <dgm:spPr/>
      <dgm:t>
        <a:bodyPr/>
        <a:lstStyle/>
        <a:p>
          <a:endParaRPr lang="en-US"/>
        </a:p>
      </dgm:t>
    </dgm:pt>
    <dgm:pt modelId="{A65ED809-12FF-4879-A7AA-22789E338DC2}">
      <dgm:prSet/>
      <dgm:spPr/>
      <dgm:t>
        <a:bodyPr/>
        <a:lstStyle/>
        <a:p>
          <a:r>
            <a:rPr lang="en-US" u="sng">
              <a:uFillTx/>
              <a:hlinkClick xmlns:r="http://schemas.openxmlformats.org/officeDocument/2006/relationships" r:id="rId2"/>
            </a:rPr>
            <a:t>https://www.oracle.com/java/technologies/downloads/#jdk23-windows</a:t>
          </a:r>
          <a:endParaRPr lang="en-US" dirty="0"/>
        </a:p>
      </dgm:t>
    </dgm:pt>
    <dgm:pt modelId="{A3BE32DE-CE43-46F1-A2B4-32F8DBE69982}" type="parTrans" cxnId="{E6472556-37BE-486D-83CC-C54526C1CA20}">
      <dgm:prSet/>
      <dgm:spPr/>
      <dgm:t>
        <a:bodyPr/>
        <a:lstStyle/>
        <a:p>
          <a:endParaRPr lang="en-US"/>
        </a:p>
      </dgm:t>
    </dgm:pt>
    <dgm:pt modelId="{C401AA92-DFC3-48D1-9C60-BF8EFEA5980A}" type="sibTrans" cxnId="{E6472556-37BE-486D-83CC-C54526C1CA20}">
      <dgm:prSet/>
      <dgm:spPr/>
      <dgm:t>
        <a:bodyPr/>
        <a:lstStyle/>
        <a:p>
          <a:endParaRPr lang="en-US"/>
        </a:p>
      </dgm:t>
    </dgm:pt>
    <dgm:pt modelId="{E66B9101-A8E2-4DD8-BD5C-45527549B70F}" type="pres">
      <dgm:prSet presAssocID="{D5E36F7E-E906-409E-81F5-ED30E406BF7B}" presName="root" presStyleCnt="0">
        <dgm:presLayoutVars>
          <dgm:dir/>
          <dgm:resizeHandles val="exact"/>
        </dgm:presLayoutVars>
      </dgm:prSet>
      <dgm:spPr/>
    </dgm:pt>
    <dgm:pt modelId="{ABBA25EC-BDC4-4FD1-9EE7-507E8C1C37A3}" type="pres">
      <dgm:prSet presAssocID="{058FDCF9-4FF7-4E48-AE41-5C9A4722D819}" presName="compNode" presStyleCnt="0"/>
      <dgm:spPr/>
    </dgm:pt>
    <dgm:pt modelId="{8A739563-21DC-42A3-8642-A2A33DE3C1D0}" type="pres">
      <dgm:prSet presAssocID="{058FDCF9-4FF7-4E48-AE41-5C9A4722D819}" presName="iconRect" presStyleLbl="node1" presStyleIdx="0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ED25B64F-C442-4BA9-A306-6EA4E0BC13FC}" type="pres">
      <dgm:prSet presAssocID="{058FDCF9-4FF7-4E48-AE41-5C9A4722D819}" presName="iconSpace" presStyleCnt="0"/>
      <dgm:spPr/>
    </dgm:pt>
    <dgm:pt modelId="{E6248AD4-CD81-497E-B5C9-47D72C6FE69F}" type="pres">
      <dgm:prSet presAssocID="{058FDCF9-4FF7-4E48-AE41-5C9A4722D819}" presName="parTx" presStyleLbl="revTx" presStyleIdx="0" presStyleCnt="6">
        <dgm:presLayoutVars>
          <dgm:chMax val="0"/>
          <dgm:chPref val="0"/>
        </dgm:presLayoutVars>
      </dgm:prSet>
      <dgm:spPr/>
    </dgm:pt>
    <dgm:pt modelId="{8639825E-DAB0-487F-A91A-BB25D95FE631}" type="pres">
      <dgm:prSet presAssocID="{058FDCF9-4FF7-4E48-AE41-5C9A4722D819}" presName="txSpace" presStyleCnt="0"/>
      <dgm:spPr/>
    </dgm:pt>
    <dgm:pt modelId="{9FE72A22-2961-4A3E-88CF-A8D2831C0E21}" type="pres">
      <dgm:prSet presAssocID="{058FDCF9-4FF7-4E48-AE41-5C9A4722D819}" presName="desTx" presStyleLbl="revTx" presStyleIdx="1" presStyleCnt="6">
        <dgm:presLayoutVars/>
      </dgm:prSet>
      <dgm:spPr/>
    </dgm:pt>
    <dgm:pt modelId="{611BDEEC-64D7-4740-BAF9-AF5B82A6F67D}" type="pres">
      <dgm:prSet presAssocID="{CC93467D-BF82-4532-BFF1-F9C5964BE120}" presName="sibTrans" presStyleCnt="0"/>
      <dgm:spPr/>
    </dgm:pt>
    <dgm:pt modelId="{352EB8D4-6632-48CA-9343-E4AF3B42095F}" type="pres">
      <dgm:prSet presAssocID="{1ED23131-B602-439E-9C8D-06284AE44337}" presName="compNode" presStyleCnt="0"/>
      <dgm:spPr/>
    </dgm:pt>
    <dgm:pt modelId="{13F53946-993A-4442-9AF2-0ADBF83645BC}" type="pres">
      <dgm:prSet presAssocID="{1ED23131-B602-439E-9C8D-06284AE44337}" presName="iconRect" presStyleLbl="node1" presStyleIdx="1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BD690419-E32D-4177-B38A-F95ADDCBA660}" type="pres">
      <dgm:prSet presAssocID="{1ED23131-B602-439E-9C8D-06284AE44337}" presName="iconSpace" presStyleCnt="0"/>
      <dgm:spPr/>
    </dgm:pt>
    <dgm:pt modelId="{1FFEE65E-9E0F-46BC-B496-D2C12656F2DE}" type="pres">
      <dgm:prSet presAssocID="{1ED23131-B602-439E-9C8D-06284AE44337}" presName="parTx" presStyleLbl="revTx" presStyleIdx="2" presStyleCnt="6">
        <dgm:presLayoutVars>
          <dgm:chMax val="0"/>
          <dgm:chPref val="0"/>
        </dgm:presLayoutVars>
      </dgm:prSet>
      <dgm:spPr/>
    </dgm:pt>
    <dgm:pt modelId="{16F03788-3CE5-4A2B-A79E-1AA190994113}" type="pres">
      <dgm:prSet presAssocID="{1ED23131-B602-439E-9C8D-06284AE44337}" presName="txSpace" presStyleCnt="0"/>
      <dgm:spPr/>
    </dgm:pt>
    <dgm:pt modelId="{696CE8AD-9040-4830-B106-81D3C8786CE1}" type="pres">
      <dgm:prSet presAssocID="{1ED23131-B602-439E-9C8D-06284AE44337}" presName="desTx" presStyleLbl="revTx" presStyleIdx="3" presStyleCnt="6">
        <dgm:presLayoutVars/>
      </dgm:prSet>
      <dgm:spPr/>
    </dgm:pt>
    <dgm:pt modelId="{365EEC66-7C50-4CC2-90DF-F1BC9FA0A5C0}" type="pres">
      <dgm:prSet presAssocID="{7945FC08-90A1-43E1-88BC-FD602FE1D902}" presName="sibTrans" presStyleCnt="0"/>
      <dgm:spPr/>
    </dgm:pt>
    <dgm:pt modelId="{A82D10AB-572F-42DE-B595-FC5EB108E63F}" type="pres">
      <dgm:prSet presAssocID="{C9809F30-77A3-40A3-85D7-F605FDB6ABC5}" presName="compNode" presStyleCnt="0"/>
      <dgm:spPr/>
    </dgm:pt>
    <dgm:pt modelId="{69E25C4E-D64E-4381-B493-F9B5AFC04097}" type="pres">
      <dgm:prSet presAssocID="{C9809F30-77A3-40A3-85D7-F605FDB6ABC5}" presName="iconRect" presStyleLbl="node1" presStyleIdx="2" presStyleCnt="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CA322C0F-9B2E-471F-8217-DBAF0EAA8D4F}" type="pres">
      <dgm:prSet presAssocID="{C9809F30-77A3-40A3-85D7-F605FDB6ABC5}" presName="iconSpace" presStyleCnt="0"/>
      <dgm:spPr/>
    </dgm:pt>
    <dgm:pt modelId="{831024C4-25EC-4DF9-80D0-A9704255299B}" type="pres">
      <dgm:prSet presAssocID="{C9809F30-77A3-40A3-85D7-F605FDB6ABC5}" presName="parTx" presStyleLbl="revTx" presStyleIdx="4" presStyleCnt="6">
        <dgm:presLayoutVars>
          <dgm:chMax val="0"/>
          <dgm:chPref val="0"/>
        </dgm:presLayoutVars>
      </dgm:prSet>
      <dgm:spPr/>
    </dgm:pt>
    <dgm:pt modelId="{3D50FD5C-9111-4164-8FE2-25116475FF34}" type="pres">
      <dgm:prSet presAssocID="{C9809F30-77A3-40A3-85D7-F605FDB6ABC5}" presName="txSpace" presStyleCnt="0"/>
      <dgm:spPr/>
    </dgm:pt>
    <dgm:pt modelId="{712AF9A5-D1D5-44E8-AB6D-6A73E306EA43}" type="pres">
      <dgm:prSet presAssocID="{C9809F30-77A3-40A3-85D7-F605FDB6ABC5}" presName="desTx" presStyleLbl="revTx" presStyleIdx="5" presStyleCnt="6">
        <dgm:presLayoutVars/>
      </dgm:prSet>
      <dgm:spPr/>
    </dgm:pt>
  </dgm:ptLst>
  <dgm:cxnLst>
    <dgm:cxn modelId="{90F0160D-CD0C-4A5A-8F3B-91BA091A21BF}" srcId="{D5E36F7E-E906-409E-81F5-ED30E406BF7B}" destId="{1ED23131-B602-439E-9C8D-06284AE44337}" srcOrd="1" destOrd="0" parTransId="{F327622E-E3E6-4A6C-B359-CC555DBDED6A}" sibTransId="{7945FC08-90A1-43E1-88BC-FD602FE1D902}"/>
    <dgm:cxn modelId="{1FEF6514-68CB-4EA2-A1FB-B15ABAD21334}" srcId="{D5E36F7E-E906-409E-81F5-ED30E406BF7B}" destId="{C9809F30-77A3-40A3-85D7-F605FDB6ABC5}" srcOrd="2" destOrd="0" parTransId="{F529FF25-7DA0-429E-B8FE-2A8C6C2B8815}" sibTransId="{E8C7D7D3-F4EE-44FE-A59A-98B72046A8F3}"/>
    <dgm:cxn modelId="{0082401A-B29B-4F5E-99BF-C7345033DCBB}" type="presOf" srcId="{1ED23131-B602-439E-9C8D-06284AE44337}" destId="{1FFEE65E-9E0F-46BC-B496-D2C12656F2DE}" srcOrd="0" destOrd="0" presId="urn:microsoft.com/office/officeart/2018/2/layout/IconLabelDescriptionList"/>
    <dgm:cxn modelId="{19600A3B-BCD6-4C62-A731-E5520A2AE2A6}" srcId="{058FDCF9-4FF7-4E48-AE41-5C9A4722D819}" destId="{7EC018F9-FCAC-4879-8AC4-C667810B1510}" srcOrd="0" destOrd="0" parTransId="{73C11E41-F022-4924-B32F-C706912FB21A}" sibTransId="{BC944E02-D629-4B5C-B6AF-A17A4A4ABD27}"/>
    <dgm:cxn modelId="{BFE1BA3F-5DEA-4C22-B766-3CEBA4A91A10}" type="presOf" srcId="{058FDCF9-4FF7-4E48-AE41-5C9A4722D819}" destId="{E6248AD4-CD81-497E-B5C9-47D72C6FE69F}" srcOrd="0" destOrd="0" presId="urn:microsoft.com/office/officeart/2018/2/layout/IconLabelDescriptionList"/>
    <dgm:cxn modelId="{5AF33768-1C05-435D-952B-BD0BB66CE68C}" srcId="{D5E36F7E-E906-409E-81F5-ED30E406BF7B}" destId="{058FDCF9-4FF7-4E48-AE41-5C9A4722D819}" srcOrd="0" destOrd="0" parTransId="{3148713E-16BA-437A-9DFA-86E3F7F9BD34}" sibTransId="{CC93467D-BF82-4532-BFF1-F9C5964BE120}"/>
    <dgm:cxn modelId="{A26B2A51-D969-4D28-B2E2-36A779E1677F}" type="presOf" srcId="{A65ED809-12FF-4879-A7AA-22789E338DC2}" destId="{712AF9A5-D1D5-44E8-AB6D-6A73E306EA43}" srcOrd="0" destOrd="0" presId="urn:microsoft.com/office/officeart/2018/2/layout/IconLabelDescriptionList"/>
    <dgm:cxn modelId="{E6472556-37BE-486D-83CC-C54526C1CA20}" srcId="{C9809F30-77A3-40A3-85D7-F605FDB6ABC5}" destId="{A65ED809-12FF-4879-A7AA-22789E338DC2}" srcOrd="0" destOrd="0" parTransId="{A3BE32DE-CE43-46F1-A2B4-32F8DBE69982}" sibTransId="{C401AA92-DFC3-48D1-9C60-BF8EFEA5980A}"/>
    <dgm:cxn modelId="{399AC956-4A77-4D8F-9472-C6213A2A380C}" type="presOf" srcId="{7EC018F9-FCAC-4879-8AC4-C667810B1510}" destId="{9FE72A22-2961-4A3E-88CF-A8D2831C0E21}" srcOrd="0" destOrd="0" presId="urn:microsoft.com/office/officeart/2018/2/layout/IconLabelDescriptionList"/>
    <dgm:cxn modelId="{22035C8F-21FA-4557-966D-8A29E1B506EE}" type="presOf" srcId="{D5E36F7E-E906-409E-81F5-ED30E406BF7B}" destId="{E66B9101-A8E2-4DD8-BD5C-45527549B70F}" srcOrd="0" destOrd="0" presId="urn:microsoft.com/office/officeart/2018/2/layout/IconLabelDescriptionList"/>
    <dgm:cxn modelId="{5D481EF5-A384-4799-885D-08EB7DD0EC52}" type="presOf" srcId="{C9809F30-77A3-40A3-85D7-F605FDB6ABC5}" destId="{831024C4-25EC-4DF9-80D0-A9704255299B}" srcOrd="0" destOrd="0" presId="urn:microsoft.com/office/officeart/2018/2/layout/IconLabelDescriptionList"/>
    <dgm:cxn modelId="{136492CA-612E-4E1A-A025-9D118EC38A62}" type="presParOf" srcId="{E66B9101-A8E2-4DD8-BD5C-45527549B70F}" destId="{ABBA25EC-BDC4-4FD1-9EE7-507E8C1C37A3}" srcOrd="0" destOrd="0" presId="urn:microsoft.com/office/officeart/2018/2/layout/IconLabelDescriptionList"/>
    <dgm:cxn modelId="{BDDB418C-B2FE-4401-A247-C94C21C8DAB3}" type="presParOf" srcId="{ABBA25EC-BDC4-4FD1-9EE7-507E8C1C37A3}" destId="{8A739563-21DC-42A3-8642-A2A33DE3C1D0}" srcOrd="0" destOrd="0" presId="urn:microsoft.com/office/officeart/2018/2/layout/IconLabelDescriptionList"/>
    <dgm:cxn modelId="{E894BA4A-8EC1-495A-800F-0CD4D1F35D74}" type="presParOf" srcId="{ABBA25EC-BDC4-4FD1-9EE7-507E8C1C37A3}" destId="{ED25B64F-C442-4BA9-A306-6EA4E0BC13FC}" srcOrd="1" destOrd="0" presId="urn:microsoft.com/office/officeart/2018/2/layout/IconLabelDescriptionList"/>
    <dgm:cxn modelId="{D635D44B-53D8-4603-9670-C700B46CDCAF}" type="presParOf" srcId="{ABBA25EC-BDC4-4FD1-9EE7-507E8C1C37A3}" destId="{E6248AD4-CD81-497E-B5C9-47D72C6FE69F}" srcOrd="2" destOrd="0" presId="urn:microsoft.com/office/officeart/2018/2/layout/IconLabelDescriptionList"/>
    <dgm:cxn modelId="{D959464E-8DD9-4DE1-AB6A-4EA327286D3C}" type="presParOf" srcId="{ABBA25EC-BDC4-4FD1-9EE7-507E8C1C37A3}" destId="{8639825E-DAB0-487F-A91A-BB25D95FE631}" srcOrd="3" destOrd="0" presId="urn:microsoft.com/office/officeart/2018/2/layout/IconLabelDescriptionList"/>
    <dgm:cxn modelId="{7242A53E-BC51-4BE9-AD14-F85C0640A3B0}" type="presParOf" srcId="{ABBA25EC-BDC4-4FD1-9EE7-507E8C1C37A3}" destId="{9FE72A22-2961-4A3E-88CF-A8D2831C0E21}" srcOrd="4" destOrd="0" presId="urn:microsoft.com/office/officeart/2018/2/layout/IconLabelDescriptionList"/>
    <dgm:cxn modelId="{7AF87054-AA78-4A8E-BC87-B430D541A96D}" type="presParOf" srcId="{E66B9101-A8E2-4DD8-BD5C-45527549B70F}" destId="{611BDEEC-64D7-4740-BAF9-AF5B82A6F67D}" srcOrd="1" destOrd="0" presId="urn:microsoft.com/office/officeart/2018/2/layout/IconLabelDescriptionList"/>
    <dgm:cxn modelId="{15304DF4-936C-4358-9722-A96BE6E8BBB2}" type="presParOf" srcId="{E66B9101-A8E2-4DD8-BD5C-45527549B70F}" destId="{352EB8D4-6632-48CA-9343-E4AF3B42095F}" srcOrd="2" destOrd="0" presId="urn:microsoft.com/office/officeart/2018/2/layout/IconLabelDescriptionList"/>
    <dgm:cxn modelId="{2D5EA291-180A-48F0-B996-1FA0192DF77F}" type="presParOf" srcId="{352EB8D4-6632-48CA-9343-E4AF3B42095F}" destId="{13F53946-993A-4442-9AF2-0ADBF83645BC}" srcOrd="0" destOrd="0" presId="urn:microsoft.com/office/officeart/2018/2/layout/IconLabelDescriptionList"/>
    <dgm:cxn modelId="{6B9431A7-E561-4492-971E-EC183AB3A649}" type="presParOf" srcId="{352EB8D4-6632-48CA-9343-E4AF3B42095F}" destId="{BD690419-E32D-4177-B38A-F95ADDCBA660}" srcOrd="1" destOrd="0" presId="urn:microsoft.com/office/officeart/2018/2/layout/IconLabelDescriptionList"/>
    <dgm:cxn modelId="{17F622F1-B1F9-4DF8-9194-D43DAFBAF96D}" type="presParOf" srcId="{352EB8D4-6632-48CA-9343-E4AF3B42095F}" destId="{1FFEE65E-9E0F-46BC-B496-D2C12656F2DE}" srcOrd="2" destOrd="0" presId="urn:microsoft.com/office/officeart/2018/2/layout/IconLabelDescriptionList"/>
    <dgm:cxn modelId="{547F7A4D-9D54-4739-A91A-58506C6DCD04}" type="presParOf" srcId="{352EB8D4-6632-48CA-9343-E4AF3B42095F}" destId="{16F03788-3CE5-4A2B-A79E-1AA190994113}" srcOrd="3" destOrd="0" presId="urn:microsoft.com/office/officeart/2018/2/layout/IconLabelDescriptionList"/>
    <dgm:cxn modelId="{717978F4-8A6B-422B-B5F0-2CB7343249EB}" type="presParOf" srcId="{352EB8D4-6632-48CA-9343-E4AF3B42095F}" destId="{696CE8AD-9040-4830-B106-81D3C8786CE1}" srcOrd="4" destOrd="0" presId="urn:microsoft.com/office/officeart/2018/2/layout/IconLabelDescriptionList"/>
    <dgm:cxn modelId="{3E6B876C-9B4E-4B11-AF42-88C13E90E65F}" type="presParOf" srcId="{E66B9101-A8E2-4DD8-BD5C-45527549B70F}" destId="{365EEC66-7C50-4CC2-90DF-F1BC9FA0A5C0}" srcOrd="3" destOrd="0" presId="urn:microsoft.com/office/officeart/2018/2/layout/IconLabelDescriptionList"/>
    <dgm:cxn modelId="{8C3A4791-71DB-447B-974A-8D071271BAB7}" type="presParOf" srcId="{E66B9101-A8E2-4DD8-BD5C-45527549B70F}" destId="{A82D10AB-572F-42DE-B595-FC5EB108E63F}" srcOrd="4" destOrd="0" presId="urn:microsoft.com/office/officeart/2018/2/layout/IconLabelDescriptionList"/>
    <dgm:cxn modelId="{D7D10102-5312-48E2-8D3F-C48C8486F8BF}" type="presParOf" srcId="{A82D10AB-572F-42DE-B595-FC5EB108E63F}" destId="{69E25C4E-D64E-4381-B493-F9B5AFC04097}" srcOrd="0" destOrd="0" presId="urn:microsoft.com/office/officeart/2018/2/layout/IconLabelDescriptionList"/>
    <dgm:cxn modelId="{0C2C135D-373C-4C38-A3BB-10792500C5C3}" type="presParOf" srcId="{A82D10AB-572F-42DE-B595-FC5EB108E63F}" destId="{CA322C0F-9B2E-471F-8217-DBAF0EAA8D4F}" srcOrd="1" destOrd="0" presId="urn:microsoft.com/office/officeart/2018/2/layout/IconLabelDescriptionList"/>
    <dgm:cxn modelId="{B2E25DA4-F485-4781-8E0F-D75AE5B6AB5B}" type="presParOf" srcId="{A82D10AB-572F-42DE-B595-FC5EB108E63F}" destId="{831024C4-25EC-4DF9-80D0-A9704255299B}" srcOrd="2" destOrd="0" presId="urn:microsoft.com/office/officeart/2018/2/layout/IconLabelDescriptionList"/>
    <dgm:cxn modelId="{24609AFD-C8B7-467F-941F-039F18C39372}" type="presParOf" srcId="{A82D10AB-572F-42DE-B595-FC5EB108E63F}" destId="{3D50FD5C-9111-4164-8FE2-25116475FF34}" srcOrd="3" destOrd="0" presId="urn:microsoft.com/office/officeart/2018/2/layout/IconLabelDescriptionList"/>
    <dgm:cxn modelId="{3232E2F2-D276-44E5-BAAB-7A62293CE02A}" type="presParOf" srcId="{A82D10AB-572F-42DE-B595-FC5EB108E63F}" destId="{712AF9A5-D1D5-44E8-AB6D-6A73E306EA4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2CF650-21C4-41F7-980A-C09352AAFE63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34E701E-EEA2-4D08-81BA-CD15283BF84B}">
      <dgm:prSet/>
      <dgm:spPr/>
      <dgm:t>
        <a:bodyPr/>
        <a:lstStyle/>
        <a:p>
          <a:r>
            <a:rPr lang="en-US"/>
            <a:t>NetBeans</a:t>
          </a:r>
        </a:p>
      </dgm:t>
    </dgm:pt>
    <dgm:pt modelId="{44E6AF85-2F19-4D51-A6EA-DD1380B5DB58}" type="parTrans" cxnId="{98C282B8-AB26-4303-BA0A-04223A6B69F0}">
      <dgm:prSet/>
      <dgm:spPr/>
      <dgm:t>
        <a:bodyPr/>
        <a:lstStyle/>
        <a:p>
          <a:endParaRPr lang="en-US"/>
        </a:p>
      </dgm:t>
    </dgm:pt>
    <dgm:pt modelId="{23367D13-E991-4625-A097-FA7BD8670878}" type="sibTrans" cxnId="{98C282B8-AB26-4303-BA0A-04223A6B69F0}">
      <dgm:prSet/>
      <dgm:spPr/>
      <dgm:t>
        <a:bodyPr/>
        <a:lstStyle/>
        <a:p>
          <a:endParaRPr lang="en-US"/>
        </a:p>
      </dgm:t>
    </dgm:pt>
    <dgm:pt modelId="{2A01E66B-548C-400E-B3A5-88E5A8D51360}">
      <dgm:prSet/>
      <dgm:spPr/>
      <dgm:t>
        <a:bodyPr/>
        <a:lstStyle/>
        <a:p>
          <a:r>
            <a:rPr lang="en-US"/>
            <a:t>Eclipse</a:t>
          </a:r>
        </a:p>
      </dgm:t>
    </dgm:pt>
    <dgm:pt modelId="{4E901A12-755C-4F74-8C60-576C2CEEF5C1}" type="parTrans" cxnId="{4DFC28A6-C79D-47C7-8445-2F47D2C9D03E}">
      <dgm:prSet/>
      <dgm:spPr/>
      <dgm:t>
        <a:bodyPr/>
        <a:lstStyle/>
        <a:p>
          <a:endParaRPr lang="en-US"/>
        </a:p>
      </dgm:t>
    </dgm:pt>
    <dgm:pt modelId="{E802DD40-7980-41A9-BCB3-AA07C31DDC59}" type="sibTrans" cxnId="{4DFC28A6-C79D-47C7-8445-2F47D2C9D03E}">
      <dgm:prSet/>
      <dgm:spPr/>
      <dgm:t>
        <a:bodyPr/>
        <a:lstStyle/>
        <a:p>
          <a:endParaRPr lang="en-US"/>
        </a:p>
      </dgm:t>
    </dgm:pt>
    <dgm:pt modelId="{312BBAB4-AC65-493B-A725-A34E5399CF27}">
      <dgm:prSet/>
      <dgm:spPr/>
      <dgm:t>
        <a:bodyPr/>
        <a:lstStyle/>
        <a:p>
          <a:r>
            <a:rPr lang="en-US"/>
            <a:t>IntelliJ</a:t>
          </a:r>
        </a:p>
      </dgm:t>
    </dgm:pt>
    <dgm:pt modelId="{1BB0BDAB-B7EB-4DFD-9B93-125B20785079}" type="parTrans" cxnId="{E392ED05-6BB8-4CE4-8BF8-5B4FC13798B7}">
      <dgm:prSet/>
      <dgm:spPr/>
      <dgm:t>
        <a:bodyPr/>
        <a:lstStyle/>
        <a:p>
          <a:endParaRPr lang="en-US"/>
        </a:p>
      </dgm:t>
    </dgm:pt>
    <dgm:pt modelId="{74056E19-4556-47B1-A1F3-3B8CF237DD22}" type="sibTrans" cxnId="{E392ED05-6BB8-4CE4-8BF8-5B4FC13798B7}">
      <dgm:prSet/>
      <dgm:spPr/>
      <dgm:t>
        <a:bodyPr/>
        <a:lstStyle/>
        <a:p>
          <a:endParaRPr lang="en-US"/>
        </a:p>
      </dgm:t>
    </dgm:pt>
    <dgm:pt modelId="{5A4E1AB9-A9D4-45B4-B703-0EAD3CE11901}" type="pres">
      <dgm:prSet presAssocID="{842CF650-21C4-41F7-980A-C09352AAFE6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FF0D4E-105B-480B-9D84-D4C0AE736A19}" type="pres">
      <dgm:prSet presAssocID="{934E701E-EEA2-4D08-81BA-CD15283BF84B}" presName="root" presStyleCnt="0"/>
      <dgm:spPr/>
    </dgm:pt>
    <dgm:pt modelId="{6CB0C207-5AFC-41CE-9D9A-53FCC3E129E2}" type="pres">
      <dgm:prSet presAssocID="{934E701E-EEA2-4D08-81BA-CD15283BF84B}" presName="rootComposite" presStyleCnt="0"/>
      <dgm:spPr/>
    </dgm:pt>
    <dgm:pt modelId="{07B4A4C8-86CB-4ED8-AD30-5C87E1115A55}" type="pres">
      <dgm:prSet presAssocID="{934E701E-EEA2-4D08-81BA-CD15283BF84B}" presName="rootText" presStyleLbl="node1" presStyleIdx="0" presStyleCnt="3"/>
      <dgm:spPr/>
    </dgm:pt>
    <dgm:pt modelId="{BF0F80EF-C214-47FA-AA57-FDBD4E96BCDD}" type="pres">
      <dgm:prSet presAssocID="{934E701E-EEA2-4D08-81BA-CD15283BF84B}" presName="rootConnector" presStyleLbl="node1" presStyleIdx="0" presStyleCnt="3"/>
      <dgm:spPr/>
    </dgm:pt>
    <dgm:pt modelId="{3ADAF03C-6DE0-4DED-8266-95A60E870793}" type="pres">
      <dgm:prSet presAssocID="{934E701E-EEA2-4D08-81BA-CD15283BF84B}" presName="childShape" presStyleCnt="0"/>
      <dgm:spPr/>
    </dgm:pt>
    <dgm:pt modelId="{DB52FEE9-A305-4D68-A850-4696CA98F2F0}" type="pres">
      <dgm:prSet presAssocID="{2A01E66B-548C-400E-B3A5-88E5A8D51360}" presName="root" presStyleCnt="0"/>
      <dgm:spPr/>
    </dgm:pt>
    <dgm:pt modelId="{29F2F367-2486-4E34-AD91-DA1AE71F03E3}" type="pres">
      <dgm:prSet presAssocID="{2A01E66B-548C-400E-B3A5-88E5A8D51360}" presName="rootComposite" presStyleCnt="0"/>
      <dgm:spPr/>
    </dgm:pt>
    <dgm:pt modelId="{5ABAAA14-0B7D-4141-B46E-1E80F98C731C}" type="pres">
      <dgm:prSet presAssocID="{2A01E66B-548C-400E-B3A5-88E5A8D51360}" presName="rootText" presStyleLbl="node1" presStyleIdx="1" presStyleCnt="3"/>
      <dgm:spPr/>
    </dgm:pt>
    <dgm:pt modelId="{DFC0E285-6BA6-484A-9BCB-923B691CE336}" type="pres">
      <dgm:prSet presAssocID="{2A01E66B-548C-400E-B3A5-88E5A8D51360}" presName="rootConnector" presStyleLbl="node1" presStyleIdx="1" presStyleCnt="3"/>
      <dgm:spPr/>
    </dgm:pt>
    <dgm:pt modelId="{D4F76177-6B96-40F6-8F81-A874CA947059}" type="pres">
      <dgm:prSet presAssocID="{2A01E66B-548C-400E-B3A5-88E5A8D51360}" presName="childShape" presStyleCnt="0"/>
      <dgm:spPr/>
    </dgm:pt>
    <dgm:pt modelId="{8B5C4346-0124-4296-86D9-0A51A97DC29A}" type="pres">
      <dgm:prSet presAssocID="{312BBAB4-AC65-493B-A725-A34E5399CF27}" presName="root" presStyleCnt="0"/>
      <dgm:spPr/>
    </dgm:pt>
    <dgm:pt modelId="{C367698F-5BBE-47F6-B6EF-A869121A9747}" type="pres">
      <dgm:prSet presAssocID="{312BBAB4-AC65-493B-A725-A34E5399CF27}" presName="rootComposite" presStyleCnt="0"/>
      <dgm:spPr/>
    </dgm:pt>
    <dgm:pt modelId="{44C15102-1C57-422D-8754-18081D08D37F}" type="pres">
      <dgm:prSet presAssocID="{312BBAB4-AC65-493B-A725-A34E5399CF27}" presName="rootText" presStyleLbl="node1" presStyleIdx="2" presStyleCnt="3"/>
      <dgm:spPr/>
    </dgm:pt>
    <dgm:pt modelId="{546CAAF5-4EFD-4093-BE77-A02A3F23092B}" type="pres">
      <dgm:prSet presAssocID="{312BBAB4-AC65-493B-A725-A34E5399CF27}" presName="rootConnector" presStyleLbl="node1" presStyleIdx="2" presStyleCnt="3"/>
      <dgm:spPr/>
    </dgm:pt>
    <dgm:pt modelId="{3C84B7DE-8383-434B-BC49-275846157798}" type="pres">
      <dgm:prSet presAssocID="{312BBAB4-AC65-493B-A725-A34E5399CF27}" presName="childShape" presStyleCnt="0"/>
      <dgm:spPr/>
    </dgm:pt>
  </dgm:ptLst>
  <dgm:cxnLst>
    <dgm:cxn modelId="{E392ED05-6BB8-4CE4-8BF8-5B4FC13798B7}" srcId="{842CF650-21C4-41F7-980A-C09352AAFE63}" destId="{312BBAB4-AC65-493B-A725-A34E5399CF27}" srcOrd="2" destOrd="0" parTransId="{1BB0BDAB-B7EB-4DFD-9B93-125B20785079}" sibTransId="{74056E19-4556-47B1-A1F3-3B8CF237DD22}"/>
    <dgm:cxn modelId="{BAFCDD3D-06DC-4A4D-99B9-87F28D9C2B5F}" type="presOf" srcId="{934E701E-EEA2-4D08-81BA-CD15283BF84B}" destId="{BF0F80EF-C214-47FA-AA57-FDBD4E96BCDD}" srcOrd="1" destOrd="0" presId="urn:microsoft.com/office/officeart/2005/8/layout/hierarchy3"/>
    <dgm:cxn modelId="{7176045F-73BF-40DE-88F5-AE8B2FD5EE73}" type="presOf" srcId="{842CF650-21C4-41F7-980A-C09352AAFE63}" destId="{5A4E1AB9-A9D4-45B4-B703-0EAD3CE11901}" srcOrd="0" destOrd="0" presId="urn:microsoft.com/office/officeart/2005/8/layout/hierarchy3"/>
    <dgm:cxn modelId="{EDD92B6C-BBAB-4822-B73C-0DFDBC3A804B}" type="presOf" srcId="{312BBAB4-AC65-493B-A725-A34E5399CF27}" destId="{44C15102-1C57-422D-8754-18081D08D37F}" srcOrd="0" destOrd="0" presId="urn:microsoft.com/office/officeart/2005/8/layout/hierarchy3"/>
    <dgm:cxn modelId="{4DFC28A6-C79D-47C7-8445-2F47D2C9D03E}" srcId="{842CF650-21C4-41F7-980A-C09352AAFE63}" destId="{2A01E66B-548C-400E-B3A5-88E5A8D51360}" srcOrd="1" destOrd="0" parTransId="{4E901A12-755C-4F74-8C60-576C2CEEF5C1}" sibTransId="{E802DD40-7980-41A9-BCB3-AA07C31DDC59}"/>
    <dgm:cxn modelId="{38B92DB2-B767-4AB2-B19D-D4C76A34E09E}" type="presOf" srcId="{2A01E66B-548C-400E-B3A5-88E5A8D51360}" destId="{5ABAAA14-0B7D-4141-B46E-1E80F98C731C}" srcOrd="0" destOrd="0" presId="urn:microsoft.com/office/officeart/2005/8/layout/hierarchy3"/>
    <dgm:cxn modelId="{02E387B5-986F-4DB7-9638-1430EEC2A9AB}" type="presOf" srcId="{2A01E66B-548C-400E-B3A5-88E5A8D51360}" destId="{DFC0E285-6BA6-484A-9BCB-923B691CE336}" srcOrd="1" destOrd="0" presId="urn:microsoft.com/office/officeart/2005/8/layout/hierarchy3"/>
    <dgm:cxn modelId="{98C282B8-AB26-4303-BA0A-04223A6B69F0}" srcId="{842CF650-21C4-41F7-980A-C09352AAFE63}" destId="{934E701E-EEA2-4D08-81BA-CD15283BF84B}" srcOrd="0" destOrd="0" parTransId="{44E6AF85-2F19-4D51-A6EA-DD1380B5DB58}" sibTransId="{23367D13-E991-4625-A097-FA7BD8670878}"/>
    <dgm:cxn modelId="{B6C348E6-E071-4038-B2A0-A9FA8D222C86}" type="presOf" srcId="{934E701E-EEA2-4D08-81BA-CD15283BF84B}" destId="{07B4A4C8-86CB-4ED8-AD30-5C87E1115A55}" srcOrd="0" destOrd="0" presId="urn:microsoft.com/office/officeart/2005/8/layout/hierarchy3"/>
    <dgm:cxn modelId="{811D19EA-D0BA-4399-BE1D-FA0135DDF109}" type="presOf" srcId="{312BBAB4-AC65-493B-A725-A34E5399CF27}" destId="{546CAAF5-4EFD-4093-BE77-A02A3F23092B}" srcOrd="1" destOrd="0" presId="urn:microsoft.com/office/officeart/2005/8/layout/hierarchy3"/>
    <dgm:cxn modelId="{526D2EF2-2050-4A35-8E60-65C0E7B7F863}" type="presParOf" srcId="{5A4E1AB9-A9D4-45B4-B703-0EAD3CE11901}" destId="{84FF0D4E-105B-480B-9D84-D4C0AE736A19}" srcOrd="0" destOrd="0" presId="urn:microsoft.com/office/officeart/2005/8/layout/hierarchy3"/>
    <dgm:cxn modelId="{51E247AD-FEDF-45A8-8D86-E2C68BD7BB98}" type="presParOf" srcId="{84FF0D4E-105B-480B-9D84-D4C0AE736A19}" destId="{6CB0C207-5AFC-41CE-9D9A-53FCC3E129E2}" srcOrd="0" destOrd="0" presId="urn:microsoft.com/office/officeart/2005/8/layout/hierarchy3"/>
    <dgm:cxn modelId="{21476076-6799-46EF-9288-98AC75170B34}" type="presParOf" srcId="{6CB0C207-5AFC-41CE-9D9A-53FCC3E129E2}" destId="{07B4A4C8-86CB-4ED8-AD30-5C87E1115A55}" srcOrd="0" destOrd="0" presId="urn:microsoft.com/office/officeart/2005/8/layout/hierarchy3"/>
    <dgm:cxn modelId="{36D3360A-6DF8-438B-AAAC-79B0FA6AC2E6}" type="presParOf" srcId="{6CB0C207-5AFC-41CE-9D9A-53FCC3E129E2}" destId="{BF0F80EF-C214-47FA-AA57-FDBD4E96BCDD}" srcOrd="1" destOrd="0" presId="urn:microsoft.com/office/officeart/2005/8/layout/hierarchy3"/>
    <dgm:cxn modelId="{5E4F1655-2E3D-4CBC-90DF-D659BB6FD504}" type="presParOf" srcId="{84FF0D4E-105B-480B-9D84-D4C0AE736A19}" destId="{3ADAF03C-6DE0-4DED-8266-95A60E870793}" srcOrd="1" destOrd="0" presId="urn:microsoft.com/office/officeart/2005/8/layout/hierarchy3"/>
    <dgm:cxn modelId="{A4CE5830-3C97-49C5-BC35-CE89D79632A0}" type="presParOf" srcId="{5A4E1AB9-A9D4-45B4-B703-0EAD3CE11901}" destId="{DB52FEE9-A305-4D68-A850-4696CA98F2F0}" srcOrd="1" destOrd="0" presId="urn:microsoft.com/office/officeart/2005/8/layout/hierarchy3"/>
    <dgm:cxn modelId="{10054EB7-267B-4795-B550-ED601AC251F2}" type="presParOf" srcId="{DB52FEE9-A305-4D68-A850-4696CA98F2F0}" destId="{29F2F367-2486-4E34-AD91-DA1AE71F03E3}" srcOrd="0" destOrd="0" presId="urn:microsoft.com/office/officeart/2005/8/layout/hierarchy3"/>
    <dgm:cxn modelId="{1AC886F4-C883-449B-A5AA-93B42FBF395A}" type="presParOf" srcId="{29F2F367-2486-4E34-AD91-DA1AE71F03E3}" destId="{5ABAAA14-0B7D-4141-B46E-1E80F98C731C}" srcOrd="0" destOrd="0" presId="urn:microsoft.com/office/officeart/2005/8/layout/hierarchy3"/>
    <dgm:cxn modelId="{ABAAD8CD-6F0F-4EDB-97E1-D4396F8B55C2}" type="presParOf" srcId="{29F2F367-2486-4E34-AD91-DA1AE71F03E3}" destId="{DFC0E285-6BA6-484A-9BCB-923B691CE336}" srcOrd="1" destOrd="0" presId="urn:microsoft.com/office/officeart/2005/8/layout/hierarchy3"/>
    <dgm:cxn modelId="{F4839122-CDD8-49A6-9DA4-814B2FE3B763}" type="presParOf" srcId="{DB52FEE9-A305-4D68-A850-4696CA98F2F0}" destId="{D4F76177-6B96-40F6-8F81-A874CA947059}" srcOrd="1" destOrd="0" presId="urn:microsoft.com/office/officeart/2005/8/layout/hierarchy3"/>
    <dgm:cxn modelId="{E15A6A60-8DB8-4D9D-A828-A02B007370EA}" type="presParOf" srcId="{5A4E1AB9-A9D4-45B4-B703-0EAD3CE11901}" destId="{8B5C4346-0124-4296-86D9-0A51A97DC29A}" srcOrd="2" destOrd="0" presId="urn:microsoft.com/office/officeart/2005/8/layout/hierarchy3"/>
    <dgm:cxn modelId="{432E1FC9-D3FE-4BC9-8B9E-479862690F45}" type="presParOf" srcId="{8B5C4346-0124-4296-86D9-0A51A97DC29A}" destId="{C367698F-5BBE-47F6-B6EF-A869121A9747}" srcOrd="0" destOrd="0" presId="urn:microsoft.com/office/officeart/2005/8/layout/hierarchy3"/>
    <dgm:cxn modelId="{B6A08B00-A21B-4BB7-B03E-4434B13C56F9}" type="presParOf" srcId="{C367698F-5BBE-47F6-B6EF-A869121A9747}" destId="{44C15102-1C57-422D-8754-18081D08D37F}" srcOrd="0" destOrd="0" presId="urn:microsoft.com/office/officeart/2005/8/layout/hierarchy3"/>
    <dgm:cxn modelId="{F5CA3987-2092-43DC-B4E6-91730AEFC136}" type="presParOf" srcId="{C367698F-5BBE-47F6-B6EF-A869121A9747}" destId="{546CAAF5-4EFD-4093-BE77-A02A3F23092B}" srcOrd="1" destOrd="0" presId="urn:microsoft.com/office/officeart/2005/8/layout/hierarchy3"/>
    <dgm:cxn modelId="{F66CCD63-6226-4A44-8A8A-45519D2F0064}" type="presParOf" srcId="{8B5C4346-0124-4296-86D9-0A51A97DC29A}" destId="{3C84B7DE-8383-434B-BC49-275846157798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DA1B99-E7AA-497E-8A42-3763D0AF5680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65CF3D-5C24-4A68-A705-9841E29F336A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3DDDD-3BB1-4E79-BF3F-260F2983ADAB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Java Standard Edition (Java SE)</a:t>
          </a:r>
        </a:p>
      </dsp:txBody>
      <dsp:txXfrm>
        <a:off x="46529" y="2703902"/>
        <a:ext cx="2418750" cy="720000"/>
      </dsp:txXfrm>
    </dsp:sp>
    <dsp:sp modelId="{095EFFE2-CAEE-4FB1-913A-9CEDC673FD37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BA570-4CD7-477C-9C78-3BD190E48AAD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34955-5AAC-4271-B71B-80833CD9E08E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Java Enterprise Edition (Java EE)</a:t>
          </a:r>
        </a:p>
      </dsp:txBody>
      <dsp:txXfrm>
        <a:off x="2888560" y="2703902"/>
        <a:ext cx="2418750" cy="720000"/>
      </dsp:txXfrm>
    </dsp:sp>
    <dsp:sp modelId="{C34936A5-B97A-40CD-BC22-13CCC6DF36ED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CC38B-B340-47D6-BDCB-0960B6E2A58C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A9660-0FD5-4E8D-AB5C-ABEFAB8F5785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Java Micro Edition (Java ME)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39563-21DC-42A3-8642-A2A33DE3C1D0}">
      <dsp:nvSpPr>
        <dsp:cNvPr id="0" name=""/>
        <dsp:cNvSpPr/>
      </dsp:nvSpPr>
      <dsp:spPr>
        <a:xfrm>
          <a:off x="14473" y="1153021"/>
          <a:ext cx="853260" cy="8532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48AD4-CD81-497E-B5C9-47D72C6FE69F}">
      <dsp:nvSpPr>
        <dsp:cNvPr id="0" name=""/>
        <dsp:cNvSpPr/>
      </dsp:nvSpPr>
      <dsp:spPr>
        <a:xfrm>
          <a:off x="14473" y="2087412"/>
          <a:ext cx="2437887" cy="365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History of JDK version</a:t>
          </a:r>
        </a:p>
      </dsp:txBody>
      <dsp:txXfrm>
        <a:off x="14473" y="2087412"/>
        <a:ext cx="2437887" cy="365683"/>
      </dsp:txXfrm>
    </dsp:sp>
    <dsp:sp modelId="{9FE72A22-2961-4A3E-88CF-A8D2831C0E21}">
      <dsp:nvSpPr>
        <dsp:cNvPr id="0" name=""/>
        <dsp:cNvSpPr/>
      </dsp:nvSpPr>
      <dsp:spPr>
        <a:xfrm>
          <a:off x="14473" y="2490831"/>
          <a:ext cx="2437887" cy="548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u="sng" kern="1200">
              <a:uFillTx/>
              <a:hlinkClick xmlns:r="http://schemas.openxmlformats.org/officeDocument/2006/relationships" r:id="rId3"/>
            </a:rPr>
            <a:t>https://en.wikipedia.org/wiki/Java_version_history</a:t>
          </a:r>
          <a:endParaRPr lang="en-US" sz="1100" kern="1200"/>
        </a:p>
      </dsp:txBody>
      <dsp:txXfrm>
        <a:off x="14473" y="2490831"/>
        <a:ext cx="2437887" cy="548952"/>
      </dsp:txXfrm>
    </dsp:sp>
    <dsp:sp modelId="{13F53946-993A-4442-9AF2-0ADBF83645BC}">
      <dsp:nvSpPr>
        <dsp:cNvPr id="0" name=""/>
        <dsp:cNvSpPr/>
      </dsp:nvSpPr>
      <dsp:spPr>
        <a:xfrm>
          <a:off x="2878991" y="1153021"/>
          <a:ext cx="853260" cy="85326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EE65E-9E0F-46BC-B496-D2C12656F2DE}">
      <dsp:nvSpPr>
        <dsp:cNvPr id="0" name=""/>
        <dsp:cNvSpPr/>
      </dsp:nvSpPr>
      <dsp:spPr>
        <a:xfrm>
          <a:off x="2878991" y="2087412"/>
          <a:ext cx="2437887" cy="365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 dirty="0"/>
            <a:t>Latest is Java </a:t>
          </a:r>
          <a:r>
            <a:rPr lang="en-US" sz="1500" b="1" kern="1200"/>
            <a:t>SE 25[</a:t>
          </a:r>
          <a:r>
            <a:rPr lang="en-US" sz="1500" b="1" kern="1200" dirty="0"/>
            <a:t>Java </a:t>
          </a:r>
          <a:r>
            <a:rPr lang="en-US" sz="1500" b="1" kern="1200"/>
            <a:t>SE 25]</a:t>
          </a:r>
          <a:endParaRPr lang="en-US" sz="1500" kern="1200" dirty="0"/>
        </a:p>
      </dsp:txBody>
      <dsp:txXfrm>
        <a:off x="2878991" y="2087412"/>
        <a:ext cx="2437887" cy="365683"/>
      </dsp:txXfrm>
    </dsp:sp>
    <dsp:sp modelId="{696CE8AD-9040-4830-B106-81D3C8786CE1}">
      <dsp:nvSpPr>
        <dsp:cNvPr id="0" name=""/>
        <dsp:cNvSpPr/>
      </dsp:nvSpPr>
      <dsp:spPr>
        <a:xfrm>
          <a:off x="2878991" y="2490831"/>
          <a:ext cx="2437887" cy="548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E25C4E-D64E-4381-B493-F9B5AFC04097}">
      <dsp:nvSpPr>
        <dsp:cNvPr id="0" name=""/>
        <dsp:cNvSpPr/>
      </dsp:nvSpPr>
      <dsp:spPr>
        <a:xfrm>
          <a:off x="5743509" y="1153021"/>
          <a:ext cx="853260" cy="853260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024C4-25EC-4DF9-80D0-A9704255299B}">
      <dsp:nvSpPr>
        <dsp:cNvPr id="0" name=""/>
        <dsp:cNvSpPr/>
      </dsp:nvSpPr>
      <dsp:spPr>
        <a:xfrm>
          <a:off x="5743509" y="2087412"/>
          <a:ext cx="2437887" cy="365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Download from:</a:t>
          </a:r>
        </a:p>
      </dsp:txBody>
      <dsp:txXfrm>
        <a:off x="5743509" y="2087412"/>
        <a:ext cx="2437887" cy="365683"/>
      </dsp:txXfrm>
    </dsp:sp>
    <dsp:sp modelId="{712AF9A5-D1D5-44E8-AB6D-6A73E306EA43}">
      <dsp:nvSpPr>
        <dsp:cNvPr id="0" name=""/>
        <dsp:cNvSpPr/>
      </dsp:nvSpPr>
      <dsp:spPr>
        <a:xfrm>
          <a:off x="5743509" y="2490831"/>
          <a:ext cx="2437887" cy="548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u="sng" kern="1200">
              <a:uFillTx/>
              <a:hlinkClick xmlns:r="http://schemas.openxmlformats.org/officeDocument/2006/relationships" r:id="rId8"/>
            </a:rPr>
            <a:t>https://www.oracle.com/java/technologies/downloads/#jdk23-windows</a:t>
          </a:r>
          <a:endParaRPr lang="en-US" sz="1100" kern="1200" dirty="0"/>
        </a:p>
      </dsp:txBody>
      <dsp:txXfrm>
        <a:off x="5743509" y="2490831"/>
        <a:ext cx="2437887" cy="5489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4A4C8-86CB-4ED8-AD30-5C87E1115A55}">
      <dsp:nvSpPr>
        <dsp:cNvPr id="0" name=""/>
        <dsp:cNvSpPr/>
      </dsp:nvSpPr>
      <dsp:spPr>
        <a:xfrm>
          <a:off x="962" y="1612470"/>
          <a:ext cx="2252792" cy="112639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NetBeans</a:t>
          </a:r>
        </a:p>
      </dsp:txBody>
      <dsp:txXfrm>
        <a:off x="33953" y="1645461"/>
        <a:ext cx="2186810" cy="1060414"/>
      </dsp:txXfrm>
    </dsp:sp>
    <dsp:sp modelId="{5ABAAA14-0B7D-4141-B46E-1E80F98C731C}">
      <dsp:nvSpPr>
        <dsp:cNvPr id="0" name=""/>
        <dsp:cNvSpPr/>
      </dsp:nvSpPr>
      <dsp:spPr>
        <a:xfrm>
          <a:off x="2816953" y="1612470"/>
          <a:ext cx="2252792" cy="112639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Eclipse</a:t>
          </a:r>
        </a:p>
      </dsp:txBody>
      <dsp:txXfrm>
        <a:off x="2849944" y="1645461"/>
        <a:ext cx="2186810" cy="1060414"/>
      </dsp:txXfrm>
    </dsp:sp>
    <dsp:sp modelId="{44C15102-1C57-422D-8754-18081D08D37F}">
      <dsp:nvSpPr>
        <dsp:cNvPr id="0" name=""/>
        <dsp:cNvSpPr/>
      </dsp:nvSpPr>
      <dsp:spPr>
        <a:xfrm>
          <a:off x="5632944" y="1612470"/>
          <a:ext cx="2252792" cy="112639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IntelliJ</a:t>
          </a:r>
        </a:p>
      </dsp:txBody>
      <dsp:txXfrm>
        <a:off x="5665935" y="1645461"/>
        <a:ext cx="2186810" cy="1060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D990E-19F0-4649-92E5-16787E8BD4A6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2DD7E-67B2-48F2-A2F4-699A34EE4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0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34209" y="225297"/>
            <a:ext cx="527558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606" y="711"/>
            <a:ext cx="7512659" cy="11577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40" y="1065390"/>
            <a:ext cx="8590915" cy="3463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www.freecodecamp.org/news/jvm-tutorial-java-virtual-machine-architecture-explained-for-beginners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elcome Script Images – Browse 24,540 Stock Photos, Vectors, and Video |  Adobe Stock">
            <a:extLst>
              <a:ext uri="{FF2B5EF4-FFF2-40B4-BE49-F238E27FC236}">
                <a16:creationId xmlns:a16="http://schemas.microsoft.com/office/drawing/2014/main" id="{597BF7BD-5356-52D2-5F09-402F9F932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9550" y="1600200"/>
            <a:ext cx="6184900" cy="225748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57716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C5389F3-9670-525C-9F06-C404B2C8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723" y="1519839"/>
            <a:ext cx="3810000" cy="21419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4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Programming Fundamentals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5756A-A424-F200-2E06-79C1D1A865D4}"/>
              </a:ext>
            </a:extLst>
          </p:cNvPr>
          <p:cNvSpPr txBox="1"/>
          <p:nvPr/>
        </p:nvSpPr>
        <p:spPr>
          <a:xfrm>
            <a:off x="344883" y="4648200"/>
            <a:ext cx="3604268" cy="8388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Academic Block-II (AB-II), First Floor, </a:t>
            </a:r>
          </a:p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Email:  Khurram.iqbal@comsats.edu.pk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0A96F356-A0CB-A3CB-601B-78563C8F77C1}"/>
              </a:ext>
            </a:extLst>
          </p:cNvPr>
          <p:cNvSpPr txBox="1">
            <a:spLocks/>
          </p:cNvSpPr>
          <p:nvPr/>
        </p:nvSpPr>
        <p:spPr>
          <a:xfrm>
            <a:off x="345112" y="3075196"/>
            <a:ext cx="5486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800" kern="0" dirty="0">
                <a:solidFill>
                  <a:sysClr val="windowText" lastClr="000000"/>
                </a:solidFill>
              </a:rPr>
              <a:t>Khurram Iqbal.</a:t>
            </a:r>
          </a:p>
          <a:p>
            <a:pPr>
              <a:spcAft>
                <a:spcPts val="600"/>
              </a:spcAft>
            </a:pPr>
            <a:r>
              <a:rPr lang="en-US" sz="2800" kern="0" dirty="0">
                <a:solidFill>
                  <a:sysClr val="windowText" lastClr="000000"/>
                </a:solidFill>
              </a:rPr>
              <a:t>Lecturer, </a:t>
            </a:r>
          </a:p>
          <a:p>
            <a:pPr>
              <a:spcAft>
                <a:spcPts val="600"/>
              </a:spcAft>
            </a:pPr>
            <a:r>
              <a:rPr lang="en-US" sz="2800" kern="0" dirty="0">
                <a:solidFill>
                  <a:sysClr val="windowText" lastClr="000000"/>
                </a:solidFill>
              </a:rPr>
              <a:t>Dept of Computer Science</a:t>
            </a:r>
            <a:r>
              <a:rPr lang="en-US" sz="2000" kern="0" dirty="0">
                <a:solidFill>
                  <a:sysClr val="windowText" lastClr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69F5C-BDC6-5C4B-4F55-F8F770FCE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45" y="643467"/>
            <a:ext cx="6163550" cy="591700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73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FC78E98-3946-77E9-E052-954A15C98875}"/>
              </a:ext>
            </a:extLst>
          </p:cNvPr>
          <p:cNvGrpSpPr/>
          <p:nvPr/>
        </p:nvGrpSpPr>
        <p:grpSpPr>
          <a:xfrm>
            <a:off x="482600" y="1523249"/>
            <a:ext cx="8178799" cy="3811500"/>
            <a:chOff x="685800" y="152400"/>
            <a:chExt cx="8001574" cy="37289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117376-3416-BC3A-0B48-087F49688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52400"/>
              <a:ext cx="8001574" cy="274128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47A55F-395B-1B8E-4B80-2EA252BE9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2819400"/>
              <a:ext cx="8001574" cy="1061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097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F1E2E0-AE6E-9BBB-9723-0BA6C4529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8" y="756864"/>
            <a:ext cx="8192643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60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BAA77-487D-8163-5A00-A92ECF17C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102" y="318653"/>
            <a:ext cx="4629796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79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534392"/>
            <a:ext cx="9144000" cy="615553"/>
          </a:xfrm>
        </p:spPr>
        <p:txBody>
          <a:bodyPr anchor="ctr"/>
          <a:lstStyle/>
          <a:p>
            <a:pPr algn="ctr"/>
            <a:r>
              <a:rPr lang="en-US" sz="4000">
                <a:solidFill>
                  <a:schemeClr val="accent4"/>
                </a:solidFill>
              </a:rPr>
              <a:t>Course Evaluation Break Down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693989132"/>
              </p:ext>
            </p:extLst>
          </p:nvPr>
        </p:nvGraphicFramePr>
        <p:xfrm>
          <a:off x="1447800" y="1447800"/>
          <a:ext cx="6664843" cy="477784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{69012ECD-51FC-41F1-AA8D-1B2483CD663E}</a:tableStyleId>
              </a:tblPr>
              <a:tblGrid>
                <a:gridCol w="3301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1783">
                  <a:extLst>
                    <a:ext uri="{9D8B030D-6E8A-4147-A177-3AD203B41FA5}">
                      <a16:colId xmlns:a16="http://schemas.microsoft.com/office/drawing/2014/main" val="1005642800"/>
                    </a:ext>
                  </a:extLst>
                </a:gridCol>
              </a:tblGrid>
              <a:tr h="1225824"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Evaluation methods</a:t>
                      </a:r>
                      <a:endParaRPr lang="en-US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Theory Weight (%)[T]</a:t>
                      </a:r>
                      <a:endParaRPr lang="en-US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</a:rPr>
                        <a:t>Lab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Weight (%)</a:t>
                      </a:r>
                      <a:endParaRPr lang="en-US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463"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Quizzes (4 minimum)</a:t>
                      </a:r>
                      <a:endParaRPr lang="en-US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15</a:t>
                      </a:r>
                      <a:endParaRPr lang="en-US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998"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Assignments / Practical Assignments (4 minimum)</a:t>
                      </a:r>
                      <a:endParaRPr lang="en-US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10</a:t>
                      </a:r>
                      <a:endParaRPr lang="en-US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463"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</a:rPr>
                        <a:t>Mid-Term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</a:rPr>
                        <a:t>25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463"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Terminal Exam</a:t>
                      </a:r>
                      <a:endParaRPr lang="en-US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50</a:t>
                      </a:r>
                      <a:endParaRPr lang="en-US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</a:rPr>
                        <a:t>50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463"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Sub Total</a:t>
                      </a:r>
                      <a:endParaRPr lang="en-US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100</a:t>
                      </a:r>
                      <a:endParaRPr lang="en-US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</a:rPr>
                        <a:t>100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463"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</a:rPr>
                        <a:t>Total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</a:rPr>
                        <a:t>75%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1714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</a:rPr>
                        <a:t>25%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4081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5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24714" y="329691"/>
            <a:ext cx="8894571" cy="523220"/>
          </a:xfrm>
        </p:spPr>
        <p:txBody>
          <a:bodyPr/>
          <a:lstStyle/>
          <a:p>
            <a:pPr algn="ctr" eaLnBrk="1" hangingPunct="1"/>
            <a:r>
              <a:rPr lang="en-US">
                <a:cs typeface="Arial" charset="0"/>
              </a:rPr>
              <a:t>Course Requirements</a:t>
            </a:r>
          </a:p>
        </p:txBody>
      </p:sp>
      <p:sp>
        <p:nvSpPr>
          <p:cNvPr id="547843" name="Rectangle 3"/>
          <p:cNvSpPr>
            <a:spLocks noGrp="1" noChangeArrowheads="1"/>
          </p:cNvSpPr>
          <p:nvPr>
            <p:ph idx="1"/>
          </p:nvPr>
        </p:nvSpPr>
        <p:spPr>
          <a:xfrm>
            <a:off x="499554" y="1552066"/>
            <a:ext cx="8263446" cy="4696334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b="1" dirty="0"/>
              <a:t>Assignments/Quizzes/Presentation</a:t>
            </a:r>
          </a:p>
          <a:p>
            <a:pPr marL="730567" lvl="1" indent="-246888">
              <a:buFont typeface="Wingdings 2"/>
              <a:buChar char="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Written assignments (Small Tasks) (details in coming lectures)</a:t>
            </a:r>
          </a:p>
          <a:p>
            <a:pPr marL="730567" lvl="1" indent="-246888">
              <a:buFont typeface="Wingdings 2"/>
              <a:buChar char=""/>
              <a:defRPr/>
            </a:pPr>
            <a:r>
              <a:rPr lang="en-US" sz="2400" dirty="0"/>
              <a:t>Idea is to initiate research-oriented writing not “copy-paste”</a:t>
            </a:r>
          </a:p>
          <a:p>
            <a:pPr marL="730567" lvl="1" indent="-246888">
              <a:buFont typeface="Wingdings 2"/>
              <a:buChar char="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Attendance, Presentations, Quiz &amp; Class Discussion &amp; Participation (as a regular activity)</a:t>
            </a:r>
          </a:p>
          <a:p>
            <a:pPr marL="730567" lvl="1" indent="-246888">
              <a:buFont typeface="Wingdings 2"/>
              <a:buChar char="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Volunteer presentations (you must not be that familiar with this kind of stuff, but you need to respond to it quickly!)</a:t>
            </a:r>
          </a:p>
          <a:p>
            <a:pPr marL="730567" lvl="1" indent="-246888">
              <a:lnSpc>
                <a:spcPct val="150000"/>
              </a:lnSpc>
              <a:buFont typeface="Wingdings 2"/>
              <a:buChar char="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Formal Presentations in groups:</a:t>
            </a:r>
          </a:p>
          <a:p>
            <a:pPr marL="273367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Mid Term: First 18 Lectures Course Contents</a:t>
            </a:r>
          </a:p>
          <a:p>
            <a:pPr marL="273367" indent="-246888" eaLnBrk="1" fontAlgn="auto" hangingPunct="1">
              <a:lnSpc>
                <a:spcPct val="15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Terminal: Complete Course Contents </a:t>
            </a:r>
          </a:p>
          <a:p>
            <a:pPr marL="273367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26479" eaLnBrk="1" fontAlgn="auto" hangingPunct="1">
              <a:spcAft>
                <a:spcPts val="0"/>
              </a:spcAft>
              <a:defRPr/>
            </a:pP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101" name="Rectangle 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534400" y="6248400"/>
            <a:ext cx="609600" cy="609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EEEBCA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994B858A-808B-4C17-9DF5-5A378C0523D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619780"/>
            <a:ext cx="8894571" cy="523220"/>
          </a:xfrm>
        </p:spPr>
        <p:txBody>
          <a:bodyPr/>
          <a:lstStyle/>
          <a:p>
            <a:pPr algn="ctr"/>
            <a:r>
              <a:rPr lang="en-US"/>
              <a:t>Rules!!!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379856" y="1392555"/>
            <a:ext cx="8590915" cy="4779645"/>
          </a:xfrm>
        </p:spPr>
        <p:txBody>
          <a:bodyPr>
            <a:normAutofit fontScale="85000" lnSpcReduction="10000"/>
          </a:bodyPr>
          <a:lstStyle/>
          <a:p>
            <a:pPr marL="34290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en-US" sz="2400" b="0" dirty="0"/>
              <a:t>Student coming in the class/Labs after </a:t>
            </a:r>
            <a:r>
              <a:rPr lang="en-US" sz="2400" dirty="0"/>
              <a:t>5</a:t>
            </a:r>
            <a:r>
              <a:rPr lang="en-US" sz="2400" b="0" dirty="0"/>
              <a:t> minutes will be marked as absent.</a:t>
            </a:r>
          </a:p>
          <a:p>
            <a:pPr marL="34290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en-US" sz="2400" b="0" dirty="0"/>
              <a:t>Assignments will be floated and submitted on MS Teams.</a:t>
            </a:r>
          </a:p>
          <a:p>
            <a:pPr marL="342900" lvl="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en-US" sz="2400" b="0" dirty="0"/>
              <a:t>Late submission of assignment is strictly discouraged. Late assignment will not be accepted.</a:t>
            </a:r>
            <a:endParaRPr lang="da-DK" sz="2400" b="0" dirty="0"/>
          </a:p>
          <a:p>
            <a:pPr marL="34290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en-US" sz="2400" b="0" dirty="0"/>
              <a:t>Turn off Cell Phones in the Class.</a:t>
            </a:r>
          </a:p>
          <a:p>
            <a:pPr marL="34290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en-US" sz="2400" b="0" dirty="0"/>
              <a:t>You are encouraged to help each other with your  homework assignments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but you must turn in your own work. </a:t>
            </a:r>
            <a:r>
              <a:rPr lang="en-US" sz="2400" dirty="0"/>
              <a:t>Total= x4</a:t>
            </a:r>
          </a:p>
          <a:p>
            <a:pPr marL="34290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da-DK" sz="2400" b="0" dirty="0"/>
              <a:t>Quizzes are announced. </a:t>
            </a:r>
            <a:r>
              <a:rPr lang="en-US" sz="2400" b="0" dirty="0"/>
              <a:t>Total=</a:t>
            </a:r>
            <a:r>
              <a:rPr lang="da-DK" sz="2400" b="0" dirty="0"/>
              <a:t> x4</a:t>
            </a:r>
          </a:p>
          <a:p>
            <a:pPr marL="342900" indent="-342900" algn="just">
              <a:lnSpc>
                <a:spcPct val="16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If you are found to be cheating, you will fail at least the Quiz/ test and perhaps the entire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04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ts start big words concept with team people and rocket startup launch business with team people and smoke with modern flat style - vector lets start big words concept with team people and rocket startup launch business with team people and smoke with modern flat style - vector illustration Beginnings stock vector">
            <a:extLst>
              <a:ext uri="{FF2B5EF4-FFF2-40B4-BE49-F238E27FC236}">
                <a16:creationId xmlns:a16="http://schemas.microsoft.com/office/drawing/2014/main" id="{E1219B61-4BBD-4A14-C8D5-4FF82CE6DD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68" b="1"/>
          <a:stretch/>
        </p:blipFill>
        <p:spPr bwMode="auto">
          <a:xfrm>
            <a:off x="20" y="10"/>
            <a:ext cx="9143980" cy="685799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28674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8439" y="874059"/>
            <a:ext cx="8987115" cy="5109882"/>
            <a:chOff x="0" y="0"/>
            <a:chExt cx="10185400" cy="57912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0058400" cy="5664200"/>
            </a:xfrm>
            <a:custGeom>
              <a:avLst/>
              <a:gdLst/>
              <a:ahLst/>
              <a:cxnLst/>
              <a:rect l="l" t="t" r="r" b="b"/>
              <a:pathLst>
                <a:path w="10058400" h="5664200">
                  <a:moveTo>
                    <a:pt x="0" y="0"/>
                  </a:moveTo>
                  <a:lnTo>
                    <a:pt x="0" y="5664200"/>
                  </a:lnTo>
                  <a:lnTo>
                    <a:pt x="10058400" y="5664200"/>
                  </a:lnTo>
                  <a:lnTo>
                    <a:pt x="10058400" y="0"/>
                  </a:lnTo>
                  <a:close/>
                </a:path>
              </a:pathLst>
            </a:custGeom>
            <a:solidFill>
              <a:srgbClr val="F3F6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596900" y="588518"/>
              <a:ext cx="9004300" cy="5207"/>
            </a:xfrm>
            <a:custGeom>
              <a:avLst/>
              <a:gdLst/>
              <a:ahLst/>
              <a:cxnLst/>
              <a:rect l="l" t="t" r="r" b="b"/>
              <a:pathLst>
                <a:path w="9004300" h="5207">
                  <a:moveTo>
                    <a:pt x="0" y="0"/>
                  </a:moveTo>
                  <a:lnTo>
                    <a:pt x="9004300" y="0"/>
                  </a:lnTo>
                  <a:lnTo>
                    <a:pt x="9004300" y="5207"/>
                  </a:lnTo>
                  <a:lnTo>
                    <a:pt x="0" y="5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584200" y="750062"/>
              <a:ext cx="5702300" cy="1957959"/>
            </a:xfrm>
            <a:custGeom>
              <a:avLst/>
              <a:gdLst/>
              <a:ahLst/>
              <a:cxnLst/>
              <a:rect l="l" t="t" r="r" b="b"/>
              <a:pathLst>
                <a:path w="5702300" h="1957959">
                  <a:moveTo>
                    <a:pt x="0" y="0"/>
                  </a:moveTo>
                  <a:lnTo>
                    <a:pt x="5702300" y="0"/>
                  </a:lnTo>
                  <a:lnTo>
                    <a:pt x="5702300" y="1957959"/>
                  </a:lnTo>
                  <a:lnTo>
                    <a:pt x="0" y="1957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584200" y="2962402"/>
              <a:ext cx="2260600" cy="2504694"/>
            </a:xfrm>
            <a:custGeom>
              <a:avLst/>
              <a:gdLst/>
              <a:ahLst/>
              <a:cxnLst/>
              <a:rect l="l" t="t" r="r" b="b"/>
              <a:pathLst>
                <a:path w="2260600" h="2504694">
                  <a:moveTo>
                    <a:pt x="0" y="0"/>
                  </a:moveTo>
                  <a:lnTo>
                    <a:pt x="2260600" y="0"/>
                  </a:lnTo>
                  <a:lnTo>
                    <a:pt x="2260600" y="2504694"/>
                  </a:lnTo>
                  <a:lnTo>
                    <a:pt x="0" y="2504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667000" y="3178556"/>
              <a:ext cx="228600" cy="12700"/>
            </a:xfrm>
            <a:custGeom>
              <a:avLst/>
              <a:gdLst/>
              <a:ahLst/>
              <a:cxnLst/>
              <a:rect l="l" t="t" r="r" b="b"/>
              <a:pathLst>
                <a:path w="228600" h="12700">
                  <a:moveTo>
                    <a:pt x="0" y="0"/>
                  </a:moveTo>
                  <a:lnTo>
                    <a:pt x="11938" y="0"/>
                  </a:lnTo>
                  <a:lnTo>
                    <a:pt x="11938" y="6350"/>
                  </a:lnTo>
                  <a:lnTo>
                    <a:pt x="11938" y="0"/>
                  </a:lnTo>
                  <a:lnTo>
                    <a:pt x="228600" y="0"/>
                  </a:lnTo>
                  <a:lnTo>
                    <a:pt x="228600" y="12700"/>
                  </a:lnTo>
                  <a:lnTo>
                    <a:pt x="1193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549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2623058" y="3150235"/>
              <a:ext cx="69088" cy="69342"/>
            </a:xfrm>
            <a:custGeom>
              <a:avLst/>
              <a:gdLst/>
              <a:ahLst/>
              <a:cxnLst/>
              <a:rect l="l" t="t" r="r" b="b"/>
              <a:pathLst>
                <a:path w="69088" h="69342">
                  <a:moveTo>
                    <a:pt x="69088" y="0"/>
                  </a:moveTo>
                  <a:lnTo>
                    <a:pt x="0" y="34671"/>
                  </a:lnTo>
                  <a:lnTo>
                    <a:pt x="69088" y="69342"/>
                  </a:lnTo>
                  <a:lnTo>
                    <a:pt x="51816" y="34671"/>
                  </a:lnTo>
                  <a:close/>
                </a:path>
              </a:pathLst>
            </a:custGeom>
            <a:solidFill>
              <a:srgbClr val="00549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6789850" y="555269"/>
            <a:ext cx="1326636" cy="814463"/>
          </a:xfrm>
          <a:custGeom>
            <a:avLst/>
            <a:gdLst/>
            <a:ahLst/>
            <a:cxnLst/>
            <a:rect l="l" t="t" r="r" b="b"/>
            <a:pathLst>
              <a:path w="1503521" h="923058">
                <a:moveTo>
                  <a:pt x="0" y="0"/>
                </a:moveTo>
                <a:lnTo>
                  <a:pt x="1503521" y="0"/>
                </a:lnTo>
                <a:lnTo>
                  <a:pt x="1503521" y="923059"/>
                </a:lnTo>
                <a:lnTo>
                  <a:pt x="0" y="923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387103" y="3461390"/>
            <a:ext cx="1160229" cy="930150"/>
          </a:xfrm>
          <a:custGeom>
            <a:avLst/>
            <a:gdLst/>
            <a:ahLst/>
            <a:cxnLst/>
            <a:rect l="l" t="t" r="r" b="b"/>
            <a:pathLst>
              <a:path w="1314926" h="1054170">
                <a:moveTo>
                  <a:pt x="0" y="0"/>
                </a:moveTo>
                <a:lnTo>
                  <a:pt x="1314926" y="0"/>
                </a:lnTo>
                <a:lnTo>
                  <a:pt x="1314926" y="1054170"/>
                </a:lnTo>
                <a:lnTo>
                  <a:pt x="0" y="1054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746097" y="3549318"/>
            <a:ext cx="508467" cy="828339"/>
          </a:xfrm>
          <a:custGeom>
            <a:avLst/>
            <a:gdLst/>
            <a:ahLst/>
            <a:cxnLst/>
            <a:rect l="l" t="t" r="r" b="b"/>
            <a:pathLst>
              <a:path w="576263" h="938784">
                <a:moveTo>
                  <a:pt x="0" y="0"/>
                </a:moveTo>
                <a:lnTo>
                  <a:pt x="576263" y="0"/>
                </a:lnTo>
                <a:lnTo>
                  <a:pt x="576263" y="938784"/>
                </a:lnTo>
                <a:lnTo>
                  <a:pt x="0" y="938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997264" y="4683081"/>
            <a:ext cx="1081647" cy="772811"/>
          </a:xfrm>
          <a:custGeom>
            <a:avLst/>
            <a:gdLst/>
            <a:ahLst/>
            <a:cxnLst/>
            <a:rect l="l" t="t" r="r" b="b"/>
            <a:pathLst>
              <a:path w="1225867" h="875852">
                <a:moveTo>
                  <a:pt x="0" y="0"/>
                </a:moveTo>
                <a:lnTo>
                  <a:pt x="1225867" y="0"/>
                </a:lnTo>
                <a:lnTo>
                  <a:pt x="1225867" y="875852"/>
                </a:lnTo>
                <a:lnTo>
                  <a:pt x="0" y="875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249941" y="4493351"/>
            <a:ext cx="1733410" cy="1152279"/>
          </a:xfrm>
          <a:custGeom>
            <a:avLst/>
            <a:gdLst/>
            <a:ahLst/>
            <a:cxnLst/>
            <a:rect l="l" t="t" r="r" b="b"/>
            <a:pathLst>
              <a:path w="1964531" h="1305916">
                <a:moveTo>
                  <a:pt x="0" y="0"/>
                </a:moveTo>
                <a:lnTo>
                  <a:pt x="1964532" y="0"/>
                </a:lnTo>
                <a:lnTo>
                  <a:pt x="1964532" y="1305916"/>
                </a:lnTo>
                <a:lnTo>
                  <a:pt x="0" y="1305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453327" y="3600223"/>
            <a:ext cx="1206454" cy="805202"/>
          </a:xfrm>
          <a:custGeom>
            <a:avLst/>
            <a:gdLst/>
            <a:ahLst/>
            <a:cxnLst/>
            <a:rect l="l" t="t" r="r" b="b"/>
            <a:pathLst>
              <a:path w="1367314" h="912562">
                <a:moveTo>
                  <a:pt x="0" y="0"/>
                </a:moveTo>
                <a:lnTo>
                  <a:pt x="1367314" y="0"/>
                </a:lnTo>
                <a:lnTo>
                  <a:pt x="1367314" y="912561"/>
                </a:lnTo>
                <a:lnTo>
                  <a:pt x="0" y="9125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051221" y="4456330"/>
            <a:ext cx="1872083" cy="1337377"/>
          </a:xfrm>
          <a:custGeom>
            <a:avLst/>
            <a:gdLst/>
            <a:ahLst/>
            <a:cxnLst/>
            <a:rect l="l" t="t" r="r" b="b"/>
            <a:pathLst>
              <a:path w="2121694" h="1515694">
                <a:moveTo>
                  <a:pt x="0" y="0"/>
                </a:moveTo>
                <a:lnTo>
                  <a:pt x="2121694" y="0"/>
                </a:lnTo>
                <a:lnTo>
                  <a:pt x="2121694" y="1515695"/>
                </a:lnTo>
                <a:lnTo>
                  <a:pt x="0" y="15156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6555441" y="1860174"/>
            <a:ext cx="1120586" cy="1075765"/>
          </a:xfrm>
          <a:custGeom>
            <a:avLst/>
            <a:gdLst/>
            <a:ahLst/>
            <a:cxnLst/>
            <a:rect l="l" t="t" r="r" b="b"/>
            <a:pathLst>
              <a:path w="1269997" h="1219200">
                <a:moveTo>
                  <a:pt x="0" y="0"/>
                </a:moveTo>
                <a:lnTo>
                  <a:pt x="1269997" y="0"/>
                </a:lnTo>
                <a:lnTo>
                  <a:pt x="1269997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875" t="-8597" r="-45575" b="-1116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8804538" y="5696594"/>
            <a:ext cx="56578" cy="14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-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5203" y="1094582"/>
            <a:ext cx="4841907" cy="252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30" b="1" spc="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Our Language Choice in PF Course: Java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7651" y="3529970"/>
            <a:ext cx="1195620" cy="23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311" spc="17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Java economy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7314" y="3835362"/>
            <a:ext cx="1573811" cy="1863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369" spc="1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•Mars rover. </a:t>
            </a:r>
          </a:p>
          <a:p>
            <a:pPr algn="just">
              <a:lnSpc>
                <a:spcPts val="2052"/>
              </a:lnSpc>
            </a:pPr>
            <a:r>
              <a:rPr lang="en-US" sz="1369" spc="1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•Cell phones. </a:t>
            </a:r>
          </a:p>
          <a:p>
            <a:pPr algn="just">
              <a:lnSpc>
                <a:spcPts val="2052"/>
              </a:lnSpc>
            </a:pPr>
            <a:r>
              <a:rPr lang="en-US" sz="1369" spc="1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•Blu-ray Disc.</a:t>
            </a:r>
          </a:p>
          <a:p>
            <a:pPr algn="just">
              <a:lnSpc>
                <a:spcPts val="2052"/>
              </a:lnSpc>
            </a:pPr>
            <a:r>
              <a:rPr lang="en-US" sz="1369" spc="1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•Web servers.</a:t>
            </a:r>
          </a:p>
          <a:p>
            <a:pPr algn="just">
              <a:lnSpc>
                <a:spcPts val="2052"/>
              </a:lnSpc>
            </a:pPr>
            <a:r>
              <a:rPr lang="en-US" sz="1369" spc="1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•Medical devices.</a:t>
            </a:r>
          </a:p>
          <a:p>
            <a:pPr algn="just">
              <a:lnSpc>
                <a:spcPts val="2052"/>
              </a:lnSpc>
            </a:pPr>
            <a:r>
              <a:rPr lang="en-US" sz="1369" spc="1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•Supercomputing. •…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0008" y="1572491"/>
            <a:ext cx="1114316" cy="23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311" spc="17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Java features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4060" y="1825270"/>
            <a:ext cx="4583051" cy="105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4"/>
              </a:lnSpc>
            </a:pPr>
            <a:r>
              <a:rPr lang="en-US" sz="1369" spc="1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•Widely used. •Widely available. •Continuously under development since early 1990s. •Embraces full set of modern abstractions. •Variety of automatic checks for mistakes in programs.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6640" y="2994551"/>
            <a:ext cx="968625" cy="18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092" spc="14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James Gosling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56610" y="3549218"/>
            <a:ext cx="1254686" cy="115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1"/>
              </a:lnSpc>
            </a:pPr>
            <a:r>
              <a:rPr lang="en-US" sz="874" spc="11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millions of developers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67321" y="3664913"/>
            <a:ext cx="993065" cy="115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1"/>
              </a:lnSpc>
            </a:pPr>
            <a:r>
              <a:rPr lang="en-US" sz="874" spc="11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billions of devices</a:t>
            </a:r>
          </a:p>
        </p:txBody>
      </p:sp>
    </p:spTree>
    <p:extLst>
      <p:ext uri="{BB962C8B-B14F-4D97-AF65-F5344CB8AC3E}">
        <p14:creationId xmlns:p14="http://schemas.microsoft.com/office/powerpoint/2010/main" val="1370743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523" rIns="0" bIns="0" rtlCol="0">
            <a:spAutoFit/>
          </a:bodyPr>
          <a:lstStyle/>
          <a:p>
            <a:pPr marL="795655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13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Java</a:t>
            </a:r>
            <a:r>
              <a:rPr spc="-13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7923530" cy="3052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Four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types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applications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created </a:t>
            </a:r>
            <a:r>
              <a:rPr sz="3200" dirty="0">
                <a:latin typeface="Calibri"/>
                <a:cs typeface="Calibri"/>
              </a:rPr>
              <a:t>using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Java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programming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Standalone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Web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Enterprise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Mobile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86025" algn="l" rtl="0">
              <a:lnSpc>
                <a:spcPct val="90000"/>
              </a:lnSpc>
              <a:spcBef>
                <a:spcPct val="0"/>
              </a:spcBef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JDK</a:t>
            </a:r>
            <a:r>
              <a:rPr lang="en-US" sz="3500" kern="12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spc="-1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Editions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979FC98-11F8-60D1-1DB7-41E8FDCB9A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184217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JDK </a:t>
            </a:r>
            <a:r>
              <a:rPr lang="en-US" sz="3500" kern="1200" spc="-35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Versions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1FA6A18B-35C9-140E-268A-85EBC4C798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13231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523" rIns="0" bIns="0" rtlCol="0">
            <a:spAutoFit/>
          </a:bodyPr>
          <a:lstStyle/>
          <a:p>
            <a:pPr marL="21736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Installing</a:t>
            </a:r>
            <a:r>
              <a:rPr spc="-155" dirty="0"/>
              <a:t> </a:t>
            </a:r>
            <a:r>
              <a:rPr spc="-20" dirty="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493"/>
            <a:ext cx="7520305" cy="45586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105" dirty="0">
                <a:latin typeface="Calibri"/>
                <a:cs typeface="Calibri"/>
              </a:rPr>
              <a:t>To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check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Java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installed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(open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command </a:t>
            </a:r>
            <a:r>
              <a:rPr sz="3200" dirty="0">
                <a:latin typeface="Calibri"/>
                <a:cs typeface="Calibri"/>
              </a:rPr>
              <a:t>prompt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type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following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command)</a:t>
            </a:r>
            <a:endParaRPr sz="3200">
              <a:latin typeface="Calibri"/>
              <a:cs typeface="Calibri"/>
            </a:endParaRPr>
          </a:p>
          <a:p>
            <a:pPr marL="549275" algn="ctr">
              <a:lnSpc>
                <a:spcPct val="100000"/>
              </a:lnSpc>
              <a:spcBef>
                <a:spcPts val="250"/>
              </a:spcBef>
            </a:pPr>
            <a:r>
              <a:rPr sz="3200" b="1" dirty="0">
                <a:latin typeface="Courier New"/>
                <a:cs typeface="Courier New"/>
              </a:rPr>
              <a:t>java</a:t>
            </a:r>
            <a:r>
              <a:rPr sz="3200" b="1" spc="-90" dirty="0">
                <a:latin typeface="Courier New"/>
                <a:cs typeface="Courier New"/>
              </a:rPr>
              <a:t> </a:t>
            </a:r>
            <a:r>
              <a:rPr sz="3200" b="1" spc="-10" dirty="0">
                <a:latin typeface="Courier New"/>
                <a:cs typeface="Courier New"/>
              </a:rPr>
              <a:t>–version</a:t>
            </a:r>
            <a:endParaRPr sz="3200">
              <a:latin typeface="Courier New"/>
              <a:cs typeface="Courier New"/>
            </a:endParaRPr>
          </a:p>
          <a:p>
            <a:pPr marL="342265" marR="4378325" indent="-342265" algn="r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342265" algn="l"/>
              </a:tabLst>
            </a:pPr>
            <a:r>
              <a:rPr sz="3200" dirty="0">
                <a:latin typeface="Calibri"/>
                <a:cs typeface="Calibri"/>
              </a:rPr>
              <a:t>Setting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Java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Path</a:t>
            </a:r>
            <a:endParaRPr sz="3200">
              <a:latin typeface="Calibri"/>
              <a:cs typeface="Calibri"/>
            </a:endParaRPr>
          </a:p>
          <a:p>
            <a:pPr marL="285750" marR="4478020" lvl="1" indent="-285750" algn="r">
              <a:lnSpc>
                <a:spcPct val="100000"/>
              </a:lnSpc>
              <a:spcBef>
                <a:spcPts val="355"/>
              </a:spcBef>
              <a:buFont typeface="Arial"/>
              <a:buChar char="–"/>
              <a:tabLst>
                <a:tab pos="285750" algn="l"/>
              </a:tabLst>
            </a:pPr>
            <a:r>
              <a:rPr sz="2800" spc="-30" dirty="0">
                <a:latin typeface="Calibri"/>
                <a:cs typeface="Calibri"/>
              </a:rPr>
              <a:t>Temporary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Path</a:t>
            </a:r>
            <a:endParaRPr sz="2800">
              <a:latin typeface="Calibri"/>
              <a:cs typeface="Calibri"/>
            </a:endParaRPr>
          </a:p>
          <a:p>
            <a:pPr marL="1154430" lvl="2" indent="-227329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Open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prompt</a:t>
            </a:r>
            <a:endParaRPr sz="2400">
              <a:latin typeface="Calibri"/>
              <a:cs typeface="Calibri"/>
            </a:endParaRPr>
          </a:p>
          <a:p>
            <a:pPr marL="1154430" lvl="2" indent="-227329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Copy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JDK/bin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directory</a:t>
            </a:r>
            <a:endParaRPr sz="2400">
              <a:latin typeface="Calibri"/>
              <a:cs typeface="Calibri"/>
            </a:endParaRPr>
          </a:p>
          <a:p>
            <a:pPr marL="1153795" lvl="2" indent="-227329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3795" algn="l"/>
              </a:tabLst>
            </a:pP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prompt: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path=copied_path</a:t>
            </a:r>
            <a:endParaRPr sz="2400">
              <a:latin typeface="Calibri"/>
              <a:cs typeface="Calibri"/>
            </a:endParaRPr>
          </a:p>
          <a:p>
            <a:pPr marL="755015" marR="262255" lvl="1" indent="-285750">
              <a:lnSpc>
                <a:spcPts val="3020"/>
              </a:lnSpc>
              <a:spcBef>
                <a:spcPts val="695"/>
              </a:spcBef>
              <a:buFont typeface="Arial"/>
              <a:buChar char="–"/>
              <a:tabLst>
                <a:tab pos="756285" algn="l"/>
              </a:tabLst>
            </a:pPr>
            <a:r>
              <a:rPr sz="2800" spc="-10" dirty="0">
                <a:latin typeface="Calibri"/>
                <a:cs typeface="Calibri"/>
              </a:rPr>
              <a:t>Permanent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Path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Environment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Variables 	Settings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89685" algn="l" rtl="0">
              <a:lnSpc>
                <a:spcPct val="90000"/>
              </a:lnSpc>
              <a:spcBef>
                <a:spcPct val="0"/>
              </a:spcBef>
            </a:pPr>
            <a:r>
              <a:rPr lang="en-US" kern="1200" spc="-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Environment</a:t>
            </a:r>
            <a:r>
              <a:rPr lang="en-US" kern="1200" spc="-16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spc="-2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Variable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54965" indent="-228600" algn="l" rtl="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</a:t>
            </a:r>
            <a:r>
              <a:rPr lang="en-US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"System</a:t>
            </a:r>
            <a:r>
              <a:rPr lang="en-US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Properties"</a:t>
            </a:r>
            <a:r>
              <a:rPr lang="en-US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(Can</a:t>
            </a:r>
            <a:r>
              <a:rPr lang="en-US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</a:t>
            </a:r>
            <a:r>
              <a:rPr lang="en-US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Panel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929640" indent="-228600" algn="l" rtl="0">
              <a:lnSpc>
                <a:spcPct val="9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Advanced</a:t>
            </a:r>
            <a:r>
              <a:rPr lang="en-US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Settings)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502284" indent="-228600" algn="l" rtl="0">
              <a:lnSpc>
                <a:spcPct val="90000"/>
              </a:lnSpc>
              <a:spcBef>
                <a:spcPts val="64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</a:t>
            </a:r>
            <a:r>
              <a:rPr lang="en-US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"Environment</a:t>
            </a:r>
            <a:r>
              <a:rPr lang="en-US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variables"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</a:t>
            </a:r>
            <a:r>
              <a:rPr lang="en-US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</a:t>
            </a:r>
            <a:r>
              <a:rPr lang="en-US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"Advanced"</a:t>
            </a:r>
            <a:r>
              <a:rPr lang="en-US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269875" indent="-228600" algn="l" rtl="0">
              <a:lnSpc>
                <a:spcPct val="90000"/>
              </a:lnSpc>
              <a:spcBef>
                <a:spcPts val="64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Then,</a:t>
            </a:r>
            <a:r>
              <a:rPr lang="en-US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</a:t>
            </a:r>
            <a:r>
              <a:rPr lang="en-US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"Path"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i="1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en-US" b="1" i="1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variables</a:t>
            </a:r>
            <a:r>
              <a:rPr lang="en-US" b="1" i="1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</a:t>
            </a:r>
            <a:r>
              <a:rPr lang="en-US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43180" indent="-228600" algn="l" rtl="0">
              <a:lnSpc>
                <a:spcPct val="90000"/>
              </a:lnSpc>
              <a:spcBef>
                <a:spcPts val="64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button</a:t>
            </a:r>
            <a:r>
              <a:rPr lang="en-US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en-US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en-US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</a:t>
            </a:r>
            <a:r>
              <a:rPr lang="en-US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installed,</a:t>
            </a:r>
            <a:r>
              <a:rPr lang="en-US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followed</a:t>
            </a:r>
            <a:r>
              <a:rPr lang="en-US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\bin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default,</a:t>
            </a:r>
            <a:r>
              <a:rPr lang="en-US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</a:t>
            </a:r>
            <a:r>
              <a:rPr lang="en-US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installed</a:t>
            </a:r>
            <a:r>
              <a:rPr lang="en-US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C:\Program</a:t>
            </a:r>
            <a:r>
              <a:rPr lang="en-US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Files\Java\jdk-15\bin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indent="-228600" algn="l"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Then,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"OK",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en-US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settings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5600" marR="89535" indent="-228600" algn="l" rtl="0">
              <a:lnSpc>
                <a:spcPct val="90000"/>
              </a:lnSpc>
              <a:spcBef>
                <a:spcPts val="69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en-US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last,</a:t>
            </a:r>
            <a:r>
              <a:rPr lang="en-US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</a:t>
            </a:r>
            <a:r>
              <a:rPr lang="en-US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Command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Prompt</a:t>
            </a:r>
            <a:r>
              <a:rPr lang="en-US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(cmd.exe)</a:t>
            </a:r>
            <a:r>
              <a:rPr lang="en-US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en-US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</a:t>
            </a:r>
            <a:r>
              <a:rPr lang="en-US" b="1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b="1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version</a:t>
            </a:r>
            <a:r>
              <a:rPr lang="en-US" b="1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en-US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n-US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</a:t>
            </a:r>
            <a:r>
              <a:rPr lang="en-US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</a:t>
            </a:r>
            <a:r>
              <a:rPr lang="en-US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en-US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machine</a:t>
            </a: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D3FCDD-61EF-4063-E530-729445BA30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30" r="4170" b="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766570" algn="l" rtl="0">
              <a:lnSpc>
                <a:spcPct val="90000"/>
              </a:lnSpc>
              <a:spcBef>
                <a:spcPct val="0"/>
              </a:spcBef>
            </a:pPr>
            <a:r>
              <a:rPr lang="en-US" kern="1200">
                <a:latin typeface="+mj-lt"/>
                <a:cs typeface="+mj-cs"/>
              </a:rPr>
              <a:t>Popular</a:t>
            </a:r>
            <a:r>
              <a:rPr lang="en-US" kern="1200" spc="-175">
                <a:latin typeface="+mj-lt"/>
                <a:cs typeface="+mj-cs"/>
              </a:rPr>
              <a:t> </a:t>
            </a:r>
            <a:r>
              <a:rPr lang="en-US" kern="1200">
                <a:latin typeface="+mj-lt"/>
                <a:cs typeface="+mj-cs"/>
              </a:rPr>
              <a:t>Java</a:t>
            </a:r>
            <a:r>
              <a:rPr lang="en-US" kern="1200" spc="-170">
                <a:latin typeface="+mj-lt"/>
                <a:cs typeface="+mj-cs"/>
              </a:rPr>
              <a:t> </a:t>
            </a:r>
            <a:r>
              <a:rPr lang="en-US" kern="1200" spc="-20">
                <a:latin typeface="+mj-lt"/>
                <a:cs typeface="+mj-cs"/>
              </a:rPr>
              <a:t>IDEs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2345DA94-C5EB-C0F1-FDA0-753A207987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865577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703705" algn="l" rtl="0">
              <a:lnSpc>
                <a:spcPct val="90000"/>
              </a:lnSpc>
              <a:spcBef>
                <a:spcPct val="0"/>
              </a:spcBef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JDK,</a:t>
            </a:r>
            <a:r>
              <a:rPr lang="en-US" kern="1200" spc="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JRE,</a:t>
            </a:r>
            <a:r>
              <a:rPr lang="en-US" kern="1200" spc="-5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kern="1200" spc="1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spc="-25">
                <a:solidFill>
                  <a:schemeClr val="tx1"/>
                </a:solidFill>
                <a:latin typeface="+mj-lt"/>
                <a:ea typeface="+mj-ea"/>
                <a:cs typeface="+mj-cs"/>
              </a:rPr>
              <a:t>JVM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665864" y="1558209"/>
            <a:ext cx="8173336" cy="49346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54965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</a:t>
            </a:r>
            <a:r>
              <a:rPr lang="en-US" sz="24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Tool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kit</a:t>
            </a:r>
            <a:r>
              <a:rPr lang="en-US" sz="24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(JDK)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marR="117475" lvl="1" indent="-228600" algn="l" rtl="0">
              <a:lnSpc>
                <a:spcPct val="90000"/>
              </a:lnSpc>
              <a:spcBef>
                <a:spcPts val="54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en-US" sz="24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</a:t>
            </a:r>
            <a:r>
              <a:rPr lang="en-US" sz="24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</a:t>
            </a:r>
            <a:r>
              <a:rPr lang="en-US" sz="24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4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</a:t>
            </a:r>
            <a:r>
              <a:rPr lang="en-US" sz="24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4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</a:t>
            </a:r>
            <a:r>
              <a:rPr lang="en-US" sz="24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5628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Physically</a:t>
            </a:r>
            <a:r>
              <a:rPr lang="en-US" sz="24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exists</a:t>
            </a:r>
          </a:p>
          <a:p>
            <a:pPr marL="354965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 Runtime Environment</a:t>
            </a:r>
          </a:p>
          <a:p>
            <a:pPr marL="756285" lvl="1" indent="-228600" algn="l" rtl="0">
              <a:lnSpc>
                <a:spcPct val="90000"/>
              </a:lnSpc>
              <a:spcBef>
                <a:spcPts val="10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 of software tools which are used for developing Java</a:t>
            </a:r>
          </a:p>
          <a:p>
            <a:pPr marL="756285" indent="-228600" algn="l"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</a:t>
            </a:r>
          </a:p>
          <a:p>
            <a:pPr marL="75628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Contains JVM</a:t>
            </a:r>
          </a:p>
          <a:p>
            <a:pPr marL="756285" lvl="1" indent="-228600" algn="l" rtl="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JRE = JVM + rt.jar (lang, util, </a:t>
            </a:r>
            <a:r>
              <a:rPr lang="en-US" sz="2400" kern="1200" spc="-1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awt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swing, math packages)</a:t>
            </a:r>
          </a:p>
          <a:p>
            <a:pPr marL="354965" indent="-228600" algn="l" rtl="0">
              <a:lnSpc>
                <a:spcPct val="9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 Virtual Machine (JVM)</a:t>
            </a:r>
          </a:p>
          <a:p>
            <a:pPr marL="756285" lvl="1" indent="-228600" algn="l" rtl="0">
              <a:lnSpc>
                <a:spcPct val="90000"/>
              </a:lnSpc>
              <a:spcBef>
                <a:spcPts val="10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Provides a platform-independent way of executing Java source</a:t>
            </a:r>
          </a:p>
          <a:p>
            <a:pPr marL="756285" indent="-228600" algn="l" rtl="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</a:t>
            </a:r>
          </a:p>
          <a:p>
            <a:pPr marL="756285" marR="154305" lvl="1" indent="-228600" algn="l" rtl="0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JVM comes with JIT(Just-in-Time) compiler that converts Java source code into low-level machine language</a:t>
            </a:r>
          </a:p>
          <a:p>
            <a:pPr marL="527685" lvl="1" algn="l" rtl="0">
              <a:lnSpc>
                <a:spcPct val="90000"/>
              </a:lnSpc>
              <a:tabLst>
                <a:tab pos="756285" algn="l"/>
              </a:tabLst>
            </a:pP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523" rIns="0" bIns="0" rtlCol="0">
            <a:spAutoFit/>
          </a:bodyPr>
          <a:lstStyle/>
          <a:p>
            <a:pPr marL="1703705">
              <a:lnSpc>
                <a:spcPct val="100000"/>
              </a:lnSpc>
              <a:spcBef>
                <a:spcPts val="105"/>
              </a:spcBef>
            </a:pPr>
            <a:r>
              <a:rPr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hlinkClick r:id="rId2"/>
              </a:rPr>
              <a:t>JDK,</a:t>
            </a:r>
            <a:r>
              <a:rPr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hlinkClick r:id="rId2"/>
              </a:rPr>
              <a:t> </a:t>
            </a:r>
            <a:r>
              <a:rPr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hlinkClick r:id="rId2"/>
              </a:rPr>
              <a:t>JRE,</a:t>
            </a:r>
            <a:r>
              <a:rPr u="sng" spc="-2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hlinkClick r:id="rId2"/>
              </a:rPr>
              <a:t> </a:t>
            </a:r>
            <a:r>
              <a:rPr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hlinkClick r:id="rId2"/>
              </a:rPr>
              <a:t>and</a:t>
            </a:r>
            <a:r>
              <a:rPr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hlinkClick r:id="rId2"/>
              </a:rPr>
              <a:t> </a:t>
            </a:r>
            <a:r>
              <a:rPr u="sng" spc="-2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hlinkClick r:id="rId2"/>
              </a:rPr>
              <a:t>JVM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623" y="1504188"/>
            <a:ext cx="9067800" cy="5080000"/>
            <a:chOff x="39623" y="1504188"/>
            <a:chExt cx="9067800" cy="5080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600200"/>
              <a:ext cx="8339328" cy="48229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23" y="1504188"/>
              <a:ext cx="9067800" cy="50794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423" y="679426"/>
            <a:ext cx="7023153" cy="549914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3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Interpreting/Compiling</a:t>
            </a:r>
            <a:r>
              <a:rPr sz="4000" spc="-95" dirty="0"/>
              <a:t> </a:t>
            </a:r>
            <a:r>
              <a:rPr sz="4000" dirty="0"/>
              <a:t>Source</a:t>
            </a:r>
            <a:r>
              <a:rPr sz="4000" spc="-100" dirty="0"/>
              <a:t> </a:t>
            </a:r>
            <a:r>
              <a:rPr sz="4000" spc="-20" dirty="0"/>
              <a:t>Code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7720965" cy="207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1793875" algn="l"/>
                <a:tab pos="503301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written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high-</a:t>
            </a:r>
            <a:r>
              <a:rPr sz="3200" dirty="0">
                <a:latin typeface="Calibri"/>
                <a:cs typeface="Calibri"/>
              </a:rPr>
              <a:t>level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language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called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i="1" dirty="0">
                <a:latin typeface="Calibri"/>
                <a:cs typeface="Calibri"/>
              </a:rPr>
              <a:t>source</a:t>
            </a:r>
            <a:r>
              <a:rPr sz="3200" i="1" spc="-13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program</a:t>
            </a:r>
            <a:r>
              <a:rPr sz="3200" i="1" spc="-1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i="1" dirty="0">
                <a:latin typeface="Calibri"/>
                <a:cs typeface="Calibri"/>
              </a:rPr>
              <a:t>source</a:t>
            </a:r>
            <a:r>
              <a:rPr sz="3200" i="1" spc="-11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355600" marR="49022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i="1" dirty="0">
                <a:latin typeface="Calibri"/>
                <a:cs typeface="Calibri"/>
              </a:rPr>
              <a:t>A</a:t>
            </a:r>
            <a:r>
              <a:rPr sz="3200" i="1" spc="-6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source</a:t>
            </a:r>
            <a:r>
              <a:rPr sz="3200" i="1" spc="-6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program</a:t>
            </a:r>
            <a:r>
              <a:rPr sz="3200" i="1" spc="-6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must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be</a:t>
            </a:r>
            <a:r>
              <a:rPr sz="3200" i="1" spc="-6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translated</a:t>
            </a:r>
            <a:r>
              <a:rPr sz="3200" i="1" spc="-3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into </a:t>
            </a:r>
            <a:r>
              <a:rPr sz="3200" i="1" dirty="0">
                <a:latin typeface="Calibri"/>
                <a:cs typeface="Calibri"/>
              </a:rPr>
              <a:t>machine</a:t>
            </a:r>
            <a:r>
              <a:rPr sz="3200" i="1" spc="-5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code</a:t>
            </a:r>
            <a:r>
              <a:rPr sz="3200" i="1" spc="-6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for</a:t>
            </a:r>
            <a:r>
              <a:rPr sz="3200" i="1" spc="-60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execution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Compiling</a:t>
            </a:r>
            <a:r>
              <a:rPr spc="-160" dirty="0"/>
              <a:t> </a:t>
            </a:r>
            <a:r>
              <a:rPr dirty="0"/>
              <a:t>Source</a:t>
            </a:r>
            <a:r>
              <a:rPr spc="-160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254" y="1455242"/>
            <a:ext cx="834072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compiler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translates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entire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code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</a:t>
            </a:r>
            <a:r>
              <a:rPr sz="3200" spc="-25" dirty="0">
                <a:latin typeface="Calibri"/>
                <a:cs typeface="Calibri"/>
              </a:rPr>
              <a:t>machine-</a:t>
            </a:r>
            <a:r>
              <a:rPr sz="3200" dirty="0">
                <a:latin typeface="Calibri"/>
                <a:cs typeface="Calibri"/>
              </a:rPr>
              <a:t>code file, and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machine-</a:t>
            </a:r>
            <a:r>
              <a:rPr sz="3200" dirty="0">
                <a:latin typeface="Calibri"/>
                <a:cs typeface="Calibri"/>
              </a:rPr>
              <a:t>code file </a:t>
            </a:r>
            <a:r>
              <a:rPr sz="3200" spc="-2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executed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148" y="3814388"/>
            <a:ext cx="8839950" cy="13532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7294" y="225297"/>
            <a:ext cx="57105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Interpreting</a:t>
            </a:r>
            <a:r>
              <a:rPr spc="-155" dirty="0"/>
              <a:t> </a:t>
            </a:r>
            <a:r>
              <a:rPr dirty="0"/>
              <a:t>Source</a:t>
            </a:r>
            <a:r>
              <a:rPr spc="-150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254" y="1074546"/>
            <a:ext cx="807529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An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interpreter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reads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statement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source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code,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translates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code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or </a:t>
            </a:r>
            <a:r>
              <a:rPr sz="3200" dirty="0">
                <a:latin typeface="Calibri"/>
                <a:cs typeface="Calibri"/>
              </a:rPr>
              <a:t>virtual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code,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executes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right </a:t>
            </a:r>
            <a:r>
              <a:rPr sz="3200" spc="-20" dirty="0">
                <a:latin typeface="Calibri"/>
                <a:cs typeface="Calibri"/>
              </a:rPr>
              <a:t>away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940" y="4295744"/>
            <a:ext cx="7544530" cy="20284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73152"/>
            <a:ext cx="8768715" cy="6388100"/>
            <a:chOff x="152400" y="73152"/>
            <a:chExt cx="8768715" cy="6388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920" y="1061252"/>
              <a:ext cx="7624860" cy="539940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73152"/>
              <a:ext cx="3960876" cy="136398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87190" marR="5080" indent="-486409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Creating,</a:t>
            </a:r>
            <a:r>
              <a:rPr sz="3000" spc="-100" dirty="0"/>
              <a:t> </a:t>
            </a:r>
            <a:r>
              <a:rPr sz="3000" dirty="0"/>
              <a:t>Compiling,</a:t>
            </a:r>
            <a:r>
              <a:rPr sz="3000" spc="-75" dirty="0"/>
              <a:t> </a:t>
            </a:r>
            <a:r>
              <a:rPr sz="3000" spc="-25" dirty="0"/>
              <a:t>and </a:t>
            </a:r>
            <a:r>
              <a:rPr sz="3000" dirty="0"/>
              <a:t>Running</a:t>
            </a:r>
            <a:r>
              <a:rPr sz="3000" spc="-15" dirty="0"/>
              <a:t> </a:t>
            </a:r>
            <a:r>
              <a:rPr sz="3000" spc="-10" dirty="0"/>
              <a:t>Programs</a:t>
            </a:r>
            <a:endParaRPr sz="3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523" rIns="0" bIns="0" rtlCol="0">
            <a:spAutoFit/>
          </a:bodyPr>
          <a:lstStyle/>
          <a:p>
            <a:pPr marL="1381125">
              <a:lnSpc>
                <a:spcPct val="100000"/>
              </a:lnSpc>
              <a:spcBef>
                <a:spcPts val="105"/>
              </a:spcBef>
            </a:pPr>
            <a:r>
              <a:rPr dirty="0"/>
              <a:t>Java</a:t>
            </a:r>
            <a:r>
              <a:rPr spc="-170" dirty="0"/>
              <a:t> </a:t>
            </a:r>
            <a:r>
              <a:rPr spc="-10" dirty="0"/>
              <a:t>Program</a:t>
            </a:r>
            <a:r>
              <a:rPr spc="-170" dirty="0"/>
              <a:t> </a:t>
            </a:r>
            <a:r>
              <a:rPr spc="-10" dirty="0"/>
              <a:t>Phases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607261"/>
            <a:ext cx="50184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Phase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1: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Creating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3363290"/>
            <a:ext cx="86074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Phase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2: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Compiling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Java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Bytecodes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340" y="5110733"/>
            <a:ext cx="5419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" dirty="0">
                <a:latin typeface="Calibri"/>
                <a:cs typeface="Calibri"/>
              </a:rPr>
              <a:t>Bytecodes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executed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JVM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2054" y="2364581"/>
            <a:ext cx="6726571" cy="83343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6035" y="3962400"/>
            <a:ext cx="6691683" cy="9214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523" rIns="0" bIns="0" rtlCol="0">
            <a:spAutoFit/>
          </a:bodyPr>
          <a:lstStyle/>
          <a:p>
            <a:pPr marL="1381125">
              <a:lnSpc>
                <a:spcPct val="100000"/>
              </a:lnSpc>
              <a:spcBef>
                <a:spcPts val="105"/>
              </a:spcBef>
            </a:pPr>
            <a:r>
              <a:rPr dirty="0"/>
              <a:t>Java</a:t>
            </a:r>
            <a:r>
              <a:rPr spc="-170" dirty="0"/>
              <a:t> </a:t>
            </a:r>
            <a:r>
              <a:rPr spc="-10" dirty="0"/>
              <a:t>Program</a:t>
            </a:r>
            <a:r>
              <a:rPr spc="-170" dirty="0"/>
              <a:t> </a:t>
            </a:r>
            <a:r>
              <a:rPr spc="-10" dirty="0"/>
              <a:t>Phases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226"/>
            <a:ext cx="7760970" cy="198310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Phase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3: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Loading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Memory</a:t>
            </a:r>
            <a:endParaRPr sz="320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dirty="0">
                <a:latin typeface="Calibri"/>
                <a:cs typeface="Calibri"/>
              </a:rPr>
              <a:t>JVM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takes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.class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(along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</a:t>
            </a:r>
            <a:r>
              <a:rPr sz="2800" spc="-10" dirty="0">
                <a:latin typeface="Calibri"/>
                <a:cs typeface="Calibri"/>
              </a:rPr>
              <a:t>associated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Java)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loads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memory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7895" y="3803996"/>
            <a:ext cx="5364078" cy="21560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523" rIns="0" bIns="0" rtlCol="0">
            <a:spAutoFit/>
          </a:bodyPr>
          <a:lstStyle/>
          <a:p>
            <a:pPr marL="1381125">
              <a:lnSpc>
                <a:spcPct val="100000"/>
              </a:lnSpc>
              <a:spcBef>
                <a:spcPts val="105"/>
              </a:spcBef>
            </a:pPr>
            <a:r>
              <a:rPr dirty="0"/>
              <a:t>Java</a:t>
            </a:r>
            <a:r>
              <a:rPr spc="-170" dirty="0"/>
              <a:t> </a:t>
            </a:r>
            <a:r>
              <a:rPr spc="-10" dirty="0"/>
              <a:t>Program</a:t>
            </a:r>
            <a:r>
              <a:rPr spc="-170" dirty="0"/>
              <a:t> </a:t>
            </a:r>
            <a:r>
              <a:rPr spc="-10" dirty="0"/>
              <a:t>Phases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1772"/>
            <a:ext cx="7723505" cy="216217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Phase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4: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Bytecode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Verification</a:t>
            </a:r>
            <a:endParaRPr sz="320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25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155" dirty="0">
                <a:latin typeface="Arial"/>
                <a:cs typeface="Arial"/>
              </a:rPr>
              <a:t> </a:t>
            </a:r>
            <a:r>
              <a:rPr sz="2400" dirty="0">
                <a:latin typeface="Calibri"/>
                <a:cs typeface="Calibri"/>
              </a:rPr>
              <a:t>Java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enforces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strong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Java </a:t>
            </a:r>
            <a:r>
              <a:rPr sz="2400" spc="-10" dirty="0">
                <a:latin typeface="Calibri"/>
                <a:cs typeface="Calibri"/>
              </a:rPr>
              <a:t>programs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arriving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damage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your </a:t>
            </a:r>
            <a:r>
              <a:rPr sz="2400" dirty="0">
                <a:latin typeface="Calibri"/>
                <a:cs typeface="Calibri"/>
              </a:rPr>
              <a:t>files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viruses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worms might).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985" y="3838858"/>
            <a:ext cx="6361920" cy="252140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7132" y="286257"/>
            <a:ext cx="47288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Java</a:t>
            </a:r>
            <a:r>
              <a:rPr spc="-170" dirty="0"/>
              <a:t> </a:t>
            </a:r>
            <a:r>
              <a:rPr spc="-10" dirty="0"/>
              <a:t>Program</a:t>
            </a:r>
            <a:r>
              <a:rPr spc="-170" dirty="0"/>
              <a:t> </a:t>
            </a:r>
            <a:r>
              <a:rPr spc="-10" dirty="0"/>
              <a:t>Phases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Phase</a:t>
            </a:r>
            <a:r>
              <a:rPr spc="-30" dirty="0"/>
              <a:t> </a:t>
            </a:r>
            <a:r>
              <a:rPr dirty="0"/>
              <a:t>5:</a:t>
            </a:r>
            <a:r>
              <a:rPr spc="-45" dirty="0"/>
              <a:t> </a:t>
            </a:r>
            <a:r>
              <a:rPr spc="-10" dirty="0"/>
              <a:t>Execution</a:t>
            </a:r>
          </a:p>
          <a:p>
            <a:pPr marL="755650" lvl="1" indent="-285750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Interpreter</a:t>
            </a:r>
            <a:endParaRPr sz="2400">
              <a:latin typeface="Calibri"/>
              <a:cs typeface="Calibri"/>
            </a:endParaRPr>
          </a:p>
          <a:p>
            <a:pPr marL="1155700" marR="48260" lvl="2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JVM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execute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bytecode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interpreter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(one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bytecode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time)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which </a:t>
            </a:r>
            <a:r>
              <a:rPr sz="2000" dirty="0">
                <a:latin typeface="Calibri"/>
                <a:cs typeface="Calibri"/>
              </a:rPr>
              <a:t>slows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execution</a:t>
            </a:r>
            <a:endParaRPr sz="20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50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Just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Time(JIT)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Compiler</a:t>
            </a:r>
            <a:endParaRPr sz="240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JVM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analyzes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bytecodes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they’re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interpreted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b="1" i="1" spc="-25" dirty="0">
                <a:latin typeface="Calibri"/>
                <a:cs typeface="Calibri"/>
              </a:rPr>
              <a:t>hot</a:t>
            </a:r>
            <a:endParaRPr sz="2000">
              <a:latin typeface="Calibri"/>
              <a:cs typeface="Calibri"/>
            </a:endParaRPr>
          </a:p>
          <a:p>
            <a:pPr marR="1724025" algn="r">
              <a:lnSpc>
                <a:spcPct val="100000"/>
              </a:lnSpc>
              <a:spcBef>
                <a:spcPts val="5"/>
              </a:spcBef>
            </a:pPr>
            <a:r>
              <a:rPr sz="2000" b="1" i="1" dirty="0">
                <a:latin typeface="Calibri"/>
                <a:cs typeface="Calibri"/>
              </a:rPr>
              <a:t>spots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—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parts</a:t>
            </a:r>
            <a:r>
              <a:rPr sz="2000" b="1" i="1" spc="-80" dirty="0">
                <a:latin typeface="Calibri"/>
                <a:cs typeface="Calibri"/>
              </a:rPr>
              <a:t> </a:t>
            </a:r>
            <a:r>
              <a:rPr sz="2000" dirty="0"/>
              <a:t>of</a:t>
            </a:r>
            <a:r>
              <a:rPr sz="2000" spc="-50" dirty="0"/>
              <a:t> </a:t>
            </a:r>
            <a:r>
              <a:rPr sz="2000" dirty="0"/>
              <a:t>the</a:t>
            </a:r>
            <a:r>
              <a:rPr sz="2000" spc="-35" dirty="0"/>
              <a:t> </a:t>
            </a:r>
            <a:r>
              <a:rPr sz="2000" dirty="0"/>
              <a:t>bytecodes</a:t>
            </a:r>
            <a:r>
              <a:rPr sz="2000" spc="-60" dirty="0"/>
              <a:t> </a:t>
            </a:r>
            <a:r>
              <a:rPr sz="2000" dirty="0"/>
              <a:t>that</a:t>
            </a:r>
            <a:r>
              <a:rPr sz="2000" spc="-40" dirty="0"/>
              <a:t> </a:t>
            </a:r>
            <a:r>
              <a:rPr sz="2000" spc="-10" dirty="0"/>
              <a:t>execute</a:t>
            </a:r>
            <a:r>
              <a:rPr sz="2000" spc="-30" dirty="0"/>
              <a:t> </a:t>
            </a:r>
            <a:r>
              <a:rPr sz="2000" spc="-10" dirty="0"/>
              <a:t>frequently</a:t>
            </a:r>
            <a:endParaRPr sz="2000">
              <a:latin typeface="Calibri"/>
              <a:cs typeface="Calibri"/>
            </a:endParaRPr>
          </a:p>
          <a:p>
            <a:pPr marL="227965" marR="1744345" lvl="2" indent="-227965" algn="r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227965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Java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HotSpot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compiler</a:t>
            </a:r>
            <a:endParaRPr sz="20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Arial"/>
                <a:cs typeface="Arial"/>
              </a:rPr>
              <a:t>–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spc="-25" dirty="0"/>
              <a:t>Translates</a:t>
            </a:r>
            <a:r>
              <a:rPr sz="1800" spc="-50" dirty="0"/>
              <a:t> </a:t>
            </a:r>
            <a:r>
              <a:rPr sz="1800" dirty="0"/>
              <a:t>the</a:t>
            </a:r>
            <a:r>
              <a:rPr sz="1800" spc="-35" dirty="0"/>
              <a:t> </a:t>
            </a:r>
            <a:r>
              <a:rPr sz="1800" dirty="0"/>
              <a:t>bytecodes</a:t>
            </a:r>
            <a:r>
              <a:rPr sz="1800" spc="-30" dirty="0"/>
              <a:t> </a:t>
            </a:r>
            <a:r>
              <a:rPr sz="1800" dirty="0"/>
              <a:t>into</a:t>
            </a:r>
            <a:r>
              <a:rPr sz="1800" spc="-45" dirty="0"/>
              <a:t> </a:t>
            </a:r>
            <a:r>
              <a:rPr sz="1800" dirty="0"/>
              <a:t>the</a:t>
            </a:r>
            <a:r>
              <a:rPr sz="1800" spc="-25" dirty="0"/>
              <a:t> </a:t>
            </a:r>
            <a:r>
              <a:rPr sz="1800" dirty="0"/>
              <a:t>underlying</a:t>
            </a:r>
            <a:r>
              <a:rPr sz="1800" spc="-30" dirty="0"/>
              <a:t> </a:t>
            </a:r>
            <a:r>
              <a:rPr sz="1800" spc="-10" dirty="0"/>
              <a:t>computer’s</a:t>
            </a:r>
            <a:r>
              <a:rPr sz="1800" spc="-25" dirty="0"/>
              <a:t> </a:t>
            </a:r>
            <a:r>
              <a:rPr sz="1800" dirty="0"/>
              <a:t>machine</a:t>
            </a:r>
            <a:r>
              <a:rPr sz="1800" spc="-35" dirty="0"/>
              <a:t> </a:t>
            </a:r>
            <a:r>
              <a:rPr sz="1800" spc="-10" dirty="0"/>
              <a:t>language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6604" y="4686298"/>
            <a:ext cx="5534770" cy="20478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8439" y="874059"/>
            <a:ext cx="8987115" cy="5109882"/>
            <a:chOff x="0" y="0"/>
            <a:chExt cx="10185400" cy="57912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0058400" cy="5664200"/>
            </a:xfrm>
            <a:custGeom>
              <a:avLst/>
              <a:gdLst/>
              <a:ahLst/>
              <a:cxnLst/>
              <a:rect l="l" t="t" r="r" b="b"/>
              <a:pathLst>
                <a:path w="10058400" h="5664200">
                  <a:moveTo>
                    <a:pt x="0" y="0"/>
                  </a:moveTo>
                  <a:lnTo>
                    <a:pt x="0" y="5664200"/>
                  </a:lnTo>
                  <a:lnTo>
                    <a:pt x="10058400" y="5664200"/>
                  </a:lnTo>
                  <a:lnTo>
                    <a:pt x="10058400" y="0"/>
                  </a:lnTo>
                  <a:close/>
                </a:path>
              </a:pathLst>
            </a:custGeom>
            <a:solidFill>
              <a:srgbClr val="F3F6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584200" y="588518"/>
              <a:ext cx="9017000" cy="5207"/>
            </a:xfrm>
            <a:custGeom>
              <a:avLst/>
              <a:gdLst/>
              <a:ahLst/>
              <a:cxnLst/>
              <a:rect l="l" t="t" r="r" b="b"/>
              <a:pathLst>
                <a:path w="9017000" h="5207">
                  <a:moveTo>
                    <a:pt x="0" y="0"/>
                  </a:moveTo>
                  <a:lnTo>
                    <a:pt x="9017000" y="0"/>
                  </a:lnTo>
                  <a:lnTo>
                    <a:pt x="9017000" y="5207"/>
                  </a:lnTo>
                  <a:lnTo>
                    <a:pt x="0" y="5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2164834" y="2560127"/>
            <a:ext cx="4853547" cy="1938973"/>
          </a:xfrm>
          <a:custGeom>
            <a:avLst/>
            <a:gdLst/>
            <a:ahLst/>
            <a:cxnLst/>
            <a:rect l="l" t="t" r="r" b="b"/>
            <a:pathLst>
              <a:path w="5500687" h="2197503">
                <a:moveTo>
                  <a:pt x="0" y="0"/>
                </a:moveTo>
                <a:lnTo>
                  <a:pt x="5500688" y="0"/>
                </a:lnTo>
                <a:lnTo>
                  <a:pt x="5500688" y="2197503"/>
                </a:lnTo>
                <a:lnTo>
                  <a:pt x="0" y="2197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13648" y="2163430"/>
            <a:ext cx="6712326" cy="3130576"/>
          </a:xfrm>
          <a:custGeom>
            <a:avLst/>
            <a:gdLst/>
            <a:ahLst/>
            <a:cxnLst/>
            <a:rect l="l" t="t" r="r" b="b"/>
            <a:pathLst>
              <a:path w="7607303" h="3547986">
                <a:moveTo>
                  <a:pt x="0" y="0"/>
                </a:moveTo>
                <a:lnTo>
                  <a:pt x="7607303" y="0"/>
                </a:lnTo>
                <a:lnTo>
                  <a:pt x="7607303" y="3547987"/>
                </a:lnTo>
                <a:lnTo>
                  <a:pt x="0" y="35479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14400" y="435594"/>
            <a:ext cx="7162799" cy="350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sz="4400" dirty="0">
                <a:solidFill>
                  <a:schemeClr val="tx1"/>
                </a:solidFill>
                <a:latin typeface="Calibri"/>
                <a:ea typeface="+mj-ea"/>
                <a:cs typeface="Calibri"/>
                <a:sym typeface="Open Sans"/>
              </a:rPr>
              <a:t>Anatomy of your ﬁrst program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76803" y="5696594"/>
            <a:ext cx="113157" cy="14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-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65111" y="2705389"/>
            <a:ext cx="2452340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 class HelloWorld {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65817" y="3154302"/>
            <a:ext cx="3985053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 static void main(String[] args) {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66530" y="3603207"/>
            <a:ext cx="3678510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System.out.println("Hello, World");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5816" y="3827663"/>
            <a:ext cx="204362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}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65111" y="4052120"/>
            <a:ext cx="102181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0324" y="2669057"/>
            <a:ext cx="866899" cy="14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11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text file named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1781" y="4913463"/>
            <a:ext cx="935696" cy="134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"/>
              </a:lnSpc>
            </a:pPr>
            <a:r>
              <a:rPr lang="en-US" sz="874" spc="11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body of main()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56003" y="5050447"/>
            <a:ext cx="1083363" cy="134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"/>
              </a:lnSpc>
            </a:pPr>
            <a:r>
              <a:rPr lang="en-US" sz="874" spc="11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(a single statement)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62997" y="2600216"/>
            <a:ext cx="457721" cy="14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11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 method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6858" y="2806594"/>
            <a:ext cx="1021809" cy="14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47">
                <a:solidFill>
                  <a:srgbClr val="005493"/>
                </a:solidFill>
                <a:latin typeface="Montserrat"/>
                <a:ea typeface="Montserrat"/>
                <a:cs typeface="Montserrat"/>
                <a:sym typeface="Montserrat"/>
              </a:rPr>
              <a:t>HelloWorld.java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62290" y="2600771"/>
            <a:ext cx="408724" cy="14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47">
                <a:solidFill>
                  <a:srgbClr val="005493"/>
                </a:solidFill>
                <a:latin typeface="Montserrat"/>
                <a:ea typeface="Montserrat"/>
                <a:cs typeface="Montserrat"/>
                <a:sym typeface="Montserrat"/>
              </a:rPr>
              <a:t>main()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22054" y="2234691"/>
            <a:ext cx="910206" cy="16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984" spc="12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program name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8439" y="874059"/>
            <a:ext cx="8987115" cy="5109882"/>
            <a:chOff x="0" y="0"/>
            <a:chExt cx="10185400" cy="57912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0058400" cy="5664200"/>
            </a:xfrm>
            <a:custGeom>
              <a:avLst/>
              <a:gdLst/>
              <a:ahLst/>
              <a:cxnLst/>
              <a:rect l="l" t="t" r="r" b="b"/>
              <a:pathLst>
                <a:path w="10058400" h="5664200">
                  <a:moveTo>
                    <a:pt x="0" y="0"/>
                  </a:moveTo>
                  <a:lnTo>
                    <a:pt x="0" y="5664200"/>
                  </a:lnTo>
                  <a:lnTo>
                    <a:pt x="10058400" y="5664200"/>
                  </a:lnTo>
                  <a:lnTo>
                    <a:pt x="10058400" y="0"/>
                  </a:lnTo>
                  <a:close/>
                </a:path>
              </a:pathLst>
            </a:custGeom>
            <a:solidFill>
              <a:srgbClr val="F3F6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584200" y="588518"/>
              <a:ext cx="9017000" cy="5207"/>
            </a:xfrm>
            <a:custGeom>
              <a:avLst/>
              <a:gdLst/>
              <a:ahLst/>
              <a:cxnLst/>
              <a:rect l="l" t="t" r="r" b="b"/>
              <a:pathLst>
                <a:path w="9017000" h="5207">
                  <a:moveTo>
                    <a:pt x="0" y="0"/>
                  </a:moveTo>
                  <a:lnTo>
                    <a:pt x="9017000" y="0"/>
                  </a:lnTo>
                  <a:lnTo>
                    <a:pt x="9017000" y="5207"/>
                  </a:lnTo>
                  <a:lnTo>
                    <a:pt x="0" y="5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2164834" y="2560135"/>
            <a:ext cx="4853547" cy="2443381"/>
          </a:xfrm>
          <a:custGeom>
            <a:avLst/>
            <a:gdLst/>
            <a:ahLst/>
            <a:cxnLst/>
            <a:rect l="l" t="t" r="r" b="b"/>
            <a:pathLst>
              <a:path w="5500687" h="2769165">
                <a:moveTo>
                  <a:pt x="0" y="0"/>
                </a:moveTo>
                <a:lnTo>
                  <a:pt x="5500688" y="0"/>
                </a:lnTo>
                <a:lnTo>
                  <a:pt x="5500688" y="2769166"/>
                </a:lnTo>
                <a:lnTo>
                  <a:pt x="0" y="2769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13648" y="2163430"/>
            <a:ext cx="6712326" cy="3489571"/>
          </a:xfrm>
          <a:custGeom>
            <a:avLst/>
            <a:gdLst/>
            <a:ahLst/>
            <a:cxnLst/>
            <a:rect l="l" t="t" r="r" b="b"/>
            <a:pathLst>
              <a:path w="7607303" h="3954847">
                <a:moveTo>
                  <a:pt x="0" y="0"/>
                </a:moveTo>
                <a:lnTo>
                  <a:pt x="7607303" y="0"/>
                </a:lnTo>
                <a:lnTo>
                  <a:pt x="7607303" y="3954847"/>
                </a:lnTo>
                <a:lnTo>
                  <a:pt x="0" y="39548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246783" y="348400"/>
            <a:ext cx="8762741" cy="337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sz="4000" dirty="0">
                <a:solidFill>
                  <a:schemeClr val="tx1"/>
                </a:solidFill>
                <a:latin typeface="Calibri"/>
                <a:ea typeface="+mj-ea"/>
                <a:cs typeface="Calibri"/>
                <a:sym typeface="Open Sans"/>
              </a:rPr>
              <a:t>Anatomy of your next several programs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76803" y="5696594"/>
            <a:ext cx="113157" cy="14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-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65111" y="4276577"/>
            <a:ext cx="102181" cy="44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65816" y="4276577"/>
            <a:ext cx="204362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}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65111" y="2705389"/>
            <a:ext cx="2350159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 class MyProgram {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5817" y="3154302"/>
            <a:ext cx="3985053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 static void main(String[] args) {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66530" y="3603207"/>
            <a:ext cx="408724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...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0259" y="2806594"/>
            <a:ext cx="953690" cy="29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47">
                <a:solidFill>
                  <a:srgbClr val="005493"/>
                </a:solidFill>
                <a:latin typeface="Montserrat"/>
                <a:ea typeface="Montserrat"/>
                <a:cs typeface="Montserrat"/>
                <a:sym typeface="Montserrat"/>
              </a:rPr>
              <a:t>MyProgram.java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2290" y="2600771"/>
            <a:ext cx="408724" cy="14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47">
                <a:solidFill>
                  <a:srgbClr val="005493"/>
                </a:solidFill>
                <a:latin typeface="Montserrat"/>
                <a:ea typeface="Montserrat"/>
                <a:cs typeface="Montserrat"/>
                <a:sym typeface="Montserrat"/>
              </a:rPr>
              <a:t>main()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0324" y="2669057"/>
            <a:ext cx="866899" cy="14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11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text file named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49606" y="5269793"/>
            <a:ext cx="935696" cy="134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"/>
              </a:lnSpc>
            </a:pPr>
            <a:r>
              <a:rPr lang="en-US" sz="874" spc="11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body of main()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50351" y="5406777"/>
            <a:ext cx="1478059" cy="134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"/>
              </a:lnSpc>
            </a:pPr>
            <a:r>
              <a:rPr lang="en-US" sz="874" spc="11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(a sequence of statements)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62997" y="2600216"/>
            <a:ext cx="457721" cy="14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11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 method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22054" y="2234691"/>
            <a:ext cx="910206" cy="16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984" spc="12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program name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8439" y="874059"/>
            <a:ext cx="8987115" cy="5109882"/>
            <a:chOff x="0" y="0"/>
            <a:chExt cx="10185400" cy="57912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0058400" cy="5664200"/>
            </a:xfrm>
            <a:custGeom>
              <a:avLst/>
              <a:gdLst/>
              <a:ahLst/>
              <a:cxnLst/>
              <a:rect l="l" t="t" r="r" b="b"/>
              <a:pathLst>
                <a:path w="10058400" h="5664200">
                  <a:moveTo>
                    <a:pt x="0" y="0"/>
                  </a:moveTo>
                  <a:lnTo>
                    <a:pt x="0" y="5664200"/>
                  </a:lnTo>
                  <a:lnTo>
                    <a:pt x="10058400" y="5664200"/>
                  </a:lnTo>
                  <a:lnTo>
                    <a:pt x="10058400" y="0"/>
                  </a:lnTo>
                  <a:close/>
                </a:path>
              </a:pathLst>
            </a:custGeom>
            <a:solidFill>
              <a:srgbClr val="F3F6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596900" y="588518"/>
              <a:ext cx="9004300" cy="5207"/>
            </a:xfrm>
            <a:custGeom>
              <a:avLst/>
              <a:gdLst/>
              <a:ahLst/>
              <a:cxnLst/>
              <a:rect l="l" t="t" r="r" b="b"/>
              <a:pathLst>
                <a:path w="9004300" h="5207">
                  <a:moveTo>
                    <a:pt x="0" y="0"/>
                  </a:moveTo>
                  <a:lnTo>
                    <a:pt x="9004300" y="0"/>
                  </a:lnTo>
                  <a:lnTo>
                    <a:pt x="9004300" y="5207"/>
                  </a:lnTo>
                  <a:lnTo>
                    <a:pt x="0" y="5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584200" y="800989"/>
              <a:ext cx="6388100" cy="432181"/>
            </a:xfrm>
            <a:custGeom>
              <a:avLst/>
              <a:gdLst/>
              <a:ahLst/>
              <a:cxnLst/>
              <a:rect l="l" t="t" r="r" b="b"/>
              <a:pathLst>
                <a:path w="6388100" h="432181">
                  <a:moveTo>
                    <a:pt x="0" y="0"/>
                  </a:moveTo>
                  <a:lnTo>
                    <a:pt x="6388100" y="0"/>
                  </a:lnTo>
                  <a:lnTo>
                    <a:pt x="6388100" y="432181"/>
                  </a:lnTo>
                  <a:lnTo>
                    <a:pt x="0" y="4321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61885" y="2141680"/>
            <a:ext cx="2186971" cy="796511"/>
            <a:chOff x="0" y="0"/>
            <a:chExt cx="2478557" cy="902716"/>
          </a:xfrm>
        </p:grpSpPr>
        <p:sp>
          <p:nvSpPr>
            <p:cNvPr id="7" name="Freeform 7"/>
            <p:cNvSpPr/>
            <p:nvPr/>
          </p:nvSpPr>
          <p:spPr>
            <a:xfrm>
              <a:off x="2032" y="0"/>
              <a:ext cx="2476500" cy="902716"/>
            </a:xfrm>
            <a:custGeom>
              <a:avLst/>
              <a:gdLst/>
              <a:ahLst/>
              <a:cxnLst/>
              <a:rect l="l" t="t" r="r" b="b"/>
              <a:pathLst>
                <a:path w="2476500" h="902716">
                  <a:moveTo>
                    <a:pt x="0" y="0"/>
                  </a:moveTo>
                  <a:lnTo>
                    <a:pt x="2476500" y="0"/>
                  </a:lnTo>
                  <a:lnTo>
                    <a:pt x="2476500" y="902716"/>
                  </a:lnTo>
                  <a:lnTo>
                    <a:pt x="0" y="9027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935269" y="2115878"/>
            <a:ext cx="2274234" cy="893128"/>
          </a:xfrm>
          <a:custGeom>
            <a:avLst/>
            <a:gdLst/>
            <a:ahLst/>
            <a:cxnLst/>
            <a:rect l="l" t="t" r="r" b="b"/>
            <a:pathLst>
              <a:path w="2577465" h="1012212">
                <a:moveTo>
                  <a:pt x="0" y="0"/>
                </a:moveTo>
                <a:lnTo>
                  <a:pt x="2577465" y="0"/>
                </a:lnTo>
                <a:lnTo>
                  <a:pt x="2577465" y="1012212"/>
                </a:lnTo>
                <a:lnTo>
                  <a:pt x="0" y="101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935269" y="3920650"/>
            <a:ext cx="5477576" cy="1031961"/>
          </a:xfrm>
          <a:custGeom>
            <a:avLst/>
            <a:gdLst/>
            <a:ahLst/>
            <a:cxnLst/>
            <a:rect l="l" t="t" r="r" b="b"/>
            <a:pathLst>
              <a:path w="6207919" h="1169556">
                <a:moveTo>
                  <a:pt x="0" y="0"/>
                </a:moveTo>
                <a:lnTo>
                  <a:pt x="6207918" y="0"/>
                </a:lnTo>
                <a:lnTo>
                  <a:pt x="6207918" y="1169556"/>
                </a:lnTo>
                <a:lnTo>
                  <a:pt x="0" y="1169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61885" y="3947292"/>
            <a:ext cx="5380647" cy="942908"/>
            <a:chOff x="0" y="0"/>
            <a:chExt cx="6098057" cy="1068629"/>
          </a:xfrm>
        </p:grpSpPr>
        <p:sp>
          <p:nvSpPr>
            <p:cNvPr id="11" name="Freeform 11"/>
            <p:cNvSpPr/>
            <p:nvPr/>
          </p:nvSpPr>
          <p:spPr>
            <a:xfrm>
              <a:off x="2032" y="635"/>
              <a:ext cx="6096000" cy="1067943"/>
            </a:xfrm>
            <a:custGeom>
              <a:avLst/>
              <a:gdLst/>
              <a:ahLst/>
              <a:cxnLst/>
              <a:rect l="l" t="t" r="r" b="b"/>
              <a:pathLst>
                <a:path w="6096000" h="1067943">
                  <a:moveTo>
                    <a:pt x="0" y="0"/>
                  </a:moveTo>
                  <a:lnTo>
                    <a:pt x="6096000" y="0"/>
                  </a:lnTo>
                  <a:lnTo>
                    <a:pt x="6096000" y="1067943"/>
                  </a:lnTo>
                  <a:lnTo>
                    <a:pt x="0" y="10679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15203" y="1094582"/>
            <a:ext cx="2976826" cy="25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30" spc="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Pop quiz on "your ﬁrst program"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0008" y="1635575"/>
            <a:ext cx="5430519" cy="21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311" spc="17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Q. </a:t>
            </a:r>
            <a:r>
              <a:rPr lang="en-US" sz="1311" spc="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common sense to cope with the following error messages.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76803" y="5696594"/>
            <a:ext cx="113157" cy="14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-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5545" y="2274074"/>
            <a:ext cx="1762616" cy="48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984" b="1" spc="53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% </a:t>
            </a:r>
            <a:r>
              <a:rPr lang="en-US" sz="984" b="1" spc="53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javac</a:t>
            </a:r>
            <a:r>
              <a:rPr lang="en-US" sz="984" b="1" spc="53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MyProgram.java % java </a:t>
            </a:r>
            <a:r>
              <a:rPr lang="en-US" sz="984" b="1" spc="53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MyProgram</a:t>
            </a:r>
            <a:r>
              <a:rPr lang="en-US" sz="984" b="1" spc="53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Main method not public.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5545" y="4078846"/>
            <a:ext cx="5134592" cy="32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javac MyProgram.java MyProgram.java:3: invalid method declaration; return type required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61477" y="4409518"/>
            <a:ext cx="2605611" cy="15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 static main(String[] args)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13340" y="4574850"/>
            <a:ext cx="76631" cy="15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^</a:t>
            </a:r>
          </a:p>
        </p:txBody>
      </p:sp>
    </p:spTree>
    <p:extLst>
      <p:ext uri="{BB962C8B-B14F-4D97-AF65-F5344CB8AC3E}">
        <p14:creationId xmlns:p14="http://schemas.microsoft.com/office/powerpoint/2010/main" val="1274400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8439" y="874059"/>
            <a:ext cx="8987115" cy="5109882"/>
            <a:chOff x="0" y="0"/>
            <a:chExt cx="10185400" cy="57912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0058400" cy="5664200"/>
            </a:xfrm>
            <a:custGeom>
              <a:avLst/>
              <a:gdLst/>
              <a:ahLst/>
              <a:cxnLst/>
              <a:rect l="l" t="t" r="r" b="b"/>
              <a:pathLst>
                <a:path w="10058400" h="5664200">
                  <a:moveTo>
                    <a:pt x="0" y="0"/>
                  </a:moveTo>
                  <a:lnTo>
                    <a:pt x="0" y="5664200"/>
                  </a:lnTo>
                  <a:lnTo>
                    <a:pt x="10058400" y="5664200"/>
                  </a:lnTo>
                  <a:lnTo>
                    <a:pt x="10058400" y="0"/>
                  </a:lnTo>
                  <a:close/>
                </a:path>
              </a:pathLst>
            </a:custGeom>
            <a:solidFill>
              <a:srgbClr val="F3F6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596900" y="588518"/>
              <a:ext cx="9004300" cy="5207"/>
            </a:xfrm>
            <a:custGeom>
              <a:avLst/>
              <a:gdLst/>
              <a:ahLst/>
              <a:cxnLst/>
              <a:rect l="l" t="t" r="r" b="b"/>
              <a:pathLst>
                <a:path w="9004300" h="5207">
                  <a:moveTo>
                    <a:pt x="0" y="0"/>
                  </a:moveTo>
                  <a:lnTo>
                    <a:pt x="9004300" y="0"/>
                  </a:lnTo>
                  <a:lnTo>
                    <a:pt x="9004300" y="5207"/>
                  </a:lnTo>
                  <a:lnTo>
                    <a:pt x="0" y="5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584200" y="800989"/>
              <a:ext cx="6388100" cy="432181"/>
            </a:xfrm>
            <a:custGeom>
              <a:avLst/>
              <a:gdLst/>
              <a:ahLst/>
              <a:cxnLst/>
              <a:rect l="l" t="t" r="r" b="b"/>
              <a:pathLst>
                <a:path w="6388100" h="432181">
                  <a:moveTo>
                    <a:pt x="0" y="0"/>
                  </a:moveTo>
                  <a:lnTo>
                    <a:pt x="6388100" y="0"/>
                  </a:lnTo>
                  <a:lnTo>
                    <a:pt x="6388100" y="432181"/>
                  </a:lnTo>
                  <a:lnTo>
                    <a:pt x="0" y="4321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61885" y="2141680"/>
            <a:ext cx="2186971" cy="796511"/>
            <a:chOff x="0" y="0"/>
            <a:chExt cx="2478557" cy="902716"/>
          </a:xfrm>
        </p:grpSpPr>
        <p:sp>
          <p:nvSpPr>
            <p:cNvPr id="7" name="Freeform 7"/>
            <p:cNvSpPr/>
            <p:nvPr/>
          </p:nvSpPr>
          <p:spPr>
            <a:xfrm>
              <a:off x="2032" y="0"/>
              <a:ext cx="2476500" cy="902716"/>
            </a:xfrm>
            <a:custGeom>
              <a:avLst/>
              <a:gdLst/>
              <a:ahLst/>
              <a:cxnLst/>
              <a:rect l="l" t="t" r="r" b="b"/>
              <a:pathLst>
                <a:path w="2476500" h="902716">
                  <a:moveTo>
                    <a:pt x="0" y="0"/>
                  </a:moveTo>
                  <a:lnTo>
                    <a:pt x="2476500" y="0"/>
                  </a:lnTo>
                  <a:lnTo>
                    <a:pt x="2476500" y="902716"/>
                  </a:lnTo>
                  <a:lnTo>
                    <a:pt x="0" y="9027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935269" y="2115878"/>
            <a:ext cx="2274234" cy="893128"/>
          </a:xfrm>
          <a:custGeom>
            <a:avLst/>
            <a:gdLst/>
            <a:ahLst/>
            <a:cxnLst/>
            <a:rect l="l" t="t" r="r" b="b"/>
            <a:pathLst>
              <a:path w="2577465" h="1012212">
                <a:moveTo>
                  <a:pt x="0" y="0"/>
                </a:moveTo>
                <a:lnTo>
                  <a:pt x="2577465" y="0"/>
                </a:lnTo>
                <a:lnTo>
                  <a:pt x="2577465" y="1012212"/>
                </a:lnTo>
                <a:lnTo>
                  <a:pt x="0" y="101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>
            <a:off x="935269" y="3920650"/>
            <a:ext cx="5477576" cy="1031961"/>
          </a:xfrm>
          <a:custGeom>
            <a:avLst/>
            <a:gdLst/>
            <a:ahLst/>
            <a:cxnLst/>
            <a:rect l="l" t="t" r="r" b="b"/>
            <a:pathLst>
              <a:path w="6207919" h="1169556">
                <a:moveTo>
                  <a:pt x="0" y="0"/>
                </a:moveTo>
                <a:lnTo>
                  <a:pt x="6207918" y="0"/>
                </a:lnTo>
                <a:lnTo>
                  <a:pt x="6207918" y="1169556"/>
                </a:lnTo>
                <a:lnTo>
                  <a:pt x="0" y="1169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24905" y="5020897"/>
            <a:ext cx="3647095" cy="385351"/>
            <a:chOff x="0" y="0"/>
            <a:chExt cx="4133380" cy="436740"/>
          </a:xfrm>
        </p:grpSpPr>
        <p:sp>
          <p:nvSpPr>
            <p:cNvPr id="11" name="Freeform 11"/>
            <p:cNvSpPr/>
            <p:nvPr/>
          </p:nvSpPr>
          <p:spPr>
            <a:xfrm>
              <a:off x="5842" y="4445"/>
              <a:ext cx="4127500" cy="432308"/>
            </a:xfrm>
            <a:custGeom>
              <a:avLst/>
              <a:gdLst/>
              <a:ahLst/>
              <a:cxnLst/>
              <a:rect l="l" t="t" r="r" b="b"/>
              <a:pathLst>
                <a:path w="4127500" h="432308">
                  <a:moveTo>
                    <a:pt x="0" y="0"/>
                  </a:moveTo>
                  <a:lnTo>
                    <a:pt x="4127500" y="0"/>
                  </a:lnTo>
                  <a:lnTo>
                    <a:pt x="4127500" y="432308"/>
                  </a:lnTo>
                  <a:lnTo>
                    <a:pt x="0" y="432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24906" y="3072813"/>
            <a:ext cx="3008359" cy="392645"/>
            <a:chOff x="0" y="0"/>
            <a:chExt cx="3409480" cy="444995"/>
          </a:xfrm>
        </p:grpSpPr>
        <p:sp>
          <p:nvSpPr>
            <p:cNvPr id="13" name="Freeform 13"/>
            <p:cNvSpPr/>
            <p:nvPr/>
          </p:nvSpPr>
          <p:spPr>
            <a:xfrm>
              <a:off x="5842" y="0"/>
              <a:ext cx="3403600" cy="445008"/>
            </a:xfrm>
            <a:custGeom>
              <a:avLst/>
              <a:gdLst/>
              <a:ahLst/>
              <a:cxnLst/>
              <a:rect l="l" t="t" r="r" b="b"/>
              <a:pathLst>
                <a:path w="3403600" h="445008">
                  <a:moveTo>
                    <a:pt x="0" y="0"/>
                  </a:moveTo>
                  <a:lnTo>
                    <a:pt x="3403600" y="0"/>
                  </a:lnTo>
                  <a:lnTo>
                    <a:pt x="3403600" y="445008"/>
                  </a:lnTo>
                  <a:lnTo>
                    <a:pt x="0" y="445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61885" y="3947292"/>
            <a:ext cx="5380647" cy="942908"/>
            <a:chOff x="0" y="0"/>
            <a:chExt cx="6098057" cy="1068629"/>
          </a:xfrm>
        </p:grpSpPr>
        <p:sp>
          <p:nvSpPr>
            <p:cNvPr id="15" name="Freeform 15"/>
            <p:cNvSpPr/>
            <p:nvPr/>
          </p:nvSpPr>
          <p:spPr>
            <a:xfrm>
              <a:off x="2032" y="635"/>
              <a:ext cx="6096000" cy="1067943"/>
            </a:xfrm>
            <a:custGeom>
              <a:avLst/>
              <a:gdLst/>
              <a:ahLst/>
              <a:cxnLst/>
              <a:rect l="l" t="t" r="r" b="b"/>
              <a:pathLst>
                <a:path w="6096000" h="1067943">
                  <a:moveTo>
                    <a:pt x="0" y="0"/>
                  </a:moveTo>
                  <a:lnTo>
                    <a:pt x="6096000" y="0"/>
                  </a:lnTo>
                  <a:lnTo>
                    <a:pt x="6096000" y="1067943"/>
                  </a:lnTo>
                  <a:lnTo>
                    <a:pt x="0" y="10679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840101" y="3140124"/>
            <a:ext cx="3530694" cy="258024"/>
            <a:chOff x="0" y="0"/>
            <a:chExt cx="4001452" cy="292430"/>
          </a:xfrm>
        </p:grpSpPr>
        <p:sp>
          <p:nvSpPr>
            <p:cNvPr id="17" name="Freeform 17"/>
            <p:cNvSpPr/>
            <p:nvPr/>
          </p:nvSpPr>
          <p:spPr>
            <a:xfrm>
              <a:off x="1016" y="0"/>
              <a:ext cx="4000500" cy="292481"/>
            </a:xfrm>
            <a:custGeom>
              <a:avLst/>
              <a:gdLst/>
              <a:ahLst/>
              <a:cxnLst/>
              <a:rect l="l" t="t" r="r" b="b"/>
              <a:pathLst>
                <a:path w="4000500" h="292481">
                  <a:moveTo>
                    <a:pt x="0" y="0"/>
                  </a:moveTo>
                  <a:lnTo>
                    <a:pt x="4000500" y="0"/>
                  </a:lnTo>
                  <a:lnTo>
                    <a:pt x="4000500" y="292481"/>
                  </a:lnTo>
                  <a:lnTo>
                    <a:pt x="0" y="2924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4840101" y="5081055"/>
            <a:ext cx="3530694" cy="257881"/>
            <a:chOff x="0" y="0"/>
            <a:chExt cx="4001452" cy="292265"/>
          </a:xfrm>
        </p:grpSpPr>
        <p:sp>
          <p:nvSpPr>
            <p:cNvPr id="19" name="Freeform 19"/>
            <p:cNvSpPr/>
            <p:nvPr/>
          </p:nvSpPr>
          <p:spPr>
            <a:xfrm>
              <a:off x="1016" y="0"/>
              <a:ext cx="4000500" cy="292227"/>
            </a:xfrm>
            <a:custGeom>
              <a:avLst/>
              <a:gdLst/>
              <a:ahLst/>
              <a:cxnLst/>
              <a:rect l="l" t="t" r="r" b="b"/>
              <a:pathLst>
                <a:path w="4000500" h="292227">
                  <a:moveTo>
                    <a:pt x="0" y="0"/>
                  </a:moveTo>
                  <a:lnTo>
                    <a:pt x="0" y="292227"/>
                  </a:lnTo>
                  <a:lnTo>
                    <a:pt x="4000500" y="292227"/>
                  </a:lnTo>
                  <a:lnTo>
                    <a:pt x="4000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15203" y="1094582"/>
            <a:ext cx="2976826" cy="25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530" spc="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Pop quiz on "your ﬁrst program"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5843" y="3134922"/>
            <a:ext cx="2013235" cy="21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311" spc="17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A. </a:t>
            </a:r>
            <a:r>
              <a:rPr lang="en-US" sz="1311" spc="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Must have forgotten 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10662" y="3134922"/>
            <a:ext cx="116947" cy="21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311" spc="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”.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0008" y="1635575"/>
            <a:ext cx="5430519" cy="21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311" spc="17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Q. </a:t>
            </a:r>
            <a:r>
              <a:rPr lang="en-US" sz="1311" spc="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common sense to cope with the following error messages.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76803" y="5696594"/>
            <a:ext cx="113157" cy="14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-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5545" y="2274074"/>
            <a:ext cx="1762616" cy="48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984" b="1" spc="53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% </a:t>
            </a:r>
            <a:r>
              <a:rPr lang="en-US" sz="984" b="1" spc="53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javac</a:t>
            </a:r>
            <a:r>
              <a:rPr lang="en-US" sz="984" b="1" spc="53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MyProgram.java % java </a:t>
            </a:r>
            <a:r>
              <a:rPr lang="en-US" sz="984" b="1" spc="53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MyProgram</a:t>
            </a:r>
            <a:r>
              <a:rPr lang="en-US" sz="984" b="1" spc="53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Main method not public.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5545" y="4078846"/>
            <a:ext cx="5134592" cy="32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% javac MyProgram.java MyProgram.java:3: invalid method declaration; return type required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61477" y="4409518"/>
            <a:ext cx="2605611" cy="15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 static main(String[] args)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13340" y="4574850"/>
            <a:ext cx="76631" cy="15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^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09603" y="3135754"/>
            <a:ext cx="613085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27927" y="5092679"/>
            <a:ext cx="3451440" cy="19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sz="1166" spc="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 static </a:t>
            </a:r>
            <a:r>
              <a:rPr lang="en-US" sz="1166" spc="63">
                <a:solidFill>
                  <a:srgbClr val="8D3124"/>
                </a:solidFill>
                <a:latin typeface="Montserrat"/>
                <a:ea typeface="Montserrat"/>
                <a:cs typeface="Montserrat"/>
                <a:sym typeface="Montserrat"/>
              </a:rPr>
              <a:t>void</a:t>
            </a:r>
            <a:r>
              <a:rPr lang="en-US" sz="1166" spc="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main(String[] args)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27927" y="3149083"/>
            <a:ext cx="3451440" cy="19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sz="1166" spc="63">
                <a:solidFill>
                  <a:srgbClr val="8D3124"/>
                </a:solidFill>
                <a:latin typeface="Montserrat"/>
                <a:ea typeface="Montserrat"/>
                <a:cs typeface="Montserrat"/>
                <a:sym typeface="Montserrat"/>
              </a:rPr>
              <a:t>public</a:t>
            </a:r>
            <a:r>
              <a:rPr lang="en-US" sz="1166" spc="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static void main(String[] args)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5843" y="5079560"/>
            <a:ext cx="760742" cy="2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spc="16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A. </a:t>
            </a:r>
            <a:r>
              <a:rPr lang="en-US" sz="1275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Check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55613" y="5079560"/>
            <a:ext cx="1134352" cy="2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Aha! Forgot 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57305" y="5079560"/>
            <a:ext cx="113704" cy="2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spc="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”.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81676" y="5071970"/>
            <a:ext cx="993427" cy="444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spc="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HelloWorld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67727" y="5071970"/>
            <a:ext cx="397369" cy="213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spc="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void</a:t>
            </a:r>
          </a:p>
        </p:txBody>
      </p:sp>
    </p:spTree>
    <p:extLst>
      <p:ext uri="{BB962C8B-B14F-4D97-AF65-F5344CB8AC3E}">
        <p14:creationId xmlns:p14="http://schemas.microsoft.com/office/powerpoint/2010/main" val="1407254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8439" y="874059"/>
            <a:ext cx="8987115" cy="5109882"/>
            <a:chOff x="0" y="0"/>
            <a:chExt cx="10185400" cy="57912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0058400" cy="5664200"/>
            </a:xfrm>
            <a:custGeom>
              <a:avLst/>
              <a:gdLst/>
              <a:ahLst/>
              <a:cxnLst/>
              <a:rect l="l" t="t" r="r" b="b"/>
              <a:pathLst>
                <a:path w="10058400" h="5664200">
                  <a:moveTo>
                    <a:pt x="0" y="0"/>
                  </a:moveTo>
                  <a:lnTo>
                    <a:pt x="0" y="5664200"/>
                  </a:lnTo>
                  <a:lnTo>
                    <a:pt x="10058400" y="5664200"/>
                  </a:lnTo>
                  <a:lnTo>
                    <a:pt x="10058400" y="0"/>
                  </a:lnTo>
                  <a:close/>
                </a:path>
              </a:pathLst>
            </a:custGeom>
            <a:solidFill>
              <a:srgbClr val="F3F6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584200" y="588518"/>
              <a:ext cx="9017000" cy="5207"/>
            </a:xfrm>
            <a:custGeom>
              <a:avLst/>
              <a:gdLst/>
              <a:ahLst/>
              <a:cxnLst/>
              <a:rect l="l" t="t" r="r" b="b"/>
              <a:pathLst>
                <a:path w="9017000" h="5207">
                  <a:moveTo>
                    <a:pt x="0" y="0"/>
                  </a:moveTo>
                  <a:lnTo>
                    <a:pt x="9017000" y="0"/>
                  </a:lnTo>
                  <a:lnTo>
                    <a:pt x="9017000" y="5207"/>
                  </a:lnTo>
                  <a:lnTo>
                    <a:pt x="0" y="5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4406900" y="2046986"/>
              <a:ext cx="5219700" cy="2288540"/>
            </a:xfrm>
            <a:custGeom>
              <a:avLst/>
              <a:gdLst/>
              <a:ahLst/>
              <a:cxnLst/>
              <a:rect l="l" t="t" r="r" b="b"/>
              <a:pathLst>
                <a:path w="5219700" h="2288540">
                  <a:moveTo>
                    <a:pt x="0" y="0"/>
                  </a:moveTo>
                  <a:lnTo>
                    <a:pt x="5219700" y="0"/>
                  </a:lnTo>
                  <a:lnTo>
                    <a:pt x="5219700" y="2288540"/>
                  </a:lnTo>
                  <a:lnTo>
                    <a:pt x="0" y="2288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29755" y="4878988"/>
            <a:ext cx="7253957" cy="168274"/>
            <a:chOff x="0" y="0"/>
            <a:chExt cx="8221142" cy="190716"/>
          </a:xfrm>
        </p:grpSpPr>
        <p:sp>
          <p:nvSpPr>
            <p:cNvPr id="8" name="Freeform 8"/>
            <p:cNvSpPr/>
            <p:nvPr/>
          </p:nvSpPr>
          <p:spPr>
            <a:xfrm>
              <a:off x="4191" y="0"/>
              <a:ext cx="8216900" cy="190754"/>
            </a:xfrm>
            <a:custGeom>
              <a:avLst/>
              <a:gdLst/>
              <a:ahLst/>
              <a:cxnLst/>
              <a:rect l="l" t="t" r="r" b="b"/>
              <a:pathLst>
                <a:path w="8216900" h="190754">
                  <a:moveTo>
                    <a:pt x="0" y="0"/>
                  </a:moveTo>
                  <a:lnTo>
                    <a:pt x="8216900" y="0"/>
                  </a:lnTo>
                  <a:lnTo>
                    <a:pt x="8216900" y="190754"/>
                  </a:lnTo>
                  <a:lnTo>
                    <a:pt x="0" y="1907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629070" y="4720104"/>
            <a:ext cx="651081" cy="495154"/>
          </a:xfrm>
          <a:custGeom>
            <a:avLst/>
            <a:gdLst/>
            <a:ahLst/>
            <a:cxnLst/>
            <a:rect l="l" t="t" r="r" b="b"/>
            <a:pathLst>
              <a:path w="737892" h="561175">
                <a:moveTo>
                  <a:pt x="0" y="0"/>
                </a:moveTo>
                <a:lnTo>
                  <a:pt x="737892" y="0"/>
                </a:lnTo>
                <a:lnTo>
                  <a:pt x="737892" y="561174"/>
                </a:lnTo>
                <a:lnTo>
                  <a:pt x="0" y="56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83964" y="1579081"/>
            <a:ext cx="3420596" cy="1300356"/>
          </a:xfrm>
          <a:custGeom>
            <a:avLst/>
            <a:gdLst/>
            <a:ahLst/>
            <a:cxnLst/>
            <a:rect l="l" t="t" r="r" b="b"/>
            <a:pathLst>
              <a:path w="3876675" h="1473737">
                <a:moveTo>
                  <a:pt x="0" y="0"/>
                </a:moveTo>
                <a:lnTo>
                  <a:pt x="3876675" y="0"/>
                </a:lnTo>
                <a:lnTo>
                  <a:pt x="3876675" y="1473736"/>
                </a:lnTo>
                <a:lnTo>
                  <a:pt x="0" y="1473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05118" y="1603192"/>
            <a:ext cx="3328147" cy="1211597"/>
            <a:chOff x="0" y="0"/>
            <a:chExt cx="3771900" cy="13731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71900" cy="1373124"/>
            </a:xfrm>
            <a:custGeom>
              <a:avLst/>
              <a:gdLst/>
              <a:ahLst/>
              <a:cxnLst/>
              <a:rect l="l" t="t" r="r" b="b"/>
              <a:pathLst>
                <a:path w="3771900" h="1373124">
                  <a:moveTo>
                    <a:pt x="0" y="0"/>
                  </a:moveTo>
                  <a:lnTo>
                    <a:pt x="3771900" y="0"/>
                  </a:lnTo>
                  <a:lnTo>
                    <a:pt x="3771900" y="1373124"/>
                  </a:lnTo>
                  <a:lnTo>
                    <a:pt x="0" y="1373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593915" y="5437386"/>
            <a:ext cx="6947650" cy="490524"/>
            <a:chOff x="0" y="0"/>
            <a:chExt cx="7874000" cy="555930"/>
          </a:xfrm>
        </p:grpSpPr>
        <p:sp>
          <p:nvSpPr>
            <p:cNvPr id="15" name="Freeform 15"/>
            <p:cNvSpPr/>
            <p:nvPr/>
          </p:nvSpPr>
          <p:spPr>
            <a:xfrm>
              <a:off x="0" y="2921"/>
              <a:ext cx="7874000" cy="552958"/>
            </a:xfrm>
            <a:custGeom>
              <a:avLst/>
              <a:gdLst/>
              <a:ahLst/>
              <a:cxnLst/>
              <a:rect l="l" t="t" r="r" b="b"/>
              <a:pathLst>
                <a:path w="7874000" h="552958">
                  <a:moveTo>
                    <a:pt x="0" y="0"/>
                  </a:moveTo>
                  <a:lnTo>
                    <a:pt x="0" y="552958"/>
                  </a:lnTo>
                  <a:lnTo>
                    <a:pt x="7874000" y="552958"/>
                  </a:lnTo>
                  <a:lnTo>
                    <a:pt x="787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09545" y="434414"/>
            <a:ext cx="6332020" cy="310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42"/>
              </a:lnSpc>
            </a:pPr>
            <a:r>
              <a:rPr lang="en-US" sz="3200" b="1" spc="7" dirty="0">
                <a:solidFill>
                  <a:srgbClr val="000000"/>
                </a:solidFill>
                <a:latin typeface="+mj-lt"/>
                <a:ea typeface="Open Sans"/>
                <a:cs typeface="Times New Roman" panose="02020603050405020304" pitchFamily="18" charset="0"/>
                <a:sym typeface="Open Sans"/>
              </a:rPr>
              <a:t>Three versions of the same program.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76803" y="5696594"/>
            <a:ext cx="113157" cy="14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-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68155" y="2782490"/>
            <a:ext cx="4456288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"/>
              </a:lnSpc>
            </a:pPr>
            <a:r>
              <a:rPr lang="en-US" sz="765" b="1" i="1">
                <a:solidFill>
                  <a:srgbClr val="000000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/*************************************************************************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26407" y="2888924"/>
            <a:ext cx="4456296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7"/>
              </a:lnSpc>
            </a:pPr>
            <a:r>
              <a:rPr lang="en-US" sz="765" b="1" i="1">
                <a:solidFill>
                  <a:srgbClr val="000000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* * * * * * * * *************************************************************************/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01168" y="2888924"/>
            <a:ext cx="772416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"/>
              </a:lnSpc>
            </a:pPr>
            <a:r>
              <a:rPr lang="en-US" sz="765" b="1" i="1">
                <a:solidFill>
                  <a:srgbClr val="000000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Compilation: Execution: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16699" y="2888924"/>
            <a:ext cx="1307171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"/>
              </a:lnSpc>
            </a:pPr>
            <a:r>
              <a:rPr lang="en-US" sz="765" b="1" i="1">
                <a:solidFill>
                  <a:srgbClr val="000000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javac HelloWorld.java java HelloWorld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01168" y="3208225"/>
            <a:ext cx="4218619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"/>
              </a:lnSpc>
            </a:pPr>
            <a:r>
              <a:rPr lang="en-US" sz="765" b="1" i="1">
                <a:solidFill>
                  <a:srgbClr val="000000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Prints "Hello, World". By tradition, this is everyone's first program. % java HelloWorld Hello, World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68156" y="3985632"/>
            <a:ext cx="1544840" cy="1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"/>
              </a:lnSpc>
            </a:pPr>
            <a:r>
              <a:rPr lang="en-US" sz="765" b="1">
                <a:solidFill>
                  <a:srgbClr val="005493"/>
                </a:solidFill>
                <a:latin typeface="Courier New OS Bold"/>
                <a:ea typeface="Courier New OS Bold"/>
                <a:cs typeface="Courier New OS Bold"/>
                <a:sym typeface="Courier New OS Bold"/>
              </a:rPr>
              <a:t>public class</a:t>
            </a:r>
            <a:r>
              <a:rPr lang="en-US" sz="765" b="1">
                <a:solidFill>
                  <a:srgbClr val="000000"/>
                </a:solidFill>
                <a:latin typeface="Courier New OS Bold"/>
                <a:ea typeface="Courier New OS Bold"/>
                <a:cs typeface="Courier New OS Bold"/>
                <a:sym typeface="Courier New OS Bold"/>
              </a:rPr>
              <a:t> HelloWorld {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01169" y="4198508"/>
            <a:ext cx="2436094" cy="1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"/>
              </a:lnSpc>
            </a:pPr>
            <a:r>
              <a:rPr lang="en-US" sz="765" b="1">
                <a:solidFill>
                  <a:srgbClr val="005493"/>
                </a:solidFill>
                <a:latin typeface="Courier New OS Bold"/>
                <a:ea typeface="Courier New OS Bold"/>
                <a:cs typeface="Courier New OS Bold"/>
                <a:sym typeface="Courier New OS Bold"/>
              </a:rPr>
              <a:t>public static void</a:t>
            </a:r>
            <a:r>
              <a:rPr lang="en-US" sz="765" b="1">
                <a:solidFill>
                  <a:srgbClr val="000000"/>
                </a:solidFill>
                <a:latin typeface="Courier New OS Bold"/>
                <a:ea typeface="Courier New OS Bold"/>
                <a:cs typeface="Courier New OS Bold"/>
                <a:sym typeface="Courier New OS Bold"/>
              </a:rPr>
              <a:t> main(String[] args) {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34172" y="4304942"/>
            <a:ext cx="2139007" cy="1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"/>
              </a:lnSpc>
            </a:pPr>
            <a:r>
              <a:rPr lang="en-US" sz="765" b="1">
                <a:solidFill>
                  <a:srgbClr val="000000"/>
                </a:solidFill>
                <a:latin typeface="Courier New OS Bold"/>
                <a:ea typeface="Courier New OS Bold"/>
                <a:cs typeface="Courier New OS Bold"/>
                <a:sym typeface="Courier New OS Bold"/>
              </a:rPr>
              <a:t>System.out.println("</a:t>
            </a:r>
            <a:r>
              <a:rPr lang="en-US" sz="765" b="1">
                <a:solidFill>
                  <a:srgbClr val="3DA779"/>
                </a:solidFill>
                <a:latin typeface="Courier New OS Bold"/>
                <a:ea typeface="Courier New OS Bold"/>
                <a:cs typeface="Courier New OS Bold"/>
                <a:sym typeface="Courier New OS Bold"/>
              </a:rPr>
              <a:t>Hello, World</a:t>
            </a:r>
            <a:r>
              <a:rPr lang="en-US" sz="765" b="1">
                <a:solidFill>
                  <a:srgbClr val="000000"/>
                </a:solidFill>
                <a:latin typeface="Courier New OS Bold"/>
                <a:ea typeface="Courier New OS Bold"/>
                <a:cs typeface="Courier New OS Bold"/>
                <a:sym typeface="Courier New OS Bold"/>
              </a:rPr>
              <a:t>");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01168" y="4411375"/>
            <a:ext cx="118821" cy="1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"/>
              </a:lnSpc>
            </a:pPr>
            <a:r>
              <a:rPr lang="en-US" sz="765" b="1">
                <a:solidFill>
                  <a:srgbClr val="000000"/>
                </a:solidFill>
                <a:latin typeface="Courier New OS Bold"/>
                <a:ea typeface="Courier New OS Bold"/>
                <a:cs typeface="Courier New OS Bold"/>
                <a:sym typeface="Courier New OS Bold"/>
              </a:rPr>
              <a:t>}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68155" y="4517809"/>
            <a:ext cx="59411" cy="10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"/>
              </a:lnSpc>
            </a:pPr>
            <a:r>
              <a:rPr lang="en-US" sz="765" b="1">
                <a:solidFill>
                  <a:srgbClr val="000000"/>
                </a:solidFill>
                <a:latin typeface="Courier New OS Bold"/>
                <a:ea typeface="Courier New OS Bold"/>
                <a:cs typeface="Courier New OS Bold"/>
                <a:sym typeface="Courier New OS Bold"/>
              </a:rPr>
              <a:t>}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30524" y="4876979"/>
            <a:ext cx="7220777" cy="143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 class HelloWorld { public static void main(String[] args) { System.out.println("Hello, World"); } }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4241" y="1751782"/>
            <a:ext cx="1430531" cy="12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"/>
              </a:lnSpc>
            </a:pPr>
            <a:r>
              <a:rPr lang="en-US" sz="765" spc="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 class HelloWorld {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7985" y="2011647"/>
            <a:ext cx="2324610" cy="12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"/>
              </a:lnSpc>
            </a:pPr>
            <a:r>
              <a:rPr lang="en-US" sz="765" spc="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public static void main(String[] args) {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1736" y="2271502"/>
            <a:ext cx="2145798" cy="12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"/>
              </a:lnSpc>
            </a:pPr>
            <a:r>
              <a:rPr lang="en-US" sz="765" spc="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System.out.println("Hello, World");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17985" y="2401435"/>
            <a:ext cx="119209" cy="12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"/>
              </a:lnSpc>
            </a:pPr>
            <a:r>
              <a:rPr lang="en-US" sz="765" spc="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}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4241" y="2531367"/>
            <a:ext cx="59604" cy="12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"/>
              </a:lnSpc>
            </a:pPr>
            <a:r>
              <a:rPr lang="en-US" sz="765" spc="4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0008" y="5528624"/>
            <a:ext cx="6040032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1"/>
              </a:lnSpc>
            </a:pPr>
            <a:r>
              <a:rPr lang="en-US" sz="1311" spc="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Lesson: Fonts, color, comments, and extra space are not relevant in Java language.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439" y="874059"/>
            <a:ext cx="8987115" cy="5109882"/>
          </a:xfrm>
          <a:custGeom>
            <a:avLst/>
            <a:gdLst/>
            <a:ahLst/>
            <a:cxnLst/>
            <a:rect l="l" t="t" r="r" b="b"/>
            <a:pathLst>
              <a:path w="10185397" h="5791200">
                <a:moveTo>
                  <a:pt x="0" y="0"/>
                </a:moveTo>
                <a:lnTo>
                  <a:pt x="10185397" y="0"/>
                </a:lnTo>
                <a:lnTo>
                  <a:pt x="10185397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776803" y="5696594"/>
            <a:ext cx="113157" cy="14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-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0415" y="1061270"/>
            <a:ext cx="3179884" cy="3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1311" spc="1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 a three-step process, </a:t>
            </a:r>
            <a:r>
              <a:rPr lang="en-US" sz="1311" i="1" spc="17" dirty="0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with feedback</a:t>
            </a:r>
            <a:r>
              <a:rPr lang="en-US" sz="1311" spc="1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9070" y="1825892"/>
            <a:ext cx="1834330" cy="360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1311" spc="17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1. EDIT your program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3121" y="2322400"/>
            <a:ext cx="4243069" cy="47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"/>
              </a:lnSpc>
            </a:pPr>
            <a:r>
              <a:rPr lang="en-US" sz="1369" spc="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•Create it by typing on your computer's keyboard. </a:t>
            </a:r>
          </a:p>
          <a:p>
            <a:pPr algn="l">
              <a:lnSpc>
                <a:spcPts val="3353"/>
              </a:lnSpc>
            </a:pPr>
            <a:r>
              <a:rPr lang="en-US" sz="1369" spc="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•Result: a text file such as HelloWorld.java.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071" y="2815344"/>
            <a:ext cx="3442573" cy="35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1311" spc="17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2. COMPILE it to create an executable file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3120" y="3303456"/>
            <a:ext cx="3054071" cy="46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"/>
              </a:lnSpc>
            </a:pPr>
            <a:r>
              <a:rPr lang="en-US" sz="1369" spc="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•Use the Java compiler </a:t>
            </a:r>
          </a:p>
          <a:p>
            <a:pPr algn="l">
              <a:lnSpc>
                <a:spcPts val="3281"/>
              </a:lnSpc>
            </a:pPr>
            <a:r>
              <a:rPr lang="en-US" sz="1369" spc="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•Result: a Java bytecode file such as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3121" y="3821747"/>
            <a:ext cx="3800063" cy="12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"/>
              </a:lnSpc>
            </a:pPr>
            <a:r>
              <a:rPr lang="en-US" sz="1369" spc="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•Mistake? Go back to 1. to fix and recompile.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4165" y="3896345"/>
            <a:ext cx="1345664" cy="240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6"/>
              </a:lnSpc>
            </a:pPr>
            <a:r>
              <a:rPr lang="en-US" sz="874" spc="11">
                <a:solidFill>
                  <a:srgbClr val="8D3124"/>
                </a:solidFill>
                <a:latin typeface="Open Sans"/>
                <a:ea typeface="Open Sans"/>
                <a:cs typeface="Open Sans"/>
                <a:sym typeface="Open Sans"/>
              </a:rPr>
              <a:t>not a legal Java program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9070" y="4215233"/>
            <a:ext cx="1809722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7"/>
              </a:lnSpc>
            </a:pPr>
            <a:r>
              <a:rPr lang="en-US" sz="1311" spc="17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3. RUN your program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121" y="4375564"/>
            <a:ext cx="4240866" cy="821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369" spc="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•Use the Java runtime. </a:t>
            </a:r>
          </a:p>
          <a:p>
            <a:pPr algn="l">
              <a:lnSpc>
                <a:spcPts val="1509"/>
              </a:lnSpc>
            </a:pPr>
            <a:r>
              <a:rPr lang="en-US" sz="1369" spc="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•Result: your program’s output. </a:t>
            </a:r>
          </a:p>
          <a:p>
            <a:pPr algn="l">
              <a:lnSpc>
                <a:spcPts val="2572"/>
              </a:lnSpc>
            </a:pPr>
            <a:r>
              <a:rPr lang="en-US" sz="1369" spc="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•Mistake? Go back to 1. to fix, recompile, and run.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57310" y="3467610"/>
            <a:ext cx="1688531" cy="21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311" spc="7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HelloWorld.class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3922" y="5238252"/>
            <a:ext cx="2598308" cy="14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11">
                <a:solidFill>
                  <a:srgbClr val="8D3124"/>
                </a:solidFill>
                <a:latin typeface="Open Sans"/>
                <a:ea typeface="Open Sans"/>
                <a:cs typeface="Open Sans"/>
                <a:sym typeface="Open Sans"/>
              </a:rPr>
              <a:t>a legal Java program that does the wrong thing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76036" y="3834118"/>
            <a:ext cx="600579" cy="37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092" spc="14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COMPILE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3609" y="2887890"/>
            <a:ext cx="312880" cy="18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092" spc="14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EDIT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03328" y="3799702"/>
            <a:ext cx="292373" cy="37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092" spc="14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RUN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AB942-D2F6-74A2-80D0-779E5CB033FD}"/>
              </a:ext>
            </a:extLst>
          </p:cNvPr>
          <p:cNvSpPr txBox="1"/>
          <p:nvPr/>
        </p:nvSpPr>
        <p:spPr>
          <a:xfrm>
            <a:off x="1981200" y="217324"/>
            <a:ext cx="5181600" cy="37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400" b="1" spc="7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 development in Java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439" y="874059"/>
            <a:ext cx="8987115" cy="5109882"/>
          </a:xfrm>
          <a:custGeom>
            <a:avLst/>
            <a:gdLst/>
            <a:ahLst/>
            <a:cxnLst/>
            <a:rect l="l" t="t" r="r" b="b"/>
            <a:pathLst>
              <a:path w="10185397" h="5791200">
                <a:moveTo>
                  <a:pt x="0" y="0"/>
                </a:moveTo>
                <a:lnTo>
                  <a:pt x="10185397" y="0"/>
                </a:lnTo>
                <a:lnTo>
                  <a:pt x="10185397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123580" y="1596460"/>
            <a:ext cx="1326636" cy="814463"/>
          </a:xfrm>
          <a:custGeom>
            <a:avLst/>
            <a:gdLst/>
            <a:ahLst/>
            <a:cxnLst/>
            <a:rect l="l" t="t" r="r" b="b"/>
            <a:pathLst>
              <a:path w="1503521" h="923058">
                <a:moveTo>
                  <a:pt x="0" y="0"/>
                </a:moveTo>
                <a:lnTo>
                  <a:pt x="1503521" y="0"/>
                </a:lnTo>
                <a:lnTo>
                  <a:pt x="1503521" y="923059"/>
                </a:lnTo>
                <a:lnTo>
                  <a:pt x="0" y="923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37883" y="3609762"/>
            <a:ext cx="8010942" cy="2267603"/>
          </a:xfrm>
          <a:custGeom>
            <a:avLst/>
            <a:gdLst/>
            <a:ahLst/>
            <a:cxnLst/>
            <a:rect l="l" t="t" r="r" b="b"/>
            <a:pathLst>
              <a:path w="9079068" h="2569950">
                <a:moveTo>
                  <a:pt x="0" y="0"/>
                </a:moveTo>
                <a:lnTo>
                  <a:pt x="9079068" y="0"/>
                </a:lnTo>
                <a:lnTo>
                  <a:pt x="9079068" y="2569949"/>
                </a:lnTo>
                <a:lnTo>
                  <a:pt x="0" y="256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40464" y="363923"/>
            <a:ext cx="7063064" cy="281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400" b="1" spc="1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rich subset of the Java language vocabulary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04538" y="5696594"/>
            <a:ext cx="56578" cy="14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74" spc="-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5282" y="1639919"/>
            <a:ext cx="536445" cy="19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built-in types</a:t>
            </a:r>
          </a:p>
          <a:p>
            <a:pPr algn="ctr">
              <a:lnSpc>
                <a:spcPts val="1895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 long double char String boolean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5067" y="3682561"/>
            <a:ext cx="740899" cy="39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punctuation</a:t>
            </a:r>
          </a:p>
          <a:p>
            <a:pPr algn="ctr">
              <a:lnSpc>
                <a:spcPts val="1892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{ } ( ) , 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61447" y="3693580"/>
            <a:ext cx="78290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comparisons</a:t>
            </a:r>
          </a:p>
          <a:p>
            <a:pPr algn="ctr">
              <a:lnSpc>
                <a:spcPts val="1895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&lt; &lt;= &gt; &gt;= == !=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8012" y="1612908"/>
            <a:ext cx="871504" cy="47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operations on numeric types</a:t>
            </a:r>
          </a:p>
          <a:p>
            <a:pPr algn="ctr">
              <a:lnSpc>
                <a:spcPts val="1921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 - * / % ++ --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25664" y="1633271"/>
            <a:ext cx="403546" cy="12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0"/>
              </a:lnSpc>
            </a:pPr>
            <a:r>
              <a:rPr lang="en-US" sz="984" spc="12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String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42371" y="1874366"/>
            <a:ext cx="945449" cy="1073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</a:pPr>
            <a:r>
              <a:rPr lang="en-US" sz="984" i="1" spc="12" dirty="0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operations</a:t>
            </a:r>
          </a:p>
          <a:p>
            <a:pPr algn="ctr">
              <a:lnSpc>
                <a:spcPts val="1892"/>
              </a:lnSpc>
            </a:pP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 "" length() </a:t>
            </a:r>
            <a:r>
              <a:rPr lang="en-US" sz="984" spc="5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charAt</a:t>
            </a: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() </a:t>
            </a:r>
            <a:r>
              <a:rPr lang="en-US" sz="984" spc="5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compareTo</a:t>
            </a: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() matches()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76751" y="3618999"/>
            <a:ext cx="522191" cy="12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0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boolean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92505" y="3748570"/>
            <a:ext cx="653821" cy="585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operations</a:t>
            </a:r>
          </a:p>
          <a:p>
            <a:pPr algn="ctr">
              <a:lnSpc>
                <a:spcPts val="1912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true false ! &amp;&amp; ||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97608" y="3946333"/>
            <a:ext cx="459814" cy="91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"/>
              </a:lnSpc>
            </a:pPr>
            <a:r>
              <a:rPr lang="en-US" sz="984" i="1" spc="12" dirty="0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arrays</a:t>
            </a:r>
          </a:p>
          <a:p>
            <a:pPr algn="ctr">
              <a:lnSpc>
                <a:spcPts val="1974"/>
              </a:lnSpc>
            </a:pP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a[] length new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52372" y="1729705"/>
            <a:ext cx="708946" cy="345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assignment</a:t>
            </a:r>
          </a:p>
          <a:p>
            <a:pPr algn="ctr">
              <a:lnSpc>
                <a:spcPts val="1377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=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50079" y="2442356"/>
            <a:ext cx="73249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flow control</a:t>
            </a:r>
          </a:p>
          <a:p>
            <a:pPr algn="ctr">
              <a:lnSpc>
                <a:spcPts val="1900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 else for while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71206" y="1629121"/>
            <a:ext cx="766356" cy="168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object oriented</a:t>
            </a:r>
          </a:p>
          <a:p>
            <a:pPr algn="ctr">
              <a:lnSpc>
                <a:spcPts val="1883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static class public private new final toString() main()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83829" y="4478509"/>
            <a:ext cx="1532712" cy="704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type conversion methods</a:t>
            </a:r>
          </a:p>
          <a:p>
            <a:pPr algn="ctr">
              <a:lnSpc>
                <a:spcPts val="2185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Integer.parseInt() Double.parseDouble()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61523" y="1629120"/>
            <a:ext cx="346640" cy="12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0"/>
              </a:lnSpc>
            </a:pPr>
            <a:r>
              <a:rPr lang="en-US" sz="984" spc="12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Math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98497" y="1758700"/>
            <a:ext cx="842988" cy="2535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methods</a:t>
            </a:r>
          </a:p>
          <a:p>
            <a:pPr algn="ctr">
              <a:lnSpc>
                <a:spcPts val="1892"/>
              </a:lnSpc>
            </a:pPr>
            <a:r>
              <a:rPr lang="en-US" sz="984" spc="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Math.sin() Math.cos() Math.log() Math.exp() Math.pow() Math.sqrt() Math.min() Math.max() Math.abs() Math.PI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60397" y="2789541"/>
            <a:ext cx="1226170" cy="82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"/>
              </a:lnSpc>
            </a:pPr>
            <a:r>
              <a:rPr lang="en-US" sz="984" spc="12" dirty="0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System </a:t>
            </a:r>
            <a:r>
              <a:rPr lang="en-US" sz="984" i="1" spc="12" dirty="0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methods</a:t>
            </a:r>
          </a:p>
          <a:p>
            <a:pPr algn="ctr">
              <a:lnSpc>
                <a:spcPts val="1903"/>
              </a:lnSpc>
            </a:pPr>
            <a:r>
              <a:rPr lang="en-US" sz="984" spc="5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System.print</a:t>
            </a: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() </a:t>
            </a:r>
            <a:r>
              <a:rPr lang="en-US" sz="984" spc="5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System.println</a:t>
            </a: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() </a:t>
            </a:r>
            <a:r>
              <a:rPr lang="en-US" sz="984" spc="5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System.printf</a:t>
            </a: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29001" y="3878553"/>
            <a:ext cx="1149530" cy="1368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"/>
              </a:lnSpc>
            </a:pPr>
            <a:r>
              <a:rPr lang="en-US" sz="984" i="1" spc="12" dirty="0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our </a:t>
            </a:r>
            <a:r>
              <a:rPr lang="en-US" sz="984" spc="12" dirty="0">
                <a:solidFill>
                  <a:srgbClr val="005493"/>
                </a:solidFill>
                <a:latin typeface="Open Sans"/>
                <a:ea typeface="Open Sans"/>
                <a:cs typeface="Open Sans"/>
                <a:sym typeface="Open Sans"/>
              </a:rPr>
              <a:t>Std methods</a:t>
            </a:r>
          </a:p>
          <a:p>
            <a:pPr algn="ctr">
              <a:lnSpc>
                <a:spcPts val="1912"/>
              </a:lnSpc>
            </a:pPr>
            <a:r>
              <a:rPr lang="en-US" sz="984" spc="5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StdIn.read</a:t>
            </a: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*() </a:t>
            </a:r>
            <a:r>
              <a:rPr lang="en-US" sz="984" spc="5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StdOut.print</a:t>
            </a: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*() </a:t>
            </a:r>
            <a:r>
              <a:rPr lang="en-US" sz="984" spc="5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StdDraw</a:t>
            </a: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.*() </a:t>
            </a:r>
            <a:r>
              <a:rPr lang="en-US" sz="984" spc="5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StdAudio</a:t>
            </a: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.*() </a:t>
            </a:r>
            <a:r>
              <a:rPr lang="en-US" sz="984" spc="5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StdRandom</a:t>
            </a:r>
            <a:r>
              <a:rPr lang="en-US" sz="984" spc="5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.*()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09210" y="1942579"/>
            <a:ext cx="77396" cy="163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984" i="1" spc="12">
                <a:solidFill>
                  <a:srgbClr val="005493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0009" y="5495007"/>
            <a:ext cx="7272144" cy="21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311" spc="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Your programs will primarily consist of these plus identifiers (names) that you make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1721</Words>
  <Application>Microsoft Office PowerPoint</Application>
  <PresentationFormat>On-screen Show (4:3)</PresentationFormat>
  <Paragraphs>266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Aptos</vt:lpstr>
      <vt:lpstr>Arial</vt:lpstr>
      <vt:lpstr>Calibri</vt:lpstr>
      <vt:lpstr>Courier New</vt:lpstr>
      <vt:lpstr>Courier New OS Bold</vt:lpstr>
      <vt:lpstr>Courier New OS Bold Italics</vt:lpstr>
      <vt:lpstr>IBM Plex Sans Condensed</vt:lpstr>
      <vt:lpstr>Montserrat</vt:lpstr>
      <vt:lpstr>Open Sans</vt:lpstr>
      <vt:lpstr>Open Sans Italics</vt:lpstr>
      <vt:lpstr>Times New Roman</vt:lpstr>
      <vt:lpstr>Wingdings 2</vt:lpstr>
      <vt:lpstr>Office Theme</vt:lpstr>
      <vt:lpstr>PowerPoint Presentation</vt:lpstr>
      <vt:lpstr>Programming Fundamentals</vt:lpstr>
      <vt:lpstr>PowerPoint Presentation</vt:lpstr>
      <vt:lpstr>PowerPoint Presentation</vt:lpstr>
      <vt:lpstr>PowerPoint Presentation</vt:lpstr>
      <vt:lpstr>PowerPoint Presentation</vt:lpstr>
      <vt:lpstr>Course Evaluation Break Down</vt:lpstr>
      <vt:lpstr>Course Requirements</vt:lpstr>
      <vt:lpstr>Rules!!!</vt:lpstr>
      <vt:lpstr>PowerPoint Presentation</vt:lpstr>
      <vt:lpstr>PowerPoint Presentation</vt:lpstr>
      <vt:lpstr>Types of Java Applications</vt:lpstr>
      <vt:lpstr>JDK Editions</vt:lpstr>
      <vt:lpstr>JDK Versions</vt:lpstr>
      <vt:lpstr>Installing Java</vt:lpstr>
      <vt:lpstr>Environment Variable</vt:lpstr>
      <vt:lpstr>Popular Java IDEs</vt:lpstr>
      <vt:lpstr>JDK, JRE, and JVM</vt:lpstr>
      <vt:lpstr>JDK, JRE, and JVM</vt:lpstr>
      <vt:lpstr>PowerPoint Presentation</vt:lpstr>
      <vt:lpstr>Interpreting/Compiling Source Code</vt:lpstr>
      <vt:lpstr>Compiling Source Code</vt:lpstr>
      <vt:lpstr>Interpreting Source Code</vt:lpstr>
      <vt:lpstr>Creating, Compiling, and Running Programs</vt:lpstr>
      <vt:lpstr>Java Program Phases</vt:lpstr>
      <vt:lpstr>Java Program Phases</vt:lpstr>
      <vt:lpstr>Java Program Phases</vt:lpstr>
      <vt:lpstr>Java Program Phases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Java</dc:title>
  <dc:creator>Rizwan</dc:creator>
  <cp:lastModifiedBy>Khurram Iqbal</cp:lastModifiedBy>
  <cp:revision>1</cp:revision>
  <dcterms:created xsi:type="dcterms:W3CDTF">2025-02-08T15:43:30Z</dcterms:created>
  <dcterms:modified xsi:type="dcterms:W3CDTF">2026-02-20T03:33:11Z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2025-02-08T00:00:00Z</vt:filetime>
  </property>
  <property fmtid="{D5CDD505-2E9C-101B-9397-08002B2CF9AE}" pid="5" name="Producer">
    <vt:lpwstr>Microsoft® PowerPoint® for Microsoft 365</vt:lpwstr>
  </property>
</Properties>
</file>