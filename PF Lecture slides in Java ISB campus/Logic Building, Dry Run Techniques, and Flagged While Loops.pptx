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7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af32904b-6c78-4cff-8330-5f3a20d540de" providerId="ADAL" clId="{13AC00D8-6BD9-4417-AA61-1FB09D98A23D}"/>
    <pc:docChg chg="modSld">
      <pc:chgData name="Khurram Iqbal" userId="af32904b-6c78-4cff-8330-5f3a20d540de" providerId="ADAL" clId="{13AC00D8-6BD9-4417-AA61-1FB09D98A23D}" dt="2025-06-17T04:44:37.519" v="12" actId="20577"/>
      <pc:docMkLst>
        <pc:docMk/>
      </pc:docMkLst>
      <pc:sldChg chg="modSp mod">
        <pc:chgData name="Khurram Iqbal" userId="af32904b-6c78-4cff-8330-5f3a20d540de" providerId="ADAL" clId="{13AC00D8-6BD9-4417-AA61-1FB09D98A23D}" dt="2025-06-17T04:44:37.519" v="12" actId="20577"/>
        <pc:sldMkLst>
          <pc:docMk/>
          <pc:sldMk cId="0" sldId="256"/>
        </pc:sldMkLst>
        <pc:spChg chg="mod">
          <ac:chgData name="Khurram Iqbal" userId="af32904b-6c78-4cff-8330-5f3a20d540de" providerId="ADAL" clId="{13AC00D8-6BD9-4417-AA61-1FB09D98A23D}" dt="2025-06-17T04:44:37.519" v="12" actId="20577"/>
          <ac:spMkLst>
            <pc:docMk/>
            <pc:sldMk cId="0" sldId="256"/>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91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5.pn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17.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28.png"/><Relationship Id="rId5" Type="http://schemas.openxmlformats.org/officeDocument/2006/relationships/image" Target="../media/image7.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7.xml"/><Relationship Id="rId16"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61.png"/></Relationships>
</file>

<file path=ppt/slides/_rels/slide1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67.png"/><Relationship Id="rId5" Type="http://schemas.openxmlformats.org/officeDocument/2006/relationships/image" Target="../media/image63.png"/><Relationship Id="rId10" Type="http://schemas.openxmlformats.org/officeDocument/2006/relationships/image" Target="../media/image7.png"/><Relationship Id="rId4" Type="http://schemas.openxmlformats.org/officeDocument/2006/relationships/image" Target="../media/image28.png"/><Relationship Id="rId9" Type="http://schemas.openxmlformats.org/officeDocument/2006/relationships/image" Target="../media/image66.png"/></Relationships>
</file>

<file path=ppt/slides/_rels/slide1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1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28.png"/><Relationship Id="rId4" Type="http://schemas.openxmlformats.org/officeDocument/2006/relationships/image" Target="../media/image76.png"/><Relationship Id="rId9" Type="http://schemas.openxmlformats.org/officeDocument/2006/relationships/image" Target="../media/image81.png"/></Relationships>
</file>

<file path=ppt/slides/_rels/slide1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8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28.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28.png"/><Relationship Id="rId10" Type="http://schemas.openxmlformats.org/officeDocument/2006/relationships/image" Target="../media/image95.png"/><Relationship Id="rId4" Type="http://schemas.openxmlformats.org/officeDocument/2006/relationships/image" Target="../media/image91.png"/><Relationship Id="rId9"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024401" y="875109"/>
            <a:ext cx="3047535" cy="478631"/>
          </a:xfrm>
          <a:prstGeom prst="rect">
            <a:avLst/>
          </a:prstGeom>
          <a:noFill/>
          <a:ln/>
        </p:spPr>
        <p:txBody>
          <a:bodyPr wrap="square" lIns="0" tIns="0" rIns="0" bIns="0" rtlCol="0" anchor="ctr">
            <a:spAutoFit/>
          </a:bodyPr>
          <a:lstStyle/>
          <a:p>
            <a:pPr marL="0" indent="0" algn="ctr">
              <a:buNone/>
            </a:pPr>
            <a:r>
              <a:rPr lang="en-US" sz="3375" b="1" dirty="0">
                <a:solidFill>
                  <a:srgbClr val="63B3ED"/>
                </a:solidFill>
                <a:latin typeface="Segoe UI" pitchFamily="34" charset="0"/>
                <a:ea typeface="Segoe UI" pitchFamily="34" charset="-122"/>
                <a:cs typeface="Segoe UI" pitchFamily="34" charset="-120"/>
              </a:rPr>
              <a:t>Logic Building</a:t>
            </a:r>
            <a:endParaRPr lang="en-US" sz="3375" dirty="0"/>
          </a:p>
        </p:txBody>
      </p:sp>
      <p:sp>
        <p:nvSpPr>
          <p:cNvPr id="4" name="Text 1"/>
          <p:cNvSpPr/>
          <p:nvPr/>
        </p:nvSpPr>
        <p:spPr>
          <a:xfrm>
            <a:off x="6000499" y="875109"/>
            <a:ext cx="190537" cy="478631"/>
          </a:xfrm>
          <a:prstGeom prst="rect">
            <a:avLst/>
          </a:prstGeom>
          <a:noFill/>
          <a:ln/>
        </p:spPr>
        <p:txBody>
          <a:bodyPr wrap="none" lIns="0" tIns="0" rIns="0" bIns="0" rtlCol="0" anchor="ctr">
            <a:spAutoFit/>
          </a:bodyPr>
          <a:lstStyle/>
          <a:p>
            <a:pPr marL="0" indent="0" algn="ctr">
              <a:buNone/>
            </a:pPr>
            <a:r>
              <a:rPr lang="en-US" sz="3375" b="1" dirty="0">
                <a:solidFill>
                  <a:srgbClr val="E2E8F0"/>
                </a:solidFill>
                <a:latin typeface="Segoe UI" pitchFamily="34" charset="0"/>
                <a:ea typeface="Segoe UI" pitchFamily="34" charset="-122"/>
                <a:cs typeface="Segoe UI" pitchFamily="34" charset="-120"/>
              </a:rPr>
              <a:t>,</a:t>
            </a:r>
            <a:endParaRPr lang="en-US" sz="3375" dirty="0"/>
          </a:p>
        </p:txBody>
      </p:sp>
      <p:sp>
        <p:nvSpPr>
          <p:cNvPr id="5" name="Text 2"/>
          <p:cNvSpPr/>
          <p:nvPr/>
        </p:nvSpPr>
        <p:spPr>
          <a:xfrm>
            <a:off x="2444446" y="1303734"/>
            <a:ext cx="4326517" cy="478631"/>
          </a:xfrm>
          <a:prstGeom prst="rect">
            <a:avLst/>
          </a:prstGeom>
          <a:noFill/>
          <a:ln/>
        </p:spPr>
        <p:txBody>
          <a:bodyPr wrap="square" lIns="0" tIns="0" rIns="0" bIns="0" rtlCol="0" anchor="ctr">
            <a:spAutoFit/>
          </a:bodyPr>
          <a:lstStyle/>
          <a:p>
            <a:pPr marL="0" indent="0" algn="ctr">
              <a:buNone/>
            </a:pPr>
            <a:r>
              <a:rPr lang="en-US" sz="3375" b="1" dirty="0">
                <a:solidFill>
                  <a:srgbClr val="E2E8F0"/>
                </a:solidFill>
                <a:latin typeface="Segoe UI" pitchFamily="34" charset="0"/>
                <a:ea typeface="Segoe UI" pitchFamily="34" charset="-122"/>
                <a:cs typeface="Segoe UI" pitchFamily="34" charset="-120"/>
              </a:rPr>
              <a:t>Dry Run Techniques,</a:t>
            </a:r>
            <a:endParaRPr lang="en-US" sz="3375" dirty="0"/>
          </a:p>
        </p:txBody>
      </p:sp>
      <p:sp>
        <p:nvSpPr>
          <p:cNvPr id="6" name="Text 3"/>
          <p:cNvSpPr/>
          <p:nvPr/>
        </p:nvSpPr>
        <p:spPr>
          <a:xfrm>
            <a:off x="2202731" y="1732359"/>
            <a:ext cx="4809976" cy="478631"/>
          </a:xfrm>
          <a:prstGeom prst="rect">
            <a:avLst/>
          </a:prstGeom>
          <a:noFill/>
          <a:ln/>
        </p:spPr>
        <p:txBody>
          <a:bodyPr wrap="square" lIns="0" tIns="0" rIns="0" bIns="0" rtlCol="0" anchor="ctr">
            <a:spAutoFit/>
          </a:bodyPr>
          <a:lstStyle/>
          <a:p>
            <a:pPr marL="0" indent="0" algn="ctr">
              <a:buNone/>
            </a:pPr>
            <a:r>
              <a:rPr lang="en-US" sz="3375" b="1" dirty="0">
                <a:solidFill>
                  <a:srgbClr val="E2E8F0"/>
                </a:solidFill>
                <a:latin typeface="Segoe UI" pitchFamily="34" charset="0"/>
                <a:ea typeface="Segoe UI" pitchFamily="34" charset="-122"/>
                <a:cs typeface="Segoe UI" pitchFamily="34" charset="-120"/>
              </a:rPr>
              <a:t>&amp; Flagged While Loops</a:t>
            </a:r>
            <a:endParaRPr lang="en-US" sz="3375" dirty="0"/>
          </a:p>
        </p:txBody>
      </p:sp>
      <p:sp>
        <p:nvSpPr>
          <p:cNvPr id="7" name="Shape 4"/>
          <p:cNvSpPr/>
          <p:nvPr/>
        </p:nvSpPr>
        <p:spPr>
          <a:xfrm>
            <a:off x="2971800" y="2528888"/>
            <a:ext cx="914400" cy="914400"/>
          </a:xfrm>
          <a:prstGeom prst="rect">
            <a:avLst/>
          </a:prstGeom>
          <a:solidFill>
            <a:srgbClr val="1E40AF">
              <a:alpha val="50000"/>
            </a:srgbClr>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3257550" y="2814638"/>
            <a:ext cx="342900" cy="342900"/>
          </a:xfrm>
          <a:prstGeom prst="rect">
            <a:avLst/>
          </a:prstGeom>
        </p:spPr>
      </p:pic>
      <p:sp>
        <p:nvSpPr>
          <p:cNvPr id="9" name="Shape 5"/>
          <p:cNvSpPr/>
          <p:nvPr/>
        </p:nvSpPr>
        <p:spPr>
          <a:xfrm>
            <a:off x="4114800" y="2528888"/>
            <a:ext cx="914400" cy="914400"/>
          </a:xfrm>
          <a:prstGeom prst="rect">
            <a:avLst/>
          </a:prstGeom>
          <a:solidFill>
            <a:srgbClr val="1E40AF">
              <a:alpha val="50000"/>
            </a:srgbClr>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4421981" y="2814638"/>
            <a:ext cx="300038" cy="342900"/>
          </a:xfrm>
          <a:prstGeom prst="rect">
            <a:avLst/>
          </a:prstGeom>
        </p:spPr>
      </p:pic>
      <p:sp>
        <p:nvSpPr>
          <p:cNvPr id="11" name="Shape 6"/>
          <p:cNvSpPr/>
          <p:nvPr/>
        </p:nvSpPr>
        <p:spPr>
          <a:xfrm>
            <a:off x="5257800" y="2528888"/>
            <a:ext cx="914400" cy="914400"/>
          </a:xfrm>
          <a:prstGeom prst="rect">
            <a:avLst/>
          </a:prstGeom>
          <a:solidFill>
            <a:srgbClr val="1E40AF">
              <a:alpha val="50000"/>
            </a:srgbClr>
          </a:solidFill>
          <a:ln/>
        </p:spPr>
        <p:txBody>
          <a:bodyPr/>
          <a:lstStyle/>
          <a:p>
            <a:endParaRPr lang="en-US"/>
          </a:p>
        </p:txBody>
      </p:sp>
      <p:pic>
        <p:nvPicPr>
          <p:cNvPr id="12" name="Image 3" descr="preencoded.png"/>
          <p:cNvPicPr>
            <a:picLocks noChangeAspect="1"/>
          </p:cNvPicPr>
          <p:nvPr/>
        </p:nvPicPr>
        <p:blipFill>
          <a:blip r:embed="rId6"/>
          <a:stretch>
            <a:fillRect/>
          </a:stretch>
        </p:blipFill>
        <p:spPr>
          <a:xfrm>
            <a:off x="5543550" y="2814638"/>
            <a:ext cx="342900" cy="342900"/>
          </a:xfrm>
          <a:prstGeom prst="rect">
            <a:avLst/>
          </a:prstGeom>
        </p:spPr>
      </p:pic>
      <p:sp>
        <p:nvSpPr>
          <p:cNvPr id="13" name="Text 7"/>
          <p:cNvSpPr/>
          <p:nvPr/>
        </p:nvSpPr>
        <p:spPr>
          <a:xfrm>
            <a:off x="2202731" y="3786188"/>
            <a:ext cx="4809976" cy="200025"/>
          </a:xfrm>
          <a:prstGeom prst="rect">
            <a:avLst/>
          </a:prstGeom>
          <a:noFill/>
          <a:ln/>
        </p:spPr>
        <p:txBody>
          <a:bodyPr wrap="square" lIns="0" tIns="0" rIns="0" bIns="0" rtlCol="0" anchor="ctr">
            <a:spAutoFit/>
          </a:bodyPr>
          <a:lstStyle/>
          <a:p>
            <a:pPr marL="0" indent="0" algn="ctr">
              <a:buNone/>
            </a:pPr>
            <a:r>
              <a:rPr lang="en-US" sz="1125" dirty="0">
                <a:solidFill>
                  <a:srgbClr val="E2E8F0"/>
                </a:solidFill>
                <a:latin typeface="Segoe UI" pitchFamily="34" charset="0"/>
                <a:ea typeface="Segoe UI" pitchFamily="34" charset="-122"/>
                <a:cs typeface="Segoe UI" pitchFamily="34" charset="-120"/>
              </a:rPr>
              <a:t>Programming Fundamentals</a:t>
            </a:r>
            <a:endParaRPr lang="en-US" sz="1125" dirty="0"/>
          </a:p>
        </p:txBody>
      </p:sp>
      <p:sp>
        <p:nvSpPr>
          <p:cNvPr id="14" name="Text 8"/>
          <p:cNvSpPr/>
          <p:nvPr/>
        </p:nvSpPr>
        <p:spPr>
          <a:xfrm>
            <a:off x="2202731" y="4043363"/>
            <a:ext cx="4809976" cy="200025"/>
          </a:xfrm>
          <a:prstGeom prst="rect">
            <a:avLst/>
          </a:prstGeom>
          <a:noFill/>
          <a:ln/>
        </p:spPr>
        <p:txBody>
          <a:bodyPr wrap="square" lIns="0" tIns="0" rIns="0" bIns="0" rtlCol="0" anchor="ctr">
            <a:spAutoFit/>
          </a:bodyPr>
          <a:lstStyle/>
          <a:p>
            <a:pPr marL="0" indent="0" algn="ctr">
              <a:buNone/>
            </a:pPr>
            <a:r>
              <a:rPr lang="en-US" sz="1013" dirty="0">
                <a:solidFill>
                  <a:srgbClr val="93C5FD"/>
                </a:solidFill>
                <a:latin typeface="Segoe UI" pitchFamily="34" charset="0"/>
                <a:ea typeface="Segoe UI" pitchFamily="34" charset="-122"/>
                <a:cs typeface="Segoe UI" pitchFamily="34" charset="-120"/>
              </a:rPr>
              <a:t>Building Blocks for Efficient Code</a:t>
            </a:r>
            <a:endParaRPr lang="en-US" sz="1013" dirty="0"/>
          </a:p>
        </p:txBody>
      </p:sp>
      <p:sp>
        <p:nvSpPr>
          <p:cNvPr id="15" name="Text 9"/>
          <p:cNvSpPr/>
          <p:nvPr/>
        </p:nvSpPr>
        <p:spPr>
          <a:xfrm>
            <a:off x="6990550" y="4114800"/>
            <a:ext cx="1767687" cy="200025"/>
          </a:xfrm>
          <a:prstGeom prst="rect">
            <a:avLst/>
          </a:prstGeom>
          <a:noFill/>
          <a:ln/>
        </p:spPr>
        <p:txBody>
          <a:bodyPr wrap="square" lIns="0" tIns="0" rIns="0" bIns="0" rtlCol="0" anchor="ctr">
            <a:spAutoFit/>
          </a:bodyPr>
          <a:lstStyle/>
          <a:p>
            <a:pPr marL="0" indent="0" algn="r">
              <a:buNone/>
            </a:pPr>
            <a:r>
              <a:rPr lang="en-US" sz="1013" dirty="0">
                <a:solidFill>
                  <a:srgbClr val="E2E8F0"/>
                </a:solidFill>
                <a:latin typeface="Segoe UI" pitchFamily="34" charset="0"/>
                <a:ea typeface="Segoe UI" pitchFamily="34" charset="-122"/>
                <a:cs typeface="Segoe UI" pitchFamily="34" charset="-120"/>
              </a:rPr>
              <a:t>Presented by</a:t>
            </a:r>
            <a:endParaRPr lang="en-US" sz="1013" dirty="0"/>
          </a:p>
        </p:txBody>
      </p:sp>
      <p:sp>
        <p:nvSpPr>
          <p:cNvPr id="16" name="Text 10"/>
          <p:cNvSpPr/>
          <p:nvPr/>
        </p:nvSpPr>
        <p:spPr>
          <a:xfrm>
            <a:off x="6990550" y="4328275"/>
            <a:ext cx="1767687" cy="173124"/>
          </a:xfrm>
          <a:prstGeom prst="rect">
            <a:avLst/>
          </a:prstGeom>
          <a:noFill/>
          <a:ln/>
        </p:spPr>
        <p:txBody>
          <a:bodyPr wrap="square" lIns="0" tIns="0" rIns="0" bIns="0" rtlCol="0" anchor="ctr">
            <a:spAutoFit/>
          </a:bodyPr>
          <a:lstStyle/>
          <a:p>
            <a:pPr marL="0" indent="0" algn="r">
              <a:buNone/>
            </a:pPr>
            <a:r>
              <a:rPr lang="en-US" sz="1125" b="1">
                <a:solidFill>
                  <a:srgbClr val="93C5FD"/>
                </a:solidFill>
                <a:latin typeface="Segoe UI" pitchFamily="34" charset="0"/>
                <a:ea typeface="Segoe UI" pitchFamily="34" charset="-122"/>
                <a:cs typeface="Segoe UI" pitchFamily="34" charset="-120"/>
              </a:rPr>
              <a:t>Khurram Iqbal</a:t>
            </a:r>
            <a:endParaRPr lang="en-US" sz="1125" dirty="0"/>
          </a:p>
        </p:txBody>
      </p:sp>
      <p:sp>
        <p:nvSpPr>
          <p:cNvPr id="17" name="Text 11"/>
          <p:cNvSpPr/>
          <p:nvPr/>
        </p:nvSpPr>
        <p:spPr>
          <a:xfrm>
            <a:off x="6990550" y="4514850"/>
            <a:ext cx="1767687" cy="171450"/>
          </a:xfrm>
          <a:prstGeom prst="rect">
            <a:avLst/>
          </a:prstGeom>
          <a:noFill/>
          <a:ln/>
        </p:spPr>
        <p:txBody>
          <a:bodyPr wrap="square" lIns="0" tIns="0" rIns="0" bIns="0" rtlCol="0" anchor="ctr">
            <a:spAutoFit/>
          </a:bodyPr>
          <a:lstStyle/>
          <a:p>
            <a:pPr marL="0" indent="0" algn="r">
              <a:buNone/>
            </a:pPr>
            <a:r>
              <a:rPr lang="en-US" sz="900" dirty="0">
                <a:solidFill>
                  <a:srgbClr val="E2E8F0"/>
                </a:solidFill>
                <a:latin typeface="Segoe UI" pitchFamily="34" charset="0"/>
                <a:ea typeface="Segoe UI" pitchFamily="34" charset="-122"/>
                <a:cs typeface="Segoe UI" pitchFamily="34" charset="-120"/>
              </a:rPr>
              <a:t>Department of Computer Science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8101013"/>
          </a:xfrm>
          <a:prstGeom prst="rect">
            <a:avLst/>
          </a:prstGeom>
        </p:spPr>
      </p:pic>
      <p:sp>
        <p:nvSpPr>
          <p:cNvPr id="3" name="Text 0"/>
          <p:cNvSpPr/>
          <p:nvPr/>
        </p:nvSpPr>
        <p:spPr>
          <a:xfrm>
            <a:off x="457200" y="455414"/>
            <a:ext cx="1956941"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Introduction to</a:t>
            </a:r>
            <a:endParaRPr lang="en-US" sz="2025" dirty="0"/>
          </a:p>
        </p:txBody>
      </p:sp>
      <p:sp>
        <p:nvSpPr>
          <p:cNvPr id="4" name="Text 1"/>
          <p:cNvSpPr/>
          <p:nvPr/>
        </p:nvSpPr>
        <p:spPr>
          <a:xfrm>
            <a:off x="2342704" y="455414"/>
            <a:ext cx="1857096"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Logic Building</a:t>
            </a:r>
            <a:endParaRPr lang="en-US" sz="2025" dirty="0"/>
          </a:p>
        </p:txBody>
      </p:sp>
      <p:sp>
        <p:nvSpPr>
          <p:cNvPr id="5" name="Shape 2"/>
          <p:cNvSpPr/>
          <p:nvPr/>
        </p:nvSpPr>
        <p:spPr>
          <a:xfrm>
            <a:off x="457200" y="971550"/>
            <a:ext cx="4000500" cy="6000750"/>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What is Logic Building?</a:t>
            </a:r>
            <a:endParaRPr lang="en-US" sz="1350" dirty="0"/>
          </a:p>
        </p:txBody>
      </p:sp>
      <p:sp>
        <p:nvSpPr>
          <p:cNvPr id="7" name="Text 4"/>
          <p:cNvSpPr/>
          <p:nvPr/>
        </p:nvSpPr>
        <p:spPr>
          <a:xfrm>
            <a:off x="628650" y="1485900"/>
            <a:ext cx="3729038" cy="600075"/>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Logic building is the process of developing step-by-step solutions to problems through structured thinking and reasoning.</a:t>
            </a:r>
            <a:endParaRPr lang="en-US" sz="1013" dirty="0"/>
          </a:p>
        </p:txBody>
      </p:sp>
      <p:sp>
        <p:nvSpPr>
          <p:cNvPr id="8" name="Shape 5"/>
          <p:cNvSpPr/>
          <p:nvPr/>
        </p:nvSpPr>
        <p:spPr>
          <a:xfrm>
            <a:off x="628650" y="2200275"/>
            <a:ext cx="3657600" cy="571500"/>
          </a:xfrm>
          <a:prstGeom prst="rect">
            <a:avLst/>
          </a:prstGeom>
          <a:solidFill>
            <a:srgbClr val="1E3A8A">
              <a:alpha val="30000"/>
            </a:srgbClr>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42950" y="2378869"/>
            <a:ext cx="160734" cy="214313"/>
          </a:xfrm>
          <a:prstGeom prst="rect">
            <a:avLst/>
          </a:prstGeom>
        </p:spPr>
      </p:pic>
      <p:sp>
        <p:nvSpPr>
          <p:cNvPr id="10" name="Text 6"/>
          <p:cNvSpPr/>
          <p:nvPr/>
        </p:nvSpPr>
        <p:spPr>
          <a:xfrm>
            <a:off x="1017984" y="2314575"/>
            <a:ext cx="3225403"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The foundation of programming that transforms ideas into executable code</a:t>
            </a:r>
            <a:endParaRPr lang="en-US" sz="900" dirty="0"/>
          </a:p>
        </p:txBody>
      </p:sp>
      <p:sp>
        <p:nvSpPr>
          <p:cNvPr id="11" name="Text 7"/>
          <p:cNvSpPr/>
          <p:nvPr/>
        </p:nvSpPr>
        <p:spPr>
          <a:xfrm>
            <a:off x="628650" y="2943225"/>
            <a:ext cx="3729038"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It involves breaking down complex problems into smaller, manageable parts and creating a systematic approach to solve them.</a:t>
            </a:r>
            <a:endParaRPr lang="en-US" sz="900" dirty="0"/>
          </a:p>
        </p:txBody>
      </p:sp>
      <p:sp>
        <p:nvSpPr>
          <p:cNvPr id="12" name="Text 8"/>
          <p:cNvSpPr/>
          <p:nvPr/>
        </p:nvSpPr>
        <p:spPr>
          <a:xfrm>
            <a:off x="628650" y="3457575"/>
            <a:ext cx="3729038" cy="200025"/>
          </a:xfrm>
          <a:prstGeom prst="rect">
            <a:avLst/>
          </a:prstGeom>
          <a:noFill/>
          <a:ln/>
        </p:spPr>
        <p:txBody>
          <a:bodyPr wrap="square" lIns="0" tIns="0" rIns="0" bIns="0" rtlCol="0" anchor="ctr">
            <a:spAutoFit/>
          </a:bodyPr>
          <a:lstStyle/>
          <a:p>
            <a:pPr marL="0" indent="0">
              <a:buNone/>
            </a:pPr>
            <a:r>
              <a:rPr lang="en-US" sz="1125" b="1" dirty="0">
                <a:solidFill>
                  <a:srgbClr val="BFDBFE"/>
                </a:solidFill>
                <a:latin typeface="Segoe UI" pitchFamily="34" charset="0"/>
                <a:ea typeface="Segoe UI" pitchFamily="34" charset="-122"/>
                <a:cs typeface="Segoe UI" pitchFamily="34" charset="-120"/>
              </a:rPr>
              <a:t>Why is it Important?</a:t>
            </a:r>
            <a:endParaRPr lang="en-US" sz="1125" dirty="0"/>
          </a:p>
        </p:txBody>
      </p:sp>
      <p:pic>
        <p:nvPicPr>
          <p:cNvPr id="13" name="Image 2" descr="preencoded.png"/>
          <p:cNvPicPr>
            <a:picLocks noChangeAspect="1"/>
          </p:cNvPicPr>
          <p:nvPr/>
        </p:nvPicPr>
        <p:blipFill>
          <a:blip r:embed="rId5"/>
          <a:stretch>
            <a:fillRect/>
          </a:stretch>
        </p:blipFill>
        <p:spPr>
          <a:xfrm>
            <a:off x="628650" y="3771900"/>
            <a:ext cx="114300" cy="114300"/>
          </a:xfrm>
          <a:prstGeom prst="rect">
            <a:avLst/>
          </a:prstGeom>
        </p:spPr>
      </p:pic>
      <p:sp>
        <p:nvSpPr>
          <p:cNvPr id="14" name="Text 9"/>
          <p:cNvSpPr/>
          <p:nvPr/>
        </p:nvSpPr>
        <p:spPr>
          <a:xfrm>
            <a:off x="800100" y="3743325"/>
            <a:ext cx="1958280"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Foundation for all programming tasks</a:t>
            </a:r>
            <a:endParaRPr lang="en-US" sz="900" dirty="0"/>
          </a:p>
        </p:txBody>
      </p:sp>
      <p:pic>
        <p:nvPicPr>
          <p:cNvPr id="15" name="Image 3" descr="preencoded.png"/>
          <p:cNvPicPr>
            <a:picLocks noChangeAspect="1"/>
          </p:cNvPicPr>
          <p:nvPr/>
        </p:nvPicPr>
        <p:blipFill>
          <a:blip r:embed="rId5"/>
          <a:stretch>
            <a:fillRect/>
          </a:stretch>
        </p:blipFill>
        <p:spPr>
          <a:xfrm>
            <a:off x="628650" y="4000500"/>
            <a:ext cx="114300" cy="114300"/>
          </a:xfrm>
          <a:prstGeom prst="rect">
            <a:avLst/>
          </a:prstGeom>
        </p:spPr>
      </p:pic>
      <p:sp>
        <p:nvSpPr>
          <p:cNvPr id="16" name="Text 10"/>
          <p:cNvSpPr/>
          <p:nvPr/>
        </p:nvSpPr>
        <p:spPr>
          <a:xfrm>
            <a:off x="800100" y="3971925"/>
            <a:ext cx="174664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Enables efficient problem-solving</a:t>
            </a:r>
            <a:endParaRPr lang="en-US" sz="900" dirty="0"/>
          </a:p>
        </p:txBody>
      </p:sp>
      <p:pic>
        <p:nvPicPr>
          <p:cNvPr id="17" name="Image 4" descr="preencoded.png"/>
          <p:cNvPicPr>
            <a:picLocks noChangeAspect="1"/>
          </p:cNvPicPr>
          <p:nvPr/>
        </p:nvPicPr>
        <p:blipFill>
          <a:blip r:embed="rId5"/>
          <a:stretch>
            <a:fillRect/>
          </a:stretch>
        </p:blipFill>
        <p:spPr>
          <a:xfrm>
            <a:off x="628650" y="4229100"/>
            <a:ext cx="114300" cy="114300"/>
          </a:xfrm>
          <a:prstGeom prst="rect">
            <a:avLst/>
          </a:prstGeom>
        </p:spPr>
      </p:pic>
      <p:sp>
        <p:nvSpPr>
          <p:cNvPr id="18" name="Text 11"/>
          <p:cNvSpPr/>
          <p:nvPr/>
        </p:nvSpPr>
        <p:spPr>
          <a:xfrm>
            <a:off x="800100" y="4200525"/>
            <a:ext cx="2161710"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Improves code quality and maintainability</a:t>
            </a:r>
            <a:endParaRPr lang="en-US" sz="900" dirty="0"/>
          </a:p>
        </p:txBody>
      </p:sp>
      <p:pic>
        <p:nvPicPr>
          <p:cNvPr id="19" name="Image 5" descr="preencoded.png"/>
          <p:cNvPicPr>
            <a:picLocks noChangeAspect="1"/>
          </p:cNvPicPr>
          <p:nvPr/>
        </p:nvPicPr>
        <p:blipFill>
          <a:blip r:embed="rId5"/>
          <a:stretch>
            <a:fillRect/>
          </a:stretch>
        </p:blipFill>
        <p:spPr>
          <a:xfrm>
            <a:off x="628650" y="4457700"/>
            <a:ext cx="114300" cy="114300"/>
          </a:xfrm>
          <a:prstGeom prst="rect">
            <a:avLst/>
          </a:prstGeom>
        </p:spPr>
      </p:pic>
      <p:sp>
        <p:nvSpPr>
          <p:cNvPr id="20" name="Text 12"/>
          <p:cNvSpPr/>
          <p:nvPr/>
        </p:nvSpPr>
        <p:spPr>
          <a:xfrm>
            <a:off x="800100" y="4429125"/>
            <a:ext cx="1723151"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Essential for technical interviews</a:t>
            </a:r>
            <a:endParaRPr lang="en-US" sz="900" dirty="0"/>
          </a:p>
        </p:txBody>
      </p:sp>
      <p:sp>
        <p:nvSpPr>
          <p:cNvPr id="21" name="Shape 13"/>
          <p:cNvSpPr/>
          <p:nvPr/>
        </p:nvSpPr>
        <p:spPr>
          <a:xfrm>
            <a:off x="4686300" y="971550"/>
            <a:ext cx="4000500" cy="38719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2" name="Text 14"/>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The Logic Building Process</a:t>
            </a:r>
            <a:endParaRPr lang="en-US" sz="1350" dirty="0"/>
          </a:p>
        </p:txBody>
      </p:sp>
      <p:sp>
        <p:nvSpPr>
          <p:cNvPr id="23" name="Shape 15"/>
          <p:cNvSpPr/>
          <p:nvPr/>
        </p:nvSpPr>
        <p:spPr>
          <a:xfrm>
            <a:off x="4857750" y="1485900"/>
            <a:ext cx="3657600" cy="542925"/>
          </a:xfrm>
          <a:prstGeom prst="rect">
            <a:avLst/>
          </a:prstGeom>
          <a:solidFill>
            <a:srgbClr val="1E40AF">
              <a:alpha val="50000"/>
            </a:srgbClr>
          </a:solidFill>
          <a:ln/>
        </p:spPr>
        <p:txBody>
          <a:bodyPr/>
          <a:lstStyle/>
          <a:p>
            <a:endParaRPr lang="en-US"/>
          </a:p>
        </p:txBody>
      </p:sp>
      <p:sp>
        <p:nvSpPr>
          <p:cNvPr id="24" name="Shape 16"/>
          <p:cNvSpPr/>
          <p:nvPr/>
        </p:nvSpPr>
        <p:spPr>
          <a:xfrm>
            <a:off x="4972050" y="1643063"/>
            <a:ext cx="228600" cy="228600"/>
          </a:xfrm>
          <a:prstGeom prst="ellipse">
            <a:avLst/>
          </a:prstGeom>
          <a:solidFill>
            <a:srgbClr val="2563EB"/>
          </a:solidFill>
          <a:ln/>
        </p:spPr>
        <p:txBody>
          <a:bodyPr/>
          <a:lstStyle/>
          <a:p>
            <a:endParaRPr lang="en-US"/>
          </a:p>
        </p:txBody>
      </p:sp>
      <p:sp>
        <p:nvSpPr>
          <p:cNvPr id="25" name="Text 17"/>
          <p:cNvSpPr/>
          <p:nvPr/>
        </p:nvSpPr>
        <p:spPr>
          <a:xfrm>
            <a:off x="4972050" y="1643063"/>
            <a:ext cx="300038" cy="22860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6" name="Text 18"/>
          <p:cNvSpPr/>
          <p:nvPr/>
        </p:nvSpPr>
        <p:spPr>
          <a:xfrm>
            <a:off x="5286375" y="1600200"/>
            <a:ext cx="2095100"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Understand the Problem</a:t>
            </a:r>
            <a:endParaRPr lang="en-US" sz="900" dirty="0"/>
          </a:p>
        </p:txBody>
      </p:sp>
      <p:sp>
        <p:nvSpPr>
          <p:cNvPr id="27" name="Text 19"/>
          <p:cNvSpPr/>
          <p:nvPr/>
        </p:nvSpPr>
        <p:spPr>
          <a:xfrm>
            <a:off x="5286375" y="1771650"/>
            <a:ext cx="2095100"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Clearly define inputs, outputs, and constraints</a:t>
            </a:r>
            <a:endParaRPr lang="en-US" sz="788" dirty="0"/>
          </a:p>
        </p:txBody>
      </p:sp>
      <p:sp>
        <p:nvSpPr>
          <p:cNvPr id="28" name="Shape 20"/>
          <p:cNvSpPr/>
          <p:nvPr/>
        </p:nvSpPr>
        <p:spPr>
          <a:xfrm>
            <a:off x="4857750" y="2143125"/>
            <a:ext cx="3657600" cy="542925"/>
          </a:xfrm>
          <a:prstGeom prst="rect">
            <a:avLst/>
          </a:prstGeom>
          <a:solidFill>
            <a:srgbClr val="1E40AF">
              <a:alpha val="50000"/>
            </a:srgbClr>
          </a:solidFill>
          <a:ln/>
        </p:spPr>
        <p:txBody>
          <a:bodyPr/>
          <a:lstStyle/>
          <a:p>
            <a:endParaRPr lang="en-US"/>
          </a:p>
        </p:txBody>
      </p:sp>
      <p:sp>
        <p:nvSpPr>
          <p:cNvPr id="29" name="Shape 21"/>
          <p:cNvSpPr/>
          <p:nvPr/>
        </p:nvSpPr>
        <p:spPr>
          <a:xfrm>
            <a:off x="4972050" y="2300288"/>
            <a:ext cx="228600" cy="228600"/>
          </a:xfrm>
          <a:prstGeom prst="ellipse">
            <a:avLst/>
          </a:prstGeom>
          <a:solidFill>
            <a:srgbClr val="2563EB"/>
          </a:solidFill>
          <a:ln/>
        </p:spPr>
        <p:txBody>
          <a:bodyPr/>
          <a:lstStyle/>
          <a:p>
            <a:endParaRPr lang="en-US"/>
          </a:p>
        </p:txBody>
      </p:sp>
      <p:sp>
        <p:nvSpPr>
          <p:cNvPr id="30" name="Text 22"/>
          <p:cNvSpPr/>
          <p:nvPr/>
        </p:nvSpPr>
        <p:spPr>
          <a:xfrm>
            <a:off x="4972050" y="2300288"/>
            <a:ext cx="300038" cy="22860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31" name="Text 23"/>
          <p:cNvSpPr/>
          <p:nvPr/>
        </p:nvSpPr>
        <p:spPr>
          <a:xfrm>
            <a:off x="5286375" y="2257425"/>
            <a:ext cx="2122726"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Break Down the Problem</a:t>
            </a:r>
            <a:endParaRPr lang="en-US" sz="900" dirty="0"/>
          </a:p>
        </p:txBody>
      </p:sp>
      <p:sp>
        <p:nvSpPr>
          <p:cNvPr id="32" name="Text 24"/>
          <p:cNvSpPr/>
          <p:nvPr/>
        </p:nvSpPr>
        <p:spPr>
          <a:xfrm>
            <a:off x="5286375" y="2428875"/>
            <a:ext cx="2122726"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Divide into smaller, manageable sub-problems</a:t>
            </a:r>
            <a:endParaRPr lang="en-US" sz="788" dirty="0"/>
          </a:p>
        </p:txBody>
      </p:sp>
      <p:sp>
        <p:nvSpPr>
          <p:cNvPr id="33" name="Shape 25"/>
          <p:cNvSpPr/>
          <p:nvPr/>
        </p:nvSpPr>
        <p:spPr>
          <a:xfrm>
            <a:off x="4857750" y="2800350"/>
            <a:ext cx="3657600" cy="542925"/>
          </a:xfrm>
          <a:prstGeom prst="rect">
            <a:avLst/>
          </a:prstGeom>
          <a:solidFill>
            <a:srgbClr val="1E40AF">
              <a:alpha val="50000"/>
            </a:srgbClr>
          </a:solidFill>
          <a:ln/>
        </p:spPr>
        <p:txBody>
          <a:bodyPr/>
          <a:lstStyle/>
          <a:p>
            <a:endParaRPr lang="en-US"/>
          </a:p>
        </p:txBody>
      </p:sp>
      <p:sp>
        <p:nvSpPr>
          <p:cNvPr id="34" name="Shape 26"/>
          <p:cNvSpPr/>
          <p:nvPr/>
        </p:nvSpPr>
        <p:spPr>
          <a:xfrm>
            <a:off x="4972050" y="2957513"/>
            <a:ext cx="228600" cy="228600"/>
          </a:xfrm>
          <a:prstGeom prst="ellipse">
            <a:avLst/>
          </a:prstGeom>
          <a:solidFill>
            <a:srgbClr val="2563EB"/>
          </a:solidFill>
          <a:ln/>
        </p:spPr>
        <p:txBody>
          <a:bodyPr/>
          <a:lstStyle/>
          <a:p>
            <a:endParaRPr lang="en-US"/>
          </a:p>
        </p:txBody>
      </p:sp>
      <p:sp>
        <p:nvSpPr>
          <p:cNvPr id="35" name="Text 27"/>
          <p:cNvSpPr/>
          <p:nvPr/>
        </p:nvSpPr>
        <p:spPr>
          <a:xfrm>
            <a:off x="4972050" y="2957513"/>
            <a:ext cx="300038" cy="22860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36" name="Text 28"/>
          <p:cNvSpPr/>
          <p:nvPr/>
        </p:nvSpPr>
        <p:spPr>
          <a:xfrm>
            <a:off x="5286375" y="2914650"/>
            <a:ext cx="1767074"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Develop Algorithm</a:t>
            </a:r>
            <a:endParaRPr lang="en-US" sz="900" dirty="0"/>
          </a:p>
        </p:txBody>
      </p:sp>
      <p:sp>
        <p:nvSpPr>
          <p:cNvPr id="37" name="Text 29"/>
          <p:cNvSpPr/>
          <p:nvPr/>
        </p:nvSpPr>
        <p:spPr>
          <a:xfrm>
            <a:off x="5286375" y="3086100"/>
            <a:ext cx="1767074"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Create step-by-step solution approach</a:t>
            </a:r>
            <a:endParaRPr lang="en-US" sz="788" dirty="0"/>
          </a:p>
        </p:txBody>
      </p:sp>
      <p:sp>
        <p:nvSpPr>
          <p:cNvPr id="38" name="Shape 30"/>
          <p:cNvSpPr/>
          <p:nvPr/>
        </p:nvSpPr>
        <p:spPr>
          <a:xfrm>
            <a:off x="4857750" y="3457575"/>
            <a:ext cx="3657600" cy="542925"/>
          </a:xfrm>
          <a:prstGeom prst="rect">
            <a:avLst/>
          </a:prstGeom>
          <a:solidFill>
            <a:srgbClr val="1E40AF">
              <a:alpha val="50000"/>
            </a:srgbClr>
          </a:solidFill>
          <a:ln/>
        </p:spPr>
        <p:txBody>
          <a:bodyPr/>
          <a:lstStyle/>
          <a:p>
            <a:endParaRPr lang="en-US"/>
          </a:p>
        </p:txBody>
      </p:sp>
      <p:sp>
        <p:nvSpPr>
          <p:cNvPr id="39" name="Shape 31"/>
          <p:cNvSpPr/>
          <p:nvPr/>
        </p:nvSpPr>
        <p:spPr>
          <a:xfrm>
            <a:off x="4972050" y="3614738"/>
            <a:ext cx="228600" cy="228600"/>
          </a:xfrm>
          <a:prstGeom prst="ellipse">
            <a:avLst/>
          </a:prstGeom>
          <a:solidFill>
            <a:srgbClr val="2563EB"/>
          </a:solidFill>
          <a:ln/>
        </p:spPr>
        <p:txBody>
          <a:bodyPr/>
          <a:lstStyle/>
          <a:p>
            <a:endParaRPr lang="en-US"/>
          </a:p>
        </p:txBody>
      </p:sp>
      <p:sp>
        <p:nvSpPr>
          <p:cNvPr id="40" name="Text 32"/>
          <p:cNvSpPr/>
          <p:nvPr/>
        </p:nvSpPr>
        <p:spPr>
          <a:xfrm>
            <a:off x="4972050" y="3614738"/>
            <a:ext cx="300038" cy="22860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41" name="Text 33"/>
          <p:cNvSpPr/>
          <p:nvPr/>
        </p:nvSpPr>
        <p:spPr>
          <a:xfrm>
            <a:off x="5286375" y="3571875"/>
            <a:ext cx="1357452"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Implement Solution</a:t>
            </a:r>
            <a:endParaRPr lang="en-US" sz="900" dirty="0"/>
          </a:p>
        </p:txBody>
      </p:sp>
      <p:sp>
        <p:nvSpPr>
          <p:cNvPr id="42" name="Text 34"/>
          <p:cNvSpPr/>
          <p:nvPr/>
        </p:nvSpPr>
        <p:spPr>
          <a:xfrm>
            <a:off x="5286375" y="3743325"/>
            <a:ext cx="1357452"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Translate algorithm into code</a:t>
            </a:r>
            <a:endParaRPr lang="en-US" sz="788" dirty="0"/>
          </a:p>
        </p:txBody>
      </p:sp>
      <p:sp>
        <p:nvSpPr>
          <p:cNvPr id="43" name="Shape 35"/>
          <p:cNvSpPr/>
          <p:nvPr/>
        </p:nvSpPr>
        <p:spPr>
          <a:xfrm>
            <a:off x="4857750" y="4114800"/>
            <a:ext cx="3657600" cy="542925"/>
          </a:xfrm>
          <a:prstGeom prst="rect">
            <a:avLst/>
          </a:prstGeom>
          <a:solidFill>
            <a:srgbClr val="1E40AF">
              <a:alpha val="50000"/>
            </a:srgbClr>
          </a:solidFill>
          <a:ln/>
        </p:spPr>
        <p:txBody>
          <a:bodyPr/>
          <a:lstStyle/>
          <a:p>
            <a:endParaRPr lang="en-US"/>
          </a:p>
        </p:txBody>
      </p:sp>
      <p:sp>
        <p:nvSpPr>
          <p:cNvPr id="44" name="Shape 36"/>
          <p:cNvSpPr/>
          <p:nvPr/>
        </p:nvSpPr>
        <p:spPr>
          <a:xfrm>
            <a:off x="4972050" y="4271963"/>
            <a:ext cx="228600" cy="228600"/>
          </a:xfrm>
          <a:prstGeom prst="ellipse">
            <a:avLst/>
          </a:prstGeom>
          <a:solidFill>
            <a:srgbClr val="2563EB"/>
          </a:solidFill>
          <a:ln/>
        </p:spPr>
        <p:txBody>
          <a:bodyPr/>
          <a:lstStyle/>
          <a:p>
            <a:endParaRPr lang="en-US"/>
          </a:p>
        </p:txBody>
      </p:sp>
      <p:sp>
        <p:nvSpPr>
          <p:cNvPr id="45" name="Text 37"/>
          <p:cNvSpPr/>
          <p:nvPr/>
        </p:nvSpPr>
        <p:spPr>
          <a:xfrm>
            <a:off x="4972050" y="4271963"/>
            <a:ext cx="300038" cy="22860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46" name="Text 38"/>
          <p:cNvSpPr/>
          <p:nvPr/>
        </p:nvSpPr>
        <p:spPr>
          <a:xfrm>
            <a:off x="5286375" y="4229100"/>
            <a:ext cx="1728257"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Test and Refine</a:t>
            </a:r>
            <a:endParaRPr lang="en-US" sz="900" dirty="0"/>
          </a:p>
        </p:txBody>
      </p:sp>
      <p:sp>
        <p:nvSpPr>
          <p:cNvPr id="47" name="Text 39"/>
          <p:cNvSpPr/>
          <p:nvPr/>
        </p:nvSpPr>
        <p:spPr>
          <a:xfrm>
            <a:off x="5286375" y="4400550"/>
            <a:ext cx="1728257"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Verify solution and optimize if needed</a:t>
            </a:r>
            <a:endParaRPr lang="en-US" sz="788" dirty="0"/>
          </a:p>
        </p:txBody>
      </p:sp>
      <p:sp>
        <p:nvSpPr>
          <p:cNvPr id="48" name="Shape 40"/>
          <p:cNvSpPr/>
          <p:nvPr/>
        </p:nvSpPr>
        <p:spPr>
          <a:xfrm>
            <a:off x="4686300" y="5000625"/>
            <a:ext cx="4000500" cy="19573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9" name="Text 41"/>
          <p:cNvSpPr/>
          <p:nvPr/>
        </p:nvSpPr>
        <p:spPr>
          <a:xfrm>
            <a:off x="4857750" y="5172075"/>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Key Skills Developed</a:t>
            </a:r>
            <a:endParaRPr lang="en-US" sz="1350" dirty="0"/>
          </a:p>
        </p:txBody>
      </p:sp>
      <p:sp>
        <p:nvSpPr>
          <p:cNvPr id="50" name="Shape 42"/>
          <p:cNvSpPr/>
          <p:nvPr/>
        </p:nvSpPr>
        <p:spPr>
          <a:xfrm>
            <a:off x="4857750" y="5514975"/>
            <a:ext cx="1771650" cy="571500"/>
          </a:xfrm>
          <a:prstGeom prst="rect">
            <a:avLst/>
          </a:prstGeom>
          <a:solidFill>
            <a:srgbClr val="1E3A8A">
              <a:alpha val="30000"/>
            </a:srgbClr>
          </a:solidFill>
          <a:ln/>
        </p:spPr>
        <p:txBody>
          <a:bodyPr/>
          <a:lstStyle/>
          <a:p>
            <a:endParaRPr lang="en-US"/>
          </a:p>
        </p:txBody>
      </p:sp>
      <p:pic>
        <p:nvPicPr>
          <p:cNvPr id="51" name="Image 6" descr="preencoded.png"/>
          <p:cNvPicPr>
            <a:picLocks noChangeAspect="1"/>
          </p:cNvPicPr>
          <p:nvPr/>
        </p:nvPicPr>
        <p:blipFill>
          <a:blip r:embed="rId6"/>
          <a:stretch>
            <a:fillRect/>
          </a:stretch>
        </p:blipFill>
        <p:spPr>
          <a:xfrm>
            <a:off x="5647134" y="5600700"/>
            <a:ext cx="192881" cy="171450"/>
          </a:xfrm>
          <a:prstGeom prst="rect">
            <a:avLst/>
          </a:prstGeom>
        </p:spPr>
      </p:pic>
      <p:sp>
        <p:nvSpPr>
          <p:cNvPr id="52" name="Text 43"/>
          <p:cNvSpPr/>
          <p:nvPr/>
        </p:nvSpPr>
        <p:spPr>
          <a:xfrm>
            <a:off x="4943475" y="5829300"/>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Analytical Thinking</a:t>
            </a:r>
            <a:endParaRPr lang="en-US" sz="900" dirty="0"/>
          </a:p>
        </p:txBody>
      </p:sp>
      <p:sp>
        <p:nvSpPr>
          <p:cNvPr id="53" name="Shape 44"/>
          <p:cNvSpPr/>
          <p:nvPr/>
        </p:nvSpPr>
        <p:spPr>
          <a:xfrm>
            <a:off x="6743700" y="5514975"/>
            <a:ext cx="1771650" cy="571500"/>
          </a:xfrm>
          <a:prstGeom prst="rect">
            <a:avLst/>
          </a:prstGeom>
          <a:solidFill>
            <a:srgbClr val="1E3A8A">
              <a:alpha val="30000"/>
            </a:srgbClr>
          </a:solidFill>
          <a:ln/>
        </p:spPr>
        <p:txBody>
          <a:bodyPr/>
          <a:lstStyle/>
          <a:p>
            <a:endParaRPr lang="en-US"/>
          </a:p>
        </p:txBody>
      </p:sp>
      <p:pic>
        <p:nvPicPr>
          <p:cNvPr id="54" name="Image 7" descr="preencoded.png"/>
          <p:cNvPicPr>
            <a:picLocks noChangeAspect="1"/>
          </p:cNvPicPr>
          <p:nvPr/>
        </p:nvPicPr>
        <p:blipFill>
          <a:blip r:embed="rId7"/>
          <a:stretch>
            <a:fillRect/>
          </a:stretch>
        </p:blipFill>
        <p:spPr>
          <a:xfrm>
            <a:off x="7533084" y="5600700"/>
            <a:ext cx="192881" cy="171450"/>
          </a:xfrm>
          <a:prstGeom prst="rect">
            <a:avLst/>
          </a:prstGeom>
        </p:spPr>
      </p:pic>
      <p:sp>
        <p:nvSpPr>
          <p:cNvPr id="55" name="Text 45"/>
          <p:cNvSpPr/>
          <p:nvPr/>
        </p:nvSpPr>
        <p:spPr>
          <a:xfrm>
            <a:off x="6829425" y="5829300"/>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Pattern Recognition</a:t>
            </a:r>
            <a:endParaRPr lang="en-US" sz="900" dirty="0"/>
          </a:p>
        </p:txBody>
      </p:sp>
      <p:sp>
        <p:nvSpPr>
          <p:cNvPr id="56" name="Shape 46"/>
          <p:cNvSpPr/>
          <p:nvPr/>
        </p:nvSpPr>
        <p:spPr>
          <a:xfrm>
            <a:off x="4857750" y="6200775"/>
            <a:ext cx="1771650" cy="571500"/>
          </a:xfrm>
          <a:prstGeom prst="rect">
            <a:avLst/>
          </a:prstGeom>
          <a:solidFill>
            <a:srgbClr val="1E3A8A">
              <a:alpha val="30000"/>
            </a:srgbClr>
          </a:solidFill>
          <a:ln/>
        </p:spPr>
        <p:txBody>
          <a:bodyPr/>
          <a:lstStyle/>
          <a:p>
            <a:endParaRPr lang="en-US"/>
          </a:p>
        </p:txBody>
      </p:sp>
      <p:pic>
        <p:nvPicPr>
          <p:cNvPr id="57" name="Image 8" descr="preencoded.png"/>
          <p:cNvPicPr>
            <a:picLocks noChangeAspect="1"/>
          </p:cNvPicPr>
          <p:nvPr/>
        </p:nvPicPr>
        <p:blipFill>
          <a:blip r:embed="rId8"/>
          <a:stretch>
            <a:fillRect/>
          </a:stretch>
        </p:blipFill>
        <p:spPr>
          <a:xfrm>
            <a:off x="5657850" y="6286500"/>
            <a:ext cx="171450" cy="171450"/>
          </a:xfrm>
          <a:prstGeom prst="rect">
            <a:avLst/>
          </a:prstGeom>
        </p:spPr>
      </p:pic>
      <p:sp>
        <p:nvSpPr>
          <p:cNvPr id="58" name="Text 47"/>
          <p:cNvSpPr/>
          <p:nvPr/>
        </p:nvSpPr>
        <p:spPr>
          <a:xfrm>
            <a:off x="4943475" y="6515100"/>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Problem Decomposition</a:t>
            </a:r>
            <a:endParaRPr lang="en-US" sz="900" dirty="0"/>
          </a:p>
        </p:txBody>
      </p:sp>
      <p:sp>
        <p:nvSpPr>
          <p:cNvPr id="59" name="Shape 48"/>
          <p:cNvSpPr/>
          <p:nvPr/>
        </p:nvSpPr>
        <p:spPr>
          <a:xfrm>
            <a:off x="6743700" y="6200775"/>
            <a:ext cx="1771650" cy="571500"/>
          </a:xfrm>
          <a:prstGeom prst="rect">
            <a:avLst/>
          </a:prstGeom>
          <a:solidFill>
            <a:srgbClr val="1E3A8A">
              <a:alpha val="30000"/>
            </a:srgbClr>
          </a:solidFill>
          <a:ln/>
        </p:spPr>
        <p:txBody>
          <a:bodyPr/>
          <a:lstStyle/>
          <a:p>
            <a:endParaRPr lang="en-US"/>
          </a:p>
        </p:txBody>
      </p:sp>
      <p:pic>
        <p:nvPicPr>
          <p:cNvPr id="60" name="Image 9" descr="preencoded.png"/>
          <p:cNvPicPr>
            <a:picLocks noChangeAspect="1"/>
          </p:cNvPicPr>
          <p:nvPr/>
        </p:nvPicPr>
        <p:blipFill>
          <a:blip r:embed="rId9"/>
          <a:stretch>
            <a:fillRect/>
          </a:stretch>
        </p:blipFill>
        <p:spPr>
          <a:xfrm>
            <a:off x="7554516" y="6286500"/>
            <a:ext cx="150019" cy="171450"/>
          </a:xfrm>
          <a:prstGeom prst="rect">
            <a:avLst/>
          </a:prstGeom>
        </p:spPr>
      </p:pic>
      <p:sp>
        <p:nvSpPr>
          <p:cNvPr id="61" name="Text 49"/>
          <p:cNvSpPr/>
          <p:nvPr/>
        </p:nvSpPr>
        <p:spPr>
          <a:xfrm>
            <a:off x="6829425" y="6515100"/>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Algorithmic Thinking</a:t>
            </a:r>
            <a:endParaRPr lang="en-US" sz="900" dirty="0"/>
          </a:p>
        </p:txBody>
      </p:sp>
      <p:sp>
        <p:nvSpPr>
          <p:cNvPr id="62" name="Shape 50"/>
          <p:cNvSpPr/>
          <p:nvPr/>
        </p:nvSpPr>
        <p:spPr>
          <a:xfrm>
            <a:off x="457200" y="7172325"/>
            <a:ext cx="8229600" cy="442913"/>
          </a:xfrm>
          <a:prstGeom prst="rect">
            <a:avLst/>
          </a:prstGeom>
          <a:solidFill>
            <a:srgbClr val="1E40AF">
              <a:alpha val="30000"/>
            </a:srgbClr>
          </a:solidFill>
          <a:ln/>
        </p:spPr>
        <p:txBody>
          <a:bodyPr/>
          <a:lstStyle/>
          <a:p>
            <a:endParaRPr lang="en-US"/>
          </a:p>
        </p:txBody>
      </p:sp>
      <p:pic>
        <p:nvPicPr>
          <p:cNvPr id="63" name="Image 10" descr="preencoded.png"/>
          <p:cNvPicPr>
            <a:picLocks noChangeAspect="1"/>
          </p:cNvPicPr>
          <p:nvPr/>
        </p:nvPicPr>
        <p:blipFill>
          <a:blip r:embed="rId10"/>
          <a:stretch>
            <a:fillRect/>
          </a:stretch>
        </p:blipFill>
        <p:spPr>
          <a:xfrm>
            <a:off x="571500" y="7286625"/>
            <a:ext cx="189309" cy="214313"/>
          </a:xfrm>
          <a:prstGeom prst="rect">
            <a:avLst/>
          </a:prstGeom>
        </p:spPr>
      </p:pic>
      <p:sp>
        <p:nvSpPr>
          <p:cNvPr id="64" name="Text 51"/>
          <p:cNvSpPr/>
          <p:nvPr/>
        </p:nvSpPr>
        <p:spPr>
          <a:xfrm>
            <a:off x="875109" y="7322344"/>
            <a:ext cx="3310737" cy="142875"/>
          </a:xfrm>
          <a:prstGeom prst="rect">
            <a:avLst/>
          </a:prstGeom>
          <a:noFill/>
          <a:ln/>
        </p:spPr>
        <p:txBody>
          <a:bodyPr wrap="square" lIns="0" tIns="0" rIns="0" bIns="0" rtlCol="0" anchor="ctr">
            <a:spAutoFit/>
          </a:bodyPr>
          <a:lstStyle/>
          <a:p>
            <a:pPr marL="0" indent="0">
              <a:buNone/>
            </a:pPr>
            <a:r>
              <a:rPr lang="en-US" sz="1013" i="1" dirty="0">
                <a:solidFill>
                  <a:srgbClr val="E2E8F0"/>
                </a:solidFill>
                <a:latin typeface="Segoe UI" pitchFamily="34" charset="0"/>
                <a:ea typeface="Segoe UI" pitchFamily="34" charset="-122"/>
                <a:cs typeface="Segoe UI" pitchFamily="34" charset="-120"/>
              </a:rPr>
              <a:t>"Programming is not about typing, it's about thinking." —</a:t>
            </a:r>
            <a:endParaRPr lang="en-US" sz="1013" dirty="0"/>
          </a:p>
        </p:txBody>
      </p:sp>
      <p:sp>
        <p:nvSpPr>
          <p:cNvPr id="65" name="Text 52"/>
          <p:cNvSpPr/>
          <p:nvPr/>
        </p:nvSpPr>
        <p:spPr>
          <a:xfrm>
            <a:off x="4114409" y="7322344"/>
            <a:ext cx="981233" cy="142875"/>
          </a:xfrm>
          <a:prstGeom prst="rect">
            <a:avLst/>
          </a:prstGeom>
          <a:noFill/>
          <a:ln/>
        </p:spPr>
        <p:txBody>
          <a:bodyPr wrap="none" lIns="0" tIns="0" rIns="0" bIns="0" rtlCol="0" anchor="ctr">
            <a:spAutoFit/>
          </a:bodyPr>
          <a:lstStyle/>
          <a:p>
            <a:pPr marL="0" indent="0">
              <a:buNone/>
            </a:pPr>
            <a:r>
              <a:rPr lang="en-US" sz="1013" b="1" i="1" dirty="0">
                <a:solidFill>
                  <a:srgbClr val="E2E8F0"/>
                </a:solidFill>
                <a:latin typeface="Segoe UI" pitchFamily="34" charset="0"/>
                <a:ea typeface="Segoe UI" pitchFamily="34" charset="-122"/>
                <a:cs typeface="Segoe UI" pitchFamily="34" charset="-120"/>
              </a:rPr>
              <a:t>Linus Torvalds</a:t>
            </a:r>
            <a:endParaRPr lang="en-US" sz="101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486900"/>
          </a:xfrm>
          <a:prstGeom prst="rect">
            <a:avLst/>
          </a:prstGeom>
        </p:spPr>
      </p:pic>
      <p:sp>
        <p:nvSpPr>
          <p:cNvPr id="3" name="Text 0"/>
          <p:cNvSpPr/>
          <p:nvPr/>
        </p:nvSpPr>
        <p:spPr>
          <a:xfrm>
            <a:off x="457200" y="455414"/>
            <a:ext cx="2028630"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Components of</a:t>
            </a:r>
            <a:endParaRPr lang="en-US" sz="2025" dirty="0"/>
          </a:p>
        </p:txBody>
      </p:sp>
      <p:sp>
        <p:nvSpPr>
          <p:cNvPr id="4" name="Text 1"/>
          <p:cNvSpPr/>
          <p:nvPr/>
        </p:nvSpPr>
        <p:spPr>
          <a:xfrm>
            <a:off x="2414392" y="455414"/>
            <a:ext cx="1857096"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Logic Building</a:t>
            </a:r>
            <a:endParaRPr lang="en-US" sz="2025" dirty="0"/>
          </a:p>
        </p:txBody>
      </p:sp>
      <p:sp>
        <p:nvSpPr>
          <p:cNvPr id="5" name="Shape 2"/>
          <p:cNvSpPr/>
          <p:nvPr/>
        </p:nvSpPr>
        <p:spPr>
          <a:xfrm>
            <a:off x="457200" y="971550"/>
            <a:ext cx="4000500" cy="4700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Core Components</a:t>
            </a:r>
            <a:endParaRPr lang="en-US" sz="1350" dirty="0"/>
          </a:p>
        </p:txBody>
      </p:sp>
      <p:sp>
        <p:nvSpPr>
          <p:cNvPr id="7" name="Shape 4"/>
          <p:cNvSpPr/>
          <p:nvPr/>
        </p:nvSpPr>
        <p:spPr>
          <a:xfrm>
            <a:off x="628650" y="1485900"/>
            <a:ext cx="3657600" cy="1257300"/>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1257300"/>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 Understanding</a:t>
            </a:r>
            <a:endParaRPr lang="en-US" sz="1125" dirty="0"/>
          </a:p>
        </p:txBody>
      </p:sp>
      <p:sp>
        <p:nvSpPr>
          <p:cNvPr id="10" name="Text 7"/>
          <p:cNvSpPr/>
          <p:nvPr/>
        </p:nvSpPr>
        <p:spPr>
          <a:xfrm>
            <a:off x="7429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Thoroughly analyzing the problem statement to identify:</a:t>
            </a:r>
            <a:endParaRPr lang="en-US" sz="788" dirty="0"/>
          </a:p>
        </p:txBody>
      </p:sp>
      <p:sp>
        <p:nvSpPr>
          <p:cNvPr id="11" name="Text 8"/>
          <p:cNvSpPr/>
          <p:nvPr/>
        </p:nvSpPr>
        <p:spPr>
          <a:xfrm>
            <a:off x="742950" y="20002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Required inputs and expected outputs</a:t>
            </a:r>
            <a:endParaRPr lang="en-US" sz="788" dirty="0"/>
          </a:p>
        </p:txBody>
      </p:sp>
      <p:sp>
        <p:nvSpPr>
          <p:cNvPr id="12" name="Text 9"/>
          <p:cNvSpPr/>
          <p:nvPr/>
        </p:nvSpPr>
        <p:spPr>
          <a:xfrm>
            <a:off x="742950" y="21717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Constraints and edge cases</a:t>
            </a:r>
            <a:endParaRPr lang="en-US" sz="788" dirty="0"/>
          </a:p>
        </p:txBody>
      </p:sp>
      <p:sp>
        <p:nvSpPr>
          <p:cNvPr id="13" name="Text 10"/>
          <p:cNvSpPr/>
          <p:nvPr/>
        </p:nvSpPr>
        <p:spPr>
          <a:xfrm>
            <a:off x="742950" y="23431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Performance requirements</a:t>
            </a:r>
            <a:endParaRPr lang="en-US" sz="788" dirty="0"/>
          </a:p>
        </p:txBody>
      </p:sp>
      <p:sp>
        <p:nvSpPr>
          <p:cNvPr id="14" name="Text 11"/>
          <p:cNvSpPr/>
          <p:nvPr/>
        </p:nvSpPr>
        <p:spPr>
          <a:xfrm>
            <a:off x="742950" y="25146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Available resources and limitations</a:t>
            </a:r>
            <a:endParaRPr lang="en-US" sz="788" dirty="0"/>
          </a:p>
        </p:txBody>
      </p:sp>
      <p:sp>
        <p:nvSpPr>
          <p:cNvPr id="15" name="Shape 12"/>
          <p:cNvSpPr/>
          <p:nvPr/>
        </p:nvSpPr>
        <p:spPr>
          <a:xfrm>
            <a:off x="628650" y="2857500"/>
            <a:ext cx="3657600" cy="1257300"/>
          </a:xfrm>
          <a:prstGeom prst="rect">
            <a:avLst/>
          </a:prstGeom>
          <a:solidFill>
            <a:srgbClr val="1E3A8A">
              <a:alpha val="30000"/>
            </a:srgbClr>
          </a:solidFill>
          <a:ln/>
        </p:spPr>
        <p:txBody>
          <a:bodyPr/>
          <a:lstStyle/>
          <a:p>
            <a:endParaRPr lang="en-US"/>
          </a:p>
        </p:txBody>
      </p:sp>
      <p:sp>
        <p:nvSpPr>
          <p:cNvPr id="16" name="Shape 13"/>
          <p:cNvSpPr/>
          <p:nvPr/>
        </p:nvSpPr>
        <p:spPr>
          <a:xfrm>
            <a:off x="628650" y="2857500"/>
            <a:ext cx="28575" cy="1257300"/>
          </a:xfrm>
          <a:prstGeom prst="rect">
            <a:avLst/>
          </a:prstGeom>
          <a:solidFill>
            <a:srgbClr val="63B3ED"/>
          </a:solidFill>
          <a:ln/>
        </p:spPr>
        <p:txBody>
          <a:bodyPr/>
          <a:lstStyle/>
          <a:p>
            <a:endParaRPr lang="en-US"/>
          </a:p>
        </p:txBody>
      </p:sp>
      <p:sp>
        <p:nvSpPr>
          <p:cNvPr id="17" name="Text 14"/>
          <p:cNvSpPr/>
          <p:nvPr/>
        </p:nvSpPr>
        <p:spPr>
          <a:xfrm>
            <a:off x="742950" y="29432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 Decomposition</a:t>
            </a:r>
            <a:endParaRPr lang="en-US" sz="1125" dirty="0"/>
          </a:p>
        </p:txBody>
      </p:sp>
      <p:sp>
        <p:nvSpPr>
          <p:cNvPr id="18" name="Text 15"/>
          <p:cNvSpPr/>
          <p:nvPr/>
        </p:nvSpPr>
        <p:spPr>
          <a:xfrm>
            <a:off x="742950" y="31718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Breaking down complex problems into smaller, manageable sub-problems:</a:t>
            </a:r>
            <a:endParaRPr lang="en-US" sz="788" dirty="0"/>
          </a:p>
        </p:txBody>
      </p:sp>
      <p:sp>
        <p:nvSpPr>
          <p:cNvPr id="19" name="Text 16"/>
          <p:cNvSpPr/>
          <p:nvPr/>
        </p:nvSpPr>
        <p:spPr>
          <a:xfrm>
            <a:off x="742950" y="33718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Identifying independent components</a:t>
            </a:r>
            <a:endParaRPr lang="en-US" sz="788" dirty="0"/>
          </a:p>
        </p:txBody>
      </p:sp>
      <p:sp>
        <p:nvSpPr>
          <p:cNvPr id="20" name="Text 17"/>
          <p:cNvSpPr/>
          <p:nvPr/>
        </p:nvSpPr>
        <p:spPr>
          <a:xfrm>
            <a:off x="742950" y="35433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Establishing relationships between components</a:t>
            </a:r>
            <a:endParaRPr lang="en-US" sz="788" dirty="0"/>
          </a:p>
        </p:txBody>
      </p:sp>
      <p:sp>
        <p:nvSpPr>
          <p:cNvPr id="21" name="Text 18"/>
          <p:cNvSpPr/>
          <p:nvPr/>
        </p:nvSpPr>
        <p:spPr>
          <a:xfrm>
            <a:off x="742950" y="37147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Creating a hierarchical structure</a:t>
            </a:r>
            <a:endParaRPr lang="en-US" sz="788" dirty="0"/>
          </a:p>
        </p:txBody>
      </p:sp>
      <p:sp>
        <p:nvSpPr>
          <p:cNvPr id="22" name="Text 19"/>
          <p:cNvSpPr/>
          <p:nvPr/>
        </p:nvSpPr>
        <p:spPr>
          <a:xfrm>
            <a:off x="742950" y="38862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Applying divide-and-conquer approach</a:t>
            </a:r>
            <a:endParaRPr lang="en-US" sz="788" dirty="0"/>
          </a:p>
        </p:txBody>
      </p:sp>
      <p:sp>
        <p:nvSpPr>
          <p:cNvPr id="23" name="Shape 20"/>
          <p:cNvSpPr/>
          <p:nvPr/>
        </p:nvSpPr>
        <p:spPr>
          <a:xfrm>
            <a:off x="628650" y="4229100"/>
            <a:ext cx="3657600" cy="1257300"/>
          </a:xfrm>
          <a:prstGeom prst="rect">
            <a:avLst/>
          </a:prstGeom>
          <a:solidFill>
            <a:srgbClr val="1E3A8A">
              <a:alpha val="30000"/>
            </a:srgbClr>
          </a:solidFill>
          <a:ln/>
        </p:spPr>
        <p:txBody>
          <a:bodyPr/>
          <a:lstStyle/>
          <a:p>
            <a:endParaRPr lang="en-US"/>
          </a:p>
        </p:txBody>
      </p:sp>
      <p:sp>
        <p:nvSpPr>
          <p:cNvPr id="24" name="Shape 21"/>
          <p:cNvSpPr/>
          <p:nvPr/>
        </p:nvSpPr>
        <p:spPr>
          <a:xfrm>
            <a:off x="628650" y="4229100"/>
            <a:ext cx="28575" cy="1257300"/>
          </a:xfrm>
          <a:prstGeom prst="rect">
            <a:avLst/>
          </a:prstGeom>
          <a:solidFill>
            <a:srgbClr val="63B3ED"/>
          </a:solidFill>
          <a:ln/>
        </p:spPr>
        <p:txBody>
          <a:bodyPr/>
          <a:lstStyle/>
          <a:p>
            <a:endParaRPr lang="en-US"/>
          </a:p>
        </p:txBody>
      </p:sp>
      <p:sp>
        <p:nvSpPr>
          <p:cNvPr id="25" name="Text 22"/>
          <p:cNvSpPr/>
          <p:nvPr/>
        </p:nvSpPr>
        <p:spPr>
          <a:xfrm>
            <a:off x="742950" y="43148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Pattern Recognition</a:t>
            </a:r>
            <a:endParaRPr lang="en-US" sz="1125" dirty="0"/>
          </a:p>
        </p:txBody>
      </p:sp>
      <p:sp>
        <p:nvSpPr>
          <p:cNvPr id="26" name="Text 23"/>
          <p:cNvSpPr/>
          <p:nvPr/>
        </p:nvSpPr>
        <p:spPr>
          <a:xfrm>
            <a:off x="742950" y="45434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Identifying familiar patterns that can be applied to solve the problem:</a:t>
            </a:r>
            <a:endParaRPr lang="en-US" sz="788" dirty="0"/>
          </a:p>
        </p:txBody>
      </p:sp>
      <p:sp>
        <p:nvSpPr>
          <p:cNvPr id="27" name="Text 24"/>
          <p:cNvSpPr/>
          <p:nvPr/>
        </p:nvSpPr>
        <p:spPr>
          <a:xfrm>
            <a:off x="742950" y="47434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Recognizing common algorithmic patterns</a:t>
            </a:r>
            <a:endParaRPr lang="en-US" sz="788" dirty="0"/>
          </a:p>
        </p:txBody>
      </p:sp>
      <p:sp>
        <p:nvSpPr>
          <p:cNvPr id="28" name="Text 25"/>
          <p:cNvSpPr/>
          <p:nvPr/>
        </p:nvSpPr>
        <p:spPr>
          <a:xfrm>
            <a:off x="742950" y="49149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Applying previously solved solutions</a:t>
            </a:r>
            <a:endParaRPr lang="en-US" sz="788" dirty="0"/>
          </a:p>
        </p:txBody>
      </p:sp>
      <p:sp>
        <p:nvSpPr>
          <p:cNvPr id="29" name="Text 26"/>
          <p:cNvSpPr/>
          <p:nvPr/>
        </p:nvSpPr>
        <p:spPr>
          <a:xfrm>
            <a:off x="742950" y="50863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Adapting existing patterns to new contexts</a:t>
            </a:r>
            <a:endParaRPr lang="en-US" sz="788" dirty="0"/>
          </a:p>
        </p:txBody>
      </p:sp>
      <p:sp>
        <p:nvSpPr>
          <p:cNvPr id="30" name="Text 27"/>
          <p:cNvSpPr/>
          <p:nvPr/>
        </p:nvSpPr>
        <p:spPr>
          <a:xfrm>
            <a:off x="742950" y="52578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Leveraging design patterns when appropriate</a:t>
            </a:r>
            <a:endParaRPr lang="en-US" sz="788" dirty="0"/>
          </a:p>
        </p:txBody>
      </p:sp>
      <p:sp>
        <p:nvSpPr>
          <p:cNvPr id="31" name="Shape 28"/>
          <p:cNvSpPr/>
          <p:nvPr/>
        </p:nvSpPr>
        <p:spPr>
          <a:xfrm>
            <a:off x="457200" y="5829300"/>
            <a:ext cx="4000500" cy="2071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2" name="Text 29"/>
          <p:cNvSpPr/>
          <p:nvPr/>
        </p:nvSpPr>
        <p:spPr>
          <a:xfrm>
            <a:off x="628650" y="6000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Thinking Approaches</a:t>
            </a:r>
            <a:endParaRPr lang="en-US" sz="1350" dirty="0"/>
          </a:p>
        </p:txBody>
      </p:sp>
      <p:sp>
        <p:nvSpPr>
          <p:cNvPr id="33" name="Shape 30"/>
          <p:cNvSpPr/>
          <p:nvPr/>
        </p:nvSpPr>
        <p:spPr>
          <a:xfrm>
            <a:off x="628650" y="6343650"/>
            <a:ext cx="1771650" cy="628650"/>
          </a:xfrm>
          <a:prstGeom prst="rect">
            <a:avLst/>
          </a:prstGeom>
          <a:solidFill>
            <a:srgbClr val="1E3A8A">
              <a:alpha val="30000"/>
            </a:srgbClr>
          </a:solidFill>
          <a:ln/>
        </p:spPr>
        <p:txBody>
          <a:bodyPr/>
          <a:lstStyle/>
          <a:p>
            <a:endParaRPr lang="en-US"/>
          </a:p>
        </p:txBody>
      </p:sp>
      <p:pic>
        <p:nvPicPr>
          <p:cNvPr id="34" name="Image 1" descr="preencoded.png"/>
          <p:cNvPicPr>
            <a:picLocks noChangeAspect="1"/>
          </p:cNvPicPr>
          <p:nvPr/>
        </p:nvPicPr>
        <p:blipFill>
          <a:blip r:embed="rId4"/>
          <a:stretch>
            <a:fillRect/>
          </a:stretch>
        </p:blipFill>
        <p:spPr>
          <a:xfrm>
            <a:off x="714375" y="6443663"/>
            <a:ext cx="142875" cy="142875"/>
          </a:xfrm>
          <a:prstGeom prst="rect">
            <a:avLst/>
          </a:prstGeom>
        </p:spPr>
      </p:pic>
      <p:sp>
        <p:nvSpPr>
          <p:cNvPr id="35" name="Text 31"/>
          <p:cNvSpPr/>
          <p:nvPr/>
        </p:nvSpPr>
        <p:spPr>
          <a:xfrm>
            <a:off x="914400" y="6429375"/>
            <a:ext cx="922381"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Linear Thinking</a:t>
            </a:r>
            <a:endParaRPr lang="en-US" sz="900" dirty="0"/>
          </a:p>
        </p:txBody>
      </p:sp>
      <p:sp>
        <p:nvSpPr>
          <p:cNvPr id="36" name="Text 32"/>
          <p:cNvSpPr/>
          <p:nvPr/>
        </p:nvSpPr>
        <p:spPr>
          <a:xfrm>
            <a:off x="714375" y="66579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Step-by-step sequential approach to problem-solving</a:t>
            </a:r>
            <a:endParaRPr lang="en-US" sz="675" dirty="0"/>
          </a:p>
        </p:txBody>
      </p:sp>
      <p:sp>
        <p:nvSpPr>
          <p:cNvPr id="37" name="Shape 33"/>
          <p:cNvSpPr/>
          <p:nvPr/>
        </p:nvSpPr>
        <p:spPr>
          <a:xfrm>
            <a:off x="2514600" y="6343650"/>
            <a:ext cx="1771650" cy="628650"/>
          </a:xfrm>
          <a:prstGeom prst="rect">
            <a:avLst/>
          </a:prstGeom>
          <a:solidFill>
            <a:srgbClr val="1E3A8A">
              <a:alpha val="30000"/>
            </a:srgbClr>
          </a:solidFill>
          <a:ln/>
        </p:spPr>
        <p:txBody>
          <a:bodyPr/>
          <a:lstStyle/>
          <a:p>
            <a:endParaRPr lang="en-US"/>
          </a:p>
        </p:txBody>
      </p:sp>
      <p:pic>
        <p:nvPicPr>
          <p:cNvPr id="38" name="Image 2" descr="preencoded.png"/>
          <p:cNvPicPr>
            <a:picLocks noChangeAspect="1"/>
          </p:cNvPicPr>
          <p:nvPr/>
        </p:nvPicPr>
        <p:blipFill>
          <a:blip r:embed="rId5"/>
          <a:stretch>
            <a:fillRect/>
          </a:stretch>
        </p:blipFill>
        <p:spPr>
          <a:xfrm>
            <a:off x="2600325" y="6443663"/>
            <a:ext cx="160734" cy="142875"/>
          </a:xfrm>
          <a:prstGeom prst="rect">
            <a:avLst/>
          </a:prstGeom>
        </p:spPr>
      </p:pic>
      <p:sp>
        <p:nvSpPr>
          <p:cNvPr id="39" name="Text 34"/>
          <p:cNvSpPr/>
          <p:nvPr/>
        </p:nvSpPr>
        <p:spPr>
          <a:xfrm>
            <a:off x="2818209" y="6429375"/>
            <a:ext cx="954193"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Lateral Thinking</a:t>
            </a:r>
            <a:endParaRPr lang="en-US" sz="900" dirty="0"/>
          </a:p>
        </p:txBody>
      </p:sp>
      <p:sp>
        <p:nvSpPr>
          <p:cNvPr id="40" name="Text 35"/>
          <p:cNvSpPr/>
          <p:nvPr/>
        </p:nvSpPr>
        <p:spPr>
          <a:xfrm>
            <a:off x="2600325" y="66579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Creative approach exploring multiple solution paths</a:t>
            </a:r>
            <a:endParaRPr lang="en-US" sz="675" dirty="0"/>
          </a:p>
        </p:txBody>
      </p:sp>
      <p:sp>
        <p:nvSpPr>
          <p:cNvPr id="41" name="Shape 36"/>
          <p:cNvSpPr/>
          <p:nvPr/>
        </p:nvSpPr>
        <p:spPr>
          <a:xfrm>
            <a:off x="628650" y="7086600"/>
            <a:ext cx="1771650" cy="628650"/>
          </a:xfrm>
          <a:prstGeom prst="rect">
            <a:avLst/>
          </a:prstGeom>
          <a:solidFill>
            <a:srgbClr val="1E3A8A">
              <a:alpha val="30000"/>
            </a:srgbClr>
          </a:solidFill>
          <a:ln/>
        </p:spPr>
        <p:txBody>
          <a:bodyPr/>
          <a:lstStyle/>
          <a:p>
            <a:endParaRPr lang="en-US"/>
          </a:p>
        </p:txBody>
      </p:sp>
      <p:pic>
        <p:nvPicPr>
          <p:cNvPr id="42" name="Image 3" descr="preencoded.png"/>
          <p:cNvPicPr>
            <a:picLocks noChangeAspect="1"/>
          </p:cNvPicPr>
          <p:nvPr/>
        </p:nvPicPr>
        <p:blipFill>
          <a:blip r:embed="rId6"/>
          <a:stretch>
            <a:fillRect/>
          </a:stretch>
        </p:blipFill>
        <p:spPr>
          <a:xfrm>
            <a:off x="714375" y="7186613"/>
            <a:ext cx="160734" cy="142875"/>
          </a:xfrm>
          <a:prstGeom prst="rect">
            <a:avLst/>
          </a:prstGeom>
        </p:spPr>
      </p:pic>
      <p:sp>
        <p:nvSpPr>
          <p:cNvPr id="43" name="Text 37"/>
          <p:cNvSpPr/>
          <p:nvPr/>
        </p:nvSpPr>
        <p:spPr>
          <a:xfrm>
            <a:off x="932259" y="7172325"/>
            <a:ext cx="1119336"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Analytical Thinking</a:t>
            </a:r>
            <a:endParaRPr lang="en-US" sz="900" dirty="0"/>
          </a:p>
        </p:txBody>
      </p:sp>
      <p:sp>
        <p:nvSpPr>
          <p:cNvPr id="44" name="Text 38"/>
          <p:cNvSpPr/>
          <p:nvPr/>
        </p:nvSpPr>
        <p:spPr>
          <a:xfrm>
            <a:off x="714375" y="74009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Breaking down complex systems into components</a:t>
            </a:r>
            <a:endParaRPr lang="en-US" sz="675" dirty="0"/>
          </a:p>
        </p:txBody>
      </p:sp>
      <p:sp>
        <p:nvSpPr>
          <p:cNvPr id="45" name="Shape 39"/>
          <p:cNvSpPr/>
          <p:nvPr/>
        </p:nvSpPr>
        <p:spPr>
          <a:xfrm>
            <a:off x="2514600" y="7086600"/>
            <a:ext cx="1771650" cy="628650"/>
          </a:xfrm>
          <a:prstGeom prst="rect">
            <a:avLst/>
          </a:prstGeom>
          <a:solidFill>
            <a:srgbClr val="1E3A8A">
              <a:alpha val="30000"/>
            </a:srgbClr>
          </a:solidFill>
          <a:ln/>
        </p:spPr>
        <p:txBody>
          <a:bodyPr/>
          <a:lstStyle/>
          <a:p>
            <a:endParaRPr lang="en-US"/>
          </a:p>
        </p:txBody>
      </p:sp>
      <p:pic>
        <p:nvPicPr>
          <p:cNvPr id="46" name="Image 4" descr="preencoded.png"/>
          <p:cNvPicPr>
            <a:picLocks noChangeAspect="1"/>
          </p:cNvPicPr>
          <p:nvPr/>
        </p:nvPicPr>
        <p:blipFill>
          <a:blip r:embed="rId7"/>
          <a:stretch>
            <a:fillRect/>
          </a:stretch>
        </p:blipFill>
        <p:spPr>
          <a:xfrm>
            <a:off x="2600325" y="7186613"/>
            <a:ext cx="142875" cy="142875"/>
          </a:xfrm>
          <a:prstGeom prst="rect">
            <a:avLst/>
          </a:prstGeom>
        </p:spPr>
      </p:pic>
      <p:sp>
        <p:nvSpPr>
          <p:cNvPr id="47" name="Text 40"/>
          <p:cNvSpPr/>
          <p:nvPr/>
        </p:nvSpPr>
        <p:spPr>
          <a:xfrm>
            <a:off x="2800350" y="7172325"/>
            <a:ext cx="1062075"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Adaptive Thinking</a:t>
            </a:r>
            <a:endParaRPr lang="en-US" sz="900" dirty="0"/>
          </a:p>
        </p:txBody>
      </p:sp>
      <p:sp>
        <p:nvSpPr>
          <p:cNvPr id="48" name="Text 41"/>
          <p:cNvSpPr/>
          <p:nvPr/>
        </p:nvSpPr>
        <p:spPr>
          <a:xfrm>
            <a:off x="2600325" y="74009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Adjusting approach based on feedback and results</a:t>
            </a:r>
            <a:endParaRPr lang="en-US" sz="675" dirty="0"/>
          </a:p>
        </p:txBody>
      </p:sp>
      <p:sp>
        <p:nvSpPr>
          <p:cNvPr id="49" name="Shape 42"/>
          <p:cNvSpPr/>
          <p:nvPr/>
        </p:nvSpPr>
        <p:spPr>
          <a:xfrm>
            <a:off x="4686300" y="971550"/>
            <a:ext cx="4000500" cy="4700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50" name="Text 43"/>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Implementation Components</a:t>
            </a:r>
            <a:endParaRPr lang="en-US" sz="1350" dirty="0"/>
          </a:p>
        </p:txBody>
      </p:sp>
      <p:sp>
        <p:nvSpPr>
          <p:cNvPr id="51" name="Shape 44"/>
          <p:cNvSpPr/>
          <p:nvPr/>
        </p:nvSpPr>
        <p:spPr>
          <a:xfrm>
            <a:off x="4857750" y="1485900"/>
            <a:ext cx="3657600" cy="1257300"/>
          </a:xfrm>
          <a:prstGeom prst="rect">
            <a:avLst/>
          </a:prstGeom>
          <a:solidFill>
            <a:srgbClr val="1E3A8A">
              <a:alpha val="30000"/>
            </a:srgbClr>
          </a:solidFill>
          <a:ln/>
        </p:spPr>
        <p:txBody>
          <a:bodyPr/>
          <a:lstStyle/>
          <a:p>
            <a:endParaRPr lang="en-US"/>
          </a:p>
        </p:txBody>
      </p:sp>
      <p:sp>
        <p:nvSpPr>
          <p:cNvPr id="52" name="Shape 45"/>
          <p:cNvSpPr/>
          <p:nvPr/>
        </p:nvSpPr>
        <p:spPr>
          <a:xfrm>
            <a:off x="4857750" y="1485900"/>
            <a:ext cx="28575" cy="1257300"/>
          </a:xfrm>
          <a:prstGeom prst="rect">
            <a:avLst/>
          </a:prstGeom>
          <a:solidFill>
            <a:srgbClr val="63B3ED"/>
          </a:solidFill>
          <a:ln/>
        </p:spPr>
        <p:txBody>
          <a:bodyPr/>
          <a:lstStyle/>
          <a:p>
            <a:endParaRPr lang="en-US"/>
          </a:p>
        </p:txBody>
      </p:sp>
      <p:sp>
        <p:nvSpPr>
          <p:cNvPr id="53" name="Text 46"/>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Algorithm Development</a:t>
            </a:r>
            <a:endParaRPr lang="en-US" sz="1125" dirty="0"/>
          </a:p>
        </p:txBody>
      </p:sp>
      <p:sp>
        <p:nvSpPr>
          <p:cNvPr id="54" name="Text 47"/>
          <p:cNvSpPr/>
          <p:nvPr/>
        </p:nvSpPr>
        <p:spPr>
          <a:xfrm>
            <a:off x="49720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Creating a step-by-step procedure to solve the problem:</a:t>
            </a:r>
            <a:endParaRPr lang="en-US" sz="788" dirty="0"/>
          </a:p>
        </p:txBody>
      </p:sp>
      <p:sp>
        <p:nvSpPr>
          <p:cNvPr id="55" name="Text 48"/>
          <p:cNvSpPr/>
          <p:nvPr/>
        </p:nvSpPr>
        <p:spPr>
          <a:xfrm>
            <a:off x="4972050" y="20002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Defining logical sequence of operations</a:t>
            </a:r>
            <a:endParaRPr lang="en-US" sz="788" dirty="0"/>
          </a:p>
        </p:txBody>
      </p:sp>
      <p:sp>
        <p:nvSpPr>
          <p:cNvPr id="56" name="Text 49"/>
          <p:cNvSpPr/>
          <p:nvPr/>
        </p:nvSpPr>
        <p:spPr>
          <a:xfrm>
            <a:off x="4972050" y="21717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Establishing control flow (conditionals, loops)</a:t>
            </a:r>
            <a:endParaRPr lang="en-US" sz="788" dirty="0"/>
          </a:p>
        </p:txBody>
      </p:sp>
      <p:sp>
        <p:nvSpPr>
          <p:cNvPr id="57" name="Text 50"/>
          <p:cNvSpPr/>
          <p:nvPr/>
        </p:nvSpPr>
        <p:spPr>
          <a:xfrm>
            <a:off x="4972050" y="23431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Determining data structures and operations</a:t>
            </a:r>
            <a:endParaRPr lang="en-US" sz="788" dirty="0"/>
          </a:p>
        </p:txBody>
      </p:sp>
      <p:sp>
        <p:nvSpPr>
          <p:cNvPr id="58" name="Text 51"/>
          <p:cNvSpPr/>
          <p:nvPr/>
        </p:nvSpPr>
        <p:spPr>
          <a:xfrm>
            <a:off x="4972050" y="25146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Ensuring correctness and efficiency</a:t>
            </a:r>
            <a:endParaRPr lang="en-US" sz="788" dirty="0"/>
          </a:p>
        </p:txBody>
      </p:sp>
      <p:sp>
        <p:nvSpPr>
          <p:cNvPr id="59" name="Shape 52"/>
          <p:cNvSpPr/>
          <p:nvPr/>
        </p:nvSpPr>
        <p:spPr>
          <a:xfrm>
            <a:off x="4857750" y="2857500"/>
            <a:ext cx="3657600" cy="1257300"/>
          </a:xfrm>
          <a:prstGeom prst="rect">
            <a:avLst/>
          </a:prstGeom>
          <a:solidFill>
            <a:srgbClr val="1E3A8A">
              <a:alpha val="30000"/>
            </a:srgbClr>
          </a:solidFill>
          <a:ln/>
        </p:spPr>
        <p:txBody>
          <a:bodyPr/>
          <a:lstStyle/>
          <a:p>
            <a:endParaRPr lang="en-US"/>
          </a:p>
        </p:txBody>
      </p:sp>
      <p:sp>
        <p:nvSpPr>
          <p:cNvPr id="60" name="Shape 53"/>
          <p:cNvSpPr/>
          <p:nvPr/>
        </p:nvSpPr>
        <p:spPr>
          <a:xfrm>
            <a:off x="4857750" y="2857500"/>
            <a:ext cx="28575" cy="1257300"/>
          </a:xfrm>
          <a:prstGeom prst="rect">
            <a:avLst/>
          </a:prstGeom>
          <a:solidFill>
            <a:srgbClr val="63B3ED"/>
          </a:solidFill>
          <a:ln/>
        </p:spPr>
        <p:txBody>
          <a:bodyPr/>
          <a:lstStyle/>
          <a:p>
            <a:endParaRPr lang="en-US"/>
          </a:p>
        </p:txBody>
      </p:sp>
      <p:sp>
        <p:nvSpPr>
          <p:cNvPr id="61" name="Text 54"/>
          <p:cNvSpPr/>
          <p:nvPr/>
        </p:nvSpPr>
        <p:spPr>
          <a:xfrm>
            <a:off x="4972050" y="29432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Solution Representation</a:t>
            </a:r>
            <a:endParaRPr lang="en-US" sz="1125" dirty="0"/>
          </a:p>
        </p:txBody>
      </p:sp>
      <p:sp>
        <p:nvSpPr>
          <p:cNvPr id="62" name="Text 55"/>
          <p:cNvSpPr/>
          <p:nvPr/>
        </p:nvSpPr>
        <p:spPr>
          <a:xfrm>
            <a:off x="4972050" y="31718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Expressing the solution in a clear, understandable format:</a:t>
            </a:r>
            <a:endParaRPr lang="en-US" sz="788" dirty="0"/>
          </a:p>
        </p:txBody>
      </p:sp>
      <p:sp>
        <p:nvSpPr>
          <p:cNvPr id="63" name="Text 56"/>
          <p:cNvSpPr/>
          <p:nvPr/>
        </p:nvSpPr>
        <p:spPr>
          <a:xfrm>
            <a:off x="4972050" y="33718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Pseudocode or flowcharts</a:t>
            </a:r>
            <a:endParaRPr lang="en-US" sz="788" dirty="0"/>
          </a:p>
        </p:txBody>
      </p:sp>
      <p:sp>
        <p:nvSpPr>
          <p:cNvPr id="64" name="Text 57"/>
          <p:cNvSpPr/>
          <p:nvPr/>
        </p:nvSpPr>
        <p:spPr>
          <a:xfrm>
            <a:off x="4972050" y="35433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Programming language constructs</a:t>
            </a:r>
            <a:endParaRPr lang="en-US" sz="788" dirty="0"/>
          </a:p>
        </p:txBody>
      </p:sp>
      <p:sp>
        <p:nvSpPr>
          <p:cNvPr id="65" name="Text 58"/>
          <p:cNvSpPr/>
          <p:nvPr/>
        </p:nvSpPr>
        <p:spPr>
          <a:xfrm>
            <a:off x="4972050" y="37147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Data structure selection</a:t>
            </a:r>
            <a:endParaRPr lang="en-US" sz="788" dirty="0"/>
          </a:p>
        </p:txBody>
      </p:sp>
      <p:sp>
        <p:nvSpPr>
          <p:cNvPr id="66" name="Text 59"/>
          <p:cNvSpPr/>
          <p:nvPr/>
        </p:nvSpPr>
        <p:spPr>
          <a:xfrm>
            <a:off x="4972050" y="38862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Function and module organization</a:t>
            </a:r>
            <a:endParaRPr lang="en-US" sz="788" dirty="0"/>
          </a:p>
        </p:txBody>
      </p:sp>
      <p:sp>
        <p:nvSpPr>
          <p:cNvPr id="67" name="Shape 60"/>
          <p:cNvSpPr/>
          <p:nvPr/>
        </p:nvSpPr>
        <p:spPr>
          <a:xfrm>
            <a:off x="4857750" y="4229100"/>
            <a:ext cx="3657600" cy="1257300"/>
          </a:xfrm>
          <a:prstGeom prst="rect">
            <a:avLst/>
          </a:prstGeom>
          <a:solidFill>
            <a:srgbClr val="1E3A8A">
              <a:alpha val="30000"/>
            </a:srgbClr>
          </a:solidFill>
          <a:ln/>
        </p:spPr>
        <p:txBody>
          <a:bodyPr/>
          <a:lstStyle/>
          <a:p>
            <a:endParaRPr lang="en-US"/>
          </a:p>
        </p:txBody>
      </p:sp>
      <p:sp>
        <p:nvSpPr>
          <p:cNvPr id="68" name="Shape 61"/>
          <p:cNvSpPr/>
          <p:nvPr/>
        </p:nvSpPr>
        <p:spPr>
          <a:xfrm>
            <a:off x="4857750" y="4229100"/>
            <a:ext cx="28575" cy="1257300"/>
          </a:xfrm>
          <a:prstGeom prst="rect">
            <a:avLst/>
          </a:prstGeom>
          <a:solidFill>
            <a:srgbClr val="63B3ED"/>
          </a:solidFill>
          <a:ln/>
        </p:spPr>
        <p:txBody>
          <a:bodyPr/>
          <a:lstStyle/>
          <a:p>
            <a:endParaRPr lang="en-US"/>
          </a:p>
        </p:txBody>
      </p:sp>
      <p:sp>
        <p:nvSpPr>
          <p:cNvPr id="69" name="Text 62"/>
          <p:cNvSpPr/>
          <p:nvPr/>
        </p:nvSpPr>
        <p:spPr>
          <a:xfrm>
            <a:off x="4972050" y="43148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Verification &amp; Optimization</a:t>
            </a:r>
            <a:endParaRPr lang="en-US" sz="1125" dirty="0"/>
          </a:p>
        </p:txBody>
      </p:sp>
      <p:sp>
        <p:nvSpPr>
          <p:cNvPr id="70" name="Text 63"/>
          <p:cNvSpPr/>
          <p:nvPr/>
        </p:nvSpPr>
        <p:spPr>
          <a:xfrm>
            <a:off x="4972050" y="45434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Testing and improving the solution:</a:t>
            </a:r>
            <a:endParaRPr lang="en-US" sz="788" dirty="0"/>
          </a:p>
        </p:txBody>
      </p:sp>
      <p:sp>
        <p:nvSpPr>
          <p:cNvPr id="71" name="Text 64"/>
          <p:cNvSpPr/>
          <p:nvPr/>
        </p:nvSpPr>
        <p:spPr>
          <a:xfrm>
            <a:off x="4972050" y="47434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Validating correctness with test cases</a:t>
            </a:r>
            <a:endParaRPr lang="en-US" sz="788" dirty="0"/>
          </a:p>
        </p:txBody>
      </p:sp>
      <p:sp>
        <p:nvSpPr>
          <p:cNvPr id="72" name="Text 65"/>
          <p:cNvSpPr/>
          <p:nvPr/>
        </p:nvSpPr>
        <p:spPr>
          <a:xfrm>
            <a:off x="4972050" y="49149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Handling edge cases and exceptions</a:t>
            </a:r>
            <a:endParaRPr lang="en-US" sz="788" dirty="0"/>
          </a:p>
        </p:txBody>
      </p:sp>
      <p:sp>
        <p:nvSpPr>
          <p:cNvPr id="73" name="Text 66"/>
          <p:cNvSpPr/>
          <p:nvPr/>
        </p:nvSpPr>
        <p:spPr>
          <a:xfrm>
            <a:off x="4972050" y="50863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Analyzing time and space complexity</a:t>
            </a:r>
            <a:endParaRPr lang="en-US" sz="788" dirty="0"/>
          </a:p>
        </p:txBody>
      </p:sp>
      <p:sp>
        <p:nvSpPr>
          <p:cNvPr id="74" name="Text 67"/>
          <p:cNvSpPr/>
          <p:nvPr/>
        </p:nvSpPr>
        <p:spPr>
          <a:xfrm>
            <a:off x="4972050" y="52578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Refining for better performance</a:t>
            </a:r>
            <a:endParaRPr lang="en-US" sz="788" dirty="0"/>
          </a:p>
        </p:txBody>
      </p:sp>
      <p:sp>
        <p:nvSpPr>
          <p:cNvPr id="75" name="Shape 68"/>
          <p:cNvSpPr/>
          <p:nvPr/>
        </p:nvSpPr>
        <p:spPr>
          <a:xfrm>
            <a:off x="4686300" y="5829300"/>
            <a:ext cx="4000500" cy="31861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76" name="Text 69"/>
          <p:cNvSpPr/>
          <p:nvPr/>
        </p:nvSpPr>
        <p:spPr>
          <a:xfrm>
            <a:off x="4857750" y="6000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Component Integration</a:t>
            </a:r>
            <a:endParaRPr lang="en-US" sz="1350" dirty="0"/>
          </a:p>
        </p:txBody>
      </p:sp>
      <p:pic>
        <p:nvPicPr>
          <p:cNvPr id="77" name="Image 5" descr="preencoded.png"/>
          <p:cNvPicPr>
            <a:picLocks noChangeAspect="1"/>
          </p:cNvPicPr>
          <p:nvPr/>
        </p:nvPicPr>
        <p:blipFill>
          <a:blip r:embed="rId8"/>
          <a:stretch>
            <a:fillRect/>
          </a:stretch>
        </p:blipFill>
        <p:spPr>
          <a:xfrm>
            <a:off x="4857750" y="6343650"/>
            <a:ext cx="3657600" cy="2143125"/>
          </a:xfrm>
          <a:prstGeom prst="rect">
            <a:avLst/>
          </a:prstGeom>
        </p:spPr>
      </p:pic>
      <p:sp>
        <p:nvSpPr>
          <p:cNvPr id="78" name="Text 70"/>
          <p:cNvSpPr/>
          <p:nvPr/>
        </p:nvSpPr>
        <p:spPr>
          <a:xfrm>
            <a:off x="6149373" y="6672263"/>
            <a:ext cx="1145791" cy="200025"/>
          </a:xfrm>
          <a:prstGeom prst="rect">
            <a:avLst/>
          </a:prstGeom>
          <a:noFill/>
          <a:ln/>
        </p:spPr>
        <p:txBody>
          <a:bodyPr wrap="none" lIns="0" tIns="0" rIns="0" bIns="0" rtlCol="0" anchor="ctr">
            <a:spAutoFit/>
          </a:bodyPr>
          <a:lstStyle/>
          <a:p>
            <a:pPr marL="0" indent="0" algn="ctr">
              <a:buNone/>
            </a:pPr>
            <a:r>
              <a:rPr lang="en-US" sz="1013" b="1" dirty="0">
                <a:solidFill>
                  <a:srgbClr val="E2E8F0"/>
                </a:solidFill>
                <a:latin typeface="Segoe UI" pitchFamily="34" charset="0"/>
                <a:ea typeface="Segoe UI" pitchFamily="34" charset="-122"/>
                <a:cs typeface="Segoe UI" pitchFamily="34" charset="-120"/>
              </a:rPr>
              <a:t>Problem Analysis</a:t>
            </a:r>
            <a:endParaRPr lang="en-US" sz="1013" dirty="0"/>
          </a:p>
        </p:txBody>
      </p:sp>
      <p:sp>
        <p:nvSpPr>
          <p:cNvPr id="79" name="Text 71"/>
          <p:cNvSpPr/>
          <p:nvPr/>
        </p:nvSpPr>
        <p:spPr>
          <a:xfrm>
            <a:off x="5419218" y="7636669"/>
            <a:ext cx="1143028" cy="200025"/>
          </a:xfrm>
          <a:prstGeom prst="rect">
            <a:avLst/>
          </a:prstGeom>
          <a:noFill/>
          <a:ln/>
        </p:spPr>
        <p:txBody>
          <a:bodyPr wrap="none" lIns="0" tIns="0" rIns="0" bIns="0" rtlCol="0" anchor="ctr">
            <a:spAutoFit/>
          </a:bodyPr>
          <a:lstStyle/>
          <a:p>
            <a:pPr marL="0" indent="0" algn="ctr">
              <a:buNone/>
            </a:pPr>
            <a:r>
              <a:rPr lang="en-US" sz="1013" b="1" dirty="0">
                <a:solidFill>
                  <a:srgbClr val="E2E8F0"/>
                </a:solidFill>
                <a:latin typeface="Segoe UI" pitchFamily="34" charset="0"/>
                <a:ea typeface="Segoe UI" pitchFamily="34" charset="-122"/>
                <a:cs typeface="Segoe UI" pitchFamily="34" charset="-120"/>
              </a:rPr>
              <a:t>Algorithm Design</a:t>
            </a:r>
            <a:endParaRPr lang="en-US" sz="1013" dirty="0"/>
          </a:p>
        </p:txBody>
      </p:sp>
      <p:sp>
        <p:nvSpPr>
          <p:cNvPr id="80" name="Text 72"/>
          <p:cNvSpPr/>
          <p:nvPr/>
        </p:nvSpPr>
        <p:spPr>
          <a:xfrm>
            <a:off x="6942944" y="7636669"/>
            <a:ext cx="1021668" cy="200025"/>
          </a:xfrm>
          <a:prstGeom prst="rect">
            <a:avLst/>
          </a:prstGeom>
          <a:noFill/>
          <a:ln/>
        </p:spPr>
        <p:txBody>
          <a:bodyPr wrap="none" lIns="0" tIns="0" rIns="0" bIns="0" rtlCol="0" anchor="ctr">
            <a:spAutoFit/>
          </a:bodyPr>
          <a:lstStyle/>
          <a:p>
            <a:pPr marL="0" indent="0" algn="ctr">
              <a:buNone/>
            </a:pPr>
            <a:r>
              <a:rPr lang="en-US" sz="1013" b="1" dirty="0">
                <a:solidFill>
                  <a:srgbClr val="E2E8F0"/>
                </a:solidFill>
                <a:latin typeface="Segoe UI" pitchFamily="34" charset="0"/>
                <a:ea typeface="Segoe UI" pitchFamily="34" charset="-122"/>
                <a:cs typeface="Segoe UI" pitchFamily="34" charset="-120"/>
              </a:rPr>
              <a:t>Implementation</a:t>
            </a:r>
            <a:endParaRPr lang="en-US" sz="1013" dirty="0"/>
          </a:p>
        </p:txBody>
      </p:sp>
      <p:sp>
        <p:nvSpPr>
          <p:cNvPr id="81" name="Text 73"/>
          <p:cNvSpPr/>
          <p:nvPr/>
        </p:nvSpPr>
        <p:spPr>
          <a:xfrm>
            <a:off x="6190534" y="7315200"/>
            <a:ext cx="1063470" cy="200025"/>
          </a:xfrm>
          <a:prstGeom prst="rect">
            <a:avLst/>
          </a:prstGeom>
          <a:noFill/>
          <a:ln/>
        </p:spPr>
        <p:txBody>
          <a:bodyPr wrap="none" lIns="0" tIns="0" rIns="0" bIns="0" rtlCol="0" anchor="ctr">
            <a:spAutoFit/>
          </a:bodyPr>
          <a:lstStyle/>
          <a:p>
            <a:pPr marL="0" indent="0" algn="ctr">
              <a:buNone/>
            </a:pPr>
            <a:r>
              <a:rPr lang="en-US" sz="1125" b="1" dirty="0">
                <a:solidFill>
                  <a:srgbClr val="93C5FD"/>
                </a:solidFill>
                <a:latin typeface="Segoe UI" pitchFamily="34" charset="0"/>
                <a:ea typeface="Segoe UI" pitchFamily="34" charset="-122"/>
                <a:cs typeface="Segoe UI" pitchFamily="34" charset="-120"/>
              </a:rPr>
              <a:t>Logic Building</a:t>
            </a:r>
            <a:endParaRPr lang="en-US" sz="1125" dirty="0"/>
          </a:p>
        </p:txBody>
      </p:sp>
      <p:sp>
        <p:nvSpPr>
          <p:cNvPr id="82" name="Text 74"/>
          <p:cNvSpPr/>
          <p:nvPr/>
        </p:nvSpPr>
        <p:spPr>
          <a:xfrm>
            <a:off x="4857750" y="8543925"/>
            <a:ext cx="3729038" cy="285750"/>
          </a:xfrm>
          <a:prstGeom prst="rect">
            <a:avLst/>
          </a:prstGeom>
          <a:noFill/>
          <a:ln/>
        </p:spPr>
        <p:txBody>
          <a:bodyPr wrap="square" lIns="0" tIns="0" rIns="0" bIns="0" rtlCol="0" anchor="ctr">
            <a:spAutoFit/>
          </a:bodyPr>
          <a:lstStyle/>
          <a:p>
            <a:pPr marL="0" indent="0" algn="ctr">
              <a:buNone/>
            </a:pPr>
            <a:r>
              <a:rPr lang="en-US" sz="788" dirty="0">
                <a:solidFill>
                  <a:srgbClr val="E2E8F0"/>
                </a:solidFill>
                <a:latin typeface="Segoe UI" pitchFamily="34" charset="0"/>
                <a:ea typeface="Segoe UI" pitchFamily="34" charset="-122"/>
                <a:cs typeface="Segoe UI" pitchFamily="34" charset="-120"/>
              </a:rPr>
              <a:t>Effective logic building integrates all components into a cohesive problem-solving approach</a:t>
            </a:r>
            <a:endParaRPr lang="en-US" sz="78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1972925"/>
          </a:xfrm>
          <a:prstGeom prst="rect">
            <a:avLst/>
          </a:prstGeom>
        </p:spPr>
      </p:pic>
      <p:sp>
        <p:nvSpPr>
          <p:cNvPr id="3" name="Text 0"/>
          <p:cNvSpPr/>
          <p:nvPr/>
        </p:nvSpPr>
        <p:spPr>
          <a:xfrm>
            <a:off x="457200" y="455414"/>
            <a:ext cx="1857096"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Logic Building</a:t>
            </a:r>
            <a:endParaRPr lang="en-US" sz="2025" dirty="0"/>
          </a:p>
        </p:txBody>
      </p:sp>
      <p:sp>
        <p:nvSpPr>
          <p:cNvPr id="4" name="Text 1"/>
          <p:cNvSpPr/>
          <p:nvPr/>
        </p:nvSpPr>
        <p:spPr>
          <a:xfrm>
            <a:off x="2242858" y="455414"/>
            <a:ext cx="1552845"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Techniques</a:t>
            </a:r>
            <a:endParaRPr lang="en-US" sz="2025" dirty="0"/>
          </a:p>
        </p:txBody>
      </p:sp>
      <p:sp>
        <p:nvSpPr>
          <p:cNvPr id="5" name="Shape 2"/>
          <p:cNvSpPr/>
          <p:nvPr/>
        </p:nvSpPr>
        <p:spPr>
          <a:xfrm>
            <a:off x="457200" y="971550"/>
            <a:ext cx="4000500" cy="5500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Visual Techniques</a:t>
            </a:r>
            <a:endParaRPr lang="en-US" sz="1350" dirty="0"/>
          </a:p>
        </p:txBody>
      </p:sp>
      <p:sp>
        <p:nvSpPr>
          <p:cNvPr id="7" name="Shape 4"/>
          <p:cNvSpPr/>
          <p:nvPr/>
        </p:nvSpPr>
        <p:spPr>
          <a:xfrm>
            <a:off x="628650" y="1485900"/>
            <a:ext cx="3657600" cy="3028950"/>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3028950"/>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Flowcharts</a:t>
            </a:r>
            <a:endParaRPr lang="en-US" sz="1125" dirty="0"/>
          </a:p>
        </p:txBody>
      </p:sp>
      <p:sp>
        <p:nvSpPr>
          <p:cNvPr id="10" name="Text 7"/>
          <p:cNvSpPr/>
          <p:nvPr/>
        </p:nvSpPr>
        <p:spPr>
          <a:xfrm>
            <a:off x="7429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Visual representation of algorithm using standardized symbols:</a:t>
            </a:r>
            <a:endParaRPr lang="en-US" sz="788" dirty="0"/>
          </a:p>
        </p:txBody>
      </p:sp>
      <p:sp>
        <p:nvSpPr>
          <p:cNvPr id="11" name="Shape 8"/>
          <p:cNvSpPr/>
          <p:nvPr/>
        </p:nvSpPr>
        <p:spPr>
          <a:xfrm>
            <a:off x="1971675" y="2028825"/>
            <a:ext cx="1085850" cy="2228850"/>
          </a:xfrm>
          <a:prstGeom prst="rect">
            <a:avLst/>
          </a:prstGeom>
          <a:solidFill>
            <a:srgbClr val="1E3A8A">
              <a:alpha val="20000"/>
            </a:srgbClr>
          </a:solidFill>
          <a:ln/>
        </p:spPr>
        <p:txBody>
          <a:bodyPr/>
          <a:lstStyle/>
          <a:p>
            <a:endParaRPr lang="en-US"/>
          </a:p>
        </p:txBody>
      </p:sp>
      <p:sp>
        <p:nvSpPr>
          <p:cNvPr id="12" name="Shape 9"/>
          <p:cNvSpPr/>
          <p:nvPr/>
        </p:nvSpPr>
        <p:spPr>
          <a:xfrm>
            <a:off x="2057400" y="2114550"/>
            <a:ext cx="914400" cy="228600"/>
          </a:xfrm>
          <a:prstGeom prst="rect">
            <a:avLst/>
          </a:prstGeom>
          <a:solidFill>
            <a:srgbClr val="1E40AF"/>
          </a:solidFill>
          <a:ln/>
        </p:spPr>
        <p:txBody>
          <a:bodyPr/>
          <a:lstStyle/>
          <a:p>
            <a:endParaRPr lang="en-US"/>
          </a:p>
        </p:txBody>
      </p:sp>
      <p:sp>
        <p:nvSpPr>
          <p:cNvPr id="13" name="Text 10"/>
          <p:cNvSpPr/>
          <p:nvPr/>
        </p:nvSpPr>
        <p:spPr>
          <a:xfrm>
            <a:off x="2114550" y="2171700"/>
            <a:ext cx="8715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Start</a:t>
            </a:r>
            <a:endParaRPr lang="en-US" sz="675" dirty="0"/>
          </a:p>
        </p:txBody>
      </p:sp>
      <p:pic>
        <p:nvPicPr>
          <p:cNvPr id="14" name="Image 1" descr="preencoded.png"/>
          <p:cNvPicPr>
            <a:picLocks noChangeAspect="1"/>
          </p:cNvPicPr>
          <p:nvPr/>
        </p:nvPicPr>
        <p:blipFill>
          <a:blip r:embed="rId4"/>
          <a:stretch>
            <a:fillRect/>
          </a:stretch>
        </p:blipFill>
        <p:spPr>
          <a:xfrm>
            <a:off x="2471738" y="2400300"/>
            <a:ext cx="85725" cy="114300"/>
          </a:xfrm>
          <a:prstGeom prst="rect">
            <a:avLst/>
          </a:prstGeom>
        </p:spPr>
      </p:pic>
      <p:sp>
        <p:nvSpPr>
          <p:cNvPr id="15" name="Shape 11"/>
          <p:cNvSpPr/>
          <p:nvPr/>
        </p:nvSpPr>
        <p:spPr>
          <a:xfrm>
            <a:off x="2057400" y="2571750"/>
            <a:ext cx="914400" cy="228600"/>
          </a:xfrm>
          <a:prstGeom prst="rect">
            <a:avLst/>
          </a:prstGeom>
          <a:solidFill>
            <a:srgbClr val="1E40AF"/>
          </a:solidFill>
          <a:ln/>
        </p:spPr>
        <p:txBody>
          <a:bodyPr/>
          <a:lstStyle/>
          <a:p>
            <a:endParaRPr lang="en-US"/>
          </a:p>
        </p:txBody>
      </p:sp>
      <p:sp>
        <p:nvSpPr>
          <p:cNvPr id="16" name="Text 12"/>
          <p:cNvSpPr/>
          <p:nvPr/>
        </p:nvSpPr>
        <p:spPr>
          <a:xfrm>
            <a:off x="2114550" y="2628900"/>
            <a:ext cx="8715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Input</a:t>
            </a:r>
            <a:endParaRPr lang="en-US" sz="675" dirty="0"/>
          </a:p>
        </p:txBody>
      </p:sp>
      <p:pic>
        <p:nvPicPr>
          <p:cNvPr id="17" name="Image 2" descr="preencoded.png"/>
          <p:cNvPicPr>
            <a:picLocks noChangeAspect="1"/>
          </p:cNvPicPr>
          <p:nvPr/>
        </p:nvPicPr>
        <p:blipFill>
          <a:blip r:embed="rId4"/>
          <a:stretch>
            <a:fillRect/>
          </a:stretch>
        </p:blipFill>
        <p:spPr>
          <a:xfrm>
            <a:off x="2471738" y="2857500"/>
            <a:ext cx="85725" cy="114300"/>
          </a:xfrm>
          <a:prstGeom prst="rect">
            <a:avLst/>
          </a:prstGeom>
        </p:spPr>
      </p:pic>
      <p:sp>
        <p:nvSpPr>
          <p:cNvPr id="18" name="Shape 13"/>
          <p:cNvSpPr/>
          <p:nvPr/>
        </p:nvSpPr>
        <p:spPr>
          <a:xfrm>
            <a:off x="2057400" y="3028950"/>
            <a:ext cx="914400" cy="228600"/>
          </a:xfrm>
          <a:prstGeom prst="rect">
            <a:avLst/>
          </a:prstGeom>
          <a:solidFill>
            <a:srgbClr val="1E40AF"/>
          </a:solidFill>
          <a:ln/>
        </p:spPr>
        <p:txBody>
          <a:bodyPr/>
          <a:lstStyle/>
          <a:p>
            <a:endParaRPr lang="en-US"/>
          </a:p>
        </p:txBody>
      </p:sp>
      <p:sp>
        <p:nvSpPr>
          <p:cNvPr id="19" name="Text 14"/>
          <p:cNvSpPr/>
          <p:nvPr/>
        </p:nvSpPr>
        <p:spPr>
          <a:xfrm>
            <a:off x="2114550" y="3086100"/>
            <a:ext cx="8715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Process</a:t>
            </a:r>
            <a:endParaRPr lang="en-US" sz="675" dirty="0"/>
          </a:p>
        </p:txBody>
      </p:sp>
      <p:pic>
        <p:nvPicPr>
          <p:cNvPr id="20" name="Image 3" descr="preencoded.png"/>
          <p:cNvPicPr>
            <a:picLocks noChangeAspect="1"/>
          </p:cNvPicPr>
          <p:nvPr/>
        </p:nvPicPr>
        <p:blipFill>
          <a:blip r:embed="rId4"/>
          <a:stretch>
            <a:fillRect/>
          </a:stretch>
        </p:blipFill>
        <p:spPr>
          <a:xfrm>
            <a:off x="2471738" y="3314700"/>
            <a:ext cx="85725" cy="114300"/>
          </a:xfrm>
          <a:prstGeom prst="rect">
            <a:avLst/>
          </a:prstGeom>
        </p:spPr>
      </p:pic>
      <p:sp>
        <p:nvSpPr>
          <p:cNvPr id="21" name="Shape 15"/>
          <p:cNvSpPr/>
          <p:nvPr/>
        </p:nvSpPr>
        <p:spPr>
          <a:xfrm>
            <a:off x="2057400" y="3486150"/>
            <a:ext cx="914400" cy="228600"/>
          </a:xfrm>
          <a:prstGeom prst="rect">
            <a:avLst/>
          </a:prstGeom>
          <a:solidFill>
            <a:srgbClr val="1E40AF"/>
          </a:solidFill>
          <a:ln/>
        </p:spPr>
        <p:txBody>
          <a:bodyPr/>
          <a:lstStyle/>
          <a:p>
            <a:endParaRPr lang="en-US"/>
          </a:p>
        </p:txBody>
      </p:sp>
      <p:sp>
        <p:nvSpPr>
          <p:cNvPr id="22" name="Text 16"/>
          <p:cNvSpPr/>
          <p:nvPr/>
        </p:nvSpPr>
        <p:spPr>
          <a:xfrm>
            <a:off x="2114550" y="3543300"/>
            <a:ext cx="8715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Decision</a:t>
            </a:r>
            <a:endParaRPr lang="en-US" sz="675" dirty="0"/>
          </a:p>
        </p:txBody>
      </p:sp>
      <p:pic>
        <p:nvPicPr>
          <p:cNvPr id="23" name="Image 4" descr="preencoded.png"/>
          <p:cNvPicPr>
            <a:picLocks noChangeAspect="1"/>
          </p:cNvPicPr>
          <p:nvPr/>
        </p:nvPicPr>
        <p:blipFill>
          <a:blip r:embed="rId4"/>
          <a:stretch>
            <a:fillRect/>
          </a:stretch>
        </p:blipFill>
        <p:spPr>
          <a:xfrm>
            <a:off x="2471738" y="3771900"/>
            <a:ext cx="85725" cy="114300"/>
          </a:xfrm>
          <a:prstGeom prst="rect">
            <a:avLst/>
          </a:prstGeom>
        </p:spPr>
      </p:pic>
      <p:sp>
        <p:nvSpPr>
          <p:cNvPr id="24" name="Shape 17"/>
          <p:cNvSpPr/>
          <p:nvPr/>
        </p:nvSpPr>
        <p:spPr>
          <a:xfrm>
            <a:off x="2057400" y="3943350"/>
            <a:ext cx="914400" cy="228600"/>
          </a:xfrm>
          <a:prstGeom prst="rect">
            <a:avLst/>
          </a:prstGeom>
          <a:solidFill>
            <a:srgbClr val="1E40AF"/>
          </a:solidFill>
          <a:ln/>
        </p:spPr>
        <p:txBody>
          <a:bodyPr/>
          <a:lstStyle/>
          <a:p>
            <a:endParaRPr lang="en-US"/>
          </a:p>
        </p:txBody>
      </p:sp>
      <p:sp>
        <p:nvSpPr>
          <p:cNvPr id="25" name="Text 18"/>
          <p:cNvSpPr/>
          <p:nvPr/>
        </p:nvSpPr>
        <p:spPr>
          <a:xfrm>
            <a:off x="2114550" y="4000500"/>
            <a:ext cx="8715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End</a:t>
            </a:r>
            <a:endParaRPr lang="en-US" sz="675" dirty="0"/>
          </a:p>
        </p:txBody>
      </p:sp>
      <p:sp>
        <p:nvSpPr>
          <p:cNvPr id="26" name="Text 19"/>
          <p:cNvSpPr/>
          <p:nvPr/>
        </p:nvSpPr>
        <p:spPr>
          <a:xfrm>
            <a:off x="742950" y="4314825"/>
            <a:ext cx="3614738" cy="114300"/>
          </a:xfrm>
          <a:prstGeom prst="rect">
            <a:avLst/>
          </a:prstGeom>
          <a:noFill/>
          <a:ln/>
        </p:spPr>
        <p:txBody>
          <a:bodyPr wrap="squar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Benefits: Visual clarity, standardized notation, easy to follow</a:t>
            </a:r>
            <a:endParaRPr lang="en-US" sz="675" dirty="0"/>
          </a:p>
        </p:txBody>
      </p:sp>
      <p:sp>
        <p:nvSpPr>
          <p:cNvPr id="27" name="Shape 20"/>
          <p:cNvSpPr/>
          <p:nvPr/>
        </p:nvSpPr>
        <p:spPr>
          <a:xfrm>
            <a:off x="628650" y="4629150"/>
            <a:ext cx="3657600" cy="1657350"/>
          </a:xfrm>
          <a:prstGeom prst="rect">
            <a:avLst/>
          </a:prstGeom>
          <a:solidFill>
            <a:srgbClr val="1E3A8A">
              <a:alpha val="30000"/>
            </a:srgbClr>
          </a:solidFill>
          <a:ln/>
        </p:spPr>
        <p:txBody>
          <a:bodyPr/>
          <a:lstStyle/>
          <a:p>
            <a:endParaRPr lang="en-US"/>
          </a:p>
        </p:txBody>
      </p:sp>
      <p:sp>
        <p:nvSpPr>
          <p:cNvPr id="28" name="Shape 21"/>
          <p:cNvSpPr/>
          <p:nvPr/>
        </p:nvSpPr>
        <p:spPr>
          <a:xfrm>
            <a:off x="628650" y="4629150"/>
            <a:ext cx="28575" cy="1657350"/>
          </a:xfrm>
          <a:prstGeom prst="rect">
            <a:avLst/>
          </a:prstGeom>
          <a:solidFill>
            <a:srgbClr val="63B3ED"/>
          </a:solidFill>
          <a:ln/>
        </p:spPr>
        <p:txBody>
          <a:bodyPr/>
          <a:lstStyle/>
          <a:p>
            <a:endParaRPr lang="en-US"/>
          </a:p>
        </p:txBody>
      </p:sp>
      <p:sp>
        <p:nvSpPr>
          <p:cNvPr id="29" name="Text 22"/>
          <p:cNvSpPr/>
          <p:nvPr/>
        </p:nvSpPr>
        <p:spPr>
          <a:xfrm>
            <a:off x="742950" y="47148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Mind Maps</a:t>
            </a:r>
            <a:endParaRPr lang="en-US" sz="1125" dirty="0"/>
          </a:p>
        </p:txBody>
      </p:sp>
      <p:sp>
        <p:nvSpPr>
          <p:cNvPr id="30" name="Text 23"/>
          <p:cNvSpPr/>
          <p:nvPr/>
        </p:nvSpPr>
        <p:spPr>
          <a:xfrm>
            <a:off x="742950" y="49434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Hierarchical diagram connecting related concepts:</a:t>
            </a:r>
            <a:endParaRPr lang="en-US" sz="788" dirty="0"/>
          </a:p>
        </p:txBody>
      </p:sp>
      <p:sp>
        <p:nvSpPr>
          <p:cNvPr id="31" name="Shape 24"/>
          <p:cNvSpPr/>
          <p:nvPr/>
        </p:nvSpPr>
        <p:spPr>
          <a:xfrm>
            <a:off x="2228850" y="5314950"/>
            <a:ext cx="571500" cy="571500"/>
          </a:xfrm>
          <a:prstGeom prst="ellipse">
            <a:avLst/>
          </a:prstGeom>
          <a:solidFill>
            <a:srgbClr val="1E40AF"/>
          </a:solidFill>
          <a:ln/>
        </p:spPr>
        <p:txBody>
          <a:bodyPr/>
          <a:lstStyle/>
          <a:p>
            <a:endParaRPr lang="en-US"/>
          </a:p>
        </p:txBody>
      </p:sp>
      <p:sp>
        <p:nvSpPr>
          <p:cNvPr id="32" name="Text 25"/>
          <p:cNvSpPr/>
          <p:nvPr/>
        </p:nvSpPr>
        <p:spPr>
          <a:xfrm>
            <a:off x="2286000" y="5486400"/>
            <a:ext cx="528638" cy="2286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Main Problem</a:t>
            </a:r>
            <a:endParaRPr lang="en-US" sz="675" dirty="0"/>
          </a:p>
        </p:txBody>
      </p:sp>
      <p:sp>
        <p:nvSpPr>
          <p:cNvPr id="33" name="Shape 26"/>
          <p:cNvSpPr/>
          <p:nvPr/>
        </p:nvSpPr>
        <p:spPr>
          <a:xfrm>
            <a:off x="1750219" y="5157788"/>
            <a:ext cx="457200" cy="457200"/>
          </a:xfrm>
          <a:prstGeom prst="ellipse">
            <a:avLst/>
          </a:prstGeom>
          <a:solidFill>
            <a:srgbClr val="1D4ED8"/>
          </a:solidFill>
          <a:ln/>
        </p:spPr>
        <p:txBody>
          <a:bodyPr/>
          <a:lstStyle/>
          <a:p>
            <a:endParaRPr lang="en-US"/>
          </a:p>
        </p:txBody>
      </p:sp>
      <p:sp>
        <p:nvSpPr>
          <p:cNvPr id="34" name="Text 27"/>
          <p:cNvSpPr/>
          <p:nvPr/>
        </p:nvSpPr>
        <p:spPr>
          <a:xfrm>
            <a:off x="1807369" y="5214938"/>
            <a:ext cx="414338" cy="3429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Sub-problem 1</a:t>
            </a:r>
            <a:endParaRPr lang="en-US" sz="675" dirty="0"/>
          </a:p>
        </p:txBody>
      </p:sp>
      <p:sp>
        <p:nvSpPr>
          <p:cNvPr id="35" name="Shape 28"/>
          <p:cNvSpPr/>
          <p:nvPr/>
        </p:nvSpPr>
        <p:spPr>
          <a:xfrm>
            <a:off x="1750219" y="5586413"/>
            <a:ext cx="457200" cy="457200"/>
          </a:xfrm>
          <a:prstGeom prst="ellipse">
            <a:avLst/>
          </a:prstGeom>
          <a:solidFill>
            <a:srgbClr val="1D4ED8"/>
          </a:solidFill>
          <a:ln/>
        </p:spPr>
        <p:txBody>
          <a:bodyPr/>
          <a:lstStyle/>
          <a:p>
            <a:endParaRPr lang="en-US"/>
          </a:p>
        </p:txBody>
      </p:sp>
      <p:sp>
        <p:nvSpPr>
          <p:cNvPr id="36" name="Text 29"/>
          <p:cNvSpPr/>
          <p:nvPr/>
        </p:nvSpPr>
        <p:spPr>
          <a:xfrm>
            <a:off x="1807369" y="5643563"/>
            <a:ext cx="414338" cy="3429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Sub-problem 2</a:t>
            </a:r>
            <a:endParaRPr lang="en-US" sz="675" dirty="0"/>
          </a:p>
        </p:txBody>
      </p:sp>
      <p:sp>
        <p:nvSpPr>
          <p:cNvPr id="37" name="Shape 30"/>
          <p:cNvSpPr/>
          <p:nvPr/>
        </p:nvSpPr>
        <p:spPr>
          <a:xfrm>
            <a:off x="2821781" y="5157788"/>
            <a:ext cx="457200" cy="457200"/>
          </a:xfrm>
          <a:prstGeom prst="ellipse">
            <a:avLst/>
          </a:prstGeom>
          <a:solidFill>
            <a:srgbClr val="1D4ED8"/>
          </a:solidFill>
          <a:ln/>
        </p:spPr>
        <p:txBody>
          <a:bodyPr/>
          <a:lstStyle/>
          <a:p>
            <a:endParaRPr lang="en-US"/>
          </a:p>
        </p:txBody>
      </p:sp>
      <p:sp>
        <p:nvSpPr>
          <p:cNvPr id="38" name="Text 31"/>
          <p:cNvSpPr/>
          <p:nvPr/>
        </p:nvSpPr>
        <p:spPr>
          <a:xfrm>
            <a:off x="2878931" y="5214938"/>
            <a:ext cx="414338" cy="3429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Sub-problem 3</a:t>
            </a:r>
            <a:endParaRPr lang="en-US" sz="675" dirty="0"/>
          </a:p>
        </p:txBody>
      </p:sp>
      <p:sp>
        <p:nvSpPr>
          <p:cNvPr id="39" name="Shape 32"/>
          <p:cNvSpPr/>
          <p:nvPr/>
        </p:nvSpPr>
        <p:spPr>
          <a:xfrm>
            <a:off x="2821781" y="5586413"/>
            <a:ext cx="457200" cy="457200"/>
          </a:xfrm>
          <a:prstGeom prst="ellipse">
            <a:avLst/>
          </a:prstGeom>
          <a:solidFill>
            <a:srgbClr val="1D4ED8"/>
          </a:solidFill>
          <a:ln/>
        </p:spPr>
        <p:txBody>
          <a:bodyPr/>
          <a:lstStyle/>
          <a:p>
            <a:endParaRPr lang="en-US"/>
          </a:p>
        </p:txBody>
      </p:sp>
      <p:sp>
        <p:nvSpPr>
          <p:cNvPr id="40" name="Text 33"/>
          <p:cNvSpPr/>
          <p:nvPr/>
        </p:nvSpPr>
        <p:spPr>
          <a:xfrm>
            <a:off x="2878931" y="5643563"/>
            <a:ext cx="414338" cy="3429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Sub-problem 4</a:t>
            </a:r>
            <a:endParaRPr lang="en-US" sz="675" dirty="0"/>
          </a:p>
        </p:txBody>
      </p:sp>
      <p:pic>
        <p:nvPicPr>
          <p:cNvPr id="41" name="Image 5" descr="preencoded.png"/>
          <p:cNvPicPr>
            <a:picLocks noChangeAspect="1"/>
          </p:cNvPicPr>
          <p:nvPr/>
        </p:nvPicPr>
        <p:blipFill>
          <a:blip r:embed="rId5"/>
          <a:stretch>
            <a:fillRect/>
          </a:stretch>
        </p:blipFill>
        <p:spPr>
          <a:xfrm>
            <a:off x="1443038" y="5172075"/>
            <a:ext cx="2143125" cy="857250"/>
          </a:xfrm>
          <a:prstGeom prst="rect">
            <a:avLst/>
          </a:prstGeom>
        </p:spPr>
      </p:pic>
      <p:sp>
        <p:nvSpPr>
          <p:cNvPr id="42" name="Text 34"/>
          <p:cNvSpPr/>
          <p:nvPr/>
        </p:nvSpPr>
        <p:spPr>
          <a:xfrm>
            <a:off x="742950" y="6086475"/>
            <a:ext cx="3614738" cy="114300"/>
          </a:xfrm>
          <a:prstGeom prst="rect">
            <a:avLst/>
          </a:prstGeom>
          <a:noFill/>
          <a:ln/>
        </p:spPr>
        <p:txBody>
          <a:bodyPr wrap="squar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Benefits: Visualizes relationships, aids brainstorming, organizes thoughts</a:t>
            </a:r>
            <a:endParaRPr lang="en-US" sz="675" dirty="0"/>
          </a:p>
        </p:txBody>
      </p:sp>
      <p:sp>
        <p:nvSpPr>
          <p:cNvPr id="43" name="Shape 35"/>
          <p:cNvSpPr/>
          <p:nvPr/>
        </p:nvSpPr>
        <p:spPr>
          <a:xfrm>
            <a:off x="457200" y="6629400"/>
            <a:ext cx="4000500" cy="48720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4" name="Text 36"/>
          <p:cNvSpPr/>
          <p:nvPr/>
        </p:nvSpPr>
        <p:spPr>
          <a:xfrm>
            <a:off x="628650" y="68008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Textual Techniques</a:t>
            </a:r>
            <a:endParaRPr lang="en-US" sz="1350" dirty="0"/>
          </a:p>
        </p:txBody>
      </p:sp>
      <p:sp>
        <p:nvSpPr>
          <p:cNvPr id="45" name="Shape 37"/>
          <p:cNvSpPr/>
          <p:nvPr/>
        </p:nvSpPr>
        <p:spPr>
          <a:xfrm>
            <a:off x="628650" y="7143750"/>
            <a:ext cx="3657600" cy="1885950"/>
          </a:xfrm>
          <a:prstGeom prst="rect">
            <a:avLst/>
          </a:prstGeom>
          <a:solidFill>
            <a:srgbClr val="1E3A8A">
              <a:alpha val="30000"/>
            </a:srgbClr>
          </a:solidFill>
          <a:ln/>
        </p:spPr>
        <p:txBody>
          <a:bodyPr/>
          <a:lstStyle/>
          <a:p>
            <a:endParaRPr lang="en-US"/>
          </a:p>
        </p:txBody>
      </p:sp>
      <p:sp>
        <p:nvSpPr>
          <p:cNvPr id="46" name="Shape 38"/>
          <p:cNvSpPr/>
          <p:nvPr/>
        </p:nvSpPr>
        <p:spPr>
          <a:xfrm>
            <a:off x="628650" y="7143750"/>
            <a:ext cx="28575" cy="1885950"/>
          </a:xfrm>
          <a:prstGeom prst="rect">
            <a:avLst/>
          </a:prstGeom>
          <a:solidFill>
            <a:srgbClr val="63B3ED"/>
          </a:solidFill>
          <a:ln/>
        </p:spPr>
        <p:txBody>
          <a:bodyPr/>
          <a:lstStyle/>
          <a:p>
            <a:endParaRPr lang="en-US"/>
          </a:p>
        </p:txBody>
      </p:sp>
      <p:sp>
        <p:nvSpPr>
          <p:cNvPr id="47" name="Text 39"/>
          <p:cNvSpPr/>
          <p:nvPr/>
        </p:nvSpPr>
        <p:spPr>
          <a:xfrm>
            <a:off x="742950" y="72294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Pseudocode</a:t>
            </a:r>
            <a:endParaRPr lang="en-US" sz="1125" dirty="0"/>
          </a:p>
        </p:txBody>
      </p:sp>
      <p:sp>
        <p:nvSpPr>
          <p:cNvPr id="48" name="Text 40"/>
          <p:cNvSpPr/>
          <p:nvPr/>
        </p:nvSpPr>
        <p:spPr>
          <a:xfrm>
            <a:off x="742950" y="74580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Human-readable description of algorithm using code-like syntax:</a:t>
            </a:r>
            <a:endParaRPr lang="en-US" sz="788" dirty="0"/>
          </a:p>
        </p:txBody>
      </p:sp>
      <p:sp>
        <p:nvSpPr>
          <p:cNvPr id="49" name="Shape 41"/>
          <p:cNvSpPr/>
          <p:nvPr/>
        </p:nvSpPr>
        <p:spPr>
          <a:xfrm>
            <a:off x="742950" y="7686675"/>
            <a:ext cx="3543300" cy="1085850"/>
          </a:xfrm>
          <a:prstGeom prst="rect">
            <a:avLst/>
          </a:prstGeom>
          <a:solidFill>
            <a:srgbClr val="1A202C"/>
          </a:solidFill>
          <a:ln/>
        </p:spPr>
        <p:txBody>
          <a:bodyPr/>
          <a:lstStyle/>
          <a:p>
            <a:endParaRPr lang="en-US"/>
          </a:p>
        </p:txBody>
      </p:sp>
      <p:sp>
        <p:nvSpPr>
          <p:cNvPr id="50" name="Text 42"/>
          <p:cNvSpPr/>
          <p:nvPr/>
        </p:nvSpPr>
        <p:spPr>
          <a:xfrm>
            <a:off x="857250" y="780454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51" name="Text 43"/>
          <p:cNvSpPr/>
          <p:nvPr/>
        </p:nvSpPr>
        <p:spPr>
          <a:xfrm>
            <a:off x="1337332" y="780454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findMax(array):</a:t>
            </a:r>
            <a:endParaRPr lang="en-US" sz="788" dirty="0"/>
          </a:p>
        </p:txBody>
      </p:sp>
      <p:sp>
        <p:nvSpPr>
          <p:cNvPr id="52" name="Text 44"/>
          <p:cNvSpPr/>
          <p:nvPr/>
        </p:nvSpPr>
        <p:spPr>
          <a:xfrm>
            <a:off x="857250" y="794742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 = array[0]</a:t>
            </a:r>
            <a:endParaRPr lang="en-US" sz="788" dirty="0"/>
          </a:p>
        </p:txBody>
      </p:sp>
      <p:sp>
        <p:nvSpPr>
          <p:cNvPr id="53" name="Text 45"/>
          <p:cNvSpPr/>
          <p:nvPr/>
        </p:nvSpPr>
        <p:spPr>
          <a:xfrm>
            <a:off x="977271" y="80902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54" name="Text 46"/>
          <p:cNvSpPr/>
          <p:nvPr/>
        </p:nvSpPr>
        <p:spPr>
          <a:xfrm>
            <a:off x="1157315" y="8090297"/>
            <a:ext cx="169164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1 to array.length - 1:</a:t>
            </a:r>
            <a:endParaRPr lang="en-US" sz="788" dirty="0"/>
          </a:p>
        </p:txBody>
      </p:sp>
      <p:sp>
        <p:nvSpPr>
          <p:cNvPr id="55" name="Text 47"/>
          <p:cNvSpPr/>
          <p:nvPr/>
        </p:nvSpPr>
        <p:spPr>
          <a:xfrm>
            <a:off x="1097291" y="823317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56" name="Text 48"/>
          <p:cNvSpPr/>
          <p:nvPr/>
        </p:nvSpPr>
        <p:spPr>
          <a:xfrm>
            <a:off x="1217312" y="823317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array[i] &gt; max:</a:t>
            </a:r>
            <a:endParaRPr lang="en-US" sz="788" dirty="0"/>
          </a:p>
        </p:txBody>
      </p:sp>
      <p:sp>
        <p:nvSpPr>
          <p:cNvPr id="57" name="Text 49"/>
          <p:cNvSpPr/>
          <p:nvPr/>
        </p:nvSpPr>
        <p:spPr>
          <a:xfrm>
            <a:off x="857250" y="8376047"/>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 = array[i]</a:t>
            </a:r>
            <a:endParaRPr lang="en-US" sz="788" dirty="0"/>
          </a:p>
        </p:txBody>
      </p:sp>
      <p:sp>
        <p:nvSpPr>
          <p:cNvPr id="58" name="Text 50"/>
          <p:cNvSpPr/>
          <p:nvPr/>
        </p:nvSpPr>
        <p:spPr>
          <a:xfrm>
            <a:off x="977271" y="85189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59" name="Text 51"/>
          <p:cNvSpPr/>
          <p:nvPr/>
        </p:nvSpPr>
        <p:spPr>
          <a:xfrm>
            <a:off x="1337332" y="8518922"/>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a:t>
            </a:r>
            <a:endParaRPr lang="en-US" sz="788" dirty="0"/>
          </a:p>
        </p:txBody>
      </p:sp>
      <p:sp>
        <p:nvSpPr>
          <p:cNvPr id="60" name="Text 52"/>
          <p:cNvSpPr/>
          <p:nvPr/>
        </p:nvSpPr>
        <p:spPr>
          <a:xfrm>
            <a:off x="742950" y="8829675"/>
            <a:ext cx="36147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Benefits: Language-independent, focuses on logic, easy transition to code</a:t>
            </a:r>
            <a:endParaRPr lang="en-US" sz="675" dirty="0"/>
          </a:p>
        </p:txBody>
      </p:sp>
      <p:sp>
        <p:nvSpPr>
          <p:cNvPr id="61" name="Shape 53"/>
          <p:cNvSpPr/>
          <p:nvPr/>
        </p:nvSpPr>
        <p:spPr>
          <a:xfrm>
            <a:off x="628650" y="9144000"/>
            <a:ext cx="3657600" cy="2171700"/>
          </a:xfrm>
          <a:prstGeom prst="rect">
            <a:avLst/>
          </a:prstGeom>
          <a:solidFill>
            <a:srgbClr val="1E3A8A">
              <a:alpha val="30000"/>
            </a:srgbClr>
          </a:solidFill>
          <a:ln/>
        </p:spPr>
        <p:txBody>
          <a:bodyPr/>
          <a:lstStyle/>
          <a:p>
            <a:endParaRPr lang="en-US"/>
          </a:p>
        </p:txBody>
      </p:sp>
      <p:sp>
        <p:nvSpPr>
          <p:cNvPr id="62" name="Shape 54"/>
          <p:cNvSpPr/>
          <p:nvPr/>
        </p:nvSpPr>
        <p:spPr>
          <a:xfrm>
            <a:off x="628650" y="9144000"/>
            <a:ext cx="28575" cy="2171700"/>
          </a:xfrm>
          <a:prstGeom prst="rect">
            <a:avLst/>
          </a:prstGeom>
          <a:solidFill>
            <a:srgbClr val="63B3ED"/>
          </a:solidFill>
          <a:ln/>
        </p:spPr>
        <p:txBody>
          <a:bodyPr/>
          <a:lstStyle/>
          <a:p>
            <a:endParaRPr lang="en-US"/>
          </a:p>
        </p:txBody>
      </p:sp>
      <p:sp>
        <p:nvSpPr>
          <p:cNvPr id="63" name="Text 55"/>
          <p:cNvSpPr/>
          <p:nvPr/>
        </p:nvSpPr>
        <p:spPr>
          <a:xfrm>
            <a:off x="742950" y="92297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Comments &amp; Documentation</a:t>
            </a:r>
            <a:endParaRPr lang="en-US" sz="1125" dirty="0"/>
          </a:p>
        </p:txBody>
      </p:sp>
      <p:sp>
        <p:nvSpPr>
          <p:cNvPr id="64" name="Text 56"/>
          <p:cNvSpPr/>
          <p:nvPr/>
        </p:nvSpPr>
        <p:spPr>
          <a:xfrm>
            <a:off x="742950" y="94583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Detailed written explanations of logic and approach:</a:t>
            </a:r>
            <a:endParaRPr lang="en-US" sz="788" dirty="0"/>
          </a:p>
        </p:txBody>
      </p:sp>
      <p:sp>
        <p:nvSpPr>
          <p:cNvPr id="65" name="Shape 57"/>
          <p:cNvSpPr/>
          <p:nvPr/>
        </p:nvSpPr>
        <p:spPr>
          <a:xfrm>
            <a:off x="742950" y="9686925"/>
            <a:ext cx="3543300" cy="1371600"/>
          </a:xfrm>
          <a:prstGeom prst="rect">
            <a:avLst/>
          </a:prstGeom>
          <a:solidFill>
            <a:srgbClr val="1A202C"/>
          </a:solidFill>
          <a:ln/>
        </p:spPr>
        <p:txBody>
          <a:bodyPr/>
          <a:lstStyle/>
          <a:p>
            <a:endParaRPr lang="en-US"/>
          </a:p>
        </p:txBody>
      </p:sp>
      <p:sp>
        <p:nvSpPr>
          <p:cNvPr id="66" name="Text 58"/>
          <p:cNvSpPr/>
          <p:nvPr/>
        </p:nvSpPr>
        <p:spPr>
          <a:xfrm>
            <a:off x="857250" y="9804797"/>
            <a:ext cx="259175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Function to find maximum value in array</a:t>
            </a:r>
            <a:endParaRPr lang="en-US" sz="788" dirty="0"/>
          </a:p>
        </p:txBody>
      </p:sp>
      <p:sp>
        <p:nvSpPr>
          <p:cNvPr id="67" name="Text 59"/>
          <p:cNvSpPr/>
          <p:nvPr/>
        </p:nvSpPr>
        <p:spPr>
          <a:xfrm>
            <a:off x="857250" y="9947672"/>
            <a:ext cx="163164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Input: Array of numbers</a:t>
            </a:r>
            <a:endParaRPr lang="en-US" sz="788" dirty="0"/>
          </a:p>
        </p:txBody>
      </p:sp>
      <p:sp>
        <p:nvSpPr>
          <p:cNvPr id="68" name="Text 60"/>
          <p:cNvSpPr/>
          <p:nvPr/>
        </p:nvSpPr>
        <p:spPr>
          <a:xfrm>
            <a:off x="857250" y="10090547"/>
            <a:ext cx="2291721"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Output: Maximum value in the array</a:t>
            </a:r>
            <a:endParaRPr lang="en-US" sz="788" dirty="0"/>
          </a:p>
        </p:txBody>
      </p:sp>
      <p:sp>
        <p:nvSpPr>
          <p:cNvPr id="69" name="Text 61"/>
          <p:cNvSpPr/>
          <p:nvPr/>
        </p:nvSpPr>
        <p:spPr>
          <a:xfrm>
            <a:off x="857250" y="10233422"/>
            <a:ext cx="2951820"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Time Complexity: O(n) where n is array length</a:t>
            </a:r>
            <a:endParaRPr lang="en-US" sz="788" dirty="0"/>
          </a:p>
        </p:txBody>
      </p:sp>
      <p:sp>
        <p:nvSpPr>
          <p:cNvPr id="70" name="Text 62"/>
          <p:cNvSpPr/>
          <p:nvPr/>
        </p:nvSpPr>
        <p:spPr>
          <a:xfrm>
            <a:off x="857250" y="1037629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71" name="Text 63"/>
          <p:cNvSpPr/>
          <p:nvPr/>
        </p:nvSpPr>
        <p:spPr>
          <a:xfrm>
            <a:off x="1337332" y="10376297"/>
            <a:ext cx="109157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findMax(array) {</a:t>
            </a:r>
            <a:endParaRPr lang="en-US" sz="788" dirty="0"/>
          </a:p>
        </p:txBody>
      </p:sp>
      <p:sp>
        <p:nvSpPr>
          <p:cNvPr id="72" name="Text 64"/>
          <p:cNvSpPr/>
          <p:nvPr/>
        </p:nvSpPr>
        <p:spPr>
          <a:xfrm>
            <a:off x="977271" y="10519172"/>
            <a:ext cx="2231724"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Initialize max with first element</a:t>
            </a:r>
            <a:endParaRPr lang="en-US" sz="788" dirty="0"/>
          </a:p>
        </p:txBody>
      </p:sp>
      <p:sp>
        <p:nvSpPr>
          <p:cNvPr id="73" name="Text 65"/>
          <p:cNvSpPr/>
          <p:nvPr/>
        </p:nvSpPr>
        <p:spPr>
          <a:xfrm>
            <a:off x="857250" y="1066204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74" name="Text 66"/>
          <p:cNvSpPr/>
          <p:nvPr/>
        </p:nvSpPr>
        <p:spPr>
          <a:xfrm>
            <a:off x="857250" y="10804922"/>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75" name="Text 67"/>
          <p:cNvSpPr/>
          <p:nvPr/>
        </p:nvSpPr>
        <p:spPr>
          <a:xfrm>
            <a:off x="742950" y="11115675"/>
            <a:ext cx="36147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Benefits: Clarifies thinking, documents approach, helps with debugging</a:t>
            </a:r>
            <a:endParaRPr lang="en-US" sz="675" dirty="0"/>
          </a:p>
        </p:txBody>
      </p:sp>
      <p:sp>
        <p:nvSpPr>
          <p:cNvPr id="76" name="Shape 68"/>
          <p:cNvSpPr/>
          <p:nvPr/>
        </p:nvSpPr>
        <p:spPr>
          <a:xfrm>
            <a:off x="4686300" y="971550"/>
            <a:ext cx="4000500" cy="48720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77" name="Text 69"/>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Methodological Techniques</a:t>
            </a:r>
            <a:endParaRPr lang="en-US" sz="1350" dirty="0"/>
          </a:p>
        </p:txBody>
      </p:sp>
      <p:sp>
        <p:nvSpPr>
          <p:cNvPr id="78" name="Shape 70"/>
          <p:cNvSpPr/>
          <p:nvPr/>
        </p:nvSpPr>
        <p:spPr>
          <a:xfrm>
            <a:off x="4857750" y="1485900"/>
            <a:ext cx="3657600" cy="2228850"/>
          </a:xfrm>
          <a:prstGeom prst="rect">
            <a:avLst/>
          </a:prstGeom>
          <a:solidFill>
            <a:srgbClr val="1E3A8A">
              <a:alpha val="30000"/>
            </a:srgbClr>
          </a:solidFill>
          <a:ln/>
        </p:spPr>
        <p:txBody>
          <a:bodyPr/>
          <a:lstStyle/>
          <a:p>
            <a:endParaRPr lang="en-US"/>
          </a:p>
        </p:txBody>
      </p:sp>
      <p:sp>
        <p:nvSpPr>
          <p:cNvPr id="79" name="Shape 71"/>
          <p:cNvSpPr/>
          <p:nvPr/>
        </p:nvSpPr>
        <p:spPr>
          <a:xfrm>
            <a:off x="4857750" y="1485900"/>
            <a:ext cx="28575" cy="2228850"/>
          </a:xfrm>
          <a:prstGeom prst="rect">
            <a:avLst/>
          </a:prstGeom>
          <a:solidFill>
            <a:srgbClr val="63B3ED"/>
          </a:solidFill>
          <a:ln/>
        </p:spPr>
        <p:txBody>
          <a:bodyPr/>
          <a:lstStyle/>
          <a:p>
            <a:endParaRPr lang="en-US"/>
          </a:p>
        </p:txBody>
      </p:sp>
      <p:sp>
        <p:nvSpPr>
          <p:cNvPr id="80" name="Text 72"/>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Stepwise Refinement</a:t>
            </a:r>
            <a:endParaRPr lang="en-US" sz="1125" dirty="0"/>
          </a:p>
        </p:txBody>
      </p:sp>
      <p:sp>
        <p:nvSpPr>
          <p:cNvPr id="81" name="Text 73"/>
          <p:cNvSpPr/>
          <p:nvPr/>
        </p:nvSpPr>
        <p:spPr>
          <a:xfrm>
            <a:off x="49720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Breaking down a problem into increasingly detailed steps:</a:t>
            </a:r>
            <a:endParaRPr lang="en-US" sz="788" dirty="0"/>
          </a:p>
        </p:txBody>
      </p:sp>
      <p:sp>
        <p:nvSpPr>
          <p:cNvPr id="82" name="Shape 74"/>
          <p:cNvSpPr/>
          <p:nvPr/>
        </p:nvSpPr>
        <p:spPr>
          <a:xfrm>
            <a:off x="4972050" y="2028825"/>
            <a:ext cx="3543300" cy="1428750"/>
          </a:xfrm>
          <a:prstGeom prst="rect">
            <a:avLst/>
          </a:prstGeom>
          <a:solidFill>
            <a:srgbClr val="1E3A8A">
              <a:alpha val="20000"/>
            </a:srgbClr>
          </a:solidFill>
          <a:ln/>
        </p:spPr>
        <p:txBody>
          <a:bodyPr/>
          <a:lstStyle/>
          <a:p>
            <a:endParaRPr lang="en-US"/>
          </a:p>
        </p:txBody>
      </p:sp>
      <p:sp>
        <p:nvSpPr>
          <p:cNvPr id="83" name="Text 75"/>
          <p:cNvSpPr/>
          <p:nvPr/>
        </p:nvSpPr>
        <p:spPr>
          <a:xfrm>
            <a:off x="5057775" y="2114550"/>
            <a:ext cx="3443288" cy="114300"/>
          </a:xfrm>
          <a:prstGeom prst="rect">
            <a:avLst/>
          </a:prstGeom>
          <a:noFill/>
          <a:ln/>
        </p:spPr>
        <p:txBody>
          <a:bodyPr wrap="square" lIns="0" tIns="0" rIns="0" bIns="0" rtlCol="0" anchor="ctr">
            <a:spAutoFit/>
          </a:bodyPr>
          <a:lstStyle/>
          <a:p>
            <a:pPr marL="0" indent="0">
              <a:buNone/>
            </a:pPr>
            <a:r>
              <a:rPr lang="en-US" sz="675" b="1" dirty="0">
                <a:solidFill>
                  <a:srgbClr val="E2E8F0"/>
                </a:solidFill>
                <a:latin typeface="Segoe UI" pitchFamily="34" charset="0"/>
                <a:ea typeface="Segoe UI" pitchFamily="34" charset="-122"/>
                <a:cs typeface="Segoe UI" pitchFamily="34" charset="-120"/>
              </a:rPr>
              <a:t>Level 1: High-level goal</a:t>
            </a:r>
            <a:endParaRPr lang="en-US" sz="675" dirty="0"/>
          </a:p>
        </p:txBody>
      </p:sp>
      <p:sp>
        <p:nvSpPr>
          <p:cNvPr id="84" name="Text 76"/>
          <p:cNvSpPr/>
          <p:nvPr/>
        </p:nvSpPr>
        <p:spPr>
          <a:xfrm>
            <a:off x="5057775" y="222885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Sort the array</a:t>
            </a:r>
            <a:endParaRPr lang="en-US" sz="675" dirty="0"/>
          </a:p>
        </p:txBody>
      </p:sp>
      <p:sp>
        <p:nvSpPr>
          <p:cNvPr id="85" name="Text 77"/>
          <p:cNvSpPr/>
          <p:nvPr/>
        </p:nvSpPr>
        <p:spPr>
          <a:xfrm>
            <a:off x="5057775" y="2400300"/>
            <a:ext cx="3443288" cy="114300"/>
          </a:xfrm>
          <a:prstGeom prst="rect">
            <a:avLst/>
          </a:prstGeom>
          <a:noFill/>
          <a:ln/>
        </p:spPr>
        <p:txBody>
          <a:bodyPr wrap="square" lIns="0" tIns="0" rIns="0" bIns="0" rtlCol="0" anchor="ctr">
            <a:spAutoFit/>
          </a:bodyPr>
          <a:lstStyle/>
          <a:p>
            <a:pPr marL="0" indent="0">
              <a:buNone/>
            </a:pPr>
            <a:r>
              <a:rPr lang="en-US" sz="675" b="1" dirty="0">
                <a:solidFill>
                  <a:srgbClr val="E2E8F0"/>
                </a:solidFill>
                <a:latin typeface="Segoe UI" pitchFamily="34" charset="0"/>
                <a:ea typeface="Segoe UI" pitchFamily="34" charset="-122"/>
                <a:cs typeface="Segoe UI" pitchFamily="34" charset="-120"/>
              </a:rPr>
              <a:t>Level 2: Main steps</a:t>
            </a:r>
            <a:endParaRPr lang="en-US" sz="675" dirty="0"/>
          </a:p>
        </p:txBody>
      </p:sp>
      <p:sp>
        <p:nvSpPr>
          <p:cNvPr id="86" name="Text 78"/>
          <p:cNvSpPr/>
          <p:nvPr/>
        </p:nvSpPr>
        <p:spPr>
          <a:xfrm>
            <a:off x="5057775" y="251460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1. Divide array in half</a:t>
            </a:r>
            <a:endParaRPr lang="en-US" sz="675" dirty="0"/>
          </a:p>
        </p:txBody>
      </p:sp>
      <p:sp>
        <p:nvSpPr>
          <p:cNvPr id="87" name="Text 79"/>
          <p:cNvSpPr/>
          <p:nvPr/>
        </p:nvSpPr>
        <p:spPr>
          <a:xfrm>
            <a:off x="5057775" y="262890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2. Sort each half</a:t>
            </a:r>
            <a:endParaRPr lang="en-US" sz="675" dirty="0"/>
          </a:p>
        </p:txBody>
      </p:sp>
      <p:sp>
        <p:nvSpPr>
          <p:cNvPr id="88" name="Text 80"/>
          <p:cNvSpPr/>
          <p:nvPr/>
        </p:nvSpPr>
        <p:spPr>
          <a:xfrm>
            <a:off x="5057775" y="274320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3. Merge sorted halves</a:t>
            </a:r>
            <a:endParaRPr lang="en-US" sz="675" dirty="0"/>
          </a:p>
        </p:txBody>
      </p:sp>
      <p:sp>
        <p:nvSpPr>
          <p:cNvPr id="89" name="Text 81"/>
          <p:cNvSpPr/>
          <p:nvPr/>
        </p:nvSpPr>
        <p:spPr>
          <a:xfrm>
            <a:off x="5057775" y="2914650"/>
            <a:ext cx="3443288" cy="114300"/>
          </a:xfrm>
          <a:prstGeom prst="rect">
            <a:avLst/>
          </a:prstGeom>
          <a:noFill/>
          <a:ln/>
        </p:spPr>
        <p:txBody>
          <a:bodyPr wrap="square" lIns="0" tIns="0" rIns="0" bIns="0" rtlCol="0" anchor="ctr">
            <a:spAutoFit/>
          </a:bodyPr>
          <a:lstStyle/>
          <a:p>
            <a:pPr marL="0" indent="0">
              <a:buNone/>
            </a:pPr>
            <a:r>
              <a:rPr lang="en-US" sz="675" b="1" dirty="0">
                <a:solidFill>
                  <a:srgbClr val="E2E8F0"/>
                </a:solidFill>
                <a:latin typeface="Segoe UI" pitchFamily="34" charset="0"/>
                <a:ea typeface="Segoe UI" pitchFamily="34" charset="-122"/>
                <a:cs typeface="Segoe UI" pitchFamily="34" charset="-120"/>
              </a:rPr>
              <a:t>Level 3: Detailed implementation</a:t>
            </a:r>
            <a:endParaRPr lang="en-US" sz="675" dirty="0"/>
          </a:p>
        </p:txBody>
      </p:sp>
      <p:sp>
        <p:nvSpPr>
          <p:cNvPr id="90" name="Text 82"/>
          <p:cNvSpPr/>
          <p:nvPr/>
        </p:nvSpPr>
        <p:spPr>
          <a:xfrm>
            <a:off x="5057775" y="302895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1.1 Find middle index</a:t>
            </a:r>
            <a:endParaRPr lang="en-US" sz="675" dirty="0"/>
          </a:p>
        </p:txBody>
      </p:sp>
      <p:sp>
        <p:nvSpPr>
          <p:cNvPr id="91" name="Text 83"/>
          <p:cNvSpPr/>
          <p:nvPr/>
        </p:nvSpPr>
        <p:spPr>
          <a:xfrm>
            <a:off x="5057775" y="314325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1.2 Create subarrays</a:t>
            </a:r>
            <a:endParaRPr lang="en-US" sz="675" dirty="0"/>
          </a:p>
        </p:txBody>
      </p:sp>
      <p:sp>
        <p:nvSpPr>
          <p:cNvPr id="92" name="Text 84"/>
          <p:cNvSpPr/>
          <p:nvPr/>
        </p:nvSpPr>
        <p:spPr>
          <a:xfrm>
            <a:off x="5057775" y="3257550"/>
            <a:ext cx="34432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a:t>
            </a:r>
            <a:endParaRPr lang="en-US" sz="675" dirty="0"/>
          </a:p>
        </p:txBody>
      </p:sp>
      <p:sp>
        <p:nvSpPr>
          <p:cNvPr id="93" name="Text 85"/>
          <p:cNvSpPr/>
          <p:nvPr/>
        </p:nvSpPr>
        <p:spPr>
          <a:xfrm>
            <a:off x="4972050" y="3514725"/>
            <a:ext cx="36147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Benefits: Manages complexity, provides clear structure, systematic approach</a:t>
            </a:r>
            <a:endParaRPr lang="en-US" sz="675" dirty="0"/>
          </a:p>
        </p:txBody>
      </p:sp>
      <p:sp>
        <p:nvSpPr>
          <p:cNvPr id="94" name="Shape 86"/>
          <p:cNvSpPr/>
          <p:nvPr/>
        </p:nvSpPr>
        <p:spPr>
          <a:xfrm>
            <a:off x="4857750" y="3829050"/>
            <a:ext cx="3657600" cy="1828800"/>
          </a:xfrm>
          <a:prstGeom prst="rect">
            <a:avLst/>
          </a:prstGeom>
          <a:solidFill>
            <a:srgbClr val="1E3A8A">
              <a:alpha val="30000"/>
            </a:srgbClr>
          </a:solidFill>
          <a:ln/>
        </p:spPr>
        <p:txBody>
          <a:bodyPr/>
          <a:lstStyle/>
          <a:p>
            <a:endParaRPr lang="en-US"/>
          </a:p>
        </p:txBody>
      </p:sp>
      <p:sp>
        <p:nvSpPr>
          <p:cNvPr id="95" name="Shape 87"/>
          <p:cNvSpPr/>
          <p:nvPr/>
        </p:nvSpPr>
        <p:spPr>
          <a:xfrm>
            <a:off x="4857750" y="3829050"/>
            <a:ext cx="28575" cy="1828800"/>
          </a:xfrm>
          <a:prstGeom prst="rect">
            <a:avLst/>
          </a:prstGeom>
          <a:solidFill>
            <a:srgbClr val="63B3ED"/>
          </a:solidFill>
          <a:ln/>
        </p:spPr>
        <p:txBody>
          <a:bodyPr/>
          <a:lstStyle/>
          <a:p>
            <a:endParaRPr lang="en-US"/>
          </a:p>
        </p:txBody>
      </p:sp>
      <p:sp>
        <p:nvSpPr>
          <p:cNvPr id="96" name="Text 88"/>
          <p:cNvSpPr/>
          <p:nvPr/>
        </p:nvSpPr>
        <p:spPr>
          <a:xfrm>
            <a:off x="4972050" y="39147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Test-Driven Development</a:t>
            </a:r>
            <a:endParaRPr lang="en-US" sz="1125" dirty="0"/>
          </a:p>
        </p:txBody>
      </p:sp>
      <p:sp>
        <p:nvSpPr>
          <p:cNvPr id="97" name="Text 89"/>
          <p:cNvSpPr/>
          <p:nvPr/>
        </p:nvSpPr>
        <p:spPr>
          <a:xfrm>
            <a:off x="4972050" y="41433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Writing tests before implementing solution:</a:t>
            </a:r>
            <a:endParaRPr lang="en-US" sz="788" dirty="0"/>
          </a:p>
        </p:txBody>
      </p:sp>
      <p:sp>
        <p:nvSpPr>
          <p:cNvPr id="98" name="Shape 90"/>
          <p:cNvSpPr/>
          <p:nvPr/>
        </p:nvSpPr>
        <p:spPr>
          <a:xfrm>
            <a:off x="4972050" y="4371975"/>
            <a:ext cx="3543300" cy="1028700"/>
          </a:xfrm>
          <a:prstGeom prst="rect">
            <a:avLst/>
          </a:prstGeom>
          <a:solidFill>
            <a:srgbClr val="1E3A8A">
              <a:alpha val="20000"/>
            </a:srgbClr>
          </a:solidFill>
          <a:ln/>
        </p:spPr>
        <p:txBody>
          <a:bodyPr/>
          <a:lstStyle/>
          <a:p>
            <a:endParaRPr lang="en-US"/>
          </a:p>
        </p:txBody>
      </p:sp>
      <p:sp>
        <p:nvSpPr>
          <p:cNvPr id="99" name="Shape 91"/>
          <p:cNvSpPr/>
          <p:nvPr/>
        </p:nvSpPr>
        <p:spPr>
          <a:xfrm>
            <a:off x="5057775" y="4457700"/>
            <a:ext cx="171450" cy="171450"/>
          </a:xfrm>
          <a:prstGeom prst="ellipse">
            <a:avLst/>
          </a:prstGeom>
          <a:solidFill>
            <a:srgbClr val="1E40AF"/>
          </a:solidFill>
          <a:ln/>
        </p:spPr>
        <p:txBody>
          <a:bodyPr/>
          <a:lstStyle/>
          <a:p>
            <a:endParaRPr lang="en-US"/>
          </a:p>
        </p:txBody>
      </p:sp>
      <p:sp>
        <p:nvSpPr>
          <p:cNvPr id="100" name="Text 92"/>
          <p:cNvSpPr/>
          <p:nvPr/>
        </p:nvSpPr>
        <p:spPr>
          <a:xfrm>
            <a:off x="5057775" y="4457700"/>
            <a:ext cx="242888" cy="1714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01" name="Text 93"/>
          <p:cNvSpPr/>
          <p:nvPr/>
        </p:nvSpPr>
        <p:spPr>
          <a:xfrm>
            <a:off x="5286375" y="4486275"/>
            <a:ext cx="1341909"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Write test for specific functionality</a:t>
            </a:r>
            <a:endParaRPr lang="en-US" sz="675" dirty="0"/>
          </a:p>
        </p:txBody>
      </p:sp>
      <p:sp>
        <p:nvSpPr>
          <p:cNvPr id="102" name="Shape 94"/>
          <p:cNvSpPr/>
          <p:nvPr/>
        </p:nvSpPr>
        <p:spPr>
          <a:xfrm>
            <a:off x="5057775" y="4686300"/>
            <a:ext cx="171450" cy="171450"/>
          </a:xfrm>
          <a:prstGeom prst="ellipse">
            <a:avLst/>
          </a:prstGeom>
          <a:solidFill>
            <a:srgbClr val="1E40AF"/>
          </a:solidFill>
          <a:ln/>
        </p:spPr>
        <p:txBody>
          <a:bodyPr/>
          <a:lstStyle/>
          <a:p>
            <a:endParaRPr lang="en-US"/>
          </a:p>
        </p:txBody>
      </p:sp>
      <p:sp>
        <p:nvSpPr>
          <p:cNvPr id="103" name="Text 95"/>
          <p:cNvSpPr/>
          <p:nvPr/>
        </p:nvSpPr>
        <p:spPr>
          <a:xfrm>
            <a:off x="5057775" y="4686300"/>
            <a:ext cx="242888" cy="1714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04" name="Text 96"/>
          <p:cNvSpPr/>
          <p:nvPr/>
        </p:nvSpPr>
        <p:spPr>
          <a:xfrm>
            <a:off x="5286375" y="4714875"/>
            <a:ext cx="790724" cy="114300"/>
          </a:xfrm>
          <a:prstGeom prst="rect">
            <a:avLst/>
          </a:prstGeom>
          <a:noFill/>
          <a:ln/>
        </p:spPr>
        <p:txBody>
          <a:bodyPr wrap="non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Run test (it will fail)</a:t>
            </a:r>
            <a:endParaRPr lang="en-US" sz="675" dirty="0"/>
          </a:p>
        </p:txBody>
      </p:sp>
      <p:sp>
        <p:nvSpPr>
          <p:cNvPr id="105" name="Shape 97"/>
          <p:cNvSpPr/>
          <p:nvPr/>
        </p:nvSpPr>
        <p:spPr>
          <a:xfrm>
            <a:off x="5057775" y="4914900"/>
            <a:ext cx="171450" cy="171450"/>
          </a:xfrm>
          <a:prstGeom prst="ellipse">
            <a:avLst/>
          </a:prstGeom>
          <a:solidFill>
            <a:srgbClr val="1E40AF"/>
          </a:solidFill>
          <a:ln/>
        </p:spPr>
        <p:txBody>
          <a:bodyPr/>
          <a:lstStyle/>
          <a:p>
            <a:endParaRPr lang="en-US"/>
          </a:p>
        </p:txBody>
      </p:sp>
      <p:sp>
        <p:nvSpPr>
          <p:cNvPr id="106" name="Text 98"/>
          <p:cNvSpPr/>
          <p:nvPr/>
        </p:nvSpPr>
        <p:spPr>
          <a:xfrm>
            <a:off x="5057775" y="4914900"/>
            <a:ext cx="242888" cy="1714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07" name="Text 99"/>
          <p:cNvSpPr/>
          <p:nvPr/>
        </p:nvSpPr>
        <p:spPr>
          <a:xfrm>
            <a:off x="5286375" y="4943475"/>
            <a:ext cx="1260928" cy="114300"/>
          </a:xfrm>
          <a:prstGeom prst="rect">
            <a:avLst/>
          </a:prstGeom>
          <a:noFill/>
          <a:ln/>
        </p:spPr>
        <p:txBody>
          <a:bodyPr wrap="non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Write minimal code to pass test</a:t>
            </a:r>
            <a:endParaRPr lang="en-US" sz="675" dirty="0"/>
          </a:p>
        </p:txBody>
      </p:sp>
      <p:sp>
        <p:nvSpPr>
          <p:cNvPr id="108" name="Shape 100"/>
          <p:cNvSpPr/>
          <p:nvPr/>
        </p:nvSpPr>
        <p:spPr>
          <a:xfrm>
            <a:off x="5057775" y="5143500"/>
            <a:ext cx="171450" cy="171450"/>
          </a:xfrm>
          <a:prstGeom prst="ellipse">
            <a:avLst/>
          </a:prstGeom>
          <a:solidFill>
            <a:srgbClr val="1E40AF"/>
          </a:solidFill>
          <a:ln/>
        </p:spPr>
        <p:txBody>
          <a:bodyPr/>
          <a:lstStyle/>
          <a:p>
            <a:endParaRPr lang="en-US"/>
          </a:p>
        </p:txBody>
      </p:sp>
      <p:sp>
        <p:nvSpPr>
          <p:cNvPr id="109" name="Text 101"/>
          <p:cNvSpPr/>
          <p:nvPr/>
        </p:nvSpPr>
        <p:spPr>
          <a:xfrm>
            <a:off x="5057775" y="5143500"/>
            <a:ext cx="242888" cy="1714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10" name="Text 102"/>
          <p:cNvSpPr/>
          <p:nvPr/>
        </p:nvSpPr>
        <p:spPr>
          <a:xfrm>
            <a:off x="5286375" y="5172075"/>
            <a:ext cx="167255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Refactor code while keeping tests passing</a:t>
            </a:r>
            <a:endParaRPr lang="en-US" sz="675" dirty="0"/>
          </a:p>
        </p:txBody>
      </p:sp>
      <p:sp>
        <p:nvSpPr>
          <p:cNvPr id="111" name="Text 103"/>
          <p:cNvSpPr/>
          <p:nvPr/>
        </p:nvSpPr>
        <p:spPr>
          <a:xfrm>
            <a:off x="4972050" y="5457825"/>
            <a:ext cx="36147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Benefits: Clarifies requirements, ensures correctness, builds confidence</a:t>
            </a:r>
            <a:endParaRPr lang="en-US" sz="675" dirty="0"/>
          </a:p>
        </p:txBody>
      </p:sp>
      <p:sp>
        <p:nvSpPr>
          <p:cNvPr id="112" name="Shape 104"/>
          <p:cNvSpPr/>
          <p:nvPr/>
        </p:nvSpPr>
        <p:spPr>
          <a:xfrm>
            <a:off x="4686300" y="6000750"/>
            <a:ext cx="4000500" cy="33861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13" name="Text 105"/>
          <p:cNvSpPr/>
          <p:nvPr/>
        </p:nvSpPr>
        <p:spPr>
          <a:xfrm>
            <a:off x="4857750" y="61722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Problem-Solving Strategies</a:t>
            </a:r>
            <a:endParaRPr lang="en-US" sz="1350" dirty="0"/>
          </a:p>
        </p:txBody>
      </p:sp>
      <p:sp>
        <p:nvSpPr>
          <p:cNvPr id="114" name="Shape 106"/>
          <p:cNvSpPr/>
          <p:nvPr/>
        </p:nvSpPr>
        <p:spPr>
          <a:xfrm>
            <a:off x="4857750" y="6515100"/>
            <a:ext cx="1771650" cy="628650"/>
          </a:xfrm>
          <a:prstGeom prst="rect">
            <a:avLst/>
          </a:prstGeom>
          <a:solidFill>
            <a:srgbClr val="1E3A8A">
              <a:alpha val="30000"/>
            </a:srgbClr>
          </a:solidFill>
          <a:ln/>
        </p:spPr>
        <p:txBody>
          <a:bodyPr/>
          <a:lstStyle/>
          <a:p>
            <a:endParaRPr lang="en-US"/>
          </a:p>
        </p:txBody>
      </p:sp>
      <p:pic>
        <p:nvPicPr>
          <p:cNvPr id="115" name="Image 6" descr="preencoded.png"/>
          <p:cNvPicPr>
            <a:picLocks noChangeAspect="1"/>
          </p:cNvPicPr>
          <p:nvPr/>
        </p:nvPicPr>
        <p:blipFill>
          <a:blip r:embed="rId6"/>
          <a:stretch>
            <a:fillRect/>
          </a:stretch>
        </p:blipFill>
        <p:spPr>
          <a:xfrm>
            <a:off x="4943475" y="6615113"/>
            <a:ext cx="142875" cy="142875"/>
          </a:xfrm>
          <a:prstGeom prst="rect">
            <a:avLst/>
          </a:prstGeom>
        </p:spPr>
      </p:pic>
      <p:sp>
        <p:nvSpPr>
          <p:cNvPr id="116" name="Text 107"/>
          <p:cNvSpPr/>
          <p:nvPr/>
        </p:nvSpPr>
        <p:spPr>
          <a:xfrm>
            <a:off x="5143500" y="6600825"/>
            <a:ext cx="1157343"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Pattern Recognition</a:t>
            </a:r>
            <a:endParaRPr lang="en-US" sz="900" dirty="0"/>
          </a:p>
        </p:txBody>
      </p:sp>
      <p:sp>
        <p:nvSpPr>
          <p:cNvPr id="117" name="Text 108"/>
          <p:cNvSpPr/>
          <p:nvPr/>
        </p:nvSpPr>
        <p:spPr>
          <a:xfrm>
            <a:off x="4943475" y="68294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Identifying familiar patterns in problems and applying known solutions</a:t>
            </a:r>
            <a:endParaRPr lang="en-US" sz="675" dirty="0"/>
          </a:p>
        </p:txBody>
      </p:sp>
      <p:sp>
        <p:nvSpPr>
          <p:cNvPr id="118" name="Shape 109"/>
          <p:cNvSpPr/>
          <p:nvPr/>
        </p:nvSpPr>
        <p:spPr>
          <a:xfrm>
            <a:off x="6743700" y="6515100"/>
            <a:ext cx="1771650" cy="628650"/>
          </a:xfrm>
          <a:prstGeom prst="rect">
            <a:avLst/>
          </a:prstGeom>
          <a:solidFill>
            <a:srgbClr val="1E3A8A">
              <a:alpha val="30000"/>
            </a:srgbClr>
          </a:solidFill>
          <a:ln/>
        </p:spPr>
        <p:txBody>
          <a:bodyPr/>
          <a:lstStyle/>
          <a:p>
            <a:endParaRPr lang="en-US"/>
          </a:p>
        </p:txBody>
      </p:sp>
      <p:pic>
        <p:nvPicPr>
          <p:cNvPr id="119" name="Image 7" descr="preencoded.png"/>
          <p:cNvPicPr>
            <a:picLocks noChangeAspect="1"/>
          </p:cNvPicPr>
          <p:nvPr/>
        </p:nvPicPr>
        <p:blipFill>
          <a:blip r:embed="rId7"/>
          <a:stretch>
            <a:fillRect/>
          </a:stretch>
        </p:blipFill>
        <p:spPr>
          <a:xfrm>
            <a:off x="6829425" y="6615113"/>
            <a:ext cx="160734" cy="142875"/>
          </a:xfrm>
          <a:prstGeom prst="rect">
            <a:avLst/>
          </a:prstGeom>
        </p:spPr>
      </p:pic>
      <p:sp>
        <p:nvSpPr>
          <p:cNvPr id="120" name="Text 110"/>
          <p:cNvSpPr/>
          <p:nvPr/>
        </p:nvSpPr>
        <p:spPr>
          <a:xfrm>
            <a:off x="7047309" y="6600825"/>
            <a:ext cx="1030374"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Divide &amp; Conquer</a:t>
            </a:r>
            <a:endParaRPr lang="en-US" sz="900" dirty="0"/>
          </a:p>
        </p:txBody>
      </p:sp>
      <p:sp>
        <p:nvSpPr>
          <p:cNvPr id="121" name="Text 111"/>
          <p:cNvSpPr/>
          <p:nvPr/>
        </p:nvSpPr>
        <p:spPr>
          <a:xfrm>
            <a:off x="6829425" y="68294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Breaking problem into smaller, independent subproblems</a:t>
            </a:r>
            <a:endParaRPr lang="en-US" sz="675" dirty="0"/>
          </a:p>
        </p:txBody>
      </p:sp>
      <p:sp>
        <p:nvSpPr>
          <p:cNvPr id="122" name="Shape 112"/>
          <p:cNvSpPr/>
          <p:nvPr/>
        </p:nvSpPr>
        <p:spPr>
          <a:xfrm>
            <a:off x="4857750" y="7258050"/>
            <a:ext cx="1771650" cy="628650"/>
          </a:xfrm>
          <a:prstGeom prst="rect">
            <a:avLst/>
          </a:prstGeom>
          <a:solidFill>
            <a:srgbClr val="1E3A8A">
              <a:alpha val="30000"/>
            </a:srgbClr>
          </a:solidFill>
          <a:ln/>
        </p:spPr>
        <p:txBody>
          <a:bodyPr/>
          <a:lstStyle/>
          <a:p>
            <a:endParaRPr lang="en-US"/>
          </a:p>
        </p:txBody>
      </p:sp>
      <p:pic>
        <p:nvPicPr>
          <p:cNvPr id="123" name="Image 8" descr="preencoded.png"/>
          <p:cNvPicPr>
            <a:picLocks noChangeAspect="1"/>
          </p:cNvPicPr>
          <p:nvPr/>
        </p:nvPicPr>
        <p:blipFill>
          <a:blip r:embed="rId8"/>
          <a:stretch>
            <a:fillRect/>
          </a:stretch>
        </p:blipFill>
        <p:spPr>
          <a:xfrm>
            <a:off x="4943475" y="7358063"/>
            <a:ext cx="142875" cy="142875"/>
          </a:xfrm>
          <a:prstGeom prst="rect">
            <a:avLst/>
          </a:prstGeom>
        </p:spPr>
      </p:pic>
      <p:sp>
        <p:nvSpPr>
          <p:cNvPr id="124" name="Text 113"/>
          <p:cNvSpPr/>
          <p:nvPr/>
        </p:nvSpPr>
        <p:spPr>
          <a:xfrm>
            <a:off x="5143500" y="7343775"/>
            <a:ext cx="706506"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Abstraction</a:t>
            </a:r>
            <a:endParaRPr lang="en-US" sz="900" dirty="0"/>
          </a:p>
        </p:txBody>
      </p:sp>
      <p:sp>
        <p:nvSpPr>
          <p:cNvPr id="125" name="Text 114"/>
          <p:cNvSpPr/>
          <p:nvPr/>
        </p:nvSpPr>
        <p:spPr>
          <a:xfrm>
            <a:off x="4943475" y="75723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Focusing on essential aspects while ignoring irrelevant details</a:t>
            </a:r>
            <a:endParaRPr lang="en-US" sz="675" dirty="0"/>
          </a:p>
        </p:txBody>
      </p:sp>
      <p:sp>
        <p:nvSpPr>
          <p:cNvPr id="126" name="Shape 115"/>
          <p:cNvSpPr/>
          <p:nvPr/>
        </p:nvSpPr>
        <p:spPr>
          <a:xfrm>
            <a:off x="6743700" y="7258050"/>
            <a:ext cx="1771650" cy="628650"/>
          </a:xfrm>
          <a:prstGeom prst="rect">
            <a:avLst/>
          </a:prstGeom>
          <a:solidFill>
            <a:srgbClr val="1E3A8A">
              <a:alpha val="30000"/>
            </a:srgbClr>
          </a:solidFill>
          <a:ln/>
        </p:spPr>
        <p:txBody>
          <a:bodyPr/>
          <a:lstStyle/>
          <a:p>
            <a:endParaRPr lang="en-US"/>
          </a:p>
        </p:txBody>
      </p:sp>
      <p:pic>
        <p:nvPicPr>
          <p:cNvPr id="127" name="Image 9" descr="preencoded.png"/>
          <p:cNvPicPr>
            <a:picLocks noChangeAspect="1"/>
          </p:cNvPicPr>
          <p:nvPr/>
        </p:nvPicPr>
        <p:blipFill>
          <a:blip r:embed="rId9"/>
          <a:stretch>
            <a:fillRect/>
          </a:stretch>
        </p:blipFill>
        <p:spPr>
          <a:xfrm>
            <a:off x="6829425" y="7358063"/>
            <a:ext cx="142875" cy="142875"/>
          </a:xfrm>
          <a:prstGeom prst="rect">
            <a:avLst/>
          </a:prstGeom>
        </p:spPr>
      </p:pic>
      <p:sp>
        <p:nvSpPr>
          <p:cNvPr id="128" name="Text 116"/>
          <p:cNvSpPr/>
          <p:nvPr/>
        </p:nvSpPr>
        <p:spPr>
          <a:xfrm>
            <a:off x="7029450" y="7343775"/>
            <a:ext cx="522331"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Analogy</a:t>
            </a:r>
            <a:endParaRPr lang="en-US" sz="900" dirty="0"/>
          </a:p>
        </p:txBody>
      </p:sp>
      <p:sp>
        <p:nvSpPr>
          <p:cNvPr id="129" name="Text 117"/>
          <p:cNvSpPr/>
          <p:nvPr/>
        </p:nvSpPr>
        <p:spPr>
          <a:xfrm>
            <a:off x="6829425" y="75723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Applying solutions from similar problems to current problem</a:t>
            </a:r>
            <a:endParaRPr lang="en-US" sz="675" dirty="0"/>
          </a:p>
        </p:txBody>
      </p:sp>
      <p:sp>
        <p:nvSpPr>
          <p:cNvPr id="130" name="Shape 118"/>
          <p:cNvSpPr/>
          <p:nvPr/>
        </p:nvSpPr>
        <p:spPr>
          <a:xfrm>
            <a:off x="4857750" y="8001000"/>
            <a:ext cx="1771650" cy="628650"/>
          </a:xfrm>
          <a:prstGeom prst="rect">
            <a:avLst/>
          </a:prstGeom>
          <a:solidFill>
            <a:srgbClr val="1E3A8A">
              <a:alpha val="30000"/>
            </a:srgbClr>
          </a:solidFill>
          <a:ln/>
        </p:spPr>
        <p:txBody>
          <a:bodyPr/>
          <a:lstStyle/>
          <a:p>
            <a:endParaRPr lang="en-US"/>
          </a:p>
        </p:txBody>
      </p:sp>
      <p:pic>
        <p:nvPicPr>
          <p:cNvPr id="131" name="Image 10" descr="preencoded.png"/>
          <p:cNvPicPr>
            <a:picLocks noChangeAspect="1"/>
          </p:cNvPicPr>
          <p:nvPr/>
        </p:nvPicPr>
        <p:blipFill>
          <a:blip r:embed="rId10"/>
          <a:stretch>
            <a:fillRect/>
          </a:stretch>
        </p:blipFill>
        <p:spPr>
          <a:xfrm>
            <a:off x="4943475" y="8101013"/>
            <a:ext cx="142875" cy="142875"/>
          </a:xfrm>
          <a:prstGeom prst="rect">
            <a:avLst/>
          </a:prstGeom>
        </p:spPr>
      </p:pic>
      <p:sp>
        <p:nvSpPr>
          <p:cNvPr id="132" name="Text 119"/>
          <p:cNvSpPr/>
          <p:nvPr/>
        </p:nvSpPr>
        <p:spPr>
          <a:xfrm>
            <a:off x="5143500" y="8086725"/>
            <a:ext cx="1161864"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Working Backwards</a:t>
            </a:r>
            <a:endParaRPr lang="en-US" sz="900" dirty="0"/>
          </a:p>
        </p:txBody>
      </p:sp>
      <p:sp>
        <p:nvSpPr>
          <p:cNvPr id="133" name="Text 120"/>
          <p:cNvSpPr/>
          <p:nvPr/>
        </p:nvSpPr>
        <p:spPr>
          <a:xfrm>
            <a:off x="4943475" y="83153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Starting from the goal and determining steps to reach it</a:t>
            </a:r>
            <a:endParaRPr lang="en-US" sz="675" dirty="0"/>
          </a:p>
        </p:txBody>
      </p:sp>
      <p:sp>
        <p:nvSpPr>
          <p:cNvPr id="134" name="Shape 121"/>
          <p:cNvSpPr/>
          <p:nvPr/>
        </p:nvSpPr>
        <p:spPr>
          <a:xfrm>
            <a:off x="6743700" y="8001000"/>
            <a:ext cx="1771650" cy="628650"/>
          </a:xfrm>
          <a:prstGeom prst="rect">
            <a:avLst/>
          </a:prstGeom>
          <a:solidFill>
            <a:srgbClr val="1E3A8A">
              <a:alpha val="30000"/>
            </a:srgbClr>
          </a:solidFill>
          <a:ln/>
        </p:spPr>
        <p:txBody>
          <a:bodyPr/>
          <a:lstStyle/>
          <a:p>
            <a:endParaRPr lang="en-US"/>
          </a:p>
        </p:txBody>
      </p:sp>
      <p:pic>
        <p:nvPicPr>
          <p:cNvPr id="135" name="Image 11" descr="preencoded.png"/>
          <p:cNvPicPr>
            <a:picLocks noChangeAspect="1"/>
          </p:cNvPicPr>
          <p:nvPr/>
        </p:nvPicPr>
        <p:blipFill>
          <a:blip r:embed="rId11"/>
          <a:stretch>
            <a:fillRect/>
          </a:stretch>
        </p:blipFill>
        <p:spPr>
          <a:xfrm>
            <a:off x="6829425" y="8101013"/>
            <a:ext cx="142875" cy="142875"/>
          </a:xfrm>
          <a:prstGeom prst="rect">
            <a:avLst/>
          </a:prstGeom>
        </p:spPr>
      </p:pic>
      <p:sp>
        <p:nvSpPr>
          <p:cNvPr id="136" name="Text 122"/>
          <p:cNvSpPr/>
          <p:nvPr/>
        </p:nvSpPr>
        <p:spPr>
          <a:xfrm>
            <a:off x="7029450" y="8086725"/>
            <a:ext cx="732067"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Trial &amp; Error</a:t>
            </a:r>
            <a:endParaRPr lang="en-US" sz="900" dirty="0"/>
          </a:p>
        </p:txBody>
      </p:sp>
      <p:sp>
        <p:nvSpPr>
          <p:cNvPr id="137" name="Text 123"/>
          <p:cNvSpPr/>
          <p:nvPr/>
        </p:nvSpPr>
        <p:spPr>
          <a:xfrm>
            <a:off x="6829425" y="83153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Systematically trying different approaches and learning from results</a:t>
            </a:r>
            <a:endParaRPr lang="en-US" sz="675" dirty="0"/>
          </a:p>
        </p:txBody>
      </p:sp>
      <p:sp>
        <p:nvSpPr>
          <p:cNvPr id="138" name="Shape 124"/>
          <p:cNvSpPr/>
          <p:nvPr/>
        </p:nvSpPr>
        <p:spPr>
          <a:xfrm>
            <a:off x="4857750" y="8743950"/>
            <a:ext cx="3657600" cy="457200"/>
          </a:xfrm>
          <a:prstGeom prst="rect">
            <a:avLst/>
          </a:prstGeom>
          <a:solidFill>
            <a:srgbClr val="78350F">
              <a:alpha val="20000"/>
            </a:srgbClr>
          </a:solidFill>
          <a:ln/>
        </p:spPr>
        <p:txBody>
          <a:bodyPr/>
          <a:lstStyle/>
          <a:p>
            <a:endParaRPr lang="en-US"/>
          </a:p>
        </p:txBody>
      </p:sp>
      <p:pic>
        <p:nvPicPr>
          <p:cNvPr id="139" name="Image 12" descr="preencoded.png"/>
          <p:cNvPicPr>
            <a:picLocks noChangeAspect="1"/>
          </p:cNvPicPr>
          <p:nvPr/>
        </p:nvPicPr>
        <p:blipFill>
          <a:blip r:embed="rId12"/>
          <a:stretch>
            <a:fillRect/>
          </a:stretch>
        </p:blipFill>
        <p:spPr>
          <a:xfrm>
            <a:off x="4943475" y="8901113"/>
            <a:ext cx="107156" cy="142875"/>
          </a:xfrm>
          <a:prstGeom prst="rect">
            <a:avLst/>
          </a:prstGeom>
        </p:spPr>
      </p:pic>
      <p:sp>
        <p:nvSpPr>
          <p:cNvPr id="140" name="Text 125"/>
          <p:cNvSpPr/>
          <p:nvPr/>
        </p:nvSpPr>
        <p:spPr>
          <a:xfrm>
            <a:off x="5107781" y="8829675"/>
            <a:ext cx="3393281"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Effective logic building often combines multiple techniques based on the specific problem requirements and constraints.</a:t>
            </a:r>
            <a:endParaRPr lang="en-US" sz="7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4030325"/>
          </a:xfrm>
          <a:prstGeom prst="rect">
            <a:avLst/>
          </a:prstGeom>
        </p:spPr>
      </p:pic>
      <p:sp>
        <p:nvSpPr>
          <p:cNvPr id="3" name="Text 0"/>
          <p:cNvSpPr/>
          <p:nvPr/>
        </p:nvSpPr>
        <p:spPr>
          <a:xfrm>
            <a:off x="457200" y="455414"/>
            <a:ext cx="1857096"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Logic Building</a:t>
            </a:r>
            <a:endParaRPr lang="en-US" sz="2025" dirty="0"/>
          </a:p>
        </p:txBody>
      </p:sp>
      <p:sp>
        <p:nvSpPr>
          <p:cNvPr id="4" name="Text 1"/>
          <p:cNvSpPr/>
          <p:nvPr/>
        </p:nvSpPr>
        <p:spPr>
          <a:xfrm>
            <a:off x="2242858" y="455414"/>
            <a:ext cx="1343751"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Examples</a:t>
            </a:r>
            <a:endParaRPr lang="en-US" sz="2025" dirty="0"/>
          </a:p>
        </p:txBody>
      </p:sp>
      <p:sp>
        <p:nvSpPr>
          <p:cNvPr id="5" name="Shape 2"/>
          <p:cNvSpPr/>
          <p:nvPr/>
        </p:nvSpPr>
        <p:spPr>
          <a:xfrm>
            <a:off x="457200" y="971550"/>
            <a:ext cx="4000500" cy="59578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1: Finding Maximum Value</a:t>
            </a:r>
            <a:endParaRPr lang="en-US" sz="1350" dirty="0"/>
          </a:p>
        </p:txBody>
      </p:sp>
      <p:sp>
        <p:nvSpPr>
          <p:cNvPr id="7" name="Shape 4"/>
          <p:cNvSpPr/>
          <p:nvPr/>
        </p:nvSpPr>
        <p:spPr>
          <a:xfrm>
            <a:off x="628650" y="1485900"/>
            <a:ext cx="3657600" cy="54292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542925"/>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 Statement</a:t>
            </a:r>
            <a:endParaRPr lang="en-US" sz="1125" dirty="0"/>
          </a:p>
        </p:txBody>
      </p:sp>
      <p:sp>
        <p:nvSpPr>
          <p:cNvPr id="10" name="Text 7"/>
          <p:cNvSpPr/>
          <p:nvPr/>
        </p:nvSpPr>
        <p:spPr>
          <a:xfrm>
            <a:off x="7429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Find the maximum value in an array of integers.</a:t>
            </a:r>
            <a:endParaRPr lang="en-US" sz="788" dirty="0"/>
          </a:p>
        </p:txBody>
      </p:sp>
      <p:sp>
        <p:nvSpPr>
          <p:cNvPr id="11" name="Shape 8"/>
          <p:cNvSpPr/>
          <p:nvPr/>
        </p:nvSpPr>
        <p:spPr>
          <a:xfrm>
            <a:off x="628650" y="2143125"/>
            <a:ext cx="3657600" cy="1085850"/>
          </a:xfrm>
          <a:prstGeom prst="rect">
            <a:avLst/>
          </a:prstGeom>
          <a:solidFill>
            <a:srgbClr val="1E3A8A">
              <a:alpha val="30000"/>
            </a:srgbClr>
          </a:solidFill>
          <a:ln/>
        </p:spPr>
        <p:txBody>
          <a:bodyPr/>
          <a:lstStyle/>
          <a:p>
            <a:endParaRPr lang="en-US"/>
          </a:p>
        </p:txBody>
      </p:sp>
      <p:sp>
        <p:nvSpPr>
          <p:cNvPr id="12" name="Shape 9"/>
          <p:cNvSpPr/>
          <p:nvPr/>
        </p:nvSpPr>
        <p:spPr>
          <a:xfrm>
            <a:off x="628650" y="2143125"/>
            <a:ext cx="28575" cy="1085850"/>
          </a:xfrm>
          <a:prstGeom prst="rect">
            <a:avLst/>
          </a:prstGeom>
          <a:solidFill>
            <a:srgbClr val="63B3ED"/>
          </a:solidFill>
          <a:ln/>
        </p:spPr>
        <p:txBody>
          <a:bodyPr/>
          <a:lstStyle/>
          <a:p>
            <a:endParaRPr lang="en-US"/>
          </a:p>
        </p:txBody>
      </p:sp>
      <p:sp>
        <p:nvSpPr>
          <p:cNvPr id="13" name="Text 10"/>
          <p:cNvSpPr/>
          <p:nvPr/>
        </p:nvSpPr>
        <p:spPr>
          <a:xfrm>
            <a:off x="742950" y="22288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Logic Building Process</a:t>
            </a:r>
            <a:endParaRPr lang="en-US" sz="1125" dirty="0"/>
          </a:p>
        </p:txBody>
      </p:sp>
      <p:sp>
        <p:nvSpPr>
          <p:cNvPr id="14" name="Text 11"/>
          <p:cNvSpPr/>
          <p:nvPr/>
        </p:nvSpPr>
        <p:spPr>
          <a:xfrm>
            <a:off x="742950" y="248602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1. Understand the problem: Find largest number in a list</a:t>
            </a:r>
            <a:endParaRPr lang="en-US" sz="788" dirty="0"/>
          </a:p>
        </p:txBody>
      </p:sp>
      <p:sp>
        <p:nvSpPr>
          <p:cNvPr id="15" name="Text 12"/>
          <p:cNvSpPr/>
          <p:nvPr/>
        </p:nvSpPr>
        <p:spPr>
          <a:xfrm>
            <a:off x="742950" y="265747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2. Identify inputs/outputs: Input is array, output is single integer</a:t>
            </a:r>
            <a:endParaRPr lang="en-US" sz="788" dirty="0"/>
          </a:p>
        </p:txBody>
      </p:sp>
      <p:sp>
        <p:nvSpPr>
          <p:cNvPr id="16" name="Text 13"/>
          <p:cNvSpPr/>
          <p:nvPr/>
        </p:nvSpPr>
        <p:spPr>
          <a:xfrm>
            <a:off x="742950" y="282892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3. Develop algorithm: Compare each element with current maximum</a:t>
            </a:r>
            <a:endParaRPr lang="en-US" sz="788" dirty="0"/>
          </a:p>
        </p:txBody>
      </p:sp>
      <p:sp>
        <p:nvSpPr>
          <p:cNvPr id="17" name="Text 14"/>
          <p:cNvSpPr/>
          <p:nvPr/>
        </p:nvSpPr>
        <p:spPr>
          <a:xfrm>
            <a:off x="742950" y="300037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4. Handle edge cases: Empty array, negative numbers</a:t>
            </a:r>
            <a:endParaRPr lang="en-US" sz="788" dirty="0"/>
          </a:p>
        </p:txBody>
      </p:sp>
      <p:sp>
        <p:nvSpPr>
          <p:cNvPr id="18" name="Shape 15"/>
          <p:cNvSpPr/>
          <p:nvPr/>
        </p:nvSpPr>
        <p:spPr>
          <a:xfrm>
            <a:off x="628650" y="3343275"/>
            <a:ext cx="3657600" cy="3400425"/>
          </a:xfrm>
          <a:prstGeom prst="rect">
            <a:avLst/>
          </a:prstGeom>
          <a:solidFill>
            <a:srgbClr val="1E3A8A">
              <a:alpha val="30000"/>
            </a:srgbClr>
          </a:solidFill>
          <a:ln/>
        </p:spPr>
        <p:txBody>
          <a:bodyPr/>
          <a:lstStyle/>
          <a:p>
            <a:endParaRPr lang="en-US"/>
          </a:p>
        </p:txBody>
      </p:sp>
      <p:sp>
        <p:nvSpPr>
          <p:cNvPr id="19" name="Shape 16"/>
          <p:cNvSpPr/>
          <p:nvPr/>
        </p:nvSpPr>
        <p:spPr>
          <a:xfrm>
            <a:off x="628650" y="3343275"/>
            <a:ext cx="28575" cy="3400425"/>
          </a:xfrm>
          <a:prstGeom prst="rect">
            <a:avLst/>
          </a:prstGeom>
          <a:solidFill>
            <a:srgbClr val="63B3ED"/>
          </a:solidFill>
          <a:ln/>
        </p:spPr>
        <p:txBody>
          <a:bodyPr/>
          <a:lstStyle/>
          <a:p>
            <a:endParaRPr lang="en-US"/>
          </a:p>
        </p:txBody>
      </p:sp>
      <p:sp>
        <p:nvSpPr>
          <p:cNvPr id="20" name="Text 17"/>
          <p:cNvSpPr/>
          <p:nvPr/>
        </p:nvSpPr>
        <p:spPr>
          <a:xfrm>
            <a:off x="742950" y="34290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Implementation</a:t>
            </a:r>
            <a:endParaRPr lang="en-US" sz="1125" dirty="0"/>
          </a:p>
        </p:txBody>
      </p:sp>
      <p:sp>
        <p:nvSpPr>
          <p:cNvPr id="21" name="Shape 18"/>
          <p:cNvSpPr/>
          <p:nvPr/>
        </p:nvSpPr>
        <p:spPr>
          <a:xfrm>
            <a:off x="742950" y="3714750"/>
            <a:ext cx="3543300" cy="2943225"/>
          </a:xfrm>
          <a:prstGeom prst="rect">
            <a:avLst/>
          </a:prstGeom>
          <a:solidFill>
            <a:srgbClr val="1A202C"/>
          </a:solidFill>
          <a:ln/>
        </p:spPr>
        <p:txBody>
          <a:bodyPr/>
          <a:lstStyle/>
          <a:p>
            <a:endParaRPr lang="en-US"/>
          </a:p>
        </p:txBody>
      </p:sp>
      <p:sp>
        <p:nvSpPr>
          <p:cNvPr id="22" name="Text 19"/>
          <p:cNvSpPr/>
          <p:nvPr/>
        </p:nvSpPr>
        <p:spPr>
          <a:xfrm>
            <a:off x="857250" y="3832622"/>
            <a:ext cx="259175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Function to find maximum value in array</a:t>
            </a:r>
            <a:endParaRPr lang="en-US" sz="788" dirty="0"/>
          </a:p>
        </p:txBody>
      </p:sp>
      <p:sp>
        <p:nvSpPr>
          <p:cNvPr id="23" name="Text 20"/>
          <p:cNvSpPr/>
          <p:nvPr/>
        </p:nvSpPr>
        <p:spPr>
          <a:xfrm>
            <a:off x="857250" y="397549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24" name="Text 21"/>
          <p:cNvSpPr/>
          <p:nvPr/>
        </p:nvSpPr>
        <p:spPr>
          <a:xfrm>
            <a:off x="1337332" y="3975497"/>
            <a:ext cx="109157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findMax(array) {</a:t>
            </a:r>
            <a:endParaRPr lang="en-US" sz="788" dirty="0"/>
          </a:p>
        </p:txBody>
      </p:sp>
      <p:sp>
        <p:nvSpPr>
          <p:cNvPr id="25" name="Text 22"/>
          <p:cNvSpPr/>
          <p:nvPr/>
        </p:nvSpPr>
        <p:spPr>
          <a:xfrm>
            <a:off x="977271" y="4118372"/>
            <a:ext cx="1211591"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Handle edge case</a:t>
            </a:r>
            <a:endParaRPr lang="en-US" sz="788" dirty="0"/>
          </a:p>
        </p:txBody>
      </p:sp>
      <p:sp>
        <p:nvSpPr>
          <p:cNvPr id="26" name="Text 23"/>
          <p:cNvSpPr/>
          <p:nvPr/>
        </p:nvSpPr>
        <p:spPr>
          <a:xfrm>
            <a:off x="977271" y="426124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7" name="Text 24"/>
          <p:cNvSpPr/>
          <p:nvPr/>
        </p:nvSpPr>
        <p:spPr>
          <a:xfrm>
            <a:off x="1097291" y="4261247"/>
            <a:ext cx="145163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(array.length === 0) {</a:t>
            </a:r>
            <a:endParaRPr lang="en-US" sz="788" dirty="0"/>
          </a:p>
        </p:txBody>
      </p:sp>
      <p:sp>
        <p:nvSpPr>
          <p:cNvPr id="28" name="Text 25"/>
          <p:cNvSpPr/>
          <p:nvPr/>
        </p:nvSpPr>
        <p:spPr>
          <a:xfrm>
            <a:off x="1097291" y="44041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29" name="Text 26"/>
          <p:cNvSpPr/>
          <p:nvPr/>
        </p:nvSpPr>
        <p:spPr>
          <a:xfrm>
            <a:off x="1457353" y="4404122"/>
            <a:ext cx="43149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null;</a:t>
            </a:r>
            <a:endParaRPr lang="en-US" sz="788" dirty="0"/>
          </a:p>
        </p:txBody>
      </p:sp>
      <p:sp>
        <p:nvSpPr>
          <p:cNvPr id="30" name="Text 27"/>
          <p:cNvSpPr/>
          <p:nvPr/>
        </p:nvSpPr>
        <p:spPr>
          <a:xfrm>
            <a:off x="857250" y="454699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1" name="Text 28"/>
          <p:cNvSpPr/>
          <p:nvPr/>
        </p:nvSpPr>
        <p:spPr>
          <a:xfrm>
            <a:off x="977271" y="4832747"/>
            <a:ext cx="2231724"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Initialize max with first element</a:t>
            </a:r>
            <a:endParaRPr lang="en-US" sz="788" dirty="0"/>
          </a:p>
        </p:txBody>
      </p:sp>
      <p:sp>
        <p:nvSpPr>
          <p:cNvPr id="32" name="Text 29"/>
          <p:cNvSpPr/>
          <p:nvPr/>
        </p:nvSpPr>
        <p:spPr>
          <a:xfrm>
            <a:off x="977271" y="49756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33" name="Text 30"/>
          <p:cNvSpPr/>
          <p:nvPr/>
        </p:nvSpPr>
        <p:spPr>
          <a:xfrm>
            <a:off x="1157315" y="497562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 = array[0];</a:t>
            </a:r>
            <a:endParaRPr lang="en-US" sz="788" dirty="0"/>
          </a:p>
        </p:txBody>
      </p:sp>
      <p:sp>
        <p:nvSpPr>
          <p:cNvPr id="34" name="Text 31"/>
          <p:cNvSpPr/>
          <p:nvPr/>
        </p:nvSpPr>
        <p:spPr>
          <a:xfrm>
            <a:off x="977271" y="5261372"/>
            <a:ext cx="247173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Compare each element with current max</a:t>
            </a:r>
            <a:endParaRPr lang="en-US" sz="788" dirty="0"/>
          </a:p>
        </p:txBody>
      </p:sp>
      <p:sp>
        <p:nvSpPr>
          <p:cNvPr id="35" name="Text 32"/>
          <p:cNvSpPr/>
          <p:nvPr/>
        </p:nvSpPr>
        <p:spPr>
          <a:xfrm>
            <a:off x="977271" y="540424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36" name="Text 33"/>
          <p:cNvSpPr/>
          <p:nvPr/>
        </p:nvSpPr>
        <p:spPr>
          <a:xfrm>
            <a:off x="1157315" y="540424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7" name="Text 34"/>
          <p:cNvSpPr/>
          <p:nvPr/>
        </p:nvSpPr>
        <p:spPr>
          <a:xfrm>
            <a:off x="1277336" y="540424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38" name="Text 35"/>
          <p:cNvSpPr/>
          <p:nvPr/>
        </p:nvSpPr>
        <p:spPr>
          <a:xfrm>
            <a:off x="1457381" y="5404247"/>
            <a:ext cx="1991683"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1; i &lt; array.length; i++) {</a:t>
            </a:r>
            <a:endParaRPr lang="en-US" sz="788" dirty="0"/>
          </a:p>
        </p:txBody>
      </p:sp>
      <p:sp>
        <p:nvSpPr>
          <p:cNvPr id="39" name="Text 36"/>
          <p:cNvSpPr/>
          <p:nvPr/>
        </p:nvSpPr>
        <p:spPr>
          <a:xfrm>
            <a:off x="1097291" y="554712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40" name="Text 37"/>
          <p:cNvSpPr/>
          <p:nvPr/>
        </p:nvSpPr>
        <p:spPr>
          <a:xfrm>
            <a:off x="1217312" y="5547122"/>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(array[i] &gt; max) {</a:t>
            </a:r>
            <a:endParaRPr lang="en-US" sz="788" dirty="0"/>
          </a:p>
        </p:txBody>
      </p:sp>
      <p:sp>
        <p:nvSpPr>
          <p:cNvPr id="41" name="Text 38"/>
          <p:cNvSpPr/>
          <p:nvPr/>
        </p:nvSpPr>
        <p:spPr>
          <a:xfrm>
            <a:off x="857250" y="5689997"/>
            <a:ext cx="133161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 = array[i];</a:t>
            </a:r>
            <a:endParaRPr lang="en-US" sz="788" dirty="0"/>
          </a:p>
        </p:txBody>
      </p:sp>
      <p:sp>
        <p:nvSpPr>
          <p:cNvPr id="42" name="Text 39"/>
          <p:cNvSpPr/>
          <p:nvPr/>
        </p:nvSpPr>
        <p:spPr>
          <a:xfrm>
            <a:off x="857250" y="5832872"/>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3" name="Text 40"/>
          <p:cNvSpPr/>
          <p:nvPr/>
        </p:nvSpPr>
        <p:spPr>
          <a:xfrm>
            <a:off x="857250" y="597574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4" name="Text 41"/>
          <p:cNvSpPr/>
          <p:nvPr/>
        </p:nvSpPr>
        <p:spPr>
          <a:xfrm>
            <a:off x="977271" y="62614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45" name="Text 42"/>
          <p:cNvSpPr/>
          <p:nvPr/>
        </p:nvSpPr>
        <p:spPr>
          <a:xfrm>
            <a:off x="1337332" y="626149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a:t>
            </a:r>
            <a:endParaRPr lang="en-US" sz="788" dirty="0"/>
          </a:p>
        </p:txBody>
      </p:sp>
      <p:sp>
        <p:nvSpPr>
          <p:cNvPr id="46" name="Text 43"/>
          <p:cNvSpPr/>
          <p:nvPr/>
        </p:nvSpPr>
        <p:spPr>
          <a:xfrm>
            <a:off x="857250" y="6404372"/>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7" name="Shape 44"/>
          <p:cNvSpPr/>
          <p:nvPr/>
        </p:nvSpPr>
        <p:spPr>
          <a:xfrm>
            <a:off x="4686300" y="971550"/>
            <a:ext cx="4000500" cy="69580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8" name="Text 45"/>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2: Binary Search</a:t>
            </a:r>
            <a:endParaRPr lang="en-US" sz="1350" dirty="0"/>
          </a:p>
        </p:txBody>
      </p:sp>
      <p:sp>
        <p:nvSpPr>
          <p:cNvPr id="49" name="Shape 46"/>
          <p:cNvSpPr/>
          <p:nvPr/>
        </p:nvSpPr>
        <p:spPr>
          <a:xfrm>
            <a:off x="4857750" y="1485900"/>
            <a:ext cx="3657600" cy="542925"/>
          </a:xfrm>
          <a:prstGeom prst="rect">
            <a:avLst/>
          </a:prstGeom>
          <a:solidFill>
            <a:srgbClr val="1E3A8A">
              <a:alpha val="30000"/>
            </a:srgbClr>
          </a:solidFill>
          <a:ln/>
        </p:spPr>
        <p:txBody>
          <a:bodyPr/>
          <a:lstStyle/>
          <a:p>
            <a:endParaRPr lang="en-US"/>
          </a:p>
        </p:txBody>
      </p:sp>
      <p:sp>
        <p:nvSpPr>
          <p:cNvPr id="50" name="Shape 47"/>
          <p:cNvSpPr/>
          <p:nvPr/>
        </p:nvSpPr>
        <p:spPr>
          <a:xfrm>
            <a:off x="4857750" y="1485900"/>
            <a:ext cx="28575" cy="542925"/>
          </a:xfrm>
          <a:prstGeom prst="rect">
            <a:avLst/>
          </a:prstGeom>
          <a:solidFill>
            <a:srgbClr val="63B3ED"/>
          </a:solidFill>
          <a:ln/>
        </p:spPr>
        <p:txBody>
          <a:bodyPr/>
          <a:lstStyle/>
          <a:p>
            <a:endParaRPr lang="en-US"/>
          </a:p>
        </p:txBody>
      </p:sp>
      <p:sp>
        <p:nvSpPr>
          <p:cNvPr id="51" name="Text 48"/>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 Statement</a:t>
            </a:r>
            <a:endParaRPr lang="en-US" sz="1125" dirty="0"/>
          </a:p>
        </p:txBody>
      </p:sp>
      <p:sp>
        <p:nvSpPr>
          <p:cNvPr id="52" name="Text 49"/>
          <p:cNvSpPr/>
          <p:nvPr/>
        </p:nvSpPr>
        <p:spPr>
          <a:xfrm>
            <a:off x="49720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Search for a target value in a sorted array efficiently.</a:t>
            </a:r>
            <a:endParaRPr lang="en-US" sz="788" dirty="0"/>
          </a:p>
        </p:txBody>
      </p:sp>
      <p:sp>
        <p:nvSpPr>
          <p:cNvPr id="53" name="Shape 50"/>
          <p:cNvSpPr/>
          <p:nvPr/>
        </p:nvSpPr>
        <p:spPr>
          <a:xfrm>
            <a:off x="4857750" y="2143125"/>
            <a:ext cx="3657600" cy="1228725"/>
          </a:xfrm>
          <a:prstGeom prst="rect">
            <a:avLst/>
          </a:prstGeom>
          <a:solidFill>
            <a:srgbClr val="1E3A8A">
              <a:alpha val="30000"/>
            </a:srgbClr>
          </a:solidFill>
          <a:ln/>
        </p:spPr>
        <p:txBody>
          <a:bodyPr/>
          <a:lstStyle/>
          <a:p>
            <a:endParaRPr lang="en-US"/>
          </a:p>
        </p:txBody>
      </p:sp>
      <p:sp>
        <p:nvSpPr>
          <p:cNvPr id="54" name="Shape 51"/>
          <p:cNvSpPr/>
          <p:nvPr/>
        </p:nvSpPr>
        <p:spPr>
          <a:xfrm>
            <a:off x="4857750" y="2143125"/>
            <a:ext cx="28575" cy="1228725"/>
          </a:xfrm>
          <a:prstGeom prst="rect">
            <a:avLst/>
          </a:prstGeom>
          <a:solidFill>
            <a:srgbClr val="63B3ED"/>
          </a:solidFill>
          <a:ln/>
        </p:spPr>
        <p:txBody>
          <a:bodyPr/>
          <a:lstStyle/>
          <a:p>
            <a:endParaRPr lang="en-US"/>
          </a:p>
        </p:txBody>
      </p:sp>
      <p:sp>
        <p:nvSpPr>
          <p:cNvPr id="55" name="Text 52"/>
          <p:cNvSpPr/>
          <p:nvPr/>
        </p:nvSpPr>
        <p:spPr>
          <a:xfrm>
            <a:off x="4972050" y="22288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Logic Building Process</a:t>
            </a:r>
            <a:endParaRPr lang="en-US" sz="1125" dirty="0"/>
          </a:p>
        </p:txBody>
      </p:sp>
      <p:sp>
        <p:nvSpPr>
          <p:cNvPr id="56" name="Text 53"/>
          <p:cNvSpPr/>
          <p:nvPr/>
        </p:nvSpPr>
        <p:spPr>
          <a:xfrm>
            <a:off x="4972050" y="248602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1. Understand the problem: Find value in sorted array</a:t>
            </a:r>
            <a:endParaRPr lang="en-US" sz="788" dirty="0"/>
          </a:p>
        </p:txBody>
      </p:sp>
      <p:sp>
        <p:nvSpPr>
          <p:cNvPr id="57" name="Text 54"/>
          <p:cNvSpPr/>
          <p:nvPr/>
        </p:nvSpPr>
        <p:spPr>
          <a:xfrm>
            <a:off x="4972050" y="2657475"/>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2. Identify pattern: Divide and conquer approach</a:t>
            </a:r>
            <a:endParaRPr lang="en-US" sz="788" dirty="0"/>
          </a:p>
        </p:txBody>
      </p:sp>
      <p:sp>
        <p:nvSpPr>
          <p:cNvPr id="58" name="Text 55"/>
          <p:cNvSpPr/>
          <p:nvPr/>
        </p:nvSpPr>
        <p:spPr>
          <a:xfrm>
            <a:off x="4972050" y="2828925"/>
            <a:ext cx="3614738"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3. Develop algorithm: Compare target with middle element, narrow search range</a:t>
            </a:r>
            <a:endParaRPr lang="en-US" sz="788" dirty="0"/>
          </a:p>
        </p:txBody>
      </p:sp>
      <p:sp>
        <p:nvSpPr>
          <p:cNvPr id="59" name="Text 56"/>
          <p:cNvSpPr/>
          <p:nvPr/>
        </p:nvSpPr>
        <p:spPr>
          <a:xfrm>
            <a:off x="4972050" y="31432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4. Handle edge cases: Target not found, empty array</a:t>
            </a:r>
            <a:endParaRPr lang="en-US" sz="788" dirty="0"/>
          </a:p>
        </p:txBody>
      </p:sp>
      <p:sp>
        <p:nvSpPr>
          <p:cNvPr id="60" name="Shape 57"/>
          <p:cNvSpPr/>
          <p:nvPr/>
        </p:nvSpPr>
        <p:spPr>
          <a:xfrm>
            <a:off x="4857750" y="3486150"/>
            <a:ext cx="3657600" cy="4257675"/>
          </a:xfrm>
          <a:prstGeom prst="rect">
            <a:avLst/>
          </a:prstGeom>
          <a:solidFill>
            <a:srgbClr val="1E3A8A">
              <a:alpha val="30000"/>
            </a:srgbClr>
          </a:solidFill>
          <a:ln/>
        </p:spPr>
        <p:txBody>
          <a:bodyPr/>
          <a:lstStyle/>
          <a:p>
            <a:endParaRPr lang="en-US"/>
          </a:p>
        </p:txBody>
      </p:sp>
      <p:sp>
        <p:nvSpPr>
          <p:cNvPr id="61" name="Shape 58"/>
          <p:cNvSpPr/>
          <p:nvPr/>
        </p:nvSpPr>
        <p:spPr>
          <a:xfrm>
            <a:off x="4857750" y="3486150"/>
            <a:ext cx="28575" cy="4257675"/>
          </a:xfrm>
          <a:prstGeom prst="rect">
            <a:avLst/>
          </a:prstGeom>
          <a:solidFill>
            <a:srgbClr val="63B3ED"/>
          </a:solidFill>
          <a:ln/>
        </p:spPr>
        <p:txBody>
          <a:bodyPr/>
          <a:lstStyle/>
          <a:p>
            <a:endParaRPr lang="en-US"/>
          </a:p>
        </p:txBody>
      </p:sp>
      <p:sp>
        <p:nvSpPr>
          <p:cNvPr id="62" name="Text 59"/>
          <p:cNvSpPr/>
          <p:nvPr/>
        </p:nvSpPr>
        <p:spPr>
          <a:xfrm>
            <a:off x="4972050" y="35718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Implementation</a:t>
            </a:r>
            <a:endParaRPr lang="en-US" sz="1125" dirty="0"/>
          </a:p>
        </p:txBody>
      </p:sp>
      <p:sp>
        <p:nvSpPr>
          <p:cNvPr id="63" name="Shape 60"/>
          <p:cNvSpPr/>
          <p:nvPr/>
        </p:nvSpPr>
        <p:spPr>
          <a:xfrm>
            <a:off x="4972050" y="3857625"/>
            <a:ext cx="3543300" cy="3800475"/>
          </a:xfrm>
          <a:prstGeom prst="rect">
            <a:avLst/>
          </a:prstGeom>
          <a:solidFill>
            <a:srgbClr val="1A202C"/>
          </a:solidFill>
          <a:ln/>
        </p:spPr>
        <p:txBody>
          <a:bodyPr/>
          <a:lstStyle/>
          <a:p>
            <a:endParaRPr lang="en-US"/>
          </a:p>
        </p:txBody>
      </p:sp>
      <p:sp>
        <p:nvSpPr>
          <p:cNvPr id="64" name="Text 61"/>
          <p:cNvSpPr/>
          <p:nvPr/>
        </p:nvSpPr>
        <p:spPr>
          <a:xfrm>
            <a:off x="5086350" y="3975497"/>
            <a:ext cx="1931687"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Binary search implementation</a:t>
            </a:r>
            <a:endParaRPr lang="en-US" sz="788" dirty="0"/>
          </a:p>
        </p:txBody>
      </p:sp>
      <p:sp>
        <p:nvSpPr>
          <p:cNvPr id="65" name="Text 62"/>
          <p:cNvSpPr/>
          <p:nvPr/>
        </p:nvSpPr>
        <p:spPr>
          <a:xfrm>
            <a:off x="5086350" y="4118372"/>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66" name="Text 63"/>
          <p:cNvSpPr/>
          <p:nvPr/>
        </p:nvSpPr>
        <p:spPr>
          <a:xfrm>
            <a:off x="5566432" y="4118372"/>
            <a:ext cx="1871663"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binarySearch(array, target) {</a:t>
            </a:r>
            <a:endParaRPr lang="en-US" sz="788" dirty="0"/>
          </a:p>
        </p:txBody>
      </p:sp>
      <p:sp>
        <p:nvSpPr>
          <p:cNvPr id="67" name="Text 64"/>
          <p:cNvSpPr/>
          <p:nvPr/>
        </p:nvSpPr>
        <p:spPr>
          <a:xfrm>
            <a:off x="5206371" y="426124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68" name="Text 65"/>
          <p:cNvSpPr/>
          <p:nvPr/>
        </p:nvSpPr>
        <p:spPr>
          <a:xfrm>
            <a:off x="5386415" y="4261247"/>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left = 0;</a:t>
            </a:r>
            <a:endParaRPr lang="en-US" sz="788" dirty="0"/>
          </a:p>
        </p:txBody>
      </p:sp>
      <p:sp>
        <p:nvSpPr>
          <p:cNvPr id="69" name="Text 66"/>
          <p:cNvSpPr/>
          <p:nvPr/>
        </p:nvSpPr>
        <p:spPr>
          <a:xfrm>
            <a:off x="5206371" y="4404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70" name="Text 67"/>
          <p:cNvSpPr/>
          <p:nvPr/>
        </p:nvSpPr>
        <p:spPr>
          <a:xfrm>
            <a:off x="5386415" y="4404122"/>
            <a:ext cx="163164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right = array.length - 1;</a:t>
            </a:r>
            <a:endParaRPr lang="en-US" sz="788" dirty="0"/>
          </a:p>
        </p:txBody>
      </p:sp>
      <p:sp>
        <p:nvSpPr>
          <p:cNvPr id="71" name="Text 68"/>
          <p:cNvSpPr/>
          <p:nvPr/>
        </p:nvSpPr>
        <p:spPr>
          <a:xfrm>
            <a:off x="5206371" y="4689872"/>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72" name="Text 69"/>
          <p:cNvSpPr/>
          <p:nvPr/>
        </p:nvSpPr>
        <p:spPr>
          <a:xfrm>
            <a:off x="5506408" y="4689872"/>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(left &lt;= right) {</a:t>
            </a:r>
            <a:endParaRPr lang="en-US" sz="788" dirty="0"/>
          </a:p>
        </p:txBody>
      </p:sp>
      <p:sp>
        <p:nvSpPr>
          <p:cNvPr id="73" name="Text 70"/>
          <p:cNvSpPr/>
          <p:nvPr/>
        </p:nvSpPr>
        <p:spPr>
          <a:xfrm>
            <a:off x="5326391" y="4832747"/>
            <a:ext cx="1271588"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Find middle index</a:t>
            </a:r>
            <a:endParaRPr lang="en-US" sz="788" dirty="0"/>
          </a:p>
        </p:txBody>
      </p:sp>
      <p:sp>
        <p:nvSpPr>
          <p:cNvPr id="74" name="Text 71"/>
          <p:cNvSpPr/>
          <p:nvPr/>
        </p:nvSpPr>
        <p:spPr>
          <a:xfrm>
            <a:off x="5326391" y="49756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75" name="Text 72"/>
          <p:cNvSpPr/>
          <p:nvPr/>
        </p:nvSpPr>
        <p:spPr>
          <a:xfrm>
            <a:off x="5506436" y="4975622"/>
            <a:ext cx="235174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mid = Math.floor((left + right) / 2);</a:t>
            </a:r>
            <a:endParaRPr lang="en-US" sz="788" dirty="0"/>
          </a:p>
        </p:txBody>
      </p:sp>
      <p:sp>
        <p:nvSpPr>
          <p:cNvPr id="76" name="Text 73"/>
          <p:cNvSpPr/>
          <p:nvPr/>
        </p:nvSpPr>
        <p:spPr>
          <a:xfrm>
            <a:off x="5326391" y="5261372"/>
            <a:ext cx="1691646"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Check if target is found</a:t>
            </a:r>
            <a:endParaRPr lang="en-US" sz="788" dirty="0"/>
          </a:p>
        </p:txBody>
      </p:sp>
      <p:sp>
        <p:nvSpPr>
          <p:cNvPr id="77" name="Text 74"/>
          <p:cNvSpPr/>
          <p:nvPr/>
        </p:nvSpPr>
        <p:spPr>
          <a:xfrm>
            <a:off x="5326391" y="540424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78" name="Text 75"/>
          <p:cNvSpPr/>
          <p:nvPr/>
        </p:nvSpPr>
        <p:spPr>
          <a:xfrm>
            <a:off x="5446412" y="5404247"/>
            <a:ext cx="163164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(array[mid] === target) {</a:t>
            </a:r>
            <a:endParaRPr lang="en-US" sz="788" dirty="0"/>
          </a:p>
        </p:txBody>
      </p:sp>
      <p:sp>
        <p:nvSpPr>
          <p:cNvPr id="79" name="Text 76"/>
          <p:cNvSpPr/>
          <p:nvPr/>
        </p:nvSpPr>
        <p:spPr>
          <a:xfrm>
            <a:off x="5446412" y="55471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80" name="Text 77"/>
          <p:cNvSpPr/>
          <p:nvPr/>
        </p:nvSpPr>
        <p:spPr>
          <a:xfrm>
            <a:off x="5806473" y="5547122"/>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mid;</a:t>
            </a:r>
            <a:endParaRPr lang="en-US" sz="788" dirty="0"/>
          </a:p>
        </p:txBody>
      </p:sp>
      <p:sp>
        <p:nvSpPr>
          <p:cNvPr id="81" name="Text 78"/>
          <p:cNvSpPr/>
          <p:nvPr/>
        </p:nvSpPr>
        <p:spPr>
          <a:xfrm>
            <a:off x="5086350" y="568999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82" name="Text 79"/>
          <p:cNvSpPr/>
          <p:nvPr/>
        </p:nvSpPr>
        <p:spPr>
          <a:xfrm>
            <a:off x="5326391" y="5975747"/>
            <a:ext cx="139160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Narrow search range</a:t>
            </a:r>
            <a:endParaRPr lang="en-US" sz="788" dirty="0"/>
          </a:p>
        </p:txBody>
      </p:sp>
      <p:sp>
        <p:nvSpPr>
          <p:cNvPr id="83" name="Text 80"/>
          <p:cNvSpPr/>
          <p:nvPr/>
        </p:nvSpPr>
        <p:spPr>
          <a:xfrm>
            <a:off x="5326391" y="611862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84" name="Text 81"/>
          <p:cNvSpPr/>
          <p:nvPr/>
        </p:nvSpPr>
        <p:spPr>
          <a:xfrm>
            <a:off x="5446412" y="6118622"/>
            <a:ext cx="151162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(array[mid] &lt; target) {</a:t>
            </a:r>
            <a:endParaRPr lang="en-US" sz="788" dirty="0"/>
          </a:p>
        </p:txBody>
      </p:sp>
      <p:sp>
        <p:nvSpPr>
          <p:cNvPr id="85" name="Text 82"/>
          <p:cNvSpPr/>
          <p:nvPr/>
        </p:nvSpPr>
        <p:spPr>
          <a:xfrm>
            <a:off x="5086350" y="6261497"/>
            <a:ext cx="133161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left = mid + 1;</a:t>
            </a:r>
            <a:endParaRPr lang="en-US" sz="788" dirty="0"/>
          </a:p>
        </p:txBody>
      </p:sp>
      <p:sp>
        <p:nvSpPr>
          <p:cNvPr id="86" name="Text 83"/>
          <p:cNvSpPr/>
          <p:nvPr/>
        </p:nvSpPr>
        <p:spPr>
          <a:xfrm>
            <a:off x="5086350" y="6404372"/>
            <a:ext cx="43149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87" name="Text 84"/>
          <p:cNvSpPr/>
          <p:nvPr/>
        </p:nvSpPr>
        <p:spPr>
          <a:xfrm>
            <a:off x="5446412" y="6404372"/>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88" name="Text 85"/>
          <p:cNvSpPr/>
          <p:nvPr/>
        </p:nvSpPr>
        <p:spPr>
          <a:xfrm>
            <a:off x="5686453" y="6404372"/>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89" name="Text 86"/>
          <p:cNvSpPr/>
          <p:nvPr/>
        </p:nvSpPr>
        <p:spPr>
          <a:xfrm>
            <a:off x="5086350" y="6547247"/>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right = mid - 1;</a:t>
            </a:r>
            <a:endParaRPr lang="en-US" sz="788" dirty="0"/>
          </a:p>
        </p:txBody>
      </p:sp>
      <p:sp>
        <p:nvSpPr>
          <p:cNvPr id="90" name="Text 87"/>
          <p:cNvSpPr/>
          <p:nvPr/>
        </p:nvSpPr>
        <p:spPr>
          <a:xfrm>
            <a:off x="5086350" y="6690122"/>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1" name="Text 88"/>
          <p:cNvSpPr/>
          <p:nvPr/>
        </p:nvSpPr>
        <p:spPr>
          <a:xfrm>
            <a:off x="5086350" y="683299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2" name="Text 89"/>
          <p:cNvSpPr/>
          <p:nvPr/>
        </p:nvSpPr>
        <p:spPr>
          <a:xfrm>
            <a:off x="5206371" y="7118747"/>
            <a:ext cx="1211591"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Target not found</a:t>
            </a:r>
            <a:endParaRPr lang="en-US" sz="788" dirty="0"/>
          </a:p>
        </p:txBody>
      </p:sp>
      <p:sp>
        <p:nvSpPr>
          <p:cNvPr id="93" name="Text 90"/>
          <p:cNvSpPr/>
          <p:nvPr/>
        </p:nvSpPr>
        <p:spPr>
          <a:xfrm>
            <a:off x="5206371" y="72616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94" name="Text 91"/>
          <p:cNvSpPr/>
          <p:nvPr/>
        </p:nvSpPr>
        <p:spPr>
          <a:xfrm>
            <a:off x="5566432" y="7261622"/>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-1;</a:t>
            </a:r>
            <a:endParaRPr lang="en-US" sz="788" dirty="0"/>
          </a:p>
        </p:txBody>
      </p:sp>
      <p:sp>
        <p:nvSpPr>
          <p:cNvPr id="95" name="Text 92"/>
          <p:cNvSpPr/>
          <p:nvPr/>
        </p:nvSpPr>
        <p:spPr>
          <a:xfrm>
            <a:off x="5086350" y="74044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6" name="Shape 93"/>
          <p:cNvSpPr/>
          <p:nvPr/>
        </p:nvSpPr>
        <p:spPr>
          <a:xfrm>
            <a:off x="457200" y="8201025"/>
            <a:ext cx="8229600" cy="53578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97" name="Text 94"/>
          <p:cNvSpPr/>
          <p:nvPr/>
        </p:nvSpPr>
        <p:spPr>
          <a:xfrm>
            <a:off x="628650" y="837247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3: Palindrome Check</a:t>
            </a:r>
            <a:endParaRPr lang="en-US" sz="1350" dirty="0"/>
          </a:p>
        </p:txBody>
      </p:sp>
      <p:sp>
        <p:nvSpPr>
          <p:cNvPr id="98" name="Shape 95"/>
          <p:cNvSpPr/>
          <p:nvPr/>
        </p:nvSpPr>
        <p:spPr>
          <a:xfrm>
            <a:off x="628650" y="8715375"/>
            <a:ext cx="2514600" cy="3200400"/>
          </a:xfrm>
          <a:prstGeom prst="rect">
            <a:avLst/>
          </a:prstGeom>
          <a:solidFill>
            <a:srgbClr val="1E3A8A">
              <a:alpha val="30000"/>
            </a:srgbClr>
          </a:solidFill>
          <a:ln/>
        </p:spPr>
        <p:txBody>
          <a:bodyPr/>
          <a:lstStyle/>
          <a:p>
            <a:endParaRPr lang="en-US"/>
          </a:p>
        </p:txBody>
      </p:sp>
      <p:sp>
        <p:nvSpPr>
          <p:cNvPr id="99" name="Shape 96"/>
          <p:cNvSpPr/>
          <p:nvPr/>
        </p:nvSpPr>
        <p:spPr>
          <a:xfrm>
            <a:off x="628650" y="8715375"/>
            <a:ext cx="28575" cy="3200400"/>
          </a:xfrm>
          <a:prstGeom prst="rect">
            <a:avLst/>
          </a:prstGeom>
          <a:solidFill>
            <a:srgbClr val="63B3ED"/>
          </a:solidFill>
          <a:ln/>
        </p:spPr>
        <p:txBody>
          <a:bodyPr/>
          <a:lstStyle/>
          <a:p>
            <a:endParaRPr lang="en-US"/>
          </a:p>
        </p:txBody>
      </p:sp>
      <p:sp>
        <p:nvSpPr>
          <p:cNvPr id="100" name="Text 97"/>
          <p:cNvSpPr/>
          <p:nvPr/>
        </p:nvSpPr>
        <p:spPr>
          <a:xfrm>
            <a:off x="742950" y="8801100"/>
            <a:ext cx="2471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 Statement</a:t>
            </a:r>
            <a:endParaRPr lang="en-US" sz="1125" dirty="0"/>
          </a:p>
        </p:txBody>
      </p:sp>
      <p:sp>
        <p:nvSpPr>
          <p:cNvPr id="101" name="Text 98"/>
          <p:cNvSpPr/>
          <p:nvPr/>
        </p:nvSpPr>
        <p:spPr>
          <a:xfrm>
            <a:off x="742950" y="9029700"/>
            <a:ext cx="2471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Check if a string is a palindrome (reads the same forward and backward).</a:t>
            </a:r>
            <a:endParaRPr lang="en-US" sz="788" dirty="0"/>
          </a:p>
        </p:txBody>
      </p:sp>
      <p:sp>
        <p:nvSpPr>
          <p:cNvPr id="102" name="Text 99"/>
          <p:cNvSpPr/>
          <p:nvPr/>
        </p:nvSpPr>
        <p:spPr>
          <a:xfrm>
            <a:off x="742950" y="9372600"/>
            <a:ext cx="24717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Examples: "radar", "level", "A man, a plan, a canal: Panama"</a:t>
            </a:r>
            <a:endParaRPr lang="en-US" sz="675" dirty="0"/>
          </a:p>
        </p:txBody>
      </p:sp>
      <p:sp>
        <p:nvSpPr>
          <p:cNvPr id="103" name="Shape 100"/>
          <p:cNvSpPr/>
          <p:nvPr/>
        </p:nvSpPr>
        <p:spPr>
          <a:xfrm>
            <a:off x="3314700" y="8715375"/>
            <a:ext cx="2514600" cy="3200400"/>
          </a:xfrm>
          <a:prstGeom prst="rect">
            <a:avLst/>
          </a:prstGeom>
          <a:solidFill>
            <a:srgbClr val="1E3A8A">
              <a:alpha val="30000"/>
            </a:srgbClr>
          </a:solidFill>
          <a:ln/>
        </p:spPr>
        <p:txBody>
          <a:bodyPr/>
          <a:lstStyle/>
          <a:p>
            <a:endParaRPr lang="en-US"/>
          </a:p>
        </p:txBody>
      </p:sp>
      <p:sp>
        <p:nvSpPr>
          <p:cNvPr id="104" name="Shape 101"/>
          <p:cNvSpPr/>
          <p:nvPr/>
        </p:nvSpPr>
        <p:spPr>
          <a:xfrm>
            <a:off x="3314700" y="8715375"/>
            <a:ext cx="28575" cy="3200400"/>
          </a:xfrm>
          <a:prstGeom prst="rect">
            <a:avLst/>
          </a:prstGeom>
          <a:solidFill>
            <a:srgbClr val="63B3ED"/>
          </a:solidFill>
          <a:ln/>
        </p:spPr>
        <p:txBody>
          <a:bodyPr/>
          <a:lstStyle/>
          <a:p>
            <a:endParaRPr lang="en-US"/>
          </a:p>
        </p:txBody>
      </p:sp>
      <p:sp>
        <p:nvSpPr>
          <p:cNvPr id="105" name="Text 102"/>
          <p:cNvSpPr/>
          <p:nvPr/>
        </p:nvSpPr>
        <p:spPr>
          <a:xfrm>
            <a:off x="3429000" y="8801100"/>
            <a:ext cx="2471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Logic Building Process</a:t>
            </a:r>
            <a:endParaRPr lang="en-US" sz="1125" dirty="0"/>
          </a:p>
        </p:txBody>
      </p:sp>
      <p:sp>
        <p:nvSpPr>
          <p:cNvPr id="106" name="Text 103"/>
          <p:cNvSpPr/>
          <p:nvPr/>
        </p:nvSpPr>
        <p:spPr>
          <a:xfrm>
            <a:off x="3429000" y="9058275"/>
            <a:ext cx="2471738" cy="2286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1. Understand the problem: Compare characters from both ends</a:t>
            </a:r>
            <a:endParaRPr lang="en-US" sz="675" dirty="0"/>
          </a:p>
        </p:txBody>
      </p:sp>
      <p:sp>
        <p:nvSpPr>
          <p:cNvPr id="107" name="Text 104"/>
          <p:cNvSpPr/>
          <p:nvPr/>
        </p:nvSpPr>
        <p:spPr>
          <a:xfrm>
            <a:off x="3429000" y="9315450"/>
            <a:ext cx="2471738" cy="2286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2. Handle edge cases: Case sensitivity, non-alphanumeric characters</a:t>
            </a:r>
            <a:endParaRPr lang="en-US" sz="675" dirty="0"/>
          </a:p>
        </p:txBody>
      </p:sp>
      <p:sp>
        <p:nvSpPr>
          <p:cNvPr id="108" name="Text 105"/>
          <p:cNvSpPr/>
          <p:nvPr/>
        </p:nvSpPr>
        <p:spPr>
          <a:xfrm>
            <a:off x="3429000" y="9572625"/>
            <a:ext cx="24717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3. Develop algorithm: Two-pointer approach from both ends</a:t>
            </a:r>
            <a:endParaRPr lang="en-US" sz="675" dirty="0"/>
          </a:p>
        </p:txBody>
      </p:sp>
      <p:sp>
        <p:nvSpPr>
          <p:cNvPr id="109" name="Text 106"/>
          <p:cNvSpPr/>
          <p:nvPr/>
        </p:nvSpPr>
        <p:spPr>
          <a:xfrm>
            <a:off x="3429000" y="9715500"/>
            <a:ext cx="24717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4. Optimize: Clean string first or handle during comparison</a:t>
            </a:r>
            <a:endParaRPr lang="en-US" sz="675" dirty="0"/>
          </a:p>
        </p:txBody>
      </p:sp>
      <p:sp>
        <p:nvSpPr>
          <p:cNvPr id="110" name="Shape 107"/>
          <p:cNvSpPr/>
          <p:nvPr/>
        </p:nvSpPr>
        <p:spPr>
          <a:xfrm>
            <a:off x="6000750" y="8715375"/>
            <a:ext cx="2514600" cy="3200400"/>
          </a:xfrm>
          <a:prstGeom prst="rect">
            <a:avLst/>
          </a:prstGeom>
          <a:solidFill>
            <a:srgbClr val="1E3A8A">
              <a:alpha val="30000"/>
            </a:srgbClr>
          </a:solidFill>
          <a:ln/>
        </p:spPr>
        <p:txBody>
          <a:bodyPr/>
          <a:lstStyle/>
          <a:p>
            <a:endParaRPr lang="en-US"/>
          </a:p>
        </p:txBody>
      </p:sp>
      <p:sp>
        <p:nvSpPr>
          <p:cNvPr id="111" name="Shape 108"/>
          <p:cNvSpPr/>
          <p:nvPr/>
        </p:nvSpPr>
        <p:spPr>
          <a:xfrm>
            <a:off x="6000750" y="8715375"/>
            <a:ext cx="28575" cy="3200400"/>
          </a:xfrm>
          <a:prstGeom prst="rect">
            <a:avLst/>
          </a:prstGeom>
          <a:solidFill>
            <a:srgbClr val="63B3ED"/>
          </a:solidFill>
          <a:ln/>
        </p:spPr>
        <p:txBody>
          <a:bodyPr/>
          <a:lstStyle/>
          <a:p>
            <a:endParaRPr lang="en-US"/>
          </a:p>
        </p:txBody>
      </p:sp>
      <p:sp>
        <p:nvSpPr>
          <p:cNvPr id="112" name="Text 109"/>
          <p:cNvSpPr/>
          <p:nvPr/>
        </p:nvSpPr>
        <p:spPr>
          <a:xfrm>
            <a:off x="6115050" y="8801100"/>
            <a:ext cx="2471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Implementation</a:t>
            </a:r>
            <a:endParaRPr lang="en-US" sz="1125" dirty="0"/>
          </a:p>
        </p:txBody>
      </p:sp>
      <p:sp>
        <p:nvSpPr>
          <p:cNvPr id="113" name="Shape 110"/>
          <p:cNvSpPr/>
          <p:nvPr/>
        </p:nvSpPr>
        <p:spPr>
          <a:xfrm>
            <a:off x="6115050" y="9086850"/>
            <a:ext cx="2400300" cy="2743200"/>
          </a:xfrm>
          <a:prstGeom prst="rect">
            <a:avLst/>
          </a:prstGeom>
          <a:solidFill>
            <a:srgbClr val="1A202C"/>
          </a:solidFill>
          <a:ln/>
        </p:spPr>
        <p:txBody>
          <a:bodyPr/>
          <a:lstStyle/>
          <a:p>
            <a:endParaRPr lang="en-US"/>
          </a:p>
        </p:txBody>
      </p:sp>
      <p:sp>
        <p:nvSpPr>
          <p:cNvPr id="114" name="Text 111"/>
          <p:cNvSpPr/>
          <p:nvPr/>
        </p:nvSpPr>
        <p:spPr>
          <a:xfrm>
            <a:off x="6229350" y="9199364"/>
            <a:ext cx="48292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function</a:t>
            </a:r>
            <a:endParaRPr lang="en-US" sz="675" dirty="0"/>
          </a:p>
        </p:txBody>
      </p:sp>
      <p:sp>
        <p:nvSpPr>
          <p:cNvPr id="115" name="Text 112"/>
          <p:cNvSpPr/>
          <p:nvPr/>
        </p:nvSpPr>
        <p:spPr>
          <a:xfrm>
            <a:off x="6640841" y="9199364"/>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isPalindrome(str) {</a:t>
            </a:r>
            <a:endParaRPr lang="en-US" sz="675" dirty="0"/>
          </a:p>
        </p:txBody>
      </p:sp>
      <p:sp>
        <p:nvSpPr>
          <p:cNvPr id="116" name="Text 113"/>
          <p:cNvSpPr/>
          <p:nvPr/>
        </p:nvSpPr>
        <p:spPr>
          <a:xfrm>
            <a:off x="6229350" y="9313664"/>
            <a:ext cx="2077436" cy="2303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Clean string: lowercase and remove non-alphanumeric</a:t>
            </a:r>
            <a:endParaRPr lang="en-US" sz="675" dirty="0"/>
          </a:p>
        </p:txBody>
      </p:sp>
      <p:sp>
        <p:nvSpPr>
          <p:cNvPr id="117" name="Text 114"/>
          <p:cNvSpPr/>
          <p:nvPr/>
        </p:nvSpPr>
        <p:spPr>
          <a:xfrm>
            <a:off x="6332237" y="9542264"/>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const</a:t>
            </a:r>
            <a:endParaRPr lang="en-US" sz="675" dirty="0"/>
          </a:p>
        </p:txBody>
      </p:sp>
      <p:sp>
        <p:nvSpPr>
          <p:cNvPr id="118" name="Text 115"/>
          <p:cNvSpPr/>
          <p:nvPr/>
        </p:nvSpPr>
        <p:spPr>
          <a:xfrm>
            <a:off x="6229350" y="9542264"/>
            <a:ext cx="2077408" cy="3446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cleanStr = str.toLowerCase().replace(/[^a-z0-9]/g, '');</a:t>
            </a:r>
            <a:endParaRPr lang="en-US" sz="675" dirty="0"/>
          </a:p>
        </p:txBody>
      </p:sp>
      <p:sp>
        <p:nvSpPr>
          <p:cNvPr id="119" name="Text 116"/>
          <p:cNvSpPr/>
          <p:nvPr/>
        </p:nvSpPr>
        <p:spPr>
          <a:xfrm>
            <a:off x="6332237" y="9999464"/>
            <a:ext cx="125445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Two-pointer approach</a:t>
            </a:r>
            <a:endParaRPr lang="en-US" sz="675" dirty="0"/>
          </a:p>
        </p:txBody>
      </p:sp>
      <p:sp>
        <p:nvSpPr>
          <p:cNvPr id="120" name="Text 117"/>
          <p:cNvSpPr/>
          <p:nvPr/>
        </p:nvSpPr>
        <p:spPr>
          <a:xfrm>
            <a:off x="6332237" y="10113764"/>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let</a:t>
            </a:r>
            <a:endParaRPr lang="en-US" sz="675" dirty="0"/>
          </a:p>
        </p:txBody>
      </p:sp>
      <p:sp>
        <p:nvSpPr>
          <p:cNvPr id="121" name="Text 118"/>
          <p:cNvSpPr/>
          <p:nvPr/>
        </p:nvSpPr>
        <p:spPr>
          <a:xfrm>
            <a:off x="6486553" y="10113764"/>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left = 0;</a:t>
            </a:r>
            <a:endParaRPr lang="en-US" sz="675" dirty="0"/>
          </a:p>
        </p:txBody>
      </p:sp>
      <p:sp>
        <p:nvSpPr>
          <p:cNvPr id="122" name="Text 119"/>
          <p:cNvSpPr/>
          <p:nvPr/>
        </p:nvSpPr>
        <p:spPr>
          <a:xfrm>
            <a:off x="6332237" y="10228064"/>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let</a:t>
            </a:r>
            <a:endParaRPr lang="en-US" sz="675" dirty="0"/>
          </a:p>
        </p:txBody>
      </p:sp>
      <p:sp>
        <p:nvSpPr>
          <p:cNvPr id="123" name="Text 120"/>
          <p:cNvSpPr/>
          <p:nvPr/>
        </p:nvSpPr>
        <p:spPr>
          <a:xfrm>
            <a:off x="6486553" y="10228064"/>
            <a:ext cx="1563058"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right = cleanStr.length - 1;</a:t>
            </a:r>
            <a:endParaRPr lang="en-US" sz="675" dirty="0"/>
          </a:p>
        </p:txBody>
      </p:sp>
      <p:sp>
        <p:nvSpPr>
          <p:cNvPr id="124" name="Text 121"/>
          <p:cNvSpPr/>
          <p:nvPr/>
        </p:nvSpPr>
        <p:spPr>
          <a:xfrm>
            <a:off x="6332237" y="10456664"/>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25" name="Text 122"/>
          <p:cNvSpPr/>
          <p:nvPr/>
        </p:nvSpPr>
        <p:spPr>
          <a:xfrm>
            <a:off x="6589440" y="10456664"/>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(left &lt; right) {</a:t>
            </a:r>
            <a:endParaRPr lang="en-US" sz="675" dirty="0"/>
          </a:p>
        </p:txBody>
      </p:sp>
      <p:sp>
        <p:nvSpPr>
          <p:cNvPr id="126" name="Text 123"/>
          <p:cNvSpPr/>
          <p:nvPr/>
        </p:nvSpPr>
        <p:spPr>
          <a:xfrm>
            <a:off x="6435096" y="10570964"/>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27" name="Text 124"/>
          <p:cNvSpPr/>
          <p:nvPr/>
        </p:nvSpPr>
        <p:spPr>
          <a:xfrm>
            <a:off x="6229350" y="10570964"/>
            <a:ext cx="1408798"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(cleanStr[left] !== cleanStr[right]) {</a:t>
            </a:r>
            <a:endParaRPr lang="en-US" sz="675" dirty="0"/>
          </a:p>
        </p:txBody>
      </p:sp>
      <p:sp>
        <p:nvSpPr>
          <p:cNvPr id="128" name="Text 125"/>
          <p:cNvSpPr/>
          <p:nvPr/>
        </p:nvSpPr>
        <p:spPr>
          <a:xfrm>
            <a:off x="6537982" y="10799564"/>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129" name="Text 126"/>
          <p:cNvSpPr/>
          <p:nvPr/>
        </p:nvSpPr>
        <p:spPr>
          <a:xfrm>
            <a:off x="6846615" y="10799564"/>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false;</a:t>
            </a:r>
            <a:endParaRPr lang="en-US" sz="675" dirty="0"/>
          </a:p>
        </p:txBody>
      </p:sp>
      <p:sp>
        <p:nvSpPr>
          <p:cNvPr id="130" name="Text 127"/>
          <p:cNvSpPr/>
          <p:nvPr/>
        </p:nvSpPr>
        <p:spPr>
          <a:xfrm>
            <a:off x="6229350" y="10913864"/>
            <a:ext cx="32864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31" name="Text 128"/>
          <p:cNvSpPr/>
          <p:nvPr/>
        </p:nvSpPr>
        <p:spPr>
          <a:xfrm>
            <a:off x="6229350" y="11028164"/>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left++;</a:t>
            </a:r>
            <a:endParaRPr lang="en-US" sz="675" dirty="0"/>
          </a:p>
        </p:txBody>
      </p:sp>
      <p:sp>
        <p:nvSpPr>
          <p:cNvPr id="132" name="Text 129"/>
          <p:cNvSpPr/>
          <p:nvPr/>
        </p:nvSpPr>
        <p:spPr>
          <a:xfrm>
            <a:off x="6229350" y="11142464"/>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right--;</a:t>
            </a:r>
            <a:endParaRPr lang="en-US" sz="675" dirty="0"/>
          </a:p>
        </p:txBody>
      </p:sp>
      <p:sp>
        <p:nvSpPr>
          <p:cNvPr id="133" name="Text 130"/>
          <p:cNvSpPr/>
          <p:nvPr/>
        </p:nvSpPr>
        <p:spPr>
          <a:xfrm>
            <a:off x="6229350" y="11256764"/>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34" name="Text 131"/>
          <p:cNvSpPr/>
          <p:nvPr/>
        </p:nvSpPr>
        <p:spPr>
          <a:xfrm>
            <a:off x="6332237" y="11485364"/>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135" name="Text 132"/>
          <p:cNvSpPr/>
          <p:nvPr/>
        </p:nvSpPr>
        <p:spPr>
          <a:xfrm>
            <a:off x="6640869" y="11485364"/>
            <a:ext cx="38007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true;</a:t>
            </a:r>
            <a:endParaRPr lang="en-US" sz="675" dirty="0"/>
          </a:p>
        </p:txBody>
      </p:sp>
      <p:sp>
        <p:nvSpPr>
          <p:cNvPr id="136" name="Text 133"/>
          <p:cNvSpPr/>
          <p:nvPr/>
        </p:nvSpPr>
        <p:spPr>
          <a:xfrm>
            <a:off x="6229350" y="11599664"/>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37" name="Shape 134"/>
          <p:cNvSpPr/>
          <p:nvPr/>
        </p:nvSpPr>
        <p:spPr>
          <a:xfrm>
            <a:off x="628650" y="12087225"/>
            <a:ext cx="7886700" cy="1285875"/>
          </a:xfrm>
          <a:prstGeom prst="rect">
            <a:avLst/>
          </a:prstGeom>
          <a:solidFill>
            <a:srgbClr val="1E40AF">
              <a:alpha val="30000"/>
            </a:srgbClr>
          </a:solidFill>
          <a:ln/>
        </p:spPr>
        <p:txBody>
          <a:bodyPr/>
          <a:lstStyle/>
          <a:p>
            <a:endParaRPr lang="en-US"/>
          </a:p>
        </p:txBody>
      </p:sp>
      <p:pic>
        <p:nvPicPr>
          <p:cNvPr id="138" name="Image 1" descr="preencoded.png"/>
          <p:cNvPicPr>
            <a:picLocks noChangeAspect="1"/>
          </p:cNvPicPr>
          <p:nvPr/>
        </p:nvPicPr>
        <p:blipFill>
          <a:blip r:embed="rId4"/>
          <a:stretch>
            <a:fillRect/>
          </a:stretch>
        </p:blipFill>
        <p:spPr>
          <a:xfrm>
            <a:off x="742950" y="12644438"/>
            <a:ext cx="128588" cy="171450"/>
          </a:xfrm>
          <a:prstGeom prst="rect">
            <a:avLst/>
          </a:prstGeom>
        </p:spPr>
      </p:pic>
      <p:sp>
        <p:nvSpPr>
          <p:cNvPr id="139" name="Text 135"/>
          <p:cNvSpPr/>
          <p:nvPr/>
        </p:nvSpPr>
        <p:spPr>
          <a:xfrm>
            <a:off x="985838" y="12201525"/>
            <a:ext cx="2535864"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Key Takeaways</a:t>
            </a:r>
            <a:endParaRPr lang="en-US" sz="1125" dirty="0"/>
          </a:p>
        </p:txBody>
      </p:sp>
      <p:sp>
        <p:nvSpPr>
          <p:cNvPr id="140" name="Text 136"/>
          <p:cNvSpPr/>
          <p:nvPr/>
        </p:nvSpPr>
        <p:spPr>
          <a:xfrm>
            <a:off x="985838" y="12430125"/>
            <a:ext cx="253586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Start with a clear understanding of the problem</a:t>
            </a:r>
            <a:endParaRPr lang="en-US" sz="788" dirty="0"/>
          </a:p>
        </p:txBody>
      </p:sp>
      <p:sp>
        <p:nvSpPr>
          <p:cNvPr id="141" name="Text 137"/>
          <p:cNvSpPr/>
          <p:nvPr/>
        </p:nvSpPr>
        <p:spPr>
          <a:xfrm>
            <a:off x="985838" y="12601575"/>
            <a:ext cx="253586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Break down complex problems into manageable steps</a:t>
            </a:r>
            <a:endParaRPr lang="en-US" sz="788" dirty="0"/>
          </a:p>
        </p:txBody>
      </p:sp>
      <p:sp>
        <p:nvSpPr>
          <p:cNvPr id="142" name="Text 138"/>
          <p:cNvSpPr/>
          <p:nvPr/>
        </p:nvSpPr>
        <p:spPr>
          <a:xfrm>
            <a:off x="985838" y="12773025"/>
            <a:ext cx="253586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Consider edge cases and potential issues</a:t>
            </a:r>
            <a:endParaRPr lang="en-US" sz="788" dirty="0"/>
          </a:p>
        </p:txBody>
      </p:sp>
      <p:sp>
        <p:nvSpPr>
          <p:cNvPr id="143" name="Text 139"/>
          <p:cNvSpPr/>
          <p:nvPr/>
        </p:nvSpPr>
        <p:spPr>
          <a:xfrm>
            <a:off x="985838" y="12944475"/>
            <a:ext cx="253586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Choose appropriate data structures and algorithms</a:t>
            </a:r>
            <a:endParaRPr lang="en-US" sz="788" dirty="0"/>
          </a:p>
        </p:txBody>
      </p:sp>
      <p:sp>
        <p:nvSpPr>
          <p:cNvPr id="144" name="Text 140"/>
          <p:cNvSpPr/>
          <p:nvPr/>
        </p:nvSpPr>
        <p:spPr>
          <a:xfrm>
            <a:off x="985838" y="13115925"/>
            <a:ext cx="253586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Test your solution with various inputs</a:t>
            </a:r>
            <a:endParaRPr lang="en-US" sz="7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0908506"/>
          </a:xfrm>
          <a:prstGeom prst="rect">
            <a:avLst/>
          </a:prstGeom>
        </p:spPr>
      </p:pic>
      <p:sp>
        <p:nvSpPr>
          <p:cNvPr id="3" name="Text 0"/>
          <p:cNvSpPr/>
          <p:nvPr/>
        </p:nvSpPr>
        <p:spPr>
          <a:xfrm>
            <a:off x="457200" y="455414"/>
            <a:ext cx="1956941"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Introduction to</a:t>
            </a:r>
            <a:endParaRPr lang="en-US" sz="2025" dirty="0"/>
          </a:p>
        </p:txBody>
      </p:sp>
      <p:sp>
        <p:nvSpPr>
          <p:cNvPr id="4" name="Text 1"/>
          <p:cNvSpPr/>
          <p:nvPr/>
        </p:nvSpPr>
        <p:spPr>
          <a:xfrm>
            <a:off x="2342704" y="455414"/>
            <a:ext cx="1071646"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Dry Run</a:t>
            </a:r>
            <a:endParaRPr lang="en-US" sz="2025" dirty="0"/>
          </a:p>
        </p:txBody>
      </p:sp>
      <p:sp>
        <p:nvSpPr>
          <p:cNvPr id="5" name="Shape 2"/>
          <p:cNvSpPr/>
          <p:nvPr/>
        </p:nvSpPr>
        <p:spPr>
          <a:xfrm>
            <a:off x="457200" y="971550"/>
            <a:ext cx="4000500" cy="5457825"/>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What is a Dry Run?</a:t>
            </a:r>
            <a:endParaRPr lang="en-US" sz="1350" dirty="0"/>
          </a:p>
        </p:txBody>
      </p:sp>
      <p:sp>
        <p:nvSpPr>
          <p:cNvPr id="7" name="Text 4"/>
          <p:cNvSpPr/>
          <p:nvPr/>
        </p:nvSpPr>
        <p:spPr>
          <a:xfrm>
            <a:off x="628650" y="1485900"/>
            <a:ext cx="3729038" cy="600075"/>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A dry run is a method of manually tracing through code execution to understand program flow and identify errors without actually running the code on a computer.</a:t>
            </a:r>
            <a:endParaRPr lang="en-US" sz="1013" dirty="0"/>
          </a:p>
        </p:txBody>
      </p:sp>
      <p:sp>
        <p:nvSpPr>
          <p:cNvPr id="8" name="Shape 5"/>
          <p:cNvSpPr/>
          <p:nvPr/>
        </p:nvSpPr>
        <p:spPr>
          <a:xfrm>
            <a:off x="628650" y="2257425"/>
            <a:ext cx="3657600" cy="571500"/>
          </a:xfrm>
          <a:prstGeom prst="rect">
            <a:avLst/>
          </a:prstGeom>
          <a:solidFill>
            <a:srgbClr val="1E3A8A">
              <a:alpha val="30000"/>
            </a:srgbClr>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42950" y="2436019"/>
            <a:ext cx="214313" cy="214313"/>
          </a:xfrm>
          <a:prstGeom prst="rect">
            <a:avLst/>
          </a:prstGeom>
        </p:spPr>
      </p:pic>
      <p:sp>
        <p:nvSpPr>
          <p:cNvPr id="10" name="Text 6"/>
          <p:cNvSpPr/>
          <p:nvPr/>
        </p:nvSpPr>
        <p:spPr>
          <a:xfrm>
            <a:off x="1071563" y="2371725"/>
            <a:ext cx="3171825"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Simulating code execution by hand, tracking variables and control flow step by step</a:t>
            </a:r>
            <a:endParaRPr lang="en-US" sz="900" dirty="0"/>
          </a:p>
        </p:txBody>
      </p:sp>
      <p:sp>
        <p:nvSpPr>
          <p:cNvPr id="11" name="Text 7"/>
          <p:cNvSpPr/>
          <p:nvPr/>
        </p:nvSpPr>
        <p:spPr>
          <a:xfrm>
            <a:off x="628650" y="3000375"/>
            <a:ext cx="3729038" cy="200025"/>
          </a:xfrm>
          <a:prstGeom prst="rect">
            <a:avLst/>
          </a:prstGeom>
          <a:noFill/>
          <a:ln/>
        </p:spPr>
        <p:txBody>
          <a:bodyPr wrap="square" lIns="0" tIns="0" rIns="0" bIns="0" rtlCol="0" anchor="ctr">
            <a:spAutoFit/>
          </a:bodyPr>
          <a:lstStyle/>
          <a:p>
            <a:pPr marL="0" indent="0">
              <a:buNone/>
            </a:pPr>
            <a:r>
              <a:rPr lang="en-US" sz="1125" b="1" dirty="0">
                <a:solidFill>
                  <a:srgbClr val="BFDBFE"/>
                </a:solidFill>
                <a:latin typeface="Segoe UI" pitchFamily="34" charset="0"/>
                <a:ea typeface="Segoe UI" pitchFamily="34" charset="-122"/>
                <a:cs typeface="Segoe UI" pitchFamily="34" charset="-120"/>
              </a:rPr>
              <a:t>Key Characteristics</a:t>
            </a:r>
            <a:endParaRPr lang="en-US" sz="1125" dirty="0"/>
          </a:p>
        </p:txBody>
      </p:sp>
      <p:pic>
        <p:nvPicPr>
          <p:cNvPr id="12" name="Image 2" descr="preencoded.png"/>
          <p:cNvPicPr>
            <a:picLocks noChangeAspect="1"/>
          </p:cNvPicPr>
          <p:nvPr/>
        </p:nvPicPr>
        <p:blipFill>
          <a:blip r:embed="rId5"/>
          <a:stretch>
            <a:fillRect/>
          </a:stretch>
        </p:blipFill>
        <p:spPr>
          <a:xfrm>
            <a:off x="628650" y="3314700"/>
            <a:ext cx="114300" cy="114300"/>
          </a:xfrm>
          <a:prstGeom prst="rect">
            <a:avLst/>
          </a:prstGeom>
        </p:spPr>
      </p:pic>
      <p:sp>
        <p:nvSpPr>
          <p:cNvPr id="13" name="Text 8"/>
          <p:cNvSpPr/>
          <p:nvPr/>
        </p:nvSpPr>
        <p:spPr>
          <a:xfrm>
            <a:off x="800100" y="3286125"/>
            <a:ext cx="2447739"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Manual process (pen and paper or whiteboard)</a:t>
            </a:r>
            <a:endParaRPr lang="en-US" sz="900" dirty="0"/>
          </a:p>
        </p:txBody>
      </p:sp>
      <p:pic>
        <p:nvPicPr>
          <p:cNvPr id="14" name="Image 3" descr="preencoded.png"/>
          <p:cNvPicPr>
            <a:picLocks noChangeAspect="1"/>
          </p:cNvPicPr>
          <p:nvPr/>
        </p:nvPicPr>
        <p:blipFill>
          <a:blip r:embed="rId5"/>
          <a:stretch>
            <a:fillRect/>
          </a:stretch>
        </p:blipFill>
        <p:spPr>
          <a:xfrm>
            <a:off x="628650" y="3543300"/>
            <a:ext cx="114300" cy="114300"/>
          </a:xfrm>
          <a:prstGeom prst="rect">
            <a:avLst/>
          </a:prstGeom>
        </p:spPr>
      </p:pic>
      <p:sp>
        <p:nvSpPr>
          <p:cNvPr id="15" name="Text 9"/>
          <p:cNvSpPr/>
          <p:nvPr/>
        </p:nvSpPr>
        <p:spPr>
          <a:xfrm>
            <a:off x="800100" y="3514725"/>
            <a:ext cx="1858770"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Tracks variable values at each step</a:t>
            </a:r>
            <a:endParaRPr lang="en-US" sz="900" dirty="0"/>
          </a:p>
        </p:txBody>
      </p:sp>
      <p:pic>
        <p:nvPicPr>
          <p:cNvPr id="16" name="Image 4" descr="preencoded.png"/>
          <p:cNvPicPr>
            <a:picLocks noChangeAspect="1"/>
          </p:cNvPicPr>
          <p:nvPr/>
        </p:nvPicPr>
        <p:blipFill>
          <a:blip r:embed="rId5"/>
          <a:stretch>
            <a:fillRect/>
          </a:stretch>
        </p:blipFill>
        <p:spPr>
          <a:xfrm>
            <a:off x="628650" y="3771900"/>
            <a:ext cx="114300" cy="114300"/>
          </a:xfrm>
          <a:prstGeom prst="rect">
            <a:avLst/>
          </a:prstGeom>
        </p:spPr>
      </p:pic>
      <p:sp>
        <p:nvSpPr>
          <p:cNvPr id="17" name="Text 10"/>
          <p:cNvSpPr/>
          <p:nvPr/>
        </p:nvSpPr>
        <p:spPr>
          <a:xfrm>
            <a:off x="800100" y="3743325"/>
            <a:ext cx="2923803"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Follows program flow (conditionals, loops, function calls)</a:t>
            </a:r>
            <a:endParaRPr lang="en-US" sz="900" dirty="0"/>
          </a:p>
        </p:txBody>
      </p:sp>
      <p:pic>
        <p:nvPicPr>
          <p:cNvPr id="18" name="Image 5" descr="preencoded.png"/>
          <p:cNvPicPr>
            <a:picLocks noChangeAspect="1"/>
          </p:cNvPicPr>
          <p:nvPr/>
        </p:nvPicPr>
        <p:blipFill>
          <a:blip r:embed="rId5"/>
          <a:stretch>
            <a:fillRect/>
          </a:stretch>
        </p:blipFill>
        <p:spPr>
          <a:xfrm>
            <a:off x="628650" y="4000500"/>
            <a:ext cx="114300" cy="114300"/>
          </a:xfrm>
          <a:prstGeom prst="rect">
            <a:avLst/>
          </a:prstGeom>
        </p:spPr>
      </p:pic>
      <p:sp>
        <p:nvSpPr>
          <p:cNvPr id="19" name="Text 11"/>
          <p:cNvSpPr/>
          <p:nvPr/>
        </p:nvSpPr>
        <p:spPr>
          <a:xfrm>
            <a:off x="800100" y="3971925"/>
            <a:ext cx="2492332"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Documents state changes throughout execution</a:t>
            </a:r>
            <a:endParaRPr lang="en-US" sz="900" dirty="0"/>
          </a:p>
        </p:txBody>
      </p:sp>
      <p:sp>
        <p:nvSpPr>
          <p:cNvPr id="20" name="Shape 12"/>
          <p:cNvSpPr/>
          <p:nvPr/>
        </p:nvSpPr>
        <p:spPr>
          <a:xfrm>
            <a:off x="4686300" y="971550"/>
            <a:ext cx="4000500" cy="2414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1" name="Text 13"/>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Dry Run vs. Debugging</a:t>
            </a:r>
            <a:endParaRPr lang="en-US" sz="1350" dirty="0"/>
          </a:p>
        </p:txBody>
      </p:sp>
      <p:sp>
        <p:nvSpPr>
          <p:cNvPr id="22" name="Shape 14"/>
          <p:cNvSpPr/>
          <p:nvPr/>
        </p:nvSpPr>
        <p:spPr>
          <a:xfrm>
            <a:off x="4857750" y="1485900"/>
            <a:ext cx="1771650" cy="1714500"/>
          </a:xfrm>
          <a:prstGeom prst="rect">
            <a:avLst/>
          </a:prstGeom>
          <a:solidFill>
            <a:srgbClr val="1E40AF">
              <a:alpha val="50000"/>
            </a:srgbClr>
          </a:solidFill>
          <a:ln/>
        </p:spPr>
        <p:txBody>
          <a:bodyPr/>
          <a:lstStyle/>
          <a:p>
            <a:endParaRPr lang="en-US"/>
          </a:p>
        </p:txBody>
      </p:sp>
      <p:sp>
        <p:nvSpPr>
          <p:cNvPr id="23" name="Text 15"/>
          <p:cNvSpPr/>
          <p:nvPr/>
        </p:nvSpPr>
        <p:spPr>
          <a:xfrm>
            <a:off x="4972050" y="1600200"/>
            <a:ext cx="1614488" cy="200025"/>
          </a:xfrm>
          <a:prstGeom prst="rect">
            <a:avLst/>
          </a:prstGeom>
          <a:noFill/>
          <a:ln/>
        </p:spPr>
        <p:txBody>
          <a:bodyPr wrap="square" lIns="0" tIns="0" rIns="0" bIns="0" rtlCol="0" anchor="ctr">
            <a:spAutoFit/>
          </a:bodyPr>
          <a:lstStyle/>
          <a:p>
            <a:pPr marL="0" indent="0" algn="ctr">
              <a:buNone/>
            </a:pPr>
            <a:r>
              <a:rPr lang="en-US" sz="1013" b="1" dirty="0">
                <a:solidFill>
                  <a:srgbClr val="E2E8F0"/>
                </a:solidFill>
                <a:latin typeface="Segoe UI" pitchFamily="34" charset="0"/>
                <a:ea typeface="Segoe UI" pitchFamily="34" charset="-122"/>
                <a:cs typeface="Segoe UI" pitchFamily="34" charset="-120"/>
              </a:rPr>
              <a:t>Dry Run</a:t>
            </a:r>
            <a:endParaRPr lang="en-US" sz="1013" dirty="0"/>
          </a:p>
        </p:txBody>
      </p:sp>
      <p:pic>
        <p:nvPicPr>
          <p:cNvPr id="24" name="Image 6" descr="preencoded.png"/>
          <p:cNvPicPr>
            <a:picLocks noChangeAspect="1"/>
          </p:cNvPicPr>
          <p:nvPr/>
        </p:nvPicPr>
        <p:blipFill>
          <a:blip r:embed="rId6"/>
          <a:stretch>
            <a:fillRect/>
          </a:stretch>
        </p:blipFill>
        <p:spPr>
          <a:xfrm>
            <a:off x="4972050" y="1885950"/>
            <a:ext cx="50006" cy="100013"/>
          </a:xfrm>
          <a:prstGeom prst="rect">
            <a:avLst/>
          </a:prstGeom>
        </p:spPr>
      </p:pic>
      <p:sp>
        <p:nvSpPr>
          <p:cNvPr id="25" name="Text 16"/>
          <p:cNvSpPr/>
          <p:nvPr/>
        </p:nvSpPr>
        <p:spPr>
          <a:xfrm>
            <a:off x="5079206" y="1857375"/>
            <a:ext cx="777441"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Manual process</a:t>
            </a:r>
            <a:endParaRPr lang="en-US" sz="788" dirty="0"/>
          </a:p>
        </p:txBody>
      </p:sp>
      <p:pic>
        <p:nvPicPr>
          <p:cNvPr id="26" name="Image 7" descr="preencoded.png"/>
          <p:cNvPicPr>
            <a:picLocks noChangeAspect="1"/>
          </p:cNvPicPr>
          <p:nvPr/>
        </p:nvPicPr>
        <p:blipFill>
          <a:blip r:embed="rId6"/>
          <a:stretch>
            <a:fillRect/>
          </a:stretch>
        </p:blipFill>
        <p:spPr>
          <a:xfrm>
            <a:off x="4972050" y="2085975"/>
            <a:ext cx="50006" cy="100013"/>
          </a:xfrm>
          <a:prstGeom prst="rect">
            <a:avLst/>
          </a:prstGeom>
        </p:spPr>
      </p:pic>
      <p:sp>
        <p:nvSpPr>
          <p:cNvPr id="27" name="Text 17"/>
          <p:cNvSpPr/>
          <p:nvPr/>
        </p:nvSpPr>
        <p:spPr>
          <a:xfrm>
            <a:off x="5079206" y="2057400"/>
            <a:ext cx="1507331"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No execution environment needed</a:t>
            </a:r>
            <a:endParaRPr lang="en-US" sz="788" dirty="0"/>
          </a:p>
        </p:txBody>
      </p:sp>
      <p:pic>
        <p:nvPicPr>
          <p:cNvPr id="28" name="Image 8" descr="preencoded.png"/>
          <p:cNvPicPr>
            <a:picLocks noChangeAspect="1"/>
          </p:cNvPicPr>
          <p:nvPr/>
        </p:nvPicPr>
        <p:blipFill>
          <a:blip r:embed="rId6"/>
          <a:stretch>
            <a:fillRect/>
          </a:stretch>
        </p:blipFill>
        <p:spPr>
          <a:xfrm>
            <a:off x="4972050" y="2428875"/>
            <a:ext cx="50006" cy="100013"/>
          </a:xfrm>
          <a:prstGeom prst="rect">
            <a:avLst/>
          </a:prstGeom>
        </p:spPr>
      </p:pic>
      <p:sp>
        <p:nvSpPr>
          <p:cNvPr id="29" name="Text 18"/>
          <p:cNvSpPr/>
          <p:nvPr/>
        </p:nvSpPr>
        <p:spPr>
          <a:xfrm>
            <a:off x="5079206" y="2400300"/>
            <a:ext cx="148364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Focuses on understanding logic</a:t>
            </a:r>
            <a:endParaRPr lang="en-US" sz="788" dirty="0"/>
          </a:p>
        </p:txBody>
      </p:sp>
      <p:pic>
        <p:nvPicPr>
          <p:cNvPr id="30" name="Image 9" descr="preencoded.png"/>
          <p:cNvPicPr>
            <a:picLocks noChangeAspect="1"/>
          </p:cNvPicPr>
          <p:nvPr/>
        </p:nvPicPr>
        <p:blipFill>
          <a:blip r:embed="rId6"/>
          <a:stretch>
            <a:fillRect/>
          </a:stretch>
        </p:blipFill>
        <p:spPr>
          <a:xfrm>
            <a:off x="4972050" y="2628900"/>
            <a:ext cx="50006" cy="100013"/>
          </a:xfrm>
          <a:prstGeom prst="rect">
            <a:avLst/>
          </a:prstGeom>
        </p:spPr>
      </p:pic>
      <p:sp>
        <p:nvSpPr>
          <p:cNvPr id="31" name="Text 19"/>
          <p:cNvSpPr/>
          <p:nvPr/>
        </p:nvSpPr>
        <p:spPr>
          <a:xfrm>
            <a:off x="5079206" y="2600325"/>
            <a:ext cx="988795"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Preventive approach</a:t>
            </a:r>
            <a:endParaRPr lang="en-US" sz="788" dirty="0"/>
          </a:p>
        </p:txBody>
      </p:sp>
      <p:pic>
        <p:nvPicPr>
          <p:cNvPr id="32" name="Image 10" descr="preencoded.png"/>
          <p:cNvPicPr>
            <a:picLocks noChangeAspect="1"/>
          </p:cNvPicPr>
          <p:nvPr/>
        </p:nvPicPr>
        <p:blipFill>
          <a:blip r:embed="rId6"/>
          <a:stretch>
            <a:fillRect/>
          </a:stretch>
        </p:blipFill>
        <p:spPr>
          <a:xfrm>
            <a:off x="4972050" y="2828925"/>
            <a:ext cx="50006" cy="100013"/>
          </a:xfrm>
          <a:prstGeom prst="rect">
            <a:avLst/>
          </a:prstGeom>
        </p:spPr>
      </p:pic>
      <p:sp>
        <p:nvSpPr>
          <p:cNvPr id="33" name="Text 20"/>
          <p:cNvSpPr/>
          <p:nvPr/>
        </p:nvSpPr>
        <p:spPr>
          <a:xfrm>
            <a:off x="5079206" y="2800350"/>
            <a:ext cx="1507331"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Can be done before writing code</a:t>
            </a:r>
            <a:endParaRPr lang="en-US" sz="788" dirty="0"/>
          </a:p>
        </p:txBody>
      </p:sp>
      <p:sp>
        <p:nvSpPr>
          <p:cNvPr id="34" name="Shape 21"/>
          <p:cNvSpPr/>
          <p:nvPr/>
        </p:nvSpPr>
        <p:spPr>
          <a:xfrm>
            <a:off x="6743700" y="1485900"/>
            <a:ext cx="1771650" cy="1714500"/>
          </a:xfrm>
          <a:prstGeom prst="rect">
            <a:avLst/>
          </a:prstGeom>
          <a:solidFill>
            <a:srgbClr val="1E40AF">
              <a:alpha val="50000"/>
            </a:srgbClr>
          </a:solidFill>
          <a:ln/>
        </p:spPr>
        <p:txBody>
          <a:bodyPr/>
          <a:lstStyle/>
          <a:p>
            <a:endParaRPr lang="en-US"/>
          </a:p>
        </p:txBody>
      </p:sp>
      <p:sp>
        <p:nvSpPr>
          <p:cNvPr id="35" name="Text 22"/>
          <p:cNvSpPr/>
          <p:nvPr/>
        </p:nvSpPr>
        <p:spPr>
          <a:xfrm>
            <a:off x="6858000" y="1600200"/>
            <a:ext cx="1614488" cy="200025"/>
          </a:xfrm>
          <a:prstGeom prst="rect">
            <a:avLst/>
          </a:prstGeom>
          <a:noFill/>
          <a:ln/>
        </p:spPr>
        <p:txBody>
          <a:bodyPr wrap="square" lIns="0" tIns="0" rIns="0" bIns="0" rtlCol="0" anchor="ctr">
            <a:spAutoFit/>
          </a:bodyPr>
          <a:lstStyle/>
          <a:p>
            <a:pPr marL="0" indent="0" algn="ctr">
              <a:buNone/>
            </a:pPr>
            <a:r>
              <a:rPr lang="en-US" sz="1013" b="1" dirty="0">
                <a:solidFill>
                  <a:srgbClr val="E2E8F0"/>
                </a:solidFill>
                <a:latin typeface="Segoe UI" pitchFamily="34" charset="0"/>
                <a:ea typeface="Segoe UI" pitchFamily="34" charset="-122"/>
                <a:cs typeface="Segoe UI" pitchFamily="34" charset="-120"/>
              </a:rPr>
              <a:t>Debugging</a:t>
            </a:r>
            <a:endParaRPr lang="en-US" sz="1013" dirty="0"/>
          </a:p>
        </p:txBody>
      </p:sp>
      <p:pic>
        <p:nvPicPr>
          <p:cNvPr id="36" name="Image 11" descr="preencoded.png"/>
          <p:cNvPicPr>
            <a:picLocks noChangeAspect="1"/>
          </p:cNvPicPr>
          <p:nvPr/>
        </p:nvPicPr>
        <p:blipFill>
          <a:blip r:embed="rId6"/>
          <a:stretch>
            <a:fillRect/>
          </a:stretch>
        </p:blipFill>
        <p:spPr>
          <a:xfrm>
            <a:off x="6858000" y="1885950"/>
            <a:ext cx="50006" cy="100013"/>
          </a:xfrm>
          <a:prstGeom prst="rect">
            <a:avLst/>
          </a:prstGeom>
        </p:spPr>
      </p:pic>
      <p:sp>
        <p:nvSpPr>
          <p:cNvPr id="37" name="Text 23"/>
          <p:cNvSpPr/>
          <p:nvPr/>
        </p:nvSpPr>
        <p:spPr>
          <a:xfrm>
            <a:off x="6965156" y="1857375"/>
            <a:ext cx="1033081"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Tool-assisted process</a:t>
            </a:r>
            <a:endParaRPr lang="en-US" sz="788" dirty="0"/>
          </a:p>
        </p:txBody>
      </p:sp>
      <p:pic>
        <p:nvPicPr>
          <p:cNvPr id="38" name="Image 12" descr="preencoded.png"/>
          <p:cNvPicPr>
            <a:picLocks noChangeAspect="1"/>
          </p:cNvPicPr>
          <p:nvPr/>
        </p:nvPicPr>
        <p:blipFill>
          <a:blip r:embed="rId6"/>
          <a:stretch>
            <a:fillRect/>
          </a:stretch>
        </p:blipFill>
        <p:spPr>
          <a:xfrm>
            <a:off x="6858000" y="2085975"/>
            <a:ext cx="50006" cy="100013"/>
          </a:xfrm>
          <a:prstGeom prst="rect">
            <a:avLst/>
          </a:prstGeom>
        </p:spPr>
      </p:pic>
      <p:sp>
        <p:nvSpPr>
          <p:cNvPr id="39" name="Text 24"/>
          <p:cNvSpPr/>
          <p:nvPr/>
        </p:nvSpPr>
        <p:spPr>
          <a:xfrm>
            <a:off x="6965156" y="2057400"/>
            <a:ext cx="150576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Requires execution environment</a:t>
            </a:r>
            <a:endParaRPr lang="en-US" sz="788" dirty="0"/>
          </a:p>
        </p:txBody>
      </p:sp>
      <p:pic>
        <p:nvPicPr>
          <p:cNvPr id="40" name="Image 13" descr="preencoded.png"/>
          <p:cNvPicPr>
            <a:picLocks noChangeAspect="1"/>
          </p:cNvPicPr>
          <p:nvPr/>
        </p:nvPicPr>
        <p:blipFill>
          <a:blip r:embed="rId6"/>
          <a:stretch>
            <a:fillRect/>
          </a:stretch>
        </p:blipFill>
        <p:spPr>
          <a:xfrm>
            <a:off x="6858000" y="2286000"/>
            <a:ext cx="50006" cy="100013"/>
          </a:xfrm>
          <a:prstGeom prst="rect">
            <a:avLst/>
          </a:prstGeom>
        </p:spPr>
      </p:pic>
      <p:sp>
        <p:nvSpPr>
          <p:cNvPr id="41" name="Text 25"/>
          <p:cNvSpPr/>
          <p:nvPr/>
        </p:nvSpPr>
        <p:spPr>
          <a:xfrm>
            <a:off x="6965156" y="2257425"/>
            <a:ext cx="1155613"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Focuses on finding bugs</a:t>
            </a:r>
            <a:endParaRPr lang="en-US" sz="788" dirty="0"/>
          </a:p>
        </p:txBody>
      </p:sp>
      <p:pic>
        <p:nvPicPr>
          <p:cNvPr id="42" name="Image 14" descr="preencoded.png"/>
          <p:cNvPicPr>
            <a:picLocks noChangeAspect="1"/>
          </p:cNvPicPr>
          <p:nvPr/>
        </p:nvPicPr>
        <p:blipFill>
          <a:blip r:embed="rId6"/>
          <a:stretch>
            <a:fillRect/>
          </a:stretch>
        </p:blipFill>
        <p:spPr>
          <a:xfrm>
            <a:off x="6858000" y="2486025"/>
            <a:ext cx="50006" cy="100013"/>
          </a:xfrm>
          <a:prstGeom prst="rect">
            <a:avLst/>
          </a:prstGeom>
        </p:spPr>
      </p:pic>
      <p:sp>
        <p:nvSpPr>
          <p:cNvPr id="43" name="Text 26"/>
          <p:cNvSpPr/>
          <p:nvPr/>
        </p:nvSpPr>
        <p:spPr>
          <a:xfrm>
            <a:off x="6965156" y="2457450"/>
            <a:ext cx="905387"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Reactive approach</a:t>
            </a:r>
            <a:endParaRPr lang="en-US" sz="788" dirty="0"/>
          </a:p>
        </p:txBody>
      </p:sp>
      <p:pic>
        <p:nvPicPr>
          <p:cNvPr id="44" name="Image 15" descr="preencoded.png"/>
          <p:cNvPicPr>
            <a:picLocks noChangeAspect="1"/>
          </p:cNvPicPr>
          <p:nvPr/>
        </p:nvPicPr>
        <p:blipFill>
          <a:blip r:embed="rId6"/>
          <a:stretch>
            <a:fillRect/>
          </a:stretch>
        </p:blipFill>
        <p:spPr>
          <a:xfrm>
            <a:off x="6858000" y="2686050"/>
            <a:ext cx="50006" cy="100013"/>
          </a:xfrm>
          <a:prstGeom prst="rect">
            <a:avLst/>
          </a:prstGeom>
        </p:spPr>
      </p:pic>
      <p:sp>
        <p:nvSpPr>
          <p:cNvPr id="45" name="Text 27"/>
          <p:cNvSpPr/>
          <p:nvPr/>
        </p:nvSpPr>
        <p:spPr>
          <a:xfrm>
            <a:off x="6965156" y="2657475"/>
            <a:ext cx="1205480" cy="142875"/>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Done after code is written</a:t>
            </a:r>
            <a:endParaRPr lang="en-US" sz="788" dirty="0"/>
          </a:p>
        </p:txBody>
      </p:sp>
      <p:sp>
        <p:nvSpPr>
          <p:cNvPr id="46" name="Shape 28"/>
          <p:cNvSpPr/>
          <p:nvPr/>
        </p:nvSpPr>
        <p:spPr>
          <a:xfrm>
            <a:off x="4686300" y="3543300"/>
            <a:ext cx="4000500" cy="28717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7" name="Text 29"/>
          <p:cNvSpPr/>
          <p:nvPr/>
        </p:nvSpPr>
        <p:spPr>
          <a:xfrm>
            <a:off x="4857750" y="3714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When to Use Dry Run</a:t>
            </a:r>
            <a:endParaRPr lang="en-US" sz="1350" dirty="0"/>
          </a:p>
        </p:txBody>
      </p:sp>
      <p:sp>
        <p:nvSpPr>
          <p:cNvPr id="48" name="Shape 30"/>
          <p:cNvSpPr/>
          <p:nvPr/>
        </p:nvSpPr>
        <p:spPr>
          <a:xfrm>
            <a:off x="4857750" y="4057650"/>
            <a:ext cx="1771650" cy="571500"/>
          </a:xfrm>
          <a:prstGeom prst="rect">
            <a:avLst/>
          </a:prstGeom>
          <a:solidFill>
            <a:srgbClr val="1E3A8A">
              <a:alpha val="30000"/>
            </a:srgbClr>
          </a:solidFill>
          <a:ln/>
        </p:spPr>
        <p:txBody>
          <a:bodyPr/>
          <a:lstStyle/>
          <a:p>
            <a:endParaRPr lang="en-US"/>
          </a:p>
        </p:txBody>
      </p:sp>
      <p:pic>
        <p:nvPicPr>
          <p:cNvPr id="49" name="Image 16" descr="preencoded.png"/>
          <p:cNvPicPr>
            <a:picLocks noChangeAspect="1"/>
          </p:cNvPicPr>
          <p:nvPr/>
        </p:nvPicPr>
        <p:blipFill>
          <a:blip r:embed="rId7"/>
          <a:stretch>
            <a:fillRect/>
          </a:stretch>
        </p:blipFill>
        <p:spPr>
          <a:xfrm>
            <a:off x="5636419" y="4143375"/>
            <a:ext cx="214313" cy="171450"/>
          </a:xfrm>
          <a:prstGeom prst="rect">
            <a:avLst/>
          </a:prstGeom>
        </p:spPr>
      </p:pic>
      <p:sp>
        <p:nvSpPr>
          <p:cNvPr id="50" name="Text 31"/>
          <p:cNvSpPr/>
          <p:nvPr/>
        </p:nvSpPr>
        <p:spPr>
          <a:xfrm>
            <a:off x="4943475" y="4371975"/>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During Algorithm Design</a:t>
            </a:r>
            <a:endParaRPr lang="en-US" sz="900" dirty="0"/>
          </a:p>
        </p:txBody>
      </p:sp>
      <p:sp>
        <p:nvSpPr>
          <p:cNvPr id="51" name="Shape 32"/>
          <p:cNvSpPr/>
          <p:nvPr/>
        </p:nvSpPr>
        <p:spPr>
          <a:xfrm>
            <a:off x="6743700" y="4057650"/>
            <a:ext cx="1771650" cy="571500"/>
          </a:xfrm>
          <a:prstGeom prst="rect">
            <a:avLst/>
          </a:prstGeom>
          <a:solidFill>
            <a:srgbClr val="1E3A8A">
              <a:alpha val="30000"/>
            </a:srgbClr>
          </a:solidFill>
          <a:ln/>
        </p:spPr>
        <p:txBody>
          <a:bodyPr/>
          <a:lstStyle/>
          <a:p>
            <a:endParaRPr lang="en-US"/>
          </a:p>
        </p:txBody>
      </p:sp>
      <p:pic>
        <p:nvPicPr>
          <p:cNvPr id="52" name="Image 17" descr="preencoded.png"/>
          <p:cNvPicPr>
            <a:picLocks noChangeAspect="1"/>
          </p:cNvPicPr>
          <p:nvPr/>
        </p:nvPicPr>
        <p:blipFill>
          <a:blip r:embed="rId8"/>
          <a:stretch>
            <a:fillRect/>
          </a:stretch>
        </p:blipFill>
        <p:spPr>
          <a:xfrm>
            <a:off x="7543800" y="4143375"/>
            <a:ext cx="171450" cy="171450"/>
          </a:xfrm>
          <a:prstGeom prst="rect">
            <a:avLst/>
          </a:prstGeom>
        </p:spPr>
      </p:pic>
      <p:sp>
        <p:nvSpPr>
          <p:cNvPr id="53" name="Text 33"/>
          <p:cNvSpPr/>
          <p:nvPr/>
        </p:nvSpPr>
        <p:spPr>
          <a:xfrm>
            <a:off x="6829425" y="4371975"/>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Debugging Complex Issues</a:t>
            </a:r>
            <a:endParaRPr lang="en-US" sz="900" dirty="0"/>
          </a:p>
        </p:txBody>
      </p:sp>
      <p:sp>
        <p:nvSpPr>
          <p:cNvPr id="54" name="Shape 34"/>
          <p:cNvSpPr/>
          <p:nvPr/>
        </p:nvSpPr>
        <p:spPr>
          <a:xfrm>
            <a:off x="4857750" y="4743450"/>
            <a:ext cx="1771650" cy="571500"/>
          </a:xfrm>
          <a:prstGeom prst="rect">
            <a:avLst/>
          </a:prstGeom>
          <a:solidFill>
            <a:srgbClr val="1E3A8A">
              <a:alpha val="30000"/>
            </a:srgbClr>
          </a:solidFill>
          <a:ln/>
        </p:spPr>
        <p:txBody>
          <a:bodyPr/>
          <a:lstStyle/>
          <a:p>
            <a:endParaRPr lang="en-US"/>
          </a:p>
        </p:txBody>
      </p:sp>
      <p:pic>
        <p:nvPicPr>
          <p:cNvPr id="55" name="Image 18" descr="preencoded.png"/>
          <p:cNvPicPr>
            <a:picLocks noChangeAspect="1"/>
          </p:cNvPicPr>
          <p:nvPr/>
        </p:nvPicPr>
        <p:blipFill>
          <a:blip r:embed="rId9"/>
          <a:stretch>
            <a:fillRect/>
          </a:stretch>
        </p:blipFill>
        <p:spPr>
          <a:xfrm>
            <a:off x="5657850" y="4829175"/>
            <a:ext cx="171450" cy="171450"/>
          </a:xfrm>
          <a:prstGeom prst="rect">
            <a:avLst/>
          </a:prstGeom>
        </p:spPr>
      </p:pic>
      <p:sp>
        <p:nvSpPr>
          <p:cNvPr id="56" name="Text 35"/>
          <p:cNvSpPr/>
          <p:nvPr/>
        </p:nvSpPr>
        <p:spPr>
          <a:xfrm>
            <a:off x="4943475" y="5057775"/>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Learning New Concepts</a:t>
            </a:r>
            <a:endParaRPr lang="en-US" sz="900" dirty="0"/>
          </a:p>
        </p:txBody>
      </p:sp>
      <p:sp>
        <p:nvSpPr>
          <p:cNvPr id="57" name="Shape 36"/>
          <p:cNvSpPr/>
          <p:nvPr/>
        </p:nvSpPr>
        <p:spPr>
          <a:xfrm>
            <a:off x="6743700" y="4743450"/>
            <a:ext cx="1771650" cy="571500"/>
          </a:xfrm>
          <a:prstGeom prst="rect">
            <a:avLst/>
          </a:prstGeom>
          <a:solidFill>
            <a:srgbClr val="1E3A8A">
              <a:alpha val="30000"/>
            </a:srgbClr>
          </a:solidFill>
          <a:ln/>
        </p:spPr>
        <p:txBody>
          <a:bodyPr/>
          <a:lstStyle/>
          <a:p>
            <a:endParaRPr lang="en-US"/>
          </a:p>
        </p:txBody>
      </p:sp>
      <p:pic>
        <p:nvPicPr>
          <p:cNvPr id="58" name="Image 19" descr="preencoded.png"/>
          <p:cNvPicPr>
            <a:picLocks noChangeAspect="1"/>
          </p:cNvPicPr>
          <p:nvPr/>
        </p:nvPicPr>
        <p:blipFill>
          <a:blip r:embed="rId10"/>
          <a:stretch>
            <a:fillRect/>
          </a:stretch>
        </p:blipFill>
        <p:spPr>
          <a:xfrm>
            <a:off x="7522369" y="4829175"/>
            <a:ext cx="214313" cy="171450"/>
          </a:xfrm>
          <a:prstGeom prst="rect">
            <a:avLst/>
          </a:prstGeom>
        </p:spPr>
      </p:pic>
      <p:sp>
        <p:nvSpPr>
          <p:cNvPr id="59" name="Text 37"/>
          <p:cNvSpPr/>
          <p:nvPr/>
        </p:nvSpPr>
        <p:spPr>
          <a:xfrm>
            <a:off x="6829425" y="5057775"/>
            <a:ext cx="1671638" cy="171450"/>
          </a:xfrm>
          <a:prstGeom prst="rect">
            <a:avLst/>
          </a:prstGeom>
          <a:noFill/>
          <a:ln/>
        </p:spPr>
        <p:txBody>
          <a:bodyPr wrap="squar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Technical Interviews</a:t>
            </a:r>
            <a:endParaRPr lang="en-US" sz="900" dirty="0"/>
          </a:p>
        </p:txBody>
      </p:sp>
      <p:sp>
        <p:nvSpPr>
          <p:cNvPr id="60" name="Shape 38"/>
          <p:cNvSpPr/>
          <p:nvPr/>
        </p:nvSpPr>
        <p:spPr>
          <a:xfrm>
            <a:off x="4857750" y="5486400"/>
            <a:ext cx="3657600" cy="742950"/>
          </a:xfrm>
          <a:prstGeom prst="rect">
            <a:avLst/>
          </a:prstGeom>
          <a:solidFill>
            <a:srgbClr val="78350F">
              <a:alpha val="20000"/>
            </a:srgbClr>
          </a:solidFill>
          <a:ln/>
        </p:spPr>
        <p:txBody>
          <a:bodyPr/>
          <a:lstStyle/>
          <a:p>
            <a:endParaRPr lang="en-US"/>
          </a:p>
        </p:txBody>
      </p:sp>
      <p:pic>
        <p:nvPicPr>
          <p:cNvPr id="61" name="Image 20" descr="preencoded.png"/>
          <p:cNvPicPr>
            <a:picLocks noChangeAspect="1"/>
          </p:cNvPicPr>
          <p:nvPr/>
        </p:nvPicPr>
        <p:blipFill>
          <a:blip r:embed="rId11"/>
          <a:stretch>
            <a:fillRect/>
          </a:stretch>
        </p:blipFill>
        <p:spPr>
          <a:xfrm>
            <a:off x="4972050" y="5772150"/>
            <a:ext cx="128588" cy="171450"/>
          </a:xfrm>
          <a:prstGeom prst="rect">
            <a:avLst/>
          </a:prstGeom>
        </p:spPr>
      </p:pic>
      <p:sp>
        <p:nvSpPr>
          <p:cNvPr id="62" name="Text 39"/>
          <p:cNvSpPr/>
          <p:nvPr/>
        </p:nvSpPr>
        <p:spPr>
          <a:xfrm>
            <a:off x="5214938" y="5600700"/>
            <a:ext cx="3257550" cy="51435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Dry running is particularly valuable for understanding complex control structures like nested loops, recursion, and intricate conditional logic.</a:t>
            </a:r>
            <a:endParaRPr lang="en-US" sz="900" dirty="0"/>
          </a:p>
        </p:txBody>
      </p:sp>
      <p:sp>
        <p:nvSpPr>
          <p:cNvPr id="63" name="Shape 40"/>
          <p:cNvSpPr/>
          <p:nvPr/>
        </p:nvSpPr>
        <p:spPr>
          <a:xfrm>
            <a:off x="457200" y="6629400"/>
            <a:ext cx="8229600" cy="3793331"/>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4" name="Text 41"/>
          <p:cNvSpPr/>
          <p:nvPr/>
        </p:nvSpPr>
        <p:spPr>
          <a:xfrm>
            <a:off x="628650" y="6800850"/>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Simple Dry Run Example</a:t>
            </a:r>
            <a:endParaRPr lang="en-US" sz="1350" dirty="0"/>
          </a:p>
        </p:txBody>
      </p:sp>
      <p:sp>
        <p:nvSpPr>
          <p:cNvPr id="65" name="Text 42"/>
          <p:cNvSpPr/>
          <p:nvPr/>
        </p:nvSpPr>
        <p:spPr>
          <a:xfrm>
            <a:off x="628650" y="7143750"/>
            <a:ext cx="39290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66" name="Shape 43"/>
          <p:cNvSpPr/>
          <p:nvPr/>
        </p:nvSpPr>
        <p:spPr>
          <a:xfrm>
            <a:off x="628650" y="7429500"/>
            <a:ext cx="3857625" cy="1657350"/>
          </a:xfrm>
          <a:prstGeom prst="rect">
            <a:avLst/>
          </a:prstGeom>
          <a:solidFill>
            <a:srgbClr val="111827"/>
          </a:solidFill>
          <a:ln/>
        </p:spPr>
        <p:txBody>
          <a:bodyPr/>
          <a:lstStyle/>
          <a:p>
            <a:endParaRPr lang="en-US"/>
          </a:p>
        </p:txBody>
      </p:sp>
      <p:sp>
        <p:nvSpPr>
          <p:cNvPr id="67" name="Text 44"/>
          <p:cNvSpPr/>
          <p:nvPr/>
        </p:nvSpPr>
        <p:spPr>
          <a:xfrm>
            <a:off x="742950" y="7543800"/>
            <a:ext cx="3700463" cy="1428750"/>
          </a:xfrm>
          <a:prstGeom prst="rect">
            <a:avLst/>
          </a:prstGeom>
          <a:noFill/>
          <a:ln/>
        </p:spPr>
        <p:txBody>
          <a:bodyPr wrap="square" lIns="0" tIns="0" rIns="0" bIns="0" rtlCol="0" anchor="ctr">
            <a:spAutoFit/>
          </a:bodyPr>
          <a:lstStyle/>
          <a:p>
            <a:pPr marL="0" indent="0">
              <a:buNone/>
            </a:pPr>
            <a:r>
              <a:rPr lang="en-US" sz="788" dirty="0">
                <a:solidFill>
                  <a:srgbClr val="FFFFFF"/>
                </a:solidFill>
                <a:latin typeface="ui-monospace" pitchFamily="34" charset="0"/>
                <a:ea typeface="ui-monospace" pitchFamily="34" charset="-122"/>
                <a:cs typeface="ui-monospace" pitchFamily="34" charset="-120"/>
              </a:rPr>
              <a:t>function sumArray(arr) {</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let sum = 0;</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for (let i = 0; i &lt; arr.length; i++) {</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sum += arr[i];</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return sum;</a:t>
            </a: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a:t>
            </a:r>
            <a:endParaRPr lang="en-US" sz="788" dirty="0"/>
          </a:p>
          <a:p>
            <a:pPr marL="0" indent="0">
              <a:buNone/>
            </a:pPr>
            <a:endParaRPr lang="en-US" sz="788" dirty="0"/>
          </a:p>
          <a:p>
            <a:pPr marL="0" indent="0">
              <a:buNone/>
            </a:pPr>
            <a:r>
              <a:rPr lang="en-US" sz="788" dirty="0">
                <a:solidFill>
                  <a:srgbClr val="FFFFFF"/>
                </a:solidFill>
                <a:latin typeface="ui-monospace" pitchFamily="34" charset="0"/>
                <a:ea typeface="ui-monospace" pitchFamily="34" charset="-122"/>
                <a:cs typeface="ui-monospace" pitchFamily="34" charset="-120"/>
              </a:rPr>
              <a:t>// Call with [2, 4, 6, 8]</a:t>
            </a:r>
            <a:endParaRPr lang="en-US" sz="788" dirty="0"/>
          </a:p>
        </p:txBody>
      </p:sp>
      <p:sp>
        <p:nvSpPr>
          <p:cNvPr id="68" name="Text 45"/>
          <p:cNvSpPr/>
          <p:nvPr/>
        </p:nvSpPr>
        <p:spPr>
          <a:xfrm>
            <a:off x="4657725" y="7143750"/>
            <a:ext cx="39290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69" name="Shape 46"/>
          <p:cNvSpPr/>
          <p:nvPr/>
        </p:nvSpPr>
        <p:spPr>
          <a:xfrm>
            <a:off x="4657725" y="7429500"/>
            <a:ext cx="3857625" cy="2807494"/>
          </a:xfrm>
          <a:prstGeom prst="rect">
            <a:avLst/>
          </a:prstGeom>
          <a:solidFill>
            <a:srgbClr val="1E3A8A">
              <a:alpha val="30000"/>
            </a:srgbClr>
          </a:solidFill>
          <a:ln/>
        </p:spPr>
        <p:txBody>
          <a:bodyPr/>
          <a:lstStyle/>
          <a:p>
            <a:endParaRPr lang="en-US"/>
          </a:p>
        </p:txBody>
      </p:sp>
      <p:sp>
        <p:nvSpPr>
          <p:cNvPr id="70" name="Text 47"/>
          <p:cNvSpPr/>
          <p:nvPr/>
        </p:nvSpPr>
        <p:spPr>
          <a:xfrm>
            <a:off x="4657725" y="7429500"/>
            <a:ext cx="547725"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71" name="Text 48"/>
          <p:cNvSpPr/>
          <p:nvPr/>
        </p:nvSpPr>
        <p:spPr>
          <a:xfrm>
            <a:off x="5134012" y="7429500"/>
            <a:ext cx="535000"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Line</a:t>
            </a:r>
            <a:endParaRPr lang="en-US" sz="900" dirty="0"/>
          </a:p>
        </p:txBody>
      </p:sp>
      <p:sp>
        <p:nvSpPr>
          <p:cNvPr id="72" name="Text 49"/>
          <p:cNvSpPr/>
          <p:nvPr/>
        </p:nvSpPr>
        <p:spPr>
          <a:xfrm>
            <a:off x="5597575" y="7429500"/>
            <a:ext cx="395306"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a:t>
            </a:r>
            <a:endParaRPr lang="en-US" sz="900" dirty="0"/>
          </a:p>
        </p:txBody>
      </p:sp>
      <p:sp>
        <p:nvSpPr>
          <p:cNvPr id="73" name="Text 50"/>
          <p:cNvSpPr/>
          <p:nvPr/>
        </p:nvSpPr>
        <p:spPr>
          <a:xfrm>
            <a:off x="5921443" y="7429500"/>
            <a:ext cx="535056"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sum</a:t>
            </a:r>
            <a:endParaRPr lang="en-US" sz="900" dirty="0"/>
          </a:p>
        </p:txBody>
      </p:sp>
      <p:sp>
        <p:nvSpPr>
          <p:cNvPr id="74" name="Text 51"/>
          <p:cNvSpPr/>
          <p:nvPr/>
        </p:nvSpPr>
        <p:spPr>
          <a:xfrm>
            <a:off x="6385061" y="7429500"/>
            <a:ext cx="560450"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arr[i]</a:t>
            </a:r>
            <a:endParaRPr lang="en-US" sz="900" dirty="0"/>
          </a:p>
        </p:txBody>
      </p:sp>
      <p:sp>
        <p:nvSpPr>
          <p:cNvPr id="75" name="Text 52"/>
          <p:cNvSpPr/>
          <p:nvPr/>
        </p:nvSpPr>
        <p:spPr>
          <a:xfrm>
            <a:off x="6874073" y="7429500"/>
            <a:ext cx="1712714" cy="289322"/>
          </a:xfrm>
          <a:prstGeom prst="rect">
            <a:avLst/>
          </a:prstGeom>
          <a:noFill/>
          <a:ln/>
        </p:spPr>
        <p:txBody>
          <a:bodyPr wrap="squar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Notes</a:t>
            </a:r>
            <a:endParaRPr lang="en-US" sz="900" dirty="0"/>
          </a:p>
        </p:txBody>
      </p:sp>
      <p:sp>
        <p:nvSpPr>
          <p:cNvPr id="76" name="Text 53"/>
          <p:cNvSpPr/>
          <p:nvPr/>
        </p:nvSpPr>
        <p:spPr>
          <a:xfrm>
            <a:off x="4657725" y="7718822"/>
            <a:ext cx="547725" cy="46434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77" name="Text 54"/>
          <p:cNvSpPr/>
          <p:nvPr/>
        </p:nvSpPr>
        <p:spPr>
          <a:xfrm>
            <a:off x="5134012" y="7718822"/>
            <a:ext cx="535000" cy="46434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78" name="Text 55"/>
          <p:cNvSpPr/>
          <p:nvPr/>
        </p:nvSpPr>
        <p:spPr>
          <a:xfrm>
            <a:off x="5597575" y="7718822"/>
            <a:ext cx="395306" cy="46434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79" name="Text 56"/>
          <p:cNvSpPr/>
          <p:nvPr/>
        </p:nvSpPr>
        <p:spPr>
          <a:xfrm>
            <a:off x="5921443" y="7718822"/>
            <a:ext cx="535056" cy="46434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80" name="Text 57"/>
          <p:cNvSpPr/>
          <p:nvPr/>
        </p:nvSpPr>
        <p:spPr>
          <a:xfrm>
            <a:off x="6385061" y="7718822"/>
            <a:ext cx="560450" cy="46434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81" name="Text 58"/>
          <p:cNvSpPr/>
          <p:nvPr/>
        </p:nvSpPr>
        <p:spPr>
          <a:xfrm>
            <a:off x="6874073" y="7718822"/>
            <a:ext cx="1712714" cy="46434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Function called with [2,4,6,8]</a:t>
            </a:r>
            <a:endParaRPr lang="en-US" sz="900" dirty="0"/>
          </a:p>
        </p:txBody>
      </p:sp>
      <p:sp>
        <p:nvSpPr>
          <p:cNvPr id="82" name="Text 59"/>
          <p:cNvSpPr/>
          <p:nvPr/>
        </p:nvSpPr>
        <p:spPr>
          <a:xfrm>
            <a:off x="4657725" y="8183166"/>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83" name="Text 60"/>
          <p:cNvSpPr/>
          <p:nvPr/>
        </p:nvSpPr>
        <p:spPr>
          <a:xfrm>
            <a:off x="5134012" y="8183166"/>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84" name="Text 61"/>
          <p:cNvSpPr/>
          <p:nvPr/>
        </p:nvSpPr>
        <p:spPr>
          <a:xfrm>
            <a:off x="5597575" y="8183166"/>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85" name="Text 62"/>
          <p:cNvSpPr/>
          <p:nvPr/>
        </p:nvSpPr>
        <p:spPr>
          <a:xfrm>
            <a:off x="5921443" y="8183166"/>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86" name="Text 63"/>
          <p:cNvSpPr/>
          <p:nvPr/>
        </p:nvSpPr>
        <p:spPr>
          <a:xfrm>
            <a:off x="6385061" y="8183166"/>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87" name="Text 64"/>
          <p:cNvSpPr/>
          <p:nvPr/>
        </p:nvSpPr>
        <p:spPr>
          <a:xfrm>
            <a:off x="6874073" y="8183166"/>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sum</a:t>
            </a:r>
            <a:endParaRPr lang="en-US" sz="900" dirty="0"/>
          </a:p>
        </p:txBody>
      </p:sp>
      <p:sp>
        <p:nvSpPr>
          <p:cNvPr id="88" name="Text 65"/>
          <p:cNvSpPr/>
          <p:nvPr/>
        </p:nvSpPr>
        <p:spPr>
          <a:xfrm>
            <a:off x="4657725" y="8476059"/>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89" name="Text 66"/>
          <p:cNvSpPr/>
          <p:nvPr/>
        </p:nvSpPr>
        <p:spPr>
          <a:xfrm>
            <a:off x="5134012" y="8476059"/>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90" name="Text 67"/>
          <p:cNvSpPr/>
          <p:nvPr/>
        </p:nvSpPr>
        <p:spPr>
          <a:xfrm>
            <a:off x="5597575" y="8476059"/>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91" name="Text 68"/>
          <p:cNvSpPr/>
          <p:nvPr/>
        </p:nvSpPr>
        <p:spPr>
          <a:xfrm>
            <a:off x="5921443" y="8476059"/>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92" name="Text 69"/>
          <p:cNvSpPr/>
          <p:nvPr/>
        </p:nvSpPr>
        <p:spPr>
          <a:xfrm>
            <a:off x="6385061" y="8476059"/>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93" name="Text 70"/>
          <p:cNvSpPr/>
          <p:nvPr/>
        </p:nvSpPr>
        <p:spPr>
          <a:xfrm>
            <a:off x="6874073" y="8476059"/>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loop with i=0</a:t>
            </a:r>
            <a:endParaRPr lang="en-US" sz="900" dirty="0"/>
          </a:p>
        </p:txBody>
      </p:sp>
      <p:sp>
        <p:nvSpPr>
          <p:cNvPr id="94" name="Text 71"/>
          <p:cNvSpPr/>
          <p:nvPr/>
        </p:nvSpPr>
        <p:spPr>
          <a:xfrm>
            <a:off x="4657725" y="8768953"/>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95" name="Text 72"/>
          <p:cNvSpPr/>
          <p:nvPr/>
        </p:nvSpPr>
        <p:spPr>
          <a:xfrm>
            <a:off x="5134012" y="8768953"/>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96" name="Text 73"/>
          <p:cNvSpPr/>
          <p:nvPr/>
        </p:nvSpPr>
        <p:spPr>
          <a:xfrm>
            <a:off x="5597575" y="8768953"/>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97" name="Text 74"/>
          <p:cNvSpPr/>
          <p:nvPr/>
        </p:nvSpPr>
        <p:spPr>
          <a:xfrm>
            <a:off x="5921443" y="8768953"/>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98" name="Text 75"/>
          <p:cNvSpPr/>
          <p:nvPr/>
        </p:nvSpPr>
        <p:spPr>
          <a:xfrm>
            <a:off x="6385061" y="8768953"/>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99" name="Text 76"/>
          <p:cNvSpPr/>
          <p:nvPr/>
        </p:nvSpPr>
        <p:spPr>
          <a:xfrm>
            <a:off x="6874073" y="8768953"/>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sum += arr[0]</a:t>
            </a:r>
            <a:endParaRPr lang="en-US" sz="900" dirty="0"/>
          </a:p>
        </p:txBody>
      </p:sp>
      <p:sp>
        <p:nvSpPr>
          <p:cNvPr id="100" name="Text 77"/>
          <p:cNvSpPr/>
          <p:nvPr/>
        </p:nvSpPr>
        <p:spPr>
          <a:xfrm>
            <a:off x="4657725" y="9061847"/>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101" name="Text 78"/>
          <p:cNvSpPr/>
          <p:nvPr/>
        </p:nvSpPr>
        <p:spPr>
          <a:xfrm>
            <a:off x="5134012" y="9061847"/>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02" name="Text 79"/>
          <p:cNvSpPr/>
          <p:nvPr/>
        </p:nvSpPr>
        <p:spPr>
          <a:xfrm>
            <a:off x="5597575" y="9061847"/>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03" name="Text 80"/>
          <p:cNvSpPr/>
          <p:nvPr/>
        </p:nvSpPr>
        <p:spPr>
          <a:xfrm>
            <a:off x="5921443" y="9061847"/>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04" name="Text 81"/>
          <p:cNvSpPr/>
          <p:nvPr/>
        </p:nvSpPr>
        <p:spPr>
          <a:xfrm>
            <a:off x="6385061" y="9061847"/>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05" name="Text 82"/>
          <p:cNvSpPr/>
          <p:nvPr/>
        </p:nvSpPr>
        <p:spPr>
          <a:xfrm>
            <a:off x="6874073" y="9061847"/>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Increment i to 1</a:t>
            </a:r>
            <a:endParaRPr lang="en-US" sz="900" dirty="0"/>
          </a:p>
        </p:txBody>
      </p:sp>
      <p:sp>
        <p:nvSpPr>
          <p:cNvPr id="106" name="Text 83"/>
          <p:cNvSpPr/>
          <p:nvPr/>
        </p:nvSpPr>
        <p:spPr>
          <a:xfrm>
            <a:off x="4657725" y="9354741"/>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07" name="Text 84"/>
          <p:cNvSpPr/>
          <p:nvPr/>
        </p:nvSpPr>
        <p:spPr>
          <a:xfrm>
            <a:off x="5134012" y="9354741"/>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08" name="Text 85"/>
          <p:cNvSpPr/>
          <p:nvPr/>
        </p:nvSpPr>
        <p:spPr>
          <a:xfrm>
            <a:off x="5597575" y="9354741"/>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09" name="Text 86"/>
          <p:cNvSpPr/>
          <p:nvPr/>
        </p:nvSpPr>
        <p:spPr>
          <a:xfrm>
            <a:off x="5921443" y="9354741"/>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10" name="Text 87"/>
          <p:cNvSpPr/>
          <p:nvPr/>
        </p:nvSpPr>
        <p:spPr>
          <a:xfrm>
            <a:off x="6385061" y="9354741"/>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11" name="Text 88"/>
          <p:cNvSpPr/>
          <p:nvPr/>
        </p:nvSpPr>
        <p:spPr>
          <a:xfrm>
            <a:off x="6874073" y="9354741"/>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sum += arr[1]</a:t>
            </a:r>
            <a:endParaRPr lang="en-US" sz="900" dirty="0"/>
          </a:p>
        </p:txBody>
      </p:sp>
      <p:sp>
        <p:nvSpPr>
          <p:cNvPr id="112" name="Text 89"/>
          <p:cNvSpPr/>
          <p:nvPr/>
        </p:nvSpPr>
        <p:spPr>
          <a:xfrm>
            <a:off x="4657725" y="9647634"/>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3" name="Text 90"/>
          <p:cNvSpPr/>
          <p:nvPr/>
        </p:nvSpPr>
        <p:spPr>
          <a:xfrm>
            <a:off x="5134012" y="9647634"/>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4" name="Text 91"/>
          <p:cNvSpPr/>
          <p:nvPr/>
        </p:nvSpPr>
        <p:spPr>
          <a:xfrm>
            <a:off x="5597575" y="9647634"/>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5" name="Text 92"/>
          <p:cNvSpPr/>
          <p:nvPr/>
        </p:nvSpPr>
        <p:spPr>
          <a:xfrm>
            <a:off x="5921443" y="9647634"/>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6" name="Text 93"/>
          <p:cNvSpPr/>
          <p:nvPr/>
        </p:nvSpPr>
        <p:spPr>
          <a:xfrm>
            <a:off x="6385061" y="9647634"/>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7" name="Text 94"/>
          <p:cNvSpPr/>
          <p:nvPr/>
        </p:nvSpPr>
        <p:spPr>
          <a:xfrm>
            <a:off x="6874073" y="9647634"/>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Continue loop iterations</a:t>
            </a:r>
            <a:endParaRPr lang="en-US" sz="900" dirty="0"/>
          </a:p>
        </p:txBody>
      </p:sp>
      <p:sp>
        <p:nvSpPr>
          <p:cNvPr id="118" name="Text 95"/>
          <p:cNvSpPr/>
          <p:nvPr/>
        </p:nvSpPr>
        <p:spPr>
          <a:xfrm>
            <a:off x="4657725" y="9940528"/>
            <a:ext cx="547725"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11</a:t>
            </a:r>
            <a:endParaRPr lang="en-US" sz="900" dirty="0"/>
          </a:p>
        </p:txBody>
      </p:sp>
      <p:sp>
        <p:nvSpPr>
          <p:cNvPr id="119" name="Text 96"/>
          <p:cNvSpPr/>
          <p:nvPr/>
        </p:nvSpPr>
        <p:spPr>
          <a:xfrm>
            <a:off x="5134012" y="9940528"/>
            <a:ext cx="53500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20" name="Text 97"/>
          <p:cNvSpPr/>
          <p:nvPr/>
        </p:nvSpPr>
        <p:spPr>
          <a:xfrm>
            <a:off x="5597575" y="9940528"/>
            <a:ext cx="39530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21" name="Text 98"/>
          <p:cNvSpPr/>
          <p:nvPr/>
        </p:nvSpPr>
        <p:spPr>
          <a:xfrm>
            <a:off x="5921443" y="9940528"/>
            <a:ext cx="535056"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20</a:t>
            </a:r>
            <a:endParaRPr lang="en-US" sz="900" dirty="0"/>
          </a:p>
        </p:txBody>
      </p:sp>
      <p:sp>
        <p:nvSpPr>
          <p:cNvPr id="122" name="Text 99"/>
          <p:cNvSpPr/>
          <p:nvPr/>
        </p:nvSpPr>
        <p:spPr>
          <a:xfrm>
            <a:off x="6385061" y="9940528"/>
            <a:ext cx="560450"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23" name="Text 100"/>
          <p:cNvSpPr/>
          <p:nvPr/>
        </p:nvSpPr>
        <p:spPr>
          <a:xfrm>
            <a:off x="6874073" y="9940528"/>
            <a:ext cx="1712714"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sum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0387013"/>
          </a:xfrm>
          <a:prstGeom prst="rect">
            <a:avLst/>
          </a:prstGeom>
        </p:spPr>
      </p:pic>
      <p:sp>
        <p:nvSpPr>
          <p:cNvPr id="3" name="Text 0"/>
          <p:cNvSpPr/>
          <p:nvPr/>
        </p:nvSpPr>
        <p:spPr>
          <a:xfrm>
            <a:off x="457200" y="455414"/>
            <a:ext cx="1843283"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Importance of</a:t>
            </a:r>
            <a:endParaRPr lang="en-US" sz="2025" dirty="0"/>
          </a:p>
        </p:txBody>
      </p:sp>
      <p:sp>
        <p:nvSpPr>
          <p:cNvPr id="4" name="Text 1"/>
          <p:cNvSpPr/>
          <p:nvPr/>
        </p:nvSpPr>
        <p:spPr>
          <a:xfrm>
            <a:off x="2229045" y="455414"/>
            <a:ext cx="1071646"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Dry Run</a:t>
            </a:r>
            <a:endParaRPr lang="en-US" sz="2025" dirty="0"/>
          </a:p>
        </p:txBody>
      </p:sp>
      <p:sp>
        <p:nvSpPr>
          <p:cNvPr id="5" name="Shape 2"/>
          <p:cNvSpPr/>
          <p:nvPr/>
        </p:nvSpPr>
        <p:spPr>
          <a:xfrm>
            <a:off x="457200" y="971550"/>
            <a:ext cx="4000500" cy="31289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Why Dry Run Matters</a:t>
            </a:r>
            <a:endParaRPr lang="en-US" sz="1350" dirty="0"/>
          </a:p>
        </p:txBody>
      </p:sp>
      <p:sp>
        <p:nvSpPr>
          <p:cNvPr id="7" name="Shape 4"/>
          <p:cNvSpPr/>
          <p:nvPr/>
        </p:nvSpPr>
        <p:spPr>
          <a:xfrm>
            <a:off x="628650" y="1485900"/>
            <a:ext cx="3657600" cy="82867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828675"/>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Deeper Understanding</a:t>
            </a:r>
            <a:endParaRPr lang="en-US" sz="1125" dirty="0"/>
          </a:p>
        </p:txBody>
      </p:sp>
      <p:sp>
        <p:nvSpPr>
          <p:cNvPr id="10" name="Text 7"/>
          <p:cNvSpPr/>
          <p:nvPr/>
        </p:nvSpPr>
        <p:spPr>
          <a:xfrm>
            <a:off x="742950" y="1800225"/>
            <a:ext cx="361473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Manually tracing code execution helps develop a thorough understanding of how algorithms work and how different parts of the code interact with each other.</a:t>
            </a:r>
            <a:endParaRPr lang="en-US" sz="788" dirty="0"/>
          </a:p>
        </p:txBody>
      </p:sp>
      <p:sp>
        <p:nvSpPr>
          <p:cNvPr id="11" name="Shape 8"/>
          <p:cNvSpPr/>
          <p:nvPr/>
        </p:nvSpPr>
        <p:spPr>
          <a:xfrm>
            <a:off x="628650" y="2428875"/>
            <a:ext cx="3657600" cy="685800"/>
          </a:xfrm>
          <a:prstGeom prst="rect">
            <a:avLst/>
          </a:prstGeom>
          <a:solidFill>
            <a:srgbClr val="1E3A8A">
              <a:alpha val="30000"/>
            </a:srgbClr>
          </a:solidFill>
          <a:ln/>
        </p:spPr>
        <p:txBody>
          <a:bodyPr/>
          <a:lstStyle/>
          <a:p>
            <a:endParaRPr lang="en-US"/>
          </a:p>
        </p:txBody>
      </p:sp>
      <p:sp>
        <p:nvSpPr>
          <p:cNvPr id="12" name="Shape 9"/>
          <p:cNvSpPr/>
          <p:nvPr/>
        </p:nvSpPr>
        <p:spPr>
          <a:xfrm>
            <a:off x="628650" y="2428875"/>
            <a:ext cx="28575" cy="685800"/>
          </a:xfrm>
          <a:prstGeom prst="rect">
            <a:avLst/>
          </a:prstGeom>
          <a:solidFill>
            <a:srgbClr val="63B3ED"/>
          </a:solidFill>
          <a:ln/>
        </p:spPr>
        <p:txBody>
          <a:bodyPr/>
          <a:lstStyle/>
          <a:p>
            <a:endParaRPr lang="en-US"/>
          </a:p>
        </p:txBody>
      </p:sp>
      <p:sp>
        <p:nvSpPr>
          <p:cNvPr id="13" name="Text 10"/>
          <p:cNvSpPr/>
          <p:nvPr/>
        </p:nvSpPr>
        <p:spPr>
          <a:xfrm>
            <a:off x="742950" y="25146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Error Detection</a:t>
            </a:r>
            <a:endParaRPr lang="en-US" sz="1125" dirty="0"/>
          </a:p>
        </p:txBody>
      </p:sp>
      <p:sp>
        <p:nvSpPr>
          <p:cNvPr id="14" name="Text 11"/>
          <p:cNvSpPr/>
          <p:nvPr/>
        </p:nvSpPr>
        <p:spPr>
          <a:xfrm>
            <a:off x="742950" y="2743200"/>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Dry running helps identify logical errors, edge cases, and potential bugs before the code is executed on a computer, saving debugging time.</a:t>
            </a:r>
            <a:endParaRPr lang="en-US" sz="788" dirty="0"/>
          </a:p>
        </p:txBody>
      </p:sp>
      <p:sp>
        <p:nvSpPr>
          <p:cNvPr id="15" name="Shape 12"/>
          <p:cNvSpPr/>
          <p:nvPr/>
        </p:nvSpPr>
        <p:spPr>
          <a:xfrm>
            <a:off x="628650" y="3228975"/>
            <a:ext cx="3657600" cy="685800"/>
          </a:xfrm>
          <a:prstGeom prst="rect">
            <a:avLst/>
          </a:prstGeom>
          <a:solidFill>
            <a:srgbClr val="1E3A8A">
              <a:alpha val="30000"/>
            </a:srgbClr>
          </a:solidFill>
          <a:ln/>
        </p:spPr>
        <p:txBody>
          <a:bodyPr/>
          <a:lstStyle/>
          <a:p>
            <a:endParaRPr lang="en-US"/>
          </a:p>
        </p:txBody>
      </p:sp>
      <p:sp>
        <p:nvSpPr>
          <p:cNvPr id="16" name="Shape 13"/>
          <p:cNvSpPr/>
          <p:nvPr/>
        </p:nvSpPr>
        <p:spPr>
          <a:xfrm>
            <a:off x="628650" y="3228975"/>
            <a:ext cx="28575" cy="685800"/>
          </a:xfrm>
          <a:prstGeom prst="rect">
            <a:avLst/>
          </a:prstGeom>
          <a:solidFill>
            <a:srgbClr val="63B3ED"/>
          </a:solidFill>
          <a:ln/>
        </p:spPr>
        <p:txBody>
          <a:bodyPr/>
          <a:lstStyle/>
          <a:p>
            <a:endParaRPr lang="en-US"/>
          </a:p>
        </p:txBody>
      </p:sp>
      <p:sp>
        <p:nvSpPr>
          <p:cNvPr id="17" name="Text 14"/>
          <p:cNvSpPr/>
          <p:nvPr/>
        </p:nvSpPr>
        <p:spPr>
          <a:xfrm>
            <a:off x="742950" y="33147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Algorithm Verification</a:t>
            </a:r>
            <a:endParaRPr lang="en-US" sz="1125" dirty="0"/>
          </a:p>
        </p:txBody>
      </p:sp>
      <p:sp>
        <p:nvSpPr>
          <p:cNvPr id="18" name="Text 15"/>
          <p:cNvSpPr/>
          <p:nvPr/>
        </p:nvSpPr>
        <p:spPr>
          <a:xfrm>
            <a:off x="742950" y="3543300"/>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Confirms that an algorithm produces the expected output for various inputs and follows the intended logic path.</a:t>
            </a:r>
            <a:endParaRPr lang="en-US" sz="788" dirty="0"/>
          </a:p>
        </p:txBody>
      </p:sp>
      <p:sp>
        <p:nvSpPr>
          <p:cNvPr id="19" name="Shape 16"/>
          <p:cNvSpPr/>
          <p:nvPr/>
        </p:nvSpPr>
        <p:spPr>
          <a:xfrm>
            <a:off x="457200" y="4257675"/>
            <a:ext cx="4000500" cy="2071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0" name="Text 17"/>
          <p:cNvSpPr/>
          <p:nvPr/>
        </p:nvSpPr>
        <p:spPr>
          <a:xfrm>
            <a:off x="628650" y="4429125"/>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Educational Benefits</a:t>
            </a:r>
            <a:endParaRPr lang="en-US" sz="1350" dirty="0"/>
          </a:p>
        </p:txBody>
      </p:sp>
      <p:sp>
        <p:nvSpPr>
          <p:cNvPr id="21" name="Shape 18"/>
          <p:cNvSpPr/>
          <p:nvPr/>
        </p:nvSpPr>
        <p:spPr>
          <a:xfrm>
            <a:off x="628650" y="4772025"/>
            <a:ext cx="1771650" cy="628650"/>
          </a:xfrm>
          <a:prstGeom prst="rect">
            <a:avLst/>
          </a:prstGeom>
          <a:solidFill>
            <a:srgbClr val="1E3A8A">
              <a:alpha val="30000"/>
            </a:srgbClr>
          </a:solidFill>
          <a:ln/>
        </p:spPr>
        <p:txBody>
          <a:bodyPr/>
          <a:lstStyle/>
          <a:p>
            <a:endParaRPr lang="en-US"/>
          </a:p>
        </p:txBody>
      </p:sp>
      <p:pic>
        <p:nvPicPr>
          <p:cNvPr id="22" name="Image 1" descr="preencoded.png"/>
          <p:cNvPicPr>
            <a:picLocks noChangeAspect="1"/>
          </p:cNvPicPr>
          <p:nvPr/>
        </p:nvPicPr>
        <p:blipFill>
          <a:blip r:embed="rId4"/>
          <a:stretch>
            <a:fillRect/>
          </a:stretch>
        </p:blipFill>
        <p:spPr>
          <a:xfrm>
            <a:off x="714375" y="4872038"/>
            <a:ext cx="142875" cy="142875"/>
          </a:xfrm>
          <a:prstGeom prst="rect">
            <a:avLst/>
          </a:prstGeom>
        </p:spPr>
      </p:pic>
      <p:sp>
        <p:nvSpPr>
          <p:cNvPr id="23" name="Text 19"/>
          <p:cNvSpPr/>
          <p:nvPr/>
        </p:nvSpPr>
        <p:spPr>
          <a:xfrm>
            <a:off x="914400" y="4857750"/>
            <a:ext cx="1341630"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Cognitive Development</a:t>
            </a:r>
            <a:endParaRPr lang="en-US" sz="900" dirty="0"/>
          </a:p>
        </p:txBody>
      </p:sp>
      <p:sp>
        <p:nvSpPr>
          <p:cNvPr id="24" name="Text 20"/>
          <p:cNvSpPr/>
          <p:nvPr/>
        </p:nvSpPr>
        <p:spPr>
          <a:xfrm>
            <a:off x="714375" y="5086350"/>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Enhances analytical thinking and problem-solving skills</a:t>
            </a:r>
            <a:endParaRPr lang="en-US" sz="675" dirty="0"/>
          </a:p>
        </p:txBody>
      </p:sp>
      <p:sp>
        <p:nvSpPr>
          <p:cNvPr id="25" name="Shape 21"/>
          <p:cNvSpPr/>
          <p:nvPr/>
        </p:nvSpPr>
        <p:spPr>
          <a:xfrm>
            <a:off x="2514600" y="4772025"/>
            <a:ext cx="1771650" cy="628650"/>
          </a:xfrm>
          <a:prstGeom prst="rect">
            <a:avLst/>
          </a:prstGeom>
          <a:solidFill>
            <a:srgbClr val="1E3A8A">
              <a:alpha val="30000"/>
            </a:srgbClr>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2600325" y="4872038"/>
            <a:ext cx="178594" cy="142875"/>
          </a:xfrm>
          <a:prstGeom prst="rect">
            <a:avLst/>
          </a:prstGeom>
        </p:spPr>
      </p:pic>
      <p:sp>
        <p:nvSpPr>
          <p:cNvPr id="27" name="Text 22"/>
          <p:cNvSpPr/>
          <p:nvPr/>
        </p:nvSpPr>
        <p:spPr>
          <a:xfrm>
            <a:off x="2836069" y="4857750"/>
            <a:ext cx="1258974"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Code Comprehension</a:t>
            </a:r>
            <a:endParaRPr lang="en-US" sz="900" dirty="0"/>
          </a:p>
        </p:txBody>
      </p:sp>
      <p:sp>
        <p:nvSpPr>
          <p:cNvPr id="28" name="Text 23"/>
          <p:cNvSpPr/>
          <p:nvPr/>
        </p:nvSpPr>
        <p:spPr>
          <a:xfrm>
            <a:off x="2600325" y="5086350"/>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Improves ability to read and understand complex code</a:t>
            </a:r>
            <a:endParaRPr lang="en-US" sz="675" dirty="0"/>
          </a:p>
        </p:txBody>
      </p:sp>
      <p:sp>
        <p:nvSpPr>
          <p:cNvPr id="29" name="Shape 24"/>
          <p:cNvSpPr/>
          <p:nvPr/>
        </p:nvSpPr>
        <p:spPr>
          <a:xfrm>
            <a:off x="628650" y="5514975"/>
            <a:ext cx="1771650" cy="628650"/>
          </a:xfrm>
          <a:prstGeom prst="rect">
            <a:avLst/>
          </a:prstGeom>
          <a:solidFill>
            <a:srgbClr val="1E3A8A">
              <a:alpha val="30000"/>
            </a:srgbClr>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714375" y="5614988"/>
            <a:ext cx="142875" cy="142875"/>
          </a:xfrm>
          <a:prstGeom prst="rect">
            <a:avLst/>
          </a:prstGeom>
        </p:spPr>
      </p:pic>
      <p:sp>
        <p:nvSpPr>
          <p:cNvPr id="31" name="Text 25"/>
          <p:cNvSpPr/>
          <p:nvPr/>
        </p:nvSpPr>
        <p:spPr>
          <a:xfrm>
            <a:off x="914400" y="5600700"/>
            <a:ext cx="998618"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Debugging Skills</a:t>
            </a:r>
            <a:endParaRPr lang="en-US" sz="900" dirty="0"/>
          </a:p>
        </p:txBody>
      </p:sp>
      <p:sp>
        <p:nvSpPr>
          <p:cNvPr id="32" name="Text 26"/>
          <p:cNvSpPr/>
          <p:nvPr/>
        </p:nvSpPr>
        <p:spPr>
          <a:xfrm>
            <a:off x="714375" y="5829300"/>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Develops systematic approach to finding and fixing errors</a:t>
            </a:r>
            <a:endParaRPr lang="en-US" sz="675" dirty="0"/>
          </a:p>
        </p:txBody>
      </p:sp>
      <p:sp>
        <p:nvSpPr>
          <p:cNvPr id="33" name="Shape 27"/>
          <p:cNvSpPr/>
          <p:nvPr/>
        </p:nvSpPr>
        <p:spPr>
          <a:xfrm>
            <a:off x="2514600" y="5514975"/>
            <a:ext cx="1771650" cy="628650"/>
          </a:xfrm>
          <a:prstGeom prst="rect">
            <a:avLst/>
          </a:prstGeom>
          <a:solidFill>
            <a:srgbClr val="1E3A8A">
              <a:alpha val="30000"/>
            </a:srgbClr>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2600325" y="5614988"/>
            <a:ext cx="107156" cy="142875"/>
          </a:xfrm>
          <a:prstGeom prst="rect">
            <a:avLst/>
          </a:prstGeom>
        </p:spPr>
      </p:pic>
      <p:sp>
        <p:nvSpPr>
          <p:cNvPr id="35" name="Text 28"/>
          <p:cNvSpPr/>
          <p:nvPr/>
        </p:nvSpPr>
        <p:spPr>
          <a:xfrm>
            <a:off x="2764631" y="5600700"/>
            <a:ext cx="992423"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Concept Mastery</a:t>
            </a:r>
            <a:endParaRPr lang="en-US" sz="900" dirty="0"/>
          </a:p>
        </p:txBody>
      </p:sp>
      <p:sp>
        <p:nvSpPr>
          <p:cNvPr id="36" name="Text 29"/>
          <p:cNvSpPr/>
          <p:nvPr/>
        </p:nvSpPr>
        <p:spPr>
          <a:xfrm>
            <a:off x="2600325" y="5829300"/>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Reinforces understanding of programming concepts</a:t>
            </a:r>
            <a:endParaRPr lang="en-US" sz="675" dirty="0"/>
          </a:p>
        </p:txBody>
      </p:sp>
      <p:sp>
        <p:nvSpPr>
          <p:cNvPr id="37" name="Shape 30"/>
          <p:cNvSpPr/>
          <p:nvPr/>
        </p:nvSpPr>
        <p:spPr>
          <a:xfrm>
            <a:off x="4686300" y="971550"/>
            <a:ext cx="4000500" cy="32718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8" name="Text 31"/>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Professional Applications</a:t>
            </a:r>
            <a:endParaRPr lang="en-US" sz="1350" dirty="0"/>
          </a:p>
        </p:txBody>
      </p:sp>
      <p:sp>
        <p:nvSpPr>
          <p:cNvPr id="39" name="Shape 32"/>
          <p:cNvSpPr/>
          <p:nvPr/>
        </p:nvSpPr>
        <p:spPr>
          <a:xfrm>
            <a:off x="4857750" y="1485900"/>
            <a:ext cx="3657600" cy="971550"/>
          </a:xfrm>
          <a:prstGeom prst="rect">
            <a:avLst/>
          </a:prstGeom>
          <a:solidFill>
            <a:srgbClr val="1E3A8A">
              <a:alpha val="30000"/>
            </a:srgbClr>
          </a:solidFill>
          <a:ln/>
        </p:spPr>
        <p:txBody>
          <a:bodyPr/>
          <a:lstStyle/>
          <a:p>
            <a:endParaRPr lang="en-US"/>
          </a:p>
        </p:txBody>
      </p:sp>
      <p:sp>
        <p:nvSpPr>
          <p:cNvPr id="40" name="Shape 33"/>
          <p:cNvSpPr/>
          <p:nvPr/>
        </p:nvSpPr>
        <p:spPr>
          <a:xfrm>
            <a:off x="4857750" y="1485900"/>
            <a:ext cx="28575" cy="971550"/>
          </a:xfrm>
          <a:prstGeom prst="rect">
            <a:avLst/>
          </a:prstGeom>
          <a:solidFill>
            <a:srgbClr val="63B3ED"/>
          </a:solidFill>
          <a:ln/>
        </p:spPr>
        <p:txBody>
          <a:bodyPr/>
          <a:lstStyle/>
          <a:p>
            <a:endParaRPr lang="en-US"/>
          </a:p>
        </p:txBody>
      </p:sp>
      <p:sp>
        <p:nvSpPr>
          <p:cNvPr id="41" name="Text 34"/>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Technical Interviews</a:t>
            </a:r>
            <a:endParaRPr lang="en-US" sz="1125" dirty="0"/>
          </a:p>
        </p:txBody>
      </p:sp>
      <p:sp>
        <p:nvSpPr>
          <p:cNvPr id="42" name="Text 35"/>
          <p:cNvSpPr/>
          <p:nvPr/>
        </p:nvSpPr>
        <p:spPr>
          <a:xfrm>
            <a:off x="4972050" y="1800225"/>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Dry running is a common requirement in technical interviews to demonstrate understanding of algorithms and problem-solving approach.</a:t>
            </a:r>
            <a:endParaRPr lang="en-US" sz="788" dirty="0"/>
          </a:p>
        </p:txBody>
      </p:sp>
      <p:sp>
        <p:nvSpPr>
          <p:cNvPr id="43" name="Shape 36"/>
          <p:cNvSpPr/>
          <p:nvPr/>
        </p:nvSpPr>
        <p:spPr>
          <a:xfrm>
            <a:off x="4972050" y="2143125"/>
            <a:ext cx="3543300" cy="228600"/>
          </a:xfrm>
          <a:prstGeom prst="rect">
            <a:avLst/>
          </a:prstGeom>
          <a:solidFill>
            <a:srgbClr val="1E3A8A">
              <a:alpha val="20000"/>
            </a:srgbClr>
          </a:solidFill>
          <a:ln/>
        </p:spPr>
        <p:txBody>
          <a:bodyPr/>
          <a:lstStyle/>
          <a:p>
            <a:endParaRPr lang="en-US"/>
          </a:p>
        </p:txBody>
      </p:sp>
      <p:pic>
        <p:nvPicPr>
          <p:cNvPr id="44" name="Image 5" descr="preencoded.png"/>
          <p:cNvPicPr>
            <a:picLocks noChangeAspect="1"/>
          </p:cNvPicPr>
          <p:nvPr/>
        </p:nvPicPr>
        <p:blipFill>
          <a:blip r:embed="rId8"/>
          <a:stretch>
            <a:fillRect/>
          </a:stretch>
        </p:blipFill>
        <p:spPr>
          <a:xfrm>
            <a:off x="5029200" y="2200275"/>
            <a:ext cx="101798" cy="114300"/>
          </a:xfrm>
          <a:prstGeom prst="rect">
            <a:avLst/>
          </a:prstGeom>
        </p:spPr>
      </p:pic>
      <p:sp>
        <p:nvSpPr>
          <p:cNvPr id="45" name="Text 37"/>
          <p:cNvSpPr/>
          <p:nvPr/>
        </p:nvSpPr>
        <p:spPr>
          <a:xfrm>
            <a:off x="5188148" y="2200275"/>
            <a:ext cx="2243026" cy="114300"/>
          </a:xfrm>
          <a:prstGeom prst="rect">
            <a:avLst/>
          </a:prstGeom>
          <a:noFill/>
          <a:ln/>
        </p:spPr>
        <p:txBody>
          <a:bodyPr wrap="square" lIns="0" tIns="0" rIns="0" bIns="0" rtlCol="0" anchor="ctr">
            <a:spAutoFit/>
          </a:bodyPr>
          <a:lstStyle/>
          <a:p>
            <a:pPr marL="0" indent="0">
              <a:buNone/>
            </a:pPr>
            <a:r>
              <a:rPr lang="en-US" sz="675" i="1" dirty="0">
                <a:solidFill>
                  <a:srgbClr val="E2E8F0"/>
                </a:solidFill>
                <a:latin typeface="Segoe UI" pitchFamily="34" charset="0"/>
                <a:ea typeface="Segoe UI" pitchFamily="34" charset="-122"/>
                <a:cs typeface="Segoe UI" pitchFamily="34" charset="-120"/>
              </a:rPr>
              <a:t>"Show me how this algorithm works with input [1, 3, 5, 7]"</a:t>
            </a:r>
            <a:endParaRPr lang="en-US" sz="675" dirty="0"/>
          </a:p>
        </p:txBody>
      </p:sp>
      <p:sp>
        <p:nvSpPr>
          <p:cNvPr id="46" name="Shape 38"/>
          <p:cNvSpPr/>
          <p:nvPr/>
        </p:nvSpPr>
        <p:spPr>
          <a:xfrm>
            <a:off x="4857750" y="2571750"/>
            <a:ext cx="3657600" cy="685800"/>
          </a:xfrm>
          <a:prstGeom prst="rect">
            <a:avLst/>
          </a:prstGeom>
          <a:solidFill>
            <a:srgbClr val="1E3A8A">
              <a:alpha val="30000"/>
            </a:srgbClr>
          </a:solidFill>
          <a:ln/>
        </p:spPr>
        <p:txBody>
          <a:bodyPr/>
          <a:lstStyle/>
          <a:p>
            <a:endParaRPr lang="en-US"/>
          </a:p>
        </p:txBody>
      </p:sp>
      <p:sp>
        <p:nvSpPr>
          <p:cNvPr id="47" name="Shape 39"/>
          <p:cNvSpPr/>
          <p:nvPr/>
        </p:nvSpPr>
        <p:spPr>
          <a:xfrm>
            <a:off x="4857750" y="2571750"/>
            <a:ext cx="28575" cy="685800"/>
          </a:xfrm>
          <a:prstGeom prst="rect">
            <a:avLst/>
          </a:prstGeom>
          <a:solidFill>
            <a:srgbClr val="63B3ED"/>
          </a:solidFill>
          <a:ln/>
        </p:spPr>
        <p:txBody>
          <a:bodyPr/>
          <a:lstStyle/>
          <a:p>
            <a:endParaRPr lang="en-US"/>
          </a:p>
        </p:txBody>
      </p:sp>
      <p:sp>
        <p:nvSpPr>
          <p:cNvPr id="48" name="Text 40"/>
          <p:cNvSpPr/>
          <p:nvPr/>
        </p:nvSpPr>
        <p:spPr>
          <a:xfrm>
            <a:off x="4972050" y="26574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 Reviews</a:t>
            </a:r>
            <a:endParaRPr lang="en-US" sz="1125" dirty="0"/>
          </a:p>
        </p:txBody>
      </p:sp>
      <p:sp>
        <p:nvSpPr>
          <p:cNvPr id="49" name="Text 41"/>
          <p:cNvSpPr/>
          <p:nvPr/>
        </p:nvSpPr>
        <p:spPr>
          <a:xfrm>
            <a:off x="4972050" y="2886075"/>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Helps reviewers understand and validate complex logic without having to run the code, especially for critical sections.</a:t>
            </a:r>
            <a:endParaRPr lang="en-US" sz="788" dirty="0"/>
          </a:p>
        </p:txBody>
      </p:sp>
      <p:sp>
        <p:nvSpPr>
          <p:cNvPr id="50" name="Shape 42"/>
          <p:cNvSpPr/>
          <p:nvPr/>
        </p:nvSpPr>
        <p:spPr>
          <a:xfrm>
            <a:off x="4857750" y="3371850"/>
            <a:ext cx="3657600" cy="685800"/>
          </a:xfrm>
          <a:prstGeom prst="rect">
            <a:avLst/>
          </a:prstGeom>
          <a:solidFill>
            <a:srgbClr val="1E3A8A">
              <a:alpha val="30000"/>
            </a:srgbClr>
          </a:solidFill>
          <a:ln/>
        </p:spPr>
        <p:txBody>
          <a:bodyPr/>
          <a:lstStyle/>
          <a:p>
            <a:endParaRPr lang="en-US"/>
          </a:p>
        </p:txBody>
      </p:sp>
      <p:sp>
        <p:nvSpPr>
          <p:cNvPr id="51" name="Shape 43"/>
          <p:cNvSpPr/>
          <p:nvPr/>
        </p:nvSpPr>
        <p:spPr>
          <a:xfrm>
            <a:off x="4857750" y="3371850"/>
            <a:ext cx="28575" cy="685800"/>
          </a:xfrm>
          <a:prstGeom prst="rect">
            <a:avLst/>
          </a:prstGeom>
          <a:solidFill>
            <a:srgbClr val="63B3ED"/>
          </a:solidFill>
          <a:ln/>
        </p:spPr>
        <p:txBody>
          <a:bodyPr/>
          <a:lstStyle/>
          <a:p>
            <a:endParaRPr lang="en-US"/>
          </a:p>
        </p:txBody>
      </p:sp>
      <p:sp>
        <p:nvSpPr>
          <p:cNvPr id="52" name="Text 44"/>
          <p:cNvSpPr/>
          <p:nvPr/>
        </p:nvSpPr>
        <p:spPr>
          <a:xfrm>
            <a:off x="4972050" y="34575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Documentation</a:t>
            </a:r>
            <a:endParaRPr lang="en-US" sz="1125" dirty="0"/>
          </a:p>
        </p:txBody>
      </p:sp>
      <p:sp>
        <p:nvSpPr>
          <p:cNvPr id="53" name="Text 45"/>
          <p:cNvSpPr/>
          <p:nvPr/>
        </p:nvSpPr>
        <p:spPr>
          <a:xfrm>
            <a:off x="4972050" y="3686175"/>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Provides clear examples of how code behaves with specific inputs, enhancing documentation quality.</a:t>
            </a:r>
            <a:endParaRPr lang="en-US" sz="788" dirty="0"/>
          </a:p>
        </p:txBody>
      </p:sp>
      <p:sp>
        <p:nvSpPr>
          <p:cNvPr id="54" name="Shape 46"/>
          <p:cNvSpPr/>
          <p:nvPr/>
        </p:nvSpPr>
        <p:spPr>
          <a:xfrm>
            <a:off x="4686300" y="4400550"/>
            <a:ext cx="4000500" cy="28432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55" name="Text 47"/>
          <p:cNvSpPr/>
          <p:nvPr/>
        </p:nvSpPr>
        <p:spPr>
          <a:xfrm>
            <a:off x="4857750" y="4572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Efficiency Benefits</a:t>
            </a:r>
            <a:endParaRPr lang="en-US" sz="1350" dirty="0"/>
          </a:p>
        </p:txBody>
      </p:sp>
      <p:pic>
        <p:nvPicPr>
          <p:cNvPr id="56" name="Image 6" descr="preencoded.png"/>
          <p:cNvPicPr>
            <a:picLocks noChangeAspect="1"/>
          </p:cNvPicPr>
          <p:nvPr/>
        </p:nvPicPr>
        <p:blipFill>
          <a:blip r:embed="rId9"/>
          <a:stretch>
            <a:fillRect/>
          </a:stretch>
        </p:blipFill>
        <p:spPr>
          <a:xfrm>
            <a:off x="4857750" y="4914900"/>
            <a:ext cx="3657600" cy="2143125"/>
          </a:xfrm>
          <a:prstGeom prst="rect">
            <a:avLst/>
          </a:prstGeom>
        </p:spPr>
      </p:pic>
      <p:pic>
        <p:nvPicPr>
          <p:cNvPr id="57" name="Image 7" descr="preencoded.png"/>
          <p:cNvPicPr>
            <a:picLocks noChangeAspect="1"/>
          </p:cNvPicPr>
          <p:nvPr/>
        </p:nvPicPr>
        <p:blipFill>
          <a:blip r:embed="rId10"/>
          <a:stretch>
            <a:fillRect/>
          </a:stretch>
        </p:blipFill>
        <p:spPr>
          <a:xfrm>
            <a:off x="5858573" y="5357813"/>
            <a:ext cx="192881" cy="171450"/>
          </a:xfrm>
          <a:prstGeom prst="rect">
            <a:avLst/>
          </a:prstGeom>
        </p:spPr>
      </p:pic>
      <p:sp>
        <p:nvSpPr>
          <p:cNvPr id="58" name="Text 48"/>
          <p:cNvSpPr/>
          <p:nvPr/>
        </p:nvSpPr>
        <p:spPr>
          <a:xfrm>
            <a:off x="5469210" y="5586413"/>
            <a:ext cx="1043043" cy="171450"/>
          </a:xfrm>
          <a:prstGeom prst="rect">
            <a:avLst/>
          </a:prstGeom>
          <a:noFill/>
          <a:ln/>
        </p:spPr>
        <p:txBody>
          <a:bodyPr wrap="non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Faster Debugging</a:t>
            </a:r>
            <a:endParaRPr lang="en-US" sz="900" dirty="0"/>
          </a:p>
        </p:txBody>
      </p:sp>
      <p:pic>
        <p:nvPicPr>
          <p:cNvPr id="59" name="Image 8" descr="preencoded.png"/>
          <p:cNvPicPr>
            <a:picLocks noChangeAspect="1"/>
          </p:cNvPicPr>
          <p:nvPr/>
        </p:nvPicPr>
        <p:blipFill>
          <a:blip r:embed="rId11"/>
          <a:stretch>
            <a:fillRect/>
          </a:stretch>
        </p:blipFill>
        <p:spPr>
          <a:xfrm>
            <a:off x="7332334" y="5357813"/>
            <a:ext cx="171450" cy="171450"/>
          </a:xfrm>
          <a:prstGeom prst="rect">
            <a:avLst/>
          </a:prstGeom>
        </p:spPr>
      </p:pic>
      <p:sp>
        <p:nvSpPr>
          <p:cNvPr id="60" name="Text 49"/>
          <p:cNvSpPr/>
          <p:nvPr/>
        </p:nvSpPr>
        <p:spPr>
          <a:xfrm>
            <a:off x="7094134" y="5586413"/>
            <a:ext cx="719286" cy="171450"/>
          </a:xfrm>
          <a:prstGeom prst="rect">
            <a:avLst/>
          </a:prstGeom>
          <a:noFill/>
          <a:ln/>
        </p:spPr>
        <p:txBody>
          <a:bodyPr wrap="non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Fewer Bugs</a:t>
            </a:r>
            <a:endParaRPr lang="en-US" sz="900" dirty="0"/>
          </a:p>
        </p:txBody>
      </p:sp>
      <p:pic>
        <p:nvPicPr>
          <p:cNvPr id="61" name="Image 9" descr="preencoded.png"/>
          <p:cNvPicPr>
            <a:picLocks noChangeAspect="1"/>
          </p:cNvPicPr>
          <p:nvPr/>
        </p:nvPicPr>
        <p:blipFill>
          <a:blip r:embed="rId12"/>
          <a:stretch>
            <a:fillRect/>
          </a:stretch>
        </p:blipFill>
        <p:spPr>
          <a:xfrm>
            <a:off x="5880004" y="6215063"/>
            <a:ext cx="150019" cy="171450"/>
          </a:xfrm>
          <a:prstGeom prst="rect">
            <a:avLst/>
          </a:prstGeom>
        </p:spPr>
      </p:pic>
      <p:sp>
        <p:nvSpPr>
          <p:cNvPr id="62" name="Text 50"/>
          <p:cNvSpPr/>
          <p:nvPr/>
        </p:nvSpPr>
        <p:spPr>
          <a:xfrm>
            <a:off x="5583455" y="6443663"/>
            <a:ext cx="814555" cy="171450"/>
          </a:xfrm>
          <a:prstGeom prst="rect">
            <a:avLst/>
          </a:prstGeom>
          <a:noFill/>
          <a:ln/>
        </p:spPr>
        <p:txBody>
          <a:bodyPr wrap="non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Better Design</a:t>
            </a:r>
            <a:endParaRPr lang="en-US" sz="900" dirty="0"/>
          </a:p>
        </p:txBody>
      </p:sp>
      <p:pic>
        <p:nvPicPr>
          <p:cNvPr id="63" name="Image 10" descr="preencoded.png"/>
          <p:cNvPicPr>
            <a:picLocks noChangeAspect="1"/>
          </p:cNvPicPr>
          <p:nvPr/>
        </p:nvPicPr>
        <p:blipFill>
          <a:blip r:embed="rId13"/>
          <a:stretch>
            <a:fillRect/>
          </a:stretch>
        </p:blipFill>
        <p:spPr>
          <a:xfrm>
            <a:off x="7332334" y="6215063"/>
            <a:ext cx="171450" cy="171450"/>
          </a:xfrm>
          <a:prstGeom prst="rect">
            <a:avLst/>
          </a:prstGeom>
        </p:spPr>
      </p:pic>
      <p:sp>
        <p:nvSpPr>
          <p:cNvPr id="64" name="Text 51"/>
          <p:cNvSpPr/>
          <p:nvPr/>
        </p:nvSpPr>
        <p:spPr>
          <a:xfrm>
            <a:off x="7050658" y="6443663"/>
            <a:ext cx="806239" cy="171450"/>
          </a:xfrm>
          <a:prstGeom prst="rect">
            <a:avLst/>
          </a:prstGeom>
          <a:noFill/>
          <a:ln/>
        </p:spPr>
        <p:txBody>
          <a:bodyPr wrap="non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Time Savings</a:t>
            </a:r>
            <a:endParaRPr lang="en-US" sz="900" dirty="0"/>
          </a:p>
        </p:txBody>
      </p:sp>
      <p:sp>
        <p:nvSpPr>
          <p:cNvPr id="65" name="Text 52"/>
          <p:cNvSpPr/>
          <p:nvPr/>
        </p:nvSpPr>
        <p:spPr>
          <a:xfrm>
            <a:off x="6237973" y="5806083"/>
            <a:ext cx="968592" cy="158948"/>
          </a:xfrm>
          <a:prstGeom prst="rect">
            <a:avLst/>
          </a:prstGeom>
          <a:noFill/>
          <a:ln/>
        </p:spPr>
        <p:txBody>
          <a:bodyPr wrap="none" lIns="0" tIns="0" rIns="0" bIns="0" rtlCol="0" anchor="ctr">
            <a:spAutoFit/>
          </a:bodyPr>
          <a:lstStyle/>
          <a:p>
            <a:pPr marL="0" indent="0" algn="ctr">
              <a:buNone/>
            </a:pPr>
            <a:r>
              <a:rPr lang="en-US" sz="1125" b="1" dirty="0">
                <a:solidFill>
                  <a:srgbClr val="93C5FD"/>
                </a:solidFill>
                <a:latin typeface="Segoe UI" pitchFamily="34" charset="0"/>
                <a:ea typeface="Segoe UI" pitchFamily="34" charset="-122"/>
                <a:cs typeface="Segoe UI" pitchFamily="34" charset="-120"/>
              </a:rPr>
              <a:t>Development</a:t>
            </a:r>
            <a:endParaRPr lang="en-US" sz="1125" dirty="0"/>
          </a:p>
        </p:txBody>
      </p:sp>
      <p:sp>
        <p:nvSpPr>
          <p:cNvPr id="66" name="Text 53"/>
          <p:cNvSpPr/>
          <p:nvPr/>
        </p:nvSpPr>
        <p:spPr>
          <a:xfrm>
            <a:off x="6349064" y="6006108"/>
            <a:ext cx="746410" cy="158948"/>
          </a:xfrm>
          <a:prstGeom prst="rect">
            <a:avLst/>
          </a:prstGeom>
          <a:noFill/>
          <a:ln/>
        </p:spPr>
        <p:txBody>
          <a:bodyPr wrap="none" lIns="0" tIns="0" rIns="0" bIns="0" rtlCol="0" anchor="ctr">
            <a:spAutoFit/>
          </a:bodyPr>
          <a:lstStyle/>
          <a:p>
            <a:pPr marL="0" indent="0" algn="ctr">
              <a:buNone/>
            </a:pPr>
            <a:r>
              <a:rPr lang="en-US" sz="1125" b="1" dirty="0">
                <a:solidFill>
                  <a:srgbClr val="93C5FD"/>
                </a:solidFill>
                <a:latin typeface="Segoe UI" pitchFamily="34" charset="0"/>
                <a:ea typeface="Segoe UI" pitchFamily="34" charset="-122"/>
                <a:cs typeface="Segoe UI" pitchFamily="34" charset="-120"/>
              </a:rPr>
              <a:t>Efficiency</a:t>
            </a:r>
            <a:endParaRPr lang="en-US" sz="1125" dirty="0"/>
          </a:p>
        </p:txBody>
      </p:sp>
      <p:sp>
        <p:nvSpPr>
          <p:cNvPr id="67" name="Shape 54"/>
          <p:cNvSpPr/>
          <p:nvPr/>
        </p:nvSpPr>
        <p:spPr>
          <a:xfrm>
            <a:off x="457200" y="7458075"/>
            <a:ext cx="8229600" cy="24431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8" name="Text 55"/>
          <p:cNvSpPr/>
          <p:nvPr/>
        </p:nvSpPr>
        <p:spPr>
          <a:xfrm>
            <a:off x="628650" y="762952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Real-world Impact</a:t>
            </a:r>
            <a:endParaRPr lang="en-US" sz="1350" dirty="0"/>
          </a:p>
        </p:txBody>
      </p:sp>
      <p:sp>
        <p:nvSpPr>
          <p:cNvPr id="69" name="Shape 56"/>
          <p:cNvSpPr/>
          <p:nvPr/>
        </p:nvSpPr>
        <p:spPr>
          <a:xfrm>
            <a:off x="628650" y="7972425"/>
            <a:ext cx="2514600" cy="942975"/>
          </a:xfrm>
          <a:prstGeom prst="rect">
            <a:avLst/>
          </a:prstGeom>
          <a:solidFill>
            <a:srgbClr val="1E3A8A">
              <a:alpha val="30000"/>
            </a:srgbClr>
          </a:solidFill>
          <a:ln/>
        </p:spPr>
        <p:txBody>
          <a:bodyPr/>
          <a:lstStyle/>
          <a:p>
            <a:endParaRPr lang="en-US"/>
          </a:p>
        </p:txBody>
      </p:sp>
      <p:pic>
        <p:nvPicPr>
          <p:cNvPr id="70" name="Image 11" descr="preencoded.png"/>
          <p:cNvPicPr>
            <a:picLocks noChangeAspect="1"/>
          </p:cNvPicPr>
          <p:nvPr/>
        </p:nvPicPr>
        <p:blipFill>
          <a:blip r:embed="rId14"/>
          <a:stretch>
            <a:fillRect/>
          </a:stretch>
        </p:blipFill>
        <p:spPr>
          <a:xfrm>
            <a:off x="742950" y="8101013"/>
            <a:ext cx="171450" cy="171450"/>
          </a:xfrm>
          <a:prstGeom prst="rect">
            <a:avLst/>
          </a:prstGeom>
        </p:spPr>
      </p:pic>
      <p:sp>
        <p:nvSpPr>
          <p:cNvPr id="71" name="Text 57"/>
          <p:cNvSpPr/>
          <p:nvPr/>
        </p:nvSpPr>
        <p:spPr>
          <a:xfrm>
            <a:off x="1000125" y="8086725"/>
            <a:ext cx="1593586"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Mission-Critical Systems</a:t>
            </a:r>
            <a:endParaRPr lang="en-US" sz="1013" dirty="0"/>
          </a:p>
        </p:txBody>
      </p:sp>
      <p:sp>
        <p:nvSpPr>
          <p:cNvPr id="72" name="Text 58"/>
          <p:cNvSpPr/>
          <p:nvPr/>
        </p:nvSpPr>
        <p:spPr>
          <a:xfrm>
            <a:off x="742950" y="8372475"/>
            <a:ext cx="235743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In aerospace, medical, and financial systems, dry running helps verify algorithm correctness before deployment where errors could be catastrophic.</a:t>
            </a:r>
            <a:endParaRPr lang="en-US" sz="788" dirty="0"/>
          </a:p>
        </p:txBody>
      </p:sp>
      <p:sp>
        <p:nvSpPr>
          <p:cNvPr id="73" name="Shape 59"/>
          <p:cNvSpPr/>
          <p:nvPr/>
        </p:nvSpPr>
        <p:spPr>
          <a:xfrm>
            <a:off x="3314700" y="7972425"/>
            <a:ext cx="2514600" cy="942975"/>
          </a:xfrm>
          <a:prstGeom prst="rect">
            <a:avLst/>
          </a:prstGeom>
          <a:solidFill>
            <a:srgbClr val="1E3A8A">
              <a:alpha val="30000"/>
            </a:srgbClr>
          </a:solidFill>
          <a:ln/>
        </p:spPr>
        <p:txBody>
          <a:bodyPr/>
          <a:lstStyle/>
          <a:p>
            <a:endParaRPr lang="en-US"/>
          </a:p>
        </p:txBody>
      </p:sp>
      <p:pic>
        <p:nvPicPr>
          <p:cNvPr id="74" name="Image 12" descr="preencoded.png"/>
          <p:cNvPicPr>
            <a:picLocks noChangeAspect="1"/>
          </p:cNvPicPr>
          <p:nvPr/>
        </p:nvPicPr>
        <p:blipFill>
          <a:blip r:embed="rId15"/>
          <a:stretch>
            <a:fillRect/>
          </a:stretch>
        </p:blipFill>
        <p:spPr>
          <a:xfrm>
            <a:off x="3429000" y="8101013"/>
            <a:ext cx="214313" cy="171450"/>
          </a:xfrm>
          <a:prstGeom prst="rect">
            <a:avLst/>
          </a:prstGeom>
        </p:spPr>
      </p:pic>
      <p:sp>
        <p:nvSpPr>
          <p:cNvPr id="75" name="Text 60"/>
          <p:cNvSpPr/>
          <p:nvPr/>
        </p:nvSpPr>
        <p:spPr>
          <a:xfrm>
            <a:off x="3729038" y="8086725"/>
            <a:ext cx="1262211" cy="200025"/>
          </a:xfrm>
          <a:prstGeom prst="rect">
            <a:avLst/>
          </a:prstGeom>
          <a:noFill/>
          <a:ln/>
        </p:spPr>
        <p:txBody>
          <a:bodyPr wrap="non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Team Collaboration</a:t>
            </a:r>
            <a:endParaRPr lang="en-US" sz="1013" dirty="0"/>
          </a:p>
        </p:txBody>
      </p:sp>
      <p:sp>
        <p:nvSpPr>
          <p:cNvPr id="76" name="Text 61"/>
          <p:cNvSpPr/>
          <p:nvPr/>
        </p:nvSpPr>
        <p:spPr>
          <a:xfrm>
            <a:off x="3429000" y="8372475"/>
            <a:ext cx="235743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Facilitates knowledge sharing and onboarding by providing clear, step-by-step explanations of how complex algorithms work.</a:t>
            </a:r>
            <a:endParaRPr lang="en-US" sz="788" dirty="0"/>
          </a:p>
        </p:txBody>
      </p:sp>
      <p:sp>
        <p:nvSpPr>
          <p:cNvPr id="77" name="Shape 62"/>
          <p:cNvSpPr/>
          <p:nvPr/>
        </p:nvSpPr>
        <p:spPr>
          <a:xfrm>
            <a:off x="6000750" y="7972425"/>
            <a:ext cx="2514600" cy="942975"/>
          </a:xfrm>
          <a:prstGeom prst="rect">
            <a:avLst/>
          </a:prstGeom>
          <a:solidFill>
            <a:srgbClr val="1E3A8A">
              <a:alpha val="30000"/>
            </a:srgbClr>
          </a:solidFill>
          <a:ln/>
        </p:spPr>
        <p:txBody>
          <a:bodyPr/>
          <a:lstStyle/>
          <a:p>
            <a:endParaRPr lang="en-US"/>
          </a:p>
        </p:txBody>
      </p:sp>
      <p:pic>
        <p:nvPicPr>
          <p:cNvPr id="78" name="Image 13" descr="preencoded.png"/>
          <p:cNvPicPr>
            <a:picLocks noChangeAspect="1"/>
          </p:cNvPicPr>
          <p:nvPr/>
        </p:nvPicPr>
        <p:blipFill>
          <a:blip r:embed="rId16"/>
          <a:stretch>
            <a:fillRect/>
          </a:stretch>
        </p:blipFill>
        <p:spPr>
          <a:xfrm>
            <a:off x="6115050" y="8101013"/>
            <a:ext cx="214313" cy="171450"/>
          </a:xfrm>
          <a:prstGeom prst="rect">
            <a:avLst/>
          </a:prstGeom>
        </p:spPr>
      </p:pic>
      <p:sp>
        <p:nvSpPr>
          <p:cNvPr id="79" name="Text 63"/>
          <p:cNvSpPr/>
          <p:nvPr/>
        </p:nvSpPr>
        <p:spPr>
          <a:xfrm>
            <a:off x="6415088" y="8086725"/>
            <a:ext cx="18577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Computer Science Education</a:t>
            </a:r>
            <a:endParaRPr lang="en-US" sz="1013" dirty="0"/>
          </a:p>
        </p:txBody>
      </p:sp>
      <p:sp>
        <p:nvSpPr>
          <p:cNvPr id="80" name="Text 64"/>
          <p:cNvSpPr/>
          <p:nvPr/>
        </p:nvSpPr>
        <p:spPr>
          <a:xfrm>
            <a:off x="6115050" y="8372475"/>
            <a:ext cx="235743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Essential teaching tool that helps students visualize abstract concepts and understand program execution flow.</a:t>
            </a:r>
            <a:endParaRPr lang="en-US" sz="788" dirty="0"/>
          </a:p>
        </p:txBody>
      </p:sp>
      <p:sp>
        <p:nvSpPr>
          <p:cNvPr id="81" name="Shape 65"/>
          <p:cNvSpPr/>
          <p:nvPr/>
        </p:nvSpPr>
        <p:spPr>
          <a:xfrm>
            <a:off x="628650" y="9086850"/>
            <a:ext cx="7886700" cy="628650"/>
          </a:xfrm>
          <a:prstGeom prst="rect">
            <a:avLst/>
          </a:prstGeom>
          <a:solidFill>
            <a:srgbClr val="78350F">
              <a:alpha val="20000"/>
            </a:srgbClr>
          </a:solidFill>
          <a:ln/>
        </p:spPr>
        <p:txBody>
          <a:bodyPr/>
          <a:lstStyle/>
          <a:p>
            <a:endParaRPr lang="en-US"/>
          </a:p>
        </p:txBody>
      </p:sp>
      <p:pic>
        <p:nvPicPr>
          <p:cNvPr id="82" name="Image 14" descr="preencoded.png"/>
          <p:cNvPicPr>
            <a:picLocks noChangeAspect="1"/>
          </p:cNvPicPr>
          <p:nvPr/>
        </p:nvPicPr>
        <p:blipFill>
          <a:blip r:embed="rId17"/>
          <a:stretch>
            <a:fillRect/>
          </a:stretch>
        </p:blipFill>
        <p:spPr>
          <a:xfrm>
            <a:off x="742950" y="9315450"/>
            <a:ext cx="171450" cy="171450"/>
          </a:xfrm>
          <a:prstGeom prst="rect">
            <a:avLst/>
          </a:prstGeom>
        </p:spPr>
      </p:pic>
      <p:sp>
        <p:nvSpPr>
          <p:cNvPr id="83" name="Text 66"/>
          <p:cNvSpPr/>
          <p:nvPr/>
        </p:nvSpPr>
        <p:spPr>
          <a:xfrm>
            <a:off x="1028700" y="9201150"/>
            <a:ext cx="7443788"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Dry running is not just a learning tool but a professional practice that separates novice programmers from experienced developers who understand code behavior at a deeper level.</a:t>
            </a:r>
            <a:endParaRPr lang="en-US" sz="101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2851606"/>
          </a:xfrm>
          <a:prstGeom prst="rect">
            <a:avLst/>
          </a:prstGeom>
        </p:spPr>
      </p:pic>
      <p:sp>
        <p:nvSpPr>
          <p:cNvPr id="3" name="Text 0"/>
          <p:cNvSpPr/>
          <p:nvPr/>
        </p:nvSpPr>
        <p:spPr>
          <a:xfrm>
            <a:off x="457200" y="455414"/>
            <a:ext cx="600103" cy="287536"/>
          </a:xfrm>
          <a:prstGeom prst="rect">
            <a:avLst/>
          </a:prstGeom>
          <a:noFill/>
          <a:ln/>
        </p:spPr>
        <p:txBody>
          <a:bodyPr wrap="non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The</a:t>
            </a:r>
            <a:endParaRPr lang="en-US" sz="2025" dirty="0"/>
          </a:p>
        </p:txBody>
      </p:sp>
      <p:sp>
        <p:nvSpPr>
          <p:cNvPr id="4" name="Text 1"/>
          <p:cNvSpPr/>
          <p:nvPr/>
        </p:nvSpPr>
        <p:spPr>
          <a:xfrm>
            <a:off x="985865" y="455414"/>
            <a:ext cx="1071646"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Dry Run</a:t>
            </a:r>
            <a:endParaRPr lang="en-US" sz="2025" dirty="0"/>
          </a:p>
        </p:txBody>
      </p:sp>
      <p:sp>
        <p:nvSpPr>
          <p:cNvPr id="5" name="Text 2"/>
          <p:cNvSpPr/>
          <p:nvPr/>
        </p:nvSpPr>
        <p:spPr>
          <a:xfrm>
            <a:off x="1986074" y="455414"/>
            <a:ext cx="1143726" cy="287536"/>
          </a:xfrm>
          <a:prstGeom prst="rect">
            <a:avLst/>
          </a:prstGeom>
          <a:noFill/>
          <a:ln/>
        </p:spPr>
        <p:txBody>
          <a:bodyPr wrap="non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Process</a:t>
            </a:r>
            <a:endParaRPr lang="en-US" sz="2025" dirty="0"/>
          </a:p>
        </p:txBody>
      </p:sp>
      <p:sp>
        <p:nvSpPr>
          <p:cNvPr id="6" name="Shape 3"/>
          <p:cNvSpPr/>
          <p:nvPr/>
        </p:nvSpPr>
        <p:spPr>
          <a:xfrm>
            <a:off x="457200" y="971550"/>
            <a:ext cx="4000500" cy="4448770"/>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Step-by-Step Approach</a:t>
            </a:r>
            <a:endParaRPr lang="en-US" sz="1350" dirty="0"/>
          </a:p>
        </p:txBody>
      </p:sp>
      <p:sp>
        <p:nvSpPr>
          <p:cNvPr id="8" name="Shape 5"/>
          <p:cNvSpPr/>
          <p:nvPr/>
        </p:nvSpPr>
        <p:spPr>
          <a:xfrm>
            <a:off x="628650" y="1485900"/>
            <a:ext cx="3657600" cy="1428750"/>
          </a:xfrm>
          <a:prstGeom prst="rect">
            <a:avLst/>
          </a:prstGeom>
          <a:solidFill>
            <a:srgbClr val="1E3A8A">
              <a:alpha val="30000"/>
            </a:srgbClr>
          </a:solidFill>
          <a:ln/>
        </p:spPr>
        <p:txBody>
          <a:bodyPr/>
          <a:lstStyle/>
          <a:p>
            <a:endParaRPr lang="en-US"/>
          </a:p>
        </p:txBody>
      </p:sp>
      <p:sp>
        <p:nvSpPr>
          <p:cNvPr id="9" name="Shape 6"/>
          <p:cNvSpPr/>
          <p:nvPr/>
        </p:nvSpPr>
        <p:spPr>
          <a:xfrm>
            <a:off x="628650" y="1485900"/>
            <a:ext cx="28575" cy="1428750"/>
          </a:xfrm>
          <a:prstGeom prst="rect">
            <a:avLst/>
          </a:prstGeom>
          <a:solidFill>
            <a:srgbClr val="63B3ED"/>
          </a:solidFill>
          <a:ln/>
        </p:spPr>
        <p:txBody>
          <a:bodyPr/>
          <a:lstStyle/>
          <a:p>
            <a:endParaRPr lang="en-US"/>
          </a:p>
        </p:txBody>
      </p:sp>
      <p:sp>
        <p:nvSpPr>
          <p:cNvPr id="10" name="Text 7"/>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1. Prepare Tracking Table</a:t>
            </a:r>
            <a:endParaRPr lang="en-US" sz="1125" dirty="0"/>
          </a:p>
        </p:txBody>
      </p:sp>
      <p:sp>
        <p:nvSpPr>
          <p:cNvPr id="11" name="Text 8"/>
          <p:cNvSpPr/>
          <p:nvPr/>
        </p:nvSpPr>
        <p:spPr>
          <a:xfrm>
            <a:off x="7429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Create a table with columns for:</a:t>
            </a:r>
            <a:endParaRPr lang="en-US" sz="788" dirty="0"/>
          </a:p>
        </p:txBody>
      </p:sp>
      <p:sp>
        <p:nvSpPr>
          <p:cNvPr id="12" name="Text 9"/>
          <p:cNvSpPr/>
          <p:nvPr/>
        </p:nvSpPr>
        <p:spPr>
          <a:xfrm>
            <a:off x="742950" y="20002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Step number</a:t>
            </a:r>
            <a:endParaRPr lang="en-US" sz="788" dirty="0"/>
          </a:p>
        </p:txBody>
      </p:sp>
      <p:sp>
        <p:nvSpPr>
          <p:cNvPr id="13" name="Text 10"/>
          <p:cNvSpPr/>
          <p:nvPr/>
        </p:nvSpPr>
        <p:spPr>
          <a:xfrm>
            <a:off x="742950" y="21717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Line of code being executed</a:t>
            </a:r>
            <a:endParaRPr lang="en-US" sz="788" dirty="0"/>
          </a:p>
        </p:txBody>
      </p:sp>
      <p:sp>
        <p:nvSpPr>
          <p:cNvPr id="14" name="Text 11"/>
          <p:cNvSpPr/>
          <p:nvPr/>
        </p:nvSpPr>
        <p:spPr>
          <a:xfrm>
            <a:off x="742950" y="23431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Variable values</a:t>
            </a:r>
            <a:endParaRPr lang="en-US" sz="788" dirty="0"/>
          </a:p>
        </p:txBody>
      </p:sp>
      <p:sp>
        <p:nvSpPr>
          <p:cNvPr id="15" name="Text 12"/>
          <p:cNvSpPr/>
          <p:nvPr/>
        </p:nvSpPr>
        <p:spPr>
          <a:xfrm>
            <a:off x="742950" y="25146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Output (if any)</a:t>
            </a:r>
            <a:endParaRPr lang="en-US" sz="788" dirty="0"/>
          </a:p>
        </p:txBody>
      </p:sp>
      <p:sp>
        <p:nvSpPr>
          <p:cNvPr id="16" name="Text 13"/>
          <p:cNvSpPr/>
          <p:nvPr/>
        </p:nvSpPr>
        <p:spPr>
          <a:xfrm>
            <a:off x="742950" y="26860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Notes/observations</a:t>
            </a:r>
            <a:endParaRPr lang="en-US" sz="788" dirty="0"/>
          </a:p>
        </p:txBody>
      </p:sp>
      <p:sp>
        <p:nvSpPr>
          <p:cNvPr id="17" name="Shape 14"/>
          <p:cNvSpPr/>
          <p:nvPr/>
        </p:nvSpPr>
        <p:spPr>
          <a:xfrm>
            <a:off x="628650" y="3028950"/>
            <a:ext cx="3657600" cy="834033"/>
          </a:xfrm>
          <a:prstGeom prst="rect">
            <a:avLst/>
          </a:prstGeom>
          <a:solidFill>
            <a:srgbClr val="1E3A8A">
              <a:alpha val="30000"/>
            </a:srgbClr>
          </a:solidFill>
          <a:ln/>
        </p:spPr>
        <p:txBody>
          <a:bodyPr/>
          <a:lstStyle/>
          <a:p>
            <a:endParaRPr lang="en-US"/>
          </a:p>
        </p:txBody>
      </p:sp>
      <p:sp>
        <p:nvSpPr>
          <p:cNvPr id="18" name="Shape 15"/>
          <p:cNvSpPr/>
          <p:nvPr/>
        </p:nvSpPr>
        <p:spPr>
          <a:xfrm>
            <a:off x="628650" y="3028950"/>
            <a:ext cx="28575" cy="834033"/>
          </a:xfrm>
          <a:prstGeom prst="rect">
            <a:avLst/>
          </a:prstGeom>
          <a:solidFill>
            <a:srgbClr val="63B3ED"/>
          </a:solidFill>
          <a:ln/>
        </p:spPr>
        <p:txBody>
          <a:bodyPr/>
          <a:lstStyle/>
          <a:p>
            <a:endParaRPr lang="en-US"/>
          </a:p>
        </p:txBody>
      </p:sp>
      <p:sp>
        <p:nvSpPr>
          <p:cNvPr id="19" name="Text 16"/>
          <p:cNvSpPr/>
          <p:nvPr/>
        </p:nvSpPr>
        <p:spPr>
          <a:xfrm>
            <a:off x="742950" y="31146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2. Initialize Variables</a:t>
            </a:r>
            <a:endParaRPr lang="en-US" sz="1125" dirty="0"/>
          </a:p>
        </p:txBody>
      </p:sp>
      <p:sp>
        <p:nvSpPr>
          <p:cNvPr id="20" name="Text 17"/>
          <p:cNvSpPr/>
          <p:nvPr/>
        </p:nvSpPr>
        <p:spPr>
          <a:xfrm>
            <a:off x="742950" y="33432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Record initial values of all variables before execution begins.</a:t>
            </a:r>
            <a:endParaRPr lang="en-US" sz="788" dirty="0"/>
          </a:p>
        </p:txBody>
      </p:sp>
      <p:sp>
        <p:nvSpPr>
          <p:cNvPr id="21" name="Shape 18"/>
          <p:cNvSpPr/>
          <p:nvPr/>
        </p:nvSpPr>
        <p:spPr>
          <a:xfrm>
            <a:off x="742950" y="3543300"/>
            <a:ext cx="3543300" cy="233958"/>
          </a:xfrm>
          <a:prstGeom prst="rect">
            <a:avLst/>
          </a:prstGeom>
          <a:solidFill>
            <a:srgbClr val="1E3A8A">
              <a:alpha val="20000"/>
            </a:srgbClr>
          </a:solidFill>
          <a:ln/>
        </p:spPr>
        <p:txBody>
          <a:bodyPr/>
          <a:lstStyle/>
          <a:p>
            <a:endParaRPr lang="en-US"/>
          </a:p>
        </p:txBody>
      </p:sp>
      <p:sp>
        <p:nvSpPr>
          <p:cNvPr id="22" name="Text 19"/>
          <p:cNvSpPr/>
          <p:nvPr/>
        </p:nvSpPr>
        <p:spPr>
          <a:xfrm>
            <a:off x="800100" y="3609380"/>
            <a:ext cx="605014" cy="94655"/>
          </a:xfrm>
          <a:prstGeom prst="rect">
            <a:avLst/>
          </a:prstGeom>
          <a:noFill/>
          <a:ln/>
        </p:spPr>
        <p:txBody>
          <a:bodyPr wrap="non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 For</a:t>
            </a:r>
            <a:endParaRPr lang="en-US" sz="675" dirty="0"/>
          </a:p>
        </p:txBody>
      </p:sp>
      <p:sp>
        <p:nvSpPr>
          <p:cNvPr id="23" name="Text 20"/>
          <p:cNvSpPr/>
          <p:nvPr/>
        </p:nvSpPr>
        <p:spPr>
          <a:xfrm>
            <a:off x="1333677" y="3614738"/>
            <a:ext cx="1254649" cy="96441"/>
          </a:xfrm>
          <a:prstGeom prst="rect">
            <a:avLst/>
          </a:prstGeom>
          <a:noFill/>
          <a:ln/>
        </p:spPr>
        <p:txBody>
          <a:bodyPr wrap="none" lIns="0" tIns="0" rIns="0" bIns="0" rtlCol="0" anchor="ctr">
            <a:spAutoFit/>
          </a:bodyPr>
          <a:lstStyle/>
          <a:p>
            <a:pPr marL="0" indent="0">
              <a:buNone/>
            </a:pPr>
            <a:r>
              <a:rPr lang="en-US" sz="675" dirty="0">
                <a:solidFill>
                  <a:srgbClr val="E2E8F0"/>
                </a:solidFill>
                <a:latin typeface="ui-monospace" pitchFamily="34" charset="0"/>
                <a:ea typeface="ui-monospace" pitchFamily="34" charset="-122"/>
                <a:cs typeface="ui-monospace" pitchFamily="34" charset="-120"/>
              </a:rPr>
              <a:t>int sum = 0; int i = 1;</a:t>
            </a:r>
            <a:endParaRPr lang="en-US" sz="675" dirty="0"/>
          </a:p>
        </p:txBody>
      </p:sp>
      <p:sp>
        <p:nvSpPr>
          <p:cNvPr id="24" name="Text 21"/>
          <p:cNvSpPr/>
          <p:nvPr/>
        </p:nvSpPr>
        <p:spPr>
          <a:xfrm>
            <a:off x="2516888" y="3609380"/>
            <a:ext cx="809978" cy="94655"/>
          </a:xfrm>
          <a:prstGeom prst="rect">
            <a:avLst/>
          </a:prstGeom>
          <a:noFill/>
          <a:ln/>
        </p:spPr>
        <p:txBody>
          <a:bodyPr wrap="non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 record sum=0, i=1</a:t>
            </a:r>
            <a:endParaRPr lang="en-US" sz="675" dirty="0"/>
          </a:p>
        </p:txBody>
      </p:sp>
      <p:sp>
        <p:nvSpPr>
          <p:cNvPr id="25" name="Shape 22"/>
          <p:cNvSpPr/>
          <p:nvPr/>
        </p:nvSpPr>
        <p:spPr>
          <a:xfrm>
            <a:off x="628650" y="3977283"/>
            <a:ext cx="3657600" cy="1257300"/>
          </a:xfrm>
          <a:prstGeom prst="rect">
            <a:avLst/>
          </a:prstGeom>
          <a:solidFill>
            <a:srgbClr val="1E3A8A">
              <a:alpha val="30000"/>
            </a:srgbClr>
          </a:solidFill>
          <a:ln/>
        </p:spPr>
        <p:txBody>
          <a:bodyPr/>
          <a:lstStyle/>
          <a:p>
            <a:endParaRPr lang="en-US"/>
          </a:p>
        </p:txBody>
      </p:sp>
      <p:sp>
        <p:nvSpPr>
          <p:cNvPr id="26" name="Shape 23"/>
          <p:cNvSpPr/>
          <p:nvPr/>
        </p:nvSpPr>
        <p:spPr>
          <a:xfrm>
            <a:off x="628650" y="3977283"/>
            <a:ext cx="28575" cy="1257300"/>
          </a:xfrm>
          <a:prstGeom prst="rect">
            <a:avLst/>
          </a:prstGeom>
          <a:solidFill>
            <a:srgbClr val="63B3ED"/>
          </a:solidFill>
          <a:ln/>
        </p:spPr>
        <p:txBody>
          <a:bodyPr/>
          <a:lstStyle/>
          <a:p>
            <a:endParaRPr lang="en-US"/>
          </a:p>
        </p:txBody>
      </p:sp>
      <p:sp>
        <p:nvSpPr>
          <p:cNvPr id="27" name="Text 24"/>
          <p:cNvSpPr/>
          <p:nvPr/>
        </p:nvSpPr>
        <p:spPr>
          <a:xfrm>
            <a:off x="742950" y="4063008"/>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3. Execute Line by Line</a:t>
            </a:r>
            <a:endParaRPr lang="en-US" sz="1125" dirty="0"/>
          </a:p>
        </p:txBody>
      </p:sp>
      <p:sp>
        <p:nvSpPr>
          <p:cNvPr id="28" name="Text 25"/>
          <p:cNvSpPr/>
          <p:nvPr/>
        </p:nvSpPr>
        <p:spPr>
          <a:xfrm>
            <a:off x="742950" y="4291608"/>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Follow program flow exactly as a computer would:</a:t>
            </a:r>
            <a:endParaRPr lang="en-US" sz="788" dirty="0"/>
          </a:p>
        </p:txBody>
      </p:sp>
      <p:sp>
        <p:nvSpPr>
          <p:cNvPr id="29" name="Text 26"/>
          <p:cNvSpPr/>
          <p:nvPr/>
        </p:nvSpPr>
        <p:spPr>
          <a:xfrm>
            <a:off x="742950" y="4491633"/>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Execute one statement at a time</a:t>
            </a:r>
            <a:endParaRPr lang="en-US" sz="788" dirty="0"/>
          </a:p>
        </p:txBody>
      </p:sp>
      <p:sp>
        <p:nvSpPr>
          <p:cNvPr id="30" name="Text 27"/>
          <p:cNvSpPr/>
          <p:nvPr/>
        </p:nvSpPr>
        <p:spPr>
          <a:xfrm>
            <a:off x="742950" y="4663083"/>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Update variable values after each operation</a:t>
            </a:r>
            <a:endParaRPr lang="en-US" sz="788" dirty="0"/>
          </a:p>
        </p:txBody>
      </p:sp>
      <p:sp>
        <p:nvSpPr>
          <p:cNvPr id="31" name="Text 28"/>
          <p:cNvSpPr/>
          <p:nvPr/>
        </p:nvSpPr>
        <p:spPr>
          <a:xfrm>
            <a:off x="742950" y="4834533"/>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Follow control structures (if/else, loops)</a:t>
            </a:r>
            <a:endParaRPr lang="en-US" sz="788" dirty="0"/>
          </a:p>
        </p:txBody>
      </p:sp>
      <p:sp>
        <p:nvSpPr>
          <p:cNvPr id="32" name="Text 29"/>
          <p:cNvSpPr/>
          <p:nvPr/>
        </p:nvSpPr>
        <p:spPr>
          <a:xfrm>
            <a:off x="742950" y="5005983"/>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Track function calls and returns</a:t>
            </a:r>
            <a:endParaRPr lang="en-US" sz="788" dirty="0"/>
          </a:p>
        </p:txBody>
      </p:sp>
      <p:sp>
        <p:nvSpPr>
          <p:cNvPr id="33" name="Shape 30"/>
          <p:cNvSpPr/>
          <p:nvPr/>
        </p:nvSpPr>
        <p:spPr>
          <a:xfrm>
            <a:off x="457200" y="5577483"/>
            <a:ext cx="4000500" cy="2071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4" name="Text 31"/>
          <p:cNvSpPr/>
          <p:nvPr/>
        </p:nvSpPr>
        <p:spPr>
          <a:xfrm>
            <a:off x="628650" y="5748933"/>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Handling Control Structures</a:t>
            </a:r>
            <a:endParaRPr lang="en-US" sz="1350" dirty="0"/>
          </a:p>
        </p:txBody>
      </p:sp>
      <p:sp>
        <p:nvSpPr>
          <p:cNvPr id="35" name="Shape 32"/>
          <p:cNvSpPr/>
          <p:nvPr/>
        </p:nvSpPr>
        <p:spPr>
          <a:xfrm>
            <a:off x="628650" y="6091833"/>
            <a:ext cx="1771650" cy="628650"/>
          </a:xfrm>
          <a:prstGeom prst="rect">
            <a:avLst/>
          </a:prstGeom>
          <a:solidFill>
            <a:srgbClr val="1E3A8A">
              <a:alpha val="30000"/>
            </a:srgbClr>
          </a:solidFill>
          <a:ln/>
        </p:spPr>
        <p:txBody>
          <a:bodyPr/>
          <a:lstStyle/>
          <a:p>
            <a:endParaRPr lang="en-US"/>
          </a:p>
        </p:txBody>
      </p:sp>
      <p:pic>
        <p:nvPicPr>
          <p:cNvPr id="36" name="Image 1" descr="preencoded.png"/>
          <p:cNvPicPr>
            <a:picLocks noChangeAspect="1"/>
          </p:cNvPicPr>
          <p:nvPr/>
        </p:nvPicPr>
        <p:blipFill>
          <a:blip r:embed="rId4"/>
          <a:stretch>
            <a:fillRect/>
          </a:stretch>
        </p:blipFill>
        <p:spPr>
          <a:xfrm>
            <a:off x="714375" y="6191845"/>
            <a:ext cx="125016" cy="142875"/>
          </a:xfrm>
          <a:prstGeom prst="rect">
            <a:avLst/>
          </a:prstGeom>
        </p:spPr>
      </p:pic>
      <p:sp>
        <p:nvSpPr>
          <p:cNvPr id="37" name="Text 33"/>
          <p:cNvSpPr/>
          <p:nvPr/>
        </p:nvSpPr>
        <p:spPr>
          <a:xfrm>
            <a:off x="896541" y="6177558"/>
            <a:ext cx="763544"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Conditionals</a:t>
            </a:r>
            <a:endParaRPr lang="en-US" sz="900" dirty="0"/>
          </a:p>
        </p:txBody>
      </p:sp>
      <p:sp>
        <p:nvSpPr>
          <p:cNvPr id="38" name="Text 34"/>
          <p:cNvSpPr/>
          <p:nvPr/>
        </p:nvSpPr>
        <p:spPr>
          <a:xfrm>
            <a:off x="714375" y="6406158"/>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Evaluate condition, follow only the true branch</a:t>
            </a:r>
            <a:endParaRPr lang="en-US" sz="675" dirty="0"/>
          </a:p>
        </p:txBody>
      </p:sp>
      <p:sp>
        <p:nvSpPr>
          <p:cNvPr id="39" name="Shape 35"/>
          <p:cNvSpPr/>
          <p:nvPr/>
        </p:nvSpPr>
        <p:spPr>
          <a:xfrm>
            <a:off x="2514600" y="6091833"/>
            <a:ext cx="1771650" cy="628650"/>
          </a:xfrm>
          <a:prstGeom prst="rect">
            <a:avLst/>
          </a:prstGeom>
          <a:solidFill>
            <a:srgbClr val="1E3A8A">
              <a:alpha val="30000"/>
            </a:srgbClr>
          </a:solidFill>
          <a:ln/>
        </p:spPr>
        <p:txBody>
          <a:bodyPr/>
          <a:lstStyle/>
          <a:p>
            <a:endParaRPr lang="en-US"/>
          </a:p>
        </p:txBody>
      </p:sp>
      <p:pic>
        <p:nvPicPr>
          <p:cNvPr id="40" name="Image 2" descr="preencoded.png"/>
          <p:cNvPicPr>
            <a:picLocks noChangeAspect="1"/>
          </p:cNvPicPr>
          <p:nvPr/>
        </p:nvPicPr>
        <p:blipFill>
          <a:blip r:embed="rId5"/>
          <a:stretch>
            <a:fillRect/>
          </a:stretch>
        </p:blipFill>
        <p:spPr>
          <a:xfrm>
            <a:off x="2600325" y="6191845"/>
            <a:ext cx="142875" cy="142875"/>
          </a:xfrm>
          <a:prstGeom prst="rect">
            <a:avLst/>
          </a:prstGeom>
        </p:spPr>
      </p:pic>
      <p:sp>
        <p:nvSpPr>
          <p:cNvPr id="41" name="Text 36"/>
          <p:cNvSpPr/>
          <p:nvPr/>
        </p:nvSpPr>
        <p:spPr>
          <a:xfrm>
            <a:off x="2800350" y="6177558"/>
            <a:ext cx="414282"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Loops</a:t>
            </a:r>
            <a:endParaRPr lang="en-US" sz="900" dirty="0"/>
          </a:p>
        </p:txBody>
      </p:sp>
      <p:sp>
        <p:nvSpPr>
          <p:cNvPr id="42" name="Text 37"/>
          <p:cNvSpPr/>
          <p:nvPr/>
        </p:nvSpPr>
        <p:spPr>
          <a:xfrm>
            <a:off x="2600325" y="6406158"/>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Check condition, execute body, update variables, repeat</a:t>
            </a:r>
            <a:endParaRPr lang="en-US" sz="675" dirty="0"/>
          </a:p>
        </p:txBody>
      </p:sp>
      <p:sp>
        <p:nvSpPr>
          <p:cNvPr id="43" name="Shape 38"/>
          <p:cNvSpPr/>
          <p:nvPr/>
        </p:nvSpPr>
        <p:spPr>
          <a:xfrm>
            <a:off x="628650" y="6834783"/>
            <a:ext cx="1771650" cy="628650"/>
          </a:xfrm>
          <a:prstGeom prst="rect">
            <a:avLst/>
          </a:prstGeom>
          <a:solidFill>
            <a:srgbClr val="1E3A8A">
              <a:alpha val="30000"/>
            </a:srgbClr>
          </a:solidFill>
          <a:ln/>
        </p:spPr>
        <p:txBody>
          <a:bodyPr/>
          <a:lstStyle/>
          <a:p>
            <a:endParaRPr lang="en-US"/>
          </a:p>
        </p:txBody>
      </p:sp>
      <p:pic>
        <p:nvPicPr>
          <p:cNvPr id="44" name="Image 3" descr="preencoded.png"/>
          <p:cNvPicPr>
            <a:picLocks noChangeAspect="1"/>
          </p:cNvPicPr>
          <p:nvPr/>
        </p:nvPicPr>
        <p:blipFill>
          <a:blip r:embed="rId6"/>
          <a:stretch>
            <a:fillRect/>
          </a:stretch>
        </p:blipFill>
        <p:spPr>
          <a:xfrm>
            <a:off x="714375" y="6934795"/>
            <a:ext cx="160734" cy="142875"/>
          </a:xfrm>
          <a:prstGeom prst="rect">
            <a:avLst/>
          </a:prstGeom>
        </p:spPr>
      </p:pic>
      <p:sp>
        <p:nvSpPr>
          <p:cNvPr id="45" name="Text 39"/>
          <p:cNvSpPr/>
          <p:nvPr/>
        </p:nvSpPr>
        <p:spPr>
          <a:xfrm>
            <a:off x="932259" y="6920508"/>
            <a:ext cx="858869"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Function Calls</a:t>
            </a:r>
            <a:endParaRPr lang="en-US" sz="900" dirty="0"/>
          </a:p>
        </p:txBody>
      </p:sp>
      <p:sp>
        <p:nvSpPr>
          <p:cNvPr id="46" name="Text 40"/>
          <p:cNvSpPr/>
          <p:nvPr/>
        </p:nvSpPr>
        <p:spPr>
          <a:xfrm>
            <a:off x="714375" y="7149108"/>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Track call stack, parameters, and return values</a:t>
            </a:r>
            <a:endParaRPr lang="en-US" sz="675" dirty="0"/>
          </a:p>
        </p:txBody>
      </p:sp>
      <p:sp>
        <p:nvSpPr>
          <p:cNvPr id="47" name="Shape 41"/>
          <p:cNvSpPr/>
          <p:nvPr/>
        </p:nvSpPr>
        <p:spPr>
          <a:xfrm>
            <a:off x="2514600" y="6834783"/>
            <a:ext cx="1771650" cy="628650"/>
          </a:xfrm>
          <a:prstGeom prst="rect">
            <a:avLst/>
          </a:prstGeom>
          <a:solidFill>
            <a:srgbClr val="1E3A8A">
              <a:alpha val="30000"/>
            </a:srgbClr>
          </a:solidFill>
          <a:ln/>
        </p:spPr>
        <p:txBody>
          <a:bodyPr/>
          <a:lstStyle/>
          <a:p>
            <a:endParaRPr lang="en-US"/>
          </a:p>
        </p:txBody>
      </p:sp>
      <p:pic>
        <p:nvPicPr>
          <p:cNvPr id="48" name="Image 4" descr="preencoded.png"/>
          <p:cNvPicPr>
            <a:picLocks noChangeAspect="1"/>
          </p:cNvPicPr>
          <p:nvPr/>
        </p:nvPicPr>
        <p:blipFill>
          <a:blip r:embed="rId7"/>
          <a:stretch>
            <a:fillRect/>
          </a:stretch>
        </p:blipFill>
        <p:spPr>
          <a:xfrm>
            <a:off x="2600325" y="6934795"/>
            <a:ext cx="142875" cy="142875"/>
          </a:xfrm>
          <a:prstGeom prst="rect">
            <a:avLst/>
          </a:prstGeom>
        </p:spPr>
      </p:pic>
      <p:sp>
        <p:nvSpPr>
          <p:cNvPr id="49" name="Text 42"/>
          <p:cNvSpPr/>
          <p:nvPr/>
        </p:nvSpPr>
        <p:spPr>
          <a:xfrm>
            <a:off x="2800350" y="6920508"/>
            <a:ext cx="1138312"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Exception Handling</a:t>
            </a:r>
            <a:endParaRPr lang="en-US" sz="900" dirty="0"/>
          </a:p>
        </p:txBody>
      </p:sp>
      <p:sp>
        <p:nvSpPr>
          <p:cNvPr id="50" name="Text 43"/>
          <p:cNvSpPr/>
          <p:nvPr/>
        </p:nvSpPr>
        <p:spPr>
          <a:xfrm>
            <a:off x="2600325" y="7149108"/>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Note when exceptions would be thrown and caught</a:t>
            </a:r>
            <a:endParaRPr lang="en-US" sz="675" dirty="0"/>
          </a:p>
        </p:txBody>
      </p:sp>
      <p:sp>
        <p:nvSpPr>
          <p:cNvPr id="51" name="Shape 44"/>
          <p:cNvSpPr/>
          <p:nvPr/>
        </p:nvSpPr>
        <p:spPr>
          <a:xfrm>
            <a:off x="4686300" y="971550"/>
            <a:ext cx="4000500" cy="4700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52" name="Text 45"/>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Continuing the Process</a:t>
            </a:r>
            <a:endParaRPr lang="en-US" sz="1350" dirty="0"/>
          </a:p>
        </p:txBody>
      </p:sp>
      <p:sp>
        <p:nvSpPr>
          <p:cNvPr id="53" name="Shape 46"/>
          <p:cNvSpPr/>
          <p:nvPr/>
        </p:nvSpPr>
        <p:spPr>
          <a:xfrm>
            <a:off x="4857750" y="1485900"/>
            <a:ext cx="3657600" cy="1257300"/>
          </a:xfrm>
          <a:prstGeom prst="rect">
            <a:avLst/>
          </a:prstGeom>
          <a:solidFill>
            <a:srgbClr val="1E3A8A">
              <a:alpha val="30000"/>
            </a:srgbClr>
          </a:solidFill>
          <a:ln/>
        </p:spPr>
        <p:txBody>
          <a:bodyPr/>
          <a:lstStyle/>
          <a:p>
            <a:endParaRPr lang="en-US"/>
          </a:p>
        </p:txBody>
      </p:sp>
      <p:sp>
        <p:nvSpPr>
          <p:cNvPr id="54" name="Shape 47"/>
          <p:cNvSpPr/>
          <p:nvPr/>
        </p:nvSpPr>
        <p:spPr>
          <a:xfrm>
            <a:off x="4857750" y="1485900"/>
            <a:ext cx="28575" cy="1257300"/>
          </a:xfrm>
          <a:prstGeom prst="rect">
            <a:avLst/>
          </a:prstGeom>
          <a:solidFill>
            <a:srgbClr val="63B3ED"/>
          </a:solidFill>
          <a:ln/>
        </p:spPr>
        <p:txBody>
          <a:bodyPr/>
          <a:lstStyle/>
          <a:p>
            <a:endParaRPr lang="en-US"/>
          </a:p>
        </p:txBody>
      </p:sp>
      <p:sp>
        <p:nvSpPr>
          <p:cNvPr id="55" name="Text 48"/>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4. Record State Changes</a:t>
            </a:r>
            <a:endParaRPr lang="en-US" sz="1125" dirty="0"/>
          </a:p>
        </p:txBody>
      </p:sp>
      <p:sp>
        <p:nvSpPr>
          <p:cNvPr id="56" name="Text 49"/>
          <p:cNvSpPr/>
          <p:nvPr/>
        </p:nvSpPr>
        <p:spPr>
          <a:xfrm>
            <a:off x="49720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Document all changes to variables and program state:</a:t>
            </a:r>
            <a:endParaRPr lang="en-US" sz="788" dirty="0"/>
          </a:p>
        </p:txBody>
      </p:sp>
      <p:sp>
        <p:nvSpPr>
          <p:cNvPr id="57" name="Text 50"/>
          <p:cNvSpPr/>
          <p:nvPr/>
        </p:nvSpPr>
        <p:spPr>
          <a:xfrm>
            <a:off x="4972050" y="20002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Variable assignments</a:t>
            </a:r>
            <a:endParaRPr lang="en-US" sz="788" dirty="0"/>
          </a:p>
        </p:txBody>
      </p:sp>
      <p:sp>
        <p:nvSpPr>
          <p:cNvPr id="58" name="Text 51"/>
          <p:cNvSpPr/>
          <p:nvPr/>
        </p:nvSpPr>
        <p:spPr>
          <a:xfrm>
            <a:off x="4972050" y="21717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Calculation results</a:t>
            </a:r>
            <a:endParaRPr lang="en-US" sz="788" dirty="0"/>
          </a:p>
        </p:txBody>
      </p:sp>
      <p:sp>
        <p:nvSpPr>
          <p:cNvPr id="59" name="Text 52"/>
          <p:cNvSpPr/>
          <p:nvPr/>
        </p:nvSpPr>
        <p:spPr>
          <a:xfrm>
            <a:off x="4972050" y="23431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Array/object modifications</a:t>
            </a:r>
            <a:endParaRPr lang="en-US" sz="788" dirty="0"/>
          </a:p>
        </p:txBody>
      </p:sp>
      <p:sp>
        <p:nvSpPr>
          <p:cNvPr id="60" name="Text 53"/>
          <p:cNvSpPr/>
          <p:nvPr/>
        </p:nvSpPr>
        <p:spPr>
          <a:xfrm>
            <a:off x="4972050" y="25146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Output generated</a:t>
            </a:r>
            <a:endParaRPr lang="en-US" sz="788" dirty="0"/>
          </a:p>
        </p:txBody>
      </p:sp>
      <p:sp>
        <p:nvSpPr>
          <p:cNvPr id="61" name="Shape 54"/>
          <p:cNvSpPr/>
          <p:nvPr/>
        </p:nvSpPr>
        <p:spPr>
          <a:xfrm>
            <a:off x="4857750" y="2857500"/>
            <a:ext cx="3657600" cy="1257300"/>
          </a:xfrm>
          <a:prstGeom prst="rect">
            <a:avLst/>
          </a:prstGeom>
          <a:solidFill>
            <a:srgbClr val="1E3A8A">
              <a:alpha val="30000"/>
            </a:srgbClr>
          </a:solidFill>
          <a:ln/>
        </p:spPr>
        <p:txBody>
          <a:bodyPr/>
          <a:lstStyle/>
          <a:p>
            <a:endParaRPr lang="en-US"/>
          </a:p>
        </p:txBody>
      </p:sp>
      <p:sp>
        <p:nvSpPr>
          <p:cNvPr id="62" name="Shape 55"/>
          <p:cNvSpPr/>
          <p:nvPr/>
        </p:nvSpPr>
        <p:spPr>
          <a:xfrm>
            <a:off x="4857750" y="2857500"/>
            <a:ext cx="28575" cy="1257300"/>
          </a:xfrm>
          <a:prstGeom prst="rect">
            <a:avLst/>
          </a:prstGeom>
          <a:solidFill>
            <a:srgbClr val="63B3ED"/>
          </a:solidFill>
          <a:ln/>
        </p:spPr>
        <p:txBody>
          <a:bodyPr/>
          <a:lstStyle/>
          <a:p>
            <a:endParaRPr lang="en-US"/>
          </a:p>
        </p:txBody>
      </p:sp>
      <p:sp>
        <p:nvSpPr>
          <p:cNvPr id="63" name="Text 56"/>
          <p:cNvSpPr/>
          <p:nvPr/>
        </p:nvSpPr>
        <p:spPr>
          <a:xfrm>
            <a:off x="4972050" y="29432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5. Track Program Flow</a:t>
            </a:r>
            <a:endParaRPr lang="en-US" sz="1125" dirty="0"/>
          </a:p>
        </p:txBody>
      </p:sp>
      <p:sp>
        <p:nvSpPr>
          <p:cNvPr id="64" name="Text 57"/>
          <p:cNvSpPr/>
          <p:nvPr/>
        </p:nvSpPr>
        <p:spPr>
          <a:xfrm>
            <a:off x="4972050" y="31718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Note changes in execution path:</a:t>
            </a:r>
            <a:endParaRPr lang="en-US" sz="788" dirty="0"/>
          </a:p>
        </p:txBody>
      </p:sp>
      <p:sp>
        <p:nvSpPr>
          <p:cNvPr id="65" name="Text 58"/>
          <p:cNvSpPr/>
          <p:nvPr/>
        </p:nvSpPr>
        <p:spPr>
          <a:xfrm>
            <a:off x="4972050" y="33718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Loop iterations</a:t>
            </a:r>
            <a:endParaRPr lang="en-US" sz="788" dirty="0"/>
          </a:p>
        </p:txBody>
      </p:sp>
      <p:sp>
        <p:nvSpPr>
          <p:cNvPr id="66" name="Text 59"/>
          <p:cNvSpPr/>
          <p:nvPr/>
        </p:nvSpPr>
        <p:spPr>
          <a:xfrm>
            <a:off x="4972050" y="35433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Conditional branches taken</a:t>
            </a:r>
            <a:endParaRPr lang="en-US" sz="788" dirty="0"/>
          </a:p>
        </p:txBody>
      </p:sp>
      <p:sp>
        <p:nvSpPr>
          <p:cNvPr id="67" name="Text 60"/>
          <p:cNvSpPr/>
          <p:nvPr/>
        </p:nvSpPr>
        <p:spPr>
          <a:xfrm>
            <a:off x="4972050" y="37147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Function entries and exits</a:t>
            </a:r>
            <a:endParaRPr lang="en-US" sz="788" dirty="0"/>
          </a:p>
        </p:txBody>
      </p:sp>
      <p:sp>
        <p:nvSpPr>
          <p:cNvPr id="68" name="Text 61"/>
          <p:cNvSpPr/>
          <p:nvPr/>
        </p:nvSpPr>
        <p:spPr>
          <a:xfrm>
            <a:off x="4972050" y="38862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Early returns or breaks</a:t>
            </a:r>
            <a:endParaRPr lang="en-US" sz="788" dirty="0"/>
          </a:p>
        </p:txBody>
      </p:sp>
      <p:sp>
        <p:nvSpPr>
          <p:cNvPr id="69" name="Shape 62"/>
          <p:cNvSpPr/>
          <p:nvPr/>
        </p:nvSpPr>
        <p:spPr>
          <a:xfrm>
            <a:off x="4857750" y="4229100"/>
            <a:ext cx="3657600" cy="1257300"/>
          </a:xfrm>
          <a:prstGeom prst="rect">
            <a:avLst/>
          </a:prstGeom>
          <a:solidFill>
            <a:srgbClr val="1E3A8A">
              <a:alpha val="30000"/>
            </a:srgbClr>
          </a:solidFill>
          <a:ln/>
        </p:spPr>
        <p:txBody>
          <a:bodyPr/>
          <a:lstStyle/>
          <a:p>
            <a:endParaRPr lang="en-US"/>
          </a:p>
        </p:txBody>
      </p:sp>
      <p:sp>
        <p:nvSpPr>
          <p:cNvPr id="70" name="Shape 63"/>
          <p:cNvSpPr/>
          <p:nvPr/>
        </p:nvSpPr>
        <p:spPr>
          <a:xfrm>
            <a:off x="4857750" y="4229100"/>
            <a:ext cx="28575" cy="1257300"/>
          </a:xfrm>
          <a:prstGeom prst="rect">
            <a:avLst/>
          </a:prstGeom>
          <a:solidFill>
            <a:srgbClr val="63B3ED"/>
          </a:solidFill>
          <a:ln/>
        </p:spPr>
        <p:txBody>
          <a:bodyPr/>
          <a:lstStyle/>
          <a:p>
            <a:endParaRPr lang="en-US"/>
          </a:p>
        </p:txBody>
      </p:sp>
      <p:sp>
        <p:nvSpPr>
          <p:cNvPr id="71" name="Text 64"/>
          <p:cNvSpPr/>
          <p:nvPr/>
        </p:nvSpPr>
        <p:spPr>
          <a:xfrm>
            <a:off x="4972050" y="43148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6. Verify Final State</a:t>
            </a:r>
            <a:endParaRPr lang="en-US" sz="1125" dirty="0"/>
          </a:p>
        </p:txBody>
      </p:sp>
      <p:sp>
        <p:nvSpPr>
          <p:cNvPr id="72" name="Text 65"/>
          <p:cNvSpPr/>
          <p:nvPr/>
        </p:nvSpPr>
        <p:spPr>
          <a:xfrm>
            <a:off x="4972050" y="45434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Check that:</a:t>
            </a:r>
            <a:endParaRPr lang="en-US" sz="788" dirty="0"/>
          </a:p>
        </p:txBody>
      </p:sp>
      <p:sp>
        <p:nvSpPr>
          <p:cNvPr id="73" name="Text 66"/>
          <p:cNvSpPr/>
          <p:nvPr/>
        </p:nvSpPr>
        <p:spPr>
          <a:xfrm>
            <a:off x="4972050" y="47434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Final variable values match expectations</a:t>
            </a:r>
            <a:endParaRPr lang="en-US" sz="788" dirty="0"/>
          </a:p>
        </p:txBody>
      </p:sp>
      <p:sp>
        <p:nvSpPr>
          <p:cNvPr id="74" name="Text 67"/>
          <p:cNvSpPr/>
          <p:nvPr/>
        </p:nvSpPr>
        <p:spPr>
          <a:xfrm>
            <a:off x="4972050" y="49149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Return values are correct</a:t>
            </a:r>
            <a:endParaRPr lang="en-US" sz="788" dirty="0"/>
          </a:p>
        </p:txBody>
      </p:sp>
      <p:sp>
        <p:nvSpPr>
          <p:cNvPr id="75" name="Text 68"/>
          <p:cNvSpPr/>
          <p:nvPr/>
        </p:nvSpPr>
        <p:spPr>
          <a:xfrm>
            <a:off x="4972050" y="50863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Output is as expected</a:t>
            </a:r>
            <a:endParaRPr lang="en-US" sz="788" dirty="0"/>
          </a:p>
        </p:txBody>
      </p:sp>
      <p:sp>
        <p:nvSpPr>
          <p:cNvPr id="76" name="Text 69"/>
          <p:cNvSpPr/>
          <p:nvPr/>
        </p:nvSpPr>
        <p:spPr>
          <a:xfrm>
            <a:off x="4972050" y="52578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No unexpected behaviors occurred</a:t>
            </a:r>
            <a:endParaRPr lang="en-US" sz="788" dirty="0"/>
          </a:p>
        </p:txBody>
      </p:sp>
      <p:sp>
        <p:nvSpPr>
          <p:cNvPr id="77" name="Shape 70"/>
          <p:cNvSpPr/>
          <p:nvPr/>
        </p:nvSpPr>
        <p:spPr>
          <a:xfrm>
            <a:off x="4686300" y="5829300"/>
            <a:ext cx="4000500" cy="27003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78" name="Text 71"/>
          <p:cNvSpPr/>
          <p:nvPr/>
        </p:nvSpPr>
        <p:spPr>
          <a:xfrm>
            <a:off x="4857750" y="6000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Dry Run Tools &amp; Techniques</a:t>
            </a:r>
            <a:endParaRPr lang="en-US" sz="1350" dirty="0"/>
          </a:p>
        </p:txBody>
      </p:sp>
      <p:sp>
        <p:nvSpPr>
          <p:cNvPr id="79" name="Shape 72"/>
          <p:cNvSpPr/>
          <p:nvPr/>
        </p:nvSpPr>
        <p:spPr>
          <a:xfrm>
            <a:off x="4857750" y="6343650"/>
            <a:ext cx="1771650" cy="628650"/>
          </a:xfrm>
          <a:prstGeom prst="rect">
            <a:avLst/>
          </a:prstGeom>
          <a:solidFill>
            <a:srgbClr val="1E3A8A">
              <a:alpha val="30000"/>
            </a:srgbClr>
          </a:solidFill>
          <a:ln/>
        </p:spPr>
        <p:txBody>
          <a:bodyPr/>
          <a:lstStyle/>
          <a:p>
            <a:endParaRPr lang="en-US"/>
          </a:p>
        </p:txBody>
      </p:sp>
      <p:pic>
        <p:nvPicPr>
          <p:cNvPr id="80" name="Image 5" descr="preencoded.png"/>
          <p:cNvPicPr>
            <a:picLocks noChangeAspect="1"/>
          </p:cNvPicPr>
          <p:nvPr/>
        </p:nvPicPr>
        <p:blipFill>
          <a:blip r:embed="rId8"/>
          <a:stretch>
            <a:fillRect/>
          </a:stretch>
        </p:blipFill>
        <p:spPr>
          <a:xfrm>
            <a:off x="4943475" y="6443663"/>
            <a:ext cx="142875" cy="142875"/>
          </a:xfrm>
          <a:prstGeom prst="rect">
            <a:avLst/>
          </a:prstGeom>
        </p:spPr>
      </p:pic>
      <p:sp>
        <p:nvSpPr>
          <p:cNvPr id="81" name="Text 73"/>
          <p:cNvSpPr/>
          <p:nvPr/>
        </p:nvSpPr>
        <p:spPr>
          <a:xfrm>
            <a:off x="5143500" y="6429375"/>
            <a:ext cx="755507"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Trace Tables</a:t>
            </a:r>
            <a:endParaRPr lang="en-US" sz="900" dirty="0"/>
          </a:p>
        </p:txBody>
      </p:sp>
      <p:sp>
        <p:nvSpPr>
          <p:cNvPr id="82" name="Text 74"/>
          <p:cNvSpPr/>
          <p:nvPr/>
        </p:nvSpPr>
        <p:spPr>
          <a:xfrm>
            <a:off x="4943475" y="66579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Tabular format to track variables and execution steps</a:t>
            </a:r>
            <a:endParaRPr lang="en-US" sz="675" dirty="0"/>
          </a:p>
        </p:txBody>
      </p:sp>
      <p:sp>
        <p:nvSpPr>
          <p:cNvPr id="83" name="Shape 75"/>
          <p:cNvSpPr/>
          <p:nvPr/>
        </p:nvSpPr>
        <p:spPr>
          <a:xfrm>
            <a:off x="6743700" y="6343650"/>
            <a:ext cx="1771650" cy="628650"/>
          </a:xfrm>
          <a:prstGeom prst="rect">
            <a:avLst/>
          </a:prstGeom>
          <a:solidFill>
            <a:srgbClr val="1E3A8A">
              <a:alpha val="30000"/>
            </a:srgbClr>
          </a:solidFill>
          <a:ln/>
        </p:spPr>
        <p:txBody>
          <a:bodyPr/>
          <a:lstStyle/>
          <a:p>
            <a:endParaRPr lang="en-US"/>
          </a:p>
        </p:txBody>
      </p:sp>
      <p:pic>
        <p:nvPicPr>
          <p:cNvPr id="84" name="Image 6" descr="preencoded.png"/>
          <p:cNvPicPr>
            <a:picLocks noChangeAspect="1"/>
          </p:cNvPicPr>
          <p:nvPr/>
        </p:nvPicPr>
        <p:blipFill>
          <a:blip r:embed="rId9"/>
          <a:stretch>
            <a:fillRect/>
          </a:stretch>
        </p:blipFill>
        <p:spPr>
          <a:xfrm>
            <a:off x="6829425" y="6443663"/>
            <a:ext cx="160734" cy="142875"/>
          </a:xfrm>
          <a:prstGeom prst="rect">
            <a:avLst/>
          </a:prstGeom>
        </p:spPr>
      </p:pic>
      <p:sp>
        <p:nvSpPr>
          <p:cNvPr id="85" name="Text 76"/>
          <p:cNvSpPr/>
          <p:nvPr/>
        </p:nvSpPr>
        <p:spPr>
          <a:xfrm>
            <a:off x="7047309" y="6429375"/>
            <a:ext cx="1062410"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Memory Diagrams</a:t>
            </a:r>
            <a:endParaRPr lang="en-US" sz="900" dirty="0"/>
          </a:p>
        </p:txBody>
      </p:sp>
      <p:sp>
        <p:nvSpPr>
          <p:cNvPr id="86" name="Text 77"/>
          <p:cNvSpPr/>
          <p:nvPr/>
        </p:nvSpPr>
        <p:spPr>
          <a:xfrm>
            <a:off x="6829425" y="66579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Visual representation of memory state and references</a:t>
            </a:r>
            <a:endParaRPr lang="en-US" sz="675" dirty="0"/>
          </a:p>
        </p:txBody>
      </p:sp>
      <p:sp>
        <p:nvSpPr>
          <p:cNvPr id="87" name="Shape 78"/>
          <p:cNvSpPr/>
          <p:nvPr/>
        </p:nvSpPr>
        <p:spPr>
          <a:xfrm>
            <a:off x="4857750" y="7086600"/>
            <a:ext cx="1771650" cy="628650"/>
          </a:xfrm>
          <a:prstGeom prst="rect">
            <a:avLst/>
          </a:prstGeom>
          <a:solidFill>
            <a:srgbClr val="1E3A8A">
              <a:alpha val="30000"/>
            </a:srgbClr>
          </a:solidFill>
          <a:ln/>
        </p:spPr>
        <p:txBody>
          <a:bodyPr/>
          <a:lstStyle/>
          <a:p>
            <a:endParaRPr lang="en-US"/>
          </a:p>
        </p:txBody>
      </p:sp>
      <p:pic>
        <p:nvPicPr>
          <p:cNvPr id="88" name="Image 7" descr="preencoded.png"/>
          <p:cNvPicPr>
            <a:picLocks noChangeAspect="1"/>
          </p:cNvPicPr>
          <p:nvPr/>
        </p:nvPicPr>
        <p:blipFill>
          <a:blip r:embed="rId10"/>
          <a:stretch>
            <a:fillRect/>
          </a:stretch>
        </p:blipFill>
        <p:spPr>
          <a:xfrm>
            <a:off x="4943475" y="7186613"/>
            <a:ext cx="142875" cy="142875"/>
          </a:xfrm>
          <a:prstGeom prst="rect">
            <a:avLst/>
          </a:prstGeom>
        </p:spPr>
      </p:pic>
      <p:sp>
        <p:nvSpPr>
          <p:cNvPr id="89" name="Text 79"/>
          <p:cNvSpPr/>
          <p:nvPr/>
        </p:nvSpPr>
        <p:spPr>
          <a:xfrm>
            <a:off x="5143500" y="7172325"/>
            <a:ext cx="1170515"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Call Stack Diagrams</a:t>
            </a:r>
            <a:endParaRPr lang="en-US" sz="900" dirty="0"/>
          </a:p>
        </p:txBody>
      </p:sp>
      <p:sp>
        <p:nvSpPr>
          <p:cNvPr id="90" name="Text 80"/>
          <p:cNvSpPr/>
          <p:nvPr/>
        </p:nvSpPr>
        <p:spPr>
          <a:xfrm>
            <a:off x="4943475" y="74009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Track function calls and their execution context</a:t>
            </a:r>
            <a:endParaRPr lang="en-US" sz="675" dirty="0"/>
          </a:p>
        </p:txBody>
      </p:sp>
      <p:sp>
        <p:nvSpPr>
          <p:cNvPr id="91" name="Shape 81"/>
          <p:cNvSpPr/>
          <p:nvPr/>
        </p:nvSpPr>
        <p:spPr>
          <a:xfrm>
            <a:off x="6743700" y="7086600"/>
            <a:ext cx="1771650" cy="628650"/>
          </a:xfrm>
          <a:prstGeom prst="rect">
            <a:avLst/>
          </a:prstGeom>
          <a:solidFill>
            <a:srgbClr val="1E3A8A">
              <a:alpha val="30000"/>
            </a:srgbClr>
          </a:solidFill>
          <a:ln/>
        </p:spPr>
        <p:txBody>
          <a:bodyPr/>
          <a:lstStyle/>
          <a:p>
            <a:endParaRPr lang="en-US"/>
          </a:p>
        </p:txBody>
      </p:sp>
      <p:pic>
        <p:nvPicPr>
          <p:cNvPr id="92" name="Image 8" descr="preencoded.png"/>
          <p:cNvPicPr>
            <a:picLocks noChangeAspect="1"/>
          </p:cNvPicPr>
          <p:nvPr/>
        </p:nvPicPr>
        <p:blipFill>
          <a:blip r:embed="rId11"/>
          <a:stretch>
            <a:fillRect/>
          </a:stretch>
        </p:blipFill>
        <p:spPr>
          <a:xfrm>
            <a:off x="6829425" y="7186613"/>
            <a:ext cx="142875" cy="142875"/>
          </a:xfrm>
          <a:prstGeom prst="rect">
            <a:avLst/>
          </a:prstGeom>
        </p:spPr>
      </p:pic>
      <p:sp>
        <p:nvSpPr>
          <p:cNvPr id="93" name="Text 82"/>
          <p:cNvSpPr/>
          <p:nvPr/>
        </p:nvSpPr>
        <p:spPr>
          <a:xfrm>
            <a:off x="7029450" y="7172325"/>
            <a:ext cx="954025"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Annotated Code</a:t>
            </a:r>
            <a:endParaRPr lang="en-US" sz="900" dirty="0"/>
          </a:p>
        </p:txBody>
      </p:sp>
      <p:sp>
        <p:nvSpPr>
          <p:cNvPr id="94" name="Text 83"/>
          <p:cNvSpPr/>
          <p:nvPr/>
        </p:nvSpPr>
        <p:spPr>
          <a:xfrm>
            <a:off x="6829425" y="74009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Write variable values directly next to code lines</a:t>
            </a:r>
            <a:endParaRPr lang="en-US" sz="675" dirty="0"/>
          </a:p>
        </p:txBody>
      </p:sp>
      <p:sp>
        <p:nvSpPr>
          <p:cNvPr id="95" name="Shape 84"/>
          <p:cNvSpPr/>
          <p:nvPr/>
        </p:nvSpPr>
        <p:spPr>
          <a:xfrm>
            <a:off x="4857750" y="7829550"/>
            <a:ext cx="3657600" cy="514350"/>
          </a:xfrm>
          <a:prstGeom prst="rect">
            <a:avLst/>
          </a:prstGeom>
          <a:solidFill>
            <a:srgbClr val="78350F">
              <a:alpha val="20000"/>
            </a:srgbClr>
          </a:solidFill>
          <a:ln/>
        </p:spPr>
        <p:txBody>
          <a:bodyPr/>
          <a:lstStyle/>
          <a:p>
            <a:endParaRPr lang="en-US"/>
          </a:p>
        </p:txBody>
      </p:sp>
      <p:pic>
        <p:nvPicPr>
          <p:cNvPr id="96" name="Image 9" descr="preencoded.png"/>
          <p:cNvPicPr>
            <a:picLocks noChangeAspect="1"/>
          </p:cNvPicPr>
          <p:nvPr/>
        </p:nvPicPr>
        <p:blipFill>
          <a:blip r:embed="rId12"/>
          <a:stretch>
            <a:fillRect/>
          </a:stretch>
        </p:blipFill>
        <p:spPr>
          <a:xfrm>
            <a:off x="4972050" y="8001000"/>
            <a:ext cx="128588" cy="171450"/>
          </a:xfrm>
          <a:prstGeom prst="rect">
            <a:avLst/>
          </a:prstGeom>
        </p:spPr>
      </p:pic>
      <p:sp>
        <p:nvSpPr>
          <p:cNvPr id="97" name="Text 85"/>
          <p:cNvSpPr/>
          <p:nvPr/>
        </p:nvSpPr>
        <p:spPr>
          <a:xfrm>
            <a:off x="5214938" y="7943850"/>
            <a:ext cx="3257550"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For complex algorithms, combine multiple techniques to get a comprehensive understanding of program behavior.</a:t>
            </a:r>
            <a:endParaRPr lang="en-US" sz="788" dirty="0"/>
          </a:p>
        </p:txBody>
      </p:sp>
      <p:sp>
        <p:nvSpPr>
          <p:cNvPr id="98" name="Shape 86"/>
          <p:cNvSpPr/>
          <p:nvPr/>
        </p:nvSpPr>
        <p:spPr>
          <a:xfrm>
            <a:off x="457200" y="8743950"/>
            <a:ext cx="8229600" cy="3621881"/>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99" name="Text 87"/>
          <p:cNvSpPr/>
          <p:nvPr/>
        </p:nvSpPr>
        <p:spPr>
          <a:xfrm>
            <a:off x="628650" y="8915400"/>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Dry Run Process</a:t>
            </a:r>
            <a:endParaRPr lang="en-US" sz="1350" dirty="0"/>
          </a:p>
        </p:txBody>
      </p:sp>
      <p:sp>
        <p:nvSpPr>
          <p:cNvPr id="100" name="Text 88"/>
          <p:cNvSpPr/>
          <p:nvPr/>
        </p:nvSpPr>
        <p:spPr>
          <a:xfrm>
            <a:off x="628650" y="9258300"/>
            <a:ext cx="39290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01" name="Shape 89"/>
          <p:cNvSpPr/>
          <p:nvPr/>
        </p:nvSpPr>
        <p:spPr>
          <a:xfrm>
            <a:off x="628650" y="9544050"/>
            <a:ext cx="3857625" cy="1514475"/>
          </a:xfrm>
          <a:prstGeom prst="rect">
            <a:avLst/>
          </a:prstGeom>
          <a:solidFill>
            <a:srgbClr val="1A202C"/>
          </a:solidFill>
          <a:ln/>
        </p:spPr>
        <p:txBody>
          <a:bodyPr/>
          <a:lstStyle/>
          <a:p>
            <a:endParaRPr lang="en-US"/>
          </a:p>
        </p:txBody>
      </p:sp>
      <p:sp>
        <p:nvSpPr>
          <p:cNvPr id="102" name="Text 90"/>
          <p:cNvSpPr/>
          <p:nvPr/>
        </p:nvSpPr>
        <p:spPr>
          <a:xfrm>
            <a:off x="742950" y="9661922"/>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03" name="Text 91"/>
          <p:cNvSpPr/>
          <p:nvPr/>
        </p:nvSpPr>
        <p:spPr>
          <a:xfrm>
            <a:off x="1223032" y="9661922"/>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factorial(n) {</a:t>
            </a:r>
            <a:endParaRPr lang="en-US" sz="788" dirty="0"/>
          </a:p>
        </p:txBody>
      </p:sp>
      <p:sp>
        <p:nvSpPr>
          <p:cNvPr id="104" name="Text 92"/>
          <p:cNvSpPr/>
          <p:nvPr/>
        </p:nvSpPr>
        <p:spPr>
          <a:xfrm>
            <a:off x="862971" y="980479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05" name="Text 93"/>
          <p:cNvSpPr/>
          <p:nvPr/>
        </p:nvSpPr>
        <p:spPr>
          <a:xfrm>
            <a:off x="982991" y="9804797"/>
            <a:ext cx="73153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 &lt;= 1) {</a:t>
            </a:r>
            <a:endParaRPr lang="en-US" sz="788" dirty="0"/>
          </a:p>
        </p:txBody>
      </p:sp>
      <p:sp>
        <p:nvSpPr>
          <p:cNvPr id="106" name="Text 94"/>
          <p:cNvSpPr/>
          <p:nvPr/>
        </p:nvSpPr>
        <p:spPr>
          <a:xfrm>
            <a:off x="982991" y="994767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07" name="Text 95"/>
          <p:cNvSpPr/>
          <p:nvPr/>
        </p:nvSpPr>
        <p:spPr>
          <a:xfrm>
            <a:off x="1343053" y="994767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1;</a:t>
            </a:r>
            <a:endParaRPr lang="en-US" sz="788" dirty="0"/>
          </a:p>
        </p:txBody>
      </p:sp>
      <p:sp>
        <p:nvSpPr>
          <p:cNvPr id="108" name="Text 96"/>
          <p:cNvSpPr/>
          <p:nvPr/>
        </p:nvSpPr>
        <p:spPr>
          <a:xfrm>
            <a:off x="742950" y="1009054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9" name="Text 97"/>
          <p:cNvSpPr/>
          <p:nvPr/>
        </p:nvSpPr>
        <p:spPr>
          <a:xfrm>
            <a:off x="862971" y="102334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10" name="Text 98"/>
          <p:cNvSpPr/>
          <p:nvPr/>
        </p:nvSpPr>
        <p:spPr>
          <a:xfrm>
            <a:off x="1223032" y="10233422"/>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 * factorial(n - 1);</a:t>
            </a:r>
            <a:endParaRPr lang="en-US" sz="788" dirty="0"/>
          </a:p>
        </p:txBody>
      </p:sp>
      <p:sp>
        <p:nvSpPr>
          <p:cNvPr id="111" name="Text 99"/>
          <p:cNvSpPr/>
          <p:nvPr/>
        </p:nvSpPr>
        <p:spPr>
          <a:xfrm>
            <a:off x="742950" y="103762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2" name="Text 100"/>
          <p:cNvSpPr/>
          <p:nvPr/>
        </p:nvSpPr>
        <p:spPr>
          <a:xfrm>
            <a:off x="742950" y="10662047"/>
            <a:ext cx="1151595"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n = 3</a:t>
            </a:r>
            <a:endParaRPr lang="en-US" sz="788" dirty="0"/>
          </a:p>
        </p:txBody>
      </p:sp>
      <p:sp>
        <p:nvSpPr>
          <p:cNvPr id="113" name="Text 101"/>
          <p:cNvSpPr/>
          <p:nvPr/>
        </p:nvSpPr>
        <p:spPr>
          <a:xfrm>
            <a:off x="742950" y="10804922"/>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factorial(3);</a:t>
            </a:r>
            <a:endParaRPr lang="en-US" sz="788" dirty="0"/>
          </a:p>
        </p:txBody>
      </p:sp>
      <p:sp>
        <p:nvSpPr>
          <p:cNvPr id="114" name="Text 102"/>
          <p:cNvSpPr/>
          <p:nvPr/>
        </p:nvSpPr>
        <p:spPr>
          <a:xfrm>
            <a:off x="4657725" y="9258300"/>
            <a:ext cx="39290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115" name="Shape 103"/>
          <p:cNvSpPr/>
          <p:nvPr/>
        </p:nvSpPr>
        <p:spPr>
          <a:xfrm>
            <a:off x="4657725" y="9544050"/>
            <a:ext cx="3857625" cy="2636044"/>
          </a:xfrm>
          <a:prstGeom prst="rect">
            <a:avLst/>
          </a:prstGeom>
          <a:solidFill>
            <a:srgbClr val="1E3A8A">
              <a:alpha val="30000"/>
            </a:srgbClr>
          </a:solidFill>
          <a:ln/>
        </p:spPr>
        <p:txBody>
          <a:bodyPr/>
          <a:lstStyle/>
          <a:p>
            <a:endParaRPr lang="en-US"/>
          </a:p>
        </p:txBody>
      </p:sp>
      <p:sp>
        <p:nvSpPr>
          <p:cNvPr id="116" name="Text 104"/>
          <p:cNvSpPr/>
          <p:nvPr/>
        </p:nvSpPr>
        <p:spPr>
          <a:xfrm>
            <a:off x="4657725" y="9544050"/>
            <a:ext cx="584783"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117" name="Text 105"/>
          <p:cNvSpPr/>
          <p:nvPr/>
        </p:nvSpPr>
        <p:spPr>
          <a:xfrm>
            <a:off x="5171070" y="9544050"/>
            <a:ext cx="899778"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Function</a:t>
            </a:r>
            <a:endParaRPr lang="en-US" sz="900" dirty="0"/>
          </a:p>
        </p:txBody>
      </p:sp>
      <p:sp>
        <p:nvSpPr>
          <p:cNvPr id="118" name="Text 106"/>
          <p:cNvSpPr/>
          <p:nvPr/>
        </p:nvSpPr>
        <p:spPr>
          <a:xfrm>
            <a:off x="5999411" y="9544050"/>
            <a:ext cx="393074"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a:t>
            </a:r>
            <a:endParaRPr lang="en-US" sz="900" dirty="0"/>
          </a:p>
        </p:txBody>
      </p:sp>
      <p:sp>
        <p:nvSpPr>
          <p:cNvPr id="119" name="Text 107"/>
          <p:cNvSpPr/>
          <p:nvPr/>
        </p:nvSpPr>
        <p:spPr>
          <a:xfrm>
            <a:off x="6321047" y="9544050"/>
            <a:ext cx="714794" cy="289322"/>
          </a:xfrm>
          <a:prstGeom prst="rect">
            <a:avLst/>
          </a:prstGeom>
          <a:noFill/>
          <a:ln/>
        </p:spPr>
        <p:txBody>
          <a:bodyPr wrap="non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Return</a:t>
            </a:r>
            <a:endParaRPr lang="en-US" sz="900" dirty="0"/>
          </a:p>
        </p:txBody>
      </p:sp>
      <p:sp>
        <p:nvSpPr>
          <p:cNvPr id="120" name="Text 108"/>
          <p:cNvSpPr/>
          <p:nvPr/>
        </p:nvSpPr>
        <p:spPr>
          <a:xfrm>
            <a:off x="6964403" y="9544050"/>
            <a:ext cx="1622385" cy="289322"/>
          </a:xfrm>
          <a:prstGeom prst="rect">
            <a:avLst/>
          </a:prstGeom>
          <a:noFill/>
          <a:ln/>
        </p:spPr>
        <p:txBody>
          <a:bodyPr wrap="square" lIns="136017" tIns="68072" rIns="136017" bIns="68072"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Notes</a:t>
            </a:r>
            <a:endParaRPr lang="en-US" sz="900" dirty="0"/>
          </a:p>
        </p:txBody>
      </p:sp>
      <p:sp>
        <p:nvSpPr>
          <p:cNvPr id="121" name="Text 109"/>
          <p:cNvSpPr/>
          <p:nvPr/>
        </p:nvSpPr>
        <p:spPr>
          <a:xfrm>
            <a:off x="4657725" y="9833372"/>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22" name="Text 110"/>
          <p:cNvSpPr/>
          <p:nvPr/>
        </p:nvSpPr>
        <p:spPr>
          <a:xfrm>
            <a:off x="5171070" y="9833372"/>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factorial(3)</a:t>
            </a:r>
            <a:endParaRPr lang="en-US" sz="900" dirty="0"/>
          </a:p>
        </p:txBody>
      </p:sp>
      <p:sp>
        <p:nvSpPr>
          <p:cNvPr id="123" name="Text 111"/>
          <p:cNvSpPr/>
          <p:nvPr/>
        </p:nvSpPr>
        <p:spPr>
          <a:xfrm>
            <a:off x="5999411" y="9833372"/>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24" name="Text 112"/>
          <p:cNvSpPr/>
          <p:nvPr/>
        </p:nvSpPr>
        <p:spPr>
          <a:xfrm>
            <a:off x="6321047" y="9833372"/>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25" name="Text 113"/>
          <p:cNvSpPr/>
          <p:nvPr/>
        </p:nvSpPr>
        <p:spPr>
          <a:xfrm>
            <a:off x="6964403" y="9833372"/>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 call</a:t>
            </a:r>
            <a:endParaRPr lang="en-US" sz="900" dirty="0"/>
          </a:p>
        </p:txBody>
      </p:sp>
      <p:sp>
        <p:nvSpPr>
          <p:cNvPr id="126" name="Text 114"/>
          <p:cNvSpPr/>
          <p:nvPr/>
        </p:nvSpPr>
        <p:spPr>
          <a:xfrm>
            <a:off x="4657725" y="10126266"/>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27" name="Text 115"/>
          <p:cNvSpPr/>
          <p:nvPr/>
        </p:nvSpPr>
        <p:spPr>
          <a:xfrm>
            <a:off x="5171070" y="10126266"/>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factorial(3)</a:t>
            </a:r>
            <a:endParaRPr lang="en-US" sz="900" dirty="0"/>
          </a:p>
        </p:txBody>
      </p:sp>
      <p:sp>
        <p:nvSpPr>
          <p:cNvPr id="128" name="Text 116"/>
          <p:cNvSpPr/>
          <p:nvPr/>
        </p:nvSpPr>
        <p:spPr>
          <a:xfrm>
            <a:off x="5999411" y="10126266"/>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29" name="Text 117"/>
          <p:cNvSpPr/>
          <p:nvPr/>
        </p:nvSpPr>
        <p:spPr>
          <a:xfrm>
            <a:off x="6321047" y="10126266"/>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30" name="Text 118"/>
          <p:cNvSpPr/>
          <p:nvPr/>
        </p:nvSpPr>
        <p:spPr>
          <a:xfrm>
            <a:off x="6964403" y="10126266"/>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 &gt; 1, so recursive case</a:t>
            </a:r>
            <a:endParaRPr lang="en-US" sz="900" dirty="0"/>
          </a:p>
        </p:txBody>
      </p:sp>
      <p:sp>
        <p:nvSpPr>
          <p:cNvPr id="131" name="Text 119"/>
          <p:cNvSpPr/>
          <p:nvPr/>
        </p:nvSpPr>
        <p:spPr>
          <a:xfrm>
            <a:off x="4657725" y="10419159"/>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32" name="Text 120"/>
          <p:cNvSpPr/>
          <p:nvPr/>
        </p:nvSpPr>
        <p:spPr>
          <a:xfrm>
            <a:off x="5171070" y="10419159"/>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factorial(2)</a:t>
            </a:r>
            <a:endParaRPr lang="en-US" sz="900" dirty="0"/>
          </a:p>
        </p:txBody>
      </p:sp>
      <p:sp>
        <p:nvSpPr>
          <p:cNvPr id="133" name="Text 121"/>
          <p:cNvSpPr/>
          <p:nvPr/>
        </p:nvSpPr>
        <p:spPr>
          <a:xfrm>
            <a:off x="5999411" y="10419159"/>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34" name="Text 122"/>
          <p:cNvSpPr/>
          <p:nvPr/>
        </p:nvSpPr>
        <p:spPr>
          <a:xfrm>
            <a:off x="6321047" y="10419159"/>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35" name="Text 123"/>
          <p:cNvSpPr/>
          <p:nvPr/>
        </p:nvSpPr>
        <p:spPr>
          <a:xfrm>
            <a:off x="6964403" y="10419159"/>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Recursive call</a:t>
            </a:r>
            <a:endParaRPr lang="en-US" sz="900" dirty="0"/>
          </a:p>
        </p:txBody>
      </p:sp>
      <p:sp>
        <p:nvSpPr>
          <p:cNvPr id="136" name="Text 124"/>
          <p:cNvSpPr/>
          <p:nvPr/>
        </p:nvSpPr>
        <p:spPr>
          <a:xfrm>
            <a:off x="4657725" y="10712053"/>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37" name="Text 125"/>
          <p:cNvSpPr/>
          <p:nvPr/>
        </p:nvSpPr>
        <p:spPr>
          <a:xfrm>
            <a:off x="5171070" y="10712053"/>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factorial(2)</a:t>
            </a:r>
            <a:endParaRPr lang="en-US" sz="900" dirty="0"/>
          </a:p>
        </p:txBody>
      </p:sp>
      <p:sp>
        <p:nvSpPr>
          <p:cNvPr id="138" name="Text 126"/>
          <p:cNvSpPr/>
          <p:nvPr/>
        </p:nvSpPr>
        <p:spPr>
          <a:xfrm>
            <a:off x="5999411" y="10712053"/>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39" name="Text 127"/>
          <p:cNvSpPr/>
          <p:nvPr/>
        </p:nvSpPr>
        <p:spPr>
          <a:xfrm>
            <a:off x="6321047" y="10712053"/>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40" name="Text 128"/>
          <p:cNvSpPr/>
          <p:nvPr/>
        </p:nvSpPr>
        <p:spPr>
          <a:xfrm>
            <a:off x="6964403" y="10712053"/>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 &gt; 1, so recursive case</a:t>
            </a:r>
            <a:endParaRPr lang="en-US" sz="900" dirty="0"/>
          </a:p>
        </p:txBody>
      </p:sp>
      <p:sp>
        <p:nvSpPr>
          <p:cNvPr id="141" name="Text 129"/>
          <p:cNvSpPr/>
          <p:nvPr/>
        </p:nvSpPr>
        <p:spPr>
          <a:xfrm>
            <a:off x="4657725" y="11004947"/>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142" name="Text 130"/>
          <p:cNvSpPr/>
          <p:nvPr/>
        </p:nvSpPr>
        <p:spPr>
          <a:xfrm>
            <a:off x="5171070" y="11004947"/>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factorial(1)</a:t>
            </a:r>
            <a:endParaRPr lang="en-US" sz="900" dirty="0"/>
          </a:p>
        </p:txBody>
      </p:sp>
      <p:sp>
        <p:nvSpPr>
          <p:cNvPr id="143" name="Text 131"/>
          <p:cNvSpPr/>
          <p:nvPr/>
        </p:nvSpPr>
        <p:spPr>
          <a:xfrm>
            <a:off x="5999411" y="11004947"/>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44" name="Text 132"/>
          <p:cNvSpPr/>
          <p:nvPr/>
        </p:nvSpPr>
        <p:spPr>
          <a:xfrm>
            <a:off x="6321047" y="11004947"/>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45" name="Text 133"/>
          <p:cNvSpPr/>
          <p:nvPr/>
        </p:nvSpPr>
        <p:spPr>
          <a:xfrm>
            <a:off x="6964403" y="11004947"/>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Recursive call</a:t>
            </a:r>
            <a:endParaRPr lang="en-US" sz="900" dirty="0"/>
          </a:p>
        </p:txBody>
      </p:sp>
      <p:sp>
        <p:nvSpPr>
          <p:cNvPr id="146" name="Text 134"/>
          <p:cNvSpPr/>
          <p:nvPr/>
        </p:nvSpPr>
        <p:spPr>
          <a:xfrm>
            <a:off x="4657725" y="11297841"/>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47" name="Text 135"/>
          <p:cNvSpPr/>
          <p:nvPr/>
        </p:nvSpPr>
        <p:spPr>
          <a:xfrm>
            <a:off x="5171070" y="11297841"/>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factorial(1)</a:t>
            </a:r>
            <a:endParaRPr lang="en-US" sz="900" dirty="0"/>
          </a:p>
        </p:txBody>
      </p:sp>
      <p:sp>
        <p:nvSpPr>
          <p:cNvPr id="148" name="Text 136"/>
          <p:cNvSpPr/>
          <p:nvPr/>
        </p:nvSpPr>
        <p:spPr>
          <a:xfrm>
            <a:off x="5999411" y="11297841"/>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49" name="Text 137"/>
          <p:cNvSpPr/>
          <p:nvPr/>
        </p:nvSpPr>
        <p:spPr>
          <a:xfrm>
            <a:off x="6321047" y="11297841"/>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50" name="Text 138"/>
          <p:cNvSpPr/>
          <p:nvPr/>
        </p:nvSpPr>
        <p:spPr>
          <a:xfrm>
            <a:off x="6964403" y="11297841"/>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Base case reached</a:t>
            </a:r>
            <a:endParaRPr lang="en-US" sz="900" dirty="0"/>
          </a:p>
        </p:txBody>
      </p:sp>
      <p:sp>
        <p:nvSpPr>
          <p:cNvPr id="151" name="Text 139"/>
          <p:cNvSpPr/>
          <p:nvPr/>
        </p:nvSpPr>
        <p:spPr>
          <a:xfrm>
            <a:off x="4657725" y="11590734"/>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7</a:t>
            </a:r>
            <a:endParaRPr lang="en-US" sz="900" dirty="0"/>
          </a:p>
        </p:txBody>
      </p:sp>
      <p:sp>
        <p:nvSpPr>
          <p:cNvPr id="152" name="Text 140"/>
          <p:cNvSpPr/>
          <p:nvPr/>
        </p:nvSpPr>
        <p:spPr>
          <a:xfrm>
            <a:off x="5171070" y="11590734"/>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factorial(2)</a:t>
            </a:r>
            <a:endParaRPr lang="en-US" sz="900" dirty="0"/>
          </a:p>
        </p:txBody>
      </p:sp>
      <p:sp>
        <p:nvSpPr>
          <p:cNvPr id="153" name="Text 141"/>
          <p:cNvSpPr/>
          <p:nvPr/>
        </p:nvSpPr>
        <p:spPr>
          <a:xfrm>
            <a:off x="5999411" y="11590734"/>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54" name="Text 142"/>
          <p:cNvSpPr/>
          <p:nvPr/>
        </p:nvSpPr>
        <p:spPr>
          <a:xfrm>
            <a:off x="6321047" y="11590734"/>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55" name="Text 143"/>
          <p:cNvSpPr/>
          <p:nvPr/>
        </p:nvSpPr>
        <p:spPr>
          <a:xfrm>
            <a:off x="6964403" y="11590734"/>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2 * 1 = 2</a:t>
            </a:r>
            <a:endParaRPr lang="en-US" sz="900" dirty="0"/>
          </a:p>
        </p:txBody>
      </p:sp>
      <p:sp>
        <p:nvSpPr>
          <p:cNvPr id="156" name="Text 144"/>
          <p:cNvSpPr/>
          <p:nvPr/>
        </p:nvSpPr>
        <p:spPr>
          <a:xfrm>
            <a:off x="4657725" y="11883628"/>
            <a:ext cx="584783"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157" name="Text 145"/>
          <p:cNvSpPr/>
          <p:nvPr/>
        </p:nvSpPr>
        <p:spPr>
          <a:xfrm>
            <a:off x="5171070" y="11883628"/>
            <a:ext cx="899778"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factorial(3)</a:t>
            </a:r>
            <a:endParaRPr lang="en-US" sz="900" dirty="0"/>
          </a:p>
        </p:txBody>
      </p:sp>
      <p:sp>
        <p:nvSpPr>
          <p:cNvPr id="158" name="Text 146"/>
          <p:cNvSpPr/>
          <p:nvPr/>
        </p:nvSpPr>
        <p:spPr>
          <a:xfrm>
            <a:off x="5999411" y="11883628"/>
            <a:ext cx="39307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59" name="Text 147"/>
          <p:cNvSpPr/>
          <p:nvPr/>
        </p:nvSpPr>
        <p:spPr>
          <a:xfrm>
            <a:off x="6321047" y="11883628"/>
            <a:ext cx="714794" cy="292894"/>
          </a:xfrm>
          <a:prstGeom prst="rect">
            <a:avLst/>
          </a:prstGeom>
          <a:noFill/>
          <a:ln/>
        </p:spPr>
        <p:txBody>
          <a:bodyPr wrap="non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60" name="Text 148"/>
          <p:cNvSpPr/>
          <p:nvPr/>
        </p:nvSpPr>
        <p:spPr>
          <a:xfrm>
            <a:off x="6964403" y="11883628"/>
            <a:ext cx="1622385" cy="292894"/>
          </a:xfrm>
          <a:prstGeom prst="rect">
            <a:avLst/>
          </a:prstGeom>
          <a:noFill/>
          <a:ln/>
        </p:spPr>
        <p:txBody>
          <a:bodyPr wrap="square" lIns="136017" tIns="68072" rIns="136017" bIns="68072"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3 * 2 = 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4230350"/>
          </a:xfrm>
          <a:prstGeom prst="rect">
            <a:avLst/>
          </a:prstGeom>
        </p:spPr>
      </p:pic>
      <p:sp>
        <p:nvSpPr>
          <p:cNvPr id="3" name="Text 0"/>
          <p:cNvSpPr/>
          <p:nvPr/>
        </p:nvSpPr>
        <p:spPr>
          <a:xfrm>
            <a:off x="457200" y="455414"/>
            <a:ext cx="1071646"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Dry Run</a:t>
            </a:r>
            <a:endParaRPr lang="en-US" sz="2025" dirty="0"/>
          </a:p>
        </p:txBody>
      </p:sp>
      <p:sp>
        <p:nvSpPr>
          <p:cNvPr id="4" name="Text 1"/>
          <p:cNvSpPr/>
          <p:nvPr/>
        </p:nvSpPr>
        <p:spPr>
          <a:xfrm>
            <a:off x="1457409" y="455414"/>
            <a:ext cx="3616133"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Examples: Simple Programs</a:t>
            </a:r>
            <a:endParaRPr lang="en-US" sz="2025" dirty="0"/>
          </a:p>
        </p:txBody>
      </p:sp>
      <p:sp>
        <p:nvSpPr>
          <p:cNvPr id="5" name="Shape 2"/>
          <p:cNvSpPr/>
          <p:nvPr/>
        </p:nvSpPr>
        <p:spPr>
          <a:xfrm>
            <a:off x="457200" y="971550"/>
            <a:ext cx="4000500" cy="5779294"/>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1: Simple Loop</a:t>
            </a:r>
            <a:endParaRPr lang="en-US" sz="1350" dirty="0"/>
          </a:p>
        </p:txBody>
      </p:sp>
      <p:sp>
        <p:nvSpPr>
          <p:cNvPr id="7" name="Shape 4"/>
          <p:cNvSpPr/>
          <p:nvPr/>
        </p:nvSpPr>
        <p:spPr>
          <a:xfrm>
            <a:off x="628650" y="1485900"/>
            <a:ext cx="3657600" cy="197167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1971675"/>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0" name="Shape 7"/>
          <p:cNvSpPr/>
          <p:nvPr/>
        </p:nvSpPr>
        <p:spPr>
          <a:xfrm>
            <a:off x="742950" y="1857375"/>
            <a:ext cx="3543300" cy="1514475"/>
          </a:xfrm>
          <a:prstGeom prst="rect">
            <a:avLst/>
          </a:prstGeom>
          <a:solidFill>
            <a:srgbClr val="1A202C"/>
          </a:solidFill>
          <a:ln/>
        </p:spPr>
        <p:txBody>
          <a:bodyPr/>
          <a:lstStyle/>
          <a:p>
            <a:endParaRPr lang="en-US"/>
          </a:p>
        </p:txBody>
      </p:sp>
      <p:sp>
        <p:nvSpPr>
          <p:cNvPr id="11" name="Text 8"/>
          <p:cNvSpPr/>
          <p:nvPr/>
        </p:nvSpPr>
        <p:spPr>
          <a:xfrm>
            <a:off x="857250" y="197524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2" name="Text 9"/>
          <p:cNvSpPr/>
          <p:nvPr/>
        </p:nvSpPr>
        <p:spPr>
          <a:xfrm>
            <a:off x="1337332" y="1975247"/>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sumEven(n) {</a:t>
            </a:r>
            <a:endParaRPr lang="en-US" sz="788" dirty="0"/>
          </a:p>
        </p:txBody>
      </p:sp>
      <p:sp>
        <p:nvSpPr>
          <p:cNvPr id="13" name="Text 10"/>
          <p:cNvSpPr/>
          <p:nvPr/>
        </p:nvSpPr>
        <p:spPr>
          <a:xfrm>
            <a:off x="977271" y="2118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4" name="Text 11"/>
          <p:cNvSpPr/>
          <p:nvPr/>
        </p:nvSpPr>
        <p:spPr>
          <a:xfrm>
            <a:off x="1157315" y="2118122"/>
            <a:ext cx="61151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sum = 0;</a:t>
            </a:r>
            <a:endParaRPr lang="en-US" sz="788" dirty="0"/>
          </a:p>
        </p:txBody>
      </p:sp>
      <p:sp>
        <p:nvSpPr>
          <p:cNvPr id="15" name="Text 12"/>
          <p:cNvSpPr/>
          <p:nvPr/>
        </p:nvSpPr>
        <p:spPr>
          <a:xfrm>
            <a:off x="977271" y="22609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16" name="Text 13"/>
          <p:cNvSpPr/>
          <p:nvPr/>
        </p:nvSpPr>
        <p:spPr>
          <a:xfrm>
            <a:off x="1157315" y="22609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7" name="Text 14"/>
          <p:cNvSpPr/>
          <p:nvPr/>
        </p:nvSpPr>
        <p:spPr>
          <a:xfrm>
            <a:off x="1277336" y="22609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8" name="Text 15"/>
          <p:cNvSpPr/>
          <p:nvPr/>
        </p:nvSpPr>
        <p:spPr>
          <a:xfrm>
            <a:off x="1457381" y="2260997"/>
            <a:ext cx="157162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2; i &lt;= n; i += 2) {</a:t>
            </a:r>
            <a:endParaRPr lang="en-US" sz="788" dirty="0"/>
          </a:p>
        </p:txBody>
      </p:sp>
      <p:sp>
        <p:nvSpPr>
          <p:cNvPr id="19" name="Text 16"/>
          <p:cNvSpPr/>
          <p:nvPr/>
        </p:nvSpPr>
        <p:spPr>
          <a:xfrm>
            <a:off x="857250" y="2403872"/>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sum += i;</a:t>
            </a:r>
            <a:endParaRPr lang="en-US" sz="788" dirty="0"/>
          </a:p>
        </p:txBody>
      </p:sp>
      <p:sp>
        <p:nvSpPr>
          <p:cNvPr id="20" name="Text 17"/>
          <p:cNvSpPr/>
          <p:nvPr/>
        </p:nvSpPr>
        <p:spPr>
          <a:xfrm>
            <a:off x="857250" y="254674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1" name="Text 18"/>
          <p:cNvSpPr/>
          <p:nvPr/>
        </p:nvSpPr>
        <p:spPr>
          <a:xfrm>
            <a:off x="977271" y="26896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22" name="Text 19"/>
          <p:cNvSpPr/>
          <p:nvPr/>
        </p:nvSpPr>
        <p:spPr>
          <a:xfrm>
            <a:off x="1337332" y="2689622"/>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sum;</a:t>
            </a:r>
            <a:endParaRPr lang="en-US" sz="788" dirty="0"/>
          </a:p>
        </p:txBody>
      </p:sp>
      <p:sp>
        <p:nvSpPr>
          <p:cNvPr id="23" name="Text 20"/>
          <p:cNvSpPr/>
          <p:nvPr/>
        </p:nvSpPr>
        <p:spPr>
          <a:xfrm>
            <a:off x="857250" y="28324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4" name="Text 21"/>
          <p:cNvSpPr/>
          <p:nvPr/>
        </p:nvSpPr>
        <p:spPr>
          <a:xfrm>
            <a:off x="857250" y="3118247"/>
            <a:ext cx="1151595"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n = 6</a:t>
            </a:r>
            <a:endParaRPr lang="en-US" sz="788" dirty="0"/>
          </a:p>
        </p:txBody>
      </p:sp>
      <p:sp>
        <p:nvSpPr>
          <p:cNvPr id="25" name="Shape 22"/>
          <p:cNvSpPr/>
          <p:nvPr/>
        </p:nvSpPr>
        <p:spPr>
          <a:xfrm>
            <a:off x="628650" y="3571875"/>
            <a:ext cx="3657600" cy="2993231"/>
          </a:xfrm>
          <a:prstGeom prst="rect">
            <a:avLst/>
          </a:prstGeom>
          <a:solidFill>
            <a:srgbClr val="1E3A8A">
              <a:alpha val="30000"/>
            </a:srgbClr>
          </a:solidFill>
          <a:ln/>
        </p:spPr>
        <p:txBody>
          <a:bodyPr/>
          <a:lstStyle/>
          <a:p>
            <a:endParaRPr lang="en-US"/>
          </a:p>
        </p:txBody>
      </p:sp>
      <p:sp>
        <p:nvSpPr>
          <p:cNvPr id="26" name="Shape 23"/>
          <p:cNvSpPr/>
          <p:nvPr/>
        </p:nvSpPr>
        <p:spPr>
          <a:xfrm>
            <a:off x="628650" y="3571875"/>
            <a:ext cx="28575" cy="2993231"/>
          </a:xfrm>
          <a:prstGeom prst="rect">
            <a:avLst/>
          </a:prstGeom>
          <a:solidFill>
            <a:srgbClr val="63B3ED"/>
          </a:solidFill>
          <a:ln/>
        </p:spPr>
        <p:txBody>
          <a:bodyPr/>
          <a:lstStyle/>
          <a:p>
            <a:endParaRPr lang="en-US"/>
          </a:p>
        </p:txBody>
      </p:sp>
      <p:sp>
        <p:nvSpPr>
          <p:cNvPr id="27" name="Text 24"/>
          <p:cNvSpPr/>
          <p:nvPr/>
        </p:nvSpPr>
        <p:spPr>
          <a:xfrm>
            <a:off x="742950" y="36576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28" name="Shape 25"/>
          <p:cNvSpPr/>
          <p:nvPr/>
        </p:nvSpPr>
        <p:spPr>
          <a:xfrm>
            <a:off x="742950" y="3886200"/>
            <a:ext cx="3543300" cy="2593181"/>
          </a:xfrm>
          <a:prstGeom prst="rect">
            <a:avLst/>
          </a:prstGeom>
          <a:solidFill>
            <a:srgbClr val="1E3A8A">
              <a:alpha val="20000"/>
            </a:srgbClr>
          </a:solidFill>
          <a:ln/>
        </p:spPr>
        <p:txBody>
          <a:bodyPr/>
          <a:lstStyle/>
          <a:p>
            <a:endParaRPr lang="en-US"/>
          </a:p>
        </p:txBody>
      </p:sp>
      <p:sp>
        <p:nvSpPr>
          <p:cNvPr id="29" name="Text 26"/>
          <p:cNvSpPr/>
          <p:nvPr/>
        </p:nvSpPr>
        <p:spPr>
          <a:xfrm>
            <a:off x="742950" y="3886200"/>
            <a:ext cx="559166"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30" name="Text 27"/>
          <p:cNvSpPr/>
          <p:nvPr/>
        </p:nvSpPr>
        <p:spPr>
          <a:xfrm>
            <a:off x="1230678" y="3886200"/>
            <a:ext cx="542032"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Line</a:t>
            </a:r>
            <a:endParaRPr lang="en-US" sz="900" dirty="0"/>
          </a:p>
        </p:txBody>
      </p:sp>
      <p:sp>
        <p:nvSpPr>
          <p:cNvPr id="31" name="Text 28"/>
          <p:cNvSpPr/>
          <p:nvPr/>
        </p:nvSpPr>
        <p:spPr>
          <a:xfrm>
            <a:off x="1701273" y="3886200"/>
            <a:ext cx="311088"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a:t>
            </a:r>
            <a:endParaRPr lang="en-US" sz="900" dirty="0"/>
          </a:p>
        </p:txBody>
      </p:sp>
      <p:sp>
        <p:nvSpPr>
          <p:cNvPr id="32" name="Text 29"/>
          <p:cNvSpPr/>
          <p:nvPr/>
        </p:nvSpPr>
        <p:spPr>
          <a:xfrm>
            <a:off x="1940923" y="3886200"/>
            <a:ext cx="542088"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sum</a:t>
            </a:r>
            <a:endParaRPr lang="en-US" sz="900" dirty="0"/>
          </a:p>
        </p:txBody>
      </p:sp>
      <p:sp>
        <p:nvSpPr>
          <p:cNvPr id="33" name="Text 30"/>
          <p:cNvSpPr/>
          <p:nvPr/>
        </p:nvSpPr>
        <p:spPr>
          <a:xfrm>
            <a:off x="2411574" y="3886200"/>
            <a:ext cx="1946114" cy="232172"/>
          </a:xfrm>
          <a:prstGeom prst="rect">
            <a:avLst/>
          </a:prstGeom>
          <a:noFill/>
          <a:ln/>
        </p:spPr>
        <p:txBody>
          <a:bodyPr wrap="squar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Notes</a:t>
            </a:r>
            <a:endParaRPr lang="en-US" sz="900" dirty="0"/>
          </a:p>
        </p:txBody>
      </p:sp>
      <p:sp>
        <p:nvSpPr>
          <p:cNvPr id="34" name="Text 31"/>
          <p:cNvSpPr/>
          <p:nvPr/>
        </p:nvSpPr>
        <p:spPr>
          <a:xfrm>
            <a:off x="742950" y="4118372"/>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35" name="Text 32"/>
          <p:cNvSpPr/>
          <p:nvPr/>
        </p:nvSpPr>
        <p:spPr>
          <a:xfrm>
            <a:off x="1230678" y="4118372"/>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36" name="Text 33"/>
          <p:cNvSpPr/>
          <p:nvPr/>
        </p:nvSpPr>
        <p:spPr>
          <a:xfrm>
            <a:off x="1701273" y="4118372"/>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37" name="Text 34"/>
          <p:cNvSpPr/>
          <p:nvPr/>
        </p:nvSpPr>
        <p:spPr>
          <a:xfrm>
            <a:off x="1940923" y="4118372"/>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38" name="Text 35"/>
          <p:cNvSpPr/>
          <p:nvPr/>
        </p:nvSpPr>
        <p:spPr>
          <a:xfrm>
            <a:off x="2411574" y="4118372"/>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Function called with n=6</a:t>
            </a:r>
            <a:endParaRPr lang="en-US" sz="900" dirty="0"/>
          </a:p>
        </p:txBody>
      </p:sp>
      <p:sp>
        <p:nvSpPr>
          <p:cNvPr id="39" name="Text 36"/>
          <p:cNvSpPr/>
          <p:nvPr/>
        </p:nvSpPr>
        <p:spPr>
          <a:xfrm>
            <a:off x="742950" y="4354116"/>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40" name="Text 37"/>
          <p:cNvSpPr/>
          <p:nvPr/>
        </p:nvSpPr>
        <p:spPr>
          <a:xfrm>
            <a:off x="1230678" y="4354116"/>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41" name="Text 38"/>
          <p:cNvSpPr/>
          <p:nvPr/>
        </p:nvSpPr>
        <p:spPr>
          <a:xfrm>
            <a:off x="1701273" y="4354116"/>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42" name="Text 39"/>
          <p:cNvSpPr/>
          <p:nvPr/>
        </p:nvSpPr>
        <p:spPr>
          <a:xfrm>
            <a:off x="1940923" y="4354116"/>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43" name="Text 40"/>
          <p:cNvSpPr/>
          <p:nvPr/>
        </p:nvSpPr>
        <p:spPr>
          <a:xfrm>
            <a:off x="2411574" y="4354116"/>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sum</a:t>
            </a:r>
            <a:endParaRPr lang="en-US" sz="900" dirty="0"/>
          </a:p>
        </p:txBody>
      </p:sp>
      <p:sp>
        <p:nvSpPr>
          <p:cNvPr id="44" name="Text 41"/>
          <p:cNvSpPr/>
          <p:nvPr/>
        </p:nvSpPr>
        <p:spPr>
          <a:xfrm>
            <a:off x="742950" y="4589859"/>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45" name="Text 42"/>
          <p:cNvSpPr/>
          <p:nvPr/>
        </p:nvSpPr>
        <p:spPr>
          <a:xfrm>
            <a:off x="1230678" y="4589859"/>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46" name="Text 43"/>
          <p:cNvSpPr/>
          <p:nvPr/>
        </p:nvSpPr>
        <p:spPr>
          <a:xfrm>
            <a:off x="1701273" y="4589859"/>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47" name="Text 44"/>
          <p:cNvSpPr/>
          <p:nvPr/>
        </p:nvSpPr>
        <p:spPr>
          <a:xfrm>
            <a:off x="1940923" y="4589859"/>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48" name="Text 45"/>
          <p:cNvSpPr/>
          <p:nvPr/>
        </p:nvSpPr>
        <p:spPr>
          <a:xfrm>
            <a:off x="2411574" y="4589859"/>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loop with i=2</a:t>
            </a:r>
            <a:endParaRPr lang="en-US" sz="900" dirty="0"/>
          </a:p>
        </p:txBody>
      </p:sp>
      <p:sp>
        <p:nvSpPr>
          <p:cNvPr id="49" name="Text 46"/>
          <p:cNvSpPr/>
          <p:nvPr/>
        </p:nvSpPr>
        <p:spPr>
          <a:xfrm>
            <a:off x="742950" y="4825603"/>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50" name="Text 47"/>
          <p:cNvSpPr/>
          <p:nvPr/>
        </p:nvSpPr>
        <p:spPr>
          <a:xfrm>
            <a:off x="1230678" y="4825603"/>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51" name="Text 48"/>
          <p:cNvSpPr/>
          <p:nvPr/>
        </p:nvSpPr>
        <p:spPr>
          <a:xfrm>
            <a:off x="1701273" y="4825603"/>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52" name="Text 49"/>
          <p:cNvSpPr/>
          <p:nvPr/>
        </p:nvSpPr>
        <p:spPr>
          <a:xfrm>
            <a:off x="1940923" y="4825603"/>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53" name="Text 50"/>
          <p:cNvSpPr/>
          <p:nvPr/>
        </p:nvSpPr>
        <p:spPr>
          <a:xfrm>
            <a:off x="2411574" y="4825603"/>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sum += 2</a:t>
            </a:r>
            <a:endParaRPr lang="en-US" sz="900" dirty="0"/>
          </a:p>
        </p:txBody>
      </p:sp>
      <p:sp>
        <p:nvSpPr>
          <p:cNvPr id="54" name="Text 51"/>
          <p:cNvSpPr/>
          <p:nvPr/>
        </p:nvSpPr>
        <p:spPr>
          <a:xfrm>
            <a:off x="742950" y="5061347"/>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55" name="Text 52"/>
          <p:cNvSpPr/>
          <p:nvPr/>
        </p:nvSpPr>
        <p:spPr>
          <a:xfrm>
            <a:off x="1230678" y="5061347"/>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56" name="Text 53"/>
          <p:cNvSpPr/>
          <p:nvPr/>
        </p:nvSpPr>
        <p:spPr>
          <a:xfrm>
            <a:off x="1701273" y="5061347"/>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57" name="Text 54"/>
          <p:cNvSpPr/>
          <p:nvPr/>
        </p:nvSpPr>
        <p:spPr>
          <a:xfrm>
            <a:off x="1940923" y="5061347"/>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58" name="Text 55"/>
          <p:cNvSpPr/>
          <p:nvPr/>
        </p:nvSpPr>
        <p:spPr>
          <a:xfrm>
            <a:off x="2411574" y="5061347"/>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Increment i to 4</a:t>
            </a:r>
            <a:endParaRPr lang="en-US" sz="900" dirty="0"/>
          </a:p>
        </p:txBody>
      </p:sp>
      <p:sp>
        <p:nvSpPr>
          <p:cNvPr id="59" name="Text 56"/>
          <p:cNvSpPr/>
          <p:nvPr/>
        </p:nvSpPr>
        <p:spPr>
          <a:xfrm>
            <a:off x="742950" y="5297091"/>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60" name="Text 57"/>
          <p:cNvSpPr/>
          <p:nvPr/>
        </p:nvSpPr>
        <p:spPr>
          <a:xfrm>
            <a:off x="1230678" y="5297091"/>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61" name="Text 58"/>
          <p:cNvSpPr/>
          <p:nvPr/>
        </p:nvSpPr>
        <p:spPr>
          <a:xfrm>
            <a:off x="1701273" y="5297091"/>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62" name="Text 59"/>
          <p:cNvSpPr/>
          <p:nvPr/>
        </p:nvSpPr>
        <p:spPr>
          <a:xfrm>
            <a:off x="1940923" y="5297091"/>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63" name="Text 60"/>
          <p:cNvSpPr/>
          <p:nvPr/>
        </p:nvSpPr>
        <p:spPr>
          <a:xfrm>
            <a:off x="2411574" y="5297091"/>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sum += 4</a:t>
            </a:r>
            <a:endParaRPr lang="en-US" sz="900" dirty="0"/>
          </a:p>
        </p:txBody>
      </p:sp>
      <p:sp>
        <p:nvSpPr>
          <p:cNvPr id="64" name="Text 61"/>
          <p:cNvSpPr/>
          <p:nvPr/>
        </p:nvSpPr>
        <p:spPr>
          <a:xfrm>
            <a:off x="742950" y="5532834"/>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7</a:t>
            </a:r>
            <a:endParaRPr lang="en-US" sz="900" dirty="0"/>
          </a:p>
        </p:txBody>
      </p:sp>
      <p:sp>
        <p:nvSpPr>
          <p:cNvPr id="65" name="Text 62"/>
          <p:cNvSpPr/>
          <p:nvPr/>
        </p:nvSpPr>
        <p:spPr>
          <a:xfrm>
            <a:off x="1230678" y="5532834"/>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66" name="Text 63"/>
          <p:cNvSpPr/>
          <p:nvPr/>
        </p:nvSpPr>
        <p:spPr>
          <a:xfrm>
            <a:off x="1701273" y="5532834"/>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67" name="Text 64"/>
          <p:cNvSpPr/>
          <p:nvPr/>
        </p:nvSpPr>
        <p:spPr>
          <a:xfrm>
            <a:off x="1940923" y="5532834"/>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68" name="Text 65"/>
          <p:cNvSpPr/>
          <p:nvPr/>
        </p:nvSpPr>
        <p:spPr>
          <a:xfrm>
            <a:off x="2411574" y="5532834"/>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Increment i to 6</a:t>
            </a:r>
            <a:endParaRPr lang="en-US" sz="900" dirty="0"/>
          </a:p>
        </p:txBody>
      </p:sp>
      <p:sp>
        <p:nvSpPr>
          <p:cNvPr id="69" name="Text 66"/>
          <p:cNvSpPr/>
          <p:nvPr/>
        </p:nvSpPr>
        <p:spPr>
          <a:xfrm>
            <a:off x="742950" y="5768578"/>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70" name="Text 67"/>
          <p:cNvSpPr/>
          <p:nvPr/>
        </p:nvSpPr>
        <p:spPr>
          <a:xfrm>
            <a:off x="1230678" y="5768578"/>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71" name="Text 68"/>
          <p:cNvSpPr/>
          <p:nvPr/>
        </p:nvSpPr>
        <p:spPr>
          <a:xfrm>
            <a:off x="1701273" y="5768578"/>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72" name="Text 69"/>
          <p:cNvSpPr/>
          <p:nvPr/>
        </p:nvSpPr>
        <p:spPr>
          <a:xfrm>
            <a:off x="1940923" y="5768578"/>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a:t>
            </a:r>
            <a:endParaRPr lang="en-US" sz="900" dirty="0"/>
          </a:p>
        </p:txBody>
      </p:sp>
      <p:sp>
        <p:nvSpPr>
          <p:cNvPr id="73" name="Text 70"/>
          <p:cNvSpPr/>
          <p:nvPr/>
        </p:nvSpPr>
        <p:spPr>
          <a:xfrm>
            <a:off x="2411574" y="5768578"/>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sum += 6</a:t>
            </a:r>
            <a:endParaRPr lang="en-US" sz="900" dirty="0"/>
          </a:p>
        </p:txBody>
      </p:sp>
      <p:sp>
        <p:nvSpPr>
          <p:cNvPr id="74" name="Text 71"/>
          <p:cNvSpPr/>
          <p:nvPr/>
        </p:nvSpPr>
        <p:spPr>
          <a:xfrm>
            <a:off x="742950" y="6004322"/>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9</a:t>
            </a:r>
            <a:endParaRPr lang="en-US" sz="900" dirty="0"/>
          </a:p>
        </p:txBody>
      </p:sp>
      <p:sp>
        <p:nvSpPr>
          <p:cNvPr id="75" name="Text 72"/>
          <p:cNvSpPr/>
          <p:nvPr/>
        </p:nvSpPr>
        <p:spPr>
          <a:xfrm>
            <a:off x="1230678" y="6004322"/>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76" name="Text 73"/>
          <p:cNvSpPr/>
          <p:nvPr/>
        </p:nvSpPr>
        <p:spPr>
          <a:xfrm>
            <a:off x="1701273" y="6004322"/>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77" name="Text 74"/>
          <p:cNvSpPr/>
          <p:nvPr/>
        </p:nvSpPr>
        <p:spPr>
          <a:xfrm>
            <a:off x="1940923" y="6004322"/>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a:t>
            </a:r>
            <a:endParaRPr lang="en-US" sz="900" dirty="0"/>
          </a:p>
        </p:txBody>
      </p:sp>
      <p:sp>
        <p:nvSpPr>
          <p:cNvPr id="78" name="Text 75"/>
          <p:cNvSpPr/>
          <p:nvPr/>
        </p:nvSpPr>
        <p:spPr>
          <a:xfrm>
            <a:off x="2411574" y="6004322"/>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Increment i to 8, exit loop</a:t>
            </a:r>
            <a:endParaRPr lang="en-US" sz="900" dirty="0"/>
          </a:p>
        </p:txBody>
      </p:sp>
      <p:sp>
        <p:nvSpPr>
          <p:cNvPr id="79" name="Text 76"/>
          <p:cNvSpPr/>
          <p:nvPr/>
        </p:nvSpPr>
        <p:spPr>
          <a:xfrm>
            <a:off x="742950" y="6240066"/>
            <a:ext cx="55916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10</a:t>
            </a:r>
            <a:endParaRPr lang="en-US" sz="900" dirty="0"/>
          </a:p>
        </p:txBody>
      </p:sp>
      <p:sp>
        <p:nvSpPr>
          <p:cNvPr id="80" name="Text 77"/>
          <p:cNvSpPr/>
          <p:nvPr/>
        </p:nvSpPr>
        <p:spPr>
          <a:xfrm>
            <a:off x="1230678" y="6240066"/>
            <a:ext cx="54203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81" name="Text 78"/>
          <p:cNvSpPr/>
          <p:nvPr/>
        </p:nvSpPr>
        <p:spPr>
          <a:xfrm>
            <a:off x="1701273" y="6240066"/>
            <a:ext cx="311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82" name="Text 79"/>
          <p:cNvSpPr/>
          <p:nvPr/>
        </p:nvSpPr>
        <p:spPr>
          <a:xfrm>
            <a:off x="1940923" y="6240066"/>
            <a:ext cx="5420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a:t>
            </a:r>
            <a:endParaRPr lang="en-US" sz="900" dirty="0"/>
          </a:p>
        </p:txBody>
      </p:sp>
      <p:sp>
        <p:nvSpPr>
          <p:cNvPr id="83" name="Text 80"/>
          <p:cNvSpPr/>
          <p:nvPr/>
        </p:nvSpPr>
        <p:spPr>
          <a:xfrm>
            <a:off x="2411574" y="6240066"/>
            <a:ext cx="1946114"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sum = 12</a:t>
            </a:r>
            <a:endParaRPr lang="en-US" sz="900" dirty="0"/>
          </a:p>
        </p:txBody>
      </p:sp>
      <p:sp>
        <p:nvSpPr>
          <p:cNvPr id="84" name="Shape 81"/>
          <p:cNvSpPr/>
          <p:nvPr/>
        </p:nvSpPr>
        <p:spPr>
          <a:xfrm>
            <a:off x="4686300" y="971550"/>
            <a:ext cx="4000500" cy="70723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85" name="Text 82"/>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2: Conditional Logic</a:t>
            </a:r>
            <a:endParaRPr lang="en-US" sz="1350" dirty="0"/>
          </a:p>
        </p:txBody>
      </p:sp>
      <p:sp>
        <p:nvSpPr>
          <p:cNvPr id="86" name="Shape 83"/>
          <p:cNvSpPr/>
          <p:nvPr/>
        </p:nvSpPr>
        <p:spPr>
          <a:xfrm>
            <a:off x="4857750" y="1485900"/>
            <a:ext cx="3657600" cy="3114675"/>
          </a:xfrm>
          <a:prstGeom prst="rect">
            <a:avLst/>
          </a:prstGeom>
          <a:solidFill>
            <a:srgbClr val="1E3A8A">
              <a:alpha val="30000"/>
            </a:srgbClr>
          </a:solidFill>
          <a:ln/>
        </p:spPr>
        <p:txBody>
          <a:bodyPr/>
          <a:lstStyle/>
          <a:p>
            <a:endParaRPr lang="en-US"/>
          </a:p>
        </p:txBody>
      </p:sp>
      <p:sp>
        <p:nvSpPr>
          <p:cNvPr id="87" name="Shape 84"/>
          <p:cNvSpPr/>
          <p:nvPr/>
        </p:nvSpPr>
        <p:spPr>
          <a:xfrm>
            <a:off x="4857750" y="1485900"/>
            <a:ext cx="28575" cy="3114675"/>
          </a:xfrm>
          <a:prstGeom prst="rect">
            <a:avLst/>
          </a:prstGeom>
          <a:solidFill>
            <a:srgbClr val="63B3ED"/>
          </a:solidFill>
          <a:ln/>
        </p:spPr>
        <p:txBody>
          <a:bodyPr/>
          <a:lstStyle/>
          <a:p>
            <a:endParaRPr lang="en-US"/>
          </a:p>
        </p:txBody>
      </p:sp>
      <p:sp>
        <p:nvSpPr>
          <p:cNvPr id="88" name="Text 85"/>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89" name="Shape 86"/>
          <p:cNvSpPr/>
          <p:nvPr/>
        </p:nvSpPr>
        <p:spPr>
          <a:xfrm>
            <a:off x="4972050" y="1857375"/>
            <a:ext cx="3543300" cy="2657475"/>
          </a:xfrm>
          <a:prstGeom prst="rect">
            <a:avLst/>
          </a:prstGeom>
          <a:solidFill>
            <a:srgbClr val="1A202C"/>
          </a:solidFill>
          <a:ln/>
        </p:spPr>
        <p:txBody>
          <a:bodyPr/>
          <a:lstStyle/>
          <a:p>
            <a:endParaRPr lang="en-US"/>
          </a:p>
        </p:txBody>
      </p:sp>
      <p:sp>
        <p:nvSpPr>
          <p:cNvPr id="90" name="Text 87"/>
          <p:cNvSpPr/>
          <p:nvPr/>
        </p:nvSpPr>
        <p:spPr>
          <a:xfrm>
            <a:off x="5086350" y="197524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91" name="Text 88"/>
          <p:cNvSpPr/>
          <p:nvPr/>
        </p:nvSpPr>
        <p:spPr>
          <a:xfrm>
            <a:off x="5566432" y="1975247"/>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findGrade(score) {</a:t>
            </a:r>
            <a:endParaRPr lang="en-US" sz="788" dirty="0"/>
          </a:p>
        </p:txBody>
      </p:sp>
      <p:sp>
        <p:nvSpPr>
          <p:cNvPr id="92" name="Text 89"/>
          <p:cNvSpPr/>
          <p:nvPr/>
        </p:nvSpPr>
        <p:spPr>
          <a:xfrm>
            <a:off x="5206371" y="2118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93" name="Text 90"/>
          <p:cNvSpPr/>
          <p:nvPr/>
        </p:nvSpPr>
        <p:spPr>
          <a:xfrm>
            <a:off x="5386415" y="211812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a:t>
            </a:r>
            <a:endParaRPr lang="en-US" sz="788" dirty="0"/>
          </a:p>
        </p:txBody>
      </p:sp>
      <p:sp>
        <p:nvSpPr>
          <p:cNvPr id="94" name="Text 91"/>
          <p:cNvSpPr/>
          <p:nvPr/>
        </p:nvSpPr>
        <p:spPr>
          <a:xfrm>
            <a:off x="5206371" y="226099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95" name="Text 92"/>
          <p:cNvSpPr/>
          <p:nvPr/>
        </p:nvSpPr>
        <p:spPr>
          <a:xfrm>
            <a:off x="5326391" y="226099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(score &gt;= 90) {</a:t>
            </a:r>
            <a:endParaRPr lang="en-US" sz="788" dirty="0"/>
          </a:p>
        </p:txBody>
      </p:sp>
      <p:sp>
        <p:nvSpPr>
          <p:cNvPr id="96" name="Text 93"/>
          <p:cNvSpPr/>
          <p:nvPr/>
        </p:nvSpPr>
        <p:spPr>
          <a:xfrm>
            <a:off x="5086350" y="240387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 = 'A';</a:t>
            </a:r>
            <a:endParaRPr lang="en-US" sz="788" dirty="0"/>
          </a:p>
        </p:txBody>
      </p:sp>
      <p:sp>
        <p:nvSpPr>
          <p:cNvPr id="97" name="Text 94"/>
          <p:cNvSpPr/>
          <p:nvPr/>
        </p:nvSpPr>
        <p:spPr>
          <a:xfrm>
            <a:off x="5086350" y="2546747"/>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8" name="Text 95"/>
          <p:cNvSpPr/>
          <p:nvPr/>
        </p:nvSpPr>
        <p:spPr>
          <a:xfrm>
            <a:off x="5326391" y="25467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 if</a:t>
            </a:r>
            <a:endParaRPr lang="en-US" sz="788" dirty="0"/>
          </a:p>
        </p:txBody>
      </p:sp>
      <p:sp>
        <p:nvSpPr>
          <p:cNvPr id="99" name="Text 96"/>
          <p:cNvSpPr/>
          <p:nvPr/>
        </p:nvSpPr>
        <p:spPr>
          <a:xfrm>
            <a:off x="5746449" y="254674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(score &gt;= 80) {</a:t>
            </a:r>
            <a:endParaRPr lang="en-US" sz="788" dirty="0"/>
          </a:p>
        </p:txBody>
      </p:sp>
      <p:sp>
        <p:nvSpPr>
          <p:cNvPr id="100" name="Text 97"/>
          <p:cNvSpPr/>
          <p:nvPr/>
        </p:nvSpPr>
        <p:spPr>
          <a:xfrm>
            <a:off x="5086350" y="268962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 = 'B';</a:t>
            </a:r>
            <a:endParaRPr lang="en-US" sz="788" dirty="0"/>
          </a:p>
        </p:txBody>
      </p:sp>
      <p:sp>
        <p:nvSpPr>
          <p:cNvPr id="101" name="Text 98"/>
          <p:cNvSpPr/>
          <p:nvPr/>
        </p:nvSpPr>
        <p:spPr>
          <a:xfrm>
            <a:off x="5086350" y="2832497"/>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2" name="Text 99"/>
          <p:cNvSpPr/>
          <p:nvPr/>
        </p:nvSpPr>
        <p:spPr>
          <a:xfrm>
            <a:off x="5326391" y="283249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 if</a:t>
            </a:r>
            <a:endParaRPr lang="en-US" sz="788" dirty="0"/>
          </a:p>
        </p:txBody>
      </p:sp>
      <p:sp>
        <p:nvSpPr>
          <p:cNvPr id="103" name="Text 100"/>
          <p:cNvSpPr/>
          <p:nvPr/>
        </p:nvSpPr>
        <p:spPr>
          <a:xfrm>
            <a:off x="5746449" y="283249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(score &gt;= 70) {</a:t>
            </a:r>
            <a:endParaRPr lang="en-US" sz="788" dirty="0"/>
          </a:p>
        </p:txBody>
      </p:sp>
      <p:sp>
        <p:nvSpPr>
          <p:cNvPr id="104" name="Text 101"/>
          <p:cNvSpPr/>
          <p:nvPr/>
        </p:nvSpPr>
        <p:spPr>
          <a:xfrm>
            <a:off x="5086350" y="297537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 = 'C';</a:t>
            </a:r>
            <a:endParaRPr lang="en-US" sz="788" dirty="0"/>
          </a:p>
        </p:txBody>
      </p:sp>
      <p:sp>
        <p:nvSpPr>
          <p:cNvPr id="105" name="Text 102"/>
          <p:cNvSpPr/>
          <p:nvPr/>
        </p:nvSpPr>
        <p:spPr>
          <a:xfrm>
            <a:off x="5086350" y="3118247"/>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6" name="Text 103"/>
          <p:cNvSpPr/>
          <p:nvPr/>
        </p:nvSpPr>
        <p:spPr>
          <a:xfrm>
            <a:off x="5326391" y="31182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 if</a:t>
            </a:r>
            <a:endParaRPr lang="en-US" sz="788" dirty="0"/>
          </a:p>
        </p:txBody>
      </p:sp>
      <p:sp>
        <p:nvSpPr>
          <p:cNvPr id="107" name="Text 104"/>
          <p:cNvSpPr/>
          <p:nvPr/>
        </p:nvSpPr>
        <p:spPr>
          <a:xfrm>
            <a:off x="5746449" y="311824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(score &gt;= 60) {</a:t>
            </a:r>
            <a:endParaRPr lang="en-US" sz="788" dirty="0"/>
          </a:p>
        </p:txBody>
      </p:sp>
      <p:sp>
        <p:nvSpPr>
          <p:cNvPr id="108" name="Text 105"/>
          <p:cNvSpPr/>
          <p:nvPr/>
        </p:nvSpPr>
        <p:spPr>
          <a:xfrm>
            <a:off x="5086350" y="326112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 = 'D';</a:t>
            </a:r>
            <a:endParaRPr lang="en-US" sz="788" dirty="0"/>
          </a:p>
        </p:txBody>
      </p:sp>
      <p:sp>
        <p:nvSpPr>
          <p:cNvPr id="109" name="Text 106"/>
          <p:cNvSpPr/>
          <p:nvPr/>
        </p:nvSpPr>
        <p:spPr>
          <a:xfrm>
            <a:off x="5086350" y="3403997"/>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0" name="Text 107"/>
          <p:cNvSpPr/>
          <p:nvPr/>
        </p:nvSpPr>
        <p:spPr>
          <a:xfrm>
            <a:off x="5326391" y="3403997"/>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111" name="Text 108"/>
          <p:cNvSpPr/>
          <p:nvPr/>
        </p:nvSpPr>
        <p:spPr>
          <a:xfrm>
            <a:off x="5566432" y="34039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2" name="Text 109"/>
          <p:cNvSpPr/>
          <p:nvPr/>
        </p:nvSpPr>
        <p:spPr>
          <a:xfrm>
            <a:off x="5086350" y="354687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 = 'F';</a:t>
            </a:r>
            <a:endParaRPr lang="en-US" sz="788" dirty="0"/>
          </a:p>
        </p:txBody>
      </p:sp>
      <p:sp>
        <p:nvSpPr>
          <p:cNvPr id="113" name="Text 110"/>
          <p:cNvSpPr/>
          <p:nvPr/>
        </p:nvSpPr>
        <p:spPr>
          <a:xfrm>
            <a:off x="5086350" y="368974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4" name="Text 111"/>
          <p:cNvSpPr/>
          <p:nvPr/>
        </p:nvSpPr>
        <p:spPr>
          <a:xfrm>
            <a:off x="5206371" y="38326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15" name="Text 112"/>
          <p:cNvSpPr/>
          <p:nvPr/>
        </p:nvSpPr>
        <p:spPr>
          <a:xfrm>
            <a:off x="5566432" y="383262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grade;</a:t>
            </a:r>
            <a:endParaRPr lang="en-US" sz="788" dirty="0"/>
          </a:p>
        </p:txBody>
      </p:sp>
      <p:sp>
        <p:nvSpPr>
          <p:cNvPr id="116" name="Text 113"/>
          <p:cNvSpPr/>
          <p:nvPr/>
        </p:nvSpPr>
        <p:spPr>
          <a:xfrm>
            <a:off x="5086350" y="39754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7" name="Text 114"/>
          <p:cNvSpPr/>
          <p:nvPr/>
        </p:nvSpPr>
        <p:spPr>
          <a:xfrm>
            <a:off x="5086350" y="4261247"/>
            <a:ext cx="1451632"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score = 85</a:t>
            </a:r>
            <a:endParaRPr lang="en-US" sz="788" dirty="0"/>
          </a:p>
        </p:txBody>
      </p:sp>
      <p:sp>
        <p:nvSpPr>
          <p:cNvPr id="118" name="Shape 115"/>
          <p:cNvSpPr/>
          <p:nvPr/>
        </p:nvSpPr>
        <p:spPr>
          <a:xfrm>
            <a:off x="4857750" y="4714875"/>
            <a:ext cx="3657600" cy="3143250"/>
          </a:xfrm>
          <a:prstGeom prst="rect">
            <a:avLst/>
          </a:prstGeom>
          <a:solidFill>
            <a:srgbClr val="1E3A8A">
              <a:alpha val="30000"/>
            </a:srgbClr>
          </a:solidFill>
          <a:ln/>
        </p:spPr>
        <p:txBody>
          <a:bodyPr/>
          <a:lstStyle/>
          <a:p>
            <a:endParaRPr lang="en-US"/>
          </a:p>
        </p:txBody>
      </p:sp>
      <p:sp>
        <p:nvSpPr>
          <p:cNvPr id="119" name="Shape 116"/>
          <p:cNvSpPr/>
          <p:nvPr/>
        </p:nvSpPr>
        <p:spPr>
          <a:xfrm>
            <a:off x="4857750" y="4714875"/>
            <a:ext cx="28575" cy="3143250"/>
          </a:xfrm>
          <a:prstGeom prst="rect">
            <a:avLst/>
          </a:prstGeom>
          <a:solidFill>
            <a:srgbClr val="63B3ED"/>
          </a:solidFill>
          <a:ln/>
        </p:spPr>
        <p:txBody>
          <a:bodyPr/>
          <a:lstStyle/>
          <a:p>
            <a:endParaRPr lang="en-US"/>
          </a:p>
        </p:txBody>
      </p:sp>
      <p:sp>
        <p:nvSpPr>
          <p:cNvPr id="120" name="Text 117"/>
          <p:cNvSpPr/>
          <p:nvPr/>
        </p:nvSpPr>
        <p:spPr>
          <a:xfrm>
            <a:off x="4972050" y="48006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121" name="Shape 118"/>
          <p:cNvSpPr/>
          <p:nvPr/>
        </p:nvSpPr>
        <p:spPr>
          <a:xfrm>
            <a:off x="4972050" y="5029200"/>
            <a:ext cx="3543300" cy="2743200"/>
          </a:xfrm>
          <a:prstGeom prst="rect">
            <a:avLst/>
          </a:prstGeom>
          <a:solidFill>
            <a:srgbClr val="1E3A8A">
              <a:alpha val="20000"/>
            </a:srgbClr>
          </a:solidFill>
          <a:ln/>
        </p:spPr>
        <p:txBody>
          <a:bodyPr/>
          <a:lstStyle/>
          <a:p>
            <a:endParaRPr lang="en-US"/>
          </a:p>
        </p:txBody>
      </p:sp>
      <p:sp>
        <p:nvSpPr>
          <p:cNvPr id="122" name="Text 119"/>
          <p:cNvSpPr/>
          <p:nvPr/>
        </p:nvSpPr>
        <p:spPr>
          <a:xfrm>
            <a:off x="4972050" y="5029200"/>
            <a:ext cx="433425"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123" name="Text 120"/>
          <p:cNvSpPr/>
          <p:nvPr/>
        </p:nvSpPr>
        <p:spPr>
          <a:xfrm>
            <a:off x="5334037" y="5029200"/>
            <a:ext cx="420700"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Line</a:t>
            </a:r>
            <a:endParaRPr lang="en-US" sz="900" dirty="0"/>
          </a:p>
        </p:txBody>
      </p:sp>
      <p:sp>
        <p:nvSpPr>
          <p:cNvPr id="124" name="Text 121"/>
          <p:cNvSpPr/>
          <p:nvPr/>
        </p:nvSpPr>
        <p:spPr>
          <a:xfrm>
            <a:off x="5683300" y="5029200"/>
            <a:ext cx="490742"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score</a:t>
            </a:r>
            <a:endParaRPr lang="en-US" sz="900" dirty="0"/>
          </a:p>
        </p:txBody>
      </p:sp>
      <p:sp>
        <p:nvSpPr>
          <p:cNvPr id="125" name="Text 122"/>
          <p:cNvSpPr/>
          <p:nvPr/>
        </p:nvSpPr>
        <p:spPr>
          <a:xfrm>
            <a:off x="6102604" y="5029200"/>
            <a:ext cx="687865"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grade</a:t>
            </a:r>
            <a:endParaRPr lang="en-US" sz="900" dirty="0"/>
          </a:p>
        </p:txBody>
      </p:sp>
      <p:sp>
        <p:nvSpPr>
          <p:cNvPr id="126" name="Text 123"/>
          <p:cNvSpPr/>
          <p:nvPr/>
        </p:nvSpPr>
        <p:spPr>
          <a:xfrm>
            <a:off x="6719032" y="5029200"/>
            <a:ext cx="718951"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Condition</a:t>
            </a:r>
            <a:endParaRPr lang="en-US" sz="900" dirty="0"/>
          </a:p>
        </p:txBody>
      </p:sp>
      <p:sp>
        <p:nvSpPr>
          <p:cNvPr id="127" name="Text 124"/>
          <p:cNvSpPr/>
          <p:nvPr/>
        </p:nvSpPr>
        <p:spPr>
          <a:xfrm>
            <a:off x="7366546" y="5029200"/>
            <a:ext cx="1220242"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Notes</a:t>
            </a:r>
            <a:endParaRPr lang="en-US" sz="900" dirty="0"/>
          </a:p>
        </p:txBody>
      </p:sp>
      <p:sp>
        <p:nvSpPr>
          <p:cNvPr id="128" name="Text 125"/>
          <p:cNvSpPr/>
          <p:nvPr/>
        </p:nvSpPr>
        <p:spPr>
          <a:xfrm>
            <a:off x="4972050" y="5261372"/>
            <a:ext cx="43342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29" name="Text 126"/>
          <p:cNvSpPr/>
          <p:nvPr/>
        </p:nvSpPr>
        <p:spPr>
          <a:xfrm>
            <a:off x="5334037" y="5261372"/>
            <a:ext cx="420700"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30" name="Text 127"/>
          <p:cNvSpPr/>
          <p:nvPr/>
        </p:nvSpPr>
        <p:spPr>
          <a:xfrm>
            <a:off x="5683300" y="5261372"/>
            <a:ext cx="4907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31" name="Text 128"/>
          <p:cNvSpPr/>
          <p:nvPr/>
        </p:nvSpPr>
        <p:spPr>
          <a:xfrm>
            <a:off x="6102604" y="5261372"/>
            <a:ext cx="68786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32" name="Text 129"/>
          <p:cNvSpPr/>
          <p:nvPr/>
        </p:nvSpPr>
        <p:spPr>
          <a:xfrm>
            <a:off x="6719032" y="5261372"/>
            <a:ext cx="718951"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33" name="Text 130"/>
          <p:cNvSpPr/>
          <p:nvPr/>
        </p:nvSpPr>
        <p:spPr>
          <a:xfrm>
            <a:off x="7366546" y="5261372"/>
            <a:ext cx="12202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Function called with score=85</a:t>
            </a:r>
            <a:endParaRPr lang="en-US" sz="900" dirty="0"/>
          </a:p>
        </p:txBody>
      </p:sp>
      <p:sp>
        <p:nvSpPr>
          <p:cNvPr id="134" name="Text 131"/>
          <p:cNvSpPr/>
          <p:nvPr/>
        </p:nvSpPr>
        <p:spPr>
          <a:xfrm>
            <a:off x="4972050" y="5668566"/>
            <a:ext cx="43342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35" name="Text 132"/>
          <p:cNvSpPr/>
          <p:nvPr/>
        </p:nvSpPr>
        <p:spPr>
          <a:xfrm>
            <a:off x="5334037" y="5668566"/>
            <a:ext cx="420700"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36" name="Text 133"/>
          <p:cNvSpPr/>
          <p:nvPr/>
        </p:nvSpPr>
        <p:spPr>
          <a:xfrm>
            <a:off x="5683300" y="5668566"/>
            <a:ext cx="4907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37" name="Text 134"/>
          <p:cNvSpPr/>
          <p:nvPr/>
        </p:nvSpPr>
        <p:spPr>
          <a:xfrm>
            <a:off x="6102604" y="5668566"/>
            <a:ext cx="68786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undefined</a:t>
            </a:r>
            <a:endParaRPr lang="en-US" sz="900" dirty="0"/>
          </a:p>
        </p:txBody>
      </p:sp>
      <p:sp>
        <p:nvSpPr>
          <p:cNvPr id="138" name="Text 135"/>
          <p:cNvSpPr/>
          <p:nvPr/>
        </p:nvSpPr>
        <p:spPr>
          <a:xfrm>
            <a:off x="6719032" y="5668566"/>
            <a:ext cx="718951"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39" name="Text 136"/>
          <p:cNvSpPr/>
          <p:nvPr/>
        </p:nvSpPr>
        <p:spPr>
          <a:xfrm>
            <a:off x="7366546" y="5668566"/>
            <a:ext cx="12202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Declare grade variable</a:t>
            </a:r>
            <a:endParaRPr lang="en-US" sz="900" dirty="0"/>
          </a:p>
        </p:txBody>
      </p:sp>
      <p:sp>
        <p:nvSpPr>
          <p:cNvPr id="140" name="Text 137"/>
          <p:cNvSpPr/>
          <p:nvPr/>
        </p:nvSpPr>
        <p:spPr>
          <a:xfrm>
            <a:off x="4972050" y="6075759"/>
            <a:ext cx="43342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41" name="Text 138"/>
          <p:cNvSpPr/>
          <p:nvPr/>
        </p:nvSpPr>
        <p:spPr>
          <a:xfrm>
            <a:off x="5334037" y="6075759"/>
            <a:ext cx="420700"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42" name="Text 139"/>
          <p:cNvSpPr/>
          <p:nvPr/>
        </p:nvSpPr>
        <p:spPr>
          <a:xfrm>
            <a:off x="5683300" y="6075759"/>
            <a:ext cx="4907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43" name="Text 140"/>
          <p:cNvSpPr/>
          <p:nvPr/>
        </p:nvSpPr>
        <p:spPr>
          <a:xfrm>
            <a:off x="6102604" y="6075759"/>
            <a:ext cx="68786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undefined</a:t>
            </a:r>
            <a:endParaRPr lang="en-US" sz="900" dirty="0"/>
          </a:p>
        </p:txBody>
      </p:sp>
      <p:sp>
        <p:nvSpPr>
          <p:cNvPr id="144" name="Text 141"/>
          <p:cNvSpPr/>
          <p:nvPr/>
        </p:nvSpPr>
        <p:spPr>
          <a:xfrm>
            <a:off x="6719032" y="6075759"/>
            <a:ext cx="718951"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 &gt;= 90</a:t>
            </a:r>
            <a:endParaRPr lang="en-US" sz="900" dirty="0"/>
          </a:p>
        </p:txBody>
      </p:sp>
      <p:sp>
        <p:nvSpPr>
          <p:cNvPr id="145" name="Text 142"/>
          <p:cNvSpPr/>
          <p:nvPr/>
        </p:nvSpPr>
        <p:spPr>
          <a:xfrm>
            <a:off x="7366546" y="6075759"/>
            <a:ext cx="12202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False, skip this block</a:t>
            </a:r>
            <a:endParaRPr lang="en-US" sz="900" dirty="0"/>
          </a:p>
        </p:txBody>
      </p:sp>
      <p:sp>
        <p:nvSpPr>
          <p:cNvPr id="146" name="Text 143"/>
          <p:cNvSpPr/>
          <p:nvPr/>
        </p:nvSpPr>
        <p:spPr>
          <a:xfrm>
            <a:off x="4972050" y="6482953"/>
            <a:ext cx="43342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147" name="Text 144"/>
          <p:cNvSpPr/>
          <p:nvPr/>
        </p:nvSpPr>
        <p:spPr>
          <a:xfrm>
            <a:off x="5334037" y="6482953"/>
            <a:ext cx="420700"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148" name="Text 145"/>
          <p:cNvSpPr/>
          <p:nvPr/>
        </p:nvSpPr>
        <p:spPr>
          <a:xfrm>
            <a:off x="5683300" y="6482953"/>
            <a:ext cx="4907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49" name="Text 146"/>
          <p:cNvSpPr/>
          <p:nvPr/>
        </p:nvSpPr>
        <p:spPr>
          <a:xfrm>
            <a:off x="6102604" y="6482953"/>
            <a:ext cx="68786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undefined</a:t>
            </a:r>
            <a:endParaRPr lang="en-US" sz="900" dirty="0"/>
          </a:p>
        </p:txBody>
      </p:sp>
      <p:sp>
        <p:nvSpPr>
          <p:cNvPr id="150" name="Text 147"/>
          <p:cNvSpPr/>
          <p:nvPr/>
        </p:nvSpPr>
        <p:spPr>
          <a:xfrm>
            <a:off x="6719032" y="6482953"/>
            <a:ext cx="718951"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 &gt;= 80</a:t>
            </a:r>
            <a:endParaRPr lang="en-US" sz="900" dirty="0"/>
          </a:p>
        </p:txBody>
      </p:sp>
      <p:sp>
        <p:nvSpPr>
          <p:cNvPr id="151" name="Text 148"/>
          <p:cNvSpPr/>
          <p:nvPr/>
        </p:nvSpPr>
        <p:spPr>
          <a:xfrm>
            <a:off x="7366546" y="6482953"/>
            <a:ext cx="12202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 enter this block</a:t>
            </a:r>
            <a:endParaRPr lang="en-US" sz="900" dirty="0"/>
          </a:p>
        </p:txBody>
      </p:sp>
      <p:sp>
        <p:nvSpPr>
          <p:cNvPr id="152" name="Text 149"/>
          <p:cNvSpPr/>
          <p:nvPr/>
        </p:nvSpPr>
        <p:spPr>
          <a:xfrm>
            <a:off x="4972050" y="6890147"/>
            <a:ext cx="43342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153" name="Text 150"/>
          <p:cNvSpPr/>
          <p:nvPr/>
        </p:nvSpPr>
        <p:spPr>
          <a:xfrm>
            <a:off x="5334037" y="6890147"/>
            <a:ext cx="42070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54" name="Text 151"/>
          <p:cNvSpPr/>
          <p:nvPr/>
        </p:nvSpPr>
        <p:spPr>
          <a:xfrm>
            <a:off x="5683300" y="6890147"/>
            <a:ext cx="49074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55" name="Text 152"/>
          <p:cNvSpPr/>
          <p:nvPr/>
        </p:nvSpPr>
        <p:spPr>
          <a:xfrm>
            <a:off x="6102604" y="6890147"/>
            <a:ext cx="68786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'B'</a:t>
            </a:r>
            <a:endParaRPr lang="en-US" sz="900" dirty="0"/>
          </a:p>
        </p:txBody>
      </p:sp>
      <p:sp>
        <p:nvSpPr>
          <p:cNvPr id="156" name="Text 153"/>
          <p:cNvSpPr/>
          <p:nvPr/>
        </p:nvSpPr>
        <p:spPr>
          <a:xfrm>
            <a:off x="6719032" y="6890147"/>
            <a:ext cx="718951"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57" name="Text 154"/>
          <p:cNvSpPr/>
          <p:nvPr/>
        </p:nvSpPr>
        <p:spPr>
          <a:xfrm>
            <a:off x="7366546" y="6890147"/>
            <a:ext cx="122024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Assign grade = 'B'</a:t>
            </a:r>
            <a:endParaRPr lang="en-US" sz="900" dirty="0"/>
          </a:p>
        </p:txBody>
      </p:sp>
      <p:sp>
        <p:nvSpPr>
          <p:cNvPr id="158" name="Text 155"/>
          <p:cNvSpPr/>
          <p:nvPr/>
        </p:nvSpPr>
        <p:spPr>
          <a:xfrm>
            <a:off x="4972050" y="7125891"/>
            <a:ext cx="43342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59" name="Text 156"/>
          <p:cNvSpPr/>
          <p:nvPr/>
        </p:nvSpPr>
        <p:spPr>
          <a:xfrm>
            <a:off x="5334037" y="7125891"/>
            <a:ext cx="420700"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14</a:t>
            </a:r>
            <a:endParaRPr lang="en-US" sz="900" dirty="0"/>
          </a:p>
        </p:txBody>
      </p:sp>
      <p:sp>
        <p:nvSpPr>
          <p:cNvPr id="160" name="Text 157"/>
          <p:cNvSpPr/>
          <p:nvPr/>
        </p:nvSpPr>
        <p:spPr>
          <a:xfrm>
            <a:off x="5683300" y="7125891"/>
            <a:ext cx="4907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61" name="Text 158"/>
          <p:cNvSpPr/>
          <p:nvPr/>
        </p:nvSpPr>
        <p:spPr>
          <a:xfrm>
            <a:off x="6102604" y="7125891"/>
            <a:ext cx="687865"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'B'</a:t>
            </a:r>
            <a:endParaRPr lang="en-US" sz="900" dirty="0"/>
          </a:p>
        </p:txBody>
      </p:sp>
      <p:sp>
        <p:nvSpPr>
          <p:cNvPr id="162" name="Text 159"/>
          <p:cNvSpPr/>
          <p:nvPr/>
        </p:nvSpPr>
        <p:spPr>
          <a:xfrm>
            <a:off x="6719032" y="7125891"/>
            <a:ext cx="718951"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63" name="Text 160"/>
          <p:cNvSpPr/>
          <p:nvPr/>
        </p:nvSpPr>
        <p:spPr>
          <a:xfrm>
            <a:off x="7366546" y="7125891"/>
            <a:ext cx="1220242" cy="40719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Skip remaining conditions</a:t>
            </a:r>
            <a:endParaRPr lang="en-US" sz="900" dirty="0"/>
          </a:p>
        </p:txBody>
      </p:sp>
      <p:sp>
        <p:nvSpPr>
          <p:cNvPr id="164" name="Text 161"/>
          <p:cNvSpPr/>
          <p:nvPr/>
        </p:nvSpPr>
        <p:spPr>
          <a:xfrm>
            <a:off x="4972050" y="7533084"/>
            <a:ext cx="43342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7</a:t>
            </a:r>
            <a:endParaRPr lang="en-US" sz="900" dirty="0"/>
          </a:p>
        </p:txBody>
      </p:sp>
      <p:sp>
        <p:nvSpPr>
          <p:cNvPr id="165" name="Text 162"/>
          <p:cNvSpPr/>
          <p:nvPr/>
        </p:nvSpPr>
        <p:spPr>
          <a:xfrm>
            <a:off x="5334037" y="7533084"/>
            <a:ext cx="42070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15</a:t>
            </a:r>
            <a:endParaRPr lang="en-US" sz="900" dirty="0"/>
          </a:p>
        </p:txBody>
      </p:sp>
      <p:sp>
        <p:nvSpPr>
          <p:cNvPr id="166" name="Text 163"/>
          <p:cNvSpPr/>
          <p:nvPr/>
        </p:nvSpPr>
        <p:spPr>
          <a:xfrm>
            <a:off x="5683300" y="7533084"/>
            <a:ext cx="49074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85</a:t>
            </a:r>
            <a:endParaRPr lang="en-US" sz="900" dirty="0"/>
          </a:p>
        </p:txBody>
      </p:sp>
      <p:sp>
        <p:nvSpPr>
          <p:cNvPr id="167" name="Text 164"/>
          <p:cNvSpPr/>
          <p:nvPr/>
        </p:nvSpPr>
        <p:spPr>
          <a:xfrm>
            <a:off x="6102604" y="7533084"/>
            <a:ext cx="68786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'B'</a:t>
            </a:r>
            <a:endParaRPr lang="en-US" sz="900" dirty="0"/>
          </a:p>
        </p:txBody>
      </p:sp>
      <p:sp>
        <p:nvSpPr>
          <p:cNvPr id="168" name="Text 165"/>
          <p:cNvSpPr/>
          <p:nvPr/>
        </p:nvSpPr>
        <p:spPr>
          <a:xfrm>
            <a:off x="6719032" y="7533084"/>
            <a:ext cx="718951"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69" name="Text 166"/>
          <p:cNvSpPr/>
          <p:nvPr/>
        </p:nvSpPr>
        <p:spPr>
          <a:xfrm>
            <a:off x="7366546" y="7533084"/>
            <a:ext cx="1220242"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grade = 'B'</a:t>
            </a:r>
            <a:endParaRPr lang="en-US" sz="900" dirty="0"/>
          </a:p>
        </p:txBody>
      </p:sp>
      <p:sp>
        <p:nvSpPr>
          <p:cNvPr id="170" name="Shape 167"/>
          <p:cNvSpPr/>
          <p:nvPr/>
        </p:nvSpPr>
        <p:spPr>
          <a:xfrm>
            <a:off x="457200" y="8429625"/>
            <a:ext cx="8229600" cy="53292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71" name="Text 168"/>
          <p:cNvSpPr/>
          <p:nvPr/>
        </p:nvSpPr>
        <p:spPr>
          <a:xfrm>
            <a:off x="628650" y="860107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3: Array Manipulation</a:t>
            </a:r>
            <a:endParaRPr lang="en-US" sz="1350" dirty="0"/>
          </a:p>
        </p:txBody>
      </p:sp>
      <p:sp>
        <p:nvSpPr>
          <p:cNvPr id="172" name="Shape 169"/>
          <p:cNvSpPr/>
          <p:nvPr/>
        </p:nvSpPr>
        <p:spPr>
          <a:xfrm>
            <a:off x="628650" y="8943975"/>
            <a:ext cx="3857625" cy="1971675"/>
          </a:xfrm>
          <a:prstGeom prst="rect">
            <a:avLst/>
          </a:prstGeom>
          <a:solidFill>
            <a:srgbClr val="1E3A8A">
              <a:alpha val="30000"/>
            </a:srgbClr>
          </a:solidFill>
          <a:ln/>
        </p:spPr>
        <p:txBody>
          <a:bodyPr/>
          <a:lstStyle/>
          <a:p>
            <a:endParaRPr lang="en-US"/>
          </a:p>
        </p:txBody>
      </p:sp>
      <p:sp>
        <p:nvSpPr>
          <p:cNvPr id="173" name="Shape 170"/>
          <p:cNvSpPr/>
          <p:nvPr/>
        </p:nvSpPr>
        <p:spPr>
          <a:xfrm>
            <a:off x="628650" y="8943975"/>
            <a:ext cx="28575" cy="1971675"/>
          </a:xfrm>
          <a:prstGeom prst="rect">
            <a:avLst/>
          </a:prstGeom>
          <a:solidFill>
            <a:srgbClr val="63B3ED"/>
          </a:solidFill>
          <a:ln/>
        </p:spPr>
        <p:txBody>
          <a:bodyPr/>
          <a:lstStyle/>
          <a:p>
            <a:endParaRPr lang="en-US"/>
          </a:p>
        </p:txBody>
      </p:sp>
      <p:sp>
        <p:nvSpPr>
          <p:cNvPr id="174" name="Text 171"/>
          <p:cNvSpPr/>
          <p:nvPr/>
        </p:nvSpPr>
        <p:spPr>
          <a:xfrm>
            <a:off x="742950" y="9029700"/>
            <a:ext cx="38147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75" name="Shape 172"/>
          <p:cNvSpPr/>
          <p:nvPr/>
        </p:nvSpPr>
        <p:spPr>
          <a:xfrm>
            <a:off x="742950" y="9315450"/>
            <a:ext cx="3743325" cy="1514475"/>
          </a:xfrm>
          <a:prstGeom prst="rect">
            <a:avLst/>
          </a:prstGeom>
          <a:solidFill>
            <a:srgbClr val="1A202C"/>
          </a:solidFill>
          <a:ln/>
        </p:spPr>
        <p:txBody>
          <a:bodyPr/>
          <a:lstStyle/>
          <a:p>
            <a:endParaRPr lang="en-US"/>
          </a:p>
        </p:txBody>
      </p:sp>
      <p:sp>
        <p:nvSpPr>
          <p:cNvPr id="176" name="Text 173"/>
          <p:cNvSpPr/>
          <p:nvPr/>
        </p:nvSpPr>
        <p:spPr>
          <a:xfrm>
            <a:off x="857250" y="9433322"/>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77" name="Text 174"/>
          <p:cNvSpPr/>
          <p:nvPr/>
        </p:nvSpPr>
        <p:spPr>
          <a:xfrm>
            <a:off x="1337332" y="9433322"/>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reverseArray(arr) {</a:t>
            </a:r>
            <a:endParaRPr lang="en-US" sz="788" dirty="0"/>
          </a:p>
        </p:txBody>
      </p:sp>
      <p:sp>
        <p:nvSpPr>
          <p:cNvPr id="178" name="Text 175"/>
          <p:cNvSpPr/>
          <p:nvPr/>
        </p:nvSpPr>
        <p:spPr>
          <a:xfrm>
            <a:off x="977271" y="957619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const</a:t>
            </a:r>
            <a:endParaRPr lang="en-US" sz="788" dirty="0"/>
          </a:p>
        </p:txBody>
      </p:sp>
      <p:sp>
        <p:nvSpPr>
          <p:cNvPr id="179" name="Text 176"/>
          <p:cNvSpPr/>
          <p:nvPr/>
        </p:nvSpPr>
        <p:spPr>
          <a:xfrm>
            <a:off x="1277308" y="9576197"/>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 = [];</a:t>
            </a:r>
            <a:endParaRPr lang="en-US" sz="788" dirty="0"/>
          </a:p>
        </p:txBody>
      </p:sp>
      <p:sp>
        <p:nvSpPr>
          <p:cNvPr id="180" name="Text 177"/>
          <p:cNvSpPr/>
          <p:nvPr/>
        </p:nvSpPr>
        <p:spPr>
          <a:xfrm>
            <a:off x="977271" y="97190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181" name="Text 178"/>
          <p:cNvSpPr/>
          <p:nvPr/>
        </p:nvSpPr>
        <p:spPr>
          <a:xfrm>
            <a:off x="1157315" y="9719072"/>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2" name="Text 179"/>
          <p:cNvSpPr/>
          <p:nvPr/>
        </p:nvSpPr>
        <p:spPr>
          <a:xfrm>
            <a:off x="1277336" y="97190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83" name="Text 180"/>
          <p:cNvSpPr/>
          <p:nvPr/>
        </p:nvSpPr>
        <p:spPr>
          <a:xfrm>
            <a:off x="1457381" y="9719072"/>
            <a:ext cx="217170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arr.length - 1; i &gt;= 0; i--) {</a:t>
            </a:r>
            <a:endParaRPr lang="en-US" sz="788" dirty="0"/>
          </a:p>
        </p:txBody>
      </p:sp>
      <p:sp>
        <p:nvSpPr>
          <p:cNvPr id="184" name="Text 181"/>
          <p:cNvSpPr/>
          <p:nvPr/>
        </p:nvSpPr>
        <p:spPr>
          <a:xfrm>
            <a:off x="857250" y="9861947"/>
            <a:ext cx="151162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result.push(arr[i]);</a:t>
            </a:r>
            <a:endParaRPr lang="en-US" sz="788" dirty="0"/>
          </a:p>
        </p:txBody>
      </p:sp>
      <p:sp>
        <p:nvSpPr>
          <p:cNvPr id="185" name="Text 182"/>
          <p:cNvSpPr/>
          <p:nvPr/>
        </p:nvSpPr>
        <p:spPr>
          <a:xfrm>
            <a:off x="857250" y="1000482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6" name="Text 183"/>
          <p:cNvSpPr/>
          <p:nvPr/>
        </p:nvSpPr>
        <p:spPr>
          <a:xfrm>
            <a:off x="977271" y="101476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87" name="Text 184"/>
          <p:cNvSpPr/>
          <p:nvPr/>
        </p:nvSpPr>
        <p:spPr>
          <a:xfrm>
            <a:off x="1337332" y="10147697"/>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a:t>
            </a:r>
            <a:endParaRPr lang="en-US" sz="788" dirty="0"/>
          </a:p>
        </p:txBody>
      </p:sp>
      <p:sp>
        <p:nvSpPr>
          <p:cNvPr id="188" name="Text 185"/>
          <p:cNvSpPr/>
          <p:nvPr/>
        </p:nvSpPr>
        <p:spPr>
          <a:xfrm>
            <a:off x="857250" y="10290572"/>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9" name="Text 186"/>
          <p:cNvSpPr/>
          <p:nvPr/>
        </p:nvSpPr>
        <p:spPr>
          <a:xfrm>
            <a:off x="857250" y="10576322"/>
            <a:ext cx="1751670"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arr = [1, 2, 3]</a:t>
            </a:r>
            <a:endParaRPr lang="en-US" sz="788" dirty="0"/>
          </a:p>
        </p:txBody>
      </p:sp>
      <p:sp>
        <p:nvSpPr>
          <p:cNvPr id="190" name="Shape 187"/>
          <p:cNvSpPr/>
          <p:nvPr/>
        </p:nvSpPr>
        <p:spPr>
          <a:xfrm>
            <a:off x="628650" y="11029950"/>
            <a:ext cx="3857625" cy="2543175"/>
          </a:xfrm>
          <a:prstGeom prst="rect">
            <a:avLst/>
          </a:prstGeom>
          <a:solidFill>
            <a:srgbClr val="1E3A8A">
              <a:alpha val="30000"/>
            </a:srgbClr>
          </a:solidFill>
          <a:ln/>
        </p:spPr>
        <p:txBody>
          <a:bodyPr/>
          <a:lstStyle/>
          <a:p>
            <a:endParaRPr lang="en-US"/>
          </a:p>
        </p:txBody>
      </p:sp>
      <p:sp>
        <p:nvSpPr>
          <p:cNvPr id="191" name="Text 188"/>
          <p:cNvSpPr/>
          <p:nvPr/>
        </p:nvSpPr>
        <p:spPr>
          <a:xfrm>
            <a:off x="742950" y="11144250"/>
            <a:ext cx="37004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Visualization</a:t>
            </a:r>
            <a:endParaRPr lang="en-US" sz="1125" dirty="0"/>
          </a:p>
        </p:txBody>
      </p:sp>
      <p:sp>
        <p:nvSpPr>
          <p:cNvPr id="192" name="Text 189"/>
          <p:cNvSpPr/>
          <p:nvPr/>
        </p:nvSpPr>
        <p:spPr>
          <a:xfrm>
            <a:off x="2128838" y="11430000"/>
            <a:ext cx="928688" cy="171450"/>
          </a:xfrm>
          <a:prstGeom prst="rect">
            <a:avLst/>
          </a:prstGeom>
          <a:noFill/>
          <a:ln/>
        </p:spPr>
        <p:txBody>
          <a:bodyPr wrap="non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Input Array</a:t>
            </a:r>
            <a:endParaRPr lang="en-US" sz="900" dirty="0"/>
          </a:p>
        </p:txBody>
      </p:sp>
      <p:sp>
        <p:nvSpPr>
          <p:cNvPr id="193" name="Shape 190"/>
          <p:cNvSpPr/>
          <p:nvPr/>
        </p:nvSpPr>
        <p:spPr>
          <a:xfrm>
            <a:off x="2128838" y="11658600"/>
            <a:ext cx="285750" cy="285750"/>
          </a:xfrm>
          <a:prstGeom prst="rect">
            <a:avLst/>
          </a:prstGeom>
          <a:solidFill>
            <a:srgbClr val="1E40AF"/>
          </a:solidFill>
          <a:ln w="99">
            <a:solidFill>
              <a:srgbClr val="2563EB"/>
            </a:solidFill>
            <a:prstDash val="solid"/>
          </a:ln>
        </p:spPr>
        <p:txBody>
          <a:bodyPr/>
          <a:lstStyle/>
          <a:p>
            <a:endParaRPr lang="en-US"/>
          </a:p>
        </p:txBody>
      </p:sp>
      <p:sp>
        <p:nvSpPr>
          <p:cNvPr id="194" name="Text 191"/>
          <p:cNvSpPr/>
          <p:nvPr/>
        </p:nvSpPr>
        <p:spPr>
          <a:xfrm>
            <a:off x="2128838" y="11658600"/>
            <a:ext cx="357188" cy="285750"/>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95" name="Shape 192"/>
          <p:cNvSpPr/>
          <p:nvPr/>
        </p:nvSpPr>
        <p:spPr>
          <a:xfrm>
            <a:off x="2414588" y="11658600"/>
            <a:ext cx="285750" cy="285750"/>
          </a:xfrm>
          <a:prstGeom prst="rect">
            <a:avLst/>
          </a:prstGeom>
          <a:solidFill>
            <a:srgbClr val="1E40AF"/>
          </a:solidFill>
          <a:ln w="99">
            <a:solidFill>
              <a:srgbClr val="2563EB"/>
            </a:solidFill>
            <a:prstDash val="solid"/>
          </a:ln>
        </p:spPr>
        <p:txBody>
          <a:bodyPr/>
          <a:lstStyle/>
          <a:p>
            <a:endParaRPr lang="en-US"/>
          </a:p>
        </p:txBody>
      </p:sp>
      <p:sp>
        <p:nvSpPr>
          <p:cNvPr id="196" name="Text 193"/>
          <p:cNvSpPr/>
          <p:nvPr/>
        </p:nvSpPr>
        <p:spPr>
          <a:xfrm>
            <a:off x="2414588" y="11658600"/>
            <a:ext cx="357188" cy="285750"/>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97" name="Shape 194"/>
          <p:cNvSpPr/>
          <p:nvPr/>
        </p:nvSpPr>
        <p:spPr>
          <a:xfrm>
            <a:off x="2700338" y="11658600"/>
            <a:ext cx="285750" cy="285750"/>
          </a:xfrm>
          <a:prstGeom prst="rect">
            <a:avLst/>
          </a:prstGeom>
          <a:solidFill>
            <a:srgbClr val="1E40AF"/>
          </a:solidFill>
          <a:ln w="99">
            <a:solidFill>
              <a:srgbClr val="2563EB"/>
            </a:solidFill>
            <a:prstDash val="solid"/>
          </a:ln>
        </p:spPr>
        <p:txBody>
          <a:bodyPr/>
          <a:lstStyle/>
          <a:p>
            <a:endParaRPr lang="en-US"/>
          </a:p>
        </p:txBody>
      </p:sp>
      <p:sp>
        <p:nvSpPr>
          <p:cNvPr id="198" name="Text 195"/>
          <p:cNvSpPr/>
          <p:nvPr/>
        </p:nvSpPr>
        <p:spPr>
          <a:xfrm>
            <a:off x="2700338" y="11658600"/>
            <a:ext cx="357188" cy="285750"/>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99" name="Text 196"/>
          <p:cNvSpPr/>
          <p:nvPr/>
        </p:nvSpPr>
        <p:spPr>
          <a:xfrm>
            <a:off x="2128838" y="11972925"/>
            <a:ext cx="35718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0</a:t>
            </a:r>
            <a:endParaRPr lang="en-US" sz="675" dirty="0"/>
          </a:p>
        </p:txBody>
      </p:sp>
      <p:sp>
        <p:nvSpPr>
          <p:cNvPr id="200" name="Text 197"/>
          <p:cNvSpPr/>
          <p:nvPr/>
        </p:nvSpPr>
        <p:spPr>
          <a:xfrm>
            <a:off x="2414588" y="11972925"/>
            <a:ext cx="35718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1</a:t>
            </a:r>
            <a:endParaRPr lang="en-US" sz="675" dirty="0"/>
          </a:p>
        </p:txBody>
      </p:sp>
      <p:sp>
        <p:nvSpPr>
          <p:cNvPr id="201" name="Text 198"/>
          <p:cNvSpPr/>
          <p:nvPr/>
        </p:nvSpPr>
        <p:spPr>
          <a:xfrm>
            <a:off x="2700338" y="11972925"/>
            <a:ext cx="35718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2</a:t>
            </a:r>
            <a:endParaRPr lang="en-US" sz="675" dirty="0"/>
          </a:p>
        </p:txBody>
      </p:sp>
      <p:sp>
        <p:nvSpPr>
          <p:cNvPr id="202" name="Text 199"/>
          <p:cNvSpPr/>
          <p:nvPr/>
        </p:nvSpPr>
        <p:spPr>
          <a:xfrm>
            <a:off x="742950" y="12258675"/>
            <a:ext cx="3700463"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Result Array Building</a:t>
            </a:r>
            <a:endParaRPr lang="en-US" sz="900" dirty="0"/>
          </a:p>
        </p:txBody>
      </p:sp>
      <p:sp>
        <p:nvSpPr>
          <p:cNvPr id="203" name="Text 200"/>
          <p:cNvSpPr/>
          <p:nvPr/>
        </p:nvSpPr>
        <p:spPr>
          <a:xfrm>
            <a:off x="742950" y="12544425"/>
            <a:ext cx="642938" cy="171450"/>
          </a:xfrm>
          <a:prstGeom prst="rect">
            <a:avLst/>
          </a:prstGeom>
          <a:noFill/>
          <a:ln/>
        </p:spPr>
        <p:txBody>
          <a:bodyPr wrap="none" lIns="0" tIns="0" rIns="0" bIns="0" rtlCol="0" anchor="ctr">
            <a:spAutoFit/>
          </a:bodyPr>
          <a:lstStyle/>
          <a:p>
            <a:pPr marL="0" indent="0" algn="r">
              <a:buNone/>
            </a:pPr>
            <a:r>
              <a:rPr lang="en-US" sz="900" dirty="0">
                <a:solidFill>
                  <a:srgbClr val="E2E8F0"/>
                </a:solidFill>
                <a:latin typeface="Segoe UI" pitchFamily="34" charset="0"/>
                <a:ea typeface="Segoe UI" pitchFamily="34" charset="-122"/>
                <a:cs typeface="Segoe UI" pitchFamily="34" charset="-120"/>
              </a:rPr>
              <a:t>i = 2:</a:t>
            </a:r>
            <a:endParaRPr lang="en-US" sz="900" dirty="0"/>
          </a:p>
        </p:txBody>
      </p:sp>
      <p:sp>
        <p:nvSpPr>
          <p:cNvPr id="204" name="Shape 201"/>
          <p:cNvSpPr/>
          <p:nvPr/>
        </p:nvSpPr>
        <p:spPr>
          <a:xfrm>
            <a:off x="1428750" y="12487275"/>
            <a:ext cx="285750" cy="285750"/>
          </a:xfrm>
          <a:prstGeom prst="rect">
            <a:avLst/>
          </a:prstGeom>
          <a:solidFill>
            <a:srgbClr val="065F46"/>
          </a:solidFill>
          <a:ln w="99">
            <a:solidFill>
              <a:srgbClr val="059669"/>
            </a:solidFill>
            <a:prstDash val="solid"/>
          </a:ln>
        </p:spPr>
        <p:txBody>
          <a:bodyPr/>
          <a:lstStyle/>
          <a:p>
            <a:endParaRPr lang="en-US"/>
          </a:p>
        </p:txBody>
      </p:sp>
      <p:sp>
        <p:nvSpPr>
          <p:cNvPr id="205" name="Text 202"/>
          <p:cNvSpPr/>
          <p:nvPr/>
        </p:nvSpPr>
        <p:spPr>
          <a:xfrm>
            <a:off x="1428750" y="124872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06" name="Text 203"/>
          <p:cNvSpPr/>
          <p:nvPr/>
        </p:nvSpPr>
        <p:spPr>
          <a:xfrm>
            <a:off x="742950" y="12887325"/>
            <a:ext cx="642938" cy="171450"/>
          </a:xfrm>
          <a:prstGeom prst="rect">
            <a:avLst/>
          </a:prstGeom>
          <a:noFill/>
          <a:ln/>
        </p:spPr>
        <p:txBody>
          <a:bodyPr wrap="none" lIns="0" tIns="0" rIns="0" bIns="0" rtlCol="0" anchor="ctr">
            <a:spAutoFit/>
          </a:bodyPr>
          <a:lstStyle/>
          <a:p>
            <a:pPr marL="0" indent="0" algn="r">
              <a:buNone/>
            </a:pPr>
            <a:r>
              <a:rPr lang="en-US" sz="900" dirty="0">
                <a:solidFill>
                  <a:srgbClr val="E2E8F0"/>
                </a:solidFill>
                <a:latin typeface="Segoe UI" pitchFamily="34" charset="0"/>
                <a:ea typeface="Segoe UI" pitchFamily="34" charset="-122"/>
                <a:cs typeface="Segoe UI" pitchFamily="34" charset="-120"/>
              </a:rPr>
              <a:t>i = 1:</a:t>
            </a:r>
            <a:endParaRPr lang="en-US" sz="900" dirty="0"/>
          </a:p>
        </p:txBody>
      </p:sp>
      <p:sp>
        <p:nvSpPr>
          <p:cNvPr id="207" name="Shape 204"/>
          <p:cNvSpPr/>
          <p:nvPr/>
        </p:nvSpPr>
        <p:spPr>
          <a:xfrm>
            <a:off x="1428750" y="12830175"/>
            <a:ext cx="285750" cy="285750"/>
          </a:xfrm>
          <a:prstGeom prst="rect">
            <a:avLst/>
          </a:prstGeom>
          <a:solidFill>
            <a:srgbClr val="065F46"/>
          </a:solidFill>
          <a:ln w="99">
            <a:solidFill>
              <a:srgbClr val="059669"/>
            </a:solidFill>
            <a:prstDash val="solid"/>
          </a:ln>
        </p:spPr>
        <p:txBody>
          <a:bodyPr/>
          <a:lstStyle/>
          <a:p>
            <a:endParaRPr lang="en-US"/>
          </a:p>
        </p:txBody>
      </p:sp>
      <p:sp>
        <p:nvSpPr>
          <p:cNvPr id="208" name="Text 205"/>
          <p:cNvSpPr/>
          <p:nvPr/>
        </p:nvSpPr>
        <p:spPr>
          <a:xfrm>
            <a:off x="1428750" y="128301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09" name="Shape 206"/>
          <p:cNvSpPr/>
          <p:nvPr/>
        </p:nvSpPr>
        <p:spPr>
          <a:xfrm>
            <a:off x="1714500" y="12830175"/>
            <a:ext cx="285750" cy="285750"/>
          </a:xfrm>
          <a:prstGeom prst="rect">
            <a:avLst/>
          </a:prstGeom>
          <a:solidFill>
            <a:srgbClr val="065F46"/>
          </a:solidFill>
          <a:ln w="99">
            <a:solidFill>
              <a:srgbClr val="059669"/>
            </a:solidFill>
            <a:prstDash val="solid"/>
          </a:ln>
        </p:spPr>
        <p:txBody>
          <a:bodyPr/>
          <a:lstStyle/>
          <a:p>
            <a:endParaRPr lang="en-US"/>
          </a:p>
        </p:txBody>
      </p:sp>
      <p:sp>
        <p:nvSpPr>
          <p:cNvPr id="210" name="Text 207"/>
          <p:cNvSpPr/>
          <p:nvPr/>
        </p:nvSpPr>
        <p:spPr>
          <a:xfrm>
            <a:off x="1714500" y="128301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11" name="Text 208"/>
          <p:cNvSpPr/>
          <p:nvPr/>
        </p:nvSpPr>
        <p:spPr>
          <a:xfrm>
            <a:off x="742950" y="13230225"/>
            <a:ext cx="642938" cy="171450"/>
          </a:xfrm>
          <a:prstGeom prst="rect">
            <a:avLst/>
          </a:prstGeom>
          <a:noFill/>
          <a:ln/>
        </p:spPr>
        <p:txBody>
          <a:bodyPr wrap="none" lIns="0" tIns="0" rIns="0" bIns="0" rtlCol="0" anchor="ctr">
            <a:spAutoFit/>
          </a:bodyPr>
          <a:lstStyle/>
          <a:p>
            <a:pPr marL="0" indent="0" algn="r">
              <a:buNone/>
            </a:pPr>
            <a:r>
              <a:rPr lang="en-US" sz="900" dirty="0">
                <a:solidFill>
                  <a:srgbClr val="E2E8F0"/>
                </a:solidFill>
                <a:latin typeface="Segoe UI" pitchFamily="34" charset="0"/>
                <a:ea typeface="Segoe UI" pitchFamily="34" charset="-122"/>
                <a:cs typeface="Segoe UI" pitchFamily="34" charset="-120"/>
              </a:rPr>
              <a:t>i = 0:</a:t>
            </a:r>
            <a:endParaRPr lang="en-US" sz="900" dirty="0"/>
          </a:p>
        </p:txBody>
      </p:sp>
      <p:sp>
        <p:nvSpPr>
          <p:cNvPr id="212" name="Shape 209"/>
          <p:cNvSpPr/>
          <p:nvPr/>
        </p:nvSpPr>
        <p:spPr>
          <a:xfrm>
            <a:off x="1428750" y="13173075"/>
            <a:ext cx="285750" cy="285750"/>
          </a:xfrm>
          <a:prstGeom prst="rect">
            <a:avLst/>
          </a:prstGeom>
          <a:solidFill>
            <a:srgbClr val="065F46"/>
          </a:solidFill>
          <a:ln w="99">
            <a:solidFill>
              <a:srgbClr val="059669"/>
            </a:solidFill>
            <a:prstDash val="solid"/>
          </a:ln>
        </p:spPr>
        <p:txBody>
          <a:bodyPr/>
          <a:lstStyle/>
          <a:p>
            <a:endParaRPr lang="en-US"/>
          </a:p>
        </p:txBody>
      </p:sp>
      <p:sp>
        <p:nvSpPr>
          <p:cNvPr id="213" name="Text 210"/>
          <p:cNvSpPr/>
          <p:nvPr/>
        </p:nvSpPr>
        <p:spPr>
          <a:xfrm>
            <a:off x="1428750" y="131730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14" name="Shape 211"/>
          <p:cNvSpPr/>
          <p:nvPr/>
        </p:nvSpPr>
        <p:spPr>
          <a:xfrm>
            <a:off x="1714500" y="13173075"/>
            <a:ext cx="285750" cy="285750"/>
          </a:xfrm>
          <a:prstGeom prst="rect">
            <a:avLst/>
          </a:prstGeom>
          <a:solidFill>
            <a:srgbClr val="065F46"/>
          </a:solidFill>
          <a:ln w="99">
            <a:solidFill>
              <a:srgbClr val="059669"/>
            </a:solidFill>
            <a:prstDash val="solid"/>
          </a:ln>
        </p:spPr>
        <p:txBody>
          <a:bodyPr/>
          <a:lstStyle/>
          <a:p>
            <a:endParaRPr lang="en-US"/>
          </a:p>
        </p:txBody>
      </p:sp>
      <p:sp>
        <p:nvSpPr>
          <p:cNvPr id="215" name="Text 212"/>
          <p:cNvSpPr/>
          <p:nvPr/>
        </p:nvSpPr>
        <p:spPr>
          <a:xfrm>
            <a:off x="1714500" y="131730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16" name="Shape 213"/>
          <p:cNvSpPr/>
          <p:nvPr/>
        </p:nvSpPr>
        <p:spPr>
          <a:xfrm>
            <a:off x="2000250" y="13173075"/>
            <a:ext cx="285750" cy="285750"/>
          </a:xfrm>
          <a:prstGeom prst="rect">
            <a:avLst/>
          </a:prstGeom>
          <a:solidFill>
            <a:srgbClr val="065F46"/>
          </a:solidFill>
          <a:ln w="99">
            <a:solidFill>
              <a:srgbClr val="059669"/>
            </a:solidFill>
            <a:prstDash val="solid"/>
          </a:ln>
        </p:spPr>
        <p:txBody>
          <a:bodyPr/>
          <a:lstStyle/>
          <a:p>
            <a:endParaRPr lang="en-US"/>
          </a:p>
        </p:txBody>
      </p:sp>
      <p:sp>
        <p:nvSpPr>
          <p:cNvPr id="217" name="Text 214"/>
          <p:cNvSpPr/>
          <p:nvPr/>
        </p:nvSpPr>
        <p:spPr>
          <a:xfrm>
            <a:off x="2000250" y="13173075"/>
            <a:ext cx="357188" cy="285750"/>
          </a:xfrm>
          <a:prstGeom prst="rect">
            <a:avLst/>
          </a:prstGeom>
          <a:noFill/>
          <a:ln/>
        </p:spPr>
        <p:txBody>
          <a:bodyPr wrap="non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18" name="Shape 215"/>
          <p:cNvSpPr/>
          <p:nvPr/>
        </p:nvSpPr>
        <p:spPr>
          <a:xfrm>
            <a:off x="4657725" y="8943975"/>
            <a:ext cx="3857625" cy="2993231"/>
          </a:xfrm>
          <a:prstGeom prst="rect">
            <a:avLst/>
          </a:prstGeom>
          <a:solidFill>
            <a:srgbClr val="1E3A8A">
              <a:alpha val="30000"/>
            </a:srgbClr>
          </a:solidFill>
          <a:ln/>
        </p:spPr>
        <p:txBody>
          <a:bodyPr/>
          <a:lstStyle/>
          <a:p>
            <a:endParaRPr lang="en-US"/>
          </a:p>
        </p:txBody>
      </p:sp>
      <p:sp>
        <p:nvSpPr>
          <p:cNvPr id="219" name="Shape 216"/>
          <p:cNvSpPr/>
          <p:nvPr/>
        </p:nvSpPr>
        <p:spPr>
          <a:xfrm>
            <a:off x="4657725" y="8943975"/>
            <a:ext cx="28575" cy="2993231"/>
          </a:xfrm>
          <a:prstGeom prst="rect">
            <a:avLst/>
          </a:prstGeom>
          <a:solidFill>
            <a:srgbClr val="63B3ED"/>
          </a:solidFill>
          <a:ln/>
        </p:spPr>
        <p:txBody>
          <a:bodyPr/>
          <a:lstStyle/>
          <a:p>
            <a:endParaRPr lang="en-US"/>
          </a:p>
        </p:txBody>
      </p:sp>
      <p:sp>
        <p:nvSpPr>
          <p:cNvPr id="220" name="Text 217"/>
          <p:cNvSpPr/>
          <p:nvPr/>
        </p:nvSpPr>
        <p:spPr>
          <a:xfrm>
            <a:off x="4772025" y="9029700"/>
            <a:ext cx="38147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221" name="Shape 218"/>
          <p:cNvSpPr/>
          <p:nvPr/>
        </p:nvSpPr>
        <p:spPr>
          <a:xfrm>
            <a:off x="4772025" y="9258300"/>
            <a:ext cx="3743325" cy="2593181"/>
          </a:xfrm>
          <a:prstGeom prst="rect">
            <a:avLst/>
          </a:prstGeom>
          <a:solidFill>
            <a:srgbClr val="1E3A8A">
              <a:alpha val="20000"/>
            </a:srgbClr>
          </a:solidFill>
          <a:ln/>
        </p:spPr>
        <p:txBody>
          <a:bodyPr/>
          <a:lstStyle/>
          <a:p>
            <a:endParaRPr lang="en-US"/>
          </a:p>
        </p:txBody>
      </p:sp>
      <p:sp>
        <p:nvSpPr>
          <p:cNvPr id="222" name="Text 219"/>
          <p:cNvSpPr/>
          <p:nvPr/>
        </p:nvSpPr>
        <p:spPr>
          <a:xfrm>
            <a:off x="4772025" y="9258300"/>
            <a:ext cx="493030"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223" name="Text 220"/>
          <p:cNvSpPr/>
          <p:nvPr/>
        </p:nvSpPr>
        <p:spPr>
          <a:xfrm>
            <a:off x="5193618" y="9258300"/>
            <a:ext cx="478185"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Line</a:t>
            </a:r>
            <a:endParaRPr lang="en-US" sz="900" dirty="0"/>
          </a:p>
        </p:txBody>
      </p:sp>
      <p:sp>
        <p:nvSpPr>
          <p:cNvPr id="224" name="Text 221"/>
          <p:cNvSpPr/>
          <p:nvPr/>
        </p:nvSpPr>
        <p:spPr>
          <a:xfrm>
            <a:off x="5600365" y="9258300"/>
            <a:ext cx="322920"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a:t>
            </a:r>
            <a:endParaRPr lang="en-US" sz="900" dirty="0"/>
          </a:p>
        </p:txBody>
      </p:sp>
      <p:sp>
        <p:nvSpPr>
          <p:cNvPr id="225" name="Text 222"/>
          <p:cNvSpPr/>
          <p:nvPr/>
        </p:nvSpPr>
        <p:spPr>
          <a:xfrm>
            <a:off x="5851847" y="9258300"/>
            <a:ext cx="507848"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arr[i]</a:t>
            </a:r>
            <a:endParaRPr lang="en-US" sz="900" dirty="0"/>
          </a:p>
        </p:txBody>
      </p:sp>
      <p:sp>
        <p:nvSpPr>
          <p:cNvPr id="226" name="Text 223"/>
          <p:cNvSpPr/>
          <p:nvPr/>
        </p:nvSpPr>
        <p:spPr>
          <a:xfrm>
            <a:off x="6288258" y="9258300"/>
            <a:ext cx="574597"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result</a:t>
            </a:r>
            <a:endParaRPr lang="en-US" sz="900" dirty="0"/>
          </a:p>
        </p:txBody>
      </p:sp>
      <p:sp>
        <p:nvSpPr>
          <p:cNvPr id="227" name="Text 224"/>
          <p:cNvSpPr/>
          <p:nvPr/>
        </p:nvSpPr>
        <p:spPr>
          <a:xfrm>
            <a:off x="6791418" y="9258300"/>
            <a:ext cx="1795369" cy="232172"/>
          </a:xfrm>
          <a:prstGeom prst="rect">
            <a:avLst/>
          </a:prstGeom>
          <a:noFill/>
          <a:ln/>
        </p:spPr>
        <p:txBody>
          <a:bodyPr wrap="squar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Notes</a:t>
            </a:r>
            <a:endParaRPr lang="en-US" sz="900" dirty="0"/>
          </a:p>
        </p:txBody>
      </p:sp>
      <p:sp>
        <p:nvSpPr>
          <p:cNvPr id="228" name="Text 225"/>
          <p:cNvSpPr/>
          <p:nvPr/>
        </p:nvSpPr>
        <p:spPr>
          <a:xfrm>
            <a:off x="4772025" y="9490472"/>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29" name="Text 226"/>
          <p:cNvSpPr/>
          <p:nvPr/>
        </p:nvSpPr>
        <p:spPr>
          <a:xfrm>
            <a:off x="5193618" y="9490472"/>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30" name="Text 227"/>
          <p:cNvSpPr/>
          <p:nvPr/>
        </p:nvSpPr>
        <p:spPr>
          <a:xfrm>
            <a:off x="5600365" y="9490472"/>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1" name="Text 228"/>
          <p:cNvSpPr/>
          <p:nvPr/>
        </p:nvSpPr>
        <p:spPr>
          <a:xfrm>
            <a:off x="5851847" y="9490472"/>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2" name="Text 229"/>
          <p:cNvSpPr/>
          <p:nvPr/>
        </p:nvSpPr>
        <p:spPr>
          <a:xfrm>
            <a:off x="6288258" y="9490472"/>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3" name="Text 230"/>
          <p:cNvSpPr/>
          <p:nvPr/>
        </p:nvSpPr>
        <p:spPr>
          <a:xfrm>
            <a:off x="6791418" y="9490472"/>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Function called with [1,2,3]</a:t>
            </a:r>
            <a:endParaRPr lang="en-US" sz="900" dirty="0"/>
          </a:p>
        </p:txBody>
      </p:sp>
      <p:sp>
        <p:nvSpPr>
          <p:cNvPr id="234" name="Text 231"/>
          <p:cNvSpPr/>
          <p:nvPr/>
        </p:nvSpPr>
        <p:spPr>
          <a:xfrm>
            <a:off x="4772025" y="9726216"/>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35" name="Text 232"/>
          <p:cNvSpPr/>
          <p:nvPr/>
        </p:nvSpPr>
        <p:spPr>
          <a:xfrm>
            <a:off x="5193618" y="9726216"/>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36" name="Text 233"/>
          <p:cNvSpPr/>
          <p:nvPr/>
        </p:nvSpPr>
        <p:spPr>
          <a:xfrm>
            <a:off x="5600365" y="9726216"/>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7" name="Text 234"/>
          <p:cNvSpPr/>
          <p:nvPr/>
        </p:nvSpPr>
        <p:spPr>
          <a:xfrm>
            <a:off x="5851847" y="9726216"/>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8" name="Text 235"/>
          <p:cNvSpPr/>
          <p:nvPr/>
        </p:nvSpPr>
        <p:spPr>
          <a:xfrm>
            <a:off x="6288258" y="9726216"/>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9" name="Text 236"/>
          <p:cNvSpPr/>
          <p:nvPr/>
        </p:nvSpPr>
        <p:spPr>
          <a:xfrm>
            <a:off x="6791418" y="9726216"/>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empty result array</a:t>
            </a:r>
            <a:endParaRPr lang="en-US" sz="900" dirty="0"/>
          </a:p>
        </p:txBody>
      </p:sp>
      <p:sp>
        <p:nvSpPr>
          <p:cNvPr id="240" name="Text 237"/>
          <p:cNvSpPr/>
          <p:nvPr/>
        </p:nvSpPr>
        <p:spPr>
          <a:xfrm>
            <a:off x="4772025" y="9961959"/>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41" name="Text 238"/>
          <p:cNvSpPr/>
          <p:nvPr/>
        </p:nvSpPr>
        <p:spPr>
          <a:xfrm>
            <a:off x="5193618" y="9961959"/>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42" name="Text 239"/>
          <p:cNvSpPr/>
          <p:nvPr/>
        </p:nvSpPr>
        <p:spPr>
          <a:xfrm>
            <a:off x="5600365" y="9961959"/>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43" name="Text 240"/>
          <p:cNvSpPr/>
          <p:nvPr/>
        </p:nvSpPr>
        <p:spPr>
          <a:xfrm>
            <a:off x="5851847" y="9961959"/>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44" name="Text 241"/>
          <p:cNvSpPr/>
          <p:nvPr/>
        </p:nvSpPr>
        <p:spPr>
          <a:xfrm>
            <a:off x="6288258" y="9961959"/>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45" name="Text 242"/>
          <p:cNvSpPr/>
          <p:nvPr/>
        </p:nvSpPr>
        <p:spPr>
          <a:xfrm>
            <a:off x="6791418" y="9961959"/>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Initialize loop with i=2</a:t>
            </a:r>
            <a:endParaRPr lang="en-US" sz="900" dirty="0"/>
          </a:p>
        </p:txBody>
      </p:sp>
      <p:sp>
        <p:nvSpPr>
          <p:cNvPr id="246" name="Text 243"/>
          <p:cNvSpPr/>
          <p:nvPr/>
        </p:nvSpPr>
        <p:spPr>
          <a:xfrm>
            <a:off x="4772025" y="10197703"/>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247" name="Text 244"/>
          <p:cNvSpPr/>
          <p:nvPr/>
        </p:nvSpPr>
        <p:spPr>
          <a:xfrm>
            <a:off x="5193618" y="10197703"/>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248" name="Text 245"/>
          <p:cNvSpPr/>
          <p:nvPr/>
        </p:nvSpPr>
        <p:spPr>
          <a:xfrm>
            <a:off x="5600365" y="10197703"/>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49" name="Text 246"/>
          <p:cNvSpPr/>
          <p:nvPr/>
        </p:nvSpPr>
        <p:spPr>
          <a:xfrm>
            <a:off x="5851847" y="10197703"/>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50" name="Text 247"/>
          <p:cNvSpPr/>
          <p:nvPr/>
        </p:nvSpPr>
        <p:spPr>
          <a:xfrm>
            <a:off x="6288258" y="10197703"/>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51" name="Text 248"/>
          <p:cNvSpPr/>
          <p:nvPr/>
        </p:nvSpPr>
        <p:spPr>
          <a:xfrm>
            <a:off x="6791418" y="10197703"/>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Push arr[2] to result</a:t>
            </a:r>
            <a:endParaRPr lang="en-US" sz="900" dirty="0"/>
          </a:p>
        </p:txBody>
      </p:sp>
      <p:sp>
        <p:nvSpPr>
          <p:cNvPr id="252" name="Text 249"/>
          <p:cNvSpPr/>
          <p:nvPr/>
        </p:nvSpPr>
        <p:spPr>
          <a:xfrm>
            <a:off x="4772025" y="10433447"/>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253" name="Text 250"/>
          <p:cNvSpPr/>
          <p:nvPr/>
        </p:nvSpPr>
        <p:spPr>
          <a:xfrm>
            <a:off x="5193618" y="10433447"/>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54" name="Text 251"/>
          <p:cNvSpPr/>
          <p:nvPr/>
        </p:nvSpPr>
        <p:spPr>
          <a:xfrm>
            <a:off x="5600365" y="10433447"/>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55" name="Text 252"/>
          <p:cNvSpPr/>
          <p:nvPr/>
        </p:nvSpPr>
        <p:spPr>
          <a:xfrm>
            <a:off x="5851847" y="10433447"/>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56" name="Text 253"/>
          <p:cNvSpPr/>
          <p:nvPr/>
        </p:nvSpPr>
        <p:spPr>
          <a:xfrm>
            <a:off x="6288258" y="10433447"/>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57" name="Text 254"/>
          <p:cNvSpPr/>
          <p:nvPr/>
        </p:nvSpPr>
        <p:spPr>
          <a:xfrm>
            <a:off x="6791418" y="10433447"/>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Decrement i to 1</a:t>
            </a:r>
            <a:endParaRPr lang="en-US" sz="900" dirty="0"/>
          </a:p>
        </p:txBody>
      </p:sp>
      <p:sp>
        <p:nvSpPr>
          <p:cNvPr id="258" name="Text 255"/>
          <p:cNvSpPr/>
          <p:nvPr/>
        </p:nvSpPr>
        <p:spPr>
          <a:xfrm>
            <a:off x="4772025" y="10669191"/>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259" name="Text 256"/>
          <p:cNvSpPr/>
          <p:nvPr/>
        </p:nvSpPr>
        <p:spPr>
          <a:xfrm>
            <a:off x="5193618" y="10669191"/>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260" name="Text 257"/>
          <p:cNvSpPr/>
          <p:nvPr/>
        </p:nvSpPr>
        <p:spPr>
          <a:xfrm>
            <a:off x="5600365" y="10669191"/>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61" name="Text 258"/>
          <p:cNvSpPr/>
          <p:nvPr/>
        </p:nvSpPr>
        <p:spPr>
          <a:xfrm>
            <a:off x="5851847" y="10669191"/>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62" name="Text 259"/>
          <p:cNvSpPr/>
          <p:nvPr/>
        </p:nvSpPr>
        <p:spPr>
          <a:xfrm>
            <a:off x="6288258" y="10669191"/>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[3,2]</a:t>
            </a:r>
            <a:endParaRPr lang="en-US" sz="900" dirty="0"/>
          </a:p>
        </p:txBody>
      </p:sp>
      <p:sp>
        <p:nvSpPr>
          <p:cNvPr id="263" name="Text 260"/>
          <p:cNvSpPr/>
          <p:nvPr/>
        </p:nvSpPr>
        <p:spPr>
          <a:xfrm>
            <a:off x="6791418" y="10669191"/>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Push arr[1] to result</a:t>
            </a:r>
            <a:endParaRPr lang="en-US" sz="900" dirty="0"/>
          </a:p>
        </p:txBody>
      </p:sp>
      <p:sp>
        <p:nvSpPr>
          <p:cNvPr id="264" name="Text 261"/>
          <p:cNvSpPr/>
          <p:nvPr/>
        </p:nvSpPr>
        <p:spPr>
          <a:xfrm>
            <a:off x="4772025" y="10904934"/>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7</a:t>
            </a:r>
            <a:endParaRPr lang="en-US" sz="900" dirty="0"/>
          </a:p>
        </p:txBody>
      </p:sp>
      <p:sp>
        <p:nvSpPr>
          <p:cNvPr id="265" name="Text 262"/>
          <p:cNvSpPr/>
          <p:nvPr/>
        </p:nvSpPr>
        <p:spPr>
          <a:xfrm>
            <a:off x="5193618" y="10904934"/>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66" name="Text 263"/>
          <p:cNvSpPr/>
          <p:nvPr/>
        </p:nvSpPr>
        <p:spPr>
          <a:xfrm>
            <a:off x="5600365" y="10904934"/>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267" name="Text 264"/>
          <p:cNvSpPr/>
          <p:nvPr/>
        </p:nvSpPr>
        <p:spPr>
          <a:xfrm>
            <a:off x="5851847" y="10904934"/>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68" name="Text 265"/>
          <p:cNvSpPr/>
          <p:nvPr/>
        </p:nvSpPr>
        <p:spPr>
          <a:xfrm>
            <a:off x="6288258" y="10904934"/>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[3,2]</a:t>
            </a:r>
            <a:endParaRPr lang="en-US" sz="900" dirty="0"/>
          </a:p>
        </p:txBody>
      </p:sp>
      <p:sp>
        <p:nvSpPr>
          <p:cNvPr id="269" name="Text 266"/>
          <p:cNvSpPr/>
          <p:nvPr/>
        </p:nvSpPr>
        <p:spPr>
          <a:xfrm>
            <a:off x="6791418" y="10904934"/>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Decrement i to 0</a:t>
            </a:r>
            <a:endParaRPr lang="en-US" sz="900" dirty="0"/>
          </a:p>
        </p:txBody>
      </p:sp>
      <p:sp>
        <p:nvSpPr>
          <p:cNvPr id="270" name="Text 267"/>
          <p:cNvSpPr/>
          <p:nvPr/>
        </p:nvSpPr>
        <p:spPr>
          <a:xfrm>
            <a:off x="4772025" y="11140678"/>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271" name="Text 268"/>
          <p:cNvSpPr/>
          <p:nvPr/>
        </p:nvSpPr>
        <p:spPr>
          <a:xfrm>
            <a:off x="5193618" y="11140678"/>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272" name="Text 269"/>
          <p:cNvSpPr/>
          <p:nvPr/>
        </p:nvSpPr>
        <p:spPr>
          <a:xfrm>
            <a:off x="5600365" y="11140678"/>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273" name="Text 270"/>
          <p:cNvSpPr/>
          <p:nvPr/>
        </p:nvSpPr>
        <p:spPr>
          <a:xfrm>
            <a:off x="5851847" y="11140678"/>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74" name="Text 271"/>
          <p:cNvSpPr/>
          <p:nvPr/>
        </p:nvSpPr>
        <p:spPr>
          <a:xfrm>
            <a:off x="6288258" y="11140678"/>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[3,2,1]</a:t>
            </a:r>
            <a:endParaRPr lang="en-US" sz="900" dirty="0"/>
          </a:p>
        </p:txBody>
      </p:sp>
      <p:sp>
        <p:nvSpPr>
          <p:cNvPr id="275" name="Text 272"/>
          <p:cNvSpPr/>
          <p:nvPr/>
        </p:nvSpPr>
        <p:spPr>
          <a:xfrm>
            <a:off x="6791418" y="11140678"/>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Push arr[0] to result</a:t>
            </a:r>
            <a:endParaRPr lang="en-US" sz="900" dirty="0"/>
          </a:p>
        </p:txBody>
      </p:sp>
      <p:sp>
        <p:nvSpPr>
          <p:cNvPr id="276" name="Text 273"/>
          <p:cNvSpPr/>
          <p:nvPr/>
        </p:nvSpPr>
        <p:spPr>
          <a:xfrm>
            <a:off x="4772025" y="11376422"/>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9</a:t>
            </a:r>
            <a:endParaRPr lang="en-US" sz="900" dirty="0"/>
          </a:p>
        </p:txBody>
      </p:sp>
      <p:sp>
        <p:nvSpPr>
          <p:cNvPr id="277" name="Text 274"/>
          <p:cNvSpPr/>
          <p:nvPr/>
        </p:nvSpPr>
        <p:spPr>
          <a:xfrm>
            <a:off x="5193618" y="11376422"/>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78" name="Text 275"/>
          <p:cNvSpPr/>
          <p:nvPr/>
        </p:nvSpPr>
        <p:spPr>
          <a:xfrm>
            <a:off x="5600365" y="11376422"/>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79" name="Text 276"/>
          <p:cNvSpPr/>
          <p:nvPr/>
        </p:nvSpPr>
        <p:spPr>
          <a:xfrm>
            <a:off x="5851847" y="11376422"/>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80" name="Text 277"/>
          <p:cNvSpPr/>
          <p:nvPr/>
        </p:nvSpPr>
        <p:spPr>
          <a:xfrm>
            <a:off x="6288258" y="11376422"/>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[3,2,1]</a:t>
            </a:r>
            <a:endParaRPr lang="en-US" sz="900" dirty="0"/>
          </a:p>
        </p:txBody>
      </p:sp>
      <p:sp>
        <p:nvSpPr>
          <p:cNvPr id="281" name="Text 278"/>
          <p:cNvSpPr/>
          <p:nvPr/>
        </p:nvSpPr>
        <p:spPr>
          <a:xfrm>
            <a:off x="6791418" y="11376422"/>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Decrement i to -1, exit loop</a:t>
            </a:r>
            <a:endParaRPr lang="en-US" sz="900" dirty="0"/>
          </a:p>
        </p:txBody>
      </p:sp>
      <p:sp>
        <p:nvSpPr>
          <p:cNvPr id="282" name="Text 279"/>
          <p:cNvSpPr/>
          <p:nvPr/>
        </p:nvSpPr>
        <p:spPr>
          <a:xfrm>
            <a:off x="4772025" y="11612166"/>
            <a:ext cx="49303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10</a:t>
            </a:r>
            <a:endParaRPr lang="en-US" sz="900" dirty="0"/>
          </a:p>
        </p:txBody>
      </p:sp>
      <p:sp>
        <p:nvSpPr>
          <p:cNvPr id="283" name="Text 280"/>
          <p:cNvSpPr/>
          <p:nvPr/>
        </p:nvSpPr>
        <p:spPr>
          <a:xfrm>
            <a:off x="5193618" y="11612166"/>
            <a:ext cx="478185"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284" name="Text 281"/>
          <p:cNvSpPr/>
          <p:nvPr/>
        </p:nvSpPr>
        <p:spPr>
          <a:xfrm>
            <a:off x="5600365" y="11612166"/>
            <a:ext cx="322920"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85" name="Text 282"/>
          <p:cNvSpPr/>
          <p:nvPr/>
        </p:nvSpPr>
        <p:spPr>
          <a:xfrm>
            <a:off x="5851847" y="11612166"/>
            <a:ext cx="50784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86" name="Text 283"/>
          <p:cNvSpPr/>
          <p:nvPr/>
        </p:nvSpPr>
        <p:spPr>
          <a:xfrm>
            <a:off x="6288258" y="11612166"/>
            <a:ext cx="57459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[3,2,1]</a:t>
            </a:r>
            <a:endParaRPr lang="en-US" sz="900" dirty="0"/>
          </a:p>
        </p:txBody>
      </p:sp>
      <p:sp>
        <p:nvSpPr>
          <p:cNvPr id="287" name="Text 284"/>
          <p:cNvSpPr/>
          <p:nvPr/>
        </p:nvSpPr>
        <p:spPr>
          <a:xfrm>
            <a:off x="6791418" y="11612166"/>
            <a:ext cx="1795369"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Return result = [3,2,1]</a:t>
            </a:r>
            <a:endParaRPr lang="en-US" sz="900" dirty="0"/>
          </a:p>
        </p:txBody>
      </p:sp>
      <p:sp>
        <p:nvSpPr>
          <p:cNvPr id="288" name="Shape 285"/>
          <p:cNvSpPr/>
          <p:nvPr/>
        </p:nvSpPr>
        <p:spPr>
          <a:xfrm>
            <a:off x="4657725" y="12108656"/>
            <a:ext cx="3857625" cy="1114425"/>
          </a:xfrm>
          <a:prstGeom prst="rect">
            <a:avLst/>
          </a:prstGeom>
          <a:solidFill>
            <a:srgbClr val="1E40AF">
              <a:alpha val="30000"/>
            </a:srgbClr>
          </a:solidFill>
          <a:ln/>
        </p:spPr>
        <p:txBody>
          <a:bodyPr/>
          <a:lstStyle/>
          <a:p>
            <a:endParaRPr lang="en-US"/>
          </a:p>
        </p:txBody>
      </p:sp>
      <p:pic>
        <p:nvPicPr>
          <p:cNvPr id="289" name="Image 1" descr="preencoded.png"/>
          <p:cNvPicPr>
            <a:picLocks noChangeAspect="1"/>
          </p:cNvPicPr>
          <p:nvPr/>
        </p:nvPicPr>
        <p:blipFill>
          <a:blip r:embed="rId4"/>
          <a:stretch>
            <a:fillRect/>
          </a:stretch>
        </p:blipFill>
        <p:spPr>
          <a:xfrm>
            <a:off x="4772025" y="12580144"/>
            <a:ext cx="128588" cy="171450"/>
          </a:xfrm>
          <a:prstGeom prst="rect">
            <a:avLst/>
          </a:prstGeom>
        </p:spPr>
      </p:pic>
      <p:sp>
        <p:nvSpPr>
          <p:cNvPr id="290" name="Text 286"/>
          <p:cNvSpPr/>
          <p:nvPr/>
        </p:nvSpPr>
        <p:spPr>
          <a:xfrm>
            <a:off x="5014913" y="12222956"/>
            <a:ext cx="312315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Key Insights from Dry Run</a:t>
            </a:r>
            <a:endParaRPr lang="en-US" sz="1125" dirty="0"/>
          </a:p>
        </p:txBody>
      </p:sp>
      <p:sp>
        <p:nvSpPr>
          <p:cNvPr id="291" name="Text 287"/>
          <p:cNvSpPr/>
          <p:nvPr/>
        </p:nvSpPr>
        <p:spPr>
          <a:xfrm>
            <a:off x="5014913" y="12451556"/>
            <a:ext cx="312315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Dry running helps visualize array operations step by step</a:t>
            </a:r>
            <a:endParaRPr lang="en-US" sz="788" dirty="0"/>
          </a:p>
        </p:txBody>
      </p:sp>
      <p:sp>
        <p:nvSpPr>
          <p:cNvPr id="292" name="Text 288"/>
          <p:cNvSpPr/>
          <p:nvPr/>
        </p:nvSpPr>
        <p:spPr>
          <a:xfrm>
            <a:off x="5014913" y="12623006"/>
            <a:ext cx="312315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Tracking loop variables and array indices prevents off-by-one errors</a:t>
            </a:r>
            <a:endParaRPr lang="en-US" sz="788" dirty="0"/>
          </a:p>
        </p:txBody>
      </p:sp>
      <p:sp>
        <p:nvSpPr>
          <p:cNvPr id="293" name="Text 289"/>
          <p:cNvSpPr/>
          <p:nvPr/>
        </p:nvSpPr>
        <p:spPr>
          <a:xfrm>
            <a:off x="5014913" y="12794456"/>
            <a:ext cx="312315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Helps understand how arrays are built or modified during execution</a:t>
            </a:r>
            <a:endParaRPr lang="en-US" sz="788" dirty="0"/>
          </a:p>
        </p:txBody>
      </p:sp>
      <p:sp>
        <p:nvSpPr>
          <p:cNvPr id="294" name="Text 290"/>
          <p:cNvSpPr/>
          <p:nvPr/>
        </p:nvSpPr>
        <p:spPr>
          <a:xfrm>
            <a:off x="5014913" y="12965906"/>
            <a:ext cx="312315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Reveals the exact sequence of operations in array manipulations</a:t>
            </a:r>
            <a:endParaRPr lang="en-US" sz="78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7195006"/>
          </a:xfrm>
          <a:prstGeom prst="rect">
            <a:avLst/>
          </a:prstGeom>
        </p:spPr>
      </p:pic>
      <p:sp>
        <p:nvSpPr>
          <p:cNvPr id="3" name="Text 0"/>
          <p:cNvSpPr/>
          <p:nvPr/>
        </p:nvSpPr>
        <p:spPr>
          <a:xfrm>
            <a:off x="457200" y="455414"/>
            <a:ext cx="1071646"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Dry Run</a:t>
            </a:r>
            <a:endParaRPr lang="en-US" sz="2025" dirty="0"/>
          </a:p>
        </p:txBody>
      </p:sp>
      <p:sp>
        <p:nvSpPr>
          <p:cNvPr id="4" name="Text 1"/>
          <p:cNvSpPr/>
          <p:nvPr/>
        </p:nvSpPr>
        <p:spPr>
          <a:xfrm>
            <a:off x="1457409" y="455414"/>
            <a:ext cx="3887763"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Examples: Complex Scenarios</a:t>
            </a:r>
            <a:endParaRPr lang="en-US" sz="2025" dirty="0"/>
          </a:p>
        </p:txBody>
      </p:sp>
      <p:sp>
        <p:nvSpPr>
          <p:cNvPr id="5" name="Shape 2"/>
          <p:cNvSpPr/>
          <p:nvPr/>
        </p:nvSpPr>
        <p:spPr>
          <a:xfrm>
            <a:off x="457200" y="971550"/>
            <a:ext cx="4000500" cy="55578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1: Nested Loops</a:t>
            </a:r>
            <a:endParaRPr lang="en-US" sz="1350" dirty="0"/>
          </a:p>
        </p:txBody>
      </p:sp>
      <p:sp>
        <p:nvSpPr>
          <p:cNvPr id="7" name="Shape 4"/>
          <p:cNvSpPr/>
          <p:nvPr/>
        </p:nvSpPr>
        <p:spPr>
          <a:xfrm>
            <a:off x="628650" y="1485900"/>
            <a:ext cx="3657600" cy="254317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2543175"/>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0" name="Shape 7"/>
          <p:cNvSpPr/>
          <p:nvPr/>
        </p:nvSpPr>
        <p:spPr>
          <a:xfrm>
            <a:off x="742950" y="1857375"/>
            <a:ext cx="3543300" cy="2085975"/>
          </a:xfrm>
          <a:prstGeom prst="rect">
            <a:avLst/>
          </a:prstGeom>
          <a:solidFill>
            <a:srgbClr val="1A202C"/>
          </a:solidFill>
          <a:ln/>
        </p:spPr>
        <p:txBody>
          <a:bodyPr/>
          <a:lstStyle/>
          <a:p>
            <a:endParaRPr lang="en-US"/>
          </a:p>
        </p:txBody>
      </p:sp>
      <p:sp>
        <p:nvSpPr>
          <p:cNvPr id="11" name="Text 8"/>
          <p:cNvSpPr/>
          <p:nvPr/>
        </p:nvSpPr>
        <p:spPr>
          <a:xfrm>
            <a:off x="857250" y="197524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2" name="Text 9"/>
          <p:cNvSpPr/>
          <p:nvPr/>
        </p:nvSpPr>
        <p:spPr>
          <a:xfrm>
            <a:off x="1337332" y="1975247"/>
            <a:ext cx="157162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multiplicationTable(n) {</a:t>
            </a:r>
            <a:endParaRPr lang="en-US" sz="788" dirty="0"/>
          </a:p>
        </p:txBody>
      </p:sp>
      <p:sp>
        <p:nvSpPr>
          <p:cNvPr id="13" name="Text 10"/>
          <p:cNvSpPr/>
          <p:nvPr/>
        </p:nvSpPr>
        <p:spPr>
          <a:xfrm>
            <a:off x="977271" y="2118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4" name="Text 11"/>
          <p:cNvSpPr/>
          <p:nvPr/>
        </p:nvSpPr>
        <p:spPr>
          <a:xfrm>
            <a:off x="1157315" y="2118122"/>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 = [];</a:t>
            </a:r>
            <a:endParaRPr lang="en-US" sz="788" dirty="0"/>
          </a:p>
        </p:txBody>
      </p:sp>
      <p:sp>
        <p:nvSpPr>
          <p:cNvPr id="15" name="Text 12"/>
          <p:cNvSpPr/>
          <p:nvPr/>
        </p:nvSpPr>
        <p:spPr>
          <a:xfrm>
            <a:off x="977271" y="22609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16" name="Text 13"/>
          <p:cNvSpPr/>
          <p:nvPr/>
        </p:nvSpPr>
        <p:spPr>
          <a:xfrm>
            <a:off x="1157315" y="22609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7" name="Text 14"/>
          <p:cNvSpPr/>
          <p:nvPr/>
        </p:nvSpPr>
        <p:spPr>
          <a:xfrm>
            <a:off x="1277336" y="22609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8" name="Text 15"/>
          <p:cNvSpPr/>
          <p:nvPr/>
        </p:nvSpPr>
        <p:spPr>
          <a:xfrm>
            <a:off x="1457381" y="2260997"/>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1; i &lt;= n; i++) {</a:t>
            </a:r>
            <a:endParaRPr lang="en-US" sz="788" dirty="0"/>
          </a:p>
        </p:txBody>
      </p:sp>
      <p:sp>
        <p:nvSpPr>
          <p:cNvPr id="19" name="Text 16"/>
          <p:cNvSpPr/>
          <p:nvPr/>
        </p:nvSpPr>
        <p:spPr>
          <a:xfrm>
            <a:off x="1097291" y="24038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20" name="Text 17"/>
          <p:cNvSpPr/>
          <p:nvPr/>
        </p:nvSpPr>
        <p:spPr>
          <a:xfrm>
            <a:off x="1277336" y="2403872"/>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row = [];</a:t>
            </a:r>
            <a:endParaRPr lang="en-US" sz="788" dirty="0"/>
          </a:p>
        </p:txBody>
      </p:sp>
      <p:sp>
        <p:nvSpPr>
          <p:cNvPr id="21" name="Text 18"/>
          <p:cNvSpPr/>
          <p:nvPr/>
        </p:nvSpPr>
        <p:spPr>
          <a:xfrm>
            <a:off x="1097291" y="254674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for</a:t>
            </a:r>
            <a:endParaRPr lang="en-US" sz="788" dirty="0"/>
          </a:p>
        </p:txBody>
      </p:sp>
      <p:sp>
        <p:nvSpPr>
          <p:cNvPr id="22" name="Text 19"/>
          <p:cNvSpPr/>
          <p:nvPr/>
        </p:nvSpPr>
        <p:spPr>
          <a:xfrm>
            <a:off x="1277336" y="254674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3" name="Text 20"/>
          <p:cNvSpPr/>
          <p:nvPr/>
        </p:nvSpPr>
        <p:spPr>
          <a:xfrm>
            <a:off x="1397357" y="254674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24" name="Text 21"/>
          <p:cNvSpPr/>
          <p:nvPr/>
        </p:nvSpPr>
        <p:spPr>
          <a:xfrm>
            <a:off x="1577401" y="2546747"/>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j = 1; j &lt;= n; j++) {</a:t>
            </a:r>
            <a:endParaRPr lang="en-US" sz="788" dirty="0"/>
          </a:p>
        </p:txBody>
      </p:sp>
      <p:sp>
        <p:nvSpPr>
          <p:cNvPr id="25" name="Text 22"/>
          <p:cNvSpPr/>
          <p:nvPr/>
        </p:nvSpPr>
        <p:spPr>
          <a:xfrm>
            <a:off x="857250" y="2689622"/>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row.push(i * j);</a:t>
            </a:r>
            <a:endParaRPr lang="en-US" sz="788" dirty="0"/>
          </a:p>
        </p:txBody>
      </p:sp>
      <p:sp>
        <p:nvSpPr>
          <p:cNvPr id="26" name="Text 23"/>
          <p:cNvSpPr/>
          <p:nvPr/>
        </p:nvSpPr>
        <p:spPr>
          <a:xfrm>
            <a:off x="857250" y="283249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7" name="Text 24"/>
          <p:cNvSpPr/>
          <p:nvPr/>
        </p:nvSpPr>
        <p:spPr>
          <a:xfrm>
            <a:off x="857250" y="2975372"/>
            <a:ext cx="133161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result.push(row);</a:t>
            </a:r>
            <a:endParaRPr lang="en-US" sz="788" dirty="0"/>
          </a:p>
        </p:txBody>
      </p:sp>
      <p:sp>
        <p:nvSpPr>
          <p:cNvPr id="28" name="Text 25"/>
          <p:cNvSpPr/>
          <p:nvPr/>
        </p:nvSpPr>
        <p:spPr>
          <a:xfrm>
            <a:off x="857250" y="311824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9" name="Text 26"/>
          <p:cNvSpPr/>
          <p:nvPr/>
        </p:nvSpPr>
        <p:spPr>
          <a:xfrm>
            <a:off x="977271" y="326112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30" name="Text 27"/>
          <p:cNvSpPr/>
          <p:nvPr/>
        </p:nvSpPr>
        <p:spPr>
          <a:xfrm>
            <a:off x="1337332" y="3261122"/>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a:t>
            </a:r>
            <a:endParaRPr lang="en-US" sz="788" dirty="0"/>
          </a:p>
        </p:txBody>
      </p:sp>
      <p:sp>
        <p:nvSpPr>
          <p:cNvPr id="31" name="Text 28"/>
          <p:cNvSpPr/>
          <p:nvPr/>
        </p:nvSpPr>
        <p:spPr>
          <a:xfrm>
            <a:off x="857250" y="34039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2" name="Text 29"/>
          <p:cNvSpPr/>
          <p:nvPr/>
        </p:nvSpPr>
        <p:spPr>
          <a:xfrm>
            <a:off x="857250" y="3689747"/>
            <a:ext cx="1151595"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n = 3</a:t>
            </a:r>
            <a:endParaRPr lang="en-US" sz="788" dirty="0"/>
          </a:p>
        </p:txBody>
      </p:sp>
      <p:sp>
        <p:nvSpPr>
          <p:cNvPr id="33" name="Shape 30"/>
          <p:cNvSpPr/>
          <p:nvPr/>
        </p:nvSpPr>
        <p:spPr>
          <a:xfrm>
            <a:off x="628650" y="4143375"/>
            <a:ext cx="3657600" cy="2200275"/>
          </a:xfrm>
          <a:prstGeom prst="rect">
            <a:avLst/>
          </a:prstGeom>
          <a:solidFill>
            <a:srgbClr val="1E3A8A">
              <a:alpha val="30000"/>
            </a:srgbClr>
          </a:solidFill>
          <a:ln/>
        </p:spPr>
        <p:txBody>
          <a:bodyPr/>
          <a:lstStyle/>
          <a:p>
            <a:endParaRPr lang="en-US"/>
          </a:p>
        </p:txBody>
      </p:sp>
      <p:sp>
        <p:nvSpPr>
          <p:cNvPr id="34" name="Shape 31"/>
          <p:cNvSpPr/>
          <p:nvPr/>
        </p:nvSpPr>
        <p:spPr>
          <a:xfrm>
            <a:off x="628650" y="4143375"/>
            <a:ext cx="28575" cy="2200275"/>
          </a:xfrm>
          <a:prstGeom prst="rect">
            <a:avLst/>
          </a:prstGeom>
          <a:solidFill>
            <a:srgbClr val="63B3ED"/>
          </a:solidFill>
          <a:ln/>
        </p:spPr>
        <p:txBody>
          <a:bodyPr/>
          <a:lstStyle/>
          <a:p>
            <a:endParaRPr lang="en-US"/>
          </a:p>
        </p:txBody>
      </p:sp>
      <p:sp>
        <p:nvSpPr>
          <p:cNvPr id="35" name="Text 32"/>
          <p:cNvSpPr/>
          <p:nvPr/>
        </p:nvSpPr>
        <p:spPr>
          <a:xfrm>
            <a:off x="742950" y="42291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Approach</a:t>
            </a:r>
            <a:endParaRPr lang="en-US" sz="1125" dirty="0"/>
          </a:p>
        </p:txBody>
      </p:sp>
      <p:sp>
        <p:nvSpPr>
          <p:cNvPr id="36" name="Text 33"/>
          <p:cNvSpPr/>
          <p:nvPr/>
        </p:nvSpPr>
        <p:spPr>
          <a:xfrm>
            <a:off x="742950" y="4457700"/>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For nested loops, track both loop variables and maintain a clear view of the nested structure:</a:t>
            </a:r>
            <a:endParaRPr lang="en-US" sz="788" dirty="0"/>
          </a:p>
        </p:txBody>
      </p:sp>
      <p:sp>
        <p:nvSpPr>
          <p:cNvPr id="37" name="Text 34"/>
          <p:cNvSpPr/>
          <p:nvPr/>
        </p:nvSpPr>
        <p:spPr>
          <a:xfrm>
            <a:off x="742950" y="48006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1. Create a table with columns for both loop variables (i, j)</a:t>
            </a:r>
            <a:endParaRPr lang="en-US" sz="788" dirty="0"/>
          </a:p>
        </p:txBody>
      </p:sp>
      <p:sp>
        <p:nvSpPr>
          <p:cNvPr id="38" name="Text 35"/>
          <p:cNvSpPr/>
          <p:nvPr/>
        </p:nvSpPr>
        <p:spPr>
          <a:xfrm>
            <a:off x="742950" y="49720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2. Track the inner array (row) and outer array (result) separately</a:t>
            </a:r>
            <a:endParaRPr lang="en-US" sz="788" dirty="0"/>
          </a:p>
        </p:txBody>
      </p:sp>
      <p:sp>
        <p:nvSpPr>
          <p:cNvPr id="39" name="Text 36"/>
          <p:cNvSpPr/>
          <p:nvPr/>
        </p:nvSpPr>
        <p:spPr>
          <a:xfrm>
            <a:off x="742950" y="5143500"/>
            <a:ext cx="3614738"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3. Follow the complete execution of the inner loop for each iteration of the outer loop</a:t>
            </a:r>
            <a:endParaRPr lang="en-US" sz="788" dirty="0"/>
          </a:p>
        </p:txBody>
      </p:sp>
      <p:sp>
        <p:nvSpPr>
          <p:cNvPr id="40" name="Text 37"/>
          <p:cNvSpPr/>
          <p:nvPr/>
        </p:nvSpPr>
        <p:spPr>
          <a:xfrm>
            <a:off x="742950" y="5457825"/>
            <a:ext cx="3614738"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4. Pay special attention to when arrays are created, modified, and added to other arrays</a:t>
            </a:r>
            <a:endParaRPr lang="en-US" sz="788" dirty="0"/>
          </a:p>
        </p:txBody>
      </p:sp>
      <p:sp>
        <p:nvSpPr>
          <p:cNvPr id="41" name="Shape 38"/>
          <p:cNvSpPr/>
          <p:nvPr/>
        </p:nvSpPr>
        <p:spPr>
          <a:xfrm>
            <a:off x="742950" y="5857875"/>
            <a:ext cx="3543300" cy="400050"/>
          </a:xfrm>
          <a:prstGeom prst="rect">
            <a:avLst/>
          </a:prstGeom>
          <a:solidFill>
            <a:srgbClr val="1E3A8A">
              <a:alpha val="20000"/>
            </a:srgbClr>
          </a:solidFill>
          <a:ln/>
        </p:spPr>
        <p:txBody>
          <a:bodyPr/>
          <a:lstStyle/>
          <a:p>
            <a:endParaRPr lang="en-US"/>
          </a:p>
        </p:txBody>
      </p:sp>
      <p:sp>
        <p:nvSpPr>
          <p:cNvPr id="42" name="Text 39"/>
          <p:cNvSpPr/>
          <p:nvPr/>
        </p:nvSpPr>
        <p:spPr>
          <a:xfrm>
            <a:off x="828675" y="5943600"/>
            <a:ext cx="344328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Tip: For complex nested structures, use indentation in your tracking table to visually represent the nesting level.</a:t>
            </a:r>
            <a:endParaRPr lang="en-US" sz="675" dirty="0"/>
          </a:p>
        </p:txBody>
      </p:sp>
      <p:sp>
        <p:nvSpPr>
          <p:cNvPr id="43" name="Shape 40"/>
          <p:cNvSpPr/>
          <p:nvPr/>
        </p:nvSpPr>
        <p:spPr>
          <a:xfrm>
            <a:off x="457200" y="6686550"/>
            <a:ext cx="4000500" cy="4164806"/>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4" name="Text 41"/>
          <p:cNvSpPr/>
          <p:nvPr/>
        </p:nvSpPr>
        <p:spPr>
          <a:xfrm>
            <a:off x="628650" y="6858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Nested Loop Execution Visualization</a:t>
            </a:r>
            <a:endParaRPr lang="en-US" sz="1350" dirty="0"/>
          </a:p>
        </p:txBody>
      </p:sp>
      <p:sp>
        <p:nvSpPr>
          <p:cNvPr id="45" name="Shape 42"/>
          <p:cNvSpPr/>
          <p:nvPr/>
        </p:nvSpPr>
        <p:spPr>
          <a:xfrm>
            <a:off x="628650" y="7200900"/>
            <a:ext cx="3657600" cy="3464719"/>
          </a:xfrm>
          <a:prstGeom prst="rect">
            <a:avLst/>
          </a:prstGeom>
          <a:solidFill>
            <a:srgbClr val="1E3A8A">
              <a:alpha val="20000"/>
            </a:srgbClr>
          </a:solidFill>
          <a:ln/>
        </p:spPr>
        <p:txBody>
          <a:bodyPr/>
          <a:lstStyle/>
          <a:p>
            <a:endParaRPr lang="en-US"/>
          </a:p>
        </p:txBody>
      </p:sp>
      <p:sp>
        <p:nvSpPr>
          <p:cNvPr id="46" name="Shape 43"/>
          <p:cNvSpPr/>
          <p:nvPr/>
        </p:nvSpPr>
        <p:spPr>
          <a:xfrm>
            <a:off x="742950" y="7315200"/>
            <a:ext cx="3429000" cy="3064669"/>
          </a:xfrm>
          <a:prstGeom prst="rect">
            <a:avLst/>
          </a:prstGeom>
          <a:solidFill>
            <a:srgbClr val="1E3A8A">
              <a:alpha val="30000"/>
            </a:srgbClr>
          </a:solidFill>
          <a:ln/>
        </p:spPr>
        <p:txBody>
          <a:bodyPr/>
          <a:lstStyle/>
          <a:p>
            <a:endParaRPr lang="en-US"/>
          </a:p>
        </p:txBody>
      </p:sp>
      <p:sp>
        <p:nvSpPr>
          <p:cNvPr id="47" name="Text 44"/>
          <p:cNvSpPr/>
          <p:nvPr/>
        </p:nvSpPr>
        <p:spPr>
          <a:xfrm>
            <a:off x="742950" y="7315200"/>
            <a:ext cx="340333"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a:t>
            </a:r>
            <a:endParaRPr lang="en-US" sz="900" dirty="0"/>
          </a:p>
        </p:txBody>
      </p:sp>
      <p:sp>
        <p:nvSpPr>
          <p:cNvPr id="48" name="Text 45"/>
          <p:cNvSpPr/>
          <p:nvPr/>
        </p:nvSpPr>
        <p:spPr>
          <a:xfrm>
            <a:off x="1011845" y="7315200"/>
            <a:ext cx="340333"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j</a:t>
            </a:r>
            <a:endParaRPr lang="en-US" sz="900" dirty="0"/>
          </a:p>
        </p:txBody>
      </p:sp>
      <p:sp>
        <p:nvSpPr>
          <p:cNvPr id="49" name="Text 46"/>
          <p:cNvSpPr/>
          <p:nvPr/>
        </p:nvSpPr>
        <p:spPr>
          <a:xfrm>
            <a:off x="1280740" y="7315200"/>
            <a:ext cx="503523"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 * j</a:t>
            </a:r>
            <a:endParaRPr lang="en-US" sz="900" dirty="0"/>
          </a:p>
        </p:txBody>
      </p:sp>
      <p:sp>
        <p:nvSpPr>
          <p:cNvPr id="50" name="Text 47"/>
          <p:cNvSpPr/>
          <p:nvPr/>
        </p:nvSpPr>
        <p:spPr>
          <a:xfrm>
            <a:off x="1712826" y="7315200"/>
            <a:ext cx="724588"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row</a:t>
            </a:r>
            <a:endParaRPr lang="en-US" sz="900" dirty="0"/>
          </a:p>
        </p:txBody>
      </p:sp>
      <p:sp>
        <p:nvSpPr>
          <p:cNvPr id="51" name="Text 48"/>
          <p:cNvSpPr/>
          <p:nvPr/>
        </p:nvSpPr>
        <p:spPr>
          <a:xfrm>
            <a:off x="2365977" y="7315200"/>
            <a:ext cx="1877411" cy="232172"/>
          </a:xfrm>
          <a:prstGeom prst="rect">
            <a:avLst/>
          </a:prstGeom>
          <a:noFill/>
          <a:ln/>
        </p:spPr>
        <p:txBody>
          <a:bodyPr wrap="squar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result</a:t>
            </a:r>
            <a:endParaRPr lang="en-US" sz="900" dirty="0"/>
          </a:p>
        </p:txBody>
      </p:sp>
      <p:sp>
        <p:nvSpPr>
          <p:cNvPr id="52" name="Text 49"/>
          <p:cNvSpPr/>
          <p:nvPr/>
        </p:nvSpPr>
        <p:spPr>
          <a:xfrm>
            <a:off x="742950" y="7547372"/>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53" name="Text 50"/>
          <p:cNvSpPr/>
          <p:nvPr/>
        </p:nvSpPr>
        <p:spPr>
          <a:xfrm>
            <a:off x="1011845" y="7547372"/>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54" name="Text 51"/>
          <p:cNvSpPr/>
          <p:nvPr/>
        </p:nvSpPr>
        <p:spPr>
          <a:xfrm>
            <a:off x="1280740" y="7547372"/>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55" name="Text 52"/>
          <p:cNvSpPr/>
          <p:nvPr/>
        </p:nvSpPr>
        <p:spPr>
          <a:xfrm>
            <a:off x="1712826" y="7547372"/>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56" name="Text 53"/>
          <p:cNvSpPr/>
          <p:nvPr/>
        </p:nvSpPr>
        <p:spPr>
          <a:xfrm>
            <a:off x="2365977" y="7547372"/>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57" name="Text 54"/>
          <p:cNvSpPr/>
          <p:nvPr/>
        </p:nvSpPr>
        <p:spPr>
          <a:xfrm>
            <a:off x="742950" y="7783116"/>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58" name="Text 55"/>
          <p:cNvSpPr/>
          <p:nvPr/>
        </p:nvSpPr>
        <p:spPr>
          <a:xfrm>
            <a:off x="1011845" y="7783116"/>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59" name="Text 56"/>
          <p:cNvSpPr/>
          <p:nvPr/>
        </p:nvSpPr>
        <p:spPr>
          <a:xfrm>
            <a:off x="1280740" y="7783116"/>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60" name="Text 57"/>
          <p:cNvSpPr/>
          <p:nvPr/>
        </p:nvSpPr>
        <p:spPr>
          <a:xfrm>
            <a:off x="1712826" y="7783116"/>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a:t>
            </a:r>
            <a:endParaRPr lang="en-US" sz="900" dirty="0"/>
          </a:p>
        </p:txBody>
      </p:sp>
      <p:sp>
        <p:nvSpPr>
          <p:cNvPr id="61" name="Text 58"/>
          <p:cNvSpPr/>
          <p:nvPr/>
        </p:nvSpPr>
        <p:spPr>
          <a:xfrm>
            <a:off x="2365977" y="7783116"/>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62" name="Text 59"/>
          <p:cNvSpPr/>
          <p:nvPr/>
        </p:nvSpPr>
        <p:spPr>
          <a:xfrm>
            <a:off x="742950" y="8018859"/>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63" name="Text 60"/>
          <p:cNvSpPr/>
          <p:nvPr/>
        </p:nvSpPr>
        <p:spPr>
          <a:xfrm>
            <a:off x="1011845" y="8018859"/>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64" name="Text 61"/>
          <p:cNvSpPr/>
          <p:nvPr/>
        </p:nvSpPr>
        <p:spPr>
          <a:xfrm>
            <a:off x="1280740" y="8018859"/>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65" name="Text 62"/>
          <p:cNvSpPr/>
          <p:nvPr/>
        </p:nvSpPr>
        <p:spPr>
          <a:xfrm>
            <a:off x="1712826" y="8018859"/>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66" name="Text 63"/>
          <p:cNvSpPr/>
          <p:nvPr/>
        </p:nvSpPr>
        <p:spPr>
          <a:xfrm>
            <a:off x="2365977" y="8018859"/>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67" name="Shape 64"/>
          <p:cNvSpPr/>
          <p:nvPr/>
        </p:nvSpPr>
        <p:spPr>
          <a:xfrm>
            <a:off x="742950" y="8254603"/>
            <a:ext cx="3429000" cy="235744"/>
          </a:xfrm>
          <a:prstGeom prst="rect">
            <a:avLst/>
          </a:prstGeom>
          <a:solidFill>
            <a:srgbClr val="1E40AF">
              <a:alpha val="30000"/>
            </a:srgbClr>
          </a:solidFill>
          <a:ln/>
        </p:spPr>
        <p:txBody>
          <a:bodyPr/>
          <a:lstStyle/>
          <a:p>
            <a:endParaRPr lang="en-US"/>
          </a:p>
        </p:txBody>
      </p:sp>
      <p:sp>
        <p:nvSpPr>
          <p:cNvPr id="68" name="Text 65"/>
          <p:cNvSpPr/>
          <p:nvPr/>
        </p:nvSpPr>
        <p:spPr>
          <a:xfrm>
            <a:off x="742950" y="8254603"/>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69" name="Text 66"/>
          <p:cNvSpPr/>
          <p:nvPr/>
        </p:nvSpPr>
        <p:spPr>
          <a:xfrm>
            <a:off x="1011845" y="8254603"/>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70" name="Text 67"/>
          <p:cNvSpPr/>
          <p:nvPr/>
        </p:nvSpPr>
        <p:spPr>
          <a:xfrm>
            <a:off x="1280740" y="8254603"/>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71" name="Text 68"/>
          <p:cNvSpPr/>
          <p:nvPr/>
        </p:nvSpPr>
        <p:spPr>
          <a:xfrm>
            <a:off x="1712826" y="8254603"/>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72" name="Text 69"/>
          <p:cNvSpPr/>
          <p:nvPr/>
        </p:nvSpPr>
        <p:spPr>
          <a:xfrm>
            <a:off x="2365977" y="8254603"/>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73" name="Text 70"/>
          <p:cNvSpPr/>
          <p:nvPr/>
        </p:nvSpPr>
        <p:spPr>
          <a:xfrm>
            <a:off x="742950" y="8490347"/>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74" name="Text 71"/>
          <p:cNvSpPr/>
          <p:nvPr/>
        </p:nvSpPr>
        <p:spPr>
          <a:xfrm>
            <a:off x="1011845" y="8490347"/>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75" name="Text 72"/>
          <p:cNvSpPr/>
          <p:nvPr/>
        </p:nvSpPr>
        <p:spPr>
          <a:xfrm>
            <a:off x="1280740" y="8490347"/>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76" name="Text 73"/>
          <p:cNvSpPr/>
          <p:nvPr/>
        </p:nvSpPr>
        <p:spPr>
          <a:xfrm>
            <a:off x="1712826" y="8490347"/>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77" name="Text 74"/>
          <p:cNvSpPr/>
          <p:nvPr/>
        </p:nvSpPr>
        <p:spPr>
          <a:xfrm>
            <a:off x="2365977" y="8490347"/>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78" name="Text 75"/>
          <p:cNvSpPr/>
          <p:nvPr/>
        </p:nvSpPr>
        <p:spPr>
          <a:xfrm>
            <a:off x="742950" y="8726091"/>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79" name="Text 76"/>
          <p:cNvSpPr/>
          <p:nvPr/>
        </p:nvSpPr>
        <p:spPr>
          <a:xfrm>
            <a:off x="1011845" y="8726091"/>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80" name="Text 77"/>
          <p:cNvSpPr/>
          <p:nvPr/>
        </p:nvSpPr>
        <p:spPr>
          <a:xfrm>
            <a:off x="1280740" y="8726091"/>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81" name="Text 78"/>
          <p:cNvSpPr/>
          <p:nvPr/>
        </p:nvSpPr>
        <p:spPr>
          <a:xfrm>
            <a:off x="1712826" y="8726091"/>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[2,4]</a:t>
            </a:r>
            <a:endParaRPr lang="en-US" sz="900" dirty="0"/>
          </a:p>
        </p:txBody>
      </p:sp>
      <p:sp>
        <p:nvSpPr>
          <p:cNvPr id="82" name="Text 79"/>
          <p:cNvSpPr/>
          <p:nvPr/>
        </p:nvSpPr>
        <p:spPr>
          <a:xfrm>
            <a:off x="2365977" y="8726091"/>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83" name="Text 80"/>
          <p:cNvSpPr/>
          <p:nvPr/>
        </p:nvSpPr>
        <p:spPr>
          <a:xfrm>
            <a:off x="742950" y="8961834"/>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84" name="Text 81"/>
          <p:cNvSpPr/>
          <p:nvPr/>
        </p:nvSpPr>
        <p:spPr>
          <a:xfrm>
            <a:off x="1011845" y="8961834"/>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85" name="Text 82"/>
          <p:cNvSpPr/>
          <p:nvPr/>
        </p:nvSpPr>
        <p:spPr>
          <a:xfrm>
            <a:off x="1280740" y="8961834"/>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86" name="Text 83"/>
          <p:cNvSpPr/>
          <p:nvPr/>
        </p:nvSpPr>
        <p:spPr>
          <a:xfrm>
            <a:off x="1712826" y="8961834"/>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[2,4,6]</a:t>
            </a:r>
            <a:endParaRPr lang="en-US" sz="900" dirty="0"/>
          </a:p>
        </p:txBody>
      </p:sp>
      <p:sp>
        <p:nvSpPr>
          <p:cNvPr id="87" name="Text 84"/>
          <p:cNvSpPr/>
          <p:nvPr/>
        </p:nvSpPr>
        <p:spPr>
          <a:xfrm>
            <a:off x="2365977" y="8961834"/>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a:t>
            </a:r>
            <a:endParaRPr lang="en-US" sz="900" dirty="0"/>
          </a:p>
        </p:txBody>
      </p:sp>
      <p:sp>
        <p:nvSpPr>
          <p:cNvPr id="88" name="Shape 85"/>
          <p:cNvSpPr/>
          <p:nvPr/>
        </p:nvSpPr>
        <p:spPr>
          <a:xfrm>
            <a:off x="742950" y="9197578"/>
            <a:ext cx="3429000" cy="235744"/>
          </a:xfrm>
          <a:prstGeom prst="rect">
            <a:avLst/>
          </a:prstGeom>
          <a:solidFill>
            <a:srgbClr val="1E40AF">
              <a:alpha val="30000"/>
            </a:srgbClr>
          </a:solidFill>
          <a:ln/>
        </p:spPr>
        <p:txBody>
          <a:bodyPr/>
          <a:lstStyle/>
          <a:p>
            <a:endParaRPr lang="en-US"/>
          </a:p>
        </p:txBody>
      </p:sp>
      <p:sp>
        <p:nvSpPr>
          <p:cNvPr id="89" name="Text 86"/>
          <p:cNvSpPr/>
          <p:nvPr/>
        </p:nvSpPr>
        <p:spPr>
          <a:xfrm>
            <a:off x="742950" y="9197578"/>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90" name="Text 87"/>
          <p:cNvSpPr/>
          <p:nvPr/>
        </p:nvSpPr>
        <p:spPr>
          <a:xfrm>
            <a:off x="1011845" y="9197578"/>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91" name="Text 88"/>
          <p:cNvSpPr/>
          <p:nvPr/>
        </p:nvSpPr>
        <p:spPr>
          <a:xfrm>
            <a:off x="1280740" y="9197578"/>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92" name="Text 89"/>
          <p:cNvSpPr/>
          <p:nvPr/>
        </p:nvSpPr>
        <p:spPr>
          <a:xfrm>
            <a:off x="1712826" y="9197578"/>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[2,4,6]</a:t>
            </a:r>
            <a:endParaRPr lang="en-US" sz="900" dirty="0"/>
          </a:p>
        </p:txBody>
      </p:sp>
      <p:sp>
        <p:nvSpPr>
          <p:cNvPr id="93" name="Text 90"/>
          <p:cNvSpPr/>
          <p:nvPr/>
        </p:nvSpPr>
        <p:spPr>
          <a:xfrm>
            <a:off x="2365977" y="9197578"/>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[[1,2,3],[2,4,6]]</a:t>
            </a:r>
            <a:endParaRPr lang="en-US" sz="900" dirty="0"/>
          </a:p>
        </p:txBody>
      </p:sp>
      <p:sp>
        <p:nvSpPr>
          <p:cNvPr id="94" name="Text 91"/>
          <p:cNvSpPr/>
          <p:nvPr/>
        </p:nvSpPr>
        <p:spPr>
          <a:xfrm>
            <a:off x="742950" y="9433322"/>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95" name="Text 92"/>
          <p:cNvSpPr/>
          <p:nvPr/>
        </p:nvSpPr>
        <p:spPr>
          <a:xfrm>
            <a:off x="1011845" y="9433322"/>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96" name="Text 93"/>
          <p:cNvSpPr/>
          <p:nvPr/>
        </p:nvSpPr>
        <p:spPr>
          <a:xfrm>
            <a:off x="1280740" y="9433322"/>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97" name="Text 94"/>
          <p:cNvSpPr/>
          <p:nvPr/>
        </p:nvSpPr>
        <p:spPr>
          <a:xfrm>
            <a:off x="1712826" y="9433322"/>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98" name="Text 95"/>
          <p:cNvSpPr/>
          <p:nvPr/>
        </p:nvSpPr>
        <p:spPr>
          <a:xfrm>
            <a:off x="2365977" y="9433322"/>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[[1,2,3],[2,4,6]]</a:t>
            </a:r>
            <a:endParaRPr lang="en-US" sz="900" dirty="0"/>
          </a:p>
        </p:txBody>
      </p:sp>
      <p:sp>
        <p:nvSpPr>
          <p:cNvPr id="99" name="Text 96"/>
          <p:cNvSpPr/>
          <p:nvPr/>
        </p:nvSpPr>
        <p:spPr>
          <a:xfrm>
            <a:off x="742950" y="9669066"/>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00" name="Text 97"/>
          <p:cNvSpPr/>
          <p:nvPr/>
        </p:nvSpPr>
        <p:spPr>
          <a:xfrm>
            <a:off x="1011845" y="9669066"/>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01" name="Text 98"/>
          <p:cNvSpPr/>
          <p:nvPr/>
        </p:nvSpPr>
        <p:spPr>
          <a:xfrm>
            <a:off x="1280740" y="9669066"/>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102" name="Text 99"/>
          <p:cNvSpPr/>
          <p:nvPr/>
        </p:nvSpPr>
        <p:spPr>
          <a:xfrm>
            <a:off x="1712826" y="9669066"/>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[3,6]</a:t>
            </a:r>
            <a:endParaRPr lang="en-US" sz="900" dirty="0"/>
          </a:p>
        </p:txBody>
      </p:sp>
      <p:sp>
        <p:nvSpPr>
          <p:cNvPr id="103" name="Text 100"/>
          <p:cNvSpPr/>
          <p:nvPr/>
        </p:nvSpPr>
        <p:spPr>
          <a:xfrm>
            <a:off x="2365977" y="9669066"/>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[[1,2,3],[2,4,6]]</a:t>
            </a:r>
            <a:endParaRPr lang="en-US" sz="900" dirty="0"/>
          </a:p>
        </p:txBody>
      </p:sp>
      <p:sp>
        <p:nvSpPr>
          <p:cNvPr id="104" name="Text 101"/>
          <p:cNvSpPr/>
          <p:nvPr/>
        </p:nvSpPr>
        <p:spPr>
          <a:xfrm>
            <a:off x="742950" y="9904809"/>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05" name="Text 102"/>
          <p:cNvSpPr/>
          <p:nvPr/>
        </p:nvSpPr>
        <p:spPr>
          <a:xfrm>
            <a:off x="1011845" y="9904809"/>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06" name="Text 103"/>
          <p:cNvSpPr/>
          <p:nvPr/>
        </p:nvSpPr>
        <p:spPr>
          <a:xfrm>
            <a:off x="1280740" y="9904809"/>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9</a:t>
            </a:r>
            <a:endParaRPr lang="en-US" sz="900" dirty="0"/>
          </a:p>
        </p:txBody>
      </p:sp>
      <p:sp>
        <p:nvSpPr>
          <p:cNvPr id="107" name="Text 104"/>
          <p:cNvSpPr/>
          <p:nvPr/>
        </p:nvSpPr>
        <p:spPr>
          <a:xfrm>
            <a:off x="1712826" y="9904809"/>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[3,6,9]</a:t>
            </a:r>
            <a:endParaRPr lang="en-US" sz="900" dirty="0"/>
          </a:p>
        </p:txBody>
      </p:sp>
      <p:sp>
        <p:nvSpPr>
          <p:cNvPr id="108" name="Text 105"/>
          <p:cNvSpPr/>
          <p:nvPr/>
        </p:nvSpPr>
        <p:spPr>
          <a:xfrm>
            <a:off x="2365977" y="9904809"/>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[[1,2,3],[2,4,6]]</a:t>
            </a:r>
            <a:endParaRPr lang="en-US" sz="900" dirty="0"/>
          </a:p>
        </p:txBody>
      </p:sp>
      <p:sp>
        <p:nvSpPr>
          <p:cNvPr id="109" name="Shape 106"/>
          <p:cNvSpPr/>
          <p:nvPr/>
        </p:nvSpPr>
        <p:spPr>
          <a:xfrm>
            <a:off x="742950" y="10140553"/>
            <a:ext cx="3429000" cy="235744"/>
          </a:xfrm>
          <a:prstGeom prst="rect">
            <a:avLst/>
          </a:prstGeom>
          <a:solidFill>
            <a:srgbClr val="1E40AF">
              <a:alpha val="30000"/>
            </a:srgbClr>
          </a:solidFill>
          <a:ln/>
        </p:spPr>
        <p:txBody>
          <a:bodyPr/>
          <a:lstStyle/>
          <a:p>
            <a:endParaRPr lang="en-US"/>
          </a:p>
        </p:txBody>
      </p:sp>
      <p:sp>
        <p:nvSpPr>
          <p:cNvPr id="110" name="Text 107"/>
          <p:cNvSpPr/>
          <p:nvPr/>
        </p:nvSpPr>
        <p:spPr>
          <a:xfrm>
            <a:off x="742950" y="10140553"/>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11" name="Text 108"/>
          <p:cNvSpPr/>
          <p:nvPr/>
        </p:nvSpPr>
        <p:spPr>
          <a:xfrm>
            <a:off x="1011845" y="10140553"/>
            <a:ext cx="34033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2" name="Text 109"/>
          <p:cNvSpPr/>
          <p:nvPr/>
        </p:nvSpPr>
        <p:spPr>
          <a:xfrm>
            <a:off x="1280740" y="10140553"/>
            <a:ext cx="50352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13" name="Text 110"/>
          <p:cNvSpPr/>
          <p:nvPr/>
        </p:nvSpPr>
        <p:spPr>
          <a:xfrm>
            <a:off x="1712826" y="10140553"/>
            <a:ext cx="72458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[3,6,9]</a:t>
            </a:r>
            <a:endParaRPr lang="en-US" sz="900" dirty="0"/>
          </a:p>
        </p:txBody>
      </p:sp>
      <p:sp>
        <p:nvSpPr>
          <p:cNvPr id="114" name="Text 111"/>
          <p:cNvSpPr/>
          <p:nvPr/>
        </p:nvSpPr>
        <p:spPr>
          <a:xfrm>
            <a:off x="2365977" y="10140553"/>
            <a:ext cx="1877411"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[[1,2,3],[2,4,6],[3,6,9]]</a:t>
            </a:r>
            <a:endParaRPr lang="en-US" sz="900" dirty="0"/>
          </a:p>
        </p:txBody>
      </p:sp>
      <p:sp>
        <p:nvSpPr>
          <p:cNvPr id="115" name="Text 112"/>
          <p:cNvSpPr/>
          <p:nvPr/>
        </p:nvSpPr>
        <p:spPr>
          <a:xfrm>
            <a:off x="742950" y="10437019"/>
            <a:ext cx="3500438" cy="114300"/>
          </a:xfrm>
          <a:prstGeom prst="rect">
            <a:avLst/>
          </a:prstGeom>
          <a:noFill/>
          <a:ln/>
        </p:spPr>
        <p:txBody>
          <a:bodyPr wrap="squar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Final return value: [[1,2,3], [2,4,6], [3,6,9]]</a:t>
            </a:r>
            <a:endParaRPr lang="en-US" sz="675" dirty="0"/>
          </a:p>
        </p:txBody>
      </p:sp>
      <p:sp>
        <p:nvSpPr>
          <p:cNvPr id="116" name="Shape 113"/>
          <p:cNvSpPr/>
          <p:nvPr/>
        </p:nvSpPr>
        <p:spPr>
          <a:xfrm>
            <a:off x="4686300" y="971550"/>
            <a:ext cx="4000500" cy="4700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17" name="Text 114"/>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2: Recursive Function</a:t>
            </a:r>
            <a:endParaRPr lang="en-US" sz="1350" dirty="0"/>
          </a:p>
        </p:txBody>
      </p:sp>
      <p:sp>
        <p:nvSpPr>
          <p:cNvPr id="118" name="Shape 115"/>
          <p:cNvSpPr/>
          <p:nvPr/>
        </p:nvSpPr>
        <p:spPr>
          <a:xfrm>
            <a:off x="4857750" y="1485900"/>
            <a:ext cx="3657600" cy="2114550"/>
          </a:xfrm>
          <a:prstGeom prst="rect">
            <a:avLst/>
          </a:prstGeom>
          <a:solidFill>
            <a:srgbClr val="1E3A8A">
              <a:alpha val="30000"/>
            </a:srgbClr>
          </a:solidFill>
          <a:ln/>
        </p:spPr>
        <p:txBody>
          <a:bodyPr/>
          <a:lstStyle/>
          <a:p>
            <a:endParaRPr lang="en-US"/>
          </a:p>
        </p:txBody>
      </p:sp>
      <p:sp>
        <p:nvSpPr>
          <p:cNvPr id="119" name="Shape 116"/>
          <p:cNvSpPr/>
          <p:nvPr/>
        </p:nvSpPr>
        <p:spPr>
          <a:xfrm>
            <a:off x="4857750" y="1485900"/>
            <a:ext cx="28575" cy="2114550"/>
          </a:xfrm>
          <a:prstGeom prst="rect">
            <a:avLst/>
          </a:prstGeom>
          <a:solidFill>
            <a:srgbClr val="63B3ED"/>
          </a:solidFill>
          <a:ln/>
        </p:spPr>
        <p:txBody>
          <a:bodyPr/>
          <a:lstStyle/>
          <a:p>
            <a:endParaRPr lang="en-US"/>
          </a:p>
        </p:txBody>
      </p:sp>
      <p:sp>
        <p:nvSpPr>
          <p:cNvPr id="120" name="Text 117"/>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21" name="Shape 118"/>
          <p:cNvSpPr/>
          <p:nvPr/>
        </p:nvSpPr>
        <p:spPr>
          <a:xfrm>
            <a:off x="4972050" y="1857375"/>
            <a:ext cx="3543300" cy="1657350"/>
          </a:xfrm>
          <a:prstGeom prst="rect">
            <a:avLst/>
          </a:prstGeom>
          <a:solidFill>
            <a:srgbClr val="1A202C"/>
          </a:solidFill>
          <a:ln/>
        </p:spPr>
        <p:txBody>
          <a:bodyPr/>
          <a:lstStyle/>
          <a:p>
            <a:endParaRPr lang="en-US"/>
          </a:p>
        </p:txBody>
      </p:sp>
      <p:sp>
        <p:nvSpPr>
          <p:cNvPr id="122" name="Text 119"/>
          <p:cNvSpPr/>
          <p:nvPr/>
        </p:nvSpPr>
        <p:spPr>
          <a:xfrm>
            <a:off x="5086350" y="1975247"/>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23" name="Text 120"/>
          <p:cNvSpPr/>
          <p:nvPr/>
        </p:nvSpPr>
        <p:spPr>
          <a:xfrm>
            <a:off x="5566432" y="1975247"/>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fibonacci(n) {</a:t>
            </a:r>
            <a:endParaRPr lang="en-US" sz="788" dirty="0"/>
          </a:p>
        </p:txBody>
      </p:sp>
      <p:sp>
        <p:nvSpPr>
          <p:cNvPr id="124" name="Text 121"/>
          <p:cNvSpPr/>
          <p:nvPr/>
        </p:nvSpPr>
        <p:spPr>
          <a:xfrm>
            <a:off x="5206371" y="2118122"/>
            <a:ext cx="851557"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Base cases</a:t>
            </a:r>
            <a:endParaRPr lang="en-US" sz="788" dirty="0"/>
          </a:p>
        </p:txBody>
      </p:sp>
      <p:sp>
        <p:nvSpPr>
          <p:cNvPr id="125" name="Text 122"/>
          <p:cNvSpPr/>
          <p:nvPr/>
        </p:nvSpPr>
        <p:spPr>
          <a:xfrm>
            <a:off x="5206371" y="226099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26" name="Text 123"/>
          <p:cNvSpPr/>
          <p:nvPr/>
        </p:nvSpPr>
        <p:spPr>
          <a:xfrm>
            <a:off x="5326391" y="2260997"/>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 &lt;= 0)</a:t>
            </a:r>
            <a:endParaRPr lang="en-US" sz="788" dirty="0"/>
          </a:p>
        </p:txBody>
      </p:sp>
      <p:sp>
        <p:nvSpPr>
          <p:cNvPr id="127" name="Text 124"/>
          <p:cNvSpPr/>
          <p:nvPr/>
        </p:nvSpPr>
        <p:spPr>
          <a:xfrm>
            <a:off x="5926466" y="22609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28" name="Text 125"/>
          <p:cNvSpPr/>
          <p:nvPr/>
        </p:nvSpPr>
        <p:spPr>
          <a:xfrm>
            <a:off x="6286528" y="226099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0;</a:t>
            </a:r>
            <a:endParaRPr lang="en-US" sz="788" dirty="0"/>
          </a:p>
        </p:txBody>
      </p:sp>
      <p:sp>
        <p:nvSpPr>
          <p:cNvPr id="129" name="Text 126"/>
          <p:cNvSpPr/>
          <p:nvPr/>
        </p:nvSpPr>
        <p:spPr>
          <a:xfrm>
            <a:off x="5206371" y="240387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30" name="Text 127"/>
          <p:cNvSpPr/>
          <p:nvPr/>
        </p:nvSpPr>
        <p:spPr>
          <a:xfrm>
            <a:off x="5326391" y="2403872"/>
            <a:ext cx="73153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 === 1)</a:t>
            </a:r>
            <a:endParaRPr lang="en-US" sz="788" dirty="0"/>
          </a:p>
        </p:txBody>
      </p:sp>
      <p:sp>
        <p:nvSpPr>
          <p:cNvPr id="131" name="Text 128"/>
          <p:cNvSpPr/>
          <p:nvPr/>
        </p:nvSpPr>
        <p:spPr>
          <a:xfrm>
            <a:off x="5986490" y="240387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32" name="Text 129"/>
          <p:cNvSpPr/>
          <p:nvPr/>
        </p:nvSpPr>
        <p:spPr>
          <a:xfrm>
            <a:off x="6346552" y="240387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1;</a:t>
            </a:r>
            <a:endParaRPr lang="en-US" sz="788" dirty="0"/>
          </a:p>
        </p:txBody>
      </p:sp>
      <p:sp>
        <p:nvSpPr>
          <p:cNvPr id="133" name="Text 130"/>
          <p:cNvSpPr/>
          <p:nvPr/>
        </p:nvSpPr>
        <p:spPr>
          <a:xfrm>
            <a:off x="5206371" y="2689622"/>
            <a:ext cx="1091571"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Recursive case</a:t>
            </a:r>
            <a:endParaRPr lang="en-US" sz="788" dirty="0"/>
          </a:p>
        </p:txBody>
      </p:sp>
      <p:sp>
        <p:nvSpPr>
          <p:cNvPr id="134" name="Text 131"/>
          <p:cNvSpPr/>
          <p:nvPr/>
        </p:nvSpPr>
        <p:spPr>
          <a:xfrm>
            <a:off x="5206371" y="28324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35" name="Text 132"/>
          <p:cNvSpPr/>
          <p:nvPr/>
        </p:nvSpPr>
        <p:spPr>
          <a:xfrm>
            <a:off x="5566432" y="2832497"/>
            <a:ext cx="2291721"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fibonacci(n - 1) + fibonacci(n - 2);</a:t>
            </a:r>
            <a:endParaRPr lang="en-US" sz="788" dirty="0"/>
          </a:p>
        </p:txBody>
      </p:sp>
      <p:sp>
        <p:nvSpPr>
          <p:cNvPr id="136" name="Text 133"/>
          <p:cNvSpPr/>
          <p:nvPr/>
        </p:nvSpPr>
        <p:spPr>
          <a:xfrm>
            <a:off x="5086350" y="2975372"/>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37" name="Text 134"/>
          <p:cNvSpPr/>
          <p:nvPr/>
        </p:nvSpPr>
        <p:spPr>
          <a:xfrm>
            <a:off x="5086350" y="3261122"/>
            <a:ext cx="1151595"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n = 4</a:t>
            </a:r>
            <a:endParaRPr lang="en-US" sz="788" dirty="0"/>
          </a:p>
        </p:txBody>
      </p:sp>
      <p:sp>
        <p:nvSpPr>
          <p:cNvPr id="138" name="Shape 135"/>
          <p:cNvSpPr/>
          <p:nvPr/>
        </p:nvSpPr>
        <p:spPr>
          <a:xfrm>
            <a:off x="4857750" y="3714750"/>
            <a:ext cx="3657600" cy="1771650"/>
          </a:xfrm>
          <a:prstGeom prst="rect">
            <a:avLst/>
          </a:prstGeom>
          <a:solidFill>
            <a:srgbClr val="1E3A8A">
              <a:alpha val="30000"/>
            </a:srgbClr>
          </a:solidFill>
          <a:ln/>
        </p:spPr>
        <p:txBody>
          <a:bodyPr/>
          <a:lstStyle/>
          <a:p>
            <a:endParaRPr lang="en-US"/>
          </a:p>
        </p:txBody>
      </p:sp>
      <p:sp>
        <p:nvSpPr>
          <p:cNvPr id="139" name="Shape 136"/>
          <p:cNvSpPr/>
          <p:nvPr/>
        </p:nvSpPr>
        <p:spPr>
          <a:xfrm>
            <a:off x="4857750" y="3714750"/>
            <a:ext cx="28575" cy="1771650"/>
          </a:xfrm>
          <a:prstGeom prst="rect">
            <a:avLst/>
          </a:prstGeom>
          <a:solidFill>
            <a:srgbClr val="63B3ED"/>
          </a:solidFill>
          <a:ln/>
        </p:spPr>
        <p:txBody>
          <a:bodyPr/>
          <a:lstStyle/>
          <a:p>
            <a:endParaRPr lang="en-US"/>
          </a:p>
        </p:txBody>
      </p:sp>
      <p:sp>
        <p:nvSpPr>
          <p:cNvPr id="140" name="Text 137"/>
          <p:cNvSpPr/>
          <p:nvPr/>
        </p:nvSpPr>
        <p:spPr>
          <a:xfrm>
            <a:off x="4972050" y="38004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Approach for Recursion</a:t>
            </a:r>
            <a:endParaRPr lang="en-US" sz="1125" dirty="0"/>
          </a:p>
        </p:txBody>
      </p:sp>
      <p:sp>
        <p:nvSpPr>
          <p:cNvPr id="141" name="Text 138"/>
          <p:cNvSpPr/>
          <p:nvPr/>
        </p:nvSpPr>
        <p:spPr>
          <a:xfrm>
            <a:off x="4972050" y="40290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For recursive functions, track the call stack and return values:</a:t>
            </a:r>
            <a:endParaRPr lang="en-US" sz="788" dirty="0"/>
          </a:p>
        </p:txBody>
      </p:sp>
      <p:sp>
        <p:nvSpPr>
          <p:cNvPr id="142" name="Text 139"/>
          <p:cNvSpPr/>
          <p:nvPr/>
        </p:nvSpPr>
        <p:spPr>
          <a:xfrm>
            <a:off x="4972050" y="42291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1. Draw a tree to visualize recursive calls</a:t>
            </a:r>
            <a:endParaRPr lang="en-US" sz="788" dirty="0"/>
          </a:p>
        </p:txBody>
      </p:sp>
      <p:sp>
        <p:nvSpPr>
          <p:cNvPr id="143" name="Text 140"/>
          <p:cNvSpPr/>
          <p:nvPr/>
        </p:nvSpPr>
        <p:spPr>
          <a:xfrm>
            <a:off x="4972050" y="44005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2. Track function parameters for each call</a:t>
            </a:r>
            <a:endParaRPr lang="en-US" sz="788" dirty="0"/>
          </a:p>
        </p:txBody>
      </p:sp>
      <p:sp>
        <p:nvSpPr>
          <p:cNvPr id="144" name="Text 141"/>
          <p:cNvSpPr/>
          <p:nvPr/>
        </p:nvSpPr>
        <p:spPr>
          <a:xfrm>
            <a:off x="4972050" y="457200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3. Follow execution in depth-first order</a:t>
            </a:r>
            <a:endParaRPr lang="en-US" sz="788" dirty="0"/>
          </a:p>
        </p:txBody>
      </p:sp>
      <p:sp>
        <p:nvSpPr>
          <p:cNvPr id="145" name="Text 142"/>
          <p:cNvSpPr/>
          <p:nvPr/>
        </p:nvSpPr>
        <p:spPr>
          <a:xfrm>
            <a:off x="4972050" y="4743450"/>
            <a:ext cx="36147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4. Record return values as they propagate back up</a:t>
            </a:r>
            <a:endParaRPr lang="en-US" sz="788" dirty="0"/>
          </a:p>
        </p:txBody>
      </p:sp>
      <p:sp>
        <p:nvSpPr>
          <p:cNvPr id="146" name="Shape 143"/>
          <p:cNvSpPr/>
          <p:nvPr/>
        </p:nvSpPr>
        <p:spPr>
          <a:xfrm>
            <a:off x="4972050" y="5000625"/>
            <a:ext cx="3543300" cy="400050"/>
          </a:xfrm>
          <a:prstGeom prst="rect">
            <a:avLst/>
          </a:prstGeom>
          <a:solidFill>
            <a:srgbClr val="1E3A8A">
              <a:alpha val="20000"/>
            </a:srgbClr>
          </a:solidFill>
          <a:ln/>
        </p:spPr>
        <p:txBody>
          <a:bodyPr/>
          <a:lstStyle/>
          <a:p>
            <a:endParaRPr lang="en-US"/>
          </a:p>
        </p:txBody>
      </p:sp>
      <p:sp>
        <p:nvSpPr>
          <p:cNvPr id="147" name="Text 144"/>
          <p:cNvSpPr/>
          <p:nvPr/>
        </p:nvSpPr>
        <p:spPr>
          <a:xfrm>
            <a:off x="5057775" y="5086350"/>
            <a:ext cx="344328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Tip: Use indentation or a tree diagram to represent the call stack depth and relationships between recursive calls.</a:t>
            </a:r>
            <a:endParaRPr lang="en-US" sz="675" dirty="0"/>
          </a:p>
        </p:txBody>
      </p:sp>
      <p:sp>
        <p:nvSpPr>
          <p:cNvPr id="148" name="Shape 145"/>
          <p:cNvSpPr/>
          <p:nvPr/>
        </p:nvSpPr>
        <p:spPr>
          <a:xfrm>
            <a:off x="4686300" y="5829300"/>
            <a:ext cx="4000500" cy="4700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49" name="Text 146"/>
          <p:cNvSpPr/>
          <p:nvPr/>
        </p:nvSpPr>
        <p:spPr>
          <a:xfrm>
            <a:off x="4857750" y="6000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Recursive Call Tree</a:t>
            </a:r>
            <a:endParaRPr lang="en-US" sz="1350" dirty="0"/>
          </a:p>
        </p:txBody>
      </p:sp>
      <p:sp>
        <p:nvSpPr>
          <p:cNvPr id="150" name="Shape 147"/>
          <p:cNvSpPr/>
          <p:nvPr/>
        </p:nvSpPr>
        <p:spPr>
          <a:xfrm>
            <a:off x="4857750" y="6343650"/>
            <a:ext cx="3657600" cy="2543175"/>
          </a:xfrm>
          <a:prstGeom prst="rect">
            <a:avLst/>
          </a:prstGeom>
          <a:solidFill>
            <a:srgbClr val="1E3A8A">
              <a:alpha val="20000"/>
            </a:srgbClr>
          </a:solidFill>
          <a:ln/>
        </p:spPr>
        <p:txBody>
          <a:bodyPr/>
          <a:lstStyle/>
          <a:p>
            <a:endParaRPr lang="en-US"/>
          </a:p>
        </p:txBody>
      </p:sp>
      <p:sp>
        <p:nvSpPr>
          <p:cNvPr id="151" name="Shape 148"/>
          <p:cNvSpPr/>
          <p:nvPr/>
        </p:nvSpPr>
        <p:spPr>
          <a:xfrm>
            <a:off x="6343650" y="6457950"/>
            <a:ext cx="685800" cy="342900"/>
          </a:xfrm>
          <a:prstGeom prst="rect">
            <a:avLst/>
          </a:prstGeom>
          <a:solidFill>
            <a:srgbClr val="1E40AF"/>
          </a:solidFill>
          <a:ln/>
        </p:spPr>
        <p:txBody>
          <a:bodyPr/>
          <a:lstStyle/>
          <a:p>
            <a:endParaRPr lang="en-US"/>
          </a:p>
        </p:txBody>
      </p:sp>
      <p:sp>
        <p:nvSpPr>
          <p:cNvPr id="152" name="Text 149"/>
          <p:cNvSpPr/>
          <p:nvPr/>
        </p:nvSpPr>
        <p:spPr>
          <a:xfrm>
            <a:off x="6400800" y="65151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fib(4)</a:t>
            </a:r>
            <a:endParaRPr lang="en-US" sz="675" dirty="0"/>
          </a:p>
        </p:txBody>
      </p:sp>
      <p:sp>
        <p:nvSpPr>
          <p:cNvPr id="153" name="Text 150"/>
          <p:cNvSpPr/>
          <p:nvPr/>
        </p:nvSpPr>
        <p:spPr>
          <a:xfrm>
            <a:off x="6400800" y="66294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3</a:t>
            </a:r>
            <a:endParaRPr lang="en-US" sz="675" dirty="0"/>
          </a:p>
        </p:txBody>
      </p:sp>
      <p:sp>
        <p:nvSpPr>
          <p:cNvPr id="154" name="Shape 151"/>
          <p:cNvSpPr/>
          <p:nvPr/>
        </p:nvSpPr>
        <p:spPr>
          <a:xfrm>
            <a:off x="5629275" y="6915150"/>
            <a:ext cx="685800" cy="342900"/>
          </a:xfrm>
          <a:prstGeom prst="rect">
            <a:avLst/>
          </a:prstGeom>
          <a:solidFill>
            <a:srgbClr val="1E40AF"/>
          </a:solidFill>
          <a:ln/>
        </p:spPr>
        <p:txBody>
          <a:bodyPr/>
          <a:lstStyle/>
          <a:p>
            <a:endParaRPr lang="en-US"/>
          </a:p>
        </p:txBody>
      </p:sp>
      <p:sp>
        <p:nvSpPr>
          <p:cNvPr id="155" name="Text 152"/>
          <p:cNvSpPr/>
          <p:nvPr/>
        </p:nvSpPr>
        <p:spPr>
          <a:xfrm>
            <a:off x="5686425" y="69723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fib(3)</a:t>
            </a:r>
            <a:endParaRPr lang="en-US" sz="675" dirty="0"/>
          </a:p>
        </p:txBody>
      </p:sp>
      <p:sp>
        <p:nvSpPr>
          <p:cNvPr id="156" name="Text 153"/>
          <p:cNvSpPr/>
          <p:nvPr/>
        </p:nvSpPr>
        <p:spPr>
          <a:xfrm>
            <a:off x="5686425" y="70866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2</a:t>
            </a:r>
            <a:endParaRPr lang="en-US" sz="675" dirty="0"/>
          </a:p>
        </p:txBody>
      </p:sp>
      <p:sp>
        <p:nvSpPr>
          <p:cNvPr id="157" name="Shape 154"/>
          <p:cNvSpPr/>
          <p:nvPr/>
        </p:nvSpPr>
        <p:spPr>
          <a:xfrm>
            <a:off x="7058025" y="6915150"/>
            <a:ext cx="685800" cy="342900"/>
          </a:xfrm>
          <a:prstGeom prst="rect">
            <a:avLst/>
          </a:prstGeom>
          <a:solidFill>
            <a:srgbClr val="1E40AF"/>
          </a:solidFill>
          <a:ln/>
        </p:spPr>
        <p:txBody>
          <a:bodyPr/>
          <a:lstStyle/>
          <a:p>
            <a:endParaRPr lang="en-US"/>
          </a:p>
        </p:txBody>
      </p:sp>
      <p:sp>
        <p:nvSpPr>
          <p:cNvPr id="158" name="Text 155"/>
          <p:cNvSpPr/>
          <p:nvPr/>
        </p:nvSpPr>
        <p:spPr>
          <a:xfrm>
            <a:off x="7115175" y="69723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fib(2)</a:t>
            </a:r>
            <a:endParaRPr lang="en-US" sz="675" dirty="0"/>
          </a:p>
        </p:txBody>
      </p:sp>
      <p:sp>
        <p:nvSpPr>
          <p:cNvPr id="159" name="Text 156"/>
          <p:cNvSpPr/>
          <p:nvPr/>
        </p:nvSpPr>
        <p:spPr>
          <a:xfrm>
            <a:off x="7115175" y="70866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1</a:t>
            </a:r>
            <a:endParaRPr lang="en-US" sz="675" dirty="0"/>
          </a:p>
        </p:txBody>
      </p:sp>
      <p:sp>
        <p:nvSpPr>
          <p:cNvPr id="160" name="Shape 157"/>
          <p:cNvSpPr/>
          <p:nvPr/>
        </p:nvSpPr>
        <p:spPr>
          <a:xfrm>
            <a:off x="4914900" y="7372350"/>
            <a:ext cx="685800" cy="342900"/>
          </a:xfrm>
          <a:prstGeom prst="rect">
            <a:avLst/>
          </a:prstGeom>
          <a:solidFill>
            <a:srgbClr val="1E40AF"/>
          </a:solidFill>
          <a:ln/>
        </p:spPr>
        <p:txBody>
          <a:bodyPr/>
          <a:lstStyle/>
          <a:p>
            <a:endParaRPr lang="en-US"/>
          </a:p>
        </p:txBody>
      </p:sp>
      <p:sp>
        <p:nvSpPr>
          <p:cNvPr id="161" name="Text 158"/>
          <p:cNvSpPr/>
          <p:nvPr/>
        </p:nvSpPr>
        <p:spPr>
          <a:xfrm>
            <a:off x="4972050" y="74295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fib(2)</a:t>
            </a:r>
            <a:endParaRPr lang="en-US" sz="675" dirty="0"/>
          </a:p>
        </p:txBody>
      </p:sp>
      <p:sp>
        <p:nvSpPr>
          <p:cNvPr id="162" name="Text 159"/>
          <p:cNvSpPr/>
          <p:nvPr/>
        </p:nvSpPr>
        <p:spPr>
          <a:xfrm>
            <a:off x="4972050" y="75438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1</a:t>
            </a:r>
            <a:endParaRPr lang="en-US" sz="675" dirty="0"/>
          </a:p>
        </p:txBody>
      </p:sp>
      <p:sp>
        <p:nvSpPr>
          <p:cNvPr id="163" name="Shape 160"/>
          <p:cNvSpPr/>
          <p:nvPr/>
        </p:nvSpPr>
        <p:spPr>
          <a:xfrm>
            <a:off x="4914900" y="7372350"/>
            <a:ext cx="685800" cy="342900"/>
          </a:xfrm>
          <a:prstGeom prst="rect">
            <a:avLst/>
          </a:prstGeom>
          <a:solidFill>
            <a:srgbClr val="1E40AF"/>
          </a:solidFill>
          <a:ln/>
        </p:spPr>
        <p:txBody>
          <a:bodyPr/>
          <a:lstStyle/>
          <a:p>
            <a:endParaRPr lang="en-US"/>
          </a:p>
        </p:txBody>
      </p:sp>
      <p:sp>
        <p:nvSpPr>
          <p:cNvPr id="164" name="Text 161"/>
          <p:cNvSpPr/>
          <p:nvPr/>
        </p:nvSpPr>
        <p:spPr>
          <a:xfrm>
            <a:off x="4972050" y="74295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fib(1)</a:t>
            </a:r>
            <a:endParaRPr lang="en-US" sz="675" dirty="0"/>
          </a:p>
        </p:txBody>
      </p:sp>
      <p:sp>
        <p:nvSpPr>
          <p:cNvPr id="165" name="Text 162"/>
          <p:cNvSpPr/>
          <p:nvPr/>
        </p:nvSpPr>
        <p:spPr>
          <a:xfrm>
            <a:off x="4972050" y="75438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1</a:t>
            </a:r>
            <a:endParaRPr lang="en-US" sz="675" dirty="0"/>
          </a:p>
        </p:txBody>
      </p:sp>
      <p:sp>
        <p:nvSpPr>
          <p:cNvPr id="166" name="Shape 163"/>
          <p:cNvSpPr/>
          <p:nvPr/>
        </p:nvSpPr>
        <p:spPr>
          <a:xfrm>
            <a:off x="4914900" y="7372350"/>
            <a:ext cx="685800" cy="342900"/>
          </a:xfrm>
          <a:prstGeom prst="rect">
            <a:avLst/>
          </a:prstGeom>
          <a:solidFill>
            <a:srgbClr val="1E40AF"/>
          </a:solidFill>
          <a:ln/>
        </p:spPr>
        <p:txBody>
          <a:bodyPr/>
          <a:lstStyle/>
          <a:p>
            <a:endParaRPr lang="en-US"/>
          </a:p>
        </p:txBody>
      </p:sp>
      <p:sp>
        <p:nvSpPr>
          <p:cNvPr id="167" name="Text 164"/>
          <p:cNvSpPr/>
          <p:nvPr/>
        </p:nvSpPr>
        <p:spPr>
          <a:xfrm>
            <a:off x="4972050" y="74295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fib(1)</a:t>
            </a:r>
            <a:endParaRPr lang="en-US" sz="675" dirty="0"/>
          </a:p>
        </p:txBody>
      </p:sp>
      <p:sp>
        <p:nvSpPr>
          <p:cNvPr id="168" name="Text 165"/>
          <p:cNvSpPr/>
          <p:nvPr/>
        </p:nvSpPr>
        <p:spPr>
          <a:xfrm>
            <a:off x="4972050" y="75438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1</a:t>
            </a:r>
            <a:endParaRPr lang="en-US" sz="675" dirty="0"/>
          </a:p>
        </p:txBody>
      </p:sp>
      <p:sp>
        <p:nvSpPr>
          <p:cNvPr id="169" name="Shape 166"/>
          <p:cNvSpPr/>
          <p:nvPr/>
        </p:nvSpPr>
        <p:spPr>
          <a:xfrm>
            <a:off x="4914900" y="7372350"/>
            <a:ext cx="685800" cy="342900"/>
          </a:xfrm>
          <a:prstGeom prst="rect">
            <a:avLst/>
          </a:prstGeom>
          <a:solidFill>
            <a:srgbClr val="1E40AF"/>
          </a:solidFill>
          <a:ln/>
        </p:spPr>
        <p:txBody>
          <a:bodyPr/>
          <a:lstStyle/>
          <a:p>
            <a:endParaRPr lang="en-US"/>
          </a:p>
        </p:txBody>
      </p:sp>
      <p:sp>
        <p:nvSpPr>
          <p:cNvPr id="170" name="Text 167"/>
          <p:cNvSpPr/>
          <p:nvPr/>
        </p:nvSpPr>
        <p:spPr>
          <a:xfrm>
            <a:off x="4972050" y="74295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fib(0)</a:t>
            </a:r>
            <a:endParaRPr lang="en-US" sz="675" dirty="0"/>
          </a:p>
        </p:txBody>
      </p:sp>
      <p:sp>
        <p:nvSpPr>
          <p:cNvPr id="171" name="Text 168"/>
          <p:cNvSpPr/>
          <p:nvPr/>
        </p:nvSpPr>
        <p:spPr>
          <a:xfrm>
            <a:off x="4972050" y="75438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0</a:t>
            </a:r>
            <a:endParaRPr lang="en-US" sz="675" dirty="0"/>
          </a:p>
        </p:txBody>
      </p:sp>
      <p:sp>
        <p:nvSpPr>
          <p:cNvPr id="172" name="Shape 169"/>
          <p:cNvSpPr/>
          <p:nvPr/>
        </p:nvSpPr>
        <p:spPr>
          <a:xfrm>
            <a:off x="4914900" y="7829550"/>
            <a:ext cx="685800" cy="342900"/>
          </a:xfrm>
          <a:prstGeom prst="rect">
            <a:avLst/>
          </a:prstGeom>
          <a:solidFill>
            <a:srgbClr val="1E40AF"/>
          </a:solidFill>
          <a:ln/>
        </p:spPr>
        <p:txBody>
          <a:bodyPr/>
          <a:lstStyle/>
          <a:p>
            <a:endParaRPr lang="en-US"/>
          </a:p>
        </p:txBody>
      </p:sp>
      <p:sp>
        <p:nvSpPr>
          <p:cNvPr id="173" name="Text 170"/>
          <p:cNvSpPr/>
          <p:nvPr/>
        </p:nvSpPr>
        <p:spPr>
          <a:xfrm>
            <a:off x="4972050" y="78867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fib(1)</a:t>
            </a:r>
            <a:endParaRPr lang="en-US" sz="675" dirty="0"/>
          </a:p>
        </p:txBody>
      </p:sp>
      <p:sp>
        <p:nvSpPr>
          <p:cNvPr id="174" name="Text 171"/>
          <p:cNvSpPr/>
          <p:nvPr/>
        </p:nvSpPr>
        <p:spPr>
          <a:xfrm>
            <a:off x="4972050" y="80010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1</a:t>
            </a:r>
            <a:endParaRPr lang="en-US" sz="675" dirty="0"/>
          </a:p>
        </p:txBody>
      </p:sp>
      <p:sp>
        <p:nvSpPr>
          <p:cNvPr id="175" name="Shape 172"/>
          <p:cNvSpPr/>
          <p:nvPr/>
        </p:nvSpPr>
        <p:spPr>
          <a:xfrm>
            <a:off x="4914900" y="7829550"/>
            <a:ext cx="685800" cy="342900"/>
          </a:xfrm>
          <a:prstGeom prst="rect">
            <a:avLst/>
          </a:prstGeom>
          <a:solidFill>
            <a:srgbClr val="1E40AF"/>
          </a:solidFill>
          <a:ln/>
        </p:spPr>
        <p:txBody>
          <a:bodyPr/>
          <a:lstStyle/>
          <a:p>
            <a:endParaRPr lang="en-US"/>
          </a:p>
        </p:txBody>
      </p:sp>
      <p:sp>
        <p:nvSpPr>
          <p:cNvPr id="176" name="Text 173"/>
          <p:cNvSpPr/>
          <p:nvPr/>
        </p:nvSpPr>
        <p:spPr>
          <a:xfrm>
            <a:off x="4972050" y="78867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fib(0)</a:t>
            </a:r>
            <a:endParaRPr lang="en-US" sz="675" dirty="0"/>
          </a:p>
        </p:txBody>
      </p:sp>
      <p:sp>
        <p:nvSpPr>
          <p:cNvPr id="177" name="Text 174"/>
          <p:cNvSpPr/>
          <p:nvPr/>
        </p:nvSpPr>
        <p:spPr>
          <a:xfrm>
            <a:off x="4972050" y="8001000"/>
            <a:ext cx="64293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 0</a:t>
            </a:r>
            <a:endParaRPr lang="en-US" sz="675" dirty="0"/>
          </a:p>
        </p:txBody>
      </p:sp>
      <p:pic>
        <p:nvPicPr>
          <p:cNvPr id="178" name="Image 1" descr="preencoded.png"/>
          <p:cNvPicPr>
            <a:picLocks noChangeAspect="1"/>
          </p:cNvPicPr>
          <p:nvPr/>
        </p:nvPicPr>
        <p:blipFill>
          <a:blip r:embed="rId4"/>
          <a:stretch>
            <a:fillRect/>
          </a:stretch>
        </p:blipFill>
        <p:spPr>
          <a:xfrm>
            <a:off x="5257800" y="6457950"/>
            <a:ext cx="2857500" cy="2143125"/>
          </a:xfrm>
          <a:prstGeom prst="rect">
            <a:avLst/>
          </a:prstGeom>
        </p:spPr>
      </p:pic>
      <p:sp>
        <p:nvSpPr>
          <p:cNvPr id="179" name="Text 175"/>
          <p:cNvSpPr/>
          <p:nvPr/>
        </p:nvSpPr>
        <p:spPr>
          <a:xfrm>
            <a:off x="4972050" y="8658225"/>
            <a:ext cx="3500438" cy="114300"/>
          </a:xfrm>
          <a:prstGeom prst="rect">
            <a:avLst/>
          </a:prstGeom>
          <a:noFill/>
          <a:ln/>
        </p:spPr>
        <p:txBody>
          <a:bodyPr wrap="squar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Recursive call tree for fibonacci(4)</a:t>
            </a:r>
            <a:endParaRPr lang="en-US" sz="675" dirty="0"/>
          </a:p>
        </p:txBody>
      </p:sp>
      <p:sp>
        <p:nvSpPr>
          <p:cNvPr id="180" name="Shape 176"/>
          <p:cNvSpPr/>
          <p:nvPr/>
        </p:nvSpPr>
        <p:spPr>
          <a:xfrm>
            <a:off x="4857750" y="9058275"/>
            <a:ext cx="3657600" cy="1285875"/>
          </a:xfrm>
          <a:prstGeom prst="rect">
            <a:avLst/>
          </a:prstGeom>
          <a:solidFill>
            <a:srgbClr val="78350F">
              <a:alpha val="20000"/>
            </a:srgbClr>
          </a:solidFill>
          <a:ln/>
        </p:spPr>
        <p:txBody>
          <a:bodyPr/>
          <a:lstStyle/>
          <a:p>
            <a:endParaRPr lang="en-US"/>
          </a:p>
        </p:txBody>
      </p:sp>
      <p:pic>
        <p:nvPicPr>
          <p:cNvPr id="181" name="Image 2" descr="preencoded.png"/>
          <p:cNvPicPr>
            <a:picLocks noChangeAspect="1"/>
          </p:cNvPicPr>
          <p:nvPr/>
        </p:nvPicPr>
        <p:blipFill>
          <a:blip r:embed="rId5"/>
          <a:stretch>
            <a:fillRect/>
          </a:stretch>
        </p:blipFill>
        <p:spPr>
          <a:xfrm>
            <a:off x="4972050" y="9615488"/>
            <a:ext cx="128588" cy="171450"/>
          </a:xfrm>
          <a:prstGeom prst="rect">
            <a:avLst/>
          </a:prstGeom>
        </p:spPr>
      </p:pic>
      <p:sp>
        <p:nvSpPr>
          <p:cNvPr id="182" name="Text 177"/>
          <p:cNvSpPr/>
          <p:nvPr/>
        </p:nvSpPr>
        <p:spPr>
          <a:xfrm>
            <a:off x="5214938" y="9172575"/>
            <a:ext cx="3167779"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Key Insights for Complex Dry Runs</a:t>
            </a:r>
            <a:endParaRPr lang="en-US" sz="1013" dirty="0"/>
          </a:p>
        </p:txBody>
      </p:sp>
      <p:sp>
        <p:nvSpPr>
          <p:cNvPr id="183" name="Text 178"/>
          <p:cNvSpPr/>
          <p:nvPr/>
        </p:nvSpPr>
        <p:spPr>
          <a:xfrm>
            <a:off x="5214938" y="9401175"/>
            <a:ext cx="316777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Use appropriate visualization techniques for different algorithm types</a:t>
            </a:r>
            <a:endParaRPr lang="en-US" sz="788" dirty="0"/>
          </a:p>
        </p:txBody>
      </p:sp>
      <p:sp>
        <p:nvSpPr>
          <p:cNvPr id="184" name="Text 179"/>
          <p:cNvSpPr/>
          <p:nvPr/>
        </p:nvSpPr>
        <p:spPr>
          <a:xfrm>
            <a:off x="5214938" y="9572625"/>
            <a:ext cx="316777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For recursion, track the call stack and return values carefully</a:t>
            </a:r>
            <a:endParaRPr lang="en-US" sz="788" dirty="0"/>
          </a:p>
        </p:txBody>
      </p:sp>
      <p:sp>
        <p:nvSpPr>
          <p:cNvPr id="185" name="Text 180"/>
          <p:cNvSpPr/>
          <p:nvPr/>
        </p:nvSpPr>
        <p:spPr>
          <a:xfrm>
            <a:off x="5214938" y="9744075"/>
            <a:ext cx="316777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For nested loops, maintain clear separation between iterations</a:t>
            </a:r>
            <a:endParaRPr lang="en-US" sz="788" dirty="0"/>
          </a:p>
        </p:txBody>
      </p:sp>
      <p:sp>
        <p:nvSpPr>
          <p:cNvPr id="186" name="Text 181"/>
          <p:cNvSpPr/>
          <p:nvPr/>
        </p:nvSpPr>
        <p:spPr>
          <a:xfrm>
            <a:off x="5214938" y="9915525"/>
            <a:ext cx="316777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Document intermediate states to catch subtle bugs</a:t>
            </a:r>
            <a:endParaRPr lang="en-US" sz="788" dirty="0"/>
          </a:p>
        </p:txBody>
      </p:sp>
      <p:sp>
        <p:nvSpPr>
          <p:cNvPr id="187" name="Text 182"/>
          <p:cNvSpPr/>
          <p:nvPr/>
        </p:nvSpPr>
        <p:spPr>
          <a:xfrm>
            <a:off x="5214938" y="10086975"/>
            <a:ext cx="316777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Pay special attention to boundary conditions and edge cases</a:t>
            </a:r>
            <a:endParaRPr lang="en-US" sz="788" dirty="0"/>
          </a:p>
        </p:txBody>
      </p:sp>
      <p:sp>
        <p:nvSpPr>
          <p:cNvPr id="188" name="Shape 183"/>
          <p:cNvSpPr/>
          <p:nvPr/>
        </p:nvSpPr>
        <p:spPr>
          <a:xfrm>
            <a:off x="457200" y="11065669"/>
            <a:ext cx="8229600" cy="56435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89" name="Text 184"/>
          <p:cNvSpPr/>
          <p:nvPr/>
        </p:nvSpPr>
        <p:spPr>
          <a:xfrm>
            <a:off x="628650" y="11237119"/>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3: Multi-Condition Logic</a:t>
            </a:r>
            <a:endParaRPr lang="en-US" sz="1350" dirty="0"/>
          </a:p>
        </p:txBody>
      </p:sp>
      <p:sp>
        <p:nvSpPr>
          <p:cNvPr id="190" name="Shape 185"/>
          <p:cNvSpPr/>
          <p:nvPr/>
        </p:nvSpPr>
        <p:spPr>
          <a:xfrm>
            <a:off x="628650" y="11580019"/>
            <a:ext cx="3857625" cy="4829175"/>
          </a:xfrm>
          <a:prstGeom prst="rect">
            <a:avLst/>
          </a:prstGeom>
          <a:solidFill>
            <a:srgbClr val="1E3A8A">
              <a:alpha val="30000"/>
            </a:srgbClr>
          </a:solidFill>
          <a:ln/>
        </p:spPr>
        <p:txBody>
          <a:bodyPr/>
          <a:lstStyle/>
          <a:p>
            <a:endParaRPr lang="en-US"/>
          </a:p>
        </p:txBody>
      </p:sp>
      <p:sp>
        <p:nvSpPr>
          <p:cNvPr id="191" name="Shape 186"/>
          <p:cNvSpPr/>
          <p:nvPr/>
        </p:nvSpPr>
        <p:spPr>
          <a:xfrm>
            <a:off x="628650" y="11580019"/>
            <a:ext cx="28575" cy="4829175"/>
          </a:xfrm>
          <a:prstGeom prst="rect">
            <a:avLst/>
          </a:prstGeom>
          <a:solidFill>
            <a:srgbClr val="63B3ED"/>
          </a:solidFill>
          <a:ln/>
        </p:spPr>
        <p:txBody>
          <a:bodyPr/>
          <a:lstStyle/>
          <a:p>
            <a:endParaRPr lang="en-US"/>
          </a:p>
        </p:txBody>
      </p:sp>
      <p:sp>
        <p:nvSpPr>
          <p:cNvPr id="192" name="Text 187"/>
          <p:cNvSpPr/>
          <p:nvPr/>
        </p:nvSpPr>
        <p:spPr>
          <a:xfrm>
            <a:off x="742950" y="11665744"/>
            <a:ext cx="38147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Code</a:t>
            </a:r>
            <a:endParaRPr lang="en-US" sz="1125" dirty="0"/>
          </a:p>
        </p:txBody>
      </p:sp>
      <p:sp>
        <p:nvSpPr>
          <p:cNvPr id="193" name="Shape 188"/>
          <p:cNvSpPr/>
          <p:nvPr/>
        </p:nvSpPr>
        <p:spPr>
          <a:xfrm>
            <a:off x="742950" y="11951494"/>
            <a:ext cx="3743325" cy="4371975"/>
          </a:xfrm>
          <a:prstGeom prst="rect">
            <a:avLst/>
          </a:prstGeom>
          <a:solidFill>
            <a:srgbClr val="1A202C"/>
          </a:solidFill>
          <a:ln/>
        </p:spPr>
        <p:txBody>
          <a:bodyPr/>
          <a:lstStyle/>
          <a:p>
            <a:endParaRPr lang="en-US"/>
          </a:p>
        </p:txBody>
      </p:sp>
      <p:sp>
        <p:nvSpPr>
          <p:cNvPr id="194" name="Text 189"/>
          <p:cNvSpPr/>
          <p:nvPr/>
        </p:nvSpPr>
        <p:spPr>
          <a:xfrm>
            <a:off x="857250" y="12069366"/>
            <a:ext cx="551520"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function</a:t>
            </a:r>
            <a:endParaRPr lang="en-US" sz="788" dirty="0"/>
          </a:p>
        </p:txBody>
      </p:sp>
      <p:sp>
        <p:nvSpPr>
          <p:cNvPr id="195" name="Text 190"/>
          <p:cNvSpPr/>
          <p:nvPr/>
        </p:nvSpPr>
        <p:spPr>
          <a:xfrm>
            <a:off x="1337332" y="12069366"/>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validatePassword(password) {</a:t>
            </a:r>
            <a:endParaRPr lang="en-US" sz="788" dirty="0"/>
          </a:p>
        </p:txBody>
      </p:sp>
      <p:sp>
        <p:nvSpPr>
          <p:cNvPr id="196" name="Text 191"/>
          <p:cNvSpPr/>
          <p:nvPr/>
        </p:nvSpPr>
        <p:spPr>
          <a:xfrm>
            <a:off x="977271" y="12212241"/>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97" name="Text 192"/>
          <p:cNvSpPr/>
          <p:nvPr/>
        </p:nvSpPr>
        <p:spPr>
          <a:xfrm>
            <a:off x="1157315" y="12212241"/>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isValid = true;</a:t>
            </a:r>
            <a:endParaRPr lang="en-US" sz="788" dirty="0"/>
          </a:p>
        </p:txBody>
      </p:sp>
      <p:sp>
        <p:nvSpPr>
          <p:cNvPr id="198" name="Text 193"/>
          <p:cNvSpPr/>
          <p:nvPr/>
        </p:nvSpPr>
        <p:spPr>
          <a:xfrm>
            <a:off x="977271" y="12355116"/>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let</a:t>
            </a:r>
            <a:endParaRPr lang="en-US" sz="788" dirty="0"/>
          </a:p>
        </p:txBody>
      </p:sp>
      <p:sp>
        <p:nvSpPr>
          <p:cNvPr id="199" name="Text 194"/>
          <p:cNvSpPr/>
          <p:nvPr/>
        </p:nvSpPr>
        <p:spPr>
          <a:xfrm>
            <a:off x="1157315" y="12355116"/>
            <a:ext cx="85155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errors = [];</a:t>
            </a:r>
            <a:endParaRPr lang="en-US" sz="788" dirty="0"/>
          </a:p>
        </p:txBody>
      </p:sp>
      <p:sp>
        <p:nvSpPr>
          <p:cNvPr id="200" name="Text 195"/>
          <p:cNvSpPr/>
          <p:nvPr/>
        </p:nvSpPr>
        <p:spPr>
          <a:xfrm>
            <a:off x="977271" y="12640866"/>
            <a:ext cx="971550"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Check length</a:t>
            </a:r>
            <a:endParaRPr lang="en-US" sz="788" dirty="0"/>
          </a:p>
        </p:txBody>
      </p:sp>
      <p:sp>
        <p:nvSpPr>
          <p:cNvPr id="201" name="Text 196"/>
          <p:cNvSpPr/>
          <p:nvPr/>
        </p:nvSpPr>
        <p:spPr>
          <a:xfrm>
            <a:off x="977271" y="12783741"/>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02" name="Text 197"/>
          <p:cNvSpPr/>
          <p:nvPr/>
        </p:nvSpPr>
        <p:spPr>
          <a:xfrm>
            <a:off x="1097291" y="12783741"/>
            <a:ext cx="151162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(password.length &lt; 8) {</a:t>
            </a:r>
            <a:endParaRPr lang="en-US" sz="788" dirty="0"/>
          </a:p>
        </p:txBody>
      </p:sp>
      <p:sp>
        <p:nvSpPr>
          <p:cNvPr id="203" name="Text 198"/>
          <p:cNvSpPr/>
          <p:nvPr/>
        </p:nvSpPr>
        <p:spPr>
          <a:xfrm>
            <a:off x="857250" y="12926616"/>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isValid = false;</a:t>
            </a:r>
            <a:endParaRPr lang="en-US" sz="788" dirty="0"/>
          </a:p>
        </p:txBody>
      </p:sp>
      <p:sp>
        <p:nvSpPr>
          <p:cNvPr id="204" name="Text 199"/>
          <p:cNvSpPr/>
          <p:nvPr/>
        </p:nvSpPr>
        <p:spPr>
          <a:xfrm>
            <a:off x="857250" y="13069491"/>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errors.push("Too short");</a:t>
            </a:r>
            <a:endParaRPr lang="en-US" sz="788" dirty="0"/>
          </a:p>
        </p:txBody>
      </p:sp>
      <p:sp>
        <p:nvSpPr>
          <p:cNvPr id="205" name="Text 200"/>
          <p:cNvSpPr/>
          <p:nvPr/>
        </p:nvSpPr>
        <p:spPr>
          <a:xfrm>
            <a:off x="857250" y="13212366"/>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06" name="Text 201"/>
          <p:cNvSpPr/>
          <p:nvPr/>
        </p:nvSpPr>
        <p:spPr>
          <a:xfrm>
            <a:off x="977271" y="13498116"/>
            <a:ext cx="139160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Check for uppercase</a:t>
            </a:r>
            <a:endParaRPr lang="en-US" sz="788" dirty="0"/>
          </a:p>
        </p:txBody>
      </p:sp>
      <p:sp>
        <p:nvSpPr>
          <p:cNvPr id="207" name="Text 202"/>
          <p:cNvSpPr/>
          <p:nvPr/>
        </p:nvSpPr>
        <p:spPr>
          <a:xfrm>
            <a:off x="977271" y="13640991"/>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08" name="Text 203"/>
          <p:cNvSpPr/>
          <p:nvPr/>
        </p:nvSpPr>
        <p:spPr>
          <a:xfrm>
            <a:off x="1097291" y="13640991"/>
            <a:ext cx="175167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(!/[A-Z]/.test(password)) {</a:t>
            </a:r>
            <a:endParaRPr lang="en-US" sz="788" dirty="0"/>
          </a:p>
        </p:txBody>
      </p:sp>
      <p:sp>
        <p:nvSpPr>
          <p:cNvPr id="209" name="Text 204"/>
          <p:cNvSpPr/>
          <p:nvPr/>
        </p:nvSpPr>
        <p:spPr>
          <a:xfrm>
            <a:off x="857250" y="13783866"/>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isValid = false;</a:t>
            </a:r>
            <a:endParaRPr lang="en-US" sz="788" dirty="0"/>
          </a:p>
        </p:txBody>
      </p:sp>
      <p:sp>
        <p:nvSpPr>
          <p:cNvPr id="210" name="Text 205"/>
          <p:cNvSpPr/>
          <p:nvPr/>
        </p:nvSpPr>
        <p:spPr>
          <a:xfrm>
            <a:off x="857250" y="13926741"/>
            <a:ext cx="1991683"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errors.push("No uppercase");</a:t>
            </a:r>
            <a:endParaRPr lang="en-US" sz="788" dirty="0"/>
          </a:p>
        </p:txBody>
      </p:sp>
      <p:sp>
        <p:nvSpPr>
          <p:cNvPr id="211" name="Text 206"/>
          <p:cNvSpPr/>
          <p:nvPr/>
        </p:nvSpPr>
        <p:spPr>
          <a:xfrm>
            <a:off x="857250" y="14069616"/>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12" name="Text 207"/>
          <p:cNvSpPr/>
          <p:nvPr/>
        </p:nvSpPr>
        <p:spPr>
          <a:xfrm>
            <a:off x="977271" y="14355366"/>
            <a:ext cx="1211591"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Check for number</a:t>
            </a:r>
            <a:endParaRPr lang="en-US" sz="788" dirty="0"/>
          </a:p>
        </p:txBody>
      </p:sp>
      <p:sp>
        <p:nvSpPr>
          <p:cNvPr id="213" name="Text 208"/>
          <p:cNvSpPr/>
          <p:nvPr/>
        </p:nvSpPr>
        <p:spPr>
          <a:xfrm>
            <a:off x="977271" y="14498241"/>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14" name="Text 209"/>
          <p:cNvSpPr/>
          <p:nvPr/>
        </p:nvSpPr>
        <p:spPr>
          <a:xfrm>
            <a:off x="1097291" y="14498241"/>
            <a:ext cx="175167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(!/[0-9]/.test(password)) {</a:t>
            </a:r>
            <a:endParaRPr lang="en-US" sz="788" dirty="0"/>
          </a:p>
        </p:txBody>
      </p:sp>
      <p:sp>
        <p:nvSpPr>
          <p:cNvPr id="215" name="Text 210"/>
          <p:cNvSpPr/>
          <p:nvPr/>
        </p:nvSpPr>
        <p:spPr>
          <a:xfrm>
            <a:off x="857250" y="14641116"/>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isValid = false;</a:t>
            </a:r>
            <a:endParaRPr lang="en-US" sz="788" dirty="0"/>
          </a:p>
        </p:txBody>
      </p:sp>
      <p:sp>
        <p:nvSpPr>
          <p:cNvPr id="216" name="Text 211"/>
          <p:cNvSpPr/>
          <p:nvPr/>
        </p:nvSpPr>
        <p:spPr>
          <a:xfrm>
            <a:off x="857250" y="14783991"/>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errors.push("No number");</a:t>
            </a:r>
            <a:endParaRPr lang="en-US" sz="788" dirty="0"/>
          </a:p>
        </p:txBody>
      </p:sp>
      <p:sp>
        <p:nvSpPr>
          <p:cNvPr id="217" name="Text 212"/>
          <p:cNvSpPr/>
          <p:nvPr/>
        </p:nvSpPr>
        <p:spPr>
          <a:xfrm>
            <a:off x="857250" y="14926866"/>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18" name="Text 213"/>
          <p:cNvSpPr/>
          <p:nvPr/>
        </p:nvSpPr>
        <p:spPr>
          <a:xfrm>
            <a:off x="977271" y="15212616"/>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219" name="Text 214"/>
          <p:cNvSpPr/>
          <p:nvPr/>
        </p:nvSpPr>
        <p:spPr>
          <a:xfrm>
            <a:off x="1337332" y="15212616"/>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20" name="Text 215"/>
          <p:cNvSpPr/>
          <p:nvPr/>
        </p:nvSpPr>
        <p:spPr>
          <a:xfrm>
            <a:off x="857250" y="15355491"/>
            <a:ext cx="133161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isValid: isValid,</a:t>
            </a:r>
            <a:endParaRPr lang="en-US" sz="788" dirty="0"/>
          </a:p>
        </p:txBody>
      </p:sp>
      <p:sp>
        <p:nvSpPr>
          <p:cNvPr id="221" name="Text 216"/>
          <p:cNvSpPr/>
          <p:nvPr/>
        </p:nvSpPr>
        <p:spPr>
          <a:xfrm>
            <a:off x="857250" y="15498366"/>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errors: errors</a:t>
            </a:r>
            <a:endParaRPr lang="en-US" sz="788" dirty="0"/>
          </a:p>
        </p:txBody>
      </p:sp>
      <p:sp>
        <p:nvSpPr>
          <p:cNvPr id="222" name="Text 217"/>
          <p:cNvSpPr/>
          <p:nvPr/>
        </p:nvSpPr>
        <p:spPr>
          <a:xfrm>
            <a:off x="857250" y="15641241"/>
            <a:ext cx="31147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23" name="Text 218"/>
          <p:cNvSpPr/>
          <p:nvPr/>
        </p:nvSpPr>
        <p:spPr>
          <a:xfrm>
            <a:off x="857250" y="15784116"/>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24" name="Text 219"/>
          <p:cNvSpPr/>
          <p:nvPr/>
        </p:nvSpPr>
        <p:spPr>
          <a:xfrm>
            <a:off x="857250" y="16069866"/>
            <a:ext cx="139160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Call with "Pass123"</a:t>
            </a:r>
            <a:endParaRPr lang="en-US" sz="788" dirty="0"/>
          </a:p>
        </p:txBody>
      </p:sp>
      <p:sp>
        <p:nvSpPr>
          <p:cNvPr id="225" name="Shape 220"/>
          <p:cNvSpPr/>
          <p:nvPr/>
        </p:nvSpPr>
        <p:spPr>
          <a:xfrm>
            <a:off x="4657725" y="11580019"/>
            <a:ext cx="3857625" cy="3336131"/>
          </a:xfrm>
          <a:prstGeom prst="rect">
            <a:avLst/>
          </a:prstGeom>
          <a:solidFill>
            <a:srgbClr val="1E3A8A">
              <a:alpha val="30000"/>
            </a:srgbClr>
          </a:solidFill>
          <a:ln/>
        </p:spPr>
        <p:txBody>
          <a:bodyPr/>
          <a:lstStyle/>
          <a:p>
            <a:endParaRPr lang="en-US"/>
          </a:p>
        </p:txBody>
      </p:sp>
      <p:sp>
        <p:nvSpPr>
          <p:cNvPr id="226" name="Shape 221"/>
          <p:cNvSpPr/>
          <p:nvPr/>
        </p:nvSpPr>
        <p:spPr>
          <a:xfrm>
            <a:off x="4657725" y="11580019"/>
            <a:ext cx="28575" cy="3336131"/>
          </a:xfrm>
          <a:prstGeom prst="rect">
            <a:avLst/>
          </a:prstGeom>
          <a:solidFill>
            <a:srgbClr val="63B3ED"/>
          </a:solidFill>
          <a:ln/>
        </p:spPr>
        <p:txBody>
          <a:bodyPr/>
          <a:lstStyle/>
          <a:p>
            <a:endParaRPr lang="en-US"/>
          </a:p>
        </p:txBody>
      </p:sp>
      <p:sp>
        <p:nvSpPr>
          <p:cNvPr id="227" name="Text 222"/>
          <p:cNvSpPr/>
          <p:nvPr/>
        </p:nvSpPr>
        <p:spPr>
          <a:xfrm>
            <a:off x="4772025" y="11665744"/>
            <a:ext cx="3814763"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Table</a:t>
            </a:r>
            <a:endParaRPr lang="en-US" sz="1125" dirty="0"/>
          </a:p>
        </p:txBody>
      </p:sp>
      <p:sp>
        <p:nvSpPr>
          <p:cNvPr id="228" name="Shape 223"/>
          <p:cNvSpPr/>
          <p:nvPr/>
        </p:nvSpPr>
        <p:spPr>
          <a:xfrm>
            <a:off x="4772025" y="11894344"/>
            <a:ext cx="3743325" cy="1650206"/>
          </a:xfrm>
          <a:prstGeom prst="rect">
            <a:avLst/>
          </a:prstGeom>
          <a:solidFill>
            <a:srgbClr val="1E3A8A">
              <a:alpha val="20000"/>
            </a:srgbClr>
          </a:solidFill>
          <a:ln/>
        </p:spPr>
        <p:txBody>
          <a:bodyPr/>
          <a:lstStyle/>
          <a:p>
            <a:endParaRPr lang="en-US"/>
          </a:p>
        </p:txBody>
      </p:sp>
      <p:sp>
        <p:nvSpPr>
          <p:cNvPr id="229" name="Text 224"/>
          <p:cNvSpPr/>
          <p:nvPr/>
        </p:nvSpPr>
        <p:spPr>
          <a:xfrm>
            <a:off x="4772025" y="11894344"/>
            <a:ext cx="528414"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230" name="Text 225"/>
          <p:cNvSpPr/>
          <p:nvPr/>
        </p:nvSpPr>
        <p:spPr>
          <a:xfrm>
            <a:off x="5229002" y="11894344"/>
            <a:ext cx="584783"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Line</a:t>
            </a:r>
            <a:endParaRPr lang="en-US" sz="900" dirty="0"/>
          </a:p>
        </p:txBody>
      </p:sp>
      <p:sp>
        <p:nvSpPr>
          <p:cNvPr id="231" name="Text 226"/>
          <p:cNvSpPr/>
          <p:nvPr/>
        </p:nvSpPr>
        <p:spPr>
          <a:xfrm>
            <a:off x="5742347" y="11894344"/>
            <a:ext cx="1681432" cy="232172"/>
          </a:xfrm>
          <a:prstGeom prst="rect">
            <a:avLst/>
          </a:prstGeom>
          <a:noFill/>
          <a:ln/>
        </p:spPr>
        <p:txBody>
          <a:bodyPr wrap="squar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Condition</a:t>
            </a:r>
            <a:endParaRPr lang="en-US" sz="900" dirty="0"/>
          </a:p>
        </p:txBody>
      </p:sp>
      <p:sp>
        <p:nvSpPr>
          <p:cNvPr id="232" name="Text 227"/>
          <p:cNvSpPr/>
          <p:nvPr/>
        </p:nvSpPr>
        <p:spPr>
          <a:xfrm>
            <a:off x="7352342" y="11894344"/>
            <a:ext cx="672936"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isValid</a:t>
            </a:r>
            <a:endParaRPr lang="en-US" sz="900" dirty="0"/>
          </a:p>
        </p:txBody>
      </p:sp>
      <p:sp>
        <p:nvSpPr>
          <p:cNvPr id="233" name="Text 228"/>
          <p:cNvSpPr/>
          <p:nvPr/>
        </p:nvSpPr>
        <p:spPr>
          <a:xfrm>
            <a:off x="7953840" y="11894344"/>
            <a:ext cx="632947"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errors</a:t>
            </a:r>
            <a:endParaRPr lang="en-US" sz="900" dirty="0"/>
          </a:p>
        </p:txBody>
      </p:sp>
      <p:sp>
        <p:nvSpPr>
          <p:cNvPr id="234" name="Text 229"/>
          <p:cNvSpPr/>
          <p:nvPr/>
        </p:nvSpPr>
        <p:spPr>
          <a:xfrm>
            <a:off x="4772025" y="12126516"/>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35" name="Text 230"/>
          <p:cNvSpPr/>
          <p:nvPr/>
        </p:nvSpPr>
        <p:spPr>
          <a:xfrm>
            <a:off x="5229002" y="12126516"/>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236" name="Text 231"/>
          <p:cNvSpPr/>
          <p:nvPr/>
        </p:nvSpPr>
        <p:spPr>
          <a:xfrm>
            <a:off x="5742347" y="12126516"/>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7" name="Text 232"/>
          <p:cNvSpPr/>
          <p:nvPr/>
        </p:nvSpPr>
        <p:spPr>
          <a:xfrm>
            <a:off x="7352342" y="12126516"/>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8" name="Text 233"/>
          <p:cNvSpPr/>
          <p:nvPr/>
        </p:nvSpPr>
        <p:spPr>
          <a:xfrm>
            <a:off x="7953840" y="12126516"/>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39" name="Text 234"/>
          <p:cNvSpPr/>
          <p:nvPr/>
        </p:nvSpPr>
        <p:spPr>
          <a:xfrm>
            <a:off x="4772025" y="12362259"/>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240" name="Text 235"/>
          <p:cNvSpPr/>
          <p:nvPr/>
        </p:nvSpPr>
        <p:spPr>
          <a:xfrm>
            <a:off x="5229002" y="12362259"/>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2-3</a:t>
            </a:r>
            <a:endParaRPr lang="en-US" sz="900" dirty="0"/>
          </a:p>
        </p:txBody>
      </p:sp>
      <p:sp>
        <p:nvSpPr>
          <p:cNvPr id="241" name="Text 236"/>
          <p:cNvSpPr/>
          <p:nvPr/>
        </p:nvSpPr>
        <p:spPr>
          <a:xfrm>
            <a:off x="5742347" y="12362259"/>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42" name="Text 237"/>
          <p:cNvSpPr/>
          <p:nvPr/>
        </p:nvSpPr>
        <p:spPr>
          <a:xfrm>
            <a:off x="7352342" y="12362259"/>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243" name="Text 238"/>
          <p:cNvSpPr/>
          <p:nvPr/>
        </p:nvSpPr>
        <p:spPr>
          <a:xfrm>
            <a:off x="7953840" y="12362259"/>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44" name="Text 239"/>
          <p:cNvSpPr/>
          <p:nvPr/>
        </p:nvSpPr>
        <p:spPr>
          <a:xfrm>
            <a:off x="4772025" y="12598003"/>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245" name="Text 240"/>
          <p:cNvSpPr/>
          <p:nvPr/>
        </p:nvSpPr>
        <p:spPr>
          <a:xfrm>
            <a:off x="5229002" y="12598003"/>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246" name="Text 241"/>
          <p:cNvSpPr/>
          <p:nvPr/>
        </p:nvSpPr>
        <p:spPr>
          <a:xfrm>
            <a:off x="5742347" y="12598003"/>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Pass123.length &lt; 8</a:t>
            </a:r>
            <a:endParaRPr lang="en-US" sz="900" dirty="0"/>
          </a:p>
        </p:txBody>
      </p:sp>
      <p:sp>
        <p:nvSpPr>
          <p:cNvPr id="247" name="Text 242"/>
          <p:cNvSpPr/>
          <p:nvPr/>
        </p:nvSpPr>
        <p:spPr>
          <a:xfrm>
            <a:off x="7352342" y="12598003"/>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248" name="Text 243"/>
          <p:cNvSpPr/>
          <p:nvPr/>
        </p:nvSpPr>
        <p:spPr>
          <a:xfrm>
            <a:off x="7953840" y="12598003"/>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49" name="Text 244"/>
          <p:cNvSpPr/>
          <p:nvPr/>
        </p:nvSpPr>
        <p:spPr>
          <a:xfrm>
            <a:off x="4772025" y="12833747"/>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4</a:t>
            </a:r>
            <a:endParaRPr lang="en-US" sz="900" dirty="0"/>
          </a:p>
        </p:txBody>
      </p:sp>
      <p:sp>
        <p:nvSpPr>
          <p:cNvPr id="250" name="Text 245"/>
          <p:cNvSpPr/>
          <p:nvPr/>
        </p:nvSpPr>
        <p:spPr>
          <a:xfrm>
            <a:off x="5229002" y="12833747"/>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11</a:t>
            </a:r>
            <a:endParaRPr lang="en-US" sz="900" dirty="0"/>
          </a:p>
        </p:txBody>
      </p:sp>
      <p:sp>
        <p:nvSpPr>
          <p:cNvPr id="251" name="Text 246"/>
          <p:cNvSpPr/>
          <p:nvPr/>
        </p:nvSpPr>
        <p:spPr>
          <a:xfrm>
            <a:off x="5742347" y="12833747"/>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!/[A-Z]/.test("Pass123")</a:t>
            </a:r>
            <a:endParaRPr lang="en-US" sz="900" dirty="0"/>
          </a:p>
        </p:txBody>
      </p:sp>
      <p:sp>
        <p:nvSpPr>
          <p:cNvPr id="252" name="Text 247"/>
          <p:cNvSpPr/>
          <p:nvPr/>
        </p:nvSpPr>
        <p:spPr>
          <a:xfrm>
            <a:off x="7352342" y="12833747"/>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253" name="Text 248"/>
          <p:cNvSpPr/>
          <p:nvPr/>
        </p:nvSpPr>
        <p:spPr>
          <a:xfrm>
            <a:off x="7953840" y="12833747"/>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54" name="Text 249"/>
          <p:cNvSpPr/>
          <p:nvPr/>
        </p:nvSpPr>
        <p:spPr>
          <a:xfrm>
            <a:off x="4772025" y="13069491"/>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255" name="Text 250"/>
          <p:cNvSpPr/>
          <p:nvPr/>
        </p:nvSpPr>
        <p:spPr>
          <a:xfrm>
            <a:off x="5229002" y="13069491"/>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17</a:t>
            </a:r>
            <a:endParaRPr lang="en-US" sz="900" dirty="0"/>
          </a:p>
        </p:txBody>
      </p:sp>
      <p:sp>
        <p:nvSpPr>
          <p:cNvPr id="256" name="Text 251"/>
          <p:cNvSpPr/>
          <p:nvPr/>
        </p:nvSpPr>
        <p:spPr>
          <a:xfrm>
            <a:off x="5742347" y="13069491"/>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!/[0-9]/.test("Pass123")</a:t>
            </a:r>
            <a:endParaRPr lang="en-US" sz="900" dirty="0"/>
          </a:p>
        </p:txBody>
      </p:sp>
      <p:sp>
        <p:nvSpPr>
          <p:cNvPr id="257" name="Text 252"/>
          <p:cNvSpPr/>
          <p:nvPr/>
        </p:nvSpPr>
        <p:spPr>
          <a:xfrm>
            <a:off x="7352342" y="13069491"/>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258" name="Text 253"/>
          <p:cNvSpPr/>
          <p:nvPr/>
        </p:nvSpPr>
        <p:spPr>
          <a:xfrm>
            <a:off x="7953840" y="13069491"/>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59" name="Text 254"/>
          <p:cNvSpPr/>
          <p:nvPr/>
        </p:nvSpPr>
        <p:spPr>
          <a:xfrm>
            <a:off x="4772025" y="13305234"/>
            <a:ext cx="52841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6</a:t>
            </a:r>
            <a:endParaRPr lang="en-US" sz="900" dirty="0"/>
          </a:p>
        </p:txBody>
      </p:sp>
      <p:sp>
        <p:nvSpPr>
          <p:cNvPr id="260" name="Text 255"/>
          <p:cNvSpPr/>
          <p:nvPr/>
        </p:nvSpPr>
        <p:spPr>
          <a:xfrm>
            <a:off x="5229002" y="13305234"/>
            <a:ext cx="58478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22-26</a:t>
            </a:r>
            <a:endParaRPr lang="en-US" sz="900" dirty="0"/>
          </a:p>
        </p:txBody>
      </p:sp>
      <p:sp>
        <p:nvSpPr>
          <p:cNvPr id="261" name="Text 256"/>
          <p:cNvSpPr/>
          <p:nvPr/>
        </p:nvSpPr>
        <p:spPr>
          <a:xfrm>
            <a:off x="5742347" y="13305234"/>
            <a:ext cx="1681432" cy="235744"/>
          </a:xfrm>
          <a:prstGeom prst="rect">
            <a:avLst/>
          </a:prstGeom>
          <a:noFill/>
          <a:ln/>
        </p:spPr>
        <p:txBody>
          <a:bodyPr wrap="squar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62" name="Text 257"/>
          <p:cNvSpPr/>
          <p:nvPr/>
        </p:nvSpPr>
        <p:spPr>
          <a:xfrm>
            <a:off x="7352342" y="13305234"/>
            <a:ext cx="67293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263" name="Text 258"/>
          <p:cNvSpPr/>
          <p:nvPr/>
        </p:nvSpPr>
        <p:spPr>
          <a:xfrm>
            <a:off x="7953840" y="13305234"/>
            <a:ext cx="632947"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264" name="Text 259"/>
          <p:cNvSpPr/>
          <p:nvPr/>
        </p:nvSpPr>
        <p:spPr>
          <a:xfrm>
            <a:off x="4772025" y="13601700"/>
            <a:ext cx="3814763"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Return value: { isValid: true, errors: [] }</a:t>
            </a:r>
            <a:endParaRPr lang="en-US" sz="675" dirty="0"/>
          </a:p>
        </p:txBody>
      </p:sp>
      <p:sp>
        <p:nvSpPr>
          <p:cNvPr id="265" name="Text 260"/>
          <p:cNvSpPr/>
          <p:nvPr/>
        </p:nvSpPr>
        <p:spPr>
          <a:xfrm>
            <a:off x="4772025" y="13830300"/>
            <a:ext cx="3814763"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Testing with Different Input</a:t>
            </a:r>
            <a:endParaRPr lang="en-US" sz="1013" dirty="0"/>
          </a:p>
        </p:txBody>
      </p:sp>
      <p:sp>
        <p:nvSpPr>
          <p:cNvPr id="266" name="Text 261"/>
          <p:cNvSpPr/>
          <p:nvPr/>
        </p:nvSpPr>
        <p:spPr>
          <a:xfrm>
            <a:off x="4772025" y="14087475"/>
            <a:ext cx="3814763"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For "pass" input:</a:t>
            </a:r>
            <a:endParaRPr lang="en-US" sz="788" dirty="0"/>
          </a:p>
        </p:txBody>
      </p:sp>
      <p:sp>
        <p:nvSpPr>
          <p:cNvPr id="267" name="Text 262"/>
          <p:cNvSpPr/>
          <p:nvPr/>
        </p:nvSpPr>
        <p:spPr>
          <a:xfrm>
            <a:off x="4772025" y="14287500"/>
            <a:ext cx="3814763"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Length check: fails (length = 4 &lt; 8)</a:t>
            </a:r>
            <a:endParaRPr lang="en-US" sz="675" dirty="0"/>
          </a:p>
        </p:txBody>
      </p:sp>
      <p:sp>
        <p:nvSpPr>
          <p:cNvPr id="268" name="Text 263"/>
          <p:cNvSpPr/>
          <p:nvPr/>
        </p:nvSpPr>
        <p:spPr>
          <a:xfrm>
            <a:off x="4772025" y="14430375"/>
            <a:ext cx="3814763"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Uppercase check: fails (no uppercase)</a:t>
            </a:r>
            <a:endParaRPr lang="en-US" sz="675" dirty="0"/>
          </a:p>
        </p:txBody>
      </p:sp>
      <p:sp>
        <p:nvSpPr>
          <p:cNvPr id="269" name="Text 264"/>
          <p:cNvSpPr/>
          <p:nvPr/>
        </p:nvSpPr>
        <p:spPr>
          <a:xfrm>
            <a:off x="4772025" y="14573250"/>
            <a:ext cx="3814763"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Number check: fails (no number)</a:t>
            </a:r>
            <a:endParaRPr lang="en-US" sz="675" dirty="0"/>
          </a:p>
        </p:txBody>
      </p:sp>
      <p:sp>
        <p:nvSpPr>
          <p:cNvPr id="270" name="Text 265"/>
          <p:cNvSpPr/>
          <p:nvPr/>
        </p:nvSpPr>
        <p:spPr>
          <a:xfrm>
            <a:off x="4772025" y="14716125"/>
            <a:ext cx="3814763"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Result: { isValid: false, errors: ["Too short", "No uppercase", "No number"] }</a:t>
            </a:r>
            <a:endParaRPr lang="en-US" sz="6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3673138"/>
          </a:xfrm>
          <a:prstGeom prst="rect">
            <a:avLst/>
          </a:prstGeom>
        </p:spPr>
      </p:pic>
      <p:sp>
        <p:nvSpPr>
          <p:cNvPr id="3" name="Text 0"/>
          <p:cNvSpPr/>
          <p:nvPr/>
        </p:nvSpPr>
        <p:spPr>
          <a:xfrm>
            <a:off x="457200" y="455414"/>
            <a:ext cx="1956941"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Introduction to</a:t>
            </a:r>
            <a:endParaRPr lang="en-US" sz="2025" dirty="0"/>
          </a:p>
        </p:txBody>
      </p:sp>
      <p:sp>
        <p:nvSpPr>
          <p:cNvPr id="4" name="Text 1"/>
          <p:cNvSpPr/>
          <p:nvPr/>
        </p:nvSpPr>
        <p:spPr>
          <a:xfrm>
            <a:off x="2342704" y="455414"/>
            <a:ext cx="2657391"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Flagged While Loops</a:t>
            </a:r>
            <a:endParaRPr lang="en-US" sz="2025" dirty="0"/>
          </a:p>
        </p:txBody>
      </p:sp>
      <p:sp>
        <p:nvSpPr>
          <p:cNvPr id="5" name="Shape 2"/>
          <p:cNvSpPr/>
          <p:nvPr/>
        </p:nvSpPr>
        <p:spPr>
          <a:xfrm>
            <a:off x="457200" y="971550"/>
            <a:ext cx="4000500" cy="39004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What is a Flagged While Loop?</a:t>
            </a:r>
            <a:endParaRPr lang="en-US" sz="1350" dirty="0"/>
          </a:p>
        </p:txBody>
      </p:sp>
      <p:sp>
        <p:nvSpPr>
          <p:cNvPr id="7" name="Text 4"/>
          <p:cNvSpPr/>
          <p:nvPr/>
        </p:nvSpPr>
        <p:spPr>
          <a:xfrm>
            <a:off x="628650" y="1485900"/>
            <a:ext cx="3729038" cy="600075"/>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A flagged while loop is a control structure that uses a boolean variable (flag) to control the execution of a loop based on conditions that may change during loop execution.</a:t>
            </a:r>
            <a:endParaRPr lang="en-US" sz="1013" dirty="0"/>
          </a:p>
        </p:txBody>
      </p:sp>
      <p:sp>
        <p:nvSpPr>
          <p:cNvPr id="8" name="Shape 5"/>
          <p:cNvSpPr/>
          <p:nvPr/>
        </p:nvSpPr>
        <p:spPr>
          <a:xfrm>
            <a:off x="628650" y="2257425"/>
            <a:ext cx="3657600" cy="1514475"/>
          </a:xfrm>
          <a:prstGeom prst="rect">
            <a:avLst/>
          </a:prstGeom>
          <a:solidFill>
            <a:srgbClr val="1A202C"/>
          </a:solidFill>
          <a:ln/>
        </p:spPr>
        <p:txBody>
          <a:bodyPr/>
          <a:lstStyle/>
          <a:p>
            <a:endParaRPr lang="en-US"/>
          </a:p>
        </p:txBody>
      </p:sp>
      <p:sp>
        <p:nvSpPr>
          <p:cNvPr id="9" name="Text 6"/>
          <p:cNvSpPr/>
          <p:nvPr/>
        </p:nvSpPr>
        <p:spPr>
          <a:xfrm>
            <a:off x="742950" y="237529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10" name="Text 7"/>
          <p:cNvSpPr/>
          <p:nvPr/>
        </p:nvSpPr>
        <p:spPr>
          <a:xfrm>
            <a:off x="1163008" y="2375297"/>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 true;</a:t>
            </a:r>
            <a:endParaRPr lang="en-US" sz="788" dirty="0"/>
          </a:p>
        </p:txBody>
      </p:sp>
      <p:sp>
        <p:nvSpPr>
          <p:cNvPr id="11" name="Text 8"/>
          <p:cNvSpPr/>
          <p:nvPr/>
        </p:nvSpPr>
        <p:spPr>
          <a:xfrm>
            <a:off x="2003124" y="2375297"/>
            <a:ext cx="1151595"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Initialize flag</a:t>
            </a:r>
            <a:endParaRPr lang="en-US" sz="788" dirty="0"/>
          </a:p>
        </p:txBody>
      </p:sp>
      <p:sp>
        <p:nvSpPr>
          <p:cNvPr id="12" name="Text 9"/>
          <p:cNvSpPr/>
          <p:nvPr/>
        </p:nvSpPr>
        <p:spPr>
          <a:xfrm>
            <a:off x="742950" y="266104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13" name="Text 10"/>
          <p:cNvSpPr/>
          <p:nvPr/>
        </p:nvSpPr>
        <p:spPr>
          <a:xfrm>
            <a:off x="1042988" y="2661047"/>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a:t>
            </a:r>
            <a:endParaRPr lang="en-US" sz="788" dirty="0"/>
          </a:p>
        </p:txBody>
      </p:sp>
      <p:sp>
        <p:nvSpPr>
          <p:cNvPr id="14" name="Text 11"/>
          <p:cNvSpPr/>
          <p:nvPr/>
        </p:nvSpPr>
        <p:spPr>
          <a:xfrm>
            <a:off x="1643063" y="2661047"/>
            <a:ext cx="2531762"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Loop continues as long as flag is true</a:t>
            </a:r>
            <a:endParaRPr lang="en-US" sz="788" dirty="0"/>
          </a:p>
        </p:txBody>
      </p:sp>
      <p:sp>
        <p:nvSpPr>
          <p:cNvPr id="15" name="Text 12"/>
          <p:cNvSpPr/>
          <p:nvPr/>
        </p:nvSpPr>
        <p:spPr>
          <a:xfrm>
            <a:off x="862971" y="2803922"/>
            <a:ext cx="791533"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Loop body</a:t>
            </a:r>
            <a:endParaRPr lang="en-US" sz="788" dirty="0"/>
          </a:p>
        </p:txBody>
      </p:sp>
      <p:sp>
        <p:nvSpPr>
          <p:cNvPr id="16" name="Text 13"/>
          <p:cNvSpPr/>
          <p:nvPr/>
        </p:nvSpPr>
        <p:spPr>
          <a:xfrm>
            <a:off x="862971" y="2946797"/>
            <a:ext cx="2231724"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Some condition to modify the flag</a:t>
            </a:r>
            <a:endParaRPr lang="en-US" sz="788" dirty="0"/>
          </a:p>
        </p:txBody>
      </p:sp>
      <p:sp>
        <p:nvSpPr>
          <p:cNvPr id="17" name="Text 14"/>
          <p:cNvSpPr/>
          <p:nvPr/>
        </p:nvSpPr>
        <p:spPr>
          <a:xfrm>
            <a:off x="862971" y="308967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8" name="Text 15"/>
          <p:cNvSpPr/>
          <p:nvPr/>
        </p:nvSpPr>
        <p:spPr>
          <a:xfrm>
            <a:off x="982991" y="3089672"/>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(someCondition) {</a:t>
            </a:r>
            <a:endParaRPr lang="en-US" sz="788" dirty="0"/>
          </a:p>
        </p:txBody>
      </p:sp>
      <p:sp>
        <p:nvSpPr>
          <p:cNvPr id="19" name="Text 16"/>
          <p:cNvSpPr/>
          <p:nvPr/>
        </p:nvSpPr>
        <p:spPr>
          <a:xfrm>
            <a:off x="742950" y="3232547"/>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 false;</a:t>
            </a:r>
            <a:endParaRPr lang="en-US" sz="788" dirty="0"/>
          </a:p>
        </p:txBody>
      </p:sp>
      <p:sp>
        <p:nvSpPr>
          <p:cNvPr id="20" name="Text 17"/>
          <p:cNvSpPr/>
          <p:nvPr/>
        </p:nvSpPr>
        <p:spPr>
          <a:xfrm>
            <a:off x="1823107" y="3232547"/>
            <a:ext cx="1691646"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Change flag to exit loop</a:t>
            </a:r>
            <a:endParaRPr lang="en-US" sz="788" dirty="0"/>
          </a:p>
        </p:txBody>
      </p:sp>
      <p:sp>
        <p:nvSpPr>
          <p:cNvPr id="21" name="Text 18"/>
          <p:cNvSpPr/>
          <p:nvPr/>
        </p:nvSpPr>
        <p:spPr>
          <a:xfrm>
            <a:off x="742950" y="337542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2" name="Text 19"/>
          <p:cNvSpPr/>
          <p:nvPr/>
        </p:nvSpPr>
        <p:spPr>
          <a:xfrm>
            <a:off x="742950" y="35182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3" name="Shape 20"/>
          <p:cNvSpPr/>
          <p:nvPr/>
        </p:nvSpPr>
        <p:spPr>
          <a:xfrm>
            <a:off x="628650" y="3943350"/>
            <a:ext cx="3657600" cy="742950"/>
          </a:xfrm>
          <a:prstGeom prst="rect">
            <a:avLst/>
          </a:prstGeom>
          <a:solidFill>
            <a:srgbClr val="1E3A8A">
              <a:alpha val="30000"/>
            </a:srgbClr>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742950" y="4229100"/>
            <a:ext cx="128588" cy="171450"/>
          </a:xfrm>
          <a:prstGeom prst="rect">
            <a:avLst/>
          </a:prstGeom>
        </p:spPr>
      </p:pic>
      <p:sp>
        <p:nvSpPr>
          <p:cNvPr id="25" name="Text 21"/>
          <p:cNvSpPr/>
          <p:nvPr/>
        </p:nvSpPr>
        <p:spPr>
          <a:xfrm>
            <a:off x="985838" y="4057650"/>
            <a:ext cx="3257550" cy="51435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Unlike traditional loops with fixed conditions, flagged while loops allow for dynamic exit conditions that can be triggered from anywhere within the loop body.</a:t>
            </a:r>
            <a:endParaRPr lang="en-US" sz="900" dirty="0"/>
          </a:p>
        </p:txBody>
      </p:sp>
      <p:sp>
        <p:nvSpPr>
          <p:cNvPr id="26" name="Shape 22"/>
          <p:cNvSpPr/>
          <p:nvPr/>
        </p:nvSpPr>
        <p:spPr>
          <a:xfrm>
            <a:off x="457200" y="5029200"/>
            <a:ext cx="4000500" cy="3378994"/>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7" name="Text 23"/>
          <p:cNvSpPr/>
          <p:nvPr/>
        </p:nvSpPr>
        <p:spPr>
          <a:xfrm>
            <a:off x="628650" y="52006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Key Characteristics</a:t>
            </a:r>
            <a:endParaRPr lang="en-US" sz="1350" dirty="0"/>
          </a:p>
        </p:txBody>
      </p:sp>
      <p:sp>
        <p:nvSpPr>
          <p:cNvPr id="28" name="Shape 24"/>
          <p:cNvSpPr/>
          <p:nvPr/>
        </p:nvSpPr>
        <p:spPr>
          <a:xfrm>
            <a:off x="628650" y="5543550"/>
            <a:ext cx="1771650" cy="628650"/>
          </a:xfrm>
          <a:prstGeom prst="rect">
            <a:avLst/>
          </a:prstGeom>
          <a:solidFill>
            <a:srgbClr val="1E3A8A">
              <a:alpha val="30000"/>
            </a:srgbClr>
          </a:solidFill>
          <a:ln/>
        </p:spPr>
        <p:txBody>
          <a:bodyPr/>
          <a:lstStyle/>
          <a:p>
            <a:endParaRPr lang="en-US"/>
          </a:p>
        </p:txBody>
      </p:sp>
      <p:pic>
        <p:nvPicPr>
          <p:cNvPr id="29" name="Image 2" descr="preencoded.png"/>
          <p:cNvPicPr>
            <a:picLocks noChangeAspect="1"/>
          </p:cNvPicPr>
          <p:nvPr/>
        </p:nvPicPr>
        <p:blipFill>
          <a:blip r:embed="rId5"/>
          <a:stretch>
            <a:fillRect/>
          </a:stretch>
        </p:blipFill>
        <p:spPr>
          <a:xfrm>
            <a:off x="714375" y="5643563"/>
            <a:ext cx="142875" cy="142875"/>
          </a:xfrm>
          <a:prstGeom prst="rect">
            <a:avLst/>
          </a:prstGeom>
        </p:spPr>
      </p:pic>
      <p:sp>
        <p:nvSpPr>
          <p:cNvPr id="30" name="Text 25"/>
          <p:cNvSpPr/>
          <p:nvPr/>
        </p:nvSpPr>
        <p:spPr>
          <a:xfrm>
            <a:off x="914400" y="5629275"/>
            <a:ext cx="789050"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Boolean Flag</a:t>
            </a:r>
            <a:endParaRPr lang="en-US" sz="900" dirty="0"/>
          </a:p>
        </p:txBody>
      </p:sp>
      <p:sp>
        <p:nvSpPr>
          <p:cNvPr id="31" name="Text 26"/>
          <p:cNvSpPr/>
          <p:nvPr/>
        </p:nvSpPr>
        <p:spPr>
          <a:xfrm>
            <a:off x="714375" y="58578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Uses a boolean variable to control loop execution</a:t>
            </a:r>
            <a:endParaRPr lang="en-US" sz="675" dirty="0"/>
          </a:p>
        </p:txBody>
      </p:sp>
      <p:sp>
        <p:nvSpPr>
          <p:cNvPr id="32" name="Shape 27"/>
          <p:cNvSpPr/>
          <p:nvPr/>
        </p:nvSpPr>
        <p:spPr>
          <a:xfrm>
            <a:off x="2514600" y="5543550"/>
            <a:ext cx="1771650" cy="628650"/>
          </a:xfrm>
          <a:prstGeom prst="rect">
            <a:avLst/>
          </a:prstGeom>
          <a:solidFill>
            <a:srgbClr val="1E3A8A">
              <a:alpha val="30000"/>
            </a:srgbClr>
          </a:solidFill>
          <a:ln/>
        </p:spPr>
        <p:txBody>
          <a:bodyPr/>
          <a:lstStyle/>
          <a:p>
            <a:endParaRPr lang="en-US"/>
          </a:p>
        </p:txBody>
      </p:sp>
      <p:pic>
        <p:nvPicPr>
          <p:cNvPr id="33" name="Image 3" descr="preencoded.png"/>
          <p:cNvPicPr>
            <a:picLocks noChangeAspect="1"/>
          </p:cNvPicPr>
          <p:nvPr/>
        </p:nvPicPr>
        <p:blipFill>
          <a:blip r:embed="rId6"/>
          <a:stretch>
            <a:fillRect/>
          </a:stretch>
        </p:blipFill>
        <p:spPr>
          <a:xfrm>
            <a:off x="2600325" y="5643563"/>
            <a:ext cx="142875" cy="142875"/>
          </a:xfrm>
          <a:prstGeom prst="rect">
            <a:avLst/>
          </a:prstGeom>
        </p:spPr>
      </p:pic>
      <p:sp>
        <p:nvSpPr>
          <p:cNvPr id="34" name="Text 28"/>
          <p:cNvSpPr/>
          <p:nvPr/>
        </p:nvSpPr>
        <p:spPr>
          <a:xfrm>
            <a:off x="2800350" y="5629275"/>
            <a:ext cx="985949"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Dynamic Control</a:t>
            </a:r>
            <a:endParaRPr lang="en-US" sz="900" dirty="0"/>
          </a:p>
        </p:txBody>
      </p:sp>
      <p:sp>
        <p:nvSpPr>
          <p:cNvPr id="35" name="Text 29"/>
          <p:cNvSpPr/>
          <p:nvPr/>
        </p:nvSpPr>
        <p:spPr>
          <a:xfrm>
            <a:off x="2600325" y="58578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Exit condition can change based on runtime events</a:t>
            </a:r>
            <a:endParaRPr lang="en-US" sz="675" dirty="0"/>
          </a:p>
        </p:txBody>
      </p:sp>
      <p:sp>
        <p:nvSpPr>
          <p:cNvPr id="36" name="Shape 30"/>
          <p:cNvSpPr/>
          <p:nvPr/>
        </p:nvSpPr>
        <p:spPr>
          <a:xfrm>
            <a:off x="628650" y="6286500"/>
            <a:ext cx="1771650" cy="628650"/>
          </a:xfrm>
          <a:prstGeom prst="rect">
            <a:avLst/>
          </a:prstGeom>
          <a:solidFill>
            <a:srgbClr val="1E3A8A">
              <a:alpha val="30000"/>
            </a:srgbClr>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714375" y="6386513"/>
            <a:ext cx="125016" cy="142875"/>
          </a:xfrm>
          <a:prstGeom prst="rect">
            <a:avLst/>
          </a:prstGeom>
        </p:spPr>
      </p:pic>
      <p:sp>
        <p:nvSpPr>
          <p:cNvPr id="38" name="Text 31"/>
          <p:cNvSpPr/>
          <p:nvPr/>
        </p:nvSpPr>
        <p:spPr>
          <a:xfrm>
            <a:off x="896541" y="6372225"/>
            <a:ext cx="1125587"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Multiple Exit Points</a:t>
            </a:r>
            <a:endParaRPr lang="en-US" sz="900" dirty="0"/>
          </a:p>
        </p:txBody>
      </p:sp>
      <p:sp>
        <p:nvSpPr>
          <p:cNvPr id="39" name="Text 32"/>
          <p:cNvSpPr/>
          <p:nvPr/>
        </p:nvSpPr>
        <p:spPr>
          <a:xfrm>
            <a:off x="714375" y="66008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Can exit from different locations in the loop body</a:t>
            </a:r>
            <a:endParaRPr lang="en-US" sz="675" dirty="0"/>
          </a:p>
        </p:txBody>
      </p:sp>
      <p:sp>
        <p:nvSpPr>
          <p:cNvPr id="40" name="Shape 33"/>
          <p:cNvSpPr/>
          <p:nvPr/>
        </p:nvSpPr>
        <p:spPr>
          <a:xfrm>
            <a:off x="2514600" y="6286500"/>
            <a:ext cx="1771650" cy="628650"/>
          </a:xfrm>
          <a:prstGeom prst="rect">
            <a:avLst/>
          </a:prstGeom>
          <a:solidFill>
            <a:srgbClr val="1E3A8A">
              <a:alpha val="30000"/>
            </a:srgbClr>
          </a:solidFill>
          <a:ln/>
        </p:spPr>
        <p:txBody>
          <a:bodyPr/>
          <a:lstStyle/>
          <a:p>
            <a:endParaRPr lang="en-US"/>
          </a:p>
        </p:txBody>
      </p:sp>
      <p:pic>
        <p:nvPicPr>
          <p:cNvPr id="41" name="Image 5" descr="preencoded.png"/>
          <p:cNvPicPr>
            <a:picLocks noChangeAspect="1"/>
          </p:cNvPicPr>
          <p:nvPr/>
        </p:nvPicPr>
        <p:blipFill>
          <a:blip r:embed="rId8"/>
          <a:stretch>
            <a:fillRect/>
          </a:stretch>
        </p:blipFill>
        <p:spPr>
          <a:xfrm>
            <a:off x="2600325" y="6386513"/>
            <a:ext cx="142875" cy="142875"/>
          </a:xfrm>
          <a:prstGeom prst="rect">
            <a:avLst/>
          </a:prstGeom>
        </p:spPr>
      </p:pic>
      <p:sp>
        <p:nvSpPr>
          <p:cNvPr id="42" name="Text 34"/>
          <p:cNvSpPr/>
          <p:nvPr/>
        </p:nvSpPr>
        <p:spPr>
          <a:xfrm>
            <a:off x="2800350" y="6372225"/>
            <a:ext cx="979698"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Flexible Iteration</a:t>
            </a:r>
            <a:endParaRPr lang="en-US" sz="900" dirty="0"/>
          </a:p>
        </p:txBody>
      </p:sp>
      <p:sp>
        <p:nvSpPr>
          <p:cNvPr id="43" name="Text 35"/>
          <p:cNvSpPr/>
          <p:nvPr/>
        </p:nvSpPr>
        <p:spPr>
          <a:xfrm>
            <a:off x="2600325" y="66008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Number of iterations determined at runtime</a:t>
            </a:r>
            <a:endParaRPr lang="en-US" sz="675" dirty="0"/>
          </a:p>
        </p:txBody>
      </p:sp>
      <p:sp>
        <p:nvSpPr>
          <p:cNvPr id="44" name="Shape 36"/>
          <p:cNvSpPr/>
          <p:nvPr/>
        </p:nvSpPr>
        <p:spPr>
          <a:xfrm>
            <a:off x="628650" y="7086600"/>
            <a:ext cx="3657600" cy="1135856"/>
          </a:xfrm>
          <a:prstGeom prst="rect">
            <a:avLst/>
          </a:prstGeom>
          <a:solidFill>
            <a:srgbClr val="1E40AF">
              <a:alpha val="30000"/>
            </a:srgbClr>
          </a:solidFill>
          <a:ln/>
        </p:spPr>
        <p:txBody>
          <a:bodyPr/>
          <a:lstStyle/>
          <a:p>
            <a:endParaRPr lang="en-US"/>
          </a:p>
        </p:txBody>
      </p:sp>
      <p:sp>
        <p:nvSpPr>
          <p:cNvPr id="45" name="Text 37"/>
          <p:cNvSpPr/>
          <p:nvPr/>
        </p:nvSpPr>
        <p:spPr>
          <a:xfrm>
            <a:off x="742950" y="7200900"/>
            <a:ext cx="35004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Common Flag Names</a:t>
            </a:r>
            <a:endParaRPr lang="en-US" sz="1125" dirty="0"/>
          </a:p>
        </p:txBody>
      </p:sp>
      <p:sp>
        <p:nvSpPr>
          <p:cNvPr id="46" name="Shape 38"/>
          <p:cNvSpPr/>
          <p:nvPr/>
        </p:nvSpPr>
        <p:spPr>
          <a:xfrm>
            <a:off x="742950" y="7458075"/>
            <a:ext cx="1104881" cy="296466"/>
          </a:xfrm>
          <a:prstGeom prst="rect">
            <a:avLst/>
          </a:prstGeom>
          <a:solidFill>
            <a:srgbClr val="1E3A8A">
              <a:alpha val="30000"/>
            </a:srgbClr>
          </a:solidFill>
          <a:ln/>
        </p:spPr>
        <p:txBody>
          <a:bodyPr/>
          <a:lstStyle/>
          <a:p>
            <a:endParaRPr lang="en-US"/>
          </a:p>
        </p:txBody>
      </p:sp>
      <p:sp>
        <p:nvSpPr>
          <p:cNvPr id="47" name="Text 39"/>
          <p:cNvSpPr/>
          <p:nvPr/>
        </p:nvSpPr>
        <p:spPr>
          <a:xfrm>
            <a:off x="1055322" y="7547372"/>
            <a:ext cx="551576"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running</a:t>
            </a:r>
            <a:endParaRPr lang="en-US" sz="900" dirty="0"/>
          </a:p>
        </p:txBody>
      </p:sp>
      <p:sp>
        <p:nvSpPr>
          <p:cNvPr id="48" name="Shape 40"/>
          <p:cNvSpPr/>
          <p:nvPr/>
        </p:nvSpPr>
        <p:spPr>
          <a:xfrm>
            <a:off x="1904981" y="7458075"/>
            <a:ext cx="1104909" cy="296466"/>
          </a:xfrm>
          <a:prstGeom prst="rect">
            <a:avLst/>
          </a:prstGeom>
          <a:solidFill>
            <a:srgbClr val="1E3A8A">
              <a:alpha val="30000"/>
            </a:srgbClr>
          </a:solidFill>
          <a:ln/>
        </p:spPr>
        <p:txBody>
          <a:bodyPr/>
          <a:lstStyle/>
          <a:p>
            <a:endParaRPr lang="en-US"/>
          </a:p>
        </p:txBody>
      </p:sp>
      <p:sp>
        <p:nvSpPr>
          <p:cNvPr id="49" name="Text 41"/>
          <p:cNvSpPr/>
          <p:nvPr/>
        </p:nvSpPr>
        <p:spPr>
          <a:xfrm>
            <a:off x="2285944" y="7547372"/>
            <a:ext cx="414393"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found</a:t>
            </a:r>
            <a:endParaRPr lang="en-US" sz="900" dirty="0"/>
          </a:p>
        </p:txBody>
      </p:sp>
      <p:sp>
        <p:nvSpPr>
          <p:cNvPr id="50" name="Shape 42"/>
          <p:cNvSpPr/>
          <p:nvPr/>
        </p:nvSpPr>
        <p:spPr>
          <a:xfrm>
            <a:off x="3067041" y="7458075"/>
            <a:ext cx="1104909" cy="296466"/>
          </a:xfrm>
          <a:prstGeom prst="rect">
            <a:avLst/>
          </a:prstGeom>
          <a:solidFill>
            <a:srgbClr val="1E3A8A">
              <a:alpha val="30000"/>
            </a:srgbClr>
          </a:solidFill>
          <a:ln/>
        </p:spPr>
        <p:txBody>
          <a:bodyPr/>
          <a:lstStyle/>
          <a:p>
            <a:endParaRPr lang="en-US"/>
          </a:p>
        </p:txBody>
      </p:sp>
      <p:sp>
        <p:nvSpPr>
          <p:cNvPr id="51" name="Text 43"/>
          <p:cNvSpPr/>
          <p:nvPr/>
        </p:nvSpPr>
        <p:spPr>
          <a:xfrm>
            <a:off x="3482299" y="7547372"/>
            <a:ext cx="345802"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done</a:t>
            </a:r>
            <a:endParaRPr lang="en-US" sz="900" dirty="0"/>
          </a:p>
        </p:txBody>
      </p:sp>
      <p:sp>
        <p:nvSpPr>
          <p:cNvPr id="52" name="Shape 44"/>
          <p:cNvSpPr/>
          <p:nvPr/>
        </p:nvSpPr>
        <p:spPr>
          <a:xfrm>
            <a:off x="742950" y="7811691"/>
            <a:ext cx="1104881" cy="296466"/>
          </a:xfrm>
          <a:prstGeom prst="rect">
            <a:avLst/>
          </a:prstGeom>
          <a:solidFill>
            <a:srgbClr val="1E3A8A">
              <a:alpha val="30000"/>
            </a:srgbClr>
          </a:solidFill>
          <a:ln/>
        </p:spPr>
        <p:txBody>
          <a:bodyPr/>
          <a:lstStyle/>
          <a:p>
            <a:endParaRPr lang="en-US"/>
          </a:p>
        </p:txBody>
      </p:sp>
      <p:sp>
        <p:nvSpPr>
          <p:cNvPr id="53" name="Text 45"/>
          <p:cNvSpPr/>
          <p:nvPr/>
        </p:nvSpPr>
        <p:spPr>
          <a:xfrm>
            <a:off x="1123913" y="7900988"/>
            <a:ext cx="414393"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valid</a:t>
            </a:r>
            <a:endParaRPr lang="en-US" sz="900" dirty="0"/>
          </a:p>
        </p:txBody>
      </p:sp>
      <p:sp>
        <p:nvSpPr>
          <p:cNvPr id="54" name="Shape 46"/>
          <p:cNvSpPr/>
          <p:nvPr/>
        </p:nvSpPr>
        <p:spPr>
          <a:xfrm>
            <a:off x="1904981" y="7811691"/>
            <a:ext cx="1104909" cy="296466"/>
          </a:xfrm>
          <a:prstGeom prst="rect">
            <a:avLst/>
          </a:prstGeom>
          <a:solidFill>
            <a:srgbClr val="1E3A8A">
              <a:alpha val="30000"/>
            </a:srgbClr>
          </a:solidFill>
          <a:ln/>
        </p:spPr>
        <p:txBody>
          <a:bodyPr/>
          <a:lstStyle/>
          <a:p>
            <a:endParaRPr lang="en-US"/>
          </a:p>
        </p:txBody>
      </p:sp>
      <p:sp>
        <p:nvSpPr>
          <p:cNvPr id="55" name="Text 47"/>
          <p:cNvSpPr/>
          <p:nvPr/>
        </p:nvSpPr>
        <p:spPr>
          <a:xfrm>
            <a:off x="2183057" y="7900988"/>
            <a:ext cx="620167"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continue</a:t>
            </a:r>
            <a:endParaRPr lang="en-US" sz="900" dirty="0"/>
          </a:p>
        </p:txBody>
      </p:sp>
      <p:sp>
        <p:nvSpPr>
          <p:cNvPr id="56" name="Shape 48"/>
          <p:cNvSpPr/>
          <p:nvPr/>
        </p:nvSpPr>
        <p:spPr>
          <a:xfrm>
            <a:off x="3067041" y="7811691"/>
            <a:ext cx="1104909" cy="296466"/>
          </a:xfrm>
          <a:prstGeom prst="rect">
            <a:avLst/>
          </a:prstGeom>
          <a:solidFill>
            <a:srgbClr val="1E3A8A">
              <a:alpha val="30000"/>
            </a:srgbClr>
          </a:solidFill>
          <a:ln/>
        </p:spPr>
        <p:txBody>
          <a:bodyPr/>
          <a:lstStyle/>
          <a:p>
            <a:endParaRPr lang="en-US"/>
          </a:p>
        </p:txBody>
      </p:sp>
      <p:sp>
        <p:nvSpPr>
          <p:cNvPr id="57" name="Text 49"/>
          <p:cNvSpPr/>
          <p:nvPr/>
        </p:nvSpPr>
        <p:spPr>
          <a:xfrm>
            <a:off x="3482299" y="7900988"/>
            <a:ext cx="345802" cy="128588"/>
          </a:xfrm>
          <a:prstGeom prst="rect">
            <a:avLst/>
          </a:prstGeom>
          <a:noFill/>
          <a:ln/>
        </p:spPr>
        <p:txBody>
          <a:bodyPr wrap="none" lIns="0" tIns="0" rIns="0" bIns="0" rtlCol="0" anchor="ctr">
            <a:spAutoFit/>
          </a:bodyPr>
          <a:lstStyle/>
          <a:p>
            <a:pPr marL="0" indent="0" algn="ctr">
              <a:buNone/>
            </a:pPr>
            <a:r>
              <a:rPr lang="en-US" sz="900" dirty="0">
                <a:solidFill>
                  <a:srgbClr val="E2E8F0"/>
                </a:solidFill>
                <a:latin typeface="ui-monospace" pitchFamily="34" charset="0"/>
                <a:ea typeface="ui-monospace" pitchFamily="34" charset="-122"/>
                <a:cs typeface="ui-monospace" pitchFamily="34" charset="-120"/>
              </a:rPr>
              <a:t>exit</a:t>
            </a:r>
            <a:endParaRPr lang="en-US" sz="900" dirty="0"/>
          </a:p>
        </p:txBody>
      </p:sp>
      <p:sp>
        <p:nvSpPr>
          <p:cNvPr id="58" name="Shape 50"/>
          <p:cNvSpPr/>
          <p:nvPr/>
        </p:nvSpPr>
        <p:spPr>
          <a:xfrm>
            <a:off x="4686300" y="971550"/>
            <a:ext cx="4000500" cy="4357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59" name="Text 51"/>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When to Use Flagged While Loops</a:t>
            </a:r>
            <a:endParaRPr lang="en-US" sz="1350" dirty="0"/>
          </a:p>
        </p:txBody>
      </p:sp>
      <p:sp>
        <p:nvSpPr>
          <p:cNvPr id="60" name="Shape 52"/>
          <p:cNvSpPr/>
          <p:nvPr/>
        </p:nvSpPr>
        <p:spPr>
          <a:xfrm>
            <a:off x="4857750" y="1485900"/>
            <a:ext cx="3657600" cy="828675"/>
          </a:xfrm>
          <a:prstGeom prst="rect">
            <a:avLst/>
          </a:prstGeom>
          <a:solidFill>
            <a:srgbClr val="1E3A8A">
              <a:alpha val="30000"/>
            </a:srgbClr>
          </a:solidFill>
          <a:ln/>
        </p:spPr>
        <p:txBody>
          <a:bodyPr/>
          <a:lstStyle/>
          <a:p>
            <a:endParaRPr lang="en-US"/>
          </a:p>
        </p:txBody>
      </p:sp>
      <p:sp>
        <p:nvSpPr>
          <p:cNvPr id="61" name="Shape 53"/>
          <p:cNvSpPr/>
          <p:nvPr/>
        </p:nvSpPr>
        <p:spPr>
          <a:xfrm>
            <a:off x="4857750" y="1485900"/>
            <a:ext cx="28575" cy="828675"/>
          </a:xfrm>
          <a:prstGeom prst="rect">
            <a:avLst/>
          </a:prstGeom>
          <a:solidFill>
            <a:srgbClr val="63B3ED"/>
          </a:solidFill>
          <a:ln/>
        </p:spPr>
        <p:txBody>
          <a:bodyPr/>
          <a:lstStyle/>
          <a:p>
            <a:endParaRPr lang="en-US"/>
          </a:p>
        </p:txBody>
      </p:sp>
      <p:sp>
        <p:nvSpPr>
          <p:cNvPr id="62" name="Text 54"/>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Search Operations</a:t>
            </a:r>
            <a:endParaRPr lang="en-US" sz="1125" dirty="0"/>
          </a:p>
        </p:txBody>
      </p:sp>
      <p:sp>
        <p:nvSpPr>
          <p:cNvPr id="63" name="Text 55"/>
          <p:cNvSpPr/>
          <p:nvPr/>
        </p:nvSpPr>
        <p:spPr>
          <a:xfrm>
            <a:off x="4972050" y="180022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When searching for an element in a collection and need to exit once found.</a:t>
            </a:r>
            <a:endParaRPr lang="en-US" sz="788" dirty="0"/>
          </a:p>
        </p:txBody>
      </p:sp>
      <p:sp>
        <p:nvSpPr>
          <p:cNvPr id="64" name="Shape 56"/>
          <p:cNvSpPr/>
          <p:nvPr/>
        </p:nvSpPr>
        <p:spPr>
          <a:xfrm>
            <a:off x="4972050" y="2000250"/>
            <a:ext cx="3543300" cy="228600"/>
          </a:xfrm>
          <a:prstGeom prst="rect">
            <a:avLst/>
          </a:prstGeom>
          <a:solidFill>
            <a:srgbClr val="1E3A8A">
              <a:alpha val="20000"/>
            </a:srgbClr>
          </a:solidFill>
          <a:ln/>
        </p:spPr>
        <p:txBody>
          <a:bodyPr/>
          <a:lstStyle/>
          <a:p>
            <a:endParaRPr lang="en-US"/>
          </a:p>
        </p:txBody>
      </p:sp>
      <p:sp>
        <p:nvSpPr>
          <p:cNvPr id="65" name="Text 57"/>
          <p:cNvSpPr/>
          <p:nvPr/>
        </p:nvSpPr>
        <p:spPr>
          <a:xfrm>
            <a:off x="5029200" y="2057400"/>
            <a:ext cx="3500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 Searching for a specific value in an array or linked list</a:t>
            </a:r>
            <a:endParaRPr lang="en-US" sz="675" dirty="0"/>
          </a:p>
        </p:txBody>
      </p:sp>
      <p:sp>
        <p:nvSpPr>
          <p:cNvPr id="66" name="Shape 58"/>
          <p:cNvSpPr/>
          <p:nvPr/>
        </p:nvSpPr>
        <p:spPr>
          <a:xfrm>
            <a:off x="4857750" y="2428875"/>
            <a:ext cx="3657600" cy="828675"/>
          </a:xfrm>
          <a:prstGeom prst="rect">
            <a:avLst/>
          </a:prstGeom>
          <a:solidFill>
            <a:srgbClr val="1E3A8A">
              <a:alpha val="30000"/>
            </a:srgbClr>
          </a:solidFill>
          <a:ln/>
        </p:spPr>
        <p:txBody>
          <a:bodyPr/>
          <a:lstStyle/>
          <a:p>
            <a:endParaRPr lang="en-US"/>
          </a:p>
        </p:txBody>
      </p:sp>
      <p:sp>
        <p:nvSpPr>
          <p:cNvPr id="67" name="Shape 59"/>
          <p:cNvSpPr/>
          <p:nvPr/>
        </p:nvSpPr>
        <p:spPr>
          <a:xfrm>
            <a:off x="4857750" y="2428875"/>
            <a:ext cx="28575" cy="828675"/>
          </a:xfrm>
          <a:prstGeom prst="rect">
            <a:avLst/>
          </a:prstGeom>
          <a:solidFill>
            <a:srgbClr val="63B3ED"/>
          </a:solidFill>
          <a:ln/>
        </p:spPr>
        <p:txBody>
          <a:bodyPr/>
          <a:lstStyle/>
          <a:p>
            <a:endParaRPr lang="en-US"/>
          </a:p>
        </p:txBody>
      </p:sp>
      <p:sp>
        <p:nvSpPr>
          <p:cNvPr id="68" name="Text 60"/>
          <p:cNvSpPr/>
          <p:nvPr/>
        </p:nvSpPr>
        <p:spPr>
          <a:xfrm>
            <a:off x="4972050" y="25146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User Input Validation</a:t>
            </a:r>
            <a:endParaRPr lang="en-US" sz="1125" dirty="0"/>
          </a:p>
        </p:txBody>
      </p:sp>
      <p:sp>
        <p:nvSpPr>
          <p:cNvPr id="69" name="Text 61"/>
          <p:cNvSpPr/>
          <p:nvPr/>
        </p:nvSpPr>
        <p:spPr>
          <a:xfrm>
            <a:off x="4972050" y="2743200"/>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When repeatedly prompting for input until valid data is received.</a:t>
            </a:r>
            <a:endParaRPr lang="en-US" sz="788" dirty="0"/>
          </a:p>
        </p:txBody>
      </p:sp>
      <p:sp>
        <p:nvSpPr>
          <p:cNvPr id="70" name="Shape 62"/>
          <p:cNvSpPr/>
          <p:nvPr/>
        </p:nvSpPr>
        <p:spPr>
          <a:xfrm>
            <a:off x="4972050" y="2943225"/>
            <a:ext cx="3543300" cy="228600"/>
          </a:xfrm>
          <a:prstGeom prst="rect">
            <a:avLst/>
          </a:prstGeom>
          <a:solidFill>
            <a:srgbClr val="1E3A8A">
              <a:alpha val="20000"/>
            </a:srgbClr>
          </a:solidFill>
          <a:ln/>
        </p:spPr>
        <p:txBody>
          <a:bodyPr/>
          <a:lstStyle/>
          <a:p>
            <a:endParaRPr lang="en-US"/>
          </a:p>
        </p:txBody>
      </p:sp>
      <p:sp>
        <p:nvSpPr>
          <p:cNvPr id="71" name="Text 63"/>
          <p:cNvSpPr/>
          <p:nvPr/>
        </p:nvSpPr>
        <p:spPr>
          <a:xfrm>
            <a:off x="5029200" y="3000375"/>
            <a:ext cx="3500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 Asking for a number within a specific range</a:t>
            </a:r>
            <a:endParaRPr lang="en-US" sz="675" dirty="0"/>
          </a:p>
        </p:txBody>
      </p:sp>
      <p:sp>
        <p:nvSpPr>
          <p:cNvPr id="72" name="Shape 64"/>
          <p:cNvSpPr/>
          <p:nvPr/>
        </p:nvSpPr>
        <p:spPr>
          <a:xfrm>
            <a:off x="4857750" y="3371850"/>
            <a:ext cx="3657600" cy="828675"/>
          </a:xfrm>
          <a:prstGeom prst="rect">
            <a:avLst/>
          </a:prstGeom>
          <a:solidFill>
            <a:srgbClr val="1E3A8A">
              <a:alpha val="30000"/>
            </a:srgbClr>
          </a:solidFill>
          <a:ln/>
        </p:spPr>
        <p:txBody>
          <a:bodyPr/>
          <a:lstStyle/>
          <a:p>
            <a:endParaRPr lang="en-US"/>
          </a:p>
        </p:txBody>
      </p:sp>
      <p:sp>
        <p:nvSpPr>
          <p:cNvPr id="73" name="Shape 65"/>
          <p:cNvSpPr/>
          <p:nvPr/>
        </p:nvSpPr>
        <p:spPr>
          <a:xfrm>
            <a:off x="4857750" y="3371850"/>
            <a:ext cx="28575" cy="828675"/>
          </a:xfrm>
          <a:prstGeom prst="rect">
            <a:avLst/>
          </a:prstGeom>
          <a:solidFill>
            <a:srgbClr val="63B3ED"/>
          </a:solidFill>
          <a:ln/>
        </p:spPr>
        <p:txBody>
          <a:bodyPr/>
          <a:lstStyle/>
          <a:p>
            <a:endParaRPr lang="en-US"/>
          </a:p>
        </p:txBody>
      </p:sp>
      <p:sp>
        <p:nvSpPr>
          <p:cNvPr id="74" name="Text 66"/>
          <p:cNvSpPr/>
          <p:nvPr/>
        </p:nvSpPr>
        <p:spPr>
          <a:xfrm>
            <a:off x="4972050" y="34575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Menu-Driven Programs</a:t>
            </a:r>
            <a:endParaRPr lang="en-US" sz="1125" dirty="0"/>
          </a:p>
        </p:txBody>
      </p:sp>
      <p:sp>
        <p:nvSpPr>
          <p:cNvPr id="75" name="Text 67"/>
          <p:cNvSpPr/>
          <p:nvPr/>
        </p:nvSpPr>
        <p:spPr>
          <a:xfrm>
            <a:off x="4972050" y="3686175"/>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When displaying a menu repeatedly until the user chooses to exit.</a:t>
            </a:r>
            <a:endParaRPr lang="en-US" sz="788" dirty="0"/>
          </a:p>
        </p:txBody>
      </p:sp>
      <p:sp>
        <p:nvSpPr>
          <p:cNvPr id="76" name="Shape 68"/>
          <p:cNvSpPr/>
          <p:nvPr/>
        </p:nvSpPr>
        <p:spPr>
          <a:xfrm>
            <a:off x="4972050" y="3886200"/>
            <a:ext cx="3543300" cy="228600"/>
          </a:xfrm>
          <a:prstGeom prst="rect">
            <a:avLst/>
          </a:prstGeom>
          <a:solidFill>
            <a:srgbClr val="1E3A8A">
              <a:alpha val="20000"/>
            </a:srgbClr>
          </a:solidFill>
          <a:ln/>
        </p:spPr>
        <p:txBody>
          <a:bodyPr/>
          <a:lstStyle/>
          <a:p>
            <a:endParaRPr lang="en-US"/>
          </a:p>
        </p:txBody>
      </p:sp>
      <p:sp>
        <p:nvSpPr>
          <p:cNvPr id="77" name="Text 69"/>
          <p:cNvSpPr/>
          <p:nvPr/>
        </p:nvSpPr>
        <p:spPr>
          <a:xfrm>
            <a:off x="5029200" y="3943350"/>
            <a:ext cx="3500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 Console application with multiple options</a:t>
            </a:r>
            <a:endParaRPr lang="en-US" sz="675" dirty="0"/>
          </a:p>
        </p:txBody>
      </p:sp>
      <p:sp>
        <p:nvSpPr>
          <p:cNvPr id="78" name="Shape 70"/>
          <p:cNvSpPr/>
          <p:nvPr/>
        </p:nvSpPr>
        <p:spPr>
          <a:xfrm>
            <a:off x="4857750" y="4314825"/>
            <a:ext cx="3657600" cy="828675"/>
          </a:xfrm>
          <a:prstGeom prst="rect">
            <a:avLst/>
          </a:prstGeom>
          <a:solidFill>
            <a:srgbClr val="1E3A8A">
              <a:alpha val="30000"/>
            </a:srgbClr>
          </a:solidFill>
          <a:ln/>
        </p:spPr>
        <p:txBody>
          <a:bodyPr/>
          <a:lstStyle/>
          <a:p>
            <a:endParaRPr lang="en-US"/>
          </a:p>
        </p:txBody>
      </p:sp>
      <p:sp>
        <p:nvSpPr>
          <p:cNvPr id="79" name="Shape 71"/>
          <p:cNvSpPr/>
          <p:nvPr/>
        </p:nvSpPr>
        <p:spPr>
          <a:xfrm>
            <a:off x="4857750" y="4314825"/>
            <a:ext cx="28575" cy="828675"/>
          </a:xfrm>
          <a:prstGeom prst="rect">
            <a:avLst/>
          </a:prstGeom>
          <a:solidFill>
            <a:srgbClr val="63B3ED"/>
          </a:solidFill>
          <a:ln/>
        </p:spPr>
        <p:txBody>
          <a:bodyPr/>
          <a:lstStyle/>
          <a:p>
            <a:endParaRPr lang="en-US"/>
          </a:p>
        </p:txBody>
      </p:sp>
      <p:sp>
        <p:nvSpPr>
          <p:cNvPr id="80" name="Text 72"/>
          <p:cNvSpPr/>
          <p:nvPr/>
        </p:nvSpPr>
        <p:spPr>
          <a:xfrm>
            <a:off x="4972050" y="44005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Complex Termination Logic</a:t>
            </a:r>
            <a:endParaRPr lang="en-US" sz="1125" dirty="0"/>
          </a:p>
        </p:txBody>
      </p:sp>
      <p:sp>
        <p:nvSpPr>
          <p:cNvPr id="81" name="Text 73"/>
          <p:cNvSpPr/>
          <p:nvPr/>
        </p:nvSpPr>
        <p:spPr>
          <a:xfrm>
            <a:off x="4972050" y="4629150"/>
            <a:ext cx="3614738" cy="14287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When loop termination depends on multiple conditions or events.</a:t>
            </a:r>
            <a:endParaRPr lang="en-US" sz="788" dirty="0"/>
          </a:p>
        </p:txBody>
      </p:sp>
      <p:sp>
        <p:nvSpPr>
          <p:cNvPr id="82" name="Shape 74"/>
          <p:cNvSpPr/>
          <p:nvPr/>
        </p:nvSpPr>
        <p:spPr>
          <a:xfrm>
            <a:off x="4972050" y="4829175"/>
            <a:ext cx="3543300" cy="228600"/>
          </a:xfrm>
          <a:prstGeom prst="rect">
            <a:avLst/>
          </a:prstGeom>
          <a:solidFill>
            <a:srgbClr val="1E3A8A">
              <a:alpha val="20000"/>
            </a:srgbClr>
          </a:solidFill>
          <a:ln/>
        </p:spPr>
        <p:txBody>
          <a:bodyPr/>
          <a:lstStyle/>
          <a:p>
            <a:endParaRPr lang="en-US"/>
          </a:p>
        </p:txBody>
      </p:sp>
      <p:sp>
        <p:nvSpPr>
          <p:cNvPr id="83" name="Text 75"/>
          <p:cNvSpPr/>
          <p:nvPr/>
        </p:nvSpPr>
        <p:spPr>
          <a:xfrm>
            <a:off x="5029200" y="4886325"/>
            <a:ext cx="3500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Example: Game loop that ends on win, loss, or user quit</a:t>
            </a:r>
            <a:endParaRPr lang="en-US" sz="675" dirty="0"/>
          </a:p>
        </p:txBody>
      </p:sp>
      <p:sp>
        <p:nvSpPr>
          <p:cNvPr id="84" name="Shape 76"/>
          <p:cNvSpPr/>
          <p:nvPr/>
        </p:nvSpPr>
        <p:spPr>
          <a:xfrm>
            <a:off x="4686300" y="5486400"/>
            <a:ext cx="4000500" cy="46720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85" name="Text 77"/>
          <p:cNvSpPr/>
          <p:nvPr/>
        </p:nvSpPr>
        <p:spPr>
          <a:xfrm>
            <a:off x="4857750" y="56578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Simple Example</a:t>
            </a:r>
            <a:endParaRPr lang="en-US" sz="1350" dirty="0"/>
          </a:p>
        </p:txBody>
      </p:sp>
      <p:sp>
        <p:nvSpPr>
          <p:cNvPr id="86" name="Shape 78"/>
          <p:cNvSpPr/>
          <p:nvPr/>
        </p:nvSpPr>
        <p:spPr>
          <a:xfrm>
            <a:off x="4857750" y="6000750"/>
            <a:ext cx="3657600" cy="2514600"/>
          </a:xfrm>
          <a:prstGeom prst="rect">
            <a:avLst/>
          </a:prstGeom>
          <a:solidFill>
            <a:srgbClr val="1A202C"/>
          </a:solidFill>
          <a:ln/>
        </p:spPr>
        <p:txBody>
          <a:bodyPr/>
          <a:lstStyle/>
          <a:p>
            <a:endParaRPr lang="en-US"/>
          </a:p>
        </p:txBody>
      </p:sp>
      <p:sp>
        <p:nvSpPr>
          <p:cNvPr id="87" name="Text 79"/>
          <p:cNvSpPr/>
          <p:nvPr/>
        </p:nvSpPr>
        <p:spPr>
          <a:xfrm>
            <a:off x="4972050" y="6118622"/>
            <a:ext cx="2471738"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Search for a target value in an array</a:t>
            </a:r>
            <a:endParaRPr lang="en-US" sz="788" dirty="0"/>
          </a:p>
        </p:txBody>
      </p:sp>
      <p:sp>
        <p:nvSpPr>
          <p:cNvPr id="88" name="Text 80"/>
          <p:cNvSpPr/>
          <p:nvPr/>
        </p:nvSpPr>
        <p:spPr>
          <a:xfrm>
            <a:off x="4972050" y="6261497"/>
            <a:ext cx="1331612" cy="135731"/>
          </a:xfrm>
          <a:prstGeom prst="rect">
            <a:avLst/>
          </a:prstGeom>
          <a:noFill/>
          <a:ln/>
        </p:spPr>
        <p:txBody>
          <a:bodyPr wrap="squar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static boolean</a:t>
            </a:r>
            <a:endParaRPr lang="en-US" sz="788" dirty="0"/>
          </a:p>
        </p:txBody>
      </p:sp>
      <p:sp>
        <p:nvSpPr>
          <p:cNvPr id="89" name="Text 81"/>
          <p:cNvSpPr/>
          <p:nvPr/>
        </p:nvSpPr>
        <p:spPr>
          <a:xfrm>
            <a:off x="6232224" y="6261497"/>
            <a:ext cx="73153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findValue(</a:t>
            </a:r>
            <a:endParaRPr lang="en-US" sz="788" dirty="0"/>
          </a:p>
        </p:txBody>
      </p:sp>
      <p:sp>
        <p:nvSpPr>
          <p:cNvPr id="90" name="Text 82"/>
          <p:cNvSpPr/>
          <p:nvPr/>
        </p:nvSpPr>
        <p:spPr>
          <a:xfrm>
            <a:off x="6892323" y="62614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91" name="Text 83"/>
          <p:cNvSpPr/>
          <p:nvPr/>
        </p:nvSpPr>
        <p:spPr>
          <a:xfrm>
            <a:off x="7072368" y="6261497"/>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 array,</a:t>
            </a:r>
            <a:endParaRPr lang="en-US" sz="788" dirty="0"/>
          </a:p>
        </p:txBody>
      </p:sp>
      <p:sp>
        <p:nvSpPr>
          <p:cNvPr id="92" name="Text 84"/>
          <p:cNvSpPr/>
          <p:nvPr/>
        </p:nvSpPr>
        <p:spPr>
          <a:xfrm>
            <a:off x="7672443" y="62614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93" name="Text 85"/>
          <p:cNvSpPr/>
          <p:nvPr/>
        </p:nvSpPr>
        <p:spPr>
          <a:xfrm>
            <a:off x="4972050" y="6261497"/>
            <a:ext cx="3431958"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target) {</a:t>
            </a:r>
            <a:endParaRPr lang="en-US" sz="788" dirty="0"/>
          </a:p>
        </p:txBody>
      </p:sp>
      <p:sp>
        <p:nvSpPr>
          <p:cNvPr id="94" name="Text 86"/>
          <p:cNvSpPr/>
          <p:nvPr/>
        </p:nvSpPr>
        <p:spPr>
          <a:xfrm>
            <a:off x="5092071" y="65472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95" name="Text 87"/>
          <p:cNvSpPr/>
          <p:nvPr/>
        </p:nvSpPr>
        <p:spPr>
          <a:xfrm>
            <a:off x="5512129" y="6547247"/>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 false;</a:t>
            </a:r>
            <a:endParaRPr lang="en-US" sz="788" dirty="0"/>
          </a:p>
        </p:txBody>
      </p:sp>
      <p:sp>
        <p:nvSpPr>
          <p:cNvPr id="96" name="Text 88"/>
          <p:cNvSpPr/>
          <p:nvPr/>
        </p:nvSpPr>
        <p:spPr>
          <a:xfrm>
            <a:off x="5092071" y="6690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97" name="Text 89"/>
          <p:cNvSpPr/>
          <p:nvPr/>
        </p:nvSpPr>
        <p:spPr>
          <a:xfrm>
            <a:off x="5272115" y="669012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 = 0;</a:t>
            </a:r>
            <a:endParaRPr lang="en-US" sz="788" dirty="0"/>
          </a:p>
        </p:txBody>
      </p:sp>
      <p:sp>
        <p:nvSpPr>
          <p:cNvPr id="98" name="Text 90"/>
          <p:cNvSpPr/>
          <p:nvPr/>
        </p:nvSpPr>
        <p:spPr>
          <a:xfrm>
            <a:off x="5092071" y="6975872"/>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99" name="Text 91"/>
          <p:cNvSpPr/>
          <p:nvPr/>
        </p:nvSpPr>
        <p:spPr>
          <a:xfrm>
            <a:off x="5392108" y="6975872"/>
            <a:ext cx="1931687"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&amp;&amp; i &lt; array.length) {</a:t>
            </a:r>
            <a:endParaRPr lang="en-US" sz="788" dirty="0"/>
          </a:p>
        </p:txBody>
      </p:sp>
      <p:sp>
        <p:nvSpPr>
          <p:cNvPr id="100" name="Text 92"/>
          <p:cNvSpPr/>
          <p:nvPr/>
        </p:nvSpPr>
        <p:spPr>
          <a:xfrm>
            <a:off x="5212091" y="711874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01" name="Text 93"/>
          <p:cNvSpPr/>
          <p:nvPr/>
        </p:nvSpPr>
        <p:spPr>
          <a:xfrm>
            <a:off x="5332112" y="7118747"/>
            <a:ext cx="1451632"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(array[i] == target) {</a:t>
            </a:r>
            <a:endParaRPr lang="en-US" sz="788" dirty="0"/>
          </a:p>
        </p:txBody>
      </p:sp>
      <p:sp>
        <p:nvSpPr>
          <p:cNvPr id="102" name="Text 94"/>
          <p:cNvSpPr/>
          <p:nvPr/>
        </p:nvSpPr>
        <p:spPr>
          <a:xfrm>
            <a:off x="4972050" y="7261622"/>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 true;</a:t>
            </a:r>
            <a:endParaRPr lang="en-US" sz="788" dirty="0"/>
          </a:p>
        </p:txBody>
      </p:sp>
      <p:sp>
        <p:nvSpPr>
          <p:cNvPr id="103" name="Text 95"/>
          <p:cNvSpPr/>
          <p:nvPr/>
        </p:nvSpPr>
        <p:spPr>
          <a:xfrm>
            <a:off x="6172200" y="7261622"/>
            <a:ext cx="151162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Set flag to exit loop</a:t>
            </a:r>
            <a:endParaRPr lang="en-US" sz="788" dirty="0"/>
          </a:p>
        </p:txBody>
      </p:sp>
      <p:sp>
        <p:nvSpPr>
          <p:cNvPr id="104" name="Text 96"/>
          <p:cNvSpPr/>
          <p:nvPr/>
        </p:nvSpPr>
        <p:spPr>
          <a:xfrm>
            <a:off x="4972050" y="7404497"/>
            <a:ext cx="43149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5" name="Text 97"/>
          <p:cNvSpPr/>
          <p:nvPr/>
        </p:nvSpPr>
        <p:spPr>
          <a:xfrm>
            <a:off x="5332112" y="7404497"/>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106" name="Text 98"/>
          <p:cNvSpPr/>
          <p:nvPr/>
        </p:nvSpPr>
        <p:spPr>
          <a:xfrm>
            <a:off x="5572153" y="74044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7" name="Text 99"/>
          <p:cNvSpPr/>
          <p:nvPr/>
        </p:nvSpPr>
        <p:spPr>
          <a:xfrm>
            <a:off x="4972050" y="7547372"/>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a:t>
            </a:r>
            <a:endParaRPr lang="en-US" sz="788" dirty="0"/>
          </a:p>
        </p:txBody>
      </p:sp>
      <p:sp>
        <p:nvSpPr>
          <p:cNvPr id="108" name="Text 100"/>
          <p:cNvSpPr/>
          <p:nvPr/>
        </p:nvSpPr>
        <p:spPr>
          <a:xfrm>
            <a:off x="4972050" y="769024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09" name="Text 101"/>
          <p:cNvSpPr/>
          <p:nvPr/>
        </p:nvSpPr>
        <p:spPr>
          <a:xfrm>
            <a:off x="4972050" y="783312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0" name="Text 102"/>
          <p:cNvSpPr/>
          <p:nvPr/>
        </p:nvSpPr>
        <p:spPr>
          <a:xfrm>
            <a:off x="5092071" y="811887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111" name="Text 103"/>
          <p:cNvSpPr/>
          <p:nvPr/>
        </p:nvSpPr>
        <p:spPr>
          <a:xfrm>
            <a:off x="5452132" y="811887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a:t>
            </a:r>
            <a:endParaRPr lang="en-US" sz="788" dirty="0"/>
          </a:p>
        </p:txBody>
      </p:sp>
      <p:sp>
        <p:nvSpPr>
          <p:cNvPr id="112" name="Text 104"/>
          <p:cNvSpPr/>
          <p:nvPr/>
        </p:nvSpPr>
        <p:spPr>
          <a:xfrm>
            <a:off x="4972050" y="826174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13" name="Shape 105"/>
          <p:cNvSpPr/>
          <p:nvPr/>
        </p:nvSpPr>
        <p:spPr>
          <a:xfrm>
            <a:off x="4857750" y="8629650"/>
            <a:ext cx="3657600" cy="1343025"/>
          </a:xfrm>
          <a:prstGeom prst="rect">
            <a:avLst/>
          </a:prstGeom>
          <a:solidFill>
            <a:srgbClr val="1E40AF">
              <a:alpha val="30000"/>
            </a:srgbClr>
          </a:solidFill>
          <a:ln/>
        </p:spPr>
        <p:txBody>
          <a:bodyPr/>
          <a:lstStyle/>
          <a:p>
            <a:endParaRPr lang="en-US"/>
          </a:p>
        </p:txBody>
      </p:sp>
      <p:sp>
        <p:nvSpPr>
          <p:cNvPr id="114" name="Text 106"/>
          <p:cNvSpPr/>
          <p:nvPr/>
        </p:nvSpPr>
        <p:spPr>
          <a:xfrm>
            <a:off x="4972050" y="8743950"/>
            <a:ext cx="35004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Execution Flow</a:t>
            </a:r>
            <a:endParaRPr lang="en-US" sz="1125" dirty="0"/>
          </a:p>
        </p:txBody>
      </p:sp>
      <p:pic>
        <p:nvPicPr>
          <p:cNvPr id="115" name="Image 6" descr="preencoded.png"/>
          <p:cNvPicPr>
            <a:picLocks noChangeAspect="1"/>
          </p:cNvPicPr>
          <p:nvPr/>
        </p:nvPicPr>
        <p:blipFill>
          <a:blip r:embed="rId9"/>
          <a:stretch>
            <a:fillRect/>
          </a:stretch>
        </p:blipFill>
        <p:spPr>
          <a:xfrm>
            <a:off x="4972050" y="9001125"/>
            <a:ext cx="3429000" cy="857250"/>
          </a:xfrm>
          <a:prstGeom prst="rect">
            <a:avLst/>
          </a:prstGeom>
        </p:spPr>
      </p:pic>
      <p:sp>
        <p:nvSpPr>
          <p:cNvPr id="116" name="Text 107"/>
          <p:cNvSpPr/>
          <p:nvPr/>
        </p:nvSpPr>
        <p:spPr>
          <a:xfrm>
            <a:off x="5224425" y="9372600"/>
            <a:ext cx="25248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Start</a:t>
            </a:r>
            <a:endParaRPr lang="en-US" sz="675" dirty="0"/>
          </a:p>
        </p:txBody>
      </p:sp>
      <p:sp>
        <p:nvSpPr>
          <p:cNvPr id="117" name="Text 108"/>
          <p:cNvSpPr/>
          <p:nvPr/>
        </p:nvSpPr>
        <p:spPr>
          <a:xfrm>
            <a:off x="5879250" y="9372600"/>
            <a:ext cx="31443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Check</a:t>
            </a:r>
            <a:endParaRPr lang="en-US" sz="675" dirty="0"/>
          </a:p>
        </p:txBody>
      </p:sp>
      <p:sp>
        <p:nvSpPr>
          <p:cNvPr id="118" name="Text 109"/>
          <p:cNvSpPr/>
          <p:nvPr/>
        </p:nvSpPr>
        <p:spPr>
          <a:xfrm>
            <a:off x="6884077" y="9372600"/>
            <a:ext cx="362183"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Found?</a:t>
            </a:r>
            <a:endParaRPr lang="en-US" sz="675" dirty="0"/>
          </a:p>
        </p:txBody>
      </p:sp>
      <p:sp>
        <p:nvSpPr>
          <p:cNvPr id="119" name="Text 110"/>
          <p:cNvSpPr/>
          <p:nvPr/>
        </p:nvSpPr>
        <p:spPr>
          <a:xfrm>
            <a:off x="7225736" y="9115425"/>
            <a:ext cx="70756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Exit (found=true)</a:t>
            </a:r>
            <a:endParaRPr lang="en-US" sz="675" dirty="0"/>
          </a:p>
        </p:txBody>
      </p:sp>
      <p:sp>
        <p:nvSpPr>
          <p:cNvPr id="120" name="Text 111"/>
          <p:cNvSpPr/>
          <p:nvPr/>
        </p:nvSpPr>
        <p:spPr>
          <a:xfrm>
            <a:off x="7981885" y="9372600"/>
            <a:ext cx="223968"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End</a:t>
            </a:r>
            <a:endParaRPr lang="en-US" sz="675" dirty="0"/>
          </a:p>
        </p:txBody>
      </p:sp>
      <p:sp>
        <p:nvSpPr>
          <p:cNvPr id="121" name="Shape 112"/>
          <p:cNvSpPr/>
          <p:nvPr/>
        </p:nvSpPr>
        <p:spPr>
          <a:xfrm>
            <a:off x="457200" y="10372725"/>
            <a:ext cx="8229600" cy="28146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22" name="Text 113"/>
          <p:cNvSpPr/>
          <p:nvPr/>
        </p:nvSpPr>
        <p:spPr>
          <a:xfrm>
            <a:off x="628650" y="1054417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Advantages and Considerations</a:t>
            </a:r>
            <a:endParaRPr lang="en-US" sz="1350" dirty="0"/>
          </a:p>
        </p:txBody>
      </p:sp>
      <p:sp>
        <p:nvSpPr>
          <p:cNvPr id="123" name="Text 114"/>
          <p:cNvSpPr/>
          <p:nvPr/>
        </p:nvSpPr>
        <p:spPr>
          <a:xfrm>
            <a:off x="628650" y="10887075"/>
            <a:ext cx="3929063" cy="200025"/>
          </a:xfrm>
          <a:prstGeom prst="rect">
            <a:avLst/>
          </a:prstGeom>
          <a:noFill/>
          <a:ln/>
        </p:spPr>
        <p:txBody>
          <a:bodyPr wrap="square" lIns="0" tIns="0" rIns="0" bIns="0" rtlCol="0" anchor="ctr">
            <a:spAutoFit/>
          </a:bodyPr>
          <a:lstStyle/>
          <a:p>
            <a:pPr marL="0" indent="0">
              <a:buNone/>
            </a:pPr>
            <a:r>
              <a:rPr lang="en-US" sz="1125" b="1" dirty="0">
                <a:solidFill>
                  <a:srgbClr val="6EE7B7"/>
                </a:solidFill>
                <a:latin typeface="Segoe UI" pitchFamily="34" charset="0"/>
                <a:ea typeface="Segoe UI" pitchFamily="34" charset="-122"/>
                <a:cs typeface="Segoe UI" pitchFamily="34" charset="-120"/>
              </a:rPr>
              <a:t>Advantages</a:t>
            </a:r>
            <a:endParaRPr lang="en-US" sz="1125" dirty="0"/>
          </a:p>
        </p:txBody>
      </p:sp>
      <p:pic>
        <p:nvPicPr>
          <p:cNvPr id="124" name="Image 7" descr="preencoded.png"/>
          <p:cNvPicPr>
            <a:picLocks noChangeAspect="1"/>
          </p:cNvPicPr>
          <p:nvPr/>
        </p:nvPicPr>
        <p:blipFill>
          <a:blip r:embed="rId10"/>
          <a:stretch>
            <a:fillRect/>
          </a:stretch>
        </p:blipFill>
        <p:spPr>
          <a:xfrm>
            <a:off x="628650" y="11201400"/>
            <a:ext cx="114300" cy="114300"/>
          </a:xfrm>
          <a:prstGeom prst="rect">
            <a:avLst/>
          </a:prstGeom>
        </p:spPr>
      </p:pic>
      <p:sp>
        <p:nvSpPr>
          <p:cNvPr id="125" name="Text 115"/>
          <p:cNvSpPr/>
          <p:nvPr/>
        </p:nvSpPr>
        <p:spPr>
          <a:xfrm>
            <a:off x="800100" y="11172825"/>
            <a:ext cx="2745935"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Provides flexibility for complex termination conditions</a:t>
            </a:r>
            <a:endParaRPr lang="en-US" sz="900" dirty="0"/>
          </a:p>
        </p:txBody>
      </p:sp>
      <p:pic>
        <p:nvPicPr>
          <p:cNvPr id="126" name="Image 8" descr="preencoded.png"/>
          <p:cNvPicPr>
            <a:picLocks noChangeAspect="1"/>
          </p:cNvPicPr>
          <p:nvPr/>
        </p:nvPicPr>
        <p:blipFill>
          <a:blip r:embed="rId10"/>
          <a:stretch>
            <a:fillRect/>
          </a:stretch>
        </p:blipFill>
        <p:spPr>
          <a:xfrm>
            <a:off x="628650" y="11430000"/>
            <a:ext cx="114300" cy="114300"/>
          </a:xfrm>
          <a:prstGeom prst="rect">
            <a:avLst/>
          </a:prstGeom>
        </p:spPr>
      </p:pic>
      <p:sp>
        <p:nvSpPr>
          <p:cNvPr id="127" name="Text 116"/>
          <p:cNvSpPr/>
          <p:nvPr/>
        </p:nvSpPr>
        <p:spPr>
          <a:xfrm>
            <a:off x="800100" y="11401425"/>
            <a:ext cx="2593404"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Allows for clearer expression of certain algorithms</a:t>
            </a:r>
            <a:endParaRPr lang="en-US" sz="900" dirty="0"/>
          </a:p>
        </p:txBody>
      </p:sp>
      <p:pic>
        <p:nvPicPr>
          <p:cNvPr id="128" name="Image 9" descr="preencoded.png"/>
          <p:cNvPicPr>
            <a:picLocks noChangeAspect="1"/>
          </p:cNvPicPr>
          <p:nvPr/>
        </p:nvPicPr>
        <p:blipFill>
          <a:blip r:embed="rId10"/>
          <a:stretch>
            <a:fillRect/>
          </a:stretch>
        </p:blipFill>
        <p:spPr>
          <a:xfrm>
            <a:off x="628650" y="11658600"/>
            <a:ext cx="114300" cy="114300"/>
          </a:xfrm>
          <a:prstGeom prst="rect">
            <a:avLst/>
          </a:prstGeom>
        </p:spPr>
      </p:pic>
      <p:sp>
        <p:nvSpPr>
          <p:cNvPr id="129" name="Text 117"/>
          <p:cNvSpPr/>
          <p:nvPr/>
        </p:nvSpPr>
        <p:spPr>
          <a:xfrm>
            <a:off x="800100" y="11630025"/>
            <a:ext cx="2415592"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Can simplify loops with multiple exit conditions</a:t>
            </a:r>
            <a:endParaRPr lang="en-US" sz="900" dirty="0"/>
          </a:p>
        </p:txBody>
      </p:sp>
      <p:pic>
        <p:nvPicPr>
          <p:cNvPr id="130" name="Image 10" descr="preencoded.png"/>
          <p:cNvPicPr>
            <a:picLocks noChangeAspect="1"/>
          </p:cNvPicPr>
          <p:nvPr/>
        </p:nvPicPr>
        <p:blipFill>
          <a:blip r:embed="rId10"/>
          <a:stretch>
            <a:fillRect/>
          </a:stretch>
        </p:blipFill>
        <p:spPr>
          <a:xfrm>
            <a:off x="628650" y="11887200"/>
            <a:ext cx="114300" cy="114300"/>
          </a:xfrm>
          <a:prstGeom prst="rect">
            <a:avLst/>
          </a:prstGeom>
        </p:spPr>
      </p:pic>
      <p:sp>
        <p:nvSpPr>
          <p:cNvPr id="131" name="Text 118"/>
          <p:cNvSpPr/>
          <p:nvPr/>
        </p:nvSpPr>
        <p:spPr>
          <a:xfrm>
            <a:off x="800100" y="11858625"/>
            <a:ext cx="2765413"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Makes the termination condition explicit and readable</a:t>
            </a:r>
            <a:endParaRPr lang="en-US" sz="900" dirty="0"/>
          </a:p>
        </p:txBody>
      </p:sp>
      <p:pic>
        <p:nvPicPr>
          <p:cNvPr id="132" name="Image 11" descr="preencoded.png"/>
          <p:cNvPicPr>
            <a:picLocks noChangeAspect="1"/>
          </p:cNvPicPr>
          <p:nvPr/>
        </p:nvPicPr>
        <p:blipFill>
          <a:blip r:embed="rId10"/>
          <a:stretch>
            <a:fillRect/>
          </a:stretch>
        </p:blipFill>
        <p:spPr>
          <a:xfrm>
            <a:off x="628650" y="12115800"/>
            <a:ext cx="114300" cy="114300"/>
          </a:xfrm>
          <a:prstGeom prst="rect">
            <a:avLst/>
          </a:prstGeom>
        </p:spPr>
      </p:pic>
      <p:sp>
        <p:nvSpPr>
          <p:cNvPr id="133" name="Text 119"/>
          <p:cNvSpPr/>
          <p:nvPr/>
        </p:nvSpPr>
        <p:spPr>
          <a:xfrm>
            <a:off x="800100" y="12087225"/>
            <a:ext cx="241564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Useful for event-driven or user-input scenarios</a:t>
            </a:r>
            <a:endParaRPr lang="en-US" sz="900" dirty="0"/>
          </a:p>
        </p:txBody>
      </p:sp>
      <p:sp>
        <p:nvSpPr>
          <p:cNvPr id="134" name="Text 120"/>
          <p:cNvSpPr/>
          <p:nvPr/>
        </p:nvSpPr>
        <p:spPr>
          <a:xfrm>
            <a:off x="4657725" y="10887075"/>
            <a:ext cx="3929063" cy="200025"/>
          </a:xfrm>
          <a:prstGeom prst="rect">
            <a:avLst/>
          </a:prstGeom>
          <a:noFill/>
          <a:ln/>
        </p:spPr>
        <p:txBody>
          <a:bodyPr wrap="square" lIns="0" tIns="0" rIns="0" bIns="0" rtlCol="0" anchor="ctr">
            <a:spAutoFit/>
          </a:bodyPr>
          <a:lstStyle/>
          <a:p>
            <a:pPr marL="0" indent="0">
              <a:buNone/>
            </a:pPr>
            <a:r>
              <a:rPr lang="en-US" sz="1125" b="1" dirty="0">
                <a:solidFill>
                  <a:srgbClr val="FCD34D"/>
                </a:solidFill>
                <a:latin typeface="Segoe UI" pitchFamily="34" charset="0"/>
                <a:ea typeface="Segoe UI" pitchFamily="34" charset="-122"/>
                <a:cs typeface="Segoe UI" pitchFamily="34" charset="-120"/>
              </a:rPr>
              <a:t>Considerations</a:t>
            </a:r>
            <a:endParaRPr lang="en-US" sz="1125" dirty="0"/>
          </a:p>
        </p:txBody>
      </p:sp>
      <p:pic>
        <p:nvPicPr>
          <p:cNvPr id="135" name="Image 12" descr="preencoded.png"/>
          <p:cNvPicPr>
            <a:picLocks noChangeAspect="1"/>
          </p:cNvPicPr>
          <p:nvPr/>
        </p:nvPicPr>
        <p:blipFill>
          <a:blip r:embed="rId11"/>
          <a:stretch>
            <a:fillRect/>
          </a:stretch>
        </p:blipFill>
        <p:spPr>
          <a:xfrm>
            <a:off x="4657725" y="11201400"/>
            <a:ext cx="114300" cy="114300"/>
          </a:xfrm>
          <a:prstGeom prst="rect">
            <a:avLst/>
          </a:prstGeom>
        </p:spPr>
      </p:pic>
      <p:sp>
        <p:nvSpPr>
          <p:cNvPr id="136" name="Text 121"/>
          <p:cNvSpPr/>
          <p:nvPr/>
        </p:nvSpPr>
        <p:spPr>
          <a:xfrm>
            <a:off x="4829175" y="11172825"/>
            <a:ext cx="291788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Requires careful flag management to avoid infinite loops</a:t>
            </a:r>
            <a:endParaRPr lang="en-US" sz="900" dirty="0"/>
          </a:p>
        </p:txBody>
      </p:sp>
      <p:pic>
        <p:nvPicPr>
          <p:cNvPr id="137" name="Image 13" descr="preencoded.png"/>
          <p:cNvPicPr>
            <a:picLocks noChangeAspect="1"/>
          </p:cNvPicPr>
          <p:nvPr/>
        </p:nvPicPr>
        <p:blipFill>
          <a:blip r:embed="rId11"/>
          <a:stretch>
            <a:fillRect/>
          </a:stretch>
        </p:blipFill>
        <p:spPr>
          <a:xfrm>
            <a:off x="4657725" y="11430000"/>
            <a:ext cx="114300" cy="114300"/>
          </a:xfrm>
          <a:prstGeom prst="rect">
            <a:avLst/>
          </a:prstGeom>
        </p:spPr>
      </p:pic>
      <p:sp>
        <p:nvSpPr>
          <p:cNvPr id="138" name="Text 122"/>
          <p:cNvSpPr/>
          <p:nvPr/>
        </p:nvSpPr>
        <p:spPr>
          <a:xfrm>
            <a:off x="4829175" y="11401425"/>
            <a:ext cx="2428484"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May introduce additional state variables (flags)</a:t>
            </a:r>
            <a:endParaRPr lang="en-US" sz="900" dirty="0"/>
          </a:p>
        </p:txBody>
      </p:sp>
      <p:pic>
        <p:nvPicPr>
          <p:cNvPr id="139" name="Image 14" descr="preencoded.png"/>
          <p:cNvPicPr>
            <a:picLocks noChangeAspect="1"/>
          </p:cNvPicPr>
          <p:nvPr/>
        </p:nvPicPr>
        <p:blipFill>
          <a:blip r:embed="rId11"/>
          <a:stretch>
            <a:fillRect/>
          </a:stretch>
        </p:blipFill>
        <p:spPr>
          <a:xfrm>
            <a:off x="4657725" y="11658600"/>
            <a:ext cx="114300" cy="114300"/>
          </a:xfrm>
          <a:prstGeom prst="rect">
            <a:avLst/>
          </a:prstGeom>
        </p:spPr>
      </p:pic>
      <p:sp>
        <p:nvSpPr>
          <p:cNvPr id="140" name="Text 123"/>
          <p:cNvSpPr/>
          <p:nvPr/>
        </p:nvSpPr>
        <p:spPr>
          <a:xfrm>
            <a:off x="4829175" y="11630025"/>
            <a:ext cx="229509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Can be less readable if flag logic is complex</a:t>
            </a:r>
            <a:endParaRPr lang="en-US" sz="900" dirty="0"/>
          </a:p>
        </p:txBody>
      </p:sp>
      <p:pic>
        <p:nvPicPr>
          <p:cNvPr id="141" name="Image 15" descr="preencoded.png"/>
          <p:cNvPicPr>
            <a:picLocks noChangeAspect="1"/>
          </p:cNvPicPr>
          <p:nvPr/>
        </p:nvPicPr>
        <p:blipFill>
          <a:blip r:embed="rId11"/>
          <a:stretch>
            <a:fillRect/>
          </a:stretch>
        </p:blipFill>
        <p:spPr>
          <a:xfrm>
            <a:off x="4657725" y="11887200"/>
            <a:ext cx="114300" cy="114300"/>
          </a:xfrm>
          <a:prstGeom prst="rect">
            <a:avLst/>
          </a:prstGeom>
        </p:spPr>
      </p:pic>
      <p:sp>
        <p:nvSpPr>
          <p:cNvPr id="142" name="Text 124"/>
          <p:cNvSpPr/>
          <p:nvPr/>
        </p:nvSpPr>
        <p:spPr>
          <a:xfrm>
            <a:off x="4829175" y="11858625"/>
            <a:ext cx="2822284"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Sometimes alternatives like break/continue are clearer</a:t>
            </a:r>
            <a:endParaRPr lang="en-US" sz="900" dirty="0"/>
          </a:p>
        </p:txBody>
      </p:sp>
      <p:pic>
        <p:nvPicPr>
          <p:cNvPr id="143" name="Image 16" descr="preencoded.png"/>
          <p:cNvPicPr>
            <a:picLocks noChangeAspect="1"/>
          </p:cNvPicPr>
          <p:nvPr/>
        </p:nvPicPr>
        <p:blipFill>
          <a:blip r:embed="rId11"/>
          <a:stretch>
            <a:fillRect/>
          </a:stretch>
        </p:blipFill>
        <p:spPr>
          <a:xfrm>
            <a:off x="4657725" y="12115800"/>
            <a:ext cx="114300" cy="114300"/>
          </a:xfrm>
          <a:prstGeom prst="rect">
            <a:avLst/>
          </a:prstGeom>
        </p:spPr>
      </p:pic>
      <p:sp>
        <p:nvSpPr>
          <p:cNvPr id="144" name="Text 125"/>
          <p:cNvSpPr/>
          <p:nvPr/>
        </p:nvSpPr>
        <p:spPr>
          <a:xfrm>
            <a:off x="4829175" y="12087225"/>
            <a:ext cx="270820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May need additional variables for tracking loop state</a:t>
            </a:r>
            <a:endParaRPr lang="en-US" sz="900" dirty="0"/>
          </a:p>
        </p:txBody>
      </p:sp>
      <p:sp>
        <p:nvSpPr>
          <p:cNvPr id="145" name="Shape 126"/>
          <p:cNvSpPr/>
          <p:nvPr/>
        </p:nvSpPr>
        <p:spPr>
          <a:xfrm>
            <a:off x="628650" y="12430125"/>
            <a:ext cx="7886700" cy="571500"/>
          </a:xfrm>
          <a:prstGeom prst="rect">
            <a:avLst/>
          </a:prstGeom>
          <a:solidFill>
            <a:srgbClr val="78350F">
              <a:alpha val="20000"/>
            </a:srgbClr>
          </a:solidFill>
          <a:ln/>
        </p:spPr>
        <p:txBody>
          <a:bodyPr/>
          <a:lstStyle/>
          <a:p>
            <a:endParaRPr lang="en-US"/>
          </a:p>
        </p:txBody>
      </p:sp>
      <p:pic>
        <p:nvPicPr>
          <p:cNvPr id="146" name="Image 17" descr="preencoded.png"/>
          <p:cNvPicPr>
            <a:picLocks noChangeAspect="1"/>
          </p:cNvPicPr>
          <p:nvPr/>
        </p:nvPicPr>
        <p:blipFill>
          <a:blip r:embed="rId4"/>
          <a:stretch>
            <a:fillRect/>
          </a:stretch>
        </p:blipFill>
        <p:spPr>
          <a:xfrm>
            <a:off x="742950" y="12630150"/>
            <a:ext cx="128588" cy="171450"/>
          </a:xfrm>
          <a:prstGeom prst="rect">
            <a:avLst/>
          </a:prstGeom>
        </p:spPr>
      </p:pic>
      <p:sp>
        <p:nvSpPr>
          <p:cNvPr id="147" name="Text 127"/>
          <p:cNvSpPr/>
          <p:nvPr/>
        </p:nvSpPr>
        <p:spPr>
          <a:xfrm>
            <a:off x="985838" y="12544425"/>
            <a:ext cx="7486650"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Flagged while loops are particularly valuable when the loop termination condition depends on events that occur within the loop body rather than a predetermined number of iterations or a simple condition that can be checked at the start of each iteration.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8816638"/>
          </a:xfrm>
          <a:prstGeom prst="rect">
            <a:avLst/>
          </a:prstGeom>
        </p:spPr>
      </p:pic>
      <p:sp>
        <p:nvSpPr>
          <p:cNvPr id="3" name="Text 0"/>
          <p:cNvSpPr/>
          <p:nvPr/>
        </p:nvSpPr>
        <p:spPr>
          <a:xfrm>
            <a:off x="457200" y="455414"/>
            <a:ext cx="1600312"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Structure of</a:t>
            </a:r>
            <a:endParaRPr lang="en-US" sz="2025" dirty="0"/>
          </a:p>
        </p:txBody>
      </p:sp>
      <p:sp>
        <p:nvSpPr>
          <p:cNvPr id="4" name="Text 1"/>
          <p:cNvSpPr/>
          <p:nvPr/>
        </p:nvSpPr>
        <p:spPr>
          <a:xfrm>
            <a:off x="1986074" y="455414"/>
            <a:ext cx="2657391"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Flagged While Loops</a:t>
            </a:r>
            <a:endParaRPr lang="en-US" sz="2025" dirty="0"/>
          </a:p>
        </p:txBody>
      </p:sp>
      <p:sp>
        <p:nvSpPr>
          <p:cNvPr id="5" name="Shape 2"/>
          <p:cNvSpPr/>
          <p:nvPr/>
        </p:nvSpPr>
        <p:spPr>
          <a:xfrm>
            <a:off x="457200" y="971550"/>
            <a:ext cx="4000500" cy="44148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Basic Structure</a:t>
            </a:r>
            <a:endParaRPr lang="en-US" sz="1350" dirty="0"/>
          </a:p>
        </p:txBody>
      </p:sp>
      <p:sp>
        <p:nvSpPr>
          <p:cNvPr id="7" name="Shape 4"/>
          <p:cNvSpPr/>
          <p:nvPr/>
        </p:nvSpPr>
        <p:spPr>
          <a:xfrm>
            <a:off x="628650" y="1485900"/>
            <a:ext cx="3657600" cy="2800350"/>
          </a:xfrm>
          <a:prstGeom prst="rect">
            <a:avLst/>
          </a:prstGeom>
          <a:solidFill>
            <a:srgbClr val="1A202C"/>
          </a:solidFill>
          <a:ln/>
        </p:spPr>
        <p:txBody>
          <a:bodyPr/>
          <a:lstStyle/>
          <a:p>
            <a:endParaRPr lang="en-US"/>
          </a:p>
        </p:txBody>
      </p:sp>
      <p:sp>
        <p:nvSpPr>
          <p:cNvPr id="8" name="Text 5"/>
          <p:cNvSpPr/>
          <p:nvPr/>
        </p:nvSpPr>
        <p:spPr>
          <a:xfrm>
            <a:off x="742950" y="1603772"/>
            <a:ext cx="1571625"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1. Flag initialization</a:t>
            </a:r>
            <a:endParaRPr lang="en-US" sz="788" dirty="0"/>
          </a:p>
        </p:txBody>
      </p:sp>
      <p:sp>
        <p:nvSpPr>
          <p:cNvPr id="9" name="Text 6"/>
          <p:cNvSpPr/>
          <p:nvPr/>
        </p:nvSpPr>
        <p:spPr>
          <a:xfrm>
            <a:off x="742950" y="17466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10" name="Text 7"/>
          <p:cNvSpPr/>
          <p:nvPr/>
        </p:nvSpPr>
        <p:spPr>
          <a:xfrm>
            <a:off x="1163008" y="1746647"/>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 true;</a:t>
            </a:r>
            <a:endParaRPr lang="en-US" sz="788" dirty="0"/>
          </a:p>
        </p:txBody>
      </p:sp>
      <p:sp>
        <p:nvSpPr>
          <p:cNvPr id="11" name="Text 8"/>
          <p:cNvSpPr/>
          <p:nvPr/>
        </p:nvSpPr>
        <p:spPr>
          <a:xfrm>
            <a:off x="2003124" y="1746647"/>
            <a:ext cx="1871663"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or false depending on logic</a:t>
            </a:r>
            <a:endParaRPr lang="en-US" sz="788" dirty="0"/>
          </a:p>
        </p:txBody>
      </p:sp>
      <p:sp>
        <p:nvSpPr>
          <p:cNvPr id="12" name="Text 9"/>
          <p:cNvSpPr/>
          <p:nvPr/>
        </p:nvSpPr>
        <p:spPr>
          <a:xfrm>
            <a:off x="742950" y="2032397"/>
            <a:ext cx="1931687"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2. Loop condition using flag</a:t>
            </a:r>
            <a:endParaRPr lang="en-US" sz="788" dirty="0"/>
          </a:p>
        </p:txBody>
      </p:sp>
      <p:sp>
        <p:nvSpPr>
          <p:cNvPr id="13" name="Text 10"/>
          <p:cNvSpPr/>
          <p:nvPr/>
        </p:nvSpPr>
        <p:spPr>
          <a:xfrm>
            <a:off x="742950" y="2175272"/>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14" name="Text 11"/>
          <p:cNvSpPr/>
          <p:nvPr/>
        </p:nvSpPr>
        <p:spPr>
          <a:xfrm>
            <a:off x="1042988" y="2175272"/>
            <a:ext cx="61151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a:t>
            </a:r>
            <a:endParaRPr lang="en-US" sz="788" dirty="0"/>
          </a:p>
        </p:txBody>
      </p:sp>
      <p:sp>
        <p:nvSpPr>
          <p:cNvPr id="15" name="Text 12"/>
          <p:cNvSpPr/>
          <p:nvPr/>
        </p:nvSpPr>
        <p:spPr>
          <a:xfrm>
            <a:off x="862971" y="2461022"/>
            <a:ext cx="971550"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3. Loop body</a:t>
            </a:r>
            <a:endParaRPr lang="en-US" sz="788" dirty="0"/>
          </a:p>
        </p:txBody>
      </p:sp>
      <p:sp>
        <p:nvSpPr>
          <p:cNvPr id="16" name="Text 13"/>
          <p:cNvSpPr/>
          <p:nvPr/>
        </p:nvSpPr>
        <p:spPr>
          <a:xfrm>
            <a:off x="862971" y="2603897"/>
            <a:ext cx="271177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Process, calculate, or perform operations</a:t>
            </a:r>
            <a:endParaRPr lang="en-US" sz="788" dirty="0"/>
          </a:p>
        </p:txBody>
      </p:sp>
      <p:sp>
        <p:nvSpPr>
          <p:cNvPr id="17" name="Text 14"/>
          <p:cNvSpPr/>
          <p:nvPr/>
        </p:nvSpPr>
        <p:spPr>
          <a:xfrm>
            <a:off x="862971" y="2889647"/>
            <a:ext cx="2651782"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4. Flag modification based on conditions</a:t>
            </a:r>
            <a:endParaRPr lang="en-US" sz="788" dirty="0"/>
          </a:p>
        </p:txBody>
      </p:sp>
      <p:sp>
        <p:nvSpPr>
          <p:cNvPr id="18" name="Text 15"/>
          <p:cNvSpPr/>
          <p:nvPr/>
        </p:nvSpPr>
        <p:spPr>
          <a:xfrm>
            <a:off x="862971" y="303252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9" name="Text 16"/>
          <p:cNvSpPr/>
          <p:nvPr/>
        </p:nvSpPr>
        <p:spPr>
          <a:xfrm>
            <a:off x="982991" y="3032522"/>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(someCondition) {</a:t>
            </a:r>
            <a:endParaRPr lang="en-US" sz="788" dirty="0"/>
          </a:p>
        </p:txBody>
      </p:sp>
      <p:sp>
        <p:nvSpPr>
          <p:cNvPr id="20" name="Text 17"/>
          <p:cNvSpPr/>
          <p:nvPr/>
        </p:nvSpPr>
        <p:spPr>
          <a:xfrm>
            <a:off x="742950" y="3175397"/>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flag = false;</a:t>
            </a:r>
            <a:endParaRPr lang="en-US" sz="788" dirty="0"/>
          </a:p>
        </p:txBody>
      </p:sp>
      <p:sp>
        <p:nvSpPr>
          <p:cNvPr id="21" name="Text 18"/>
          <p:cNvSpPr/>
          <p:nvPr/>
        </p:nvSpPr>
        <p:spPr>
          <a:xfrm>
            <a:off x="1823107" y="3175397"/>
            <a:ext cx="1691646"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Change flag to exit loop</a:t>
            </a:r>
            <a:endParaRPr lang="en-US" sz="788" dirty="0"/>
          </a:p>
        </p:txBody>
      </p:sp>
      <p:sp>
        <p:nvSpPr>
          <p:cNvPr id="22" name="Text 19"/>
          <p:cNvSpPr/>
          <p:nvPr/>
        </p:nvSpPr>
        <p:spPr>
          <a:xfrm>
            <a:off x="742950" y="331827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3" name="Text 20"/>
          <p:cNvSpPr/>
          <p:nvPr/>
        </p:nvSpPr>
        <p:spPr>
          <a:xfrm>
            <a:off x="862971" y="3604022"/>
            <a:ext cx="2291721"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5. Optional: Additional processing</a:t>
            </a:r>
            <a:endParaRPr lang="en-US" sz="788" dirty="0"/>
          </a:p>
        </p:txBody>
      </p:sp>
      <p:sp>
        <p:nvSpPr>
          <p:cNvPr id="24" name="Text 21"/>
          <p:cNvSpPr/>
          <p:nvPr/>
        </p:nvSpPr>
        <p:spPr>
          <a:xfrm>
            <a:off x="742950" y="37468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5" name="Text 22"/>
          <p:cNvSpPr/>
          <p:nvPr/>
        </p:nvSpPr>
        <p:spPr>
          <a:xfrm>
            <a:off x="742950" y="4032647"/>
            <a:ext cx="1691646"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6. Code after loop exits</a:t>
            </a:r>
            <a:endParaRPr lang="en-US" sz="788" dirty="0"/>
          </a:p>
        </p:txBody>
      </p:sp>
      <p:sp>
        <p:nvSpPr>
          <p:cNvPr id="26" name="Shape 23"/>
          <p:cNvSpPr/>
          <p:nvPr/>
        </p:nvSpPr>
        <p:spPr>
          <a:xfrm>
            <a:off x="628650" y="4457700"/>
            <a:ext cx="3657600" cy="742950"/>
          </a:xfrm>
          <a:prstGeom prst="rect">
            <a:avLst/>
          </a:prstGeom>
          <a:solidFill>
            <a:srgbClr val="1E3A8A">
              <a:alpha val="30000"/>
            </a:srgbClr>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742950" y="4743450"/>
            <a:ext cx="171450" cy="171450"/>
          </a:xfrm>
          <a:prstGeom prst="rect">
            <a:avLst/>
          </a:prstGeom>
        </p:spPr>
      </p:pic>
      <p:sp>
        <p:nvSpPr>
          <p:cNvPr id="28" name="Text 24"/>
          <p:cNvSpPr/>
          <p:nvPr/>
        </p:nvSpPr>
        <p:spPr>
          <a:xfrm>
            <a:off x="1028700" y="4572000"/>
            <a:ext cx="3214688" cy="51435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The flag variable acts as a switch that can be flipped at any point within the loop body to control when the loop should terminate.</a:t>
            </a:r>
            <a:endParaRPr lang="en-US" sz="900" dirty="0"/>
          </a:p>
        </p:txBody>
      </p:sp>
      <p:sp>
        <p:nvSpPr>
          <p:cNvPr id="29" name="Shape 25"/>
          <p:cNvSpPr/>
          <p:nvPr/>
        </p:nvSpPr>
        <p:spPr>
          <a:xfrm>
            <a:off x="457200" y="5543550"/>
            <a:ext cx="4000500" cy="46434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0" name="Text 26"/>
          <p:cNvSpPr/>
          <p:nvPr/>
        </p:nvSpPr>
        <p:spPr>
          <a:xfrm>
            <a:off x="628650" y="5715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Flag Initialization Patterns</a:t>
            </a:r>
            <a:endParaRPr lang="en-US" sz="1350" dirty="0"/>
          </a:p>
        </p:txBody>
      </p:sp>
      <p:sp>
        <p:nvSpPr>
          <p:cNvPr id="31" name="Shape 27"/>
          <p:cNvSpPr/>
          <p:nvPr/>
        </p:nvSpPr>
        <p:spPr>
          <a:xfrm>
            <a:off x="628650" y="6057900"/>
            <a:ext cx="1771650" cy="1714500"/>
          </a:xfrm>
          <a:prstGeom prst="rect">
            <a:avLst/>
          </a:prstGeom>
          <a:solidFill>
            <a:srgbClr val="1E3A8A">
              <a:alpha val="30000"/>
            </a:srgbClr>
          </a:solidFill>
          <a:ln/>
        </p:spPr>
        <p:txBody>
          <a:bodyPr/>
          <a:lstStyle/>
          <a:p>
            <a:endParaRPr lang="en-US"/>
          </a:p>
        </p:txBody>
      </p:sp>
      <p:sp>
        <p:nvSpPr>
          <p:cNvPr id="32" name="Text 28"/>
          <p:cNvSpPr/>
          <p:nvPr/>
        </p:nvSpPr>
        <p:spPr>
          <a:xfrm>
            <a:off x="714375" y="6143625"/>
            <a:ext cx="1671638" cy="171450"/>
          </a:xfrm>
          <a:prstGeom prst="rect">
            <a:avLst/>
          </a:prstGeom>
          <a:noFill/>
          <a:ln/>
        </p:spPr>
        <p:txBody>
          <a:bodyPr wrap="squar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True-to-False Pattern</a:t>
            </a:r>
            <a:endParaRPr lang="en-US" sz="900" dirty="0"/>
          </a:p>
        </p:txBody>
      </p:sp>
      <p:sp>
        <p:nvSpPr>
          <p:cNvPr id="33" name="Shape 29"/>
          <p:cNvSpPr/>
          <p:nvPr/>
        </p:nvSpPr>
        <p:spPr>
          <a:xfrm>
            <a:off x="714375" y="6372225"/>
            <a:ext cx="1600200" cy="1028700"/>
          </a:xfrm>
          <a:prstGeom prst="rect">
            <a:avLst/>
          </a:prstGeom>
          <a:solidFill>
            <a:srgbClr val="1A202C"/>
          </a:solidFill>
          <a:ln/>
        </p:spPr>
        <p:txBody>
          <a:bodyPr/>
          <a:lstStyle/>
          <a:p>
            <a:endParaRPr lang="en-US"/>
          </a:p>
        </p:txBody>
      </p:sp>
      <p:sp>
        <p:nvSpPr>
          <p:cNvPr id="34" name="Text 30"/>
          <p:cNvSpPr/>
          <p:nvPr/>
        </p:nvSpPr>
        <p:spPr>
          <a:xfrm>
            <a:off x="828675" y="64847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5" name="Text 31"/>
          <p:cNvSpPr/>
          <p:nvPr/>
        </p:nvSpPr>
        <p:spPr>
          <a:xfrm>
            <a:off x="1188737" y="648473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true;</a:t>
            </a:r>
            <a:endParaRPr lang="en-US" sz="675" dirty="0"/>
          </a:p>
        </p:txBody>
      </p:sp>
      <p:sp>
        <p:nvSpPr>
          <p:cNvPr id="36" name="Text 32"/>
          <p:cNvSpPr/>
          <p:nvPr/>
        </p:nvSpPr>
        <p:spPr>
          <a:xfrm>
            <a:off x="828675" y="659903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37" name="Text 33"/>
          <p:cNvSpPr/>
          <p:nvPr/>
        </p:nvSpPr>
        <p:spPr>
          <a:xfrm>
            <a:off x="1085878" y="659903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a:t>
            </a:r>
            <a:endParaRPr lang="en-US" sz="675" dirty="0"/>
          </a:p>
        </p:txBody>
      </p:sp>
      <p:sp>
        <p:nvSpPr>
          <p:cNvPr id="38" name="Text 34"/>
          <p:cNvSpPr/>
          <p:nvPr/>
        </p:nvSpPr>
        <p:spPr>
          <a:xfrm>
            <a:off x="931562" y="6713339"/>
            <a:ext cx="68867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Loop body</a:t>
            </a:r>
            <a:endParaRPr lang="en-US" sz="675" dirty="0"/>
          </a:p>
        </p:txBody>
      </p:sp>
      <p:sp>
        <p:nvSpPr>
          <p:cNvPr id="39" name="Text 35"/>
          <p:cNvSpPr/>
          <p:nvPr/>
        </p:nvSpPr>
        <p:spPr>
          <a:xfrm>
            <a:off x="931562" y="682763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40" name="Text 36"/>
          <p:cNvSpPr/>
          <p:nvPr/>
        </p:nvSpPr>
        <p:spPr>
          <a:xfrm>
            <a:off x="1034448" y="6827639"/>
            <a:ext cx="99727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(exitCondition) {</a:t>
            </a:r>
            <a:endParaRPr lang="en-US" sz="675" dirty="0"/>
          </a:p>
        </p:txBody>
      </p:sp>
      <p:sp>
        <p:nvSpPr>
          <p:cNvPr id="41" name="Text 37"/>
          <p:cNvSpPr/>
          <p:nvPr/>
        </p:nvSpPr>
        <p:spPr>
          <a:xfrm>
            <a:off x="828675" y="694193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false;</a:t>
            </a:r>
            <a:endParaRPr lang="en-US" sz="675" dirty="0"/>
          </a:p>
        </p:txBody>
      </p:sp>
      <p:sp>
        <p:nvSpPr>
          <p:cNvPr id="42" name="Text 38"/>
          <p:cNvSpPr/>
          <p:nvPr/>
        </p:nvSpPr>
        <p:spPr>
          <a:xfrm>
            <a:off x="828675" y="705623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3" name="Text 39"/>
          <p:cNvSpPr/>
          <p:nvPr/>
        </p:nvSpPr>
        <p:spPr>
          <a:xfrm>
            <a:off x="828675" y="717053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4" name="Text 40"/>
          <p:cNvSpPr/>
          <p:nvPr/>
        </p:nvSpPr>
        <p:spPr>
          <a:xfrm>
            <a:off x="714375" y="74580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 when: Loop should run until a specific condition is met</a:t>
            </a:r>
            <a:endParaRPr lang="en-US" sz="675" dirty="0"/>
          </a:p>
        </p:txBody>
      </p:sp>
      <p:sp>
        <p:nvSpPr>
          <p:cNvPr id="45" name="Shape 41"/>
          <p:cNvSpPr/>
          <p:nvPr/>
        </p:nvSpPr>
        <p:spPr>
          <a:xfrm>
            <a:off x="2514600" y="6057900"/>
            <a:ext cx="1771650" cy="1714500"/>
          </a:xfrm>
          <a:prstGeom prst="rect">
            <a:avLst/>
          </a:prstGeom>
          <a:solidFill>
            <a:srgbClr val="1E3A8A">
              <a:alpha val="30000"/>
            </a:srgbClr>
          </a:solidFill>
          <a:ln/>
        </p:spPr>
        <p:txBody>
          <a:bodyPr/>
          <a:lstStyle/>
          <a:p>
            <a:endParaRPr lang="en-US"/>
          </a:p>
        </p:txBody>
      </p:sp>
      <p:sp>
        <p:nvSpPr>
          <p:cNvPr id="46" name="Text 42"/>
          <p:cNvSpPr/>
          <p:nvPr/>
        </p:nvSpPr>
        <p:spPr>
          <a:xfrm>
            <a:off x="2600325" y="6143625"/>
            <a:ext cx="1671638" cy="171450"/>
          </a:xfrm>
          <a:prstGeom prst="rect">
            <a:avLst/>
          </a:prstGeom>
          <a:noFill/>
          <a:ln/>
        </p:spPr>
        <p:txBody>
          <a:bodyPr wrap="square" lIns="0" tIns="0" rIns="0" bIns="0"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False-to-True Pattern</a:t>
            </a:r>
            <a:endParaRPr lang="en-US" sz="900" dirty="0"/>
          </a:p>
        </p:txBody>
      </p:sp>
      <p:sp>
        <p:nvSpPr>
          <p:cNvPr id="47" name="Shape 43"/>
          <p:cNvSpPr/>
          <p:nvPr/>
        </p:nvSpPr>
        <p:spPr>
          <a:xfrm>
            <a:off x="2600325" y="6372225"/>
            <a:ext cx="1600200" cy="1028700"/>
          </a:xfrm>
          <a:prstGeom prst="rect">
            <a:avLst/>
          </a:prstGeom>
          <a:solidFill>
            <a:srgbClr val="1A202C"/>
          </a:solidFill>
          <a:ln/>
        </p:spPr>
        <p:txBody>
          <a:bodyPr/>
          <a:lstStyle/>
          <a:p>
            <a:endParaRPr lang="en-US"/>
          </a:p>
        </p:txBody>
      </p:sp>
      <p:sp>
        <p:nvSpPr>
          <p:cNvPr id="48" name="Text 44"/>
          <p:cNvSpPr/>
          <p:nvPr/>
        </p:nvSpPr>
        <p:spPr>
          <a:xfrm>
            <a:off x="2714625" y="64847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49" name="Text 45"/>
          <p:cNvSpPr/>
          <p:nvPr/>
        </p:nvSpPr>
        <p:spPr>
          <a:xfrm>
            <a:off x="3074687" y="648473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50" name="Text 46"/>
          <p:cNvSpPr/>
          <p:nvPr/>
        </p:nvSpPr>
        <p:spPr>
          <a:xfrm>
            <a:off x="2714625" y="659903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51" name="Text 47"/>
          <p:cNvSpPr/>
          <p:nvPr/>
        </p:nvSpPr>
        <p:spPr>
          <a:xfrm>
            <a:off x="2971828" y="659903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t>
            </a:r>
            <a:endParaRPr lang="en-US" sz="675" dirty="0"/>
          </a:p>
        </p:txBody>
      </p:sp>
      <p:sp>
        <p:nvSpPr>
          <p:cNvPr id="52" name="Text 48"/>
          <p:cNvSpPr/>
          <p:nvPr/>
        </p:nvSpPr>
        <p:spPr>
          <a:xfrm>
            <a:off x="2817512" y="6713339"/>
            <a:ext cx="68867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Loop body</a:t>
            </a:r>
            <a:endParaRPr lang="en-US" sz="675" dirty="0"/>
          </a:p>
        </p:txBody>
      </p:sp>
      <p:sp>
        <p:nvSpPr>
          <p:cNvPr id="53" name="Text 49"/>
          <p:cNvSpPr/>
          <p:nvPr/>
        </p:nvSpPr>
        <p:spPr>
          <a:xfrm>
            <a:off x="2817512" y="682763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54" name="Text 50"/>
          <p:cNvSpPr/>
          <p:nvPr/>
        </p:nvSpPr>
        <p:spPr>
          <a:xfrm>
            <a:off x="2920398" y="682763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(searchCondition) {</a:t>
            </a:r>
            <a:endParaRPr lang="en-US" sz="675" dirty="0"/>
          </a:p>
        </p:txBody>
      </p:sp>
      <p:sp>
        <p:nvSpPr>
          <p:cNvPr id="55" name="Text 51"/>
          <p:cNvSpPr/>
          <p:nvPr/>
        </p:nvSpPr>
        <p:spPr>
          <a:xfrm>
            <a:off x="2714625" y="694193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56" name="Text 52"/>
          <p:cNvSpPr/>
          <p:nvPr/>
        </p:nvSpPr>
        <p:spPr>
          <a:xfrm>
            <a:off x="2714625" y="705623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57" name="Text 53"/>
          <p:cNvSpPr/>
          <p:nvPr/>
        </p:nvSpPr>
        <p:spPr>
          <a:xfrm>
            <a:off x="2714625" y="717053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58" name="Text 54"/>
          <p:cNvSpPr/>
          <p:nvPr/>
        </p:nvSpPr>
        <p:spPr>
          <a:xfrm>
            <a:off x="2600325" y="745807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 when: Searching for something or waiting for a condition to become true</a:t>
            </a:r>
            <a:endParaRPr lang="en-US" sz="675" dirty="0"/>
          </a:p>
        </p:txBody>
      </p:sp>
      <p:sp>
        <p:nvSpPr>
          <p:cNvPr id="59" name="Shape 55"/>
          <p:cNvSpPr/>
          <p:nvPr/>
        </p:nvSpPr>
        <p:spPr>
          <a:xfrm>
            <a:off x="628650" y="7943850"/>
            <a:ext cx="3657600" cy="2057400"/>
          </a:xfrm>
          <a:prstGeom prst="rect">
            <a:avLst/>
          </a:prstGeom>
          <a:solidFill>
            <a:srgbClr val="1E3A8A">
              <a:alpha val="30000"/>
            </a:srgbClr>
          </a:solidFill>
          <a:ln/>
        </p:spPr>
        <p:txBody>
          <a:bodyPr/>
          <a:lstStyle/>
          <a:p>
            <a:endParaRPr lang="en-US"/>
          </a:p>
        </p:txBody>
      </p:sp>
      <p:sp>
        <p:nvSpPr>
          <p:cNvPr id="60" name="Text 56"/>
          <p:cNvSpPr/>
          <p:nvPr/>
        </p:nvSpPr>
        <p:spPr>
          <a:xfrm>
            <a:off x="714375" y="8029575"/>
            <a:ext cx="355758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Combined Flag Patterns</a:t>
            </a:r>
            <a:endParaRPr lang="en-US" sz="900" dirty="0"/>
          </a:p>
        </p:txBody>
      </p:sp>
      <p:sp>
        <p:nvSpPr>
          <p:cNvPr id="61" name="Shape 57"/>
          <p:cNvSpPr/>
          <p:nvPr/>
        </p:nvSpPr>
        <p:spPr>
          <a:xfrm>
            <a:off x="714375" y="8258175"/>
            <a:ext cx="3486150" cy="1485900"/>
          </a:xfrm>
          <a:prstGeom prst="rect">
            <a:avLst/>
          </a:prstGeom>
          <a:solidFill>
            <a:srgbClr val="1A202C"/>
          </a:solidFill>
          <a:ln/>
        </p:spPr>
        <p:txBody>
          <a:bodyPr/>
          <a:lstStyle/>
          <a:p>
            <a:endParaRPr lang="en-US"/>
          </a:p>
        </p:txBody>
      </p:sp>
      <p:sp>
        <p:nvSpPr>
          <p:cNvPr id="62" name="Text 58"/>
          <p:cNvSpPr/>
          <p:nvPr/>
        </p:nvSpPr>
        <p:spPr>
          <a:xfrm>
            <a:off x="828675" y="83706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63" name="Text 59"/>
          <p:cNvSpPr/>
          <p:nvPr/>
        </p:nvSpPr>
        <p:spPr>
          <a:xfrm>
            <a:off x="1188737" y="83706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true;</a:t>
            </a:r>
            <a:endParaRPr lang="en-US" sz="675" dirty="0"/>
          </a:p>
        </p:txBody>
      </p:sp>
      <p:sp>
        <p:nvSpPr>
          <p:cNvPr id="64" name="Text 60"/>
          <p:cNvSpPr/>
          <p:nvPr/>
        </p:nvSpPr>
        <p:spPr>
          <a:xfrm>
            <a:off x="828675" y="84849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65" name="Text 61"/>
          <p:cNvSpPr/>
          <p:nvPr/>
        </p:nvSpPr>
        <p:spPr>
          <a:xfrm>
            <a:off x="1188737" y="84849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66" name="Text 62"/>
          <p:cNvSpPr/>
          <p:nvPr/>
        </p:nvSpPr>
        <p:spPr>
          <a:xfrm>
            <a:off x="828675" y="85992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67" name="Text 63"/>
          <p:cNvSpPr/>
          <p:nvPr/>
        </p:nvSpPr>
        <p:spPr>
          <a:xfrm>
            <a:off x="1085878" y="8599289"/>
            <a:ext cx="12030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&amp;&amp; !found) {</a:t>
            </a:r>
            <a:endParaRPr lang="en-US" sz="675" dirty="0"/>
          </a:p>
        </p:txBody>
      </p:sp>
      <p:sp>
        <p:nvSpPr>
          <p:cNvPr id="68" name="Text 64"/>
          <p:cNvSpPr/>
          <p:nvPr/>
        </p:nvSpPr>
        <p:spPr>
          <a:xfrm>
            <a:off x="931562" y="8713589"/>
            <a:ext cx="68867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Loop body</a:t>
            </a:r>
            <a:endParaRPr lang="en-US" sz="675" dirty="0"/>
          </a:p>
        </p:txBody>
      </p:sp>
      <p:sp>
        <p:nvSpPr>
          <p:cNvPr id="69" name="Text 65"/>
          <p:cNvSpPr/>
          <p:nvPr/>
        </p:nvSpPr>
        <p:spPr>
          <a:xfrm>
            <a:off x="931562" y="88278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70" name="Text 66"/>
          <p:cNvSpPr/>
          <p:nvPr/>
        </p:nvSpPr>
        <p:spPr>
          <a:xfrm>
            <a:off x="1034448" y="882788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(searchCondition) {</a:t>
            </a:r>
            <a:endParaRPr lang="en-US" sz="675" dirty="0"/>
          </a:p>
        </p:txBody>
      </p:sp>
      <p:sp>
        <p:nvSpPr>
          <p:cNvPr id="71" name="Text 67"/>
          <p:cNvSpPr/>
          <p:nvPr/>
        </p:nvSpPr>
        <p:spPr>
          <a:xfrm>
            <a:off x="828675" y="89421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72" name="Text 68"/>
          <p:cNvSpPr/>
          <p:nvPr/>
        </p:nvSpPr>
        <p:spPr>
          <a:xfrm>
            <a:off x="828675" y="90564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73" name="Text 69"/>
          <p:cNvSpPr/>
          <p:nvPr/>
        </p:nvSpPr>
        <p:spPr>
          <a:xfrm>
            <a:off x="931562" y="91707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74" name="Text 70"/>
          <p:cNvSpPr/>
          <p:nvPr/>
        </p:nvSpPr>
        <p:spPr>
          <a:xfrm>
            <a:off x="1034448" y="917078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(errorCondition) {</a:t>
            </a:r>
            <a:endParaRPr lang="en-US" sz="675" dirty="0"/>
          </a:p>
        </p:txBody>
      </p:sp>
      <p:sp>
        <p:nvSpPr>
          <p:cNvPr id="75" name="Text 71"/>
          <p:cNvSpPr/>
          <p:nvPr/>
        </p:nvSpPr>
        <p:spPr>
          <a:xfrm>
            <a:off x="828675" y="928508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false;</a:t>
            </a:r>
            <a:endParaRPr lang="en-US" sz="675" dirty="0"/>
          </a:p>
        </p:txBody>
      </p:sp>
      <p:sp>
        <p:nvSpPr>
          <p:cNvPr id="76" name="Text 72"/>
          <p:cNvSpPr/>
          <p:nvPr/>
        </p:nvSpPr>
        <p:spPr>
          <a:xfrm>
            <a:off x="828675" y="93993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77" name="Text 73"/>
          <p:cNvSpPr/>
          <p:nvPr/>
        </p:nvSpPr>
        <p:spPr>
          <a:xfrm>
            <a:off x="828675" y="95136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78" name="Text 74"/>
          <p:cNvSpPr/>
          <p:nvPr/>
        </p:nvSpPr>
        <p:spPr>
          <a:xfrm>
            <a:off x="714375" y="9801225"/>
            <a:ext cx="355758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 when: Multiple exit conditions are needed (success, error, timeout, etc.)</a:t>
            </a:r>
            <a:endParaRPr lang="en-US" sz="675" dirty="0"/>
          </a:p>
        </p:txBody>
      </p:sp>
      <p:sp>
        <p:nvSpPr>
          <p:cNvPr id="79" name="Shape 75"/>
          <p:cNvSpPr/>
          <p:nvPr/>
        </p:nvSpPr>
        <p:spPr>
          <a:xfrm>
            <a:off x="4686300" y="971550"/>
            <a:ext cx="4000500" cy="81295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80" name="Text 76"/>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Common Structural Patterns</a:t>
            </a:r>
            <a:endParaRPr lang="en-US" sz="1350" dirty="0"/>
          </a:p>
        </p:txBody>
      </p:sp>
      <p:sp>
        <p:nvSpPr>
          <p:cNvPr id="81" name="Shape 77"/>
          <p:cNvSpPr/>
          <p:nvPr/>
        </p:nvSpPr>
        <p:spPr>
          <a:xfrm>
            <a:off x="4857750" y="1485900"/>
            <a:ext cx="3657600" cy="2171700"/>
          </a:xfrm>
          <a:prstGeom prst="rect">
            <a:avLst/>
          </a:prstGeom>
          <a:solidFill>
            <a:srgbClr val="1E3A8A">
              <a:alpha val="30000"/>
            </a:srgbClr>
          </a:solidFill>
          <a:ln/>
        </p:spPr>
        <p:txBody>
          <a:bodyPr/>
          <a:lstStyle/>
          <a:p>
            <a:endParaRPr lang="en-US"/>
          </a:p>
        </p:txBody>
      </p:sp>
      <p:sp>
        <p:nvSpPr>
          <p:cNvPr id="82" name="Shape 78"/>
          <p:cNvSpPr/>
          <p:nvPr/>
        </p:nvSpPr>
        <p:spPr>
          <a:xfrm>
            <a:off x="4857750" y="1485900"/>
            <a:ext cx="28575" cy="2171700"/>
          </a:xfrm>
          <a:prstGeom prst="rect">
            <a:avLst/>
          </a:prstGeom>
          <a:solidFill>
            <a:srgbClr val="63B3ED"/>
          </a:solidFill>
          <a:ln/>
        </p:spPr>
        <p:txBody>
          <a:bodyPr/>
          <a:lstStyle/>
          <a:p>
            <a:endParaRPr lang="en-US"/>
          </a:p>
        </p:txBody>
      </p:sp>
      <p:sp>
        <p:nvSpPr>
          <p:cNvPr id="83" name="Text 79"/>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1. Basic Search Pattern</a:t>
            </a:r>
            <a:endParaRPr lang="en-US" sz="1125" dirty="0"/>
          </a:p>
        </p:txBody>
      </p:sp>
      <p:sp>
        <p:nvSpPr>
          <p:cNvPr id="84" name="Shape 80"/>
          <p:cNvSpPr/>
          <p:nvPr/>
        </p:nvSpPr>
        <p:spPr>
          <a:xfrm>
            <a:off x="4972050" y="1857375"/>
            <a:ext cx="3543300" cy="1714500"/>
          </a:xfrm>
          <a:prstGeom prst="rect">
            <a:avLst/>
          </a:prstGeom>
          <a:solidFill>
            <a:srgbClr val="1A202C"/>
          </a:solidFill>
          <a:ln/>
        </p:spPr>
        <p:txBody>
          <a:bodyPr/>
          <a:lstStyle/>
          <a:p>
            <a:endParaRPr lang="en-US"/>
          </a:p>
        </p:txBody>
      </p:sp>
      <p:sp>
        <p:nvSpPr>
          <p:cNvPr id="85" name="Text 81"/>
          <p:cNvSpPr/>
          <p:nvPr/>
        </p:nvSpPr>
        <p:spPr>
          <a:xfrm>
            <a:off x="5086350" y="19698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86" name="Text 82"/>
          <p:cNvSpPr/>
          <p:nvPr/>
        </p:nvSpPr>
        <p:spPr>
          <a:xfrm>
            <a:off x="5446412" y="19698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87" name="Text 83"/>
          <p:cNvSpPr/>
          <p:nvPr/>
        </p:nvSpPr>
        <p:spPr>
          <a:xfrm>
            <a:off x="5086350" y="2084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88" name="Text 84"/>
          <p:cNvSpPr/>
          <p:nvPr/>
        </p:nvSpPr>
        <p:spPr>
          <a:xfrm>
            <a:off x="5240666" y="20841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a:t>
            </a:r>
            <a:endParaRPr lang="en-US" sz="675" dirty="0"/>
          </a:p>
        </p:txBody>
      </p:sp>
      <p:sp>
        <p:nvSpPr>
          <p:cNvPr id="89" name="Text 85"/>
          <p:cNvSpPr/>
          <p:nvPr/>
        </p:nvSpPr>
        <p:spPr>
          <a:xfrm>
            <a:off x="5086350" y="2312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90" name="Text 86"/>
          <p:cNvSpPr/>
          <p:nvPr/>
        </p:nvSpPr>
        <p:spPr>
          <a:xfrm>
            <a:off x="5343553" y="2312789"/>
            <a:ext cx="1665945"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&amp;&amp; i &lt; array.length) {</a:t>
            </a:r>
            <a:endParaRPr lang="en-US" sz="675" dirty="0"/>
          </a:p>
        </p:txBody>
      </p:sp>
      <p:sp>
        <p:nvSpPr>
          <p:cNvPr id="91" name="Text 87"/>
          <p:cNvSpPr/>
          <p:nvPr/>
        </p:nvSpPr>
        <p:spPr>
          <a:xfrm>
            <a:off x="5189237" y="24270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92" name="Text 88"/>
          <p:cNvSpPr/>
          <p:nvPr/>
        </p:nvSpPr>
        <p:spPr>
          <a:xfrm>
            <a:off x="5292123" y="24270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93" name="Text 89"/>
          <p:cNvSpPr/>
          <p:nvPr/>
        </p:nvSpPr>
        <p:spPr>
          <a:xfrm>
            <a:off x="5086350" y="25413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94" name="Text 90"/>
          <p:cNvSpPr/>
          <p:nvPr/>
        </p:nvSpPr>
        <p:spPr>
          <a:xfrm>
            <a:off x="5086350" y="26556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95" name="Text 91"/>
          <p:cNvSpPr/>
          <p:nvPr/>
        </p:nvSpPr>
        <p:spPr>
          <a:xfrm>
            <a:off x="5292096" y="26556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96" name="Text 92"/>
          <p:cNvSpPr/>
          <p:nvPr/>
        </p:nvSpPr>
        <p:spPr>
          <a:xfrm>
            <a:off x="5497841" y="26556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97" name="Text 93"/>
          <p:cNvSpPr/>
          <p:nvPr/>
        </p:nvSpPr>
        <p:spPr>
          <a:xfrm>
            <a:off x="5086350" y="2769989"/>
            <a:ext cx="48292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98" name="Text 94"/>
          <p:cNvSpPr/>
          <p:nvPr/>
        </p:nvSpPr>
        <p:spPr>
          <a:xfrm>
            <a:off x="5086350" y="28842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99" name="Text 95"/>
          <p:cNvSpPr/>
          <p:nvPr/>
        </p:nvSpPr>
        <p:spPr>
          <a:xfrm>
            <a:off x="5086350" y="29985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00" name="Text 96"/>
          <p:cNvSpPr/>
          <p:nvPr/>
        </p:nvSpPr>
        <p:spPr>
          <a:xfrm>
            <a:off x="5086350" y="3227189"/>
            <a:ext cx="2180295" cy="1160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found will be true if target was found</a:t>
            </a:r>
            <a:endParaRPr lang="en-US" sz="675" dirty="0"/>
          </a:p>
        </p:txBody>
      </p:sp>
      <p:sp>
        <p:nvSpPr>
          <p:cNvPr id="101" name="Text 97"/>
          <p:cNvSpPr/>
          <p:nvPr/>
        </p:nvSpPr>
        <p:spPr>
          <a:xfrm>
            <a:off x="5086350" y="3341489"/>
            <a:ext cx="2180295" cy="1160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i will be the index where it was found</a:t>
            </a:r>
            <a:endParaRPr lang="en-US" sz="675" dirty="0"/>
          </a:p>
        </p:txBody>
      </p:sp>
      <p:sp>
        <p:nvSpPr>
          <p:cNvPr id="102" name="Shape 98"/>
          <p:cNvSpPr/>
          <p:nvPr/>
        </p:nvSpPr>
        <p:spPr>
          <a:xfrm>
            <a:off x="4857750" y="3771900"/>
            <a:ext cx="3657600" cy="2286000"/>
          </a:xfrm>
          <a:prstGeom prst="rect">
            <a:avLst/>
          </a:prstGeom>
          <a:solidFill>
            <a:srgbClr val="1E3A8A">
              <a:alpha val="30000"/>
            </a:srgbClr>
          </a:solidFill>
          <a:ln/>
        </p:spPr>
        <p:txBody>
          <a:bodyPr/>
          <a:lstStyle/>
          <a:p>
            <a:endParaRPr lang="en-US"/>
          </a:p>
        </p:txBody>
      </p:sp>
      <p:sp>
        <p:nvSpPr>
          <p:cNvPr id="103" name="Shape 99"/>
          <p:cNvSpPr/>
          <p:nvPr/>
        </p:nvSpPr>
        <p:spPr>
          <a:xfrm>
            <a:off x="4857750" y="3771900"/>
            <a:ext cx="28575" cy="2286000"/>
          </a:xfrm>
          <a:prstGeom prst="rect">
            <a:avLst/>
          </a:prstGeom>
          <a:solidFill>
            <a:srgbClr val="63B3ED"/>
          </a:solidFill>
          <a:ln/>
        </p:spPr>
        <p:txBody>
          <a:bodyPr/>
          <a:lstStyle/>
          <a:p>
            <a:endParaRPr lang="en-US"/>
          </a:p>
        </p:txBody>
      </p:sp>
      <p:sp>
        <p:nvSpPr>
          <p:cNvPr id="104" name="Text 100"/>
          <p:cNvSpPr/>
          <p:nvPr/>
        </p:nvSpPr>
        <p:spPr>
          <a:xfrm>
            <a:off x="4972050" y="3857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2. Input Validation Pattern</a:t>
            </a:r>
            <a:endParaRPr lang="en-US" sz="1125" dirty="0"/>
          </a:p>
        </p:txBody>
      </p:sp>
      <p:sp>
        <p:nvSpPr>
          <p:cNvPr id="105" name="Shape 101"/>
          <p:cNvSpPr/>
          <p:nvPr/>
        </p:nvSpPr>
        <p:spPr>
          <a:xfrm>
            <a:off x="4972050" y="4143375"/>
            <a:ext cx="3543300" cy="1828800"/>
          </a:xfrm>
          <a:prstGeom prst="rect">
            <a:avLst/>
          </a:prstGeom>
          <a:solidFill>
            <a:srgbClr val="1A202C"/>
          </a:solidFill>
          <a:ln/>
        </p:spPr>
        <p:txBody>
          <a:bodyPr/>
          <a:lstStyle/>
          <a:p>
            <a:endParaRPr lang="en-US"/>
          </a:p>
        </p:txBody>
      </p:sp>
      <p:sp>
        <p:nvSpPr>
          <p:cNvPr id="106" name="Text 102"/>
          <p:cNvSpPr/>
          <p:nvPr/>
        </p:nvSpPr>
        <p:spPr>
          <a:xfrm>
            <a:off x="5086350" y="42558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07" name="Text 103"/>
          <p:cNvSpPr/>
          <p:nvPr/>
        </p:nvSpPr>
        <p:spPr>
          <a:xfrm>
            <a:off x="5446412" y="425588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false;</a:t>
            </a:r>
            <a:endParaRPr lang="en-US" sz="675" dirty="0"/>
          </a:p>
        </p:txBody>
      </p:sp>
      <p:sp>
        <p:nvSpPr>
          <p:cNvPr id="108" name="Text 104"/>
          <p:cNvSpPr/>
          <p:nvPr/>
        </p:nvSpPr>
        <p:spPr>
          <a:xfrm>
            <a:off x="5086350" y="43701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String</a:t>
            </a:r>
            <a:endParaRPr lang="en-US" sz="675" dirty="0"/>
          </a:p>
        </p:txBody>
      </p:sp>
      <p:sp>
        <p:nvSpPr>
          <p:cNvPr id="109" name="Text 105"/>
          <p:cNvSpPr/>
          <p:nvPr/>
        </p:nvSpPr>
        <p:spPr>
          <a:xfrm>
            <a:off x="5394982" y="43701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input;</a:t>
            </a:r>
            <a:endParaRPr lang="en-US" sz="675" dirty="0"/>
          </a:p>
        </p:txBody>
      </p:sp>
      <p:sp>
        <p:nvSpPr>
          <p:cNvPr id="110" name="Text 106"/>
          <p:cNvSpPr/>
          <p:nvPr/>
        </p:nvSpPr>
        <p:spPr>
          <a:xfrm>
            <a:off x="5086350" y="4598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11" name="Text 107"/>
          <p:cNvSpPr/>
          <p:nvPr/>
        </p:nvSpPr>
        <p:spPr>
          <a:xfrm>
            <a:off x="5343553" y="45987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a:t>
            </a:r>
            <a:endParaRPr lang="en-US" sz="675" dirty="0"/>
          </a:p>
        </p:txBody>
      </p:sp>
      <p:sp>
        <p:nvSpPr>
          <p:cNvPr id="112" name="Text 108"/>
          <p:cNvSpPr/>
          <p:nvPr/>
        </p:nvSpPr>
        <p:spPr>
          <a:xfrm>
            <a:off x="5086350" y="4713089"/>
            <a:ext cx="1357340"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input = getUserInput();</a:t>
            </a:r>
            <a:endParaRPr lang="en-US" sz="675" dirty="0"/>
          </a:p>
        </p:txBody>
      </p:sp>
      <p:sp>
        <p:nvSpPr>
          <p:cNvPr id="113" name="Text 109"/>
          <p:cNvSpPr/>
          <p:nvPr/>
        </p:nvSpPr>
        <p:spPr>
          <a:xfrm>
            <a:off x="5189237" y="49416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14" name="Text 110"/>
          <p:cNvSpPr/>
          <p:nvPr/>
        </p:nvSpPr>
        <p:spPr>
          <a:xfrm>
            <a:off x="5292123" y="494168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(isValid(input)) {</a:t>
            </a:r>
            <a:endParaRPr lang="en-US" sz="675" dirty="0"/>
          </a:p>
        </p:txBody>
      </p:sp>
      <p:sp>
        <p:nvSpPr>
          <p:cNvPr id="115" name="Text 111"/>
          <p:cNvSpPr/>
          <p:nvPr/>
        </p:nvSpPr>
        <p:spPr>
          <a:xfrm>
            <a:off x="5086350" y="5055989"/>
            <a:ext cx="12030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true;</a:t>
            </a:r>
            <a:endParaRPr lang="en-US" sz="675" dirty="0"/>
          </a:p>
        </p:txBody>
      </p:sp>
      <p:sp>
        <p:nvSpPr>
          <p:cNvPr id="116" name="Text 112"/>
          <p:cNvSpPr/>
          <p:nvPr/>
        </p:nvSpPr>
        <p:spPr>
          <a:xfrm>
            <a:off x="5086350" y="51702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17" name="Text 113"/>
          <p:cNvSpPr/>
          <p:nvPr/>
        </p:nvSpPr>
        <p:spPr>
          <a:xfrm>
            <a:off x="5292096" y="51702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118" name="Text 114"/>
          <p:cNvSpPr/>
          <p:nvPr/>
        </p:nvSpPr>
        <p:spPr>
          <a:xfrm>
            <a:off x="5497841" y="51702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19" name="Text 115"/>
          <p:cNvSpPr/>
          <p:nvPr/>
        </p:nvSpPr>
        <p:spPr>
          <a:xfrm>
            <a:off x="5086350" y="5284589"/>
            <a:ext cx="1408770"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displayErrorMessage();</a:t>
            </a:r>
            <a:endParaRPr lang="en-US" sz="675" dirty="0"/>
          </a:p>
        </p:txBody>
      </p:sp>
      <p:sp>
        <p:nvSpPr>
          <p:cNvPr id="120" name="Text 116"/>
          <p:cNvSpPr/>
          <p:nvPr/>
        </p:nvSpPr>
        <p:spPr>
          <a:xfrm>
            <a:off x="5086350" y="53988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21" name="Text 117"/>
          <p:cNvSpPr/>
          <p:nvPr/>
        </p:nvSpPr>
        <p:spPr>
          <a:xfrm>
            <a:off x="5086350" y="55131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22" name="Text 118"/>
          <p:cNvSpPr/>
          <p:nvPr/>
        </p:nvSpPr>
        <p:spPr>
          <a:xfrm>
            <a:off x="5086350" y="5741789"/>
            <a:ext cx="120302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Process valid input</a:t>
            </a:r>
            <a:endParaRPr lang="en-US" sz="675" dirty="0"/>
          </a:p>
        </p:txBody>
      </p:sp>
      <p:sp>
        <p:nvSpPr>
          <p:cNvPr id="123" name="Shape 119"/>
          <p:cNvSpPr/>
          <p:nvPr/>
        </p:nvSpPr>
        <p:spPr>
          <a:xfrm>
            <a:off x="4857750" y="6172200"/>
            <a:ext cx="3657600" cy="2743200"/>
          </a:xfrm>
          <a:prstGeom prst="rect">
            <a:avLst/>
          </a:prstGeom>
          <a:solidFill>
            <a:srgbClr val="1E3A8A">
              <a:alpha val="30000"/>
            </a:srgbClr>
          </a:solidFill>
          <a:ln/>
        </p:spPr>
        <p:txBody>
          <a:bodyPr/>
          <a:lstStyle/>
          <a:p>
            <a:endParaRPr lang="en-US"/>
          </a:p>
        </p:txBody>
      </p:sp>
      <p:sp>
        <p:nvSpPr>
          <p:cNvPr id="124" name="Shape 120"/>
          <p:cNvSpPr/>
          <p:nvPr/>
        </p:nvSpPr>
        <p:spPr>
          <a:xfrm>
            <a:off x="4857750" y="6172200"/>
            <a:ext cx="28575" cy="2743200"/>
          </a:xfrm>
          <a:prstGeom prst="rect">
            <a:avLst/>
          </a:prstGeom>
          <a:solidFill>
            <a:srgbClr val="63B3ED"/>
          </a:solidFill>
          <a:ln/>
        </p:spPr>
        <p:txBody>
          <a:bodyPr/>
          <a:lstStyle/>
          <a:p>
            <a:endParaRPr lang="en-US"/>
          </a:p>
        </p:txBody>
      </p:sp>
      <p:sp>
        <p:nvSpPr>
          <p:cNvPr id="125" name="Text 121"/>
          <p:cNvSpPr/>
          <p:nvPr/>
        </p:nvSpPr>
        <p:spPr>
          <a:xfrm>
            <a:off x="4972050" y="62579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3. Menu-Driven Pattern</a:t>
            </a:r>
            <a:endParaRPr lang="en-US" sz="1125" dirty="0"/>
          </a:p>
        </p:txBody>
      </p:sp>
      <p:sp>
        <p:nvSpPr>
          <p:cNvPr id="126" name="Shape 122"/>
          <p:cNvSpPr/>
          <p:nvPr/>
        </p:nvSpPr>
        <p:spPr>
          <a:xfrm>
            <a:off x="4972050" y="6543675"/>
            <a:ext cx="3543300" cy="2286000"/>
          </a:xfrm>
          <a:prstGeom prst="rect">
            <a:avLst/>
          </a:prstGeom>
          <a:solidFill>
            <a:srgbClr val="1A202C"/>
          </a:solidFill>
          <a:ln/>
        </p:spPr>
        <p:txBody>
          <a:bodyPr/>
          <a:lstStyle/>
          <a:p>
            <a:endParaRPr lang="en-US"/>
          </a:p>
        </p:txBody>
      </p:sp>
      <p:sp>
        <p:nvSpPr>
          <p:cNvPr id="127" name="Text 123"/>
          <p:cNvSpPr/>
          <p:nvPr/>
        </p:nvSpPr>
        <p:spPr>
          <a:xfrm>
            <a:off x="5086350" y="66561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28" name="Text 124"/>
          <p:cNvSpPr/>
          <p:nvPr/>
        </p:nvSpPr>
        <p:spPr>
          <a:xfrm>
            <a:off x="5446412" y="66561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true;</a:t>
            </a:r>
            <a:endParaRPr lang="en-US" sz="675" dirty="0"/>
          </a:p>
        </p:txBody>
      </p:sp>
      <p:sp>
        <p:nvSpPr>
          <p:cNvPr id="129" name="Text 125"/>
          <p:cNvSpPr/>
          <p:nvPr/>
        </p:nvSpPr>
        <p:spPr>
          <a:xfrm>
            <a:off x="5086350" y="6884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30" name="Text 126"/>
          <p:cNvSpPr/>
          <p:nvPr/>
        </p:nvSpPr>
        <p:spPr>
          <a:xfrm>
            <a:off x="5343553" y="688478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a:t>
            </a:r>
            <a:endParaRPr lang="en-US" sz="675" dirty="0"/>
          </a:p>
        </p:txBody>
      </p:sp>
      <p:sp>
        <p:nvSpPr>
          <p:cNvPr id="131" name="Text 127"/>
          <p:cNvSpPr/>
          <p:nvPr/>
        </p:nvSpPr>
        <p:spPr>
          <a:xfrm>
            <a:off x="5086350" y="69990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displayMenu();</a:t>
            </a:r>
            <a:endParaRPr lang="en-US" sz="675" dirty="0"/>
          </a:p>
        </p:txBody>
      </p:sp>
      <p:sp>
        <p:nvSpPr>
          <p:cNvPr id="132" name="Text 128"/>
          <p:cNvSpPr/>
          <p:nvPr/>
        </p:nvSpPr>
        <p:spPr>
          <a:xfrm>
            <a:off x="5189237" y="71133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33" name="Text 129"/>
          <p:cNvSpPr/>
          <p:nvPr/>
        </p:nvSpPr>
        <p:spPr>
          <a:xfrm>
            <a:off x="5343553" y="7113389"/>
            <a:ext cx="1408770"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choice = getUserChoice();</a:t>
            </a:r>
            <a:endParaRPr lang="en-US" sz="675" dirty="0"/>
          </a:p>
        </p:txBody>
      </p:sp>
      <p:sp>
        <p:nvSpPr>
          <p:cNvPr id="134" name="Text 130"/>
          <p:cNvSpPr/>
          <p:nvPr/>
        </p:nvSpPr>
        <p:spPr>
          <a:xfrm>
            <a:off x="5189237" y="73419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switch</a:t>
            </a:r>
            <a:endParaRPr lang="en-US" sz="675" dirty="0"/>
          </a:p>
        </p:txBody>
      </p:sp>
      <p:sp>
        <p:nvSpPr>
          <p:cNvPr id="135" name="Text 131"/>
          <p:cNvSpPr/>
          <p:nvPr/>
        </p:nvSpPr>
        <p:spPr>
          <a:xfrm>
            <a:off x="5497869" y="734198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(choice) {</a:t>
            </a:r>
            <a:endParaRPr lang="en-US" sz="675" dirty="0"/>
          </a:p>
        </p:txBody>
      </p:sp>
      <p:sp>
        <p:nvSpPr>
          <p:cNvPr id="136" name="Text 132"/>
          <p:cNvSpPr/>
          <p:nvPr/>
        </p:nvSpPr>
        <p:spPr>
          <a:xfrm>
            <a:off x="5292096" y="74562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case</a:t>
            </a:r>
            <a:endParaRPr lang="en-US" sz="675" dirty="0"/>
          </a:p>
        </p:txBody>
      </p:sp>
      <p:sp>
        <p:nvSpPr>
          <p:cNvPr id="137" name="Text 133"/>
          <p:cNvSpPr/>
          <p:nvPr/>
        </p:nvSpPr>
        <p:spPr>
          <a:xfrm>
            <a:off x="5497841" y="74562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1:</a:t>
            </a:r>
            <a:endParaRPr lang="en-US" sz="675" dirty="0"/>
          </a:p>
        </p:txBody>
      </p:sp>
      <p:sp>
        <p:nvSpPr>
          <p:cNvPr id="138" name="Text 134"/>
          <p:cNvSpPr/>
          <p:nvPr/>
        </p:nvSpPr>
        <p:spPr>
          <a:xfrm>
            <a:off x="5086350" y="75705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option1();</a:t>
            </a:r>
            <a:endParaRPr lang="en-US" sz="675" dirty="0"/>
          </a:p>
        </p:txBody>
      </p:sp>
      <p:sp>
        <p:nvSpPr>
          <p:cNvPr id="139" name="Text 135"/>
          <p:cNvSpPr/>
          <p:nvPr/>
        </p:nvSpPr>
        <p:spPr>
          <a:xfrm>
            <a:off x="5394982" y="76848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break</a:t>
            </a:r>
            <a:endParaRPr lang="en-US" sz="675" dirty="0"/>
          </a:p>
        </p:txBody>
      </p:sp>
      <p:sp>
        <p:nvSpPr>
          <p:cNvPr id="140" name="Text 136"/>
          <p:cNvSpPr/>
          <p:nvPr/>
        </p:nvSpPr>
        <p:spPr>
          <a:xfrm>
            <a:off x="5652185" y="76848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1" name="Text 137"/>
          <p:cNvSpPr/>
          <p:nvPr/>
        </p:nvSpPr>
        <p:spPr>
          <a:xfrm>
            <a:off x="5292096" y="77991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case</a:t>
            </a:r>
            <a:endParaRPr lang="en-US" sz="675" dirty="0"/>
          </a:p>
        </p:txBody>
      </p:sp>
      <p:sp>
        <p:nvSpPr>
          <p:cNvPr id="142" name="Text 138"/>
          <p:cNvSpPr/>
          <p:nvPr/>
        </p:nvSpPr>
        <p:spPr>
          <a:xfrm>
            <a:off x="5497841" y="77991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2:</a:t>
            </a:r>
            <a:endParaRPr lang="en-US" sz="675" dirty="0"/>
          </a:p>
        </p:txBody>
      </p:sp>
      <p:sp>
        <p:nvSpPr>
          <p:cNvPr id="143" name="Text 139"/>
          <p:cNvSpPr/>
          <p:nvPr/>
        </p:nvSpPr>
        <p:spPr>
          <a:xfrm>
            <a:off x="5086350" y="79134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option2();</a:t>
            </a:r>
            <a:endParaRPr lang="en-US" sz="675" dirty="0"/>
          </a:p>
        </p:txBody>
      </p:sp>
      <p:sp>
        <p:nvSpPr>
          <p:cNvPr id="144" name="Text 140"/>
          <p:cNvSpPr/>
          <p:nvPr/>
        </p:nvSpPr>
        <p:spPr>
          <a:xfrm>
            <a:off x="5394982" y="8027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break</a:t>
            </a:r>
            <a:endParaRPr lang="en-US" sz="675" dirty="0"/>
          </a:p>
        </p:txBody>
      </p:sp>
      <p:sp>
        <p:nvSpPr>
          <p:cNvPr id="145" name="Text 141"/>
          <p:cNvSpPr/>
          <p:nvPr/>
        </p:nvSpPr>
        <p:spPr>
          <a:xfrm>
            <a:off x="5652185" y="80277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6" name="Text 142"/>
          <p:cNvSpPr/>
          <p:nvPr/>
        </p:nvSpPr>
        <p:spPr>
          <a:xfrm>
            <a:off x="5292096" y="81420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case</a:t>
            </a:r>
            <a:endParaRPr lang="en-US" sz="675" dirty="0"/>
          </a:p>
        </p:txBody>
      </p:sp>
      <p:sp>
        <p:nvSpPr>
          <p:cNvPr id="147" name="Text 143"/>
          <p:cNvSpPr/>
          <p:nvPr/>
        </p:nvSpPr>
        <p:spPr>
          <a:xfrm>
            <a:off x="5497841" y="81420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0:</a:t>
            </a:r>
            <a:endParaRPr lang="en-US" sz="675" dirty="0"/>
          </a:p>
        </p:txBody>
      </p:sp>
      <p:sp>
        <p:nvSpPr>
          <p:cNvPr id="148" name="Text 144"/>
          <p:cNvSpPr/>
          <p:nvPr/>
        </p:nvSpPr>
        <p:spPr>
          <a:xfrm>
            <a:off x="5086350" y="82563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false;</a:t>
            </a:r>
            <a:endParaRPr lang="en-US" sz="675" dirty="0"/>
          </a:p>
        </p:txBody>
      </p:sp>
      <p:sp>
        <p:nvSpPr>
          <p:cNvPr id="149" name="Text 145"/>
          <p:cNvSpPr/>
          <p:nvPr/>
        </p:nvSpPr>
        <p:spPr>
          <a:xfrm>
            <a:off x="6269366" y="8256389"/>
            <a:ext cx="791533"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Exit option</a:t>
            </a:r>
            <a:endParaRPr lang="en-US" sz="675" dirty="0"/>
          </a:p>
        </p:txBody>
      </p:sp>
      <p:sp>
        <p:nvSpPr>
          <p:cNvPr id="150" name="Text 146"/>
          <p:cNvSpPr/>
          <p:nvPr/>
        </p:nvSpPr>
        <p:spPr>
          <a:xfrm>
            <a:off x="5394982" y="83706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break</a:t>
            </a:r>
            <a:endParaRPr lang="en-US" sz="675" dirty="0"/>
          </a:p>
        </p:txBody>
      </p:sp>
      <p:sp>
        <p:nvSpPr>
          <p:cNvPr id="151" name="Text 147"/>
          <p:cNvSpPr/>
          <p:nvPr/>
        </p:nvSpPr>
        <p:spPr>
          <a:xfrm>
            <a:off x="5652185" y="83706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2" name="Text 148"/>
          <p:cNvSpPr/>
          <p:nvPr/>
        </p:nvSpPr>
        <p:spPr>
          <a:xfrm>
            <a:off x="5086350" y="84849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3" name="Text 149"/>
          <p:cNvSpPr/>
          <p:nvPr/>
        </p:nvSpPr>
        <p:spPr>
          <a:xfrm>
            <a:off x="5086350" y="85992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4" name="Shape 150"/>
          <p:cNvSpPr/>
          <p:nvPr/>
        </p:nvSpPr>
        <p:spPr>
          <a:xfrm>
            <a:off x="4686300" y="9258300"/>
            <a:ext cx="4000500" cy="39290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55" name="Text 151"/>
          <p:cNvSpPr/>
          <p:nvPr/>
        </p:nvSpPr>
        <p:spPr>
          <a:xfrm>
            <a:off x="4857750" y="9429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Flag Modification Strategies</a:t>
            </a:r>
            <a:endParaRPr lang="en-US" sz="1350" dirty="0"/>
          </a:p>
        </p:txBody>
      </p:sp>
      <p:sp>
        <p:nvSpPr>
          <p:cNvPr id="156" name="Shape 152"/>
          <p:cNvSpPr/>
          <p:nvPr/>
        </p:nvSpPr>
        <p:spPr>
          <a:xfrm>
            <a:off x="4857750" y="9772650"/>
            <a:ext cx="1771650" cy="1143000"/>
          </a:xfrm>
          <a:prstGeom prst="rect">
            <a:avLst/>
          </a:prstGeom>
          <a:solidFill>
            <a:srgbClr val="1E3A8A">
              <a:alpha val="30000"/>
            </a:srgbClr>
          </a:solidFill>
          <a:ln/>
        </p:spPr>
        <p:txBody>
          <a:bodyPr/>
          <a:lstStyle/>
          <a:p>
            <a:endParaRPr lang="en-US"/>
          </a:p>
        </p:txBody>
      </p:sp>
      <p:pic>
        <p:nvPicPr>
          <p:cNvPr id="157" name="Image 2" descr="preencoded.png"/>
          <p:cNvPicPr>
            <a:picLocks noChangeAspect="1"/>
          </p:cNvPicPr>
          <p:nvPr/>
        </p:nvPicPr>
        <p:blipFill>
          <a:blip r:embed="rId5"/>
          <a:stretch>
            <a:fillRect/>
          </a:stretch>
        </p:blipFill>
        <p:spPr>
          <a:xfrm>
            <a:off x="4943475" y="9872663"/>
            <a:ext cx="142875" cy="142875"/>
          </a:xfrm>
          <a:prstGeom prst="rect">
            <a:avLst/>
          </a:prstGeom>
        </p:spPr>
      </p:pic>
      <p:sp>
        <p:nvSpPr>
          <p:cNvPr id="158" name="Text 153"/>
          <p:cNvSpPr/>
          <p:nvPr/>
        </p:nvSpPr>
        <p:spPr>
          <a:xfrm>
            <a:off x="5143500" y="9858375"/>
            <a:ext cx="1077088"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Direct Assignment</a:t>
            </a:r>
            <a:endParaRPr lang="en-US" sz="900" dirty="0"/>
          </a:p>
        </p:txBody>
      </p:sp>
      <p:sp>
        <p:nvSpPr>
          <p:cNvPr id="159" name="Shape 154"/>
          <p:cNvSpPr/>
          <p:nvPr/>
        </p:nvSpPr>
        <p:spPr>
          <a:xfrm>
            <a:off x="4943475" y="10086975"/>
            <a:ext cx="1600200" cy="571500"/>
          </a:xfrm>
          <a:prstGeom prst="rect">
            <a:avLst/>
          </a:prstGeom>
          <a:solidFill>
            <a:srgbClr val="1A202C"/>
          </a:solidFill>
          <a:ln/>
        </p:spPr>
        <p:txBody>
          <a:bodyPr/>
          <a:lstStyle/>
          <a:p>
            <a:endParaRPr lang="en-US"/>
          </a:p>
        </p:txBody>
      </p:sp>
      <p:sp>
        <p:nvSpPr>
          <p:cNvPr id="160" name="Text 155"/>
          <p:cNvSpPr/>
          <p:nvPr/>
        </p:nvSpPr>
        <p:spPr>
          <a:xfrm>
            <a:off x="5057775" y="101994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61" name="Text 156"/>
          <p:cNvSpPr/>
          <p:nvPr/>
        </p:nvSpPr>
        <p:spPr>
          <a:xfrm>
            <a:off x="5160662" y="10199489"/>
            <a:ext cx="79153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(condition) {</a:t>
            </a:r>
            <a:endParaRPr lang="en-US" sz="675" dirty="0"/>
          </a:p>
        </p:txBody>
      </p:sp>
      <p:sp>
        <p:nvSpPr>
          <p:cNvPr id="162" name="Text 157"/>
          <p:cNvSpPr/>
          <p:nvPr/>
        </p:nvSpPr>
        <p:spPr>
          <a:xfrm>
            <a:off x="5057775" y="103137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flag = false;</a:t>
            </a:r>
            <a:endParaRPr lang="en-US" sz="675" dirty="0"/>
          </a:p>
        </p:txBody>
      </p:sp>
      <p:sp>
        <p:nvSpPr>
          <p:cNvPr id="163" name="Text 158"/>
          <p:cNvSpPr/>
          <p:nvPr/>
        </p:nvSpPr>
        <p:spPr>
          <a:xfrm>
            <a:off x="5057775" y="104280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64" name="Text 159"/>
          <p:cNvSpPr/>
          <p:nvPr/>
        </p:nvSpPr>
        <p:spPr>
          <a:xfrm>
            <a:off x="4943475" y="10715625"/>
            <a:ext cx="16716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Simple and clear approach</a:t>
            </a:r>
            <a:endParaRPr lang="en-US" sz="675" dirty="0"/>
          </a:p>
        </p:txBody>
      </p:sp>
      <p:sp>
        <p:nvSpPr>
          <p:cNvPr id="165" name="Shape 160"/>
          <p:cNvSpPr/>
          <p:nvPr/>
        </p:nvSpPr>
        <p:spPr>
          <a:xfrm>
            <a:off x="6743700" y="9772650"/>
            <a:ext cx="1771650" cy="1143000"/>
          </a:xfrm>
          <a:prstGeom prst="rect">
            <a:avLst/>
          </a:prstGeom>
          <a:solidFill>
            <a:srgbClr val="1E3A8A">
              <a:alpha val="30000"/>
            </a:srgbClr>
          </a:solidFill>
          <a:ln/>
        </p:spPr>
        <p:txBody>
          <a:bodyPr/>
          <a:lstStyle/>
          <a:p>
            <a:endParaRPr lang="en-US"/>
          </a:p>
        </p:txBody>
      </p:sp>
      <p:pic>
        <p:nvPicPr>
          <p:cNvPr id="166" name="Image 3" descr="preencoded.png"/>
          <p:cNvPicPr>
            <a:picLocks noChangeAspect="1"/>
          </p:cNvPicPr>
          <p:nvPr/>
        </p:nvPicPr>
        <p:blipFill>
          <a:blip r:embed="rId6"/>
          <a:stretch>
            <a:fillRect/>
          </a:stretch>
        </p:blipFill>
        <p:spPr>
          <a:xfrm>
            <a:off x="6829425" y="9872663"/>
            <a:ext cx="142875" cy="142875"/>
          </a:xfrm>
          <a:prstGeom prst="rect">
            <a:avLst/>
          </a:prstGeom>
        </p:spPr>
      </p:pic>
      <p:sp>
        <p:nvSpPr>
          <p:cNvPr id="167" name="Text 161"/>
          <p:cNvSpPr/>
          <p:nvPr/>
        </p:nvSpPr>
        <p:spPr>
          <a:xfrm>
            <a:off x="7029450" y="9858375"/>
            <a:ext cx="437555"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Toggle</a:t>
            </a:r>
            <a:endParaRPr lang="en-US" sz="900" dirty="0"/>
          </a:p>
        </p:txBody>
      </p:sp>
      <p:sp>
        <p:nvSpPr>
          <p:cNvPr id="168" name="Shape 162"/>
          <p:cNvSpPr/>
          <p:nvPr/>
        </p:nvSpPr>
        <p:spPr>
          <a:xfrm>
            <a:off x="6829425" y="10086975"/>
            <a:ext cx="1600200" cy="571500"/>
          </a:xfrm>
          <a:prstGeom prst="rect">
            <a:avLst/>
          </a:prstGeom>
          <a:solidFill>
            <a:srgbClr val="1A202C"/>
          </a:solidFill>
          <a:ln/>
        </p:spPr>
        <p:txBody>
          <a:bodyPr/>
          <a:lstStyle/>
          <a:p>
            <a:endParaRPr lang="en-US"/>
          </a:p>
        </p:txBody>
      </p:sp>
      <p:sp>
        <p:nvSpPr>
          <p:cNvPr id="169" name="Text 163"/>
          <p:cNvSpPr/>
          <p:nvPr/>
        </p:nvSpPr>
        <p:spPr>
          <a:xfrm>
            <a:off x="6943725" y="101994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70" name="Text 164"/>
          <p:cNvSpPr/>
          <p:nvPr/>
        </p:nvSpPr>
        <p:spPr>
          <a:xfrm>
            <a:off x="7046612" y="10199489"/>
            <a:ext cx="79153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(condition) {</a:t>
            </a:r>
            <a:endParaRPr lang="en-US" sz="675" dirty="0"/>
          </a:p>
        </p:txBody>
      </p:sp>
      <p:sp>
        <p:nvSpPr>
          <p:cNvPr id="171" name="Text 165"/>
          <p:cNvSpPr/>
          <p:nvPr/>
        </p:nvSpPr>
        <p:spPr>
          <a:xfrm>
            <a:off x="6943725" y="103137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flag = !flag;</a:t>
            </a:r>
            <a:endParaRPr lang="en-US" sz="675" dirty="0"/>
          </a:p>
        </p:txBody>
      </p:sp>
      <p:sp>
        <p:nvSpPr>
          <p:cNvPr id="172" name="Text 166"/>
          <p:cNvSpPr/>
          <p:nvPr/>
        </p:nvSpPr>
        <p:spPr>
          <a:xfrm>
            <a:off x="6943725" y="104280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73" name="Text 167"/>
          <p:cNvSpPr/>
          <p:nvPr/>
        </p:nvSpPr>
        <p:spPr>
          <a:xfrm>
            <a:off x="6829425" y="10715625"/>
            <a:ext cx="16716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Useful for alternating states</a:t>
            </a:r>
            <a:endParaRPr lang="en-US" sz="675" dirty="0"/>
          </a:p>
        </p:txBody>
      </p:sp>
      <p:sp>
        <p:nvSpPr>
          <p:cNvPr id="174" name="Shape 168"/>
          <p:cNvSpPr/>
          <p:nvPr/>
        </p:nvSpPr>
        <p:spPr>
          <a:xfrm>
            <a:off x="4857750" y="11029950"/>
            <a:ext cx="1771650" cy="1143000"/>
          </a:xfrm>
          <a:prstGeom prst="rect">
            <a:avLst/>
          </a:prstGeom>
          <a:solidFill>
            <a:srgbClr val="1E3A8A">
              <a:alpha val="30000"/>
            </a:srgbClr>
          </a:solidFill>
          <a:ln/>
        </p:spPr>
        <p:txBody>
          <a:bodyPr/>
          <a:lstStyle/>
          <a:p>
            <a:endParaRPr lang="en-US"/>
          </a:p>
        </p:txBody>
      </p:sp>
      <p:pic>
        <p:nvPicPr>
          <p:cNvPr id="175" name="Image 4" descr="preencoded.png"/>
          <p:cNvPicPr>
            <a:picLocks noChangeAspect="1"/>
          </p:cNvPicPr>
          <p:nvPr/>
        </p:nvPicPr>
        <p:blipFill>
          <a:blip r:embed="rId7"/>
          <a:stretch>
            <a:fillRect/>
          </a:stretch>
        </p:blipFill>
        <p:spPr>
          <a:xfrm>
            <a:off x="4943475" y="11129963"/>
            <a:ext cx="125016" cy="142875"/>
          </a:xfrm>
          <a:prstGeom prst="rect">
            <a:avLst/>
          </a:prstGeom>
        </p:spPr>
      </p:pic>
      <p:sp>
        <p:nvSpPr>
          <p:cNvPr id="176" name="Text 169"/>
          <p:cNvSpPr/>
          <p:nvPr/>
        </p:nvSpPr>
        <p:spPr>
          <a:xfrm>
            <a:off x="5125641" y="11115675"/>
            <a:ext cx="1381646"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Conditional Assignment</a:t>
            </a:r>
            <a:endParaRPr lang="en-US" sz="900" dirty="0"/>
          </a:p>
        </p:txBody>
      </p:sp>
      <p:sp>
        <p:nvSpPr>
          <p:cNvPr id="177" name="Shape 170"/>
          <p:cNvSpPr/>
          <p:nvPr/>
        </p:nvSpPr>
        <p:spPr>
          <a:xfrm>
            <a:off x="4943475" y="11344275"/>
            <a:ext cx="1600200" cy="457200"/>
          </a:xfrm>
          <a:prstGeom prst="rect">
            <a:avLst/>
          </a:prstGeom>
          <a:solidFill>
            <a:srgbClr val="1A202C"/>
          </a:solidFill>
          <a:ln/>
        </p:spPr>
        <p:txBody>
          <a:bodyPr/>
          <a:lstStyle/>
          <a:p>
            <a:endParaRPr lang="en-US"/>
          </a:p>
        </p:txBody>
      </p:sp>
      <p:sp>
        <p:nvSpPr>
          <p:cNvPr id="178" name="Text 171"/>
          <p:cNvSpPr/>
          <p:nvPr/>
        </p:nvSpPr>
        <p:spPr>
          <a:xfrm>
            <a:off x="4943475" y="11344275"/>
            <a:ext cx="1671638" cy="457200"/>
          </a:xfrm>
          <a:prstGeom prst="rect">
            <a:avLst/>
          </a:prstGeom>
          <a:noFill/>
          <a:ln/>
        </p:spPr>
        <p:txBody>
          <a:bodyPr wrap="square" lIns="136017" tIns="136017" rIns="136017" bIns="136017"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flag = condition ? true : false;</a:t>
            </a:r>
            <a:endParaRPr lang="en-US" sz="675" dirty="0"/>
          </a:p>
        </p:txBody>
      </p:sp>
      <p:sp>
        <p:nvSpPr>
          <p:cNvPr id="179" name="Text 172"/>
          <p:cNvSpPr/>
          <p:nvPr/>
        </p:nvSpPr>
        <p:spPr>
          <a:xfrm>
            <a:off x="4943475" y="118586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Compact way to set flag based on condition</a:t>
            </a:r>
            <a:endParaRPr lang="en-US" sz="675" dirty="0"/>
          </a:p>
        </p:txBody>
      </p:sp>
      <p:sp>
        <p:nvSpPr>
          <p:cNvPr id="180" name="Shape 173"/>
          <p:cNvSpPr/>
          <p:nvPr/>
        </p:nvSpPr>
        <p:spPr>
          <a:xfrm>
            <a:off x="6743700" y="11029950"/>
            <a:ext cx="1771650" cy="1143000"/>
          </a:xfrm>
          <a:prstGeom prst="rect">
            <a:avLst/>
          </a:prstGeom>
          <a:solidFill>
            <a:srgbClr val="1E3A8A">
              <a:alpha val="30000"/>
            </a:srgbClr>
          </a:solidFill>
          <a:ln/>
        </p:spPr>
        <p:txBody>
          <a:bodyPr/>
          <a:lstStyle/>
          <a:p>
            <a:endParaRPr lang="en-US"/>
          </a:p>
        </p:txBody>
      </p:sp>
      <p:sp>
        <p:nvSpPr>
          <p:cNvPr id="181" name="Text 174"/>
          <p:cNvSpPr/>
          <p:nvPr/>
        </p:nvSpPr>
        <p:spPr>
          <a:xfrm>
            <a:off x="6886575" y="11115675"/>
            <a:ext cx="858869" cy="171450"/>
          </a:xfrm>
          <a:prstGeom prst="rect">
            <a:avLst/>
          </a:prstGeom>
          <a:noFill/>
          <a:ln/>
        </p:spPr>
        <p:txBody>
          <a:bodyPr wrap="non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Method-Based</a:t>
            </a:r>
            <a:endParaRPr lang="en-US" sz="900" dirty="0"/>
          </a:p>
        </p:txBody>
      </p:sp>
      <p:sp>
        <p:nvSpPr>
          <p:cNvPr id="182" name="Shape 175"/>
          <p:cNvSpPr/>
          <p:nvPr/>
        </p:nvSpPr>
        <p:spPr>
          <a:xfrm>
            <a:off x="6829425" y="11344275"/>
            <a:ext cx="1600200" cy="342900"/>
          </a:xfrm>
          <a:prstGeom prst="rect">
            <a:avLst/>
          </a:prstGeom>
          <a:solidFill>
            <a:srgbClr val="1A202C"/>
          </a:solidFill>
          <a:ln/>
        </p:spPr>
        <p:txBody>
          <a:bodyPr/>
          <a:lstStyle/>
          <a:p>
            <a:endParaRPr lang="en-US"/>
          </a:p>
        </p:txBody>
      </p:sp>
      <p:sp>
        <p:nvSpPr>
          <p:cNvPr id="183" name="Text 176"/>
          <p:cNvSpPr/>
          <p:nvPr/>
        </p:nvSpPr>
        <p:spPr>
          <a:xfrm>
            <a:off x="6829425" y="11344275"/>
            <a:ext cx="1671638" cy="342900"/>
          </a:xfrm>
          <a:prstGeom prst="rect">
            <a:avLst/>
          </a:prstGeom>
          <a:noFill/>
          <a:ln/>
        </p:spPr>
        <p:txBody>
          <a:bodyPr wrap="square" lIns="136017" tIns="136017" rIns="136017" bIns="136017"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flag = checkCondition();</a:t>
            </a:r>
            <a:endParaRPr lang="en-US" sz="675" dirty="0"/>
          </a:p>
        </p:txBody>
      </p:sp>
      <p:sp>
        <p:nvSpPr>
          <p:cNvPr id="184" name="Text 177"/>
          <p:cNvSpPr/>
          <p:nvPr/>
        </p:nvSpPr>
        <p:spPr>
          <a:xfrm>
            <a:off x="6829425" y="11744325"/>
            <a:ext cx="1671638" cy="2286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Encapsulates complex flag logic in a method</a:t>
            </a:r>
            <a:endParaRPr lang="en-US" sz="675" dirty="0"/>
          </a:p>
        </p:txBody>
      </p:sp>
      <p:sp>
        <p:nvSpPr>
          <p:cNvPr id="185" name="Shape 178"/>
          <p:cNvSpPr/>
          <p:nvPr/>
        </p:nvSpPr>
        <p:spPr>
          <a:xfrm>
            <a:off x="4857750" y="12344400"/>
            <a:ext cx="3657600" cy="657225"/>
          </a:xfrm>
          <a:prstGeom prst="rect">
            <a:avLst/>
          </a:prstGeom>
          <a:solidFill>
            <a:srgbClr val="78350F">
              <a:alpha val="20000"/>
            </a:srgbClr>
          </a:solidFill>
          <a:ln/>
        </p:spPr>
        <p:txBody>
          <a:bodyPr/>
          <a:lstStyle/>
          <a:p>
            <a:endParaRPr lang="en-US"/>
          </a:p>
        </p:txBody>
      </p:sp>
      <p:pic>
        <p:nvPicPr>
          <p:cNvPr id="186" name="Image 5" descr="preencoded.png"/>
          <p:cNvPicPr>
            <a:picLocks noChangeAspect="1"/>
          </p:cNvPicPr>
          <p:nvPr/>
        </p:nvPicPr>
        <p:blipFill>
          <a:blip r:embed="rId8"/>
          <a:stretch>
            <a:fillRect/>
          </a:stretch>
        </p:blipFill>
        <p:spPr>
          <a:xfrm>
            <a:off x="4972050" y="12587288"/>
            <a:ext cx="171450" cy="171450"/>
          </a:xfrm>
          <a:prstGeom prst="rect">
            <a:avLst/>
          </a:prstGeom>
        </p:spPr>
      </p:pic>
      <p:sp>
        <p:nvSpPr>
          <p:cNvPr id="187" name="Text 179"/>
          <p:cNvSpPr/>
          <p:nvPr/>
        </p:nvSpPr>
        <p:spPr>
          <a:xfrm>
            <a:off x="5257800" y="12458700"/>
            <a:ext cx="321468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Be careful with flag modifications! Always ensure that there is at least one path through the loop that will modify the flag, otherwise you risk creating an infinite loop.</a:t>
            </a:r>
            <a:endParaRPr lang="en-US" sz="788" dirty="0"/>
          </a:p>
        </p:txBody>
      </p:sp>
      <p:sp>
        <p:nvSpPr>
          <p:cNvPr id="188" name="Shape 180"/>
          <p:cNvSpPr/>
          <p:nvPr/>
        </p:nvSpPr>
        <p:spPr>
          <a:xfrm>
            <a:off x="457200" y="13401675"/>
            <a:ext cx="8229600" cy="49291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89" name="Text 181"/>
          <p:cNvSpPr/>
          <p:nvPr/>
        </p:nvSpPr>
        <p:spPr>
          <a:xfrm>
            <a:off x="628650" y="1357312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Combining Flags with Other Conditions</a:t>
            </a:r>
            <a:endParaRPr lang="en-US" sz="1350" dirty="0"/>
          </a:p>
        </p:txBody>
      </p:sp>
      <p:sp>
        <p:nvSpPr>
          <p:cNvPr id="190" name="Shape 182"/>
          <p:cNvSpPr/>
          <p:nvPr/>
        </p:nvSpPr>
        <p:spPr>
          <a:xfrm>
            <a:off x="628650" y="13916025"/>
            <a:ext cx="2514600" cy="2286000"/>
          </a:xfrm>
          <a:prstGeom prst="rect">
            <a:avLst/>
          </a:prstGeom>
          <a:solidFill>
            <a:srgbClr val="1E3A8A">
              <a:alpha val="30000"/>
            </a:srgbClr>
          </a:solidFill>
          <a:ln/>
        </p:spPr>
        <p:txBody>
          <a:bodyPr/>
          <a:lstStyle/>
          <a:p>
            <a:endParaRPr lang="en-US"/>
          </a:p>
        </p:txBody>
      </p:sp>
      <p:sp>
        <p:nvSpPr>
          <p:cNvPr id="191" name="Text 183"/>
          <p:cNvSpPr/>
          <p:nvPr/>
        </p:nvSpPr>
        <p:spPr>
          <a:xfrm>
            <a:off x="742950" y="14030325"/>
            <a:ext cx="23574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 + Counter</a:t>
            </a:r>
            <a:endParaRPr lang="en-US" sz="1125" dirty="0"/>
          </a:p>
        </p:txBody>
      </p:sp>
      <p:sp>
        <p:nvSpPr>
          <p:cNvPr id="192" name="Shape 184"/>
          <p:cNvSpPr/>
          <p:nvPr/>
        </p:nvSpPr>
        <p:spPr>
          <a:xfrm>
            <a:off x="742950" y="14316075"/>
            <a:ext cx="2286000" cy="1143000"/>
          </a:xfrm>
          <a:prstGeom prst="rect">
            <a:avLst/>
          </a:prstGeom>
          <a:solidFill>
            <a:srgbClr val="1A202C"/>
          </a:solidFill>
          <a:ln/>
        </p:spPr>
        <p:txBody>
          <a:bodyPr/>
          <a:lstStyle/>
          <a:p>
            <a:endParaRPr lang="en-US"/>
          </a:p>
        </p:txBody>
      </p:sp>
      <p:sp>
        <p:nvSpPr>
          <p:cNvPr id="193" name="Text 185"/>
          <p:cNvSpPr/>
          <p:nvPr/>
        </p:nvSpPr>
        <p:spPr>
          <a:xfrm>
            <a:off x="857250" y="14428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94" name="Text 186"/>
          <p:cNvSpPr/>
          <p:nvPr/>
        </p:nvSpPr>
        <p:spPr>
          <a:xfrm>
            <a:off x="1217312" y="144285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195" name="Text 187"/>
          <p:cNvSpPr/>
          <p:nvPr/>
        </p:nvSpPr>
        <p:spPr>
          <a:xfrm>
            <a:off x="857250" y="14542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96" name="Text 188"/>
          <p:cNvSpPr/>
          <p:nvPr/>
        </p:nvSpPr>
        <p:spPr>
          <a:xfrm>
            <a:off x="1011566" y="1454288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count = 0;</a:t>
            </a:r>
            <a:endParaRPr lang="en-US" sz="675" dirty="0"/>
          </a:p>
        </p:txBody>
      </p:sp>
      <p:sp>
        <p:nvSpPr>
          <p:cNvPr id="197" name="Text 189"/>
          <p:cNvSpPr/>
          <p:nvPr/>
        </p:nvSpPr>
        <p:spPr>
          <a:xfrm>
            <a:off x="857250" y="14657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98" name="Text 190"/>
          <p:cNvSpPr/>
          <p:nvPr/>
        </p:nvSpPr>
        <p:spPr>
          <a:xfrm>
            <a:off x="1011566" y="146571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maxAttempts = 5;</a:t>
            </a:r>
            <a:endParaRPr lang="en-US" sz="675" dirty="0"/>
          </a:p>
        </p:txBody>
      </p:sp>
      <p:sp>
        <p:nvSpPr>
          <p:cNvPr id="199" name="Text 191"/>
          <p:cNvSpPr/>
          <p:nvPr/>
        </p:nvSpPr>
        <p:spPr>
          <a:xfrm>
            <a:off x="857250" y="14885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200" name="Text 192"/>
          <p:cNvSpPr/>
          <p:nvPr/>
        </p:nvSpPr>
        <p:spPr>
          <a:xfrm>
            <a:off x="1114453" y="14885789"/>
            <a:ext cx="1820233"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&amp;&amp; count &lt; maxAttempts) {</a:t>
            </a:r>
            <a:endParaRPr lang="en-US" sz="675" dirty="0"/>
          </a:p>
        </p:txBody>
      </p:sp>
      <p:sp>
        <p:nvSpPr>
          <p:cNvPr id="201" name="Text 193"/>
          <p:cNvSpPr/>
          <p:nvPr/>
        </p:nvSpPr>
        <p:spPr>
          <a:xfrm>
            <a:off x="960137" y="15000089"/>
            <a:ext cx="68867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Loop body</a:t>
            </a:r>
            <a:endParaRPr lang="en-US" sz="675" dirty="0"/>
          </a:p>
        </p:txBody>
      </p:sp>
      <p:sp>
        <p:nvSpPr>
          <p:cNvPr id="202" name="Text 194"/>
          <p:cNvSpPr/>
          <p:nvPr/>
        </p:nvSpPr>
        <p:spPr>
          <a:xfrm>
            <a:off x="857250" y="151143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count++;</a:t>
            </a:r>
            <a:endParaRPr lang="en-US" sz="675" dirty="0"/>
          </a:p>
        </p:txBody>
      </p:sp>
      <p:sp>
        <p:nvSpPr>
          <p:cNvPr id="203" name="Text 195"/>
          <p:cNvSpPr/>
          <p:nvPr/>
        </p:nvSpPr>
        <p:spPr>
          <a:xfrm>
            <a:off x="857250" y="152286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04" name="Text 196"/>
          <p:cNvSpPr/>
          <p:nvPr/>
        </p:nvSpPr>
        <p:spPr>
          <a:xfrm>
            <a:off x="742950" y="15516225"/>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Useful for limiting attempts or iterations</a:t>
            </a:r>
            <a:endParaRPr lang="en-US" sz="675" dirty="0"/>
          </a:p>
        </p:txBody>
      </p:sp>
      <p:sp>
        <p:nvSpPr>
          <p:cNvPr id="205" name="Shape 197"/>
          <p:cNvSpPr/>
          <p:nvPr/>
        </p:nvSpPr>
        <p:spPr>
          <a:xfrm>
            <a:off x="3314700" y="13916025"/>
            <a:ext cx="2514600" cy="2286000"/>
          </a:xfrm>
          <a:prstGeom prst="rect">
            <a:avLst/>
          </a:prstGeom>
          <a:solidFill>
            <a:srgbClr val="1E3A8A">
              <a:alpha val="30000"/>
            </a:srgbClr>
          </a:solidFill>
          <a:ln/>
        </p:spPr>
        <p:txBody>
          <a:bodyPr/>
          <a:lstStyle/>
          <a:p>
            <a:endParaRPr lang="en-US"/>
          </a:p>
        </p:txBody>
      </p:sp>
      <p:sp>
        <p:nvSpPr>
          <p:cNvPr id="206" name="Text 198"/>
          <p:cNvSpPr/>
          <p:nvPr/>
        </p:nvSpPr>
        <p:spPr>
          <a:xfrm>
            <a:off x="3429000" y="14030325"/>
            <a:ext cx="23574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Multiple Flags</a:t>
            </a:r>
            <a:endParaRPr lang="en-US" sz="1125" dirty="0"/>
          </a:p>
        </p:txBody>
      </p:sp>
      <p:sp>
        <p:nvSpPr>
          <p:cNvPr id="207" name="Shape 199"/>
          <p:cNvSpPr/>
          <p:nvPr/>
        </p:nvSpPr>
        <p:spPr>
          <a:xfrm>
            <a:off x="3429000" y="14316075"/>
            <a:ext cx="2286000" cy="1600200"/>
          </a:xfrm>
          <a:prstGeom prst="rect">
            <a:avLst/>
          </a:prstGeom>
          <a:solidFill>
            <a:srgbClr val="1A202C"/>
          </a:solidFill>
          <a:ln/>
        </p:spPr>
        <p:txBody>
          <a:bodyPr/>
          <a:lstStyle/>
          <a:p>
            <a:endParaRPr lang="en-US"/>
          </a:p>
        </p:txBody>
      </p:sp>
      <p:sp>
        <p:nvSpPr>
          <p:cNvPr id="208" name="Text 200"/>
          <p:cNvSpPr/>
          <p:nvPr/>
        </p:nvSpPr>
        <p:spPr>
          <a:xfrm>
            <a:off x="3543300" y="14428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209" name="Text 201"/>
          <p:cNvSpPr/>
          <p:nvPr/>
        </p:nvSpPr>
        <p:spPr>
          <a:xfrm>
            <a:off x="3903362" y="1442858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dataValid = false;</a:t>
            </a:r>
            <a:endParaRPr lang="en-US" sz="675" dirty="0"/>
          </a:p>
        </p:txBody>
      </p:sp>
      <p:sp>
        <p:nvSpPr>
          <p:cNvPr id="210" name="Text 202"/>
          <p:cNvSpPr/>
          <p:nvPr/>
        </p:nvSpPr>
        <p:spPr>
          <a:xfrm>
            <a:off x="3543300" y="145428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211" name="Text 203"/>
          <p:cNvSpPr/>
          <p:nvPr/>
        </p:nvSpPr>
        <p:spPr>
          <a:xfrm>
            <a:off x="3903362" y="145428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hasPermission = false;</a:t>
            </a:r>
            <a:endParaRPr lang="en-US" sz="675" dirty="0"/>
          </a:p>
        </p:txBody>
      </p:sp>
      <p:sp>
        <p:nvSpPr>
          <p:cNvPr id="212" name="Text 204"/>
          <p:cNvSpPr/>
          <p:nvPr/>
        </p:nvSpPr>
        <p:spPr>
          <a:xfrm>
            <a:off x="3543300" y="147714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213" name="Text 205"/>
          <p:cNvSpPr/>
          <p:nvPr/>
        </p:nvSpPr>
        <p:spPr>
          <a:xfrm>
            <a:off x="3800503" y="14771489"/>
            <a:ext cx="1768804"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(!dataValid || !hasPermission) {</a:t>
            </a:r>
            <a:endParaRPr lang="en-US" sz="675" dirty="0"/>
          </a:p>
        </p:txBody>
      </p:sp>
      <p:sp>
        <p:nvSpPr>
          <p:cNvPr id="214" name="Text 206"/>
          <p:cNvSpPr/>
          <p:nvPr/>
        </p:nvSpPr>
        <p:spPr>
          <a:xfrm>
            <a:off x="3646187" y="148857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15" name="Text 207"/>
          <p:cNvSpPr/>
          <p:nvPr/>
        </p:nvSpPr>
        <p:spPr>
          <a:xfrm>
            <a:off x="3749073" y="148857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(!dataValid) {</a:t>
            </a:r>
            <a:endParaRPr lang="en-US" sz="675" dirty="0"/>
          </a:p>
        </p:txBody>
      </p:sp>
      <p:sp>
        <p:nvSpPr>
          <p:cNvPr id="216" name="Text 208"/>
          <p:cNvSpPr/>
          <p:nvPr/>
        </p:nvSpPr>
        <p:spPr>
          <a:xfrm>
            <a:off x="3543300" y="15000089"/>
            <a:ext cx="1665945"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dataValid = validateData();</a:t>
            </a:r>
            <a:endParaRPr lang="en-US" sz="675" dirty="0"/>
          </a:p>
        </p:txBody>
      </p:sp>
      <p:sp>
        <p:nvSpPr>
          <p:cNvPr id="217" name="Text 209"/>
          <p:cNvSpPr/>
          <p:nvPr/>
        </p:nvSpPr>
        <p:spPr>
          <a:xfrm>
            <a:off x="3543300" y="151143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18" name="Text 210"/>
          <p:cNvSpPr/>
          <p:nvPr/>
        </p:nvSpPr>
        <p:spPr>
          <a:xfrm>
            <a:off x="3646187" y="153429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19" name="Text 211"/>
          <p:cNvSpPr/>
          <p:nvPr/>
        </p:nvSpPr>
        <p:spPr>
          <a:xfrm>
            <a:off x="3749073" y="1534298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(!hasPermission) {</a:t>
            </a:r>
            <a:endParaRPr lang="en-US" sz="675" dirty="0"/>
          </a:p>
        </p:txBody>
      </p:sp>
      <p:sp>
        <p:nvSpPr>
          <p:cNvPr id="220" name="Text 212"/>
          <p:cNvSpPr/>
          <p:nvPr/>
        </p:nvSpPr>
        <p:spPr>
          <a:xfrm>
            <a:off x="3543300" y="15457289"/>
            <a:ext cx="2025979"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hasPermission = checkPermission();</a:t>
            </a:r>
            <a:endParaRPr lang="en-US" sz="675" dirty="0"/>
          </a:p>
        </p:txBody>
      </p:sp>
      <p:sp>
        <p:nvSpPr>
          <p:cNvPr id="221" name="Text 213"/>
          <p:cNvSpPr/>
          <p:nvPr/>
        </p:nvSpPr>
        <p:spPr>
          <a:xfrm>
            <a:off x="3543300" y="155715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22" name="Text 214"/>
          <p:cNvSpPr/>
          <p:nvPr/>
        </p:nvSpPr>
        <p:spPr>
          <a:xfrm>
            <a:off x="3543300" y="156858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23" name="Text 215"/>
          <p:cNvSpPr/>
          <p:nvPr/>
        </p:nvSpPr>
        <p:spPr>
          <a:xfrm>
            <a:off x="3429000" y="15973425"/>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For complex conditions with multiple requirements</a:t>
            </a:r>
            <a:endParaRPr lang="en-US" sz="675" dirty="0"/>
          </a:p>
        </p:txBody>
      </p:sp>
      <p:sp>
        <p:nvSpPr>
          <p:cNvPr id="224" name="Shape 216"/>
          <p:cNvSpPr/>
          <p:nvPr/>
        </p:nvSpPr>
        <p:spPr>
          <a:xfrm>
            <a:off x="6000750" y="13916025"/>
            <a:ext cx="2514600" cy="2286000"/>
          </a:xfrm>
          <a:prstGeom prst="rect">
            <a:avLst/>
          </a:prstGeom>
          <a:solidFill>
            <a:srgbClr val="1E3A8A">
              <a:alpha val="30000"/>
            </a:srgbClr>
          </a:solidFill>
          <a:ln/>
        </p:spPr>
        <p:txBody>
          <a:bodyPr/>
          <a:lstStyle/>
          <a:p>
            <a:endParaRPr lang="en-US"/>
          </a:p>
        </p:txBody>
      </p:sp>
      <p:sp>
        <p:nvSpPr>
          <p:cNvPr id="225" name="Text 217"/>
          <p:cNvSpPr/>
          <p:nvPr/>
        </p:nvSpPr>
        <p:spPr>
          <a:xfrm>
            <a:off x="6115050" y="14030325"/>
            <a:ext cx="23574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 + Time Limit</a:t>
            </a:r>
            <a:endParaRPr lang="en-US" sz="1125" dirty="0"/>
          </a:p>
        </p:txBody>
      </p:sp>
      <p:sp>
        <p:nvSpPr>
          <p:cNvPr id="226" name="Shape 218"/>
          <p:cNvSpPr/>
          <p:nvPr/>
        </p:nvSpPr>
        <p:spPr>
          <a:xfrm>
            <a:off x="6115050" y="14316075"/>
            <a:ext cx="2286000" cy="1371600"/>
          </a:xfrm>
          <a:prstGeom prst="rect">
            <a:avLst/>
          </a:prstGeom>
          <a:solidFill>
            <a:srgbClr val="1A202C"/>
          </a:solidFill>
          <a:ln/>
        </p:spPr>
        <p:txBody>
          <a:bodyPr/>
          <a:lstStyle/>
          <a:p>
            <a:endParaRPr lang="en-US"/>
          </a:p>
        </p:txBody>
      </p:sp>
      <p:sp>
        <p:nvSpPr>
          <p:cNvPr id="227" name="Text 219"/>
          <p:cNvSpPr/>
          <p:nvPr/>
        </p:nvSpPr>
        <p:spPr>
          <a:xfrm>
            <a:off x="6229350" y="14428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228" name="Text 220"/>
          <p:cNvSpPr/>
          <p:nvPr/>
        </p:nvSpPr>
        <p:spPr>
          <a:xfrm>
            <a:off x="6589412" y="144285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 true;</a:t>
            </a:r>
            <a:endParaRPr lang="en-US" sz="675" dirty="0"/>
          </a:p>
        </p:txBody>
      </p:sp>
      <p:sp>
        <p:nvSpPr>
          <p:cNvPr id="229" name="Text 221"/>
          <p:cNvSpPr/>
          <p:nvPr/>
        </p:nvSpPr>
        <p:spPr>
          <a:xfrm>
            <a:off x="6229350" y="145428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long</a:t>
            </a:r>
            <a:endParaRPr lang="en-US" sz="675" dirty="0"/>
          </a:p>
        </p:txBody>
      </p:sp>
      <p:sp>
        <p:nvSpPr>
          <p:cNvPr id="230" name="Text 222"/>
          <p:cNvSpPr/>
          <p:nvPr/>
        </p:nvSpPr>
        <p:spPr>
          <a:xfrm>
            <a:off x="6229350" y="14542889"/>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startTime = System.currentTimeMillis();</a:t>
            </a:r>
            <a:endParaRPr lang="en-US" sz="675" dirty="0"/>
          </a:p>
        </p:txBody>
      </p:sp>
      <p:sp>
        <p:nvSpPr>
          <p:cNvPr id="231" name="Text 223"/>
          <p:cNvSpPr/>
          <p:nvPr/>
        </p:nvSpPr>
        <p:spPr>
          <a:xfrm>
            <a:off x="6229350" y="147714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long</a:t>
            </a:r>
            <a:endParaRPr lang="en-US" sz="675" dirty="0"/>
          </a:p>
        </p:txBody>
      </p:sp>
      <p:sp>
        <p:nvSpPr>
          <p:cNvPr id="232" name="Text 224"/>
          <p:cNvSpPr/>
          <p:nvPr/>
        </p:nvSpPr>
        <p:spPr>
          <a:xfrm>
            <a:off x="6435096" y="1477148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timeLimit = 10000;</a:t>
            </a:r>
            <a:endParaRPr lang="en-US" sz="675" dirty="0"/>
          </a:p>
        </p:txBody>
      </p:sp>
      <p:sp>
        <p:nvSpPr>
          <p:cNvPr id="233" name="Text 225"/>
          <p:cNvSpPr/>
          <p:nvPr/>
        </p:nvSpPr>
        <p:spPr>
          <a:xfrm>
            <a:off x="7463823" y="14771489"/>
            <a:ext cx="74010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10 seconds</a:t>
            </a:r>
            <a:endParaRPr lang="en-US" sz="675" dirty="0"/>
          </a:p>
        </p:txBody>
      </p:sp>
      <p:sp>
        <p:nvSpPr>
          <p:cNvPr id="234" name="Text 226"/>
          <p:cNvSpPr/>
          <p:nvPr/>
        </p:nvSpPr>
        <p:spPr>
          <a:xfrm>
            <a:off x="6229350" y="150000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235" name="Text 227"/>
          <p:cNvSpPr/>
          <p:nvPr/>
        </p:nvSpPr>
        <p:spPr>
          <a:xfrm>
            <a:off x="6486553" y="1500008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(running &amp;&amp;</a:t>
            </a:r>
            <a:endParaRPr lang="en-US" sz="675" dirty="0"/>
          </a:p>
        </p:txBody>
      </p:sp>
      <p:sp>
        <p:nvSpPr>
          <p:cNvPr id="236" name="Text 228"/>
          <p:cNvSpPr/>
          <p:nvPr/>
        </p:nvSpPr>
        <p:spPr>
          <a:xfrm>
            <a:off x="6229350" y="15114389"/>
            <a:ext cx="1665945"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(System.currentTimeMillis() - startTime &lt; timeLimit)) {</a:t>
            </a:r>
            <a:endParaRPr lang="en-US" sz="675" dirty="0"/>
          </a:p>
        </p:txBody>
      </p:sp>
      <p:sp>
        <p:nvSpPr>
          <p:cNvPr id="237" name="Text 229"/>
          <p:cNvSpPr/>
          <p:nvPr/>
        </p:nvSpPr>
        <p:spPr>
          <a:xfrm>
            <a:off x="6332237" y="15342989"/>
            <a:ext cx="688674"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Loop body</a:t>
            </a:r>
            <a:endParaRPr lang="en-US" sz="675" dirty="0"/>
          </a:p>
        </p:txBody>
      </p:sp>
      <p:sp>
        <p:nvSpPr>
          <p:cNvPr id="238" name="Text 230"/>
          <p:cNvSpPr/>
          <p:nvPr/>
        </p:nvSpPr>
        <p:spPr>
          <a:xfrm>
            <a:off x="6229350" y="154572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39" name="Text 231"/>
          <p:cNvSpPr/>
          <p:nvPr/>
        </p:nvSpPr>
        <p:spPr>
          <a:xfrm>
            <a:off x="6115050" y="15744825"/>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For operations that need a timeout mechanism</a:t>
            </a:r>
            <a:endParaRPr lang="en-US" sz="675" dirty="0"/>
          </a:p>
        </p:txBody>
      </p:sp>
      <p:sp>
        <p:nvSpPr>
          <p:cNvPr id="240" name="Shape 232"/>
          <p:cNvSpPr/>
          <p:nvPr/>
        </p:nvSpPr>
        <p:spPr>
          <a:xfrm>
            <a:off x="628650" y="16373475"/>
            <a:ext cx="7886700" cy="1771650"/>
          </a:xfrm>
          <a:prstGeom prst="rect">
            <a:avLst/>
          </a:prstGeom>
          <a:solidFill>
            <a:srgbClr val="1E40AF">
              <a:alpha val="30000"/>
            </a:srgbClr>
          </a:solidFill>
          <a:ln/>
        </p:spPr>
        <p:txBody>
          <a:bodyPr/>
          <a:lstStyle/>
          <a:p>
            <a:endParaRPr lang="en-US"/>
          </a:p>
        </p:txBody>
      </p:sp>
      <p:sp>
        <p:nvSpPr>
          <p:cNvPr id="241" name="Text 233"/>
          <p:cNvSpPr/>
          <p:nvPr/>
        </p:nvSpPr>
        <p:spPr>
          <a:xfrm>
            <a:off x="742950" y="16487775"/>
            <a:ext cx="7729538" cy="200025"/>
          </a:xfrm>
          <a:prstGeom prst="rect">
            <a:avLst/>
          </a:prstGeom>
          <a:noFill/>
          <a:ln/>
        </p:spPr>
        <p:txBody>
          <a:bodyPr wrap="squar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Execution Flow Diagram</a:t>
            </a:r>
            <a:endParaRPr lang="en-US" sz="1125" dirty="0"/>
          </a:p>
        </p:txBody>
      </p:sp>
      <p:pic>
        <p:nvPicPr>
          <p:cNvPr id="242" name="Image 6" descr="preencoded.png"/>
          <p:cNvPicPr>
            <a:picLocks noChangeAspect="1"/>
          </p:cNvPicPr>
          <p:nvPr/>
        </p:nvPicPr>
        <p:blipFill>
          <a:blip r:embed="rId9"/>
          <a:stretch>
            <a:fillRect/>
          </a:stretch>
        </p:blipFill>
        <p:spPr>
          <a:xfrm>
            <a:off x="2428875" y="16744950"/>
            <a:ext cx="4286250" cy="1285875"/>
          </a:xfrm>
          <a:prstGeom prst="rect">
            <a:avLst/>
          </a:prstGeom>
        </p:spPr>
      </p:pic>
      <p:sp>
        <p:nvSpPr>
          <p:cNvPr id="243" name="Text 234"/>
          <p:cNvSpPr/>
          <p:nvPr/>
        </p:nvSpPr>
        <p:spPr>
          <a:xfrm>
            <a:off x="2714513" y="17330738"/>
            <a:ext cx="571723"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Initialize Flag</a:t>
            </a:r>
            <a:endParaRPr lang="en-US" sz="675" dirty="0"/>
          </a:p>
        </p:txBody>
      </p:sp>
      <p:sp>
        <p:nvSpPr>
          <p:cNvPr id="244" name="Text 235"/>
          <p:cNvSpPr/>
          <p:nvPr/>
        </p:nvSpPr>
        <p:spPr>
          <a:xfrm>
            <a:off x="3712280" y="17330738"/>
            <a:ext cx="505002"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Check Flag</a:t>
            </a:r>
            <a:endParaRPr lang="en-US" sz="675" dirty="0"/>
          </a:p>
        </p:txBody>
      </p:sp>
      <p:sp>
        <p:nvSpPr>
          <p:cNvPr id="245" name="Text 236"/>
          <p:cNvSpPr/>
          <p:nvPr/>
        </p:nvSpPr>
        <p:spPr>
          <a:xfrm>
            <a:off x="4688505" y="17330738"/>
            <a:ext cx="48136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Loop Body</a:t>
            </a:r>
            <a:endParaRPr lang="en-US" sz="675" dirty="0"/>
          </a:p>
        </p:txBody>
      </p:sp>
      <p:sp>
        <p:nvSpPr>
          <p:cNvPr id="246" name="Text 237"/>
          <p:cNvSpPr/>
          <p:nvPr/>
        </p:nvSpPr>
        <p:spPr>
          <a:xfrm>
            <a:off x="5612504" y="17330738"/>
            <a:ext cx="562180"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Modify Flag?</a:t>
            </a:r>
            <a:endParaRPr lang="en-US" sz="675" dirty="0"/>
          </a:p>
        </p:txBody>
      </p:sp>
      <p:sp>
        <p:nvSpPr>
          <p:cNvPr id="247" name="Text 238"/>
          <p:cNvSpPr/>
          <p:nvPr/>
        </p:nvSpPr>
        <p:spPr>
          <a:xfrm>
            <a:off x="6000624" y="17330738"/>
            <a:ext cx="42887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Exit Loop</a:t>
            </a:r>
            <a:endParaRPr lang="en-US" sz="675" dirty="0"/>
          </a:p>
        </p:txBody>
      </p:sp>
      <p:sp>
        <p:nvSpPr>
          <p:cNvPr id="248" name="Text 239"/>
          <p:cNvSpPr/>
          <p:nvPr/>
        </p:nvSpPr>
        <p:spPr>
          <a:xfrm>
            <a:off x="4828938" y="16944975"/>
            <a:ext cx="629124"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Continue Loop</a:t>
            </a:r>
            <a:endParaRPr lang="en-US" sz="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26031825"/>
          </a:xfrm>
          <a:prstGeom prst="rect">
            <a:avLst/>
          </a:prstGeom>
        </p:spPr>
      </p:pic>
      <p:sp>
        <p:nvSpPr>
          <p:cNvPr id="3" name="Text 0"/>
          <p:cNvSpPr/>
          <p:nvPr/>
        </p:nvSpPr>
        <p:spPr>
          <a:xfrm>
            <a:off x="457200" y="455414"/>
            <a:ext cx="2514349"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Flagged While Loop</a:t>
            </a:r>
            <a:endParaRPr lang="en-US" sz="2025" dirty="0"/>
          </a:p>
        </p:txBody>
      </p:sp>
      <p:sp>
        <p:nvSpPr>
          <p:cNvPr id="4" name="Text 1"/>
          <p:cNvSpPr/>
          <p:nvPr/>
        </p:nvSpPr>
        <p:spPr>
          <a:xfrm>
            <a:off x="2900111" y="455414"/>
            <a:ext cx="1343751"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Examples</a:t>
            </a:r>
            <a:endParaRPr lang="en-US" sz="2025" dirty="0"/>
          </a:p>
        </p:txBody>
      </p:sp>
      <p:sp>
        <p:nvSpPr>
          <p:cNvPr id="5" name="Shape 2"/>
          <p:cNvSpPr/>
          <p:nvPr/>
        </p:nvSpPr>
        <p:spPr>
          <a:xfrm>
            <a:off x="457200" y="971550"/>
            <a:ext cx="4000500" cy="7143750"/>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1: User Input Validation</a:t>
            </a:r>
            <a:endParaRPr lang="en-US" sz="1350" dirty="0"/>
          </a:p>
        </p:txBody>
      </p:sp>
      <p:sp>
        <p:nvSpPr>
          <p:cNvPr id="7" name="Shape 4"/>
          <p:cNvSpPr/>
          <p:nvPr/>
        </p:nvSpPr>
        <p:spPr>
          <a:xfrm>
            <a:off x="628650" y="1485900"/>
            <a:ext cx="3657600" cy="685800"/>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685800"/>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a:t>
            </a:r>
            <a:endParaRPr lang="en-US" sz="1125" dirty="0"/>
          </a:p>
        </p:txBody>
      </p:sp>
      <p:sp>
        <p:nvSpPr>
          <p:cNvPr id="10" name="Text 7"/>
          <p:cNvSpPr/>
          <p:nvPr/>
        </p:nvSpPr>
        <p:spPr>
          <a:xfrm>
            <a:off x="742950" y="1800225"/>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Create a program that asks the user for a number between 1 and 100, and keeps asking until a valid number is entered.</a:t>
            </a:r>
            <a:endParaRPr lang="en-US" sz="788" dirty="0"/>
          </a:p>
        </p:txBody>
      </p:sp>
      <p:sp>
        <p:nvSpPr>
          <p:cNvPr id="11" name="Shape 8"/>
          <p:cNvSpPr/>
          <p:nvPr/>
        </p:nvSpPr>
        <p:spPr>
          <a:xfrm>
            <a:off x="628650" y="2286000"/>
            <a:ext cx="3657600" cy="4371975"/>
          </a:xfrm>
          <a:prstGeom prst="rect">
            <a:avLst/>
          </a:prstGeom>
          <a:solidFill>
            <a:srgbClr val="1A202C"/>
          </a:solidFill>
          <a:ln/>
        </p:spPr>
        <p:txBody>
          <a:bodyPr/>
          <a:lstStyle/>
          <a:p>
            <a:endParaRPr lang="en-US"/>
          </a:p>
        </p:txBody>
      </p:sp>
      <p:sp>
        <p:nvSpPr>
          <p:cNvPr id="12" name="Text 9"/>
          <p:cNvSpPr/>
          <p:nvPr/>
        </p:nvSpPr>
        <p:spPr>
          <a:xfrm>
            <a:off x="742950" y="240387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import</a:t>
            </a:r>
            <a:endParaRPr lang="en-US" sz="788" dirty="0"/>
          </a:p>
        </p:txBody>
      </p:sp>
      <p:sp>
        <p:nvSpPr>
          <p:cNvPr id="13" name="Text 10"/>
          <p:cNvSpPr/>
          <p:nvPr/>
        </p:nvSpPr>
        <p:spPr>
          <a:xfrm>
            <a:off x="1103012" y="2403872"/>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java.util.Scanner;</a:t>
            </a:r>
            <a:endParaRPr lang="en-US" sz="788" dirty="0"/>
          </a:p>
        </p:txBody>
      </p:sp>
      <p:sp>
        <p:nvSpPr>
          <p:cNvPr id="14" name="Text 11"/>
          <p:cNvSpPr/>
          <p:nvPr/>
        </p:nvSpPr>
        <p:spPr>
          <a:xfrm>
            <a:off x="742950" y="2689622"/>
            <a:ext cx="791533"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class</a:t>
            </a:r>
            <a:endParaRPr lang="en-US" sz="788" dirty="0"/>
          </a:p>
        </p:txBody>
      </p:sp>
      <p:sp>
        <p:nvSpPr>
          <p:cNvPr id="15" name="Text 12"/>
          <p:cNvSpPr/>
          <p:nvPr/>
        </p:nvSpPr>
        <p:spPr>
          <a:xfrm>
            <a:off x="1463046" y="2689622"/>
            <a:ext cx="109157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InputValidator {</a:t>
            </a:r>
            <a:endParaRPr lang="en-US" sz="788" dirty="0"/>
          </a:p>
        </p:txBody>
      </p:sp>
      <p:sp>
        <p:nvSpPr>
          <p:cNvPr id="16" name="Text 13"/>
          <p:cNvSpPr/>
          <p:nvPr/>
        </p:nvSpPr>
        <p:spPr>
          <a:xfrm>
            <a:off x="862971" y="2832497"/>
            <a:ext cx="115159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static void</a:t>
            </a:r>
            <a:endParaRPr lang="en-US" sz="788" dirty="0"/>
          </a:p>
        </p:txBody>
      </p:sp>
      <p:sp>
        <p:nvSpPr>
          <p:cNvPr id="17" name="Text 14"/>
          <p:cNvSpPr/>
          <p:nvPr/>
        </p:nvSpPr>
        <p:spPr>
          <a:xfrm>
            <a:off x="1943128" y="2832497"/>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main(String[] args) {</a:t>
            </a:r>
            <a:endParaRPr lang="en-US" sz="788" dirty="0"/>
          </a:p>
        </p:txBody>
      </p:sp>
      <p:sp>
        <p:nvSpPr>
          <p:cNvPr id="18" name="Text 15"/>
          <p:cNvSpPr/>
          <p:nvPr/>
        </p:nvSpPr>
        <p:spPr>
          <a:xfrm>
            <a:off x="742950" y="2975372"/>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 scanner =</a:t>
            </a:r>
            <a:endParaRPr lang="en-US" sz="788" dirty="0"/>
          </a:p>
        </p:txBody>
      </p:sp>
      <p:sp>
        <p:nvSpPr>
          <p:cNvPr id="19" name="Text 16"/>
          <p:cNvSpPr/>
          <p:nvPr/>
        </p:nvSpPr>
        <p:spPr>
          <a:xfrm>
            <a:off x="2063121" y="29753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new</a:t>
            </a:r>
            <a:endParaRPr lang="en-US" sz="788" dirty="0"/>
          </a:p>
        </p:txBody>
      </p:sp>
      <p:sp>
        <p:nvSpPr>
          <p:cNvPr id="20" name="Text 17"/>
          <p:cNvSpPr/>
          <p:nvPr/>
        </p:nvSpPr>
        <p:spPr>
          <a:xfrm>
            <a:off x="2243165" y="2975372"/>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Scanner(System.in);</a:t>
            </a:r>
            <a:endParaRPr lang="en-US" sz="788" dirty="0"/>
          </a:p>
        </p:txBody>
      </p:sp>
      <p:sp>
        <p:nvSpPr>
          <p:cNvPr id="21" name="Text 18"/>
          <p:cNvSpPr/>
          <p:nvPr/>
        </p:nvSpPr>
        <p:spPr>
          <a:xfrm>
            <a:off x="982991" y="31182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22" name="Text 19"/>
          <p:cNvSpPr/>
          <p:nvPr/>
        </p:nvSpPr>
        <p:spPr>
          <a:xfrm>
            <a:off x="1403049" y="3118247"/>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validInput = false;</a:t>
            </a:r>
            <a:endParaRPr lang="en-US" sz="788" dirty="0"/>
          </a:p>
        </p:txBody>
      </p:sp>
      <p:sp>
        <p:nvSpPr>
          <p:cNvPr id="23" name="Text 20"/>
          <p:cNvSpPr/>
          <p:nvPr/>
        </p:nvSpPr>
        <p:spPr>
          <a:xfrm>
            <a:off x="982991" y="326112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24" name="Text 21"/>
          <p:cNvSpPr/>
          <p:nvPr/>
        </p:nvSpPr>
        <p:spPr>
          <a:xfrm>
            <a:off x="1163036" y="3261122"/>
            <a:ext cx="79153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number = 0;</a:t>
            </a:r>
            <a:endParaRPr lang="en-US" sz="788" dirty="0"/>
          </a:p>
        </p:txBody>
      </p:sp>
      <p:sp>
        <p:nvSpPr>
          <p:cNvPr id="25" name="Text 22"/>
          <p:cNvSpPr/>
          <p:nvPr/>
        </p:nvSpPr>
        <p:spPr>
          <a:xfrm>
            <a:off x="982991" y="3546872"/>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26" name="Text 23"/>
          <p:cNvSpPr/>
          <p:nvPr/>
        </p:nvSpPr>
        <p:spPr>
          <a:xfrm>
            <a:off x="1283029" y="354687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(!validInput) {</a:t>
            </a:r>
            <a:endParaRPr lang="en-US" sz="788" dirty="0"/>
          </a:p>
        </p:txBody>
      </p:sp>
      <p:sp>
        <p:nvSpPr>
          <p:cNvPr id="27" name="Text 24"/>
          <p:cNvSpPr/>
          <p:nvPr/>
        </p:nvSpPr>
        <p:spPr>
          <a:xfrm>
            <a:off x="742950" y="3689747"/>
            <a:ext cx="3491871"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System.out.print("Enter a number between 1 and 100: ");</a:t>
            </a:r>
            <a:endParaRPr lang="en-US" sz="788" dirty="0"/>
          </a:p>
        </p:txBody>
      </p:sp>
      <p:sp>
        <p:nvSpPr>
          <p:cNvPr id="28" name="Text 25"/>
          <p:cNvSpPr/>
          <p:nvPr/>
        </p:nvSpPr>
        <p:spPr>
          <a:xfrm>
            <a:off x="1103012" y="3975497"/>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try</a:t>
            </a:r>
            <a:endParaRPr lang="en-US" sz="788" dirty="0"/>
          </a:p>
        </p:txBody>
      </p:sp>
      <p:sp>
        <p:nvSpPr>
          <p:cNvPr id="29" name="Text 26"/>
          <p:cNvSpPr/>
          <p:nvPr/>
        </p:nvSpPr>
        <p:spPr>
          <a:xfrm>
            <a:off x="1283057" y="39754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0" name="Text 27"/>
          <p:cNvSpPr/>
          <p:nvPr/>
        </p:nvSpPr>
        <p:spPr>
          <a:xfrm>
            <a:off x="742950" y="4118372"/>
            <a:ext cx="3311854"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number = Integer.parseInt(scanner.nextLine());</a:t>
            </a:r>
            <a:endParaRPr lang="en-US" sz="788" dirty="0"/>
          </a:p>
        </p:txBody>
      </p:sp>
      <p:sp>
        <p:nvSpPr>
          <p:cNvPr id="31" name="Text 28"/>
          <p:cNvSpPr/>
          <p:nvPr/>
        </p:nvSpPr>
        <p:spPr>
          <a:xfrm>
            <a:off x="1223032" y="4261247"/>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32" name="Text 29"/>
          <p:cNvSpPr/>
          <p:nvPr/>
        </p:nvSpPr>
        <p:spPr>
          <a:xfrm>
            <a:off x="1343053" y="4261247"/>
            <a:ext cx="2051707"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(number &gt;= 1 &amp;&amp; number &lt;= 100) {</a:t>
            </a:r>
            <a:endParaRPr lang="en-US" sz="788" dirty="0"/>
          </a:p>
        </p:txBody>
      </p:sp>
      <p:sp>
        <p:nvSpPr>
          <p:cNvPr id="33" name="Text 30"/>
          <p:cNvSpPr/>
          <p:nvPr/>
        </p:nvSpPr>
        <p:spPr>
          <a:xfrm>
            <a:off x="742950" y="4404122"/>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validInput = true;</a:t>
            </a:r>
            <a:endParaRPr lang="en-US" sz="788" dirty="0"/>
          </a:p>
        </p:txBody>
      </p:sp>
      <p:sp>
        <p:nvSpPr>
          <p:cNvPr id="34" name="Text 31"/>
          <p:cNvSpPr/>
          <p:nvPr/>
        </p:nvSpPr>
        <p:spPr>
          <a:xfrm>
            <a:off x="2483179" y="4404122"/>
            <a:ext cx="151162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Set flag to exit loop</a:t>
            </a:r>
            <a:endParaRPr lang="en-US" sz="788" dirty="0"/>
          </a:p>
        </p:txBody>
      </p:sp>
      <p:sp>
        <p:nvSpPr>
          <p:cNvPr id="35" name="Text 32"/>
          <p:cNvSpPr/>
          <p:nvPr/>
        </p:nvSpPr>
        <p:spPr>
          <a:xfrm>
            <a:off x="742950" y="4546997"/>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6" name="Text 33"/>
          <p:cNvSpPr/>
          <p:nvPr/>
        </p:nvSpPr>
        <p:spPr>
          <a:xfrm>
            <a:off x="1343025" y="4546997"/>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37" name="Text 34"/>
          <p:cNvSpPr/>
          <p:nvPr/>
        </p:nvSpPr>
        <p:spPr>
          <a:xfrm>
            <a:off x="1583066" y="4546997"/>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38" name="Text 35"/>
          <p:cNvSpPr/>
          <p:nvPr/>
        </p:nvSpPr>
        <p:spPr>
          <a:xfrm>
            <a:off x="742950" y="4689872"/>
            <a:ext cx="3311854"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System.out.println("Number must be between 1 and 100!");</a:t>
            </a:r>
            <a:endParaRPr lang="en-US" sz="788" dirty="0"/>
          </a:p>
        </p:txBody>
      </p:sp>
      <p:sp>
        <p:nvSpPr>
          <p:cNvPr id="39" name="Text 36"/>
          <p:cNvSpPr/>
          <p:nvPr/>
        </p:nvSpPr>
        <p:spPr>
          <a:xfrm>
            <a:off x="742950" y="4975622"/>
            <a:ext cx="61151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0" name="Text 37"/>
          <p:cNvSpPr/>
          <p:nvPr/>
        </p:nvSpPr>
        <p:spPr>
          <a:xfrm>
            <a:off x="742950" y="5118497"/>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1" name="Text 38"/>
          <p:cNvSpPr/>
          <p:nvPr/>
        </p:nvSpPr>
        <p:spPr>
          <a:xfrm>
            <a:off x="1223032" y="511849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catch</a:t>
            </a:r>
            <a:endParaRPr lang="en-US" sz="788" dirty="0"/>
          </a:p>
        </p:txBody>
      </p:sp>
      <p:sp>
        <p:nvSpPr>
          <p:cNvPr id="42" name="Text 39"/>
          <p:cNvSpPr/>
          <p:nvPr/>
        </p:nvSpPr>
        <p:spPr>
          <a:xfrm>
            <a:off x="1523070" y="5118497"/>
            <a:ext cx="175167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(NumberFormatException e) {</a:t>
            </a:r>
            <a:endParaRPr lang="en-US" sz="788" dirty="0"/>
          </a:p>
        </p:txBody>
      </p:sp>
      <p:sp>
        <p:nvSpPr>
          <p:cNvPr id="43" name="Text 40"/>
          <p:cNvSpPr/>
          <p:nvPr/>
        </p:nvSpPr>
        <p:spPr>
          <a:xfrm>
            <a:off x="742950" y="5261372"/>
            <a:ext cx="3491871"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System.out.println("Invalid input! Please enter a number.");</a:t>
            </a:r>
            <a:endParaRPr lang="en-US" sz="788" dirty="0"/>
          </a:p>
        </p:txBody>
      </p:sp>
      <p:sp>
        <p:nvSpPr>
          <p:cNvPr id="44" name="Text 41"/>
          <p:cNvSpPr/>
          <p:nvPr/>
        </p:nvSpPr>
        <p:spPr>
          <a:xfrm>
            <a:off x="742950" y="554712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5" name="Text 42"/>
          <p:cNvSpPr/>
          <p:nvPr/>
        </p:nvSpPr>
        <p:spPr>
          <a:xfrm>
            <a:off x="742950" y="568999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6" name="Text 43"/>
          <p:cNvSpPr/>
          <p:nvPr/>
        </p:nvSpPr>
        <p:spPr>
          <a:xfrm>
            <a:off x="742950" y="5975747"/>
            <a:ext cx="3011816"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System.out.println("Valid input received: " + number);</a:t>
            </a:r>
            <a:endParaRPr lang="en-US" sz="788" dirty="0"/>
          </a:p>
        </p:txBody>
      </p:sp>
      <p:sp>
        <p:nvSpPr>
          <p:cNvPr id="47" name="Text 44"/>
          <p:cNvSpPr/>
          <p:nvPr/>
        </p:nvSpPr>
        <p:spPr>
          <a:xfrm>
            <a:off x="742950" y="6261497"/>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8" name="Text 45"/>
          <p:cNvSpPr/>
          <p:nvPr/>
        </p:nvSpPr>
        <p:spPr>
          <a:xfrm>
            <a:off x="742950" y="6404372"/>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49" name="Shape 46"/>
          <p:cNvSpPr/>
          <p:nvPr/>
        </p:nvSpPr>
        <p:spPr>
          <a:xfrm>
            <a:off x="628650" y="6772275"/>
            <a:ext cx="3657600" cy="1157288"/>
          </a:xfrm>
          <a:prstGeom prst="rect">
            <a:avLst/>
          </a:prstGeom>
          <a:solidFill>
            <a:srgbClr val="1E3A8A">
              <a:alpha val="30000"/>
            </a:srgbClr>
          </a:solidFill>
          <a:ln/>
        </p:spPr>
        <p:txBody>
          <a:bodyPr/>
          <a:lstStyle/>
          <a:p>
            <a:endParaRPr lang="en-US"/>
          </a:p>
        </p:txBody>
      </p:sp>
      <p:sp>
        <p:nvSpPr>
          <p:cNvPr id="50" name="Text 47"/>
          <p:cNvSpPr/>
          <p:nvPr/>
        </p:nvSpPr>
        <p:spPr>
          <a:xfrm>
            <a:off x="742950" y="6886575"/>
            <a:ext cx="35004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Key Points</a:t>
            </a:r>
            <a:endParaRPr lang="en-US" sz="1013" dirty="0"/>
          </a:p>
        </p:txBody>
      </p:sp>
      <p:sp>
        <p:nvSpPr>
          <p:cNvPr id="51" name="Text 48"/>
          <p:cNvSpPr/>
          <p:nvPr/>
        </p:nvSpPr>
        <p:spPr>
          <a:xfrm>
            <a:off x="742950" y="7158038"/>
            <a:ext cx="929162"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Flag initialized as</a:t>
            </a:r>
            <a:endParaRPr lang="en-US" sz="788" dirty="0"/>
          </a:p>
        </p:txBody>
      </p:sp>
      <p:sp>
        <p:nvSpPr>
          <p:cNvPr id="52" name="Text 49"/>
          <p:cNvSpPr/>
          <p:nvPr/>
        </p:nvSpPr>
        <p:spPr>
          <a:xfrm>
            <a:off x="1600674" y="7165181"/>
            <a:ext cx="371531" cy="114300"/>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ui-monospace" pitchFamily="34" charset="0"/>
                <a:ea typeface="ui-monospace" pitchFamily="34" charset="-122"/>
                <a:cs typeface="ui-monospace" pitchFamily="34" charset="-120"/>
              </a:rPr>
              <a:t>false</a:t>
            </a:r>
            <a:endParaRPr lang="en-US" sz="788" dirty="0"/>
          </a:p>
        </p:txBody>
      </p:sp>
      <p:sp>
        <p:nvSpPr>
          <p:cNvPr id="53" name="Text 50"/>
          <p:cNvSpPr/>
          <p:nvPr/>
        </p:nvSpPr>
        <p:spPr>
          <a:xfrm>
            <a:off x="1900768" y="7158038"/>
            <a:ext cx="694032"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(invalid input)</a:t>
            </a:r>
            <a:endParaRPr lang="en-US" sz="788" dirty="0"/>
          </a:p>
        </p:txBody>
      </p:sp>
      <p:sp>
        <p:nvSpPr>
          <p:cNvPr id="54" name="Text 51"/>
          <p:cNvSpPr/>
          <p:nvPr/>
        </p:nvSpPr>
        <p:spPr>
          <a:xfrm>
            <a:off x="742950" y="7322344"/>
            <a:ext cx="35004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Loop continues until valid input is received</a:t>
            </a:r>
            <a:endParaRPr lang="en-US" sz="788" dirty="0"/>
          </a:p>
        </p:txBody>
      </p:sp>
      <p:sp>
        <p:nvSpPr>
          <p:cNvPr id="55" name="Text 52"/>
          <p:cNvSpPr/>
          <p:nvPr/>
        </p:nvSpPr>
        <p:spPr>
          <a:xfrm>
            <a:off x="742950" y="7508081"/>
            <a:ext cx="728997"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Flag is set to</a:t>
            </a:r>
            <a:endParaRPr lang="en-US" sz="788" dirty="0"/>
          </a:p>
        </p:txBody>
      </p:sp>
      <p:sp>
        <p:nvSpPr>
          <p:cNvPr id="56" name="Text 53"/>
          <p:cNvSpPr/>
          <p:nvPr/>
        </p:nvSpPr>
        <p:spPr>
          <a:xfrm>
            <a:off x="1400510" y="7515225"/>
            <a:ext cx="311507" cy="114300"/>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ui-monospace" pitchFamily="34" charset="0"/>
                <a:ea typeface="ui-monospace" pitchFamily="34" charset="-122"/>
                <a:cs typeface="ui-monospace" pitchFamily="34" charset="-120"/>
              </a:rPr>
              <a:t>true</a:t>
            </a:r>
            <a:endParaRPr lang="en-US" sz="788" dirty="0"/>
          </a:p>
        </p:txBody>
      </p:sp>
      <p:sp>
        <p:nvSpPr>
          <p:cNvPr id="57" name="Text 54"/>
          <p:cNvSpPr/>
          <p:nvPr/>
        </p:nvSpPr>
        <p:spPr>
          <a:xfrm>
            <a:off x="1640579" y="7508081"/>
            <a:ext cx="1550110" cy="112514"/>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only when input meets all criteria</a:t>
            </a:r>
            <a:endParaRPr lang="en-US" sz="788" dirty="0"/>
          </a:p>
        </p:txBody>
      </p:sp>
      <p:sp>
        <p:nvSpPr>
          <p:cNvPr id="58" name="Text 55"/>
          <p:cNvSpPr/>
          <p:nvPr/>
        </p:nvSpPr>
        <p:spPr>
          <a:xfrm>
            <a:off x="742950" y="7672388"/>
            <a:ext cx="35004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Multiple validation checks (numeric and range)</a:t>
            </a:r>
            <a:endParaRPr lang="en-US" sz="788" dirty="0"/>
          </a:p>
        </p:txBody>
      </p:sp>
      <p:sp>
        <p:nvSpPr>
          <p:cNvPr id="59" name="Shape 56"/>
          <p:cNvSpPr/>
          <p:nvPr/>
        </p:nvSpPr>
        <p:spPr>
          <a:xfrm>
            <a:off x="457200" y="8272463"/>
            <a:ext cx="4000500" cy="6343650"/>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0" name="Text 57"/>
          <p:cNvSpPr/>
          <p:nvPr/>
        </p:nvSpPr>
        <p:spPr>
          <a:xfrm>
            <a:off x="628650" y="8443913"/>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2: Search Algorithm</a:t>
            </a:r>
            <a:endParaRPr lang="en-US" sz="1350" dirty="0"/>
          </a:p>
        </p:txBody>
      </p:sp>
      <p:sp>
        <p:nvSpPr>
          <p:cNvPr id="61" name="Shape 58"/>
          <p:cNvSpPr/>
          <p:nvPr/>
        </p:nvSpPr>
        <p:spPr>
          <a:xfrm>
            <a:off x="628650" y="8786813"/>
            <a:ext cx="3657600" cy="685800"/>
          </a:xfrm>
          <a:prstGeom prst="rect">
            <a:avLst/>
          </a:prstGeom>
          <a:solidFill>
            <a:srgbClr val="1E3A8A">
              <a:alpha val="30000"/>
            </a:srgbClr>
          </a:solidFill>
          <a:ln/>
        </p:spPr>
        <p:txBody>
          <a:bodyPr/>
          <a:lstStyle/>
          <a:p>
            <a:endParaRPr lang="en-US"/>
          </a:p>
        </p:txBody>
      </p:sp>
      <p:sp>
        <p:nvSpPr>
          <p:cNvPr id="62" name="Shape 59"/>
          <p:cNvSpPr/>
          <p:nvPr/>
        </p:nvSpPr>
        <p:spPr>
          <a:xfrm>
            <a:off x="628650" y="8786813"/>
            <a:ext cx="28575" cy="685800"/>
          </a:xfrm>
          <a:prstGeom prst="rect">
            <a:avLst/>
          </a:prstGeom>
          <a:solidFill>
            <a:srgbClr val="63B3ED"/>
          </a:solidFill>
          <a:ln/>
        </p:spPr>
        <p:txBody>
          <a:bodyPr/>
          <a:lstStyle/>
          <a:p>
            <a:endParaRPr lang="en-US"/>
          </a:p>
        </p:txBody>
      </p:sp>
      <p:sp>
        <p:nvSpPr>
          <p:cNvPr id="63" name="Text 60"/>
          <p:cNvSpPr/>
          <p:nvPr/>
        </p:nvSpPr>
        <p:spPr>
          <a:xfrm>
            <a:off x="742950" y="8872538"/>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a:t>
            </a:r>
            <a:endParaRPr lang="en-US" sz="1125" dirty="0"/>
          </a:p>
        </p:txBody>
      </p:sp>
      <p:sp>
        <p:nvSpPr>
          <p:cNvPr id="64" name="Text 61"/>
          <p:cNvSpPr/>
          <p:nvPr/>
        </p:nvSpPr>
        <p:spPr>
          <a:xfrm>
            <a:off x="742950" y="9101138"/>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Implement a linear search algorithm to find a target value in an array and return its index (or -1 if not found).</a:t>
            </a:r>
            <a:endParaRPr lang="en-US" sz="788" dirty="0"/>
          </a:p>
        </p:txBody>
      </p:sp>
      <p:sp>
        <p:nvSpPr>
          <p:cNvPr id="65" name="Shape 62"/>
          <p:cNvSpPr/>
          <p:nvPr/>
        </p:nvSpPr>
        <p:spPr>
          <a:xfrm>
            <a:off x="628650" y="9586913"/>
            <a:ext cx="3657600" cy="2514600"/>
          </a:xfrm>
          <a:prstGeom prst="rect">
            <a:avLst/>
          </a:prstGeom>
          <a:solidFill>
            <a:srgbClr val="1A202C"/>
          </a:solidFill>
          <a:ln/>
        </p:spPr>
        <p:txBody>
          <a:bodyPr/>
          <a:lstStyle/>
          <a:p>
            <a:endParaRPr lang="en-US"/>
          </a:p>
        </p:txBody>
      </p:sp>
      <p:sp>
        <p:nvSpPr>
          <p:cNvPr id="66" name="Text 63"/>
          <p:cNvSpPr/>
          <p:nvPr/>
        </p:nvSpPr>
        <p:spPr>
          <a:xfrm>
            <a:off x="742950" y="9704784"/>
            <a:ext cx="1091571"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static int</a:t>
            </a:r>
            <a:endParaRPr lang="en-US" sz="788" dirty="0"/>
          </a:p>
        </p:txBody>
      </p:sp>
      <p:sp>
        <p:nvSpPr>
          <p:cNvPr id="67" name="Text 64"/>
          <p:cNvSpPr/>
          <p:nvPr/>
        </p:nvSpPr>
        <p:spPr>
          <a:xfrm>
            <a:off x="1763083" y="9704784"/>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linearSearch(</a:t>
            </a:r>
            <a:endParaRPr lang="en-US" sz="788" dirty="0"/>
          </a:p>
        </p:txBody>
      </p:sp>
      <p:sp>
        <p:nvSpPr>
          <p:cNvPr id="68" name="Text 65"/>
          <p:cNvSpPr/>
          <p:nvPr/>
        </p:nvSpPr>
        <p:spPr>
          <a:xfrm>
            <a:off x="2603199" y="970478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69" name="Text 66"/>
          <p:cNvSpPr/>
          <p:nvPr/>
        </p:nvSpPr>
        <p:spPr>
          <a:xfrm>
            <a:off x="2783244" y="9704784"/>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 array,</a:t>
            </a:r>
            <a:endParaRPr lang="en-US" sz="788" dirty="0"/>
          </a:p>
        </p:txBody>
      </p:sp>
      <p:sp>
        <p:nvSpPr>
          <p:cNvPr id="70" name="Text 67"/>
          <p:cNvSpPr/>
          <p:nvPr/>
        </p:nvSpPr>
        <p:spPr>
          <a:xfrm>
            <a:off x="3383319" y="970478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71" name="Text 68"/>
          <p:cNvSpPr/>
          <p:nvPr/>
        </p:nvSpPr>
        <p:spPr>
          <a:xfrm>
            <a:off x="3563364" y="9704784"/>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target) {</a:t>
            </a:r>
            <a:endParaRPr lang="en-US" sz="788" dirty="0"/>
          </a:p>
        </p:txBody>
      </p:sp>
      <p:sp>
        <p:nvSpPr>
          <p:cNvPr id="72" name="Text 69"/>
          <p:cNvSpPr/>
          <p:nvPr/>
        </p:nvSpPr>
        <p:spPr>
          <a:xfrm>
            <a:off x="862971" y="9847659"/>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73" name="Text 70"/>
          <p:cNvSpPr/>
          <p:nvPr/>
        </p:nvSpPr>
        <p:spPr>
          <a:xfrm>
            <a:off x="1283029" y="9847659"/>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 false;</a:t>
            </a:r>
            <a:endParaRPr lang="en-US" sz="788" dirty="0"/>
          </a:p>
        </p:txBody>
      </p:sp>
      <p:sp>
        <p:nvSpPr>
          <p:cNvPr id="74" name="Text 71"/>
          <p:cNvSpPr/>
          <p:nvPr/>
        </p:nvSpPr>
        <p:spPr>
          <a:xfrm>
            <a:off x="862971" y="999053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75" name="Text 72"/>
          <p:cNvSpPr/>
          <p:nvPr/>
        </p:nvSpPr>
        <p:spPr>
          <a:xfrm>
            <a:off x="1043015" y="9990534"/>
            <a:ext cx="73153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index = 0;</a:t>
            </a:r>
            <a:endParaRPr lang="en-US" sz="788" dirty="0"/>
          </a:p>
        </p:txBody>
      </p:sp>
      <p:sp>
        <p:nvSpPr>
          <p:cNvPr id="76" name="Text 73"/>
          <p:cNvSpPr/>
          <p:nvPr/>
        </p:nvSpPr>
        <p:spPr>
          <a:xfrm>
            <a:off x="862971" y="10133409"/>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77" name="Text 74"/>
          <p:cNvSpPr/>
          <p:nvPr/>
        </p:nvSpPr>
        <p:spPr>
          <a:xfrm>
            <a:off x="1043015" y="10133409"/>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 = -1;</a:t>
            </a:r>
            <a:endParaRPr lang="en-US" sz="788" dirty="0"/>
          </a:p>
        </p:txBody>
      </p:sp>
      <p:sp>
        <p:nvSpPr>
          <p:cNvPr id="78" name="Text 75"/>
          <p:cNvSpPr/>
          <p:nvPr/>
        </p:nvSpPr>
        <p:spPr>
          <a:xfrm>
            <a:off x="1883132" y="10133409"/>
            <a:ext cx="1871663"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Default result if not found</a:t>
            </a:r>
            <a:endParaRPr lang="en-US" sz="788" dirty="0"/>
          </a:p>
        </p:txBody>
      </p:sp>
      <p:sp>
        <p:nvSpPr>
          <p:cNvPr id="79" name="Text 76"/>
          <p:cNvSpPr/>
          <p:nvPr/>
        </p:nvSpPr>
        <p:spPr>
          <a:xfrm>
            <a:off x="862971" y="10419159"/>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80" name="Text 77"/>
          <p:cNvSpPr/>
          <p:nvPr/>
        </p:nvSpPr>
        <p:spPr>
          <a:xfrm>
            <a:off x="1163008" y="10419159"/>
            <a:ext cx="217170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&amp;&amp; index &lt; array.length) {</a:t>
            </a:r>
            <a:endParaRPr lang="en-US" sz="788" dirty="0"/>
          </a:p>
        </p:txBody>
      </p:sp>
      <p:sp>
        <p:nvSpPr>
          <p:cNvPr id="81" name="Text 78"/>
          <p:cNvSpPr/>
          <p:nvPr/>
        </p:nvSpPr>
        <p:spPr>
          <a:xfrm>
            <a:off x="982991" y="10562034"/>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82" name="Text 79"/>
          <p:cNvSpPr/>
          <p:nvPr/>
        </p:nvSpPr>
        <p:spPr>
          <a:xfrm>
            <a:off x="1103012" y="10562034"/>
            <a:ext cx="169164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(array[index] == target) {</a:t>
            </a:r>
            <a:endParaRPr lang="en-US" sz="788" dirty="0"/>
          </a:p>
        </p:txBody>
      </p:sp>
      <p:sp>
        <p:nvSpPr>
          <p:cNvPr id="83" name="Text 80"/>
          <p:cNvSpPr/>
          <p:nvPr/>
        </p:nvSpPr>
        <p:spPr>
          <a:xfrm>
            <a:off x="742950" y="10704909"/>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found = true;</a:t>
            </a:r>
            <a:endParaRPr lang="en-US" sz="788" dirty="0"/>
          </a:p>
        </p:txBody>
      </p:sp>
      <p:sp>
        <p:nvSpPr>
          <p:cNvPr id="84" name="Text 81"/>
          <p:cNvSpPr/>
          <p:nvPr/>
        </p:nvSpPr>
        <p:spPr>
          <a:xfrm>
            <a:off x="1943100" y="10704909"/>
            <a:ext cx="151162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Set flag to exit loop</a:t>
            </a:r>
            <a:endParaRPr lang="en-US" sz="788" dirty="0"/>
          </a:p>
        </p:txBody>
      </p:sp>
      <p:sp>
        <p:nvSpPr>
          <p:cNvPr id="85" name="Text 82"/>
          <p:cNvSpPr/>
          <p:nvPr/>
        </p:nvSpPr>
        <p:spPr>
          <a:xfrm>
            <a:off x="742950" y="10847784"/>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 = index;</a:t>
            </a:r>
            <a:endParaRPr lang="en-US" sz="788" dirty="0"/>
          </a:p>
        </p:txBody>
      </p:sp>
      <p:sp>
        <p:nvSpPr>
          <p:cNvPr id="86" name="Text 83"/>
          <p:cNvSpPr/>
          <p:nvPr/>
        </p:nvSpPr>
        <p:spPr>
          <a:xfrm>
            <a:off x="2063121" y="10847784"/>
            <a:ext cx="151162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Store the found index</a:t>
            </a:r>
            <a:endParaRPr lang="en-US" sz="788" dirty="0"/>
          </a:p>
        </p:txBody>
      </p:sp>
      <p:sp>
        <p:nvSpPr>
          <p:cNvPr id="87" name="Text 84"/>
          <p:cNvSpPr/>
          <p:nvPr/>
        </p:nvSpPr>
        <p:spPr>
          <a:xfrm>
            <a:off x="742950" y="10990659"/>
            <a:ext cx="431499"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88" name="Text 85"/>
          <p:cNvSpPr/>
          <p:nvPr/>
        </p:nvSpPr>
        <p:spPr>
          <a:xfrm>
            <a:off x="1103012" y="10990659"/>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89" name="Text 86"/>
          <p:cNvSpPr/>
          <p:nvPr/>
        </p:nvSpPr>
        <p:spPr>
          <a:xfrm>
            <a:off x="1343053" y="10990659"/>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0" name="Text 87"/>
          <p:cNvSpPr/>
          <p:nvPr/>
        </p:nvSpPr>
        <p:spPr>
          <a:xfrm>
            <a:off x="742950" y="11133534"/>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index++;</a:t>
            </a:r>
            <a:endParaRPr lang="en-US" sz="788" dirty="0"/>
          </a:p>
        </p:txBody>
      </p:sp>
      <p:sp>
        <p:nvSpPr>
          <p:cNvPr id="91" name="Text 88"/>
          <p:cNvSpPr/>
          <p:nvPr/>
        </p:nvSpPr>
        <p:spPr>
          <a:xfrm>
            <a:off x="742950" y="11276409"/>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2" name="Text 89"/>
          <p:cNvSpPr/>
          <p:nvPr/>
        </p:nvSpPr>
        <p:spPr>
          <a:xfrm>
            <a:off x="742950" y="11419284"/>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3" name="Text 90"/>
          <p:cNvSpPr/>
          <p:nvPr/>
        </p:nvSpPr>
        <p:spPr>
          <a:xfrm>
            <a:off x="862971" y="11705034"/>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return</a:t>
            </a:r>
            <a:endParaRPr lang="en-US" sz="788" dirty="0"/>
          </a:p>
        </p:txBody>
      </p:sp>
      <p:sp>
        <p:nvSpPr>
          <p:cNvPr id="94" name="Text 91"/>
          <p:cNvSpPr/>
          <p:nvPr/>
        </p:nvSpPr>
        <p:spPr>
          <a:xfrm>
            <a:off x="1223032" y="11705034"/>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result;</a:t>
            </a:r>
            <a:endParaRPr lang="en-US" sz="788" dirty="0"/>
          </a:p>
        </p:txBody>
      </p:sp>
      <p:sp>
        <p:nvSpPr>
          <p:cNvPr id="95" name="Text 92"/>
          <p:cNvSpPr/>
          <p:nvPr/>
        </p:nvSpPr>
        <p:spPr>
          <a:xfrm>
            <a:off x="742950" y="11847909"/>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96" name="Shape 93"/>
          <p:cNvSpPr/>
          <p:nvPr/>
        </p:nvSpPr>
        <p:spPr>
          <a:xfrm>
            <a:off x="628650" y="12215813"/>
            <a:ext cx="3657600" cy="2071688"/>
          </a:xfrm>
          <a:prstGeom prst="rect">
            <a:avLst/>
          </a:prstGeom>
          <a:solidFill>
            <a:srgbClr val="1E3A8A">
              <a:alpha val="30000"/>
            </a:srgbClr>
          </a:solidFill>
          <a:ln/>
        </p:spPr>
        <p:txBody>
          <a:bodyPr/>
          <a:lstStyle/>
          <a:p>
            <a:endParaRPr lang="en-US"/>
          </a:p>
        </p:txBody>
      </p:sp>
      <p:sp>
        <p:nvSpPr>
          <p:cNvPr id="97" name="Text 94"/>
          <p:cNvSpPr/>
          <p:nvPr/>
        </p:nvSpPr>
        <p:spPr>
          <a:xfrm>
            <a:off x="742950" y="12330113"/>
            <a:ext cx="35004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Execution Flow</a:t>
            </a:r>
            <a:endParaRPr lang="en-US" sz="1013" dirty="0"/>
          </a:p>
        </p:txBody>
      </p:sp>
      <p:sp>
        <p:nvSpPr>
          <p:cNvPr id="98" name="Shape 95"/>
          <p:cNvSpPr/>
          <p:nvPr/>
        </p:nvSpPr>
        <p:spPr>
          <a:xfrm>
            <a:off x="742950" y="12587288"/>
            <a:ext cx="3429000" cy="1414463"/>
          </a:xfrm>
          <a:prstGeom prst="rect">
            <a:avLst/>
          </a:prstGeom>
          <a:solidFill>
            <a:srgbClr val="1E3A8A">
              <a:alpha val="20000"/>
            </a:srgbClr>
          </a:solidFill>
          <a:ln/>
        </p:spPr>
        <p:txBody>
          <a:bodyPr/>
          <a:lstStyle/>
          <a:p>
            <a:endParaRPr lang="en-US"/>
          </a:p>
        </p:txBody>
      </p:sp>
      <p:sp>
        <p:nvSpPr>
          <p:cNvPr id="99" name="Text 96"/>
          <p:cNvSpPr/>
          <p:nvPr/>
        </p:nvSpPr>
        <p:spPr>
          <a:xfrm>
            <a:off x="742950" y="12587288"/>
            <a:ext cx="611516"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Step</a:t>
            </a:r>
            <a:endParaRPr lang="en-US" sz="900" dirty="0"/>
          </a:p>
        </p:txBody>
      </p:sp>
      <p:sp>
        <p:nvSpPr>
          <p:cNvPr id="100" name="Text 97"/>
          <p:cNvSpPr/>
          <p:nvPr/>
        </p:nvSpPr>
        <p:spPr>
          <a:xfrm>
            <a:off x="1283029" y="12587288"/>
            <a:ext cx="1160608"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array[index]</a:t>
            </a:r>
            <a:endParaRPr lang="en-US" sz="900" dirty="0"/>
          </a:p>
        </p:txBody>
      </p:sp>
      <p:sp>
        <p:nvSpPr>
          <p:cNvPr id="101" name="Text 98"/>
          <p:cNvSpPr/>
          <p:nvPr/>
        </p:nvSpPr>
        <p:spPr>
          <a:xfrm>
            <a:off x="2372199" y="12587288"/>
            <a:ext cx="656444"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index</a:t>
            </a:r>
            <a:endParaRPr lang="en-US" sz="900" dirty="0"/>
          </a:p>
        </p:txBody>
      </p:sp>
      <p:sp>
        <p:nvSpPr>
          <p:cNvPr id="102" name="Text 99"/>
          <p:cNvSpPr/>
          <p:nvPr/>
        </p:nvSpPr>
        <p:spPr>
          <a:xfrm>
            <a:off x="2957206" y="12587288"/>
            <a:ext cx="683093"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found</a:t>
            </a:r>
            <a:endParaRPr lang="en-US" sz="900" dirty="0"/>
          </a:p>
        </p:txBody>
      </p:sp>
      <p:sp>
        <p:nvSpPr>
          <p:cNvPr id="103" name="Text 100"/>
          <p:cNvSpPr/>
          <p:nvPr/>
        </p:nvSpPr>
        <p:spPr>
          <a:xfrm>
            <a:off x="3568861" y="12587288"/>
            <a:ext cx="674526" cy="232172"/>
          </a:xfrm>
          <a:prstGeom prst="rect">
            <a:avLst/>
          </a:prstGeom>
          <a:noFill/>
          <a:ln/>
        </p:spPr>
        <p:txBody>
          <a:bodyPr wrap="none" lIns="68072" tIns="34036" rIns="68072" bIns="34036" rtlCol="0" anchor="ctr">
            <a:spAutoFit/>
          </a:bodyPr>
          <a:lstStyle/>
          <a:p>
            <a:pPr marL="0" indent="0" algn="ctr">
              <a:buNone/>
            </a:pPr>
            <a:r>
              <a:rPr lang="en-US" sz="900" b="1" dirty="0">
                <a:solidFill>
                  <a:srgbClr val="E2E8F0"/>
                </a:solidFill>
                <a:latin typeface="Segoe UI" pitchFamily="34" charset="0"/>
                <a:ea typeface="Segoe UI" pitchFamily="34" charset="-122"/>
                <a:cs typeface="Segoe UI" pitchFamily="34" charset="-120"/>
              </a:rPr>
              <a:t>result</a:t>
            </a:r>
            <a:endParaRPr lang="en-US" sz="900" dirty="0"/>
          </a:p>
        </p:txBody>
      </p:sp>
      <p:sp>
        <p:nvSpPr>
          <p:cNvPr id="104" name="Text 101"/>
          <p:cNvSpPr/>
          <p:nvPr/>
        </p:nvSpPr>
        <p:spPr>
          <a:xfrm>
            <a:off x="742950" y="12819459"/>
            <a:ext cx="61151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Initial</a:t>
            </a:r>
            <a:endParaRPr lang="en-US" sz="900" dirty="0"/>
          </a:p>
        </p:txBody>
      </p:sp>
      <p:sp>
        <p:nvSpPr>
          <p:cNvPr id="105" name="Text 102"/>
          <p:cNvSpPr/>
          <p:nvPr/>
        </p:nvSpPr>
        <p:spPr>
          <a:xfrm>
            <a:off x="1283029" y="12819459"/>
            <a:ext cx="116060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06" name="Text 103"/>
          <p:cNvSpPr/>
          <p:nvPr/>
        </p:nvSpPr>
        <p:spPr>
          <a:xfrm>
            <a:off x="2372199" y="12819459"/>
            <a:ext cx="65644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107" name="Text 104"/>
          <p:cNvSpPr/>
          <p:nvPr/>
        </p:nvSpPr>
        <p:spPr>
          <a:xfrm>
            <a:off x="2957206" y="12819459"/>
            <a:ext cx="68309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false</a:t>
            </a:r>
            <a:endParaRPr lang="en-US" sz="900" dirty="0"/>
          </a:p>
        </p:txBody>
      </p:sp>
      <p:sp>
        <p:nvSpPr>
          <p:cNvPr id="108" name="Text 105"/>
          <p:cNvSpPr/>
          <p:nvPr/>
        </p:nvSpPr>
        <p:spPr>
          <a:xfrm>
            <a:off x="3568861" y="12819459"/>
            <a:ext cx="67452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09" name="Text 106"/>
          <p:cNvSpPr/>
          <p:nvPr/>
        </p:nvSpPr>
        <p:spPr>
          <a:xfrm>
            <a:off x="742950" y="13055203"/>
            <a:ext cx="61151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10" name="Text 107"/>
          <p:cNvSpPr/>
          <p:nvPr/>
        </p:nvSpPr>
        <p:spPr>
          <a:xfrm>
            <a:off x="1283029" y="13055203"/>
            <a:ext cx="116060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5</a:t>
            </a:r>
            <a:endParaRPr lang="en-US" sz="900" dirty="0"/>
          </a:p>
        </p:txBody>
      </p:sp>
      <p:sp>
        <p:nvSpPr>
          <p:cNvPr id="111" name="Text 108"/>
          <p:cNvSpPr/>
          <p:nvPr/>
        </p:nvSpPr>
        <p:spPr>
          <a:xfrm>
            <a:off x="2372199" y="13055203"/>
            <a:ext cx="65644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0</a:t>
            </a:r>
            <a:endParaRPr lang="en-US" sz="900" dirty="0"/>
          </a:p>
        </p:txBody>
      </p:sp>
      <p:sp>
        <p:nvSpPr>
          <p:cNvPr id="112" name="Text 109"/>
          <p:cNvSpPr/>
          <p:nvPr/>
        </p:nvSpPr>
        <p:spPr>
          <a:xfrm>
            <a:off x="2957206" y="13055203"/>
            <a:ext cx="68309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false</a:t>
            </a:r>
            <a:endParaRPr lang="en-US" sz="900" dirty="0"/>
          </a:p>
        </p:txBody>
      </p:sp>
      <p:sp>
        <p:nvSpPr>
          <p:cNvPr id="113" name="Text 110"/>
          <p:cNvSpPr/>
          <p:nvPr/>
        </p:nvSpPr>
        <p:spPr>
          <a:xfrm>
            <a:off x="3568861" y="13055203"/>
            <a:ext cx="67452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14" name="Text 111"/>
          <p:cNvSpPr/>
          <p:nvPr/>
        </p:nvSpPr>
        <p:spPr>
          <a:xfrm>
            <a:off x="742950" y="13290947"/>
            <a:ext cx="61151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15" name="Text 112"/>
          <p:cNvSpPr/>
          <p:nvPr/>
        </p:nvSpPr>
        <p:spPr>
          <a:xfrm>
            <a:off x="1283029" y="13290947"/>
            <a:ext cx="116060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8</a:t>
            </a:r>
            <a:endParaRPr lang="en-US" sz="900" dirty="0"/>
          </a:p>
        </p:txBody>
      </p:sp>
      <p:sp>
        <p:nvSpPr>
          <p:cNvPr id="116" name="Text 113"/>
          <p:cNvSpPr/>
          <p:nvPr/>
        </p:nvSpPr>
        <p:spPr>
          <a:xfrm>
            <a:off x="2372199" y="13290947"/>
            <a:ext cx="65644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17" name="Text 114"/>
          <p:cNvSpPr/>
          <p:nvPr/>
        </p:nvSpPr>
        <p:spPr>
          <a:xfrm>
            <a:off x="2957206" y="13290947"/>
            <a:ext cx="68309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false</a:t>
            </a:r>
            <a:endParaRPr lang="en-US" sz="900" dirty="0"/>
          </a:p>
        </p:txBody>
      </p:sp>
      <p:sp>
        <p:nvSpPr>
          <p:cNvPr id="118" name="Text 115"/>
          <p:cNvSpPr/>
          <p:nvPr/>
        </p:nvSpPr>
        <p:spPr>
          <a:xfrm>
            <a:off x="3568861" y="13290947"/>
            <a:ext cx="67452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a:t>
            </a:r>
            <a:endParaRPr lang="en-US" sz="900" dirty="0"/>
          </a:p>
        </p:txBody>
      </p:sp>
      <p:sp>
        <p:nvSpPr>
          <p:cNvPr id="119" name="Text 116"/>
          <p:cNvSpPr/>
          <p:nvPr/>
        </p:nvSpPr>
        <p:spPr>
          <a:xfrm>
            <a:off x="742950" y="13526691"/>
            <a:ext cx="61151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3</a:t>
            </a:r>
            <a:endParaRPr lang="en-US" sz="900" dirty="0"/>
          </a:p>
        </p:txBody>
      </p:sp>
      <p:sp>
        <p:nvSpPr>
          <p:cNvPr id="120" name="Text 117"/>
          <p:cNvSpPr/>
          <p:nvPr/>
        </p:nvSpPr>
        <p:spPr>
          <a:xfrm>
            <a:off x="1283029" y="13526691"/>
            <a:ext cx="116060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12</a:t>
            </a:r>
            <a:endParaRPr lang="en-US" sz="900" dirty="0"/>
          </a:p>
        </p:txBody>
      </p:sp>
      <p:sp>
        <p:nvSpPr>
          <p:cNvPr id="121" name="Text 118"/>
          <p:cNvSpPr/>
          <p:nvPr/>
        </p:nvSpPr>
        <p:spPr>
          <a:xfrm>
            <a:off x="2372199" y="13526691"/>
            <a:ext cx="65644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22" name="Text 119"/>
          <p:cNvSpPr/>
          <p:nvPr/>
        </p:nvSpPr>
        <p:spPr>
          <a:xfrm>
            <a:off x="2957206" y="13526691"/>
            <a:ext cx="68309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123" name="Text 120"/>
          <p:cNvSpPr/>
          <p:nvPr/>
        </p:nvSpPr>
        <p:spPr>
          <a:xfrm>
            <a:off x="3568861" y="13526691"/>
            <a:ext cx="67452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24" name="Text 121"/>
          <p:cNvSpPr/>
          <p:nvPr/>
        </p:nvSpPr>
        <p:spPr>
          <a:xfrm>
            <a:off x="742950" y="13762434"/>
            <a:ext cx="61151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Final</a:t>
            </a:r>
            <a:endParaRPr lang="en-US" sz="900" dirty="0"/>
          </a:p>
        </p:txBody>
      </p:sp>
      <p:sp>
        <p:nvSpPr>
          <p:cNvPr id="125" name="Text 122"/>
          <p:cNvSpPr/>
          <p:nvPr/>
        </p:nvSpPr>
        <p:spPr>
          <a:xfrm>
            <a:off x="1283029" y="13762434"/>
            <a:ext cx="1160608"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a:t>
            </a:r>
            <a:endParaRPr lang="en-US" sz="900" dirty="0"/>
          </a:p>
        </p:txBody>
      </p:sp>
      <p:sp>
        <p:nvSpPr>
          <p:cNvPr id="126" name="Text 123"/>
          <p:cNvSpPr/>
          <p:nvPr/>
        </p:nvSpPr>
        <p:spPr>
          <a:xfrm>
            <a:off x="2372199" y="13762434"/>
            <a:ext cx="656444"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27" name="Text 124"/>
          <p:cNvSpPr/>
          <p:nvPr/>
        </p:nvSpPr>
        <p:spPr>
          <a:xfrm>
            <a:off x="2957206" y="13762434"/>
            <a:ext cx="683093"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true</a:t>
            </a:r>
            <a:endParaRPr lang="en-US" sz="900" dirty="0"/>
          </a:p>
        </p:txBody>
      </p:sp>
      <p:sp>
        <p:nvSpPr>
          <p:cNvPr id="128" name="Text 125"/>
          <p:cNvSpPr/>
          <p:nvPr/>
        </p:nvSpPr>
        <p:spPr>
          <a:xfrm>
            <a:off x="3568861" y="13762434"/>
            <a:ext cx="674526" cy="235744"/>
          </a:xfrm>
          <a:prstGeom prst="rect">
            <a:avLst/>
          </a:prstGeom>
          <a:noFill/>
          <a:ln/>
        </p:spPr>
        <p:txBody>
          <a:bodyPr wrap="none" lIns="68072" tIns="34036" rIns="68072" bIns="34036"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2</a:t>
            </a:r>
            <a:endParaRPr lang="en-US" sz="900" dirty="0"/>
          </a:p>
        </p:txBody>
      </p:sp>
      <p:sp>
        <p:nvSpPr>
          <p:cNvPr id="129" name="Text 126"/>
          <p:cNvSpPr/>
          <p:nvPr/>
        </p:nvSpPr>
        <p:spPr>
          <a:xfrm>
            <a:off x="742950" y="14058900"/>
            <a:ext cx="3500438" cy="114300"/>
          </a:xfrm>
          <a:prstGeom prst="rect">
            <a:avLst/>
          </a:prstGeom>
          <a:noFill/>
          <a:ln/>
        </p:spPr>
        <p:txBody>
          <a:bodyPr wrap="squar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Example execution for array [5, 8, 12, 3, 9] with target = 12</a:t>
            </a:r>
            <a:endParaRPr lang="en-US" sz="675" dirty="0"/>
          </a:p>
        </p:txBody>
      </p:sp>
      <p:sp>
        <p:nvSpPr>
          <p:cNvPr id="130" name="Shape 127"/>
          <p:cNvSpPr/>
          <p:nvPr/>
        </p:nvSpPr>
        <p:spPr>
          <a:xfrm>
            <a:off x="4686300" y="971550"/>
            <a:ext cx="4000500" cy="9286875"/>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31" name="Text 128"/>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3: Menu-Driven Application</a:t>
            </a:r>
            <a:endParaRPr lang="en-US" sz="1350" dirty="0"/>
          </a:p>
        </p:txBody>
      </p:sp>
      <p:sp>
        <p:nvSpPr>
          <p:cNvPr id="132" name="Shape 129"/>
          <p:cNvSpPr/>
          <p:nvPr/>
        </p:nvSpPr>
        <p:spPr>
          <a:xfrm>
            <a:off x="4857750" y="1485900"/>
            <a:ext cx="3657600" cy="685800"/>
          </a:xfrm>
          <a:prstGeom prst="rect">
            <a:avLst/>
          </a:prstGeom>
          <a:solidFill>
            <a:srgbClr val="1E3A8A">
              <a:alpha val="30000"/>
            </a:srgbClr>
          </a:solidFill>
          <a:ln/>
        </p:spPr>
        <p:txBody>
          <a:bodyPr/>
          <a:lstStyle/>
          <a:p>
            <a:endParaRPr lang="en-US"/>
          </a:p>
        </p:txBody>
      </p:sp>
      <p:sp>
        <p:nvSpPr>
          <p:cNvPr id="133" name="Shape 130"/>
          <p:cNvSpPr/>
          <p:nvPr/>
        </p:nvSpPr>
        <p:spPr>
          <a:xfrm>
            <a:off x="4857750" y="1485900"/>
            <a:ext cx="28575" cy="685800"/>
          </a:xfrm>
          <a:prstGeom prst="rect">
            <a:avLst/>
          </a:prstGeom>
          <a:solidFill>
            <a:srgbClr val="63B3ED"/>
          </a:solidFill>
          <a:ln/>
        </p:spPr>
        <p:txBody>
          <a:bodyPr/>
          <a:lstStyle/>
          <a:p>
            <a:endParaRPr lang="en-US"/>
          </a:p>
        </p:txBody>
      </p:sp>
      <p:sp>
        <p:nvSpPr>
          <p:cNvPr id="134" name="Text 131"/>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a:t>
            </a:r>
            <a:endParaRPr lang="en-US" sz="1125" dirty="0"/>
          </a:p>
        </p:txBody>
      </p:sp>
      <p:sp>
        <p:nvSpPr>
          <p:cNvPr id="135" name="Text 132"/>
          <p:cNvSpPr/>
          <p:nvPr/>
        </p:nvSpPr>
        <p:spPr>
          <a:xfrm>
            <a:off x="4972050" y="1800225"/>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Create a simple calculator application with a menu that allows users to perform operations until they choose to exit.</a:t>
            </a:r>
            <a:endParaRPr lang="en-US" sz="788" dirty="0"/>
          </a:p>
        </p:txBody>
      </p:sp>
      <p:sp>
        <p:nvSpPr>
          <p:cNvPr id="136" name="Shape 133"/>
          <p:cNvSpPr/>
          <p:nvPr/>
        </p:nvSpPr>
        <p:spPr>
          <a:xfrm>
            <a:off x="4857750" y="2286000"/>
            <a:ext cx="3657600" cy="6515100"/>
          </a:xfrm>
          <a:prstGeom prst="rect">
            <a:avLst/>
          </a:prstGeom>
          <a:solidFill>
            <a:srgbClr val="1A202C"/>
          </a:solidFill>
          <a:ln/>
        </p:spPr>
        <p:txBody>
          <a:bodyPr/>
          <a:lstStyle/>
          <a:p>
            <a:endParaRPr lang="en-US"/>
          </a:p>
        </p:txBody>
      </p:sp>
      <p:sp>
        <p:nvSpPr>
          <p:cNvPr id="137" name="Text 134"/>
          <p:cNvSpPr/>
          <p:nvPr/>
        </p:nvSpPr>
        <p:spPr>
          <a:xfrm>
            <a:off x="4972050" y="2403872"/>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import</a:t>
            </a:r>
            <a:endParaRPr lang="en-US" sz="788" dirty="0"/>
          </a:p>
        </p:txBody>
      </p:sp>
      <p:sp>
        <p:nvSpPr>
          <p:cNvPr id="138" name="Text 135"/>
          <p:cNvSpPr/>
          <p:nvPr/>
        </p:nvSpPr>
        <p:spPr>
          <a:xfrm>
            <a:off x="5332112" y="2403872"/>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java.util.Scanner;</a:t>
            </a:r>
            <a:endParaRPr lang="en-US" sz="788" dirty="0"/>
          </a:p>
        </p:txBody>
      </p:sp>
      <p:sp>
        <p:nvSpPr>
          <p:cNvPr id="139" name="Text 136"/>
          <p:cNvSpPr/>
          <p:nvPr/>
        </p:nvSpPr>
        <p:spPr>
          <a:xfrm>
            <a:off x="4972050" y="2689622"/>
            <a:ext cx="791533"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class</a:t>
            </a:r>
            <a:endParaRPr lang="en-US" sz="788" dirty="0"/>
          </a:p>
        </p:txBody>
      </p:sp>
      <p:sp>
        <p:nvSpPr>
          <p:cNvPr id="140" name="Text 137"/>
          <p:cNvSpPr/>
          <p:nvPr/>
        </p:nvSpPr>
        <p:spPr>
          <a:xfrm>
            <a:off x="5692146" y="2689622"/>
            <a:ext cx="109157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MenuCalculator {</a:t>
            </a:r>
            <a:endParaRPr lang="en-US" sz="788" dirty="0"/>
          </a:p>
        </p:txBody>
      </p:sp>
      <p:sp>
        <p:nvSpPr>
          <p:cNvPr id="141" name="Text 138"/>
          <p:cNvSpPr/>
          <p:nvPr/>
        </p:nvSpPr>
        <p:spPr>
          <a:xfrm>
            <a:off x="5092071" y="2832497"/>
            <a:ext cx="115159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static void</a:t>
            </a:r>
            <a:endParaRPr lang="en-US" sz="788" dirty="0"/>
          </a:p>
        </p:txBody>
      </p:sp>
      <p:sp>
        <p:nvSpPr>
          <p:cNvPr id="142" name="Text 139"/>
          <p:cNvSpPr/>
          <p:nvPr/>
        </p:nvSpPr>
        <p:spPr>
          <a:xfrm>
            <a:off x="6172228" y="2832497"/>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main(String[] args) {</a:t>
            </a:r>
            <a:endParaRPr lang="en-US" sz="788" dirty="0"/>
          </a:p>
        </p:txBody>
      </p:sp>
      <p:sp>
        <p:nvSpPr>
          <p:cNvPr id="143" name="Text 140"/>
          <p:cNvSpPr/>
          <p:nvPr/>
        </p:nvSpPr>
        <p:spPr>
          <a:xfrm>
            <a:off x="4972050" y="2975372"/>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 scanner =</a:t>
            </a:r>
            <a:endParaRPr lang="en-US" sz="788" dirty="0"/>
          </a:p>
        </p:txBody>
      </p:sp>
      <p:sp>
        <p:nvSpPr>
          <p:cNvPr id="144" name="Text 141"/>
          <p:cNvSpPr/>
          <p:nvPr/>
        </p:nvSpPr>
        <p:spPr>
          <a:xfrm>
            <a:off x="6292221" y="29753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new</a:t>
            </a:r>
            <a:endParaRPr lang="en-US" sz="788" dirty="0"/>
          </a:p>
        </p:txBody>
      </p:sp>
      <p:sp>
        <p:nvSpPr>
          <p:cNvPr id="145" name="Text 142"/>
          <p:cNvSpPr/>
          <p:nvPr/>
        </p:nvSpPr>
        <p:spPr>
          <a:xfrm>
            <a:off x="6472265" y="2975372"/>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Scanner(System.in);</a:t>
            </a:r>
            <a:endParaRPr lang="en-US" sz="788" dirty="0"/>
          </a:p>
        </p:txBody>
      </p:sp>
      <p:sp>
        <p:nvSpPr>
          <p:cNvPr id="146" name="Text 143"/>
          <p:cNvSpPr/>
          <p:nvPr/>
        </p:nvSpPr>
        <p:spPr>
          <a:xfrm>
            <a:off x="5212091" y="31182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147" name="Text 144"/>
          <p:cNvSpPr/>
          <p:nvPr/>
        </p:nvSpPr>
        <p:spPr>
          <a:xfrm>
            <a:off x="5632149" y="3118247"/>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running = true;</a:t>
            </a:r>
            <a:endParaRPr lang="en-US" sz="788" dirty="0"/>
          </a:p>
        </p:txBody>
      </p:sp>
      <p:sp>
        <p:nvSpPr>
          <p:cNvPr id="148" name="Text 145"/>
          <p:cNvSpPr/>
          <p:nvPr/>
        </p:nvSpPr>
        <p:spPr>
          <a:xfrm>
            <a:off x="5212091" y="340399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149" name="Text 146"/>
          <p:cNvSpPr/>
          <p:nvPr/>
        </p:nvSpPr>
        <p:spPr>
          <a:xfrm>
            <a:off x="5512129" y="3403997"/>
            <a:ext cx="79153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(running) {</a:t>
            </a:r>
            <a:endParaRPr lang="en-US" sz="788" dirty="0"/>
          </a:p>
        </p:txBody>
      </p:sp>
      <p:sp>
        <p:nvSpPr>
          <p:cNvPr id="150" name="Text 147"/>
          <p:cNvSpPr/>
          <p:nvPr/>
        </p:nvSpPr>
        <p:spPr>
          <a:xfrm>
            <a:off x="4972050" y="3546872"/>
            <a:ext cx="289179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System.out.println("\nCalculator Menu:");</a:t>
            </a:r>
            <a:endParaRPr lang="en-US" sz="788" dirty="0"/>
          </a:p>
        </p:txBody>
      </p:sp>
      <p:sp>
        <p:nvSpPr>
          <p:cNvPr id="151" name="Text 148"/>
          <p:cNvSpPr/>
          <p:nvPr/>
        </p:nvSpPr>
        <p:spPr>
          <a:xfrm>
            <a:off x="4972050" y="3689747"/>
            <a:ext cx="217170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System.out.println("1. Add");</a:t>
            </a:r>
            <a:endParaRPr lang="en-US" sz="788" dirty="0"/>
          </a:p>
        </p:txBody>
      </p:sp>
      <p:sp>
        <p:nvSpPr>
          <p:cNvPr id="152" name="Text 149"/>
          <p:cNvSpPr/>
          <p:nvPr/>
        </p:nvSpPr>
        <p:spPr>
          <a:xfrm>
            <a:off x="4972050" y="3832622"/>
            <a:ext cx="247173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System.out.println("2. Subtract");</a:t>
            </a:r>
            <a:endParaRPr lang="en-US" sz="788" dirty="0"/>
          </a:p>
        </p:txBody>
      </p:sp>
      <p:sp>
        <p:nvSpPr>
          <p:cNvPr id="153" name="Text 150"/>
          <p:cNvSpPr/>
          <p:nvPr/>
        </p:nvSpPr>
        <p:spPr>
          <a:xfrm>
            <a:off x="4972050" y="3975497"/>
            <a:ext cx="247173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System.out.println("3. Multiply");</a:t>
            </a:r>
            <a:endParaRPr lang="en-US" sz="788" dirty="0"/>
          </a:p>
        </p:txBody>
      </p:sp>
      <p:sp>
        <p:nvSpPr>
          <p:cNvPr id="154" name="Text 151"/>
          <p:cNvSpPr/>
          <p:nvPr/>
        </p:nvSpPr>
        <p:spPr>
          <a:xfrm>
            <a:off x="4972050" y="4118372"/>
            <a:ext cx="235174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System.out.println("4. Divide");</a:t>
            </a:r>
            <a:endParaRPr lang="en-US" sz="788" dirty="0"/>
          </a:p>
        </p:txBody>
      </p:sp>
      <p:sp>
        <p:nvSpPr>
          <p:cNvPr id="155" name="Text 152"/>
          <p:cNvSpPr/>
          <p:nvPr/>
        </p:nvSpPr>
        <p:spPr>
          <a:xfrm>
            <a:off x="4972050" y="4261247"/>
            <a:ext cx="2231724"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System.out.println("0. Exit");</a:t>
            </a:r>
            <a:endParaRPr lang="en-US" sz="788" dirty="0"/>
          </a:p>
        </p:txBody>
      </p:sp>
      <p:sp>
        <p:nvSpPr>
          <p:cNvPr id="156" name="Text 153"/>
          <p:cNvSpPr/>
          <p:nvPr/>
        </p:nvSpPr>
        <p:spPr>
          <a:xfrm>
            <a:off x="4972050" y="4404122"/>
            <a:ext cx="283179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System.out.print("Enter your choice: ");</a:t>
            </a:r>
            <a:endParaRPr lang="en-US" sz="788" dirty="0"/>
          </a:p>
        </p:txBody>
      </p:sp>
      <p:sp>
        <p:nvSpPr>
          <p:cNvPr id="157" name="Text 154"/>
          <p:cNvSpPr/>
          <p:nvPr/>
        </p:nvSpPr>
        <p:spPr>
          <a:xfrm>
            <a:off x="5332112" y="4689872"/>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158" name="Text 155"/>
          <p:cNvSpPr/>
          <p:nvPr/>
        </p:nvSpPr>
        <p:spPr>
          <a:xfrm>
            <a:off x="5512157" y="4689872"/>
            <a:ext cx="1751670"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choice = scanner.nextInt();</a:t>
            </a:r>
            <a:endParaRPr lang="en-US" sz="788" dirty="0"/>
          </a:p>
        </p:txBody>
      </p:sp>
      <p:sp>
        <p:nvSpPr>
          <p:cNvPr id="159" name="Text 156"/>
          <p:cNvSpPr/>
          <p:nvPr/>
        </p:nvSpPr>
        <p:spPr>
          <a:xfrm>
            <a:off x="5332112" y="4975622"/>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160" name="Text 157"/>
          <p:cNvSpPr/>
          <p:nvPr/>
        </p:nvSpPr>
        <p:spPr>
          <a:xfrm>
            <a:off x="5452132" y="4975622"/>
            <a:ext cx="103157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(choice == 0) {</a:t>
            </a:r>
            <a:endParaRPr lang="en-US" sz="788" dirty="0"/>
          </a:p>
        </p:txBody>
      </p:sp>
      <p:sp>
        <p:nvSpPr>
          <p:cNvPr id="161" name="Text 158"/>
          <p:cNvSpPr/>
          <p:nvPr/>
        </p:nvSpPr>
        <p:spPr>
          <a:xfrm>
            <a:off x="4972050" y="5118497"/>
            <a:ext cx="157162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running = false;</a:t>
            </a:r>
            <a:endParaRPr lang="en-US" sz="788" dirty="0"/>
          </a:p>
        </p:txBody>
      </p:sp>
      <p:sp>
        <p:nvSpPr>
          <p:cNvPr id="162" name="Text 159"/>
          <p:cNvSpPr/>
          <p:nvPr/>
        </p:nvSpPr>
        <p:spPr>
          <a:xfrm>
            <a:off x="6472238" y="5118497"/>
            <a:ext cx="1511629"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Set flag to exit loop</a:t>
            </a:r>
            <a:endParaRPr lang="en-US" sz="788" dirty="0"/>
          </a:p>
        </p:txBody>
      </p:sp>
      <p:sp>
        <p:nvSpPr>
          <p:cNvPr id="163" name="Text 160"/>
          <p:cNvSpPr/>
          <p:nvPr/>
        </p:nvSpPr>
        <p:spPr>
          <a:xfrm>
            <a:off x="4972050" y="5261372"/>
            <a:ext cx="3191833"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System.out.println("Exiting calculator...");</a:t>
            </a:r>
            <a:endParaRPr lang="en-US" sz="788" dirty="0"/>
          </a:p>
        </p:txBody>
      </p:sp>
      <p:sp>
        <p:nvSpPr>
          <p:cNvPr id="164" name="Text 161"/>
          <p:cNvSpPr/>
          <p:nvPr/>
        </p:nvSpPr>
        <p:spPr>
          <a:xfrm>
            <a:off x="4972050" y="5404247"/>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65" name="Text 162"/>
          <p:cNvSpPr/>
          <p:nvPr/>
        </p:nvSpPr>
        <p:spPr>
          <a:xfrm>
            <a:off x="5452132" y="5404247"/>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 if</a:t>
            </a:r>
            <a:endParaRPr lang="en-US" sz="788" dirty="0"/>
          </a:p>
        </p:txBody>
      </p:sp>
      <p:sp>
        <p:nvSpPr>
          <p:cNvPr id="166" name="Text 163"/>
          <p:cNvSpPr/>
          <p:nvPr/>
        </p:nvSpPr>
        <p:spPr>
          <a:xfrm>
            <a:off x="5872190" y="5404247"/>
            <a:ext cx="1931687"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(choice &gt;= 1 &amp;&amp; choice &lt;= 4) {</a:t>
            </a:r>
            <a:endParaRPr lang="en-US" sz="788" dirty="0"/>
          </a:p>
        </p:txBody>
      </p:sp>
      <p:sp>
        <p:nvSpPr>
          <p:cNvPr id="167" name="Text 164"/>
          <p:cNvSpPr/>
          <p:nvPr/>
        </p:nvSpPr>
        <p:spPr>
          <a:xfrm>
            <a:off x="4972050" y="5547122"/>
            <a:ext cx="301181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System.out.print("Enter first number: ");</a:t>
            </a:r>
            <a:endParaRPr lang="en-US" sz="788" dirty="0"/>
          </a:p>
        </p:txBody>
      </p:sp>
      <p:sp>
        <p:nvSpPr>
          <p:cNvPr id="168" name="Text 165"/>
          <p:cNvSpPr/>
          <p:nvPr/>
        </p:nvSpPr>
        <p:spPr>
          <a:xfrm>
            <a:off x="5452132" y="56899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double</a:t>
            </a:r>
            <a:endParaRPr lang="en-US" sz="788" dirty="0"/>
          </a:p>
        </p:txBody>
      </p:sp>
      <p:sp>
        <p:nvSpPr>
          <p:cNvPr id="169" name="Text 166"/>
          <p:cNvSpPr/>
          <p:nvPr/>
        </p:nvSpPr>
        <p:spPr>
          <a:xfrm>
            <a:off x="5812194" y="5689997"/>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num1 = scanner.nextDouble();</a:t>
            </a:r>
            <a:endParaRPr lang="en-US" sz="788" dirty="0"/>
          </a:p>
        </p:txBody>
      </p:sp>
      <p:sp>
        <p:nvSpPr>
          <p:cNvPr id="170" name="Text 167"/>
          <p:cNvSpPr/>
          <p:nvPr/>
        </p:nvSpPr>
        <p:spPr>
          <a:xfrm>
            <a:off x="4972050" y="5832872"/>
            <a:ext cx="3071813"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System.out.print("Enter second number: ");</a:t>
            </a:r>
            <a:endParaRPr lang="en-US" sz="788" dirty="0"/>
          </a:p>
        </p:txBody>
      </p:sp>
      <p:sp>
        <p:nvSpPr>
          <p:cNvPr id="171" name="Text 168"/>
          <p:cNvSpPr/>
          <p:nvPr/>
        </p:nvSpPr>
        <p:spPr>
          <a:xfrm>
            <a:off x="5452132" y="597574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double</a:t>
            </a:r>
            <a:endParaRPr lang="en-US" sz="788" dirty="0"/>
          </a:p>
        </p:txBody>
      </p:sp>
      <p:sp>
        <p:nvSpPr>
          <p:cNvPr id="172" name="Text 169"/>
          <p:cNvSpPr/>
          <p:nvPr/>
        </p:nvSpPr>
        <p:spPr>
          <a:xfrm>
            <a:off x="5812194" y="5975747"/>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num2 = scanner.nextDouble();</a:t>
            </a:r>
            <a:endParaRPr lang="en-US" sz="788" dirty="0"/>
          </a:p>
        </p:txBody>
      </p:sp>
      <p:sp>
        <p:nvSpPr>
          <p:cNvPr id="173" name="Text 170"/>
          <p:cNvSpPr/>
          <p:nvPr/>
        </p:nvSpPr>
        <p:spPr>
          <a:xfrm>
            <a:off x="5452132" y="6261497"/>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switch</a:t>
            </a:r>
            <a:endParaRPr lang="en-US" sz="788" dirty="0"/>
          </a:p>
        </p:txBody>
      </p:sp>
      <p:sp>
        <p:nvSpPr>
          <p:cNvPr id="174" name="Text 171"/>
          <p:cNvSpPr/>
          <p:nvPr/>
        </p:nvSpPr>
        <p:spPr>
          <a:xfrm>
            <a:off x="5812194" y="6261497"/>
            <a:ext cx="731537"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(choice) {</a:t>
            </a:r>
            <a:endParaRPr lang="en-US" sz="788" dirty="0"/>
          </a:p>
        </p:txBody>
      </p:sp>
      <p:sp>
        <p:nvSpPr>
          <p:cNvPr id="175" name="Text 172"/>
          <p:cNvSpPr/>
          <p:nvPr/>
        </p:nvSpPr>
        <p:spPr>
          <a:xfrm>
            <a:off x="5572125" y="6404372"/>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case</a:t>
            </a:r>
            <a:endParaRPr lang="en-US" sz="788" dirty="0"/>
          </a:p>
        </p:txBody>
      </p:sp>
      <p:sp>
        <p:nvSpPr>
          <p:cNvPr id="176" name="Text 173"/>
          <p:cNvSpPr/>
          <p:nvPr/>
        </p:nvSpPr>
        <p:spPr>
          <a:xfrm>
            <a:off x="5812166" y="640437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1:</a:t>
            </a:r>
            <a:endParaRPr lang="en-US" sz="788" dirty="0"/>
          </a:p>
        </p:txBody>
      </p:sp>
      <p:sp>
        <p:nvSpPr>
          <p:cNvPr id="177" name="Text 174"/>
          <p:cNvSpPr/>
          <p:nvPr/>
        </p:nvSpPr>
        <p:spPr>
          <a:xfrm>
            <a:off x="4972050" y="6547247"/>
            <a:ext cx="3131837"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System.out.println("Result: " + (num1 + num2));</a:t>
            </a:r>
            <a:endParaRPr lang="en-US" sz="788" dirty="0"/>
          </a:p>
        </p:txBody>
      </p:sp>
      <p:sp>
        <p:nvSpPr>
          <p:cNvPr id="178" name="Text 175"/>
          <p:cNvSpPr/>
          <p:nvPr/>
        </p:nvSpPr>
        <p:spPr>
          <a:xfrm>
            <a:off x="5692146" y="683299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break</a:t>
            </a:r>
            <a:endParaRPr lang="en-US" sz="788" dirty="0"/>
          </a:p>
        </p:txBody>
      </p:sp>
      <p:sp>
        <p:nvSpPr>
          <p:cNvPr id="179" name="Text 176"/>
          <p:cNvSpPr/>
          <p:nvPr/>
        </p:nvSpPr>
        <p:spPr>
          <a:xfrm>
            <a:off x="5992183" y="68329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0" name="Text 177"/>
          <p:cNvSpPr/>
          <p:nvPr/>
        </p:nvSpPr>
        <p:spPr>
          <a:xfrm>
            <a:off x="5572125" y="6975872"/>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case</a:t>
            </a:r>
            <a:endParaRPr lang="en-US" sz="788" dirty="0"/>
          </a:p>
        </p:txBody>
      </p:sp>
      <p:sp>
        <p:nvSpPr>
          <p:cNvPr id="181" name="Text 178"/>
          <p:cNvSpPr/>
          <p:nvPr/>
        </p:nvSpPr>
        <p:spPr>
          <a:xfrm>
            <a:off x="5812166" y="697587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2:</a:t>
            </a:r>
            <a:endParaRPr lang="en-US" sz="788" dirty="0"/>
          </a:p>
        </p:txBody>
      </p:sp>
      <p:sp>
        <p:nvSpPr>
          <p:cNvPr id="182" name="Text 179"/>
          <p:cNvSpPr/>
          <p:nvPr/>
        </p:nvSpPr>
        <p:spPr>
          <a:xfrm>
            <a:off x="4972050" y="7118747"/>
            <a:ext cx="3131837"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System.out.println("Result: " + (num1 - num2));</a:t>
            </a:r>
            <a:endParaRPr lang="en-US" sz="788" dirty="0"/>
          </a:p>
        </p:txBody>
      </p:sp>
      <p:sp>
        <p:nvSpPr>
          <p:cNvPr id="183" name="Text 180"/>
          <p:cNvSpPr/>
          <p:nvPr/>
        </p:nvSpPr>
        <p:spPr>
          <a:xfrm>
            <a:off x="5692146" y="7404497"/>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break</a:t>
            </a:r>
            <a:endParaRPr lang="en-US" sz="788" dirty="0"/>
          </a:p>
        </p:txBody>
      </p:sp>
      <p:sp>
        <p:nvSpPr>
          <p:cNvPr id="184" name="Text 181"/>
          <p:cNvSpPr/>
          <p:nvPr/>
        </p:nvSpPr>
        <p:spPr>
          <a:xfrm>
            <a:off x="5992183" y="74044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5" name="Text 182"/>
          <p:cNvSpPr/>
          <p:nvPr/>
        </p:nvSpPr>
        <p:spPr>
          <a:xfrm>
            <a:off x="5572125" y="7547372"/>
            <a:ext cx="2231724" cy="135731"/>
          </a:xfrm>
          <a:prstGeom prst="rect">
            <a:avLst/>
          </a:prstGeom>
          <a:noFill/>
          <a:ln/>
        </p:spPr>
        <p:txBody>
          <a:bodyPr wrap="squar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Cases 3 and 4 omitted for brevity</a:t>
            </a:r>
            <a:endParaRPr lang="en-US" sz="788" dirty="0"/>
          </a:p>
        </p:txBody>
      </p:sp>
      <p:sp>
        <p:nvSpPr>
          <p:cNvPr id="186" name="Text 183"/>
          <p:cNvSpPr/>
          <p:nvPr/>
        </p:nvSpPr>
        <p:spPr>
          <a:xfrm>
            <a:off x="4972050" y="7690247"/>
            <a:ext cx="61151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7" name="Text 184"/>
          <p:cNvSpPr/>
          <p:nvPr/>
        </p:nvSpPr>
        <p:spPr>
          <a:xfrm>
            <a:off x="4972050" y="7833122"/>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88" name="Text 185"/>
          <p:cNvSpPr/>
          <p:nvPr/>
        </p:nvSpPr>
        <p:spPr>
          <a:xfrm>
            <a:off x="5452132" y="7833122"/>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189" name="Text 186"/>
          <p:cNvSpPr/>
          <p:nvPr/>
        </p:nvSpPr>
        <p:spPr>
          <a:xfrm>
            <a:off x="5692173" y="7833122"/>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90" name="Text 187"/>
          <p:cNvSpPr/>
          <p:nvPr/>
        </p:nvSpPr>
        <p:spPr>
          <a:xfrm>
            <a:off x="4972050" y="7975997"/>
            <a:ext cx="283179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System.out.println("Invalid choice!");</a:t>
            </a:r>
            <a:endParaRPr lang="en-US" sz="788" dirty="0"/>
          </a:p>
        </p:txBody>
      </p:sp>
      <p:sp>
        <p:nvSpPr>
          <p:cNvPr id="191" name="Text 188"/>
          <p:cNvSpPr/>
          <p:nvPr/>
        </p:nvSpPr>
        <p:spPr>
          <a:xfrm>
            <a:off x="4972050" y="8118872"/>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92" name="Text 189"/>
          <p:cNvSpPr/>
          <p:nvPr/>
        </p:nvSpPr>
        <p:spPr>
          <a:xfrm>
            <a:off x="4972050" y="8261747"/>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93" name="Text 190"/>
          <p:cNvSpPr/>
          <p:nvPr/>
        </p:nvSpPr>
        <p:spPr>
          <a:xfrm>
            <a:off x="4972050" y="8404622"/>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94" name="Text 191"/>
          <p:cNvSpPr/>
          <p:nvPr/>
        </p:nvSpPr>
        <p:spPr>
          <a:xfrm>
            <a:off x="4972050" y="8547497"/>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195" name="Shape 192"/>
          <p:cNvSpPr/>
          <p:nvPr/>
        </p:nvSpPr>
        <p:spPr>
          <a:xfrm>
            <a:off x="4857750" y="8915400"/>
            <a:ext cx="3657600" cy="1157288"/>
          </a:xfrm>
          <a:prstGeom prst="rect">
            <a:avLst/>
          </a:prstGeom>
          <a:solidFill>
            <a:srgbClr val="1E3A8A">
              <a:alpha val="30000"/>
            </a:srgbClr>
          </a:solidFill>
          <a:ln/>
        </p:spPr>
        <p:txBody>
          <a:bodyPr/>
          <a:lstStyle/>
          <a:p>
            <a:endParaRPr lang="en-US"/>
          </a:p>
        </p:txBody>
      </p:sp>
      <p:sp>
        <p:nvSpPr>
          <p:cNvPr id="196" name="Text 193"/>
          <p:cNvSpPr/>
          <p:nvPr/>
        </p:nvSpPr>
        <p:spPr>
          <a:xfrm>
            <a:off x="4972050" y="9029700"/>
            <a:ext cx="35004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Key Points</a:t>
            </a:r>
            <a:endParaRPr lang="en-US" sz="1013" dirty="0"/>
          </a:p>
        </p:txBody>
      </p:sp>
      <p:sp>
        <p:nvSpPr>
          <p:cNvPr id="197" name="Text 194"/>
          <p:cNvSpPr/>
          <p:nvPr/>
        </p:nvSpPr>
        <p:spPr>
          <a:xfrm>
            <a:off x="4972050" y="9301163"/>
            <a:ext cx="929162"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Flag initialized as</a:t>
            </a:r>
            <a:endParaRPr lang="en-US" sz="788" dirty="0"/>
          </a:p>
        </p:txBody>
      </p:sp>
      <p:sp>
        <p:nvSpPr>
          <p:cNvPr id="198" name="Text 195"/>
          <p:cNvSpPr/>
          <p:nvPr/>
        </p:nvSpPr>
        <p:spPr>
          <a:xfrm>
            <a:off x="5829774" y="9308306"/>
            <a:ext cx="311507" cy="114300"/>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ui-monospace" pitchFamily="34" charset="0"/>
                <a:ea typeface="ui-monospace" pitchFamily="34" charset="-122"/>
                <a:cs typeface="ui-monospace" pitchFamily="34" charset="-120"/>
              </a:rPr>
              <a:t>true</a:t>
            </a:r>
            <a:endParaRPr lang="en-US" sz="788" dirty="0"/>
          </a:p>
        </p:txBody>
      </p:sp>
      <p:sp>
        <p:nvSpPr>
          <p:cNvPr id="199" name="Text 196"/>
          <p:cNvSpPr/>
          <p:nvPr/>
        </p:nvSpPr>
        <p:spPr>
          <a:xfrm>
            <a:off x="6069843" y="9301163"/>
            <a:ext cx="822089"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to enter the loop</a:t>
            </a:r>
            <a:endParaRPr lang="en-US" sz="788" dirty="0"/>
          </a:p>
        </p:txBody>
      </p:sp>
      <p:sp>
        <p:nvSpPr>
          <p:cNvPr id="200" name="Text 197"/>
          <p:cNvSpPr/>
          <p:nvPr/>
        </p:nvSpPr>
        <p:spPr>
          <a:xfrm>
            <a:off x="4972050" y="9465469"/>
            <a:ext cx="35004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Loop continues until user selects exit option</a:t>
            </a:r>
            <a:endParaRPr lang="en-US" sz="788" dirty="0"/>
          </a:p>
        </p:txBody>
      </p:sp>
      <p:sp>
        <p:nvSpPr>
          <p:cNvPr id="201" name="Text 198"/>
          <p:cNvSpPr/>
          <p:nvPr/>
        </p:nvSpPr>
        <p:spPr>
          <a:xfrm>
            <a:off x="4972050" y="9651206"/>
            <a:ext cx="728997" cy="112514"/>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Flag is set to</a:t>
            </a:r>
            <a:endParaRPr lang="en-US" sz="788" dirty="0"/>
          </a:p>
        </p:txBody>
      </p:sp>
      <p:sp>
        <p:nvSpPr>
          <p:cNvPr id="202" name="Text 199"/>
          <p:cNvSpPr/>
          <p:nvPr/>
        </p:nvSpPr>
        <p:spPr>
          <a:xfrm>
            <a:off x="5629610" y="9658350"/>
            <a:ext cx="371531" cy="114300"/>
          </a:xfrm>
          <a:prstGeom prst="rect">
            <a:avLst/>
          </a:prstGeom>
          <a:noFill/>
          <a:ln/>
        </p:spPr>
        <p:txBody>
          <a:bodyPr wrap="none" lIns="0" tIns="0" rIns="0" bIns="0" rtlCol="0" anchor="ctr">
            <a:spAutoFit/>
          </a:bodyPr>
          <a:lstStyle/>
          <a:p>
            <a:pPr marL="0" indent="0" algn="l">
              <a:buNone/>
            </a:pPr>
            <a:r>
              <a:rPr lang="en-US" sz="788" dirty="0">
                <a:solidFill>
                  <a:srgbClr val="E2E8F0"/>
                </a:solidFill>
                <a:latin typeface="ui-monospace" pitchFamily="34" charset="0"/>
                <a:ea typeface="ui-monospace" pitchFamily="34" charset="-122"/>
                <a:cs typeface="ui-monospace" pitchFamily="34" charset="-120"/>
              </a:rPr>
              <a:t>false</a:t>
            </a:r>
            <a:endParaRPr lang="en-US" sz="788" dirty="0"/>
          </a:p>
        </p:txBody>
      </p:sp>
      <p:sp>
        <p:nvSpPr>
          <p:cNvPr id="203" name="Text 200"/>
          <p:cNvSpPr/>
          <p:nvPr/>
        </p:nvSpPr>
        <p:spPr>
          <a:xfrm>
            <a:off x="5929703" y="9651206"/>
            <a:ext cx="1483584" cy="112514"/>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only when exit option is chosen</a:t>
            </a:r>
            <a:endParaRPr lang="en-US" sz="788" dirty="0"/>
          </a:p>
        </p:txBody>
      </p:sp>
      <p:sp>
        <p:nvSpPr>
          <p:cNvPr id="204" name="Text 201"/>
          <p:cNvSpPr/>
          <p:nvPr/>
        </p:nvSpPr>
        <p:spPr>
          <a:xfrm>
            <a:off x="4972050" y="9815513"/>
            <a:ext cx="35004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 Program performs different operations based on user choice</a:t>
            </a:r>
            <a:endParaRPr lang="en-US" sz="788" dirty="0"/>
          </a:p>
        </p:txBody>
      </p:sp>
      <p:sp>
        <p:nvSpPr>
          <p:cNvPr id="205" name="Shape 202"/>
          <p:cNvSpPr/>
          <p:nvPr/>
        </p:nvSpPr>
        <p:spPr>
          <a:xfrm>
            <a:off x="4686300" y="10415588"/>
            <a:ext cx="4000500" cy="105013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06" name="Text 203"/>
          <p:cNvSpPr/>
          <p:nvPr/>
        </p:nvSpPr>
        <p:spPr>
          <a:xfrm>
            <a:off x="4857750" y="10587038"/>
            <a:ext cx="3729038" cy="4572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Example 4: Game Loop with Multiple Exit Conditions</a:t>
            </a:r>
            <a:endParaRPr lang="en-US" sz="1350" dirty="0"/>
          </a:p>
        </p:txBody>
      </p:sp>
      <p:sp>
        <p:nvSpPr>
          <p:cNvPr id="207" name="Shape 204"/>
          <p:cNvSpPr/>
          <p:nvPr/>
        </p:nvSpPr>
        <p:spPr>
          <a:xfrm>
            <a:off x="4857750" y="11158538"/>
            <a:ext cx="3657600" cy="685800"/>
          </a:xfrm>
          <a:prstGeom prst="rect">
            <a:avLst/>
          </a:prstGeom>
          <a:solidFill>
            <a:srgbClr val="1E3A8A">
              <a:alpha val="30000"/>
            </a:srgbClr>
          </a:solidFill>
          <a:ln/>
        </p:spPr>
        <p:txBody>
          <a:bodyPr/>
          <a:lstStyle/>
          <a:p>
            <a:endParaRPr lang="en-US"/>
          </a:p>
        </p:txBody>
      </p:sp>
      <p:sp>
        <p:nvSpPr>
          <p:cNvPr id="208" name="Shape 205"/>
          <p:cNvSpPr/>
          <p:nvPr/>
        </p:nvSpPr>
        <p:spPr>
          <a:xfrm>
            <a:off x="4857750" y="11158538"/>
            <a:ext cx="28575" cy="685800"/>
          </a:xfrm>
          <a:prstGeom prst="rect">
            <a:avLst/>
          </a:prstGeom>
          <a:solidFill>
            <a:srgbClr val="63B3ED"/>
          </a:solidFill>
          <a:ln/>
        </p:spPr>
        <p:txBody>
          <a:bodyPr/>
          <a:lstStyle/>
          <a:p>
            <a:endParaRPr lang="en-US"/>
          </a:p>
        </p:txBody>
      </p:sp>
      <p:sp>
        <p:nvSpPr>
          <p:cNvPr id="209" name="Text 206"/>
          <p:cNvSpPr/>
          <p:nvPr/>
        </p:nvSpPr>
        <p:spPr>
          <a:xfrm>
            <a:off x="4972050" y="11244263"/>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Problem</a:t>
            </a:r>
            <a:endParaRPr lang="en-US" sz="1125" dirty="0"/>
          </a:p>
        </p:txBody>
      </p:sp>
      <p:sp>
        <p:nvSpPr>
          <p:cNvPr id="210" name="Text 207"/>
          <p:cNvSpPr/>
          <p:nvPr/>
        </p:nvSpPr>
        <p:spPr>
          <a:xfrm>
            <a:off x="4972050" y="11472863"/>
            <a:ext cx="3614738" cy="28575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Implement a simple number guessing game that ends when the player guesses correctly, runs out of attempts, or chooses to quit.</a:t>
            </a:r>
            <a:endParaRPr lang="en-US" sz="788" dirty="0"/>
          </a:p>
        </p:txBody>
      </p:sp>
      <p:sp>
        <p:nvSpPr>
          <p:cNvPr id="211" name="Shape 208"/>
          <p:cNvSpPr/>
          <p:nvPr/>
        </p:nvSpPr>
        <p:spPr>
          <a:xfrm>
            <a:off x="4857750" y="11958638"/>
            <a:ext cx="3657600" cy="7658100"/>
          </a:xfrm>
          <a:prstGeom prst="rect">
            <a:avLst/>
          </a:prstGeom>
          <a:solidFill>
            <a:srgbClr val="1A202C"/>
          </a:solidFill>
          <a:ln/>
        </p:spPr>
        <p:txBody>
          <a:bodyPr/>
          <a:lstStyle/>
          <a:p>
            <a:endParaRPr lang="en-US"/>
          </a:p>
        </p:txBody>
      </p:sp>
      <p:sp>
        <p:nvSpPr>
          <p:cNvPr id="212" name="Text 209"/>
          <p:cNvSpPr/>
          <p:nvPr/>
        </p:nvSpPr>
        <p:spPr>
          <a:xfrm>
            <a:off x="4972050" y="12076509"/>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import</a:t>
            </a:r>
            <a:endParaRPr lang="en-US" sz="788" dirty="0"/>
          </a:p>
        </p:txBody>
      </p:sp>
      <p:sp>
        <p:nvSpPr>
          <p:cNvPr id="213" name="Text 210"/>
          <p:cNvSpPr/>
          <p:nvPr/>
        </p:nvSpPr>
        <p:spPr>
          <a:xfrm>
            <a:off x="5332112" y="12076509"/>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java.util.Scanner;</a:t>
            </a:r>
            <a:endParaRPr lang="en-US" sz="788" dirty="0"/>
          </a:p>
        </p:txBody>
      </p:sp>
      <p:sp>
        <p:nvSpPr>
          <p:cNvPr id="214" name="Text 211"/>
          <p:cNvSpPr/>
          <p:nvPr/>
        </p:nvSpPr>
        <p:spPr>
          <a:xfrm>
            <a:off x="4972050" y="12219384"/>
            <a:ext cx="43149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import</a:t>
            </a:r>
            <a:endParaRPr lang="en-US" sz="788" dirty="0"/>
          </a:p>
        </p:txBody>
      </p:sp>
      <p:sp>
        <p:nvSpPr>
          <p:cNvPr id="215" name="Text 212"/>
          <p:cNvSpPr/>
          <p:nvPr/>
        </p:nvSpPr>
        <p:spPr>
          <a:xfrm>
            <a:off x="5332112" y="12219384"/>
            <a:ext cx="115159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java.util.Random;</a:t>
            </a:r>
            <a:endParaRPr lang="en-US" sz="788" dirty="0"/>
          </a:p>
        </p:txBody>
      </p:sp>
      <p:sp>
        <p:nvSpPr>
          <p:cNvPr id="216" name="Text 213"/>
          <p:cNvSpPr/>
          <p:nvPr/>
        </p:nvSpPr>
        <p:spPr>
          <a:xfrm>
            <a:off x="4972050" y="12505134"/>
            <a:ext cx="791533"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class</a:t>
            </a:r>
            <a:endParaRPr lang="en-US" sz="788" dirty="0"/>
          </a:p>
        </p:txBody>
      </p:sp>
      <p:sp>
        <p:nvSpPr>
          <p:cNvPr id="217" name="Text 214"/>
          <p:cNvSpPr/>
          <p:nvPr/>
        </p:nvSpPr>
        <p:spPr>
          <a:xfrm>
            <a:off x="5692146" y="12505134"/>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GuessingGame {</a:t>
            </a:r>
            <a:endParaRPr lang="en-US" sz="788" dirty="0"/>
          </a:p>
        </p:txBody>
      </p:sp>
      <p:sp>
        <p:nvSpPr>
          <p:cNvPr id="218" name="Text 215"/>
          <p:cNvSpPr/>
          <p:nvPr/>
        </p:nvSpPr>
        <p:spPr>
          <a:xfrm>
            <a:off x="5092071" y="12648009"/>
            <a:ext cx="115159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public static void</a:t>
            </a:r>
            <a:endParaRPr lang="en-US" sz="788" dirty="0"/>
          </a:p>
        </p:txBody>
      </p:sp>
      <p:sp>
        <p:nvSpPr>
          <p:cNvPr id="219" name="Text 216"/>
          <p:cNvSpPr/>
          <p:nvPr/>
        </p:nvSpPr>
        <p:spPr>
          <a:xfrm>
            <a:off x="6172228" y="12648009"/>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main(String[] args) {</a:t>
            </a:r>
            <a:endParaRPr lang="en-US" sz="788" dirty="0"/>
          </a:p>
        </p:txBody>
      </p:sp>
      <p:sp>
        <p:nvSpPr>
          <p:cNvPr id="220" name="Text 217"/>
          <p:cNvSpPr/>
          <p:nvPr/>
        </p:nvSpPr>
        <p:spPr>
          <a:xfrm>
            <a:off x="4972050" y="12790884"/>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 scanner =</a:t>
            </a:r>
            <a:endParaRPr lang="en-US" sz="788" dirty="0"/>
          </a:p>
        </p:txBody>
      </p:sp>
      <p:sp>
        <p:nvSpPr>
          <p:cNvPr id="221" name="Text 218"/>
          <p:cNvSpPr/>
          <p:nvPr/>
        </p:nvSpPr>
        <p:spPr>
          <a:xfrm>
            <a:off x="6292221" y="1279088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new</a:t>
            </a:r>
            <a:endParaRPr lang="en-US" sz="788" dirty="0"/>
          </a:p>
        </p:txBody>
      </p:sp>
      <p:sp>
        <p:nvSpPr>
          <p:cNvPr id="222" name="Text 219"/>
          <p:cNvSpPr/>
          <p:nvPr/>
        </p:nvSpPr>
        <p:spPr>
          <a:xfrm>
            <a:off x="6472265" y="12790884"/>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Scanner(System.in);</a:t>
            </a:r>
            <a:endParaRPr lang="en-US" sz="788" dirty="0"/>
          </a:p>
        </p:txBody>
      </p:sp>
      <p:sp>
        <p:nvSpPr>
          <p:cNvPr id="223" name="Text 220"/>
          <p:cNvSpPr/>
          <p:nvPr/>
        </p:nvSpPr>
        <p:spPr>
          <a:xfrm>
            <a:off x="4972050" y="12933759"/>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Random random =</a:t>
            </a:r>
            <a:endParaRPr lang="en-US" sz="788" dirty="0"/>
          </a:p>
        </p:txBody>
      </p:sp>
      <p:sp>
        <p:nvSpPr>
          <p:cNvPr id="224" name="Text 221"/>
          <p:cNvSpPr/>
          <p:nvPr/>
        </p:nvSpPr>
        <p:spPr>
          <a:xfrm>
            <a:off x="6172200" y="12933759"/>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new</a:t>
            </a:r>
            <a:endParaRPr lang="en-US" sz="788" dirty="0"/>
          </a:p>
        </p:txBody>
      </p:sp>
      <p:sp>
        <p:nvSpPr>
          <p:cNvPr id="225" name="Text 222"/>
          <p:cNvSpPr/>
          <p:nvPr/>
        </p:nvSpPr>
        <p:spPr>
          <a:xfrm>
            <a:off x="6352245" y="12933759"/>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Random();</a:t>
            </a:r>
            <a:endParaRPr lang="en-US" sz="788" dirty="0"/>
          </a:p>
        </p:txBody>
      </p:sp>
      <p:sp>
        <p:nvSpPr>
          <p:cNvPr id="226" name="Text 223"/>
          <p:cNvSpPr/>
          <p:nvPr/>
        </p:nvSpPr>
        <p:spPr>
          <a:xfrm>
            <a:off x="5212091" y="13219509"/>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227" name="Text 224"/>
          <p:cNvSpPr/>
          <p:nvPr/>
        </p:nvSpPr>
        <p:spPr>
          <a:xfrm>
            <a:off x="5392136" y="13219509"/>
            <a:ext cx="247173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secretNumber = random.nextInt(100) + 1;</a:t>
            </a:r>
            <a:endParaRPr lang="en-US" sz="788" dirty="0"/>
          </a:p>
        </p:txBody>
      </p:sp>
      <p:sp>
        <p:nvSpPr>
          <p:cNvPr id="228" name="Text 225"/>
          <p:cNvSpPr/>
          <p:nvPr/>
        </p:nvSpPr>
        <p:spPr>
          <a:xfrm>
            <a:off x="5212091" y="1336238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229" name="Text 226"/>
          <p:cNvSpPr/>
          <p:nvPr/>
        </p:nvSpPr>
        <p:spPr>
          <a:xfrm>
            <a:off x="5392136" y="13362384"/>
            <a:ext cx="911554"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attempts = 0;</a:t>
            </a:r>
            <a:endParaRPr lang="en-US" sz="788" dirty="0"/>
          </a:p>
        </p:txBody>
      </p:sp>
      <p:sp>
        <p:nvSpPr>
          <p:cNvPr id="230" name="Text 227"/>
          <p:cNvSpPr/>
          <p:nvPr/>
        </p:nvSpPr>
        <p:spPr>
          <a:xfrm>
            <a:off x="5212091" y="13505259"/>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231" name="Text 228"/>
          <p:cNvSpPr/>
          <p:nvPr/>
        </p:nvSpPr>
        <p:spPr>
          <a:xfrm>
            <a:off x="5392136" y="13505259"/>
            <a:ext cx="109157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maxAttempts = 7;</a:t>
            </a:r>
            <a:endParaRPr lang="en-US" sz="788" dirty="0"/>
          </a:p>
        </p:txBody>
      </p:sp>
      <p:sp>
        <p:nvSpPr>
          <p:cNvPr id="232" name="Text 229"/>
          <p:cNvSpPr/>
          <p:nvPr/>
        </p:nvSpPr>
        <p:spPr>
          <a:xfrm>
            <a:off x="5212091" y="13648134"/>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233" name="Text 230"/>
          <p:cNvSpPr/>
          <p:nvPr/>
        </p:nvSpPr>
        <p:spPr>
          <a:xfrm>
            <a:off x="5632149" y="13648134"/>
            <a:ext cx="127158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gameRunning = true;</a:t>
            </a:r>
            <a:endParaRPr lang="en-US" sz="788" dirty="0"/>
          </a:p>
        </p:txBody>
      </p:sp>
      <p:sp>
        <p:nvSpPr>
          <p:cNvPr id="234" name="Text 231"/>
          <p:cNvSpPr/>
          <p:nvPr/>
        </p:nvSpPr>
        <p:spPr>
          <a:xfrm>
            <a:off x="5212091" y="13791009"/>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boolean</a:t>
            </a:r>
            <a:endParaRPr lang="en-US" sz="788" dirty="0"/>
          </a:p>
        </p:txBody>
      </p:sp>
      <p:sp>
        <p:nvSpPr>
          <p:cNvPr id="235" name="Text 232"/>
          <p:cNvSpPr/>
          <p:nvPr/>
        </p:nvSpPr>
        <p:spPr>
          <a:xfrm>
            <a:off x="5632149" y="13791009"/>
            <a:ext cx="1391608"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correctGuess = false;</a:t>
            </a:r>
            <a:endParaRPr lang="en-US" sz="788" dirty="0"/>
          </a:p>
        </p:txBody>
      </p:sp>
      <p:sp>
        <p:nvSpPr>
          <p:cNvPr id="236" name="Text 233"/>
          <p:cNvSpPr/>
          <p:nvPr/>
        </p:nvSpPr>
        <p:spPr>
          <a:xfrm>
            <a:off x="4972050" y="14076759"/>
            <a:ext cx="3191833"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System.out.println("Guess a number between 1 and 100");</a:t>
            </a:r>
            <a:endParaRPr lang="en-US" sz="788" dirty="0"/>
          </a:p>
        </p:txBody>
      </p:sp>
      <p:sp>
        <p:nvSpPr>
          <p:cNvPr id="237" name="Text 234"/>
          <p:cNvSpPr/>
          <p:nvPr/>
        </p:nvSpPr>
        <p:spPr>
          <a:xfrm>
            <a:off x="4972050" y="14362509"/>
            <a:ext cx="3191833"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System.out.println("You have " + maxAttempts + " attempts");</a:t>
            </a:r>
            <a:endParaRPr lang="en-US" sz="788" dirty="0"/>
          </a:p>
        </p:txBody>
      </p:sp>
      <p:sp>
        <p:nvSpPr>
          <p:cNvPr id="238" name="Text 235"/>
          <p:cNvSpPr/>
          <p:nvPr/>
        </p:nvSpPr>
        <p:spPr>
          <a:xfrm>
            <a:off x="5212091" y="14791134"/>
            <a:ext cx="371475"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while</a:t>
            </a:r>
            <a:endParaRPr lang="en-US" sz="788" dirty="0"/>
          </a:p>
        </p:txBody>
      </p:sp>
      <p:sp>
        <p:nvSpPr>
          <p:cNvPr id="239" name="Text 236"/>
          <p:cNvSpPr/>
          <p:nvPr/>
        </p:nvSpPr>
        <p:spPr>
          <a:xfrm>
            <a:off x="4972050" y="14791134"/>
            <a:ext cx="3131837"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(gameRunning &amp;&amp; attempts &lt; maxAttempts &amp;&amp; !correctGuess) {</a:t>
            </a:r>
            <a:endParaRPr lang="en-US" sz="788" dirty="0"/>
          </a:p>
        </p:txBody>
      </p:sp>
      <p:sp>
        <p:nvSpPr>
          <p:cNvPr id="240" name="Text 237"/>
          <p:cNvSpPr/>
          <p:nvPr/>
        </p:nvSpPr>
        <p:spPr>
          <a:xfrm>
            <a:off x="4972050" y="15076884"/>
            <a:ext cx="3431874"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System.out.print("Enter your guess (or 0 to quit): ");</a:t>
            </a:r>
            <a:endParaRPr lang="en-US" sz="788" dirty="0"/>
          </a:p>
        </p:txBody>
      </p:sp>
      <p:sp>
        <p:nvSpPr>
          <p:cNvPr id="241" name="Text 238"/>
          <p:cNvSpPr/>
          <p:nvPr/>
        </p:nvSpPr>
        <p:spPr>
          <a:xfrm>
            <a:off x="5332112" y="15362634"/>
            <a:ext cx="251482"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int</a:t>
            </a:r>
            <a:endParaRPr lang="en-US" sz="788" dirty="0"/>
          </a:p>
        </p:txBody>
      </p:sp>
      <p:sp>
        <p:nvSpPr>
          <p:cNvPr id="242" name="Text 239"/>
          <p:cNvSpPr/>
          <p:nvPr/>
        </p:nvSpPr>
        <p:spPr>
          <a:xfrm>
            <a:off x="5512157" y="15362634"/>
            <a:ext cx="169164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guess = scanner.nextInt();</a:t>
            </a:r>
            <a:endParaRPr lang="en-US" sz="788" dirty="0"/>
          </a:p>
        </p:txBody>
      </p:sp>
      <p:sp>
        <p:nvSpPr>
          <p:cNvPr id="243" name="Text 240"/>
          <p:cNvSpPr/>
          <p:nvPr/>
        </p:nvSpPr>
        <p:spPr>
          <a:xfrm>
            <a:off x="5332112" y="15648384"/>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44" name="Text 241"/>
          <p:cNvSpPr/>
          <p:nvPr/>
        </p:nvSpPr>
        <p:spPr>
          <a:xfrm>
            <a:off x="5452132" y="15648384"/>
            <a:ext cx="97155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(guess == 0) {</a:t>
            </a:r>
            <a:endParaRPr lang="en-US" sz="788" dirty="0"/>
          </a:p>
        </p:txBody>
      </p:sp>
      <p:sp>
        <p:nvSpPr>
          <p:cNvPr id="245" name="Text 242"/>
          <p:cNvSpPr/>
          <p:nvPr/>
        </p:nvSpPr>
        <p:spPr>
          <a:xfrm>
            <a:off x="4972050" y="15791259"/>
            <a:ext cx="1811666"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gameRunning = false;</a:t>
            </a:r>
            <a:endParaRPr lang="en-US" sz="788" dirty="0"/>
          </a:p>
        </p:txBody>
      </p:sp>
      <p:sp>
        <p:nvSpPr>
          <p:cNvPr id="246" name="Text 243"/>
          <p:cNvSpPr/>
          <p:nvPr/>
        </p:nvSpPr>
        <p:spPr>
          <a:xfrm>
            <a:off x="6712279" y="15791259"/>
            <a:ext cx="851557"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User quits</a:t>
            </a:r>
            <a:endParaRPr lang="en-US" sz="788" dirty="0"/>
          </a:p>
        </p:txBody>
      </p:sp>
      <p:sp>
        <p:nvSpPr>
          <p:cNvPr id="247" name="Text 244"/>
          <p:cNvSpPr/>
          <p:nvPr/>
        </p:nvSpPr>
        <p:spPr>
          <a:xfrm>
            <a:off x="4972050" y="15934134"/>
            <a:ext cx="3491871"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System.out.println("Game over. The number was " + secretNumber);</a:t>
            </a:r>
            <a:endParaRPr lang="en-US" sz="788" dirty="0"/>
          </a:p>
        </p:txBody>
      </p:sp>
      <p:sp>
        <p:nvSpPr>
          <p:cNvPr id="248" name="Text 245"/>
          <p:cNvSpPr/>
          <p:nvPr/>
        </p:nvSpPr>
        <p:spPr>
          <a:xfrm>
            <a:off x="4972050" y="16219884"/>
            <a:ext cx="551520"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49" name="Text 246"/>
          <p:cNvSpPr/>
          <p:nvPr/>
        </p:nvSpPr>
        <p:spPr>
          <a:xfrm>
            <a:off x="5452132" y="16219884"/>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250" name="Text 247"/>
          <p:cNvSpPr/>
          <p:nvPr/>
        </p:nvSpPr>
        <p:spPr>
          <a:xfrm>
            <a:off x="5692173" y="16219884"/>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51" name="Text 248"/>
          <p:cNvSpPr/>
          <p:nvPr/>
        </p:nvSpPr>
        <p:spPr>
          <a:xfrm>
            <a:off x="4972050" y="16362759"/>
            <a:ext cx="1211591"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attempts++;</a:t>
            </a:r>
            <a:endParaRPr lang="en-US" sz="788" dirty="0"/>
          </a:p>
        </p:txBody>
      </p:sp>
      <p:sp>
        <p:nvSpPr>
          <p:cNvPr id="252" name="Text 249"/>
          <p:cNvSpPr/>
          <p:nvPr/>
        </p:nvSpPr>
        <p:spPr>
          <a:xfrm>
            <a:off x="5452132" y="16648509"/>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53" name="Text 250"/>
          <p:cNvSpPr/>
          <p:nvPr/>
        </p:nvSpPr>
        <p:spPr>
          <a:xfrm>
            <a:off x="5572153" y="16648509"/>
            <a:ext cx="1631649"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(guess == secretNumber) {</a:t>
            </a:r>
            <a:endParaRPr lang="en-US" sz="788" dirty="0"/>
          </a:p>
        </p:txBody>
      </p:sp>
      <p:sp>
        <p:nvSpPr>
          <p:cNvPr id="254" name="Text 251"/>
          <p:cNvSpPr/>
          <p:nvPr/>
        </p:nvSpPr>
        <p:spPr>
          <a:xfrm>
            <a:off x="4972050" y="16791384"/>
            <a:ext cx="1931687"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correctGuess = true;</a:t>
            </a:r>
            <a:endParaRPr lang="en-US" sz="788" dirty="0"/>
          </a:p>
        </p:txBody>
      </p:sp>
      <p:sp>
        <p:nvSpPr>
          <p:cNvPr id="255" name="Text 252"/>
          <p:cNvSpPr/>
          <p:nvPr/>
        </p:nvSpPr>
        <p:spPr>
          <a:xfrm>
            <a:off x="6832299" y="16791384"/>
            <a:ext cx="1031574" cy="135731"/>
          </a:xfrm>
          <a:prstGeom prst="rect">
            <a:avLst/>
          </a:prstGeom>
          <a:noFill/>
          <a:ln/>
        </p:spPr>
        <p:txBody>
          <a:bodyPr wrap="none" lIns="0" tIns="0" rIns="0" bIns="0" rtlCol="0" anchor="ctr">
            <a:spAutoFit/>
          </a:bodyPr>
          <a:lstStyle/>
          <a:p>
            <a:pPr marL="0" indent="0">
              <a:buNone/>
            </a:pPr>
            <a:r>
              <a:rPr lang="en-US" sz="788" dirty="0">
                <a:solidFill>
                  <a:srgbClr val="34D399"/>
                </a:solidFill>
                <a:latin typeface="Consolas" pitchFamily="34" charset="0"/>
                <a:ea typeface="Consolas" pitchFamily="34" charset="-122"/>
                <a:cs typeface="Consolas" pitchFamily="34" charset="-120"/>
              </a:rPr>
              <a:t>// Correct guess</a:t>
            </a:r>
            <a:endParaRPr lang="en-US" sz="788" dirty="0"/>
          </a:p>
        </p:txBody>
      </p:sp>
      <p:sp>
        <p:nvSpPr>
          <p:cNvPr id="256" name="Text 253"/>
          <p:cNvSpPr/>
          <p:nvPr/>
        </p:nvSpPr>
        <p:spPr>
          <a:xfrm>
            <a:off x="4972050" y="16934259"/>
            <a:ext cx="3071813"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System.out.println("Congratulations! You guessed it in " + attempts + " attempts!");</a:t>
            </a:r>
            <a:endParaRPr lang="en-US" sz="788" dirty="0"/>
          </a:p>
        </p:txBody>
      </p:sp>
      <p:sp>
        <p:nvSpPr>
          <p:cNvPr id="257" name="Text 254"/>
          <p:cNvSpPr/>
          <p:nvPr/>
        </p:nvSpPr>
        <p:spPr>
          <a:xfrm>
            <a:off x="4972050" y="17220009"/>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58" name="Text 255"/>
          <p:cNvSpPr/>
          <p:nvPr/>
        </p:nvSpPr>
        <p:spPr>
          <a:xfrm>
            <a:off x="5572125" y="17220009"/>
            <a:ext cx="491496"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 if</a:t>
            </a:r>
            <a:endParaRPr lang="en-US" sz="788" dirty="0"/>
          </a:p>
        </p:txBody>
      </p:sp>
      <p:sp>
        <p:nvSpPr>
          <p:cNvPr id="259" name="Text 256"/>
          <p:cNvSpPr/>
          <p:nvPr/>
        </p:nvSpPr>
        <p:spPr>
          <a:xfrm>
            <a:off x="5992183" y="17220009"/>
            <a:ext cx="157162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(guess &lt; secretNumber) {</a:t>
            </a:r>
            <a:endParaRPr lang="en-US" sz="788" dirty="0"/>
          </a:p>
        </p:txBody>
      </p:sp>
      <p:sp>
        <p:nvSpPr>
          <p:cNvPr id="260" name="Text 257"/>
          <p:cNvSpPr/>
          <p:nvPr/>
        </p:nvSpPr>
        <p:spPr>
          <a:xfrm>
            <a:off x="4972050" y="17362884"/>
            <a:ext cx="3491871"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System.out.println("Too low! Attempts left: " + (maxAttempts - attempts));</a:t>
            </a:r>
            <a:endParaRPr lang="en-US" sz="788" dirty="0"/>
          </a:p>
        </p:txBody>
      </p:sp>
      <p:sp>
        <p:nvSpPr>
          <p:cNvPr id="261" name="Text 258"/>
          <p:cNvSpPr/>
          <p:nvPr/>
        </p:nvSpPr>
        <p:spPr>
          <a:xfrm>
            <a:off x="4972050" y="17648634"/>
            <a:ext cx="671513"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62" name="Text 259"/>
          <p:cNvSpPr/>
          <p:nvPr/>
        </p:nvSpPr>
        <p:spPr>
          <a:xfrm>
            <a:off x="5572125" y="17648634"/>
            <a:ext cx="311479"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else</a:t>
            </a:r>
            <a:endParaRPr lang="en-US" sz="788" dirty="0"/>
          </a:p>
        </p:txBody>
      </p:sp>
      <p:sp>
        <p:nvSpPr>
          <p:cNvPr id="263" name="Text 260"/>
          <p:cNvSpPr/>
          <p:nvPr/>
        </p:nvSpPr>
        <p:spPr>
          <a:xfrm>
            <a:off x="5812166" y="17648634"/>
            <a:ext cx="191458"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64" name="Text 261"/>
          <p:cNvSpPr/>
          <p:nvPr/>
        </p:nvSpPr>
        <p:spPr>
          <a:xfrm>
            <a:off x="4972050" y="17791509"/>
            <a:ext cx="3431874"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System.out.println("Too high! Attempts left: " + (maxAttempts - attempts));</a:t>
            </a:r>
            <a:endParaRPr lang="en-US" sz="788" dirty="0"/>
          </a:p>
        </p:txBody>
      </p:sp>
      <p:sp>
        <p:nvSpPr>
          <p:cNvPr id="265" name="Text 262"/>
          <p:cNvSpPr/>
          <p:nvPr/>
        </p:nvSpPr>
        <p:spPr>
          <a:xfrm>
            <a:off x="4972050" y="18077259"/>
            <a:ext cx="61151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66" name="Text 263"/>
          <p:cNvSpPr/>
          <p:nvPr/>
        </p:nvSpPr>
        <p:spPr>
          <a:xfrm>
            <a:off x="4972050" y="18220134"/>
            <a:ext cx="491496"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67" name="Text 264"/>
          <p:cNvSpPr/>
          <p:nvPr/>
        </p:nvSpPr>
        <p:spPr>
          <a:xfrm>
            <a:off x="4972050" y="18363009"/>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68" name="Text 265"/>
          <p:cNvSpPr/>
          <p:nvPr/>
        </p:nvSpPr>
        <p:spPr>
          <a:xfrm>
            <a:off x="5212091" y="18648759"/>
            <a:ext cx="191458" cy="135731"/>
          </a:xfrm>
          <a:prstGeom prst="rect">
            <a:avLst/>
          </a:prstGeom>
          <a:noFill/>
          <a:ln/>
        </p:spPr>
        <p:txBody>
          <a:bodyPr wrap="none" lIns="0" tIns="0" rIns="0" bIns="0" rtlCol="0" anchor="ctr">
            <a:spAutoFit/>
          </a:bodyPr>
          <a:lstStyle/>
          <a:p>
            <a:pPr marL="0" indent="0">
              <a:buNone/>
            </a:pPr>
            <a:r>
              <a:rPr lang="en-US" sz="788" dirty="0">
                <a:solidFill>
                  <a:srgbClr val="93C5FD"/>
                </a:solidFill>
                <a:latin typeface="Consolas" pitchFamily="34" charset="0"/>
                <a:ea typeface="Consolas" pitchFamily="34" charset="-122"/>
                <a:cs typeface="Consolas" pitchFamily="34" charset="-120"/>
              </a:rPr>
              <a:t>if</a:t>
            </a:r>
            <a:endParaRPr lang="en-US" sz="788" dirty="0"/>
          </a:p>
        </p:txBody>
      </p:sp>
      <p:sp>
        <p:nvSpPr>
          <p:cNvPr id="269" name="Text 266"/>
          <p:cNvSpPr/>
          <p:nvPr/>
        </p:nvSpPr>
        <p:spPr>
          <a:xfrm>
            <a:off x="5332112" y="18648759"/>
            <a:ext cx="2771775" cy="135731"/>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(attempts &gt;= maxAttempts &amp;&amp; !correctGuess) {</a:t>
            </a:r>
            <a:endParaRPr lang="en-US" sz="788" dirty="0"/>
          </a:p>
        </p:txBody>
      </p:sp>
      <p:sp>
        <p:nvSpPr>
          <p:cNvPr id="270" name="Text 267"/>
          <p:cNvSpPr/>
          <p:nvPr/>
        </p:nvSpPr>
        <p:spPr>
          <a:xfrm>
            <a:off x="4972050" y="18791634"/>
            <a:ext cx="3491871" cy="278606"/>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System.out.println("You've run out of attempts. The number was " + secretNumber);</a:t>
            </a:r>
            <a:endParaRPr lang="en-US" sz="788" dirty="0"/>
          </a:p>
        </p:txBody>
      </p:sp>
      <p:sp>
        <p:nvSpPr>
          <p:cNvPr id="271" name="Text 268"/>
          <p:cNvSpPr/>
          <p:nvPr/>
        </p:nvSpPr>
        <p:spPr>
          <a:xfrm>
            <a:off x="4972050" y="19077384"/>
            <a:ext cx="371475"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72" name="Text 269"/>
          <p:cNvSpPr/>
          <p:nvPr/>
        </p:nvSpPr>
        <p:spPr>
          <a:xfrm>
            <a:off x="4972050" y="19220259"/>
            <a:ext cx="25148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73" name="Text 270"/>
          <p:cNvSpPr/>
          <p:nvPr/>
        </p:nvSpPr>
        <p:spPr>
          <a:xfrm>
            <a:off x="4972050" y="19363134"/>
            <a:ext cx="131462" cy="135731"/>
          </a:xfrm>
          <a:prstGeom prst="rect">
            <a:avLst/>
          </a:prstGeom>
          <a:noFill/>
          <a:ln/>
        </p:spPr>
        <p:txBody>
          <a:bodyPr wrap="none" lIns="0" tIns="0" rIns="0" bIns="0" rtlCol="0" anchor="ctr">
            <a:spAutoFit/>
          </a:bodyPr>
          <a:lstStyle/>
          <a:p>
            <a:pPr marL="0" indent="0">
              <a:buNone/>
            </a:pPr>
            <a:r>
              <a:rPr lang="en-US" sz="788" dirty="0">
                <a:solidFill>
                  <a:srgbClr val="E2E8F0"/>
                </a:solidFill>
                <a:latin typeface="Consolas" pitchFamily="34" charset="0"/>
                <a:ea typeface="Consolas" pitchFamily="34" charset="-122"/>
                <a:cs typeface="Consolas" pitchFamily="34" charset="-120"/>
              </a:rPr>
              <a:t>}</a:t>
            </a:r>
            <a:endParaRPr lang="en-US" sz="788" dirty="0"/>
          </a:p>
        </p:txBody>
      </p:sp>
      <p:sp>
        <p:nvSpPr>
          <p:cNvPr id="274" name="Shape 271"/>
          <p:cNvSpPr/>
          <p:nvPr/>
        </p:nvSpPr>
        <p:spPr>
          <a:xfrm>
            <a:off x="4857750" y="19731038"/>
            <a:ext cx="3657600" cy="1000125"/>
          </a:xfrm>
          <a:prstGeom prst="rect">
            <a:avLst/>
          </a:prstGeom>
          <a:solidFill>
            <a:srgbClr val="1E3A8A">
              <a:alpha val="30000"/>
            </a:srgbClr>
          </a:solidFill>
          <a:ln/>
        </p:spPr>
        <p:txBody>
          <a:bodyPr/>
          <a:lstStyle/>
          <a:p>
            <a:endParaRPr lang="en-US"/>
          </a:p>
        </p:txBody>
      </p:sp>
      <p:sp>
        <p:nvSpPr>
          <p:cNvPr id="275" name="Text 272"/>
          <p:cNvSpPr/>
          <p:nvPr/>
        </p:nvSpPr>
        <p:spPr>
          <a:xfrm>
            <a:off x="4972050" y="19845338"/>
            <a:ext cx="35004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Multiple Exit Conditions</a:t>
            </a:r>
            <a:endParaRPr lang="en-US" sz="1013" dirty="0"/>
          </a:p>
        </p:txBody>
      </p:sp>
      <p:sp>
        <p:nvSpPr>
          <p:cNvPr id="276" name="Shape 273"/>
          <p:cNvSpPr/>
          <p:nvPr/>
        </p:nvSpPr>
        <p:spPr>
          <a:xfrm>
            <a:off x="4972050" y="20102513"/>
            <a:ext cx="1104881" cy="514350"/>
          </a:xfrm>
          <a:prstGeom prst="rect">
            <a:avLst/>
          </a:prstGeom>
          <a:solidFill>
            <a:srgbClr val="1E3A8A">
              <a:alpha val="50000"/>
            </a:srgbClr>
          </a:solidFill>
          <a:ln/>
        </p:spPr>
        <p:txBody>
          <a:bodyPr/>
          <a:lstStyle/>
          <a:p>
            <a:endParaRPr lang="en-US"/>
          </a:p>
        </p:txBody>
      </p:sp>
      <p:pic>
        <p:nvPicPr>
          <p:cNvPr id="277" name="Image 1" descr="preencoded.png"/>
          <p:cNvPicPr>
            <a:picLocks noChangeAspect="1"/>
          </p:cNvPicPr>
          <p:nvPr/>
        </p:nvPicPr>
        <p:blipFill>
          <a:blip r:embed="rId4"/>
          <a:stretch>
            <a:fillRect/>
          </a:stretch>
        </p:blipFill>
        <p:spPr>
          <a:xfrm>
            <a:off x="5453053" y="20159663"/>
            <a:ext cx="142875" cy="142875"/>
          </a:xfrm>
          <a:prstGeom prst="rect">
            <a:avLst/>
          </a:prstGeom>
        </p:spPr>
      </p:pic>
      <p:sp>
        <p:nvSpPr>
          <p:cNvPr id="278" name="Text 274"/>
          <p:cNvSpPr/>
          <p:nvPr/>
        </p:nvSpPr>
        <p:spPr>
          <a:xfrm>
            <a:off x="5029200" y="20331113"/>
            <a:ext cx="1062019"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Correct Guess</a:t>
            </a:r>
            <a:endParaRPr lang="en-US" sz="675" dirty="0"/>
          </a:p>
        </p:txBody>
      </p:sp>
      <p:sp>
        <p:nvSpPr>
          <p:cNvPr id="279" name="Text 275"/>
          <p:cNvSpPr/>
          <p:nvPr/>
        </p:nvSpPr>
        <p:spPr>
          <a:xfrm>
            <a:off x="5029200" y="20445413"/>
            <a:ext cx="1062019" cy="114300"/>
          </a:xfrm>
          <a:prstGeom prst="rect">
            <a:avLst/>
          </a:prstGeom>
          <a:noFill/>
          <a:ln/>
        </p:spPr>
        <p:txBody>
          <a:bodyPr wrap="none" lIns="0" tIns="0" rIns="0" bIns="0" rtlCol="0" anchor="ctr">
            <a:spAutoFit/>
          </a:bodyPr>
          <a:lstStyle/>
          <a:p>
            <a:pPr marL="0" indent="0" algn="ctr">
              <a:buNone/>
            </a:pPr>
            <a:r>
              <a:rPr lang="en-US" sz="675" dirty="0">
                <a:solidFill>
                  <a:srgbClr val="E2E8F0">
                    <a:alpha val="75000"/>
                  </a:srgbClr>
                </a:solidFill>
                <a:latin typeface="Segoe UI" pitchFamily="34" charset="0"/>
                <a:ea typeface="Segoe UI" pitchFamily="34" charset="-122"/>
                <a:cs typeface="Segoe UI" pitchFamily="34" charset="-120"/>
              </a:rPr>
              <a:t>correctGuess = true</a:t>
            </a:r>
            <a:endParaRPr lang="en-US" sz="675" dirty="0"/>
          </a:p>
        </p:txBody>
      </p:sp>
      <p:sp>
        <p:nvSpPr>
          <p:cNvPr id="280" name="Shape 276"/>
          <p:cNvSpPr/>
          <p:nvPr/>
        </p:nvSpPr>
        <p:spPr>
          <a:xfrm>
            <a:off x="6134081" y="20102513"/>
            <a:ext cx="1104909" cy="514350"/>
          </a:xfrm>
          <a:prstGeom prst="rect">
            <a:avLst/>
          </a:prstGeom>
          <a:solidFill>
            <a:srgbClr val="1E3A8A">
              <a:alpha val="50000"/>
            </a:srgbClr>
          </a:solidFill>
          <a:ln/>
        </p:spPr>
        <p:txBody>
          <a:bodyPr/>
          <a:lstStyle/>
          <a:p>
            <a:endParaRPr lang="en-US"/>
          </a:p>
        </p:txBody>
      </p:sp>
      <p:pic>
        <p:nvPicPr>
          <p:cNvPr id="281" name="Image 2" descr="preencoded.png"/>
          <p:cNvPicPr>
            <a:picLocks noChangeAspect="1"/>
          </p:cNvPicPr>
          <p:nvPr/>
        </p:nvPicPr>
        <p:blipFill>
          <a:blip r:embed="rId5"/>
          <a:stretch>
            <a:fillRect/>
          </a:stretch>
        </p:blipFill>
        <p:spPr>
          <a:xfrm>
            <a:off x="6615085" y="20159663"/>
            <a:ext cx="142875" cy="142875"/>
          </a:xfrm>
          <a:prstGeom prst="rect">
            <a:avLst/>
          </a:prstGeom>
        </p:spPr>
      </p:pic>
      <p:sp>
        <p:nvSpPr>
          <p:cNvPr id="282" name="Text 277"/>
          <p:cNvSpPr/>
          <p:nvPr/>
        </p:nvSpPr>
        <p:spPr>
          <a:xfrm>
            <a:off x="6191231" y="20331113"/>
            <a:ext cx="106204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Max Attempts</a:t>
            </a:r>
            <a:endParaRPr lang="en-US" sz="675" dirty="0"/>
          </a:p>
        </p:txBody>
      </p:sp>
      <p:sp>
        <p:nvSpPr>
          <p:cNvPr id="283" name="Text 278"/>
          <p:cNvSpPr/>
          <p:nvPr/>
        </p:nvSpPr>
        <p:spPr>
          <a:xfrm>
            <a:off x="6191231" y="20445413"/>
            <a:ext cx="1062047" cy="114300"/>
          </a:xfrm>
          <a:prstGeom prst="rect">
            <a:avLst/>
          </a:prstGeom>
          <a:noFill/>
          <a:ln/>
        </p:spPr>
        <p:txBody>
          <a:bodyPr wrap="none" lIns="0" tIns="0" rIns="0" bIns="0" rtlCol="0" anchor="ctr">
            <a:spAutoFit/>
          </a:bodyPr>
          <a:lstStyle/>
          <a:p>
            <a:pPr marL="0" indent="0" algn="ctr">
              <a:buNone/>
            </a:pPr>
            <a:r>
              <a:rPr lang="en-US" sz="675" dirty="0">
                <a:solidFill>
                  <a:srgbClr val="E2E8F0">
                    <a:alpha val="75000"/>
                  </a:srgbClr>
                </a:solidFill>
                <a:latin typeface="Segoe UI" pitchFamily="34" charset="0"/>
                <a:ea typeface="Segoe UI" pitchFamily="34" charset="-122"/>
                <a:cs typeface="Segoe UI" pitchFamily="34" charset="-120"/>
              </a:rPr>
              <a:t>attempts &gt;= maxAttempts</a:t>
            </a:r>
            <a:endParaRPr lang="en-US" sz="675" dirty="0"/>
          </a:p>
        </p:txBody>
      </p:sp>
      <p:sp>
        <p:nvSpPr>
          <p:cNvPr id="284" name="Shape 279"/>
          <p:cNvSpPr/>
          <p:nvPr/>
        </p:nvSpPr>
        <p:spPr>
          <a:xfrm>
            <a:off x="7296141" y="20102513"/>
            <a:ext cx="1104909" cy="514350"/>
          </a:xfrm>
          <a:prstGeom prst="rect">
            <a:avLst/>
          </a:prstGeom>
          <a:solidFill>
            <a:srgbClr val="1E3A8A">
              <a:alpha val="50000"/>
            </a:srgbClr>
          </a:solidFill>
          <a:ln/>
        </p:spPr>
        <p:txBody>
          <a:bodyPr/>
          <a:lstStyle/>
          <a:p>
            <a:endParaRPr lang="en-US"/>
          </a:p>
        </p:txBody>
      </p:sp>
      <p:pic>
        <p:nvPicPr>
          <p:cNvPr id="285" name="Image 3" descr="preencoded.png"/>
          <p:cNvPicPr>
            <a:picLocks noChangeAspect="1"/>
          </p:cNvPicPr>
          <p:nvPr/>
        </p:nvPicPr>
        <p:blipFill>
          <a:blip r:embed="rId6"/>
          <a:stretch>
            <a:fillRect/>
          </a:stretch>
        </p:blipFill>
        <p:spPr>
          <a:xfrm>
            <a:off x="7777144" y="20159663"/>
            <a:ext cx="142875" cy="142875"/>
          </a:xfrm>
          <a:prstGeom prst="rect">
            <a:avLst/>
          </a:prstGeom>
        </p:spPr>
      </p:pic>
      <p:sp>
        <p:nvSpPr>
          <p:cNvPr id="286" name="Text 280"/>
          <p:cNvSpPr/>
          <p:nvPr/>
        </p:nvSpPr>
        <p:spPr>
          <a:xfrm>
            <a:off x="7353291" y="20331113"/>
            <a:ext cx="106204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User Quits</a:t>
            </a:r>
            <a:endParaRPr lang="en-US" sz="675" dirty="0"/>
          </a:p>
        </p:txBody>
      </p:sp>
      <p:sp>
        <p:nvSpPr>
          <p:cNvPr id="287" name="Text 281"/>
          <p:cNvSpPr/>
          <p:nvPr/>
        </p:nvSpPr>
        <p:spPr>
          <a:xfrm>
            <a:off x="7353291" y="20445413"/>
            <a:ext cx="1062047" cy="114300"/>
          </a:xfrm>
          <a:prstGeom prst="rect">
            <a:avLst/>
          </a:prstGeom>
          <a:noFill/>
          <a:ln/>
        </p:spPr>
        <p:txBody>
          <a:bodyPr wrap="none" lIns="0" tIns="0" rIns="0" bIns="0" rtlCol="0" anchor="ctr">
            <a:spAutoFit/>
          </a:bodyPr>
          <a:lstStyle/>
          <a:p>
            <a:pPr marL="0" indent="0" algn="ctr">
              <a:buNone/>
            </a:pPr>
            <a:r>
              <a:rPr lang="en-US" sz="675" dirty="0">
                <a:solidFill>
                  <a:srgbClr val="E2E8F0">
                    <a:alpha val="75000"/>
                  </a:srgbClr>
                </a:solidFill>
                <a:latin typeface="Segoe UI" pitchFamily="34" charset="0"/>
                <a:ea typeface="Segoe UI" pitchFamily="34" charset="-122"/>
                <a:cs typeface="Segoe UI" pitchFamily="34" charset="-120"/>
              </a:rPr>
              <a:t>gameRunning = false</a:t>
            </a:r>
            <a:endParaRPr lang="en-US" sz="675" dirty="0"/>
          </a:p>
        </p:txBody>
      </p:sp>
      <p:sp>
        <p:nvSpPr>
          <p:cNvPr id="288" name="Shape 282"/>
          <p:cNvSpPr/>
          <p:nvPr/>
        </p:nvSpPr>
        <p:spPr>
          <a:xfrm>
            <a:off x="457200" y="21131213"/>
            <a:ext cx="8229600" cy="44148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89" name="Text 283"/>
          <p:cNvSpPr/>
          <p:nvPr/>
        </p:nvSpPr>
        <p:spPr>
          <a:xfrm>
            <a:off x="628650" y="21302663"/>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Real-World Applications</a:t>
            </a:r>
            <a:endParaRPr lang="en-US" sz="1350" dirty="0"/>
          </a:p>
        </p:txBody>
      </p:sp>
      <p:sp>
        <p:nvSpPr>
          <p:cNvPr id="290" name="Shape 284"/>
          <p:cNvSpPr/>
          <p:nvPr/>
        </p:nvSpPr>
        <p:spPr>
          <a:xfrm>
            <a:off x="628650" y="21645563"/>
            <a:ext cx="2514600" cy="2971800"/>
          </a:xfrm>
          <a:prstGeom prst="rect">
            <a:avLst/>
          </a:prstGeom>
          <a:solidFill>
            <a:srgbClr val="1E3A8A">
              <a:alpha val="30000"/>
            </a:srgbClr>
          </a:solidFill>
          <a:ln/>
        </p:spPr>
        <p:txBody>
          <a:bodyPr/>
          <a:lstStyle/>
          <a:p>
            <a:endParaRPr lang="en-US"/>
          </a:p>
        </p:txBody>
      </p:sp>
      <p:pic>
        <p:nvPicPr>
          <p:cNvPr id="291" name="Image 4" descr="preencoded.png"/>
          <p:cNvPicPr>
            <a:picLocks noChangeAspect="1"/>
          </p:cNvPicPr>
          <p:nvPr/>
        </p:nvPicPr>
        <p:blipFill>
          <a:blip r:embed="rId7"/>
          <a:stretch>
            <a:fillRect/>
          </a:stretch>
        </p:blipFill>
        <p:spPr>
          <a:xfrm>
            <a:off x="742950" y="21774150"/>
            <a:ext cx="150019" cy="171450"/>
          </a:xfrm>
          <a:prstGeom prst="rect">
            <a:avLst/>
          </a:prstGeom>
        </p:spPr>
      </p:pic>
      <p:sp>
        <p:nvSpPr>
          <p:cNvPr id="292" name="Text 285"/>
          <p:cNvSpPr/>
          <p:nvPr/>
        </p:nvSpPr>
        <p:spPr>
          <a:xfrm>
            <a:off x="978694" y="21759863"/>
            <a:ext cx="1750609"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Database Connection Retry</a:t>
            </a:r>
            <a:endParaRPr lang="en-US" sz="1013" dirty="0"/>
          </a:p>
        </p:txBody>
      </p:sp>
      <p:sp>
        <p:nvSpPr>
          <p:cNvPr id="293" name="Shape 286"/>
          <p:cNvSpPr/>
          <p:nvPr/>
        </p:nvSpPr>
        <p:spPr>
          <a:xfrm>
            <a:off x="742950" y="22045613"/>
            <a:ext cx="2286000" cy="1714500"/>
          </a:xfrm>
          <a:prstGeom prst="rect">
            <a:avLst/>
          </a:prstGeom>
          <a:solidFill>
            <a:srgbClr val="1A202C"/>
          </a:solidFill>
          <a:ln/>
        </p:spPr>
        <p:txBody>
          <a:bodyPr/>
          <a:lstStyle/>
          <a:p>
            <a:endParaRPr lang="en-US"/>
          </a:p>
        </p:txBody>
      </p:sp>
      <p:sp>
        <p:nvSpPr>
          <p:cNvPr id="294" name="Text 287"/>
          <p:cNvSpPr/>
          <p:nvPr/>
        </p:nvSpPr>
        <p:spPr>
          <a:xfrm>
            <a:off x="857250" y="22158127"/>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295" name="Text 288"/>
          <p:cNvSpPr/>
          <p:nvPr/>
        </p:nvSpPr>
        <p:spPr>
          <a:xfrm>
            <a:off x="1217312" y="22158127"/>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connected = false;</a:t>
            </a:r>
            <a:endParaRPr lang="en-US" sz="675" dirty="0"/>
          </a:p>
        </p:txBody>
      </p:sp>
      <p:sp>
        <p:nvSpPr>
          <p:cNvPr id="296" name="Text 289"/>
          <p:cNvSpPr/>
          <p:nvPr/>
        </p:nvSpPr>
        <p:spPr>
          <a:xfrm>
            <a:off x="857250" y="22272427"/>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97" name="Text 290"/>
          <p:cNvSpPr/>
          <p:nvPr/>
        </p:nvSpPr>
        <p:spPr>
          <a:xfrm>
            <a:off x="1011566" y="22272427"/>
            <a:ext cx="79153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attempts = 0;</a:t>
            </a:r>
            <a:endParaRPr lang="en-US" sz="675" dirty="0"/>
          </a:p>
        </p:txBody>
      </p:sp>
      <p:sp>
        <p:nvSpPr>
          <p:cNvPr id="298" name="Text 291"/>
          <p:cNvSpPr/>
          <p:nvPr/>
        </p:nvSpPr>
        <p:spPr>
          <a:xfrm>
            <a:off x="857250" y="22501027"/>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299" name="Text 292"/>
          <p:cNvSpPr/>
          <p:nvPr/>
        </p:nvSpPr>
        <p:spPr>
          <a:xfrm>
            <a:off x="857250" y="22501027"/>
            <a:ext cx="1665973"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(!connected &amp;&amp; attempts &lt; MAX_RETRIES) {</a:t>
            </a:r>
            <a:endParaRPr lang="en-US" sz="675" dirty="0"/>
          </a:p>
        </p:txBody>
      </p:sp>
      <p:sp>
        <p:nvSpPr>
          <p:cNvPr id="300" name="Text 293"/>
          <p:cNvSpPr/>
          <p:nvPr/>
        </p:nvSpPr>
        <p:spPr>
          <a:xfrm>
            <a:off x="960137" y="22729627"/>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try</a:t>
            </a:r>
            <a:endParaRPr lang="en-US" sz="675" dirty="0"/>
          </a:p>
        </p:txBody>
      </p:sp>
      <p:sp>
        <p:nvSpPr>
          <p:cNvPr id="301" name="Text 294"/>
          <p:cNvSpPr/>
          <p:nvPr/>
        </p:nvSpPr>
        <p:spPr>
          <a:xfrm>
            <a:off x="1114453" y="22729627"/>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02" name="Text 295"/>
          <p:cNvSpPr/>
          <p:nvPr/>
        </p:nvSpPr>
        <p:spPr>
          <a:xfrm>
            <a:off x="857250" y="22843927"/>
            <a:ext cx="2077408"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connection = establishConnection();</a:t>
            </a:r>
            <a:endParaRPr lang="en-US" sz="675" dirty="0"/>
          </a:p>
        </p:txBody>
      </p:sp>
      <p:sp>
        <p:nvSpPr>
          <p:cNvPr id="303" name="Text 296"/>
          <p:cNvSpPr/>
          <p:nvPr/>
        </p:nvSpPr>
        <p:spPr>
          <a:xfrm>
            <a:off x="857250" y="22958227"/>
            <a:ext cx="11515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connected = true;</a:t>
            </a:r>
            <a:endParaRPr lang="en-US" sz="675" dirty="0"/>
          </a:p>
        </p:txBody>
      </p:sp>
      <p:sp>
        <p:nvSpPr>
          <p:cNvPr id="304" name="Text 297"/>
          <p:cNvSpPr/>
          <p:nvPr/>
        </p:nvSpPr>
        <p:spPr>
          <a:xfrm>
            <a:off x="857250" y="23072527"/>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05" name="Text 298"/>
          <p:cNvSpPr/>
          <p:nvPr/>
        </p:nvSpPr>
        <p:spPr>
          <a:xfrm>
            <a:off x="1062996" y="23072527"/>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catch</a:t>
            </a:r>
            <a:endParaRPr lang="en-US" sz="675" dirty="0"/>
          </a:p>
        </p:txBody>
      </p:sp>
      <p:sp>
        <p:nvSpPr>
          <p:cNvPr id="306" name="Text 299"/>
          <p:cNvSpPr/>
          <p:nvPr/>
        </p:nvSpPr>
        <p:spPr>
          <a:xfrm>
            <a:off x="1320198" y="23072527"/>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(Exception e) {</a:t>
            </a:r>
            <a:endParaRPr lang="en-US" sz="675" dirty="0"/>
          </a:p>
        </p:txBody>
      </p:sp>
      <p:sp>
        <p:nvSpPr>
          <p:cNvPr id="307" name="Text 300"/>
          <p:cNvSpPr/>
          <p:nvPr/>
        </p:nvSpPr>
        <p:spPr>
          <a:xfrm>
            <a:off x="857250" y="23186827"/>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attempts++;</a:t>
            </a:r>
            <a:endParaRPr lang="en-US" sz="675" dirty="0"/>
          </a:p>
        </p:txBody>
      </p:sp>
      <p:sp>
        <p:nvSpPr>
          <p:cNvPr id="308" name="Text 301"/>
          <p:cNvSpPr/>
          <p:nvPr/>
        </p:nvSpPr>
        <p:spPr>
          <a:xfrm>
            <a:off x="857250" y="23301127"/>
            <a:ext cx="12030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wait(RETRY_DELAY);</a:t>
            </a:r>
            <a:endParaRPr lang="en-US" sz="675" dirty="0"/>
          </a:p>
        </p:txBody>
      </p:sp>
      <p:sp>
        <p:nvSpPr>
          <p:cNvPr id="309" name="Text 302"/>
          <p:cNvSpPr/>
          <p:nvPr/>
        </p:nvSpPr>
        <p:spPr>
          <a:xfrm>
            <a:off x="857250" y="23415427"/>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10" name="Text 303"/>
          <p:cNvSpPr/>
          <p:nvPr/>
        </p:nvSpPr>
        <p:spPr>
          <a:xfrm>
            <a:off x="857250" y="23529727"/>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11" name="Text 304"/>
          <p:cNvSpPr/>
          <p:nvPr/>
        </p:nvSpPr>
        <p:spPr>
          <a:xfrm>
            <a:off x="742950" y="23817263"/>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Retry connecting to a database with exponential backoff</a:t>
            </a:r>
            <a:endParaRPr lang="en-US" sz="675" dirty="0"/>
          </a:p>
        </p:txBody>
      </p:sp>
      <p:sp>
        <p:nvSpPr>
          <p:cNvPr id="312" name="Shape 305"/>
          <p:cNvSpPr/>
          <p:nvPr/>
        </p:nvSpPr>
        <p:spPr>
          <a:xfrm>
            <a:off x="3314700" y="21645563"/>
            <a:ext cx="2514600" cy="2971800"/>
          </a:xfrm>
          <a:prstGeom prst="rect">
            <a:avLst/>
          </a:prstGeom>
          <a:solidFill>
            <a:srgbClr val="1E3A8A">
              <a:alpha val="30000"/>
            </a:srgbClr>
          </a:solidFill>
          <a:ln/>
        </p:spPr>
        <p:txBody>
          <a:bodyPr/>
          <a:lstStyle/>
          <a:p>
            <a:endParaRPr lang="en-US"/>
          </a:p>
        </p:txBody>
      </p:sp>
      <p:pic>
        <p:nvPicPr>
          <p:cNvPr id="313" name="Image 5" descr="preencoded.png"/>
          <p:cNvPicPr>
            <a:picLocks noChangeAspect="1"/>
          </p:cNvPicPr>
          <p:nvPr/>
        </p:nvPicPr>
        <p:blipFill>
          <a:blip r:embed="rId8"/>
          <a:stretch>
            <a:fillRect/>
          </a:stretch>
        </p:blipFill>
        <p:spPr>
          <a:xfrm>
            <a:off x="3429000" y="21774150"/>
            <a:ext cx="128588" cy="171450"/>
          </a:xfrm>
          <a:prstGeom prst="rect">
            <a:avLst/>
          </a:prstGeom>
        </p:spPr>
      </p:pic>
      <p:sp>
        <p:nvSpPr>
          <p:cNvPr id="314" name="Text 306"/>
          <p:cNvSpPr/>
          <p:nvPr/>
        </p:nvSpPr>
        <p:spPr>
          <a:xfrm>
            <a:off x="3643313" y="21759863"/>
            <a:ext cx="1021919" cy="200025"/>
          </a:xfrm>
          <a:prstGeom prst="rect">
            <a:avLst/>
          </a:prstGeom>
          <a:noFill/>
          <a:ln/>
        </p:spPr>
        <p:txBody>
          <a:bodyPr wrap="non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File Processing</a:t>
            </a:r>
            <a:endParaRPr lang="en-US" sz="1013" dirty="0"/>
          </a:p>
        </p:txBody>
      </p:sp>
      <p:sp>
        <p:nvSpPr>
          <p:cNvPr id="315" name="Shape 307"/>
          <p:cNvSpPr/>
          <p:nvPr/>
        </p:nvSpPr>
        <p:spPr>
          <a:xfrm>
            <a:off x="3429000" y="22045613"/>
            <a:ext cx="2286000" cy="2057400"/>
          </a:xfrm>
          <a:prstGeom prst="rect">
            <a:avLst/>
          </a:prstGeom>
          <a:solidFill>
            <a:srgbClr val="1A202C"/>
          </a:solidFill>
          <a:ln/>
        </p:spPr>
        <p:txBody>
          <a:bodyPr/>
          <a:lstStyle/>
          <a:p>
            <a:endParaRPr lang="en-US"/>
          </a:p>
        </p:txBody>
      </p:sp>
      <p:sp>
        <p:nvSpPr>
          <p:cNvPr id="316" name="Text 308"/>
          <p:cNvSpPr/>
          <p:nvPr/>
        </p:nvSpPr>
        <p:spPr>
          <a:xfrm>
            <a:off x="3543300" y="22158127"/>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17" name="Text 309"/>
          <p:cNvSpPr/>
          <p:nvPr/>
        </p:nvSpPr>
        <p:spPr>
          <a:xfrm>
            <a:off x="3903362" y="22158127"/>
            <a:ext cx="1511629"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processingComplete = false;</a:t>
            </a:r>
            <a:endParaRPr lang="en-US" sz="675" dirty="0"/>
          </a:p>
        </p:txBody>
      </p:sp>
      <p:sp>
        <p:nvSpPr>
          <p:cNvPr id="318" name="Text 310"/>
          <p:cNvSpPr/>
          <p:nvPr/>
        </p:nvSpPr>
        <p:spPr>
          <a:xfrm>
            <a:off x="3543300" y="22272427"/>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19" name="Text 311"/>
          <p:cNvSpPr/>
          <p:nvPr/>
        </p:nvSpPr>
        <p:spPr>
          <a:xfrm>
            <a:off x="3903362" y="22272427"/>
            <a:ext cx="99727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hasError = false;</a:t>
            </a:r>
            <a:endParaRPr lang="en-US" sz="675" dirty="0"/>
          </a:p>
        </p:txBody>
      </p:sp>
      <p:sp>
        <p:nvSpPr>
          <p:cNvPr id="320" name="Text 312"/>
          <p:cNvSpPr/>
          <p:nvPr/>
        </p:nvSpPr>
        <p:spPr>
          <a:xfrm>
            <a:off x="3543300" y="22501027"/>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321" name="Text 313"/>
          <p:cNvSpPr/>
          <p:nvPr/>
        </p:nvSpPr>
        <p:spPr>
          <a:xfrm>
            <a:off x="3543300" y="22501027"/>
            <a:ext cx="1563086"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(!processingComplete &amp;&amp; !hasError) {</a:t>
            </a:r>
            <a:endParaRPr lang="en-US" sz="675" dirty="0"/>
          </a:p>
        </p:txBody>
      </p:sp>
      <p:sp>
        <p:nvSpPr>
          <p:cNvPr id="322" name="Text 314"/>
          <p:cNvSpPr/>
          <p:nvPr/>
        </p:nvSpPr>
        <p:spPr>
          <a:xfrm>
            <a:off x="3646187" y="22729627"/>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try</a:t>
            </a:r>
            <a:endParaRPr lang="en-US" sz="675" dirty="0"/>
          </a:p>
        </p:txBody>
      </p:sp>
      <p:sp>
        <p:nvSpPr>
          <p:cNvPr id="323" name="Text 315"/>
          <p:cNvSpPr/>
          <p:nvPr/>
        </p:nvSpPr>
        <p:spPr>
          <a:xfrm>
            <a:off x="3800503" y="22729627"/>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24" name="Text 316"/>
          <p:cNvSpPr/>
          <p:nvPr/>
        </p:nvSpPr>
        <p:spPr>
          <a:xfrm>
            <a:off x="3543300" y="22843927"/>
            <a:ext cx="1974549"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Record record = readNextRecord();</a:t>
            </a:r>
            <a:endParaRPr lang="en-US" sz="675" dirty="0"/>
          </a:p>
        </p:txBody>
      </p:sp>
      <p:sp>
        <p:nvSpPr>
          <p:cNvPr id="325" name="Text 317"/>
          <p:cNvSpPr/>
          <p:nvPr/>
        </p:nvSpPr>
        <p:spPr>
          <a:xfrm>
            <a:off x="3749046" y="22958227"/>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326" name="Text 318"/>
          <p:cNvSpPr/>
          <p:nvPr/>
        </p:nvSpPr>
        <p:spPr>
          <a:xfrm>
            <a:off x="3851932" y="22958227"/>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(record == null) {</a:t>
            </a:r>
            <a:endParaRPr lang="en-US" sz="675" dirty="0"/>
          </a:p>
        </p:txBody>
      </p:sp>
      <p:sp>
        <p:nvSpPr>
          <p:cNvPr id="327" name="Text 319"/>
          <p:cNvSpPr/>
          <p:nvPr/>
        </p:nvSpPr>
        <p:spPr>
          <a:xfrm>
            <a:off x="3543300" y="23072527"/>
            <a:ext cx="1717374"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processingComplete = true;</a:t>
            </a:r>
            <a:endParaRPr lang="en-US" sz="675" dirty="0"/>
          </a:p>
        </p:txBody>
      </p:sp>
      <p:sp>
        <p:nvSpPr>
          <p:cNvPr id="328" name="Text 320"/>
          <p:cNvSpPr/>
          <p:nvPr/>
        </p:nvSpPr>
        <p:spPr>
          <a:xfrm>
            <a:off x="3543300" y="23186827"/>
            <a:ext cx="38007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29" name="Text 321"/>
          <p:cNvSpPr/>
          <p:nvPr/>
        </p:nvSpPr>
        <p:spPr>
          <a:xfrm>
            <a:off x="3851932" y="23186827"/>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330" name="Text 322"/>
          <p:cNvSpPr/>
          <p:nvPr/>
        </p:nvSpPr>
        <p:spPr>
          <a:xfrm>
            <a:off x="4057678" y="23186827"/>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31" name="Text 323"/>
          <p:cNvSpPr/>
          <p:nvPr/>
        </p:nvSpPr>
        <p:spPr>
          <a:xfrm>
            <a:off x="3543300" y="23301127"/>
            <a:ext cx="1511629"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processRecord(record);</a:t>
            </a:r>
            <a:endParaRPr lang="en-US" sz="675" dirty="0"/>
          </a:p>
        </p:txBody>
      </p:sp>
      <p:sp>
        <p:nvSpPr>
          <p:cNvPr id="332" name="Text 324"/>
          <p:cNvSpPr/>
          <p:nvPr/>
        </p:nvSpPr>
        <p:spPr>
          <a:xfrm>
            <a:off x="3543300" y="23415427"/>
            <a:ext cx="32864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33" name="Text 325"/>
          <p:cNvSpPr/>
          <p:nvPr/>
        </p:nvSpPr>
        <p:spPr>
          <a:xfrm>
            <a:off x="3543300" y="23529727"/>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34" name="Text 326"/>
          <p:cNvSpPr/>
          <p:nvPr/>
        </p:nvSpPr>
        <p:spPr>
          <a:xfrm>
            <a:off x="3749046" y="23529727"/>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catch</a:t>
            </a:r>
            <a:endParaRPr lang="en-US" sz="675" dirty="0"/>
          </a:p>
        </p:txBody>
      </p:sp>
      <p:sp>
        <p:nvSpPr>
          <p:cNvPr id="335" name="Text 327"/>
          <p:cNvSpPr/>
          <p:nvPr/>
        </p:nvSpPr>
        <p:spPr>
          <a:xfrm>
            <a:off x="4006248" y="23529727"/>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(Exception e) {</a:t>
            </a:r>
            <a:endParaRPr lang="en-US" sz="675" dirty="0"/>
          </a:p>
        </p:txBody>
      </p:sp>
      <p:sp>
        <p:nvSpPr>
          <p:cNvPr id="336" name="Text 328"/>
          <p:cNvSpPr/>
          <p:nvPr/>
        </p:nvSpPr>
        <p:spPr>
          <a:xfrm>
            <a:off x="3543300" y="23644027"/>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hasError = true;</a:t>
            </a:r>
            <a:endParaRPr lang="en-US" sz="675" dirty="0"/>
          </a:p>
        </p:txBody>
      </p:sp>
      <p:sp>
        <p:nvSpPr>
          <p:cNvPr id="337" name="Text 329"/>
          <p:cNvSpPr/>
          <p:nvPr/>
        </p:nvSpPr>
        <p:spPr>
          <a:xfrm>
            <a:off x="3543300" y="23758327"/>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38" name="Text 330"/>
          <p:cNvSpPr/>
          <p:nvPr/>
        </p:nvSpPr>
        <p:spPr>
          <a:xfrm>
            <a:off x="3543300" y="23872627"/>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39" name="Text 331"/>
          <p:cNvSpPr/>
          <p:nvPr/>
        </p:nvSpPr>
        <p:spPr>
          <a:xfrm>
            <a:off x="3429000" y="24160163"/>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Process records from a file until EOF or error</a:t>
            </a:r>
            <a:endParaRPr lang="en-US" sz="675" dirty="0"/>
          </a:p>
        </p:txBody>
      </p:sp>
      <p:sp>
        <p:nvSpPr>
          <p:cNvPr id="340" name="Shape 332"/>
          <p:cNvSpPr/>
          <p:nvPr/>
        </p:nvSpPr>
        <p:spPr>
          <a:xfrm>
            <a:off x="6000750" y="21645563"/>
            <a:ext cx="2514600" cy="2971800"/>
          </a:xfrm>
          <a:prstGeom prst="rect">
            <a:avLst/>
          </a:prstGeom>
          <a:solidFill>
            <a:srgbClr val="1E3A8A">
              <a:alpha val="30000"/>
            </a:srgbClr>
          </a:solidFill>
          <a:ln/>
        </p:spPr>
        <p:txBody>
          <a:bodyPr/>
          <a:lstStyle/>
          <a:p>
            <a:endParaRPr lang="en-US"/>
          </a:p>
        </p:txBody>
      </p:sp>
      <p:pic>
        <p:nvPicPr>
          <p:cNvPr id="341" name="Image 6" descr="preencoded.png"/>
          <p:cNvPicPr>
            <a:picLocks noChangeAspect="1"/>
          </p:cNvPicPr>
          <p:nvPr/>
        </p:nvPicPr>
        <p:blipFill>
          <a:blip r:embed="rId9"/>
          <a:stretch>
            <a:fillRect/>
          </a:stretch>
        </p:blipFill>
        <p:spPr>
          <a:xfrm>
            <a:off x="6115050" y="21774150"/>
            <a:ext cx="214313" cy="171450"/>
          </a:xfrm>
          <a:prstGeom prst="rect">
            <a:avLst/>
          </a:prstGeom>
        </p:spPr>
      </p:pic>
      <p:sp>
        <p:nvSpPr>
          <p:cNvPr id="342" name="Text 333"/>
          <p:cNvSpPr/>
          <p:nvPr/>
        </p:nvSpPr>
        <p:spPr>
          <a:xfrm>
            <a:off x="6415088" y="21759863"/>
            <a:ext cx="1586052"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Network Communication</a:t>
            </a:r>
            <a:endParaRPr lang="en-US" sz="1013" dirty="0"/>
          </a:p>
        </p:txBody>
      </p:sp>
      <p:sp>
        <p:nvSpPr>
          <p:cNvPr id="343" name="Shape 334"/>
          <p:cNvSpPr/>
          <p:nvPr/>
        </p:nvSpPr>
        <p:spPr>
          <a:xfrm>
            <a:off x="6115050" y="22045613"/>
            <a:ext cx="2286000" cy="2286000"/>
          </a:xfrm>
          <a:prstGeom prst="rect">
            <a:avLst/>
          </a:prstGeom>
          <a:solidFill>
            <a:srgbClr val="1A202C"/>
          </a:solidFill>
          <a:ln/>
        </p:spPr>
        <p:txBody>
          <a:bodyPr/>
          <a:lstStyle/>
          <a:p>
            <a:endParaRPr lang="en-US"/>
          </a:p>
        </p:txBody>
      </p:sp>
      <p:sp>
        <p:nvSpPr>
          <p:cNvPr id="344" name="Text 335"/>
          <p:cNvSpPr/>
          <p:nvPr/>
        </p:nvSpPr>
        <p:spPr>
          <a:xfrm>
            <a:off x="6229350" y="22158127"/>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45" name="Text 336"/>
          <p:cNvSpPr/>
          <p:nvPr/>
        </p:nvSpPr>
        <p:spPr>
          <a:xfrm>
            <a:off x="6589412" y="22158127"/>
            <a:ext cx="1357340"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messageReceived = false;</a:t>
            </a:r>
            <a:endParaRPr lang="en-US" sz="675" dirty="0"/>
          </a:p>
        </p:txBody>
      </p:sp>
      <p:sp>
        <p:nvSpPr>
          <p:cNvPr id="346" name="Text 337"/>
          <p:cNvSpPr/>
          <p:nvPr/>
        </p:nvSpPr>
        <p:spPr>
          <a:xfrm>
            <a:off x="6229350" y="22272427"/>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47" name="Text 338"/>
          <p:cNvSpPr/>
          <p:nvPr/>
        </p:nvSpPr>
        <p:spPr>
          <a:xfrm>
            <a:off x="6589412" y="22272427"/>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timeout = false;</a:t>
            </a:r>
            <a:endParaRPr lang="en-US" sz="675" dirty="0"/>
          </a:p>
        </p:txBody>
      </p:sp>
      <p:sp>
        <p:nvSpPr>
          <p:cNvPr id="348" name="Text 339"/>
          <p:cNvSpPr/>
          <p:nvPr/>
        </p:nvSpPr>
        <p:spPr>
          <a:xfrm>
            <a:off x="6229350" y="22386727"/>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long</a:t>
            </a:r>
            <a:endParaRPr lang="en-US" sz="675" dirty="0"/>
          </a:p>
        </p:txBody>
      </p:sp>
      <p:sp>
        <p:nvSpPr>
          <p:cNvPr id="349" name="Text 340"/>
          <p:cNvSpPr/>
          <p:nvPr/>
        </p:nvSpPr>
        <p:spPr>
          <a:xfrm>
            <a:off x="6229350" y="22386727"/>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startTime = System.currentTimeMillis();</a:t>
            </a:r>
            <a:endParaRPr lang="en-US" sz="675" dirty="0"/>
          </a:p>
        </p:txBody>
      </p:sp>
      <p:sp>
        <p:nvSpPr>
          <p:cNvPr id="350" name="Text 341"/>
          <p:cNvSpPr/>
          <p:nvPr/>
        </p:nvSpPr>
        <p:spPr>
          <a:xfrm>
            <a:off x="6229350" y="22729627"/>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351" name="Text 342"/>
          <p:cNvSpPr/>
          <p:nvPr/>
        </p:nvSpPr>
        <p:spPr>
          <a:xfrm>
            <a:off x="6486553" y="22729627"/>
            <a:ext cx="1768804"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(!messageReceived &amp;&amp; !timeout) {</a:t>
            </a:r>
            <a:endParaRPr lang="en-US" sz="675" dirty="0"/>
          </a:p>
        </p:txBody>
      </p:sp>
      <p:sp>
        <p:nvSpPr>
          <p:cNvPr id="352" name="Text 343"/>
          <p:cNvSpPr/>
          <p:nvPr/>
        </p:nvSpPr>
        <p:spPr>
          <a:xfrm>
            <a:off x="6229350" y="22843927"/>
            <a:ext cx="1820233"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Message msg = checkForMessage();</a:t>
            </a:r>
            <a:endParaRPr lang="en-US" sz="675" dirty="0"/>
          </a:p>
        </p:txBody>
      </p:sp>
      <p:sp>
        <p:nvSpPr>
          <p:cNvPr id="353" name="Text 344"/>
          <p:cNvSpPr/>
          <p:nvPr/>
        </p:nvSpPr>
        <p:spPr>
          <a:xfrm>
            <a:off x="6332237" y="23072527"/>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354" name="Text 345"/>
          <p:cNvSpPr/>
          <p:nvPr/>
        </p:nvSpPr>
        <p:spPr>
          <a:xfrm>
            <a:off x="6435123" y="23072527"/>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(msg != null) {</a:t>
            </a:r>
            <a:endParaRPr lang="en-US" sz="675" dirty="0"/>
          </a:p>
        </p:txBody>
      </p:sp>
      <p:sp>
        <p:nvSpPr>
          <p:cNvPr id="355" name="Text 346"/>
          <p:cNvSpPr/>
          <p:nvPr/>
        </p:nvSpPr>
        <p:spPr>
          <a:xfrm>
            <a:off x="6229350" y="23186827"/>
            <a:ext cx="1460199"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messageReceived = true;</a:t>
            </a:r>
            <a:endParaRPr lang="en-US" sz="675" dirty="0"/>
          </a:p>
        </p:txBody>
      </p:sp>
      <p:sp>
        <p:nvSpPr>
          <p:cNvPr id="356" name="Text 347"/>
          <p:cNvSpPr/>
          <p:nvPr/>
        </p:nvSpPr>
        <p:spPr>
          <a:xfrm>
            <a:off x="6229350" y="23301127"/>
            <a:ext cx="1305883"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processMessage(msg);</a:t>
            </a:r>
            <a:endParaRPr lang="en-US" sz="675" dirty="0"/>
          </a:p>
        </p:txBody>
      </p:sp>
      <p:sp>
        <p:nvSpPr>
          <p:cNvPr id="357" name="Text 348"/>
          <p:cNvSpPr/>
          <p:nvPr/>
        </p:nvSpPr>
        <p:spPr>
          <a:xfrm>
            <a:off x="6229350" y="23415427"/>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58" name="Text 349"/>
          <p:cNvSpPr/>
          <p:nvPr/>
        </p:nvSpPr>
        <p:spPr>
          <a:xfrm>
            <a:off x="6332237" y="23644027"/>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359" name="Text 350"/>
          <p:cNvSpPr/>
          <p:nvPr/>
        </p:nvSpPr>
        <p:spPr>
          <a:xfrm>
            <a:off x="6229350" y="23644027"/>
            <a:ext cx="182028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(System.currentTimeMillis() - startTime &gt; TIMEOUT_MS) {</a:t>
            </a:r>
            <a:endParaRPr lang="en-US" sz="675" dirty="0"/>
          </a:p>
        </p:txBody>
      </p:sp>
      <p:sp>
        <p:nvSpPr>
          <p:cNvPr id="360" name="Text 351"/>
          <p:cNvSpPr/>
          <p:nvPr/>
        </p:nvSpPr>
        <p:spPr>
          <a:xfrm>
            <a:off x="6229350" y="23872627"/>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timeout = true;</a:t>
            </a:r>
            <a:endParaRPr lang="en-US" sz="675" dirty="0"/>
          </a:p>
        </p:txBody>
      </p:sp>
      <p:sp>
        <p:nvSpPr>
          <p:cNvPr id="361" name="Text 352"/>
          <p:cNvSpPr/>
          <p:nvPr/>
        </p:nvSpPr>
        <p:spPr>
          <a:xfrm>
            <a:off x="6229350" y="23986927"/>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62" name="Text 353"/>
          <p:cNvSpPr/>
          <p:nvPr/>
        </p:nvSpPr>
        <p:spPr>
          <a:xfrm>
            <a:off x="6229350" y="24101227"/>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363" name="Text 354"/>
          <p:cNvSpPr/>
          <p:nvPr/>
        </p:nvSpPr>
        <p:spPr>
          <a:xfrm>
            <a:off x="6115050" y="24388763"/>
            <a:ext cx="2357438" cy="114300"/>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Segoe UI" pitchFamily="34" charset="0"/>
                <a:ea typeface="Segoe UI" pitchFamily="34" charset="-122"/>
                <a:cs typeface="Segoe UI" pitchFamily="34" charset="-120"/>
              </a:rPr>
              <a:t>Wait for network message with timeout</a:t>
            </a:r>
            <a:endParaRPr lang="en-US" sz="675" dirty="0"/>
          </a:p>
        </p:txBody>
      </p:sp>
      <p:sp>
        <p:nvSpPr>
          <p:cNvPr id="364" name="Shape 355"/>
          <p:cNvSpPr/>
          <p:nvPr/>
        </p:nvSpPr>
        <p:spPr>
          <a:xfrm>
            <a:off x="628650" y="24788813"/>
            <a:ext cx="7886700" cy="571500"/>
          </a:xfrm>
          <a:prstGeom prst="rect">
            <a:avLst/>
          </a:prstGeom>
          <a:solidFill>
            <a:srgbClr val="78350F">
              <a:alpha val="20000"/>
            </a:srgbClr>
          </a:solidFill>
          <a:ln/>
        </p:spPr>
        <p:txBody>
          <a:bodyPr/>
          <a:lstStyle/>
          <a:p>
            <a:endParaRPr lang="en-US"/>
          </a:p>
        </p:txBody>
      </p:sp>
      <p:pic>
        <p:nvPicPr>
          <p:cNvPr id="365" name="Image 7" descr="preencoded.png"/>
          <p:cNvPicPr>
            <a:picLocks noChangeAspect="1"/>
          </p:cNvPicPr>
          <p:nvPr/>
        </p:nvPicPr>
        <p:blipFill>
          <a:blip r:embed="rId10"/>
          <a:stretch>
            <a:fillRect/>
          </a:stretch>
        </p:blipFill>
        <p:spPr>
          <a:xfrm>
            <a:off x="742950" y="24988838"/>
            <a:ext cx="128588" cy="171450"/>
          </a:xfrm>
          <a:prstGeom prst="rect">
            <a:avLst/>
          </a:prstGeom>
        </p:spPr>
      </p:pic>
      <p:sp>
        <p:nvSpPr>
          <p:cNvPr id="366" name="Text 356"/>
          <p:cNvSpPr/>
          <p:nvPr/>
        </p:nvSpPr>
        <p:spPr>
          <a:xfrm>
            <a:off x="985838" y="24903113"/>
            <a:ext cx="7486650"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Flagged while loops are particularly valuable in real-world applications where processes need to continue until specific conditions are met, with multiple potential exit paths. They provide clear control flow and make the termination logic explicit.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6844963"/>
          </a:xfrm>
          <a:prstGeom prst="rect">
            <a:avLst/>
          </a:prstGeom>
        </p:spPr>
      </p:pic>
      <p:sp>
        <p:nvSpPr>
          <p:cNvPr id="3" name="Text 0"/>
          <p:cNvSpPr/>
          <p:nvPr/>
        </p:nvSpPr>
        <p:spPr>
          <a:xfrm>
            <a:off x="457200" y="455414"/>
            <a:ext cx="3157789"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Flagged While Loops vs.</a:t>
            </a:r>
            <a:endParaRPr lang="en-US" sz="2025" dirty="0"/>
          </a:p>
        </p:txBody>
      </p:sp>
      <p:sp>
        <p:nvSpPr>
          <p:cNvPr id="4" name="Text 1"/>
          <p:cNvSpPr/>
          <p:nvPr/>
        </p:nvSpPr>
        <p:spPr>
          <a:xfrm>
            <a:off x="3543551" y="455414"/>
            <a:ext cx="1543664"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Alternatives</a:t>
            </a:r>
            <a:endParaRPr lang="en-US" sz="2025" dirty="0"/>
          </a:p>
        </p:txBody>
      </p:sp>
      <p:sp>
        <p:nvSpPr>
          <p:cNvPr id="5" name="Shape 2"/>
          <p:cNvSpPr/>
          <p:nvPr/>
        </p:nvSpPr>
        <p:spPr>
          <a:xfrm>
            <a:off x="457200" y="971550"/>
            <a:ext cx="4000500" cy="44148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Alternative 1: While Loop with Break</a:t>
            </a:r>
            <a:endParaRPr lang="en-US" sz="1350" dirty="0"/>
          </a:p>
        </p:txBody>
      </p:sp>
      <p:sp>
        <p:nvSpPr>
          <p:cNvPr id="7" name="Text 4"/>
          <p:cNvSpPr/>
          <p:nvPr/>
        </p:nvSpPr>
        <p:spPr>
          <a:xfrm>
            <a:off x="628650" y="1485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Flagged While Loop</a:t>
            </a:r>
            <a:endParaRPr lang="en-US" sz="1125" dirty="0"/>
          </a:p>
        </p:txBody>
      </p:sp>
      <p:sp>
        <p:nvSpPr>
          <p:cNvPr id="8" name="Shape 5"/>
          <p:cNvSpPr/>
          <p:nvPr/>
        </p:nvSpPr>
        <p:spPr>
          <a:xfrm>
            <a:off x="628650" y="1743075"/>
            <a:ext cx="1771650" cy="2057400"/>
          </a:xfrm>
          <a:prstGeom prst="rect">
            <a:avLst/>
          </a:prstGeom>
          <a:solidFill>
            <a:srgbClr val="1A202C"/>
          </a:solidFill>
          <a:ln/>
        </p:spPr>
        <p:txBody>
          <a:bodyPr/>
          <a:lstStyle/>
          <a:p>
            <a:endParaRPr lang="en-US"/>
          </a:p>
        </p:txBody>
      </p:sp>
      <p:sp>
        <p:nvSpPr>
          <p:cNvPr id="9" name="Text 6"/>
          <p:cNvSpPr/>
          <p:nvPr/>
        </p:nvSpPr>
        <p:spPr>
          <a:xfrm>
            <a:off x="742950" y="1855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0" name="Text 7"/>
          <p:cNvSpPr/>
          <p:nvPr/>
        </p:nvSpPr>
        <p:spPr>
          <a:xfrm>
            <a:off x="1103012" y="18555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11" name="Text 8"/>
          <p:cNvSpPr/>
          <p:nvPr/>
        </p:nvSpPr>
        <p:spPr>
          <a:xfrm>
            <a:off x="742950" y="1969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2" name="Text 9"/>
          <p:cNvSpPr/>
          <p:nvPr/>
        </p:nvSpPr>
        <p:spPr>
          <a:xfrm>
            <a:off x="897266" y="19698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a:t>
            </a:r>
            <a:endParaRPr lang="en-US" sz="675" dirty="0"/>
          </a:p>
        </p:txBody>
      </p:sp>
      <p:sp>
        <p:nvSpPr>
          <p:cNvPr id="13" name="Text 10"/>
          <p:cNvSpPr/>
          <p:nvPr/>
        </p:nvSpPr>
        <p:spPr>
          <a:xfrm>
            <a:off x="742950" y="21984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4" name="Text 11"/>
          <p:cNvSpPr/>
          <p:nvPr/>
        </p:nvSpPr>
        <p:spPr>
          <a:xfrm>
            <a:off x="742950" y="2198489"/>
            <a:ext cx="1100193"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&amp;&amp; i &lt; array.length) {</a:t>
            </a:r>
            <a:endParaRPr lang="en-US" sz="675" dirty="0"/>
          </a:p>
        </p:txBody>
      </p:sp>
      <p:sp>
        <p:nvSpPr>
          <p:cNvPr id="15" name="Text 12"/>
          <p:cNvSpPr/>
          <p:nvPr/>
        </p:nvSpPr>
        <p:spPr>
          <a:xfrm>
            <a:off x="845837" y="24270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6" name="Text 13"/>
          <p:cNvSpPr/>
          <p:nvPr/>
        </p:nvSpPr>
        <p:spPr>
          <a:xfrm>
            <a:off x="948723" y="24270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17" name="Text 14"/>
          <p:cNvSpPr/>
          <p:nvPr/>
        </p:nvSpPr>
        <p:spPr>
          <a:xfrm>
            <a:off x="742950" y="25413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18" name="Text 15"/>
          <p:cNvSpPr/>
          <p:nvPr/>
        </p:nvSpPr>
        <p:spPr>
          <a:xfrm>
            <a:off x="742950" y="26556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9" name="Text 16"/>
          <p:cNvSpPr/>
          <p:nvPr/>
        </p:nvSpPr>
        <p:spPr>
          <a:xfrm>
            <a:off x="948696" y="26556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20" name="Text 17"/>
          <p:cNvSpPr/>
          <p:nvPr/>
        </p:nvSpPr>
        <p:spPr>
          <a:xfrm>
            <a:off x="1154441" y="26556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1" name="Text 18"/>
          <p:cNvSpPr/>
          <p:nvPr/>
        </p:nvSpPr>
        <p:spPr>
          <a:xfrm>
            <a:off x="742950" y="2769989"/>
            <a:ext cx="48292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22" name="Text 19"/>
          <p:cNvSpPr/>
          <p:nvPr/>
        </p:nvSpPr>
        <p:spPr>
          <a:xfrm>
            <a:off x="742950" y="28842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3" name="Text 20"/>
          <p:cNvSpPr/>
          <p:nvPr/>
        </p:nvSpPr>
        <p:spPr>
          <a:xfrm>
            <a:off x="742950" y="29985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4" name="Text 21"/>
          <p:cNvSpPr/>
          <p:nvPr/>
        </p:nvSpPr>
        <p:spPr>
          <a:xfrm>
            <a:off x="742950" y="32271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5" name="Text 22"/>
          <p:cNvSpPr/>
          <p:nvPr/>
        </p:nvSpPr>
        <p:spPr>
          <a:xfrm>
            <a:off x="845837" y="32271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t>
            </a:r>
            <a:endParaRPr lang="en-US" sz="675" dirty="0"/>
          </a:p>
        </p:txBody>
      </p:sp>
      <p:sp>
        <p:nvSpPr>
          <p:cNvPr id="26" name="Text 23"/>
          <p:cNvSpPr/>
          <p:nvPr/>
        </p:nvSpPr>
        <p:spPr>
          <a:xfrm>
            <a:off x="742950" y="3341489"/>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System.out.println("Found at: " + i);</a:t>
            </a:r>
            <a:endParaRPr lang="en-US" sz="675" dirty="0"/>
          </a:p>
        </p:txBody>
      </p:sp>
      <p:sp>
        <p:nvSpPr>
          <p:cNvPr id="27" name="Text 24"/>
          <p:cNvSpPr/>
          <p:nvPr/>
        </p:nvSpPr>
        <p:spPr>
          <a:xfrm>
            <a:off x="742950" y="35700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8" name="Text 25"/>
          <p:cNvSpPr/>
          <p:nvPr/>
        </p:nvSpPr>
        <p:spPr>
          <a:xfrm>
            <a:off x="2514600" y="1485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While Loop with Break</a:t>
            </a:r>
            <a:endParaRPr lang="en-US" sz="1125" dirty="0"/>
          </a:p>
        </p:txBody>
      </p:sp>
      <p:sp>
        <p:nvSpPr>
          <p:cNvPr id="29" name="Shape 26"/>
          <p:cNvSpPr/>
          <p:nvPr/>
        </p:nvSpPr>
        <p:spPr>
          <a:xfrm>
            <a:off x="2514600" y="1743075"/>
            <a:ext cx="1771650" cy="2057400"/>
          </a:xfrm>
          <a:prstGeom prst="rect">
            <a:avLst/>
          </a:prstGeom>
          <a:solidFill>
            <a:srgbClr val="1A202C"/>
          </a:solidFill>
          <a:ln/>
        </p:spPr>
        <p:txBody>
          <a:bodyPr/>
          <a:lstStyle/>
          <a:p>
            <a:endParaRPr lang="en-US"/>
          </a:p>
        </p:txBody>
      </p:sp>
      <p:sp>
        <p:nvSpPr>
          <p:cNvPr id="30" name="Text 27"/>
          <p:cNvSpPr/>
          <p:nvPr/>
        </p:nvSpPr>
        <p:spPr>
          <a:xfrm>
            <a:off x="2628900" y="18555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31" name="Text 28"/>
          <p:cNvSpPr/>
          <p:nvPr/>
        </p:nvSpPr>
        <p:spPr>
          <a:xfrm>
            <a:off x="2783216" y="18555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a:t>
            </a:r>
            <a:endParaRPr lang="en-US" sz="675" dirty="0"/>
          </a:p>
        </p:txBody>
      </p:sp>
      <p:sp>
        <p:nvSpPr>
          <p:cNvPr id="32" name="Text 29"/>
          <p:cNvSpPr/>
          <p:nvPr/>
        </p:nvSpPr>
        <p:spPr>
          <a:xfrm>
            <a:off x="2628900" y="19698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33" name="Text 30"/>
          <p:cNvSpPr/>
          <p:nvPr/>
        </p:nvSpPr>
        <p:spPr>
          <a:xfrm>
            <a:off x="2988962" y="19698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34" name="Text 31"/>
          <p:cNvSpPr/>
          <p:nvPr/>
        </p:nvSpPr>
        <p:spPr>
          <a:xfrm>
            <a:off x="2628900" y="21984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35" name="Text 32"/>
          <p:cNvSpPr/>
          <p:nvPr/>
        </p:nvSpPr>
        <p:spPr>
          <a:xfrm>
            <a:off x="2886103" y="2198489"/>
            <a:ext cx="11515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&lt; array.length) {</a:t>
            </a:r>
            <a:endParaRPr lang="en-US" sz="675" dirty="0"/>
          </a:p>
        </p:txBody>
      </p:sp>
      <p:sp>
        <p:nvSpPr>
          <p:cNvPr id="36" name="Text 33"/>
          <p:cNvSpPr/>
          <p:nvPr/>
        </p:nvSpPr>
        <p:spPr>
          <a:xfrm>
            <a:off x="2731787" y="23127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37" name="Text 34"/>
          <p:cNvSpPr/>
          <p:nvPr/>
        </p:nvSpPr>
        <p:spPr>
          <a:xfrm>
            <a:off x="2834673" y="23127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38" name="Text 35"/>
          <p:cNvSpPr/>
          <p:nvPr/>
        </p:nvSpPr>
        <p:spPr>
          <a:xfrm>
            <a:off x="2628900" y="24270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39" name="Text 36"/>
          <p:cNvSpPr/>
          <p:nvPr/>
        </p:nvSpPr>
        <p:spPr>
          <a:xfrm>
            <a:off x="2834646" y="25413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break</a:t>
            </a:r>
            <a:endParaRPr lang="en-US" sz="675" dirty="0"/>
          </a:p>
        </p:txBody>
      </p:sp>
      <p:sp>
        <p:nvSpPr>
          <p:cNvPr id="40" name="Text 37"/>
          <p:cNvSpPr/>
          <p:nvPr/>
        </p:nvSpPr>
        <p:spPr>
          <a:xfrm>
            <a:off x="3091848" y="25413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1" name="Text 38"/>
          <p:cNvSpPr/>
          <p:nvPr/>
        </p:nvSpPr>
        <p:spPr>
          <a:xfrm>
            <a:off x="2628900" y="2541389"/>
            <a:ext cx="1254509" cy="2303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Exit loop immediately</a:t>
            </a:r>
            <a:endParaRPr lang="en-US" sz="675" dirty="0"/>
          </a:p>
        </p:txBody>
      </p:sp>
      <p:sp>
        <p:nvSpPr>
          <p:cNvPr id="42" name="Text 39"/>
          <p:cNvSpPr/>
          <p:nvPr/>
        </p:nvSpPr>
        <p:spPr>
          <a:xfrm>
            <a:off x="2628900" y="27699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3" name="Text 40"/>
          <p:cNvSpPr/>
          <p:nvPr/>
        </p:nvSpPr>
        <p:spPr>
          <a:xfrm>
            <a:off x="2628900" y="2884289"/>
            <a:ext cx="38007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44" name="Text 41"/>
          <p:cNvSpPr/>
          <p:nvPr/>
        </p:nvSpPr>
        <p:spPr>
          <a:xfrm>
            <a:off x="2628900" y="29985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5" name="Text 42"/>
          <p:cNvSpPr/>
          <p:nvPr/>
        </p:nvSpPr>
        <p:spPr>
          <a:xfrm>
            <a:off x="2628900" y="32271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46" name="Text 43"/>
          <p:cNvSpPr/>
          <p:nvPr/>
        </p:nvSpPr>
        <p:spPr>
          <a:xfrm>
            <a:off x="2731787" y="32271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t>
            </a:r>
            <a:endParaRPr lang="en-US" sz="675" dirty="0"/>
          </a:p>
        </p:txBody>
      </p:sp>
      <p:sp>
        <p:nvSpPr>
          <p:cNvPr id="47" name="Text 44"/>
          <p:cNvSpPr/>
          <p:nvPr/>
        </p:nvSpPr>
        <p:spPr>
          <a:xfrm>
            <a:off x="2628900" y="3341489"/>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System.out.println("Found at: " + i);</a:t>
            </a:r>
            <a:endParaRPr lang="en-US" sz="675" dirty="0"/>
          </a:p>
        </p:txBody>
      </p:sp>
      <p:sp>
        <p:nvSpPr>
          <p:cNvPr id="48" name="Text 45"/>
          <p:cNvSpPr/>
          <p:nvPr/>
        </p:nvSpPr>
        <p:spPr>
          <a:xfrm>
            <a:off x="2628900" y="35700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49" name="Shape 46"/>
          <p:cNvSpPr/>
          <p:nvPr/>
        </p:nvSpPr>
        <p:spPr>
          <a:xfrm>
            <a:off x="628650" y="3914775"/>
            <a:ext cx="3657600" cy="1285875"/>
          </a:xfrm>
          <a:prstGeom prst="rect">
            <a:avLst/>
          </a:prstGeom>
          <a:solidFill>
            <a:srgbClr val="1E3A8A">
              <a:alpha val="30000"/>
            </a:srgbClr>
          </a:solidFill>
          <a:ln/>
        </p:spPr>
        <p:txBody>
          <a:bodyPr/>
          <a:lstStyle/>
          <a:p>
            <a:endParaRPr lang="en-US"/>
          </a:p>
        </p:txBody>
      </p:sp>
      <p:sp>
        <p:nvSpPr>
          <p:cNvPr id="50" name="Shape 47"/>
          <p:cNvSpPr/>
          <p:nvPr/>
        </p:nvSpPr>
        <p:spPr>
          <a:xfrm>
            <a:off x="628650" y="3914775"/>
            <a:ext cx="28575" cy="1285875"/>
          </a:xfrm>
          <a:prstGeom prst="rect">
            <a:avLst/>
          </a:prstGeom>
          <a:solidFill>
            <a:srgbClr val="63B3ED"/>
          </a:solidFill>
          <a:ln/>
        </p:spPr>
        <p:txBody>
          <a:bodyPr/>
          <a:lstStyle/>
          <a:p>
            <a:endParaRPr lang="en-US"/>
          </a:p>
        </p:txBody>
      </p:sp>
      <p:sp>
        <p:nvSpPr>
          <p:cNvPr id="51" name="Text 48"/>
          <p:cNvSpPr/>
          <p:nvPr/>
        </p:nvSpPr>
        <p:spPr>
          <a:xfrm>
            <a:off x="742950" y="4000500"/>
            <a:ext cx="36147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Comparison</a:t>
            </a:r>
            <a:endParaRPr lang="en-US" sz="1013" dirty="0"/>
          </a:p>
        </p:txBody>
      </p:sp>
      <p:sp>
        <p:nvSpPr>
          <p:cNvPr id="52" name="Text 49"/>
          <p:cNvSpPr/>
          <p:nvPr/>
        </p:nvSpPr>
        <p:spPr>
          <a:xfrm>
            <a:off x="742950" y="42576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Flagged While Loop</a:t>
            </a:r>
            <a:endParaRPr lang="en-US" sz="900" dirty="0"/>
          </a:p>
        </p:txBody>
      </p:sp>
      <p:sp>
        <p:nvSpPr>
          <p:cNvPr id="53" name="Text 50"/>
          <p:cNvSpPr/>
          <p:nvPr/>
        </p:nvSpPr>
        <p:spPr>
          <a:xfrm>
            <a:off x="742950" y="44577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Condition check at loop start</a:t>
            </a:r>
            <a:endParaRPr lang="en-US" sz="675" dirty="0"/>
          </a:p>
        </p:txBody>
      </p:sp>
      <p:sp>
        <p:nvSpPr>
          <p:cNvPr id="54" name="Text 51"/>
          <p:cNvSpPr/>
          <p:nvPr/>
        </p:nvSpPr>
        <p:spPr>
          <a:xfrm>
            <a:off x="742950" y="46005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Flag state visible throughout loop</a:t>
            </a:r>
            <a:endParaRPr lang="en-US" sz="675" dirty="0"/>
          </a:p>
        </p:txBody>
      </p:sp>
      <p:sp>
        <p:nvSpPr>
          <p:cNvPr id="55" name="Text 52"/>
          <p:cNvSpPr/>
          <p:nvPr/>
        </p:nvSpPr>
        <p:spPr>
          <a:xfrm>
            <a:off x="742950" y="47434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Multiple exit conditions combined</a:t>
            </a:r>
            <a:endParaRPr lang="en-US" sz="675" dirty="0"/>
          </a:p>
        </p:txBody>
      </p:sp>
      <p:sp>
        <p:nvSpPr>
          <p:cNvPr id="56" name="Text 53"/>
          <p:cNvSpPr/>
          <p:nvPr/>
        </p:nvSpPr>
        <p:spPr>
          <a:xfrm>
            <a:off x="742950" y="48863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No abrupt flow interruption</a:t>
            </a:r>
            <a:endParaRPr lang="en-US" sz="675" dirty="0"/>
          </a:p>
        </p:txBody>
      </p:sp>
      <p:sp>
        <p:nvSpPr>
          <p:cNvPr id="57" name="Text 54"/>
          <p:cNvSpPr/>
          <p:nvPr/>
        </p:nvSpPr>
        <p:spPr>
          <a:xfrm>
            <a:off x="2571750" y="42576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While Loop with Break</a:t>
            </a:r>
            <a:endParaRPr lang="en-US" sz="900" dirty="0"/>
          </a:p>
        </p:txBody>
      </p:sp>
      <p:sp>
        <p:nvSpPr>
          <p:cNvPr id="58" name="Text 55"/>
          <p:cNvSpPr/>
          <p:nvPr/>
        </p:nvSpPr>
        <p:spPr>
          <a:xfrm>
            <a:off x="2571750" y="44577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Immediate exit when condition met</a:t>
            </a:r>
            <a:endParaRPr lang="en-US" sz="675" dirty="0"/>
          </a:p>
        </p:txBody>
      </p:sp>
      <p:sp>
        <p:nvSpPr>
          <p:cNvPr id="59" name="Text 56"/>
          <p:cNvSpPr/>
          <p:nvPr/>
        </p:nvSpPr>
        <p:spPr>
          <a:xfrm>
            <a:off x="2571750" y="46005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Potentially more efficient</a:t>
            </a:r>
            <a:endParaRPr lang="en-US" sz="675" dirty="0"/>
          </a:p>
        </p:txBody>
      </p:sp>
      <p:sp>
        <p:nvSpPr>
          <p:cNvPr id="60" name="Text 57"/>
          <p:cNvSpPr/>
          <p:nvPr/>
        </p:nvSpPr>
        <p:spPr>
          <a:xfrm>
            <a:off x="2571750" y="4743450"/>
            <a:ext cx="1785938" cy="2286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Can be harder to follow with multiple breaks</a:t>
            </a:r>
            <a:endParaRPr lang="en-US" sz="675" dirty="0"/>
          </a:p>
        </p:txBody>
      </p:sp>
      <p:sp>
        <p:nvSpPr>
          <p:cNvPr id="61" name="Text 58"/>
          <p:cNvSpPr/>
          <p:nvPr/>
        </p:nvSpPr>
        <p:spPr>
          <a:xfrm>
            <a:off x="2571750" y="50006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Interrupts normal flow control</a:t>
            </a:r>
            <a:endParaRPr lang="en-US" sz="675" dirty="0"/>
          </a:p>
        </p:txBody>
      </p:sp>
      <p:sp>
        <p:nvSpPr>
          <p:cNvPr id="62" name="Shape 59"/>
          <p:cNvSpPr/>
          <p:nvPr/>
        </p:nvSpPr>
        <p:spPr>
          <a:xfrm>
            <a:off x="457200" y="5543550"/>
            <a:ext cx="4000500" cy="46434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3" name="Text 60"/>
          <p:cNvSpPr/>
          <p:nvPr/>
        </p:nvSpPr>
        <p:spPr>
          <a:xfrm>
            <a:off x="628650" y="5715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Alternative 2: Do-While Loop</a:t>
            </a:r>
            <a:endParaRPr lang="en-US" sz="1350" dirty="0"/>
          </a:p>
        </p:txBody>
      </p:sp>
      <p:sp>
        <p:nvSpPr>
          <p:cNvPr id="64" name="Text 61"/>
          <p:cNvSpPr/>
          <p:nvPr/>
        </p:nvSpPr>
        <p:spPr>
          <a:xfrm>
            <a:off x="628650" y="6057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Flagged While Loop</a:t>
            </a:r>
            <a:endParaRPr lang="en-US" sz="1125" dirty="0"/>
          </a:p>
        </p:txBody>
      </p:sp>
      <p:sp>
        <p:nvSpPr>
          <p:cNvPr id="65" name="Shape 62"/>
          <p:cNvSpPr/>
          <p:nvPr/>
        </p:nvSpPr>
        <p:spPr>
          <a:xfrm>
            <a:off x="628650" y="6315075"/>
            <a:ext cx="1771650" cy="2171700"/>
          </a:xfrm>
          <a:prstGeom prst="rect">
            <a:avLst/>
          </a:prstGeom>
          <a:solidFill>
            <a:srgbClr val="1A202C"/>
          </a:solidFill>
          <a:ln/>
        </p:spPr>
        <p:txBody>
          <a:bodyPr/>
          <a:lstStyle/>
          <a:p>
            <a:endParaRPr lang="en-US"/>
          </a:p>
        </p:txBody>
      </p:sp>
      <p:sp>
        <p:nvSpPr>
          <p:cNvPr id="66" name="Text 63"/>
          <p:cNvSpPr/>
          <p:nvPr/>
        </p:nvSpPr>
        <p:spPr>
          <a:xfrm>
            <a:off x="742950" y="6427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67" name="Text 64"/>
          <p:cNvSpPr/>
          <p:nvPr/>
        </p:nvSpPr>
        <p:spPr>
          <a:xfrm>
            <a:off x="1103012" y="6427589"/>
            <a:ext cx="110016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false;</a:t>
            </a:r>
            <a:endParaRPr lang="en-US" sz="675" dirty="0"/>
          </a:p>
        </p:txBody>
      </p:sp>
      <p:sp>
        <p:nvSpPr>
          <p:cNvPr id="68" name="Text 65"/>
          <p:cNvSpPr/>
          <p:nvPr/>
        </p:nvSpPr>
        <p:spPr>
          <a:xfrm>
            <a:off x="742950" y="6541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69" name="Text 66"/>
          <p:cNvSpPr/>
          <p:nvPr/>
        </p:nvSpPr>
        <p:spPr>
          <a:xfrm>
            <a:off x="897266" y="654188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number = 0;</a:t>
            </a:r>
            <a:endParaRPr lang="en-US" sz="675" dirty="0"/>
          </a:p>
        </p:txBody>
      </p:sp>
      <p:sp>
        <p:nvSpPr>
          <p:cNvPr id="70" name="Text 67"/>
          <p:cNvSpPr/>
          <p:nvPr/>
        </p:nvSpPr>
        <p:spPr>
          <a:xfrm>
            <a:off x="742950" y="67704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71" name="Text 68"/>
          <p:cNvSpPr/>
          <p:nvPr/>
        </p:nvSpPr>
        <p:spPr>
          <a:xfrm>
            <a:off x="1000153" y="67704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a:t>
            </a:r>
            <a:endParaRPr lang="en-US" sz="675" dirty="0"/>
          </a:p>
        </p:txBody>
      </p:sp>
      <p:sp>
        <p:nvSpPr>
          <p:cNvPr id="72" name="Text 69"/>
          <p:cNvSpPr/>
          <p:nvPr/>
        </p:nvSpPr>
        <p:spPr>
          <a:xfrm>
            <a:off x="742950" y="6884789"/>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System.out.print("Enter a number: ");</a:t>
            </a:r>
            <a:endParaRPr lang="en-US" sz="675" dirty="0"/>
          </a:p>
        </p:txBody>
      </p:sp>
      <p:sp>
        <p:nvSpPr>
          <p:cNvPr id="73" name="Text 70"/>
          <p:cNvSpPr/>
          <p:nvPr/>
        </p:nvSpPr>
        <p:spPr>
          <a:xfrm>
            <a:off x="845837" y="71133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try</a:t>
            </a:r>
            <a:endParaRPr lang="en-US" sz="675" dirty="0"/>
          </a:p>
        </p:txBody>
      </p:sp>
      <p:sp>
        <p:nvSpPr>
          <p:cNvPr id="74" name="Text 71"/>
          <p:cNvSpPr/>
          <p:nvPr/>
        </p:nvSpPr>
        <p:spPr>
          <a:xfrm>
            <a:off x="1000153" y="71133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75" name="Text 72"/>
          <p:cNvSpPr/>
          <p:nvPr/>
        </p:nvSpPr>
        <p:spPr>
          <a:xfrm>
            <a:off x="742950" y="7227689"/>
            <a:ext cx="997279"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number = scanner.nextInt();</a:t>
            </a:r>
            <a:endParaRPr lang="en-US" sz="675" dirty="0"/>
          </a:p>
        </p:txBody>
      </p:sp>
      <p:sp>
        <p:nvSpPr>
          <p:cNvPr id="76" name="Text 73"/>
          <p:cNvSpPr/>
          <p:nvPr/>
        </p:nvSpPr>
        <p:spPr>
          <a:xfrm>
            <a:off x="742950" y="7456289"/>
            <a:ext cx="12030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true;</a:t>
            </a:r>
            <a:endParaRPr lang="en-US" sz="675" dirty="0"/>
          </a:p>
        </p:txBody>
      </p:sp>
      <p:sp>
        <p:nvSpPr>
          <p:cNvPr id="77" name="Text 74"/>
          <p:cNvSpPr/>
          <p:nvPr/>
        </p:nvSpPr>
        <p:spPr>
          <a:xfrm>
            <a:off x="742950" y="75705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78" name="Text 75"/>
          <p:cNvSpPr/>
          <p:nvPr/>
        </p:nvSpPr>
        <p:spPr>
          <a:xfrm>
            <a:off x="948696" y="75705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catch</a:t>
            </a:r>
            <a:endParaRPr lang="en-US" sz="675" dirty="0"/>
          </a:p>
        </p:txBody>
      </p:sp>
      <p:sp>
        <p:nvSpPr>
          <p:cNvPr id="79" name="Text 76"/>
          <p:cNvSpPr/>
          <p:nvPr/>
        </p:nvSpPr>
        <p:spPr>
          <a:xfrm>
            <a:off x="1205898" y="75705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(Exception e) {</a:t>
            </a:r>
            <a:endParaRPr lang="en-US" sz="675" dirty="0"/>
          </a:p>
        </p:txBody>
      </p:sp>
      <p:sp>
        <p:nvSpPr>
          <p:cNvPr id="80" name="Text 77"/>
          <p:cNvSpPr/>
          <p:nvPr/>
        </p:nvSpPr>
        <p:spPr>
          <a:xfrm>
            <a:off x="742950" y="7684889"/>
            <a:ext cx="1665945"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System.out.println("Invalid input!");</a:t>
            </a:r>
            <a:endParaRPr lang="en-US" sz="675" dirty="0"/>
          </a:p>
        </p:txBody>
      </p:sp>
      <p:sp>
        <p:nvSpPr>
          <p:cNvPr id="81" name="Text 78"/>
          <p:cNvSpPr/>
          <p:nvPr/>
        </p:nvSpPr>
        <p:spPr>
          <a:xfrm>
            <a:off x="742950" y="7913489"/>
            <a:ext cx="1305883"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scanner.nextLine();</a:t>
            </a:r>
            <a:endParaRPr lang="en-US" sz="675" dirty="0"/>
          </a:p>
        </p:txBody>
      </p:sp>
      <p:sp>
        <p:nvSpPr>
          <p:cNvPr id="82" name="Text 79"/>
          <p:cNvSpPr/>
          <p:nvPr/>
        </p:nvSpPr>
        <p:spPr>
          <a:xfrm>
            <a:off x="742950" y="7913489"/>
            <a:ext cx="1408770" cy="2303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Clear buffer</a:t>
            </a:r>
            <a:endParaRPr lang="en-US" sz="675" dirty="0"/>
          </a:p>
        </p:txBody>
      </p:sp>
      <p:sp>
        <p:nvSpPr>
          <p:cNvPr id="83" name="Text 80"/>
          <p:cNvSpPr/>
          <p:nvPr/>
        </p:nvSpPr>
        <p:spPr>
          <a:xfrm>
            <a:off x="742950" y="81420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84" name="Text 81"/>
          <p:cNvSpPr/>
          <p:nvPr/>
        </p:nvSpPr>
        <p:spPr>
          <a:xfrm>
            <a:off x="742950" y="82563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85" name="Text 82"/>
          <p:cNvSpPr/>
          <p:nvPr/>
        </p:nvSpPr>
        <p:spPr>
          <a:xfrm>
            <a:off x="2514600" y="6057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Do-While Loop</a:t>
            </a:r>
            <a:endParaRPr lang="en-US" sz="1125" dirty="0"/>
          </a:p>
        </p:txBody>
      </p:sp>
      <p:sp>
        <p:nvSpPr>
          <p:cNvPr id="86" name="Shape 83"/>
          <p:cNvSpPr/>
          <p:nvPr/>
        </p:nvSpPr>
        <p:spPr>
          <a:xfrm>
            <a:off x="2514600" y="6315075"/>
            <a:ext cx="1771650" cy="2400300"/>
          </a:xfrm>
          <a:prstGeom prst="rect">
            <a:avLst/>
          </a:prstGeom>
          <a:solidFill>
            <a:srgbClr val="1A202C"/>
          </a:solidFill>
          <a:ln/>
        </p:spPr>
        <p:txBody>
          <a:bodyPr/>
          <a:lstStyle/>
          <a:p>
            <a:endParaRPr lang="en-US"/>
          </a:p>
        </p:txBody>
      </p:sp>
      <p:sp>
        <p:nvSpPr>
          <p:cNvPr id="87" name="Text 84"/>
          <p:cNvSpPr/>
          <p:nvPr/>
        </p:nvSpPr>
        <p:spPr>
          <a:xfrm>
            <a:off x="2628900" y="64275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88" name="Text 85"/>
          <p:cNvSpPr/>
          <p:nvPr/>
        </p:nvSpPr>
        <p:spPr>
          <a:xfrm>
            <a:off x="2783216" y="642758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number = 0;</a:t>
            </a:r>
            <a:endParaRPr lang="en-US" sz="675" dirty="0"/>
          </a:p>
        </p:txBody>
      </p:sp>
      <p:sp>
        <p:nvSpPr>
          <p:cNvPr id="89" name="Text 86"/>
          <p:cNvSpPr/>
          <p:nvPr/>
        </p:nvSpPr>
        <p:spPr>
          <a:xfrm>
            <a:off x="2628900" y="65418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90" name="Text 87"/>
          <p:cNvSpPr/>
          <p:nvPr/>
        </p:nvSpPr>
        <p:spPr>
          <a:xfrm>
            <a:off x="2988962" y="6541889"/>
            <a:ext cx="68867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a:t>
            </a:r>
            <a:endParaRPr lang="en-US" sz="675" dirty="0"/>
          </a:p>
        </p:txBody>
      </p:sp>
      <p:sp>
        <p:nvSpPr>
          <p:cNvPr id="91" name="Text 88"/>
          <p:cNvSpPr/>
          <p:nvPr/>
        </p:nvSpPr>
        <p:spPr>
          <a:xfrm>
            <a:off x="2628900" y="67704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do</a:t>
            </a:r>
            <a:endParaRPr lang="en-US" sz="675" dirty="0"/>
          </a:p>
        </p:txBody>
      </p:sp>
      <p:sp>
        <p:nvSpPr>
          <p:cNvPr id="92" name="Text 89"/>
          <p:cNvSpPr/>
          <p:nvPr/>
        </p:nvSpPr>
        <p:spPr>
          <a:xfrm>
            <a:off x="2731787" y="67704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93" name="Text 90"/>
          <p:cNvSpPr/>
          <p:nvPr/>
        </p:nvSpPr>
        <p:spPr>
          <a:xfrm>
            <a:off x="2628900" y="6884789"/>
            <a:ext cx="11515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true;</a:t>
            </a:r>
            <a:endParaRPr lang="en-US" sz="675" dirty="0"/>
          </a:p>
        </p:txBody>
      </p:sp>
      <p:sp>
        <p:nvSpPr>
          <p:cNvPr id="94" name="Text 91"/>
          <p:cNvSpPr/>
          <p:nvPr/>
        </p:nvSpPr>
        <p:spPr>
          <a:xfrm>
            <a:off x="2628900" y="6884789"/>
            <a:ext cx="1614515" cy="2303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Assume valid</a:t>
            </a:r>
            <a:endParaRPr lang="en-US" sz="675" dirty="0"/>
          </a:p>
        </p:txBody>
      </p:sp>
      <p:sp>
        <p:nvSpPr>
          <p:cNvPr id="95" name="Text 92"/>
          <p:cNvSpPr/>
          <p:nvPr/>
        </p:nvSpPr>
        <p:spPr>
          <a:xfrm>
            <a:off x="2628900" y="7113389"/>
            <a:ext cx="1460199"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System.out.print("Enter a number: ");</a:t>
            </a:r>
            <a:endParaRPr lang="en-US" sz="675" dirty="0"/>
          </a:p>
        </p:txBody>
      </p:sp>
      <p:sp>
        <p:nvSpPr>
          <p:cNvPr id="96" name="Text 93"/>
          <p:cNvSpPr/>
          <p:nvPr/>
        </p:nvSpPr>
        <p:spPr>
          <a:xfrm>
            <a:off x="2731787" y="73419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try</a:t>
            </a:r>
            <a:endParaRPr lang="en-US" sz="675" dirty="0"/>
          </a:p>
        </p:txBody>
      </p:sp>
      <p:sp>
        <p:nvSpPr>
          <p:cNvPr id="97" name="Text 94"/>
          <p:cNvSpPr/>
          <p:nvPr/>
        </p:nvSpPr>
        <p:spPr>
          <a:xfrm>
            <a:off x="2886103" y="73419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98" name="Text 95"/>
          <p:cNvSpPr/>
          <p:nvPr/>
        </p:nvSpPr>
        <p:spPr>
          <a:xfrm>
            <a:off x="2628900" y="7456289"/>
            <a:ext cx="997279"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number = scanner.nextInt();</a:t>
            </a:r>
            <a:endParaRPr lang="en-US" sz="675" dirty="0"/>
          </a:p>
        </p:txBody>
      </p:sp>
      <p:sp>
        <p:nvSpPr>
          <p:cNvPr id="99" name="Text 96"/>
          <p:cNvSpPr/>
          <p:nvPr/>
        </p:nvSpPr>
        <p:spPr>
          <a:xfrm>
            <a:off x="2628900" y="76848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00" name="Text 97"/>
          <p:cNvSpPr/>
          <p:nvPr/>
        </p:nvSpPr>
        <p:spPr>
          <a:xfrm>
            <a:off x="2834646" y="76848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catch</a:t>
            </a:r>
            <a:endParaRPr lang="en-US" sz="675" dirty="0"/>
          </a:p>
        </p:txBody>
      </p:sp>
      <p:sp>
        <p:nvSpPr>
          <p:cNvPr id="101" name="Text 98"/>
          <p:cNvSpPr/>
          <p:nvPr/>
        </p:nvSpPr>
        <p:spPr>
          <a:xfrm>
            <a:off x="3091848" y="76848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(Exception e) {</a:t>
            </a:r>
            <a:endParaRPr lang="en-US" sz="675" dirty="0"/>
          </a:p>
        </p:txBody>
      </p:sp>
      <p:sp>
        <p:nvSpPr>
          <p:cNvPr id="102" name="Text 99"/>
          <p:cNvSpPr/>
          <p:nvPr/>
        </p:nvSpPr>
        <p:spPr>
          <a:xfrm>
            <a:off x="2628900" y="7799189"/>
            <a:ext cx="1665945"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System.out.println("Invalid input!");</a:t>
            </a:r>
            <a:endParaRPr lang="en-US" sz="675" dirty="0"/>
          </a:p>
        </p:txBody>
      </p:sp>
      <p:sp>
        <p:nvSpPr>
          <p:cNvPr id="103" name="Text 100"/>
          <p:cNvSpPr/>
          <p:nvPr/>
        </p:nvSpPr>
        <p:spPr>
          <a:xfrm>
            <a:off x="2628900" y="8027789"/>
            <a:ext cx="1305883" cy="1160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scanner.nextLine();</a:t>
            </a:r>
            <a:endParaRPr lang="en-US" sz="675" dirty="0"/>
          </a:p>
        </p:txBody>
      </p:sp>
      <p:sp>
        <p:nvSpPr>
          <p:cNvPr id="104" name="Text 101"/>
          <p:cNvSpPr/>
          <p:nvPr/>
        </p:nvSpPr>
        <p:spPr>
          <a:xfrm>
            <a:off x="2628900" y="8027789"/>
            <a:ext cx="1408770" cy="2303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Clear buffer</a:t>
            </a:r>
            <a:endParaRPr lang="en-US" sz="675" dirty="0"/>
          </a:p>
        </p:txBody>
      </p:sp>
      <p:sp>
        <p:nvSpPr>
          <p:cNvPr id="105" name="Text 102"/>
          <p:cNvSpPr/>
          <p:nvPr/>
        </p:nvSpPr>
        <p:spPr>
          <a:xfrm>
            <a:off x="2628900" y="82563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 = false;</a:t>
            </a:r>
            <a:endParaRPr lang="en-US" sz="675" dirty="0"/>
          </a:p>
        </p:txBody>
      </p:sp>
      <p:sp>
        <p:nvSpPr>
          <p:cNvPr id="106" name="Text 103"/>
          <p:cNvSpPr/>
          <p:nvPr/>
        </p:nvSpPr>
        <p:spPr>
          <a:xfrm>
            <a:off x="2628900" y="83706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07" name="Text 104"/>
          <p:cNvSpPr/>
          <p:nvPr/>
        </p:nvSpPr>
        <p:spPr>
          <a:xfrm>
            <a:off x="2628900" y="84849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08" name="Text 105"/>
          <p:cNvSpPr/>
          <p:nvPr/>
        </p:nvSpPr>
        <p:spPr>
          <a:xfrm>
            <a:off x="2731787" y="84849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09" name="Text 106"/>
          <p:cNvSpPr/>
          <p:nvPr/>
        </p:nvSpPr>
        <p:spPr>
          <a:xfrm>
            <a:off x="2988990" y="84849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(!validInput);</a:t>
            </a:r>
            <a:endParaRPr lang="en-US" sz="675" dirty="0"/>
          </a:p>
        </p:txBody>
      </p:sp>
      <p:sp>
        <p:nvSpPr>
          <p:cNvPr id="110" name="Shape 107"/>
          <p:cNvSpPr/>
          <p:nvPr/>
        </p:nvSpPr>
        <p:spPr>
          <a:xfrm>
            <a:off x="628650" y="8829675"/>
            <a:ext cx="3657600" cy="1171575"/>
          </a:xfrm>
          <a:prstGeom prst="rect">
            <a:avLst/>
          </a:prstGeom>
          <a:solidFill>
            <a:srgbClr val="1E3A8A">
              <a:alpha val="30000"/>
            </a:srgbClr>
          </a:solidFill>
          <a:ln/>
        </p:spPr>
        <p:txBody>
          <a:bodyPr/>
          <a:lstStyle/>
          <a:p>
            <a:endParaRPr lang="en-US"/>
          </a:p>
        </p:txBody>
      </p:sp>
      <p:sp>
        <p:nvSpPr>
          <p:cNvPr id="111" name="Shape 108"/>
          <p:cNvSpPr/>
          <p:nvPr/>
        </p:nvSpPr>
        <p:spPr>
          <a:xfrm>
            <a:off x="628650" y="8829675"/>
            <a:ext cx="28575" cy="1171575"/>
          </a:xfrm>
          <a:prstGeom prst="rect">
            <a:avLst/>
          </a:prstGeom>
          <a:solidFill>
            <a:srgbClr val="63B3ED"/>
          </a:solidFill>
          <a:ln/>
        </p:spPr>
        <p:txBody>
          <a:bodyPr/>
          <a:lstStyle/>
          <a:p>
            <a:endParaRPr lang="en-US"/>
          </a:p>
        </p:txBody>
      </p:sp>
      <p:sp>
        <p:nvSpPr>
          <p:cNvPr id="112" name="Text 109"/>
          <p:cNvSpPr/>
          <p:nvPr/>
        </p:nvSpPr>
        <p:spPr>
          <a:xfrm>
            <a:off x="742950" y="8915400"/>
            <a:ext cx="36147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Comparison</a:t>
            </a:r>
            <a:endParaRPr lang="en-US" sz="1013" dirty="0"/>
          </a:p>
        </p:txBody>
      </p:sp>
      <p:sp>
        <p:nvSpPr>
          <p:cNvPr id="113" name="Text 110"/>
          <p:cNvSpPr/>
          <p:nvPr/>
        </p:nvSpPr>
        <p:spPr>
          <a:xfrm>
            <a:off x="742950" y="91725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Flagged While Loop</a:t>
            </a:r>
            <a:endParaRPr lang="en-US" sz="900" dirty="0"/>
          </a:p>
        </p:txBody>
      </p:sp>
      <p:sp>
        <p:nvSpPr>
          <p:cNvPr id="114" name="Text 111"/>
          <p:cNvSpPr/>
          <p:nvPr/>
        </p:nvSpPr>
        <p:spPr>
          <a:xfrm>
            <a:off x="742950" y="93726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Flag initialized before loop</a:t>
            </a:r>
            <a:endParaRPr lang="en-US" sz="675" dirty="0"/>
          </a:p>
        </p:txBody>
      </p:sp>
      <p:sp>
        <p:nvSpPr>
          <p:cNvPr id="115" name="Text 112"/>
          <p:cNvSpPr/>
          <p:nvPr/>
        </p:nvSpPr>
        <p:spPr>
          <a:xfrm>
            <a:off x="742950" y="95154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Condition checked before first iteration</a:t>
            </a:r>
            <a:endParaRPr lang="en-US" sz="675" dirty="0"/>
          </a:p>
        </p:txBody>
      </p:sp>
      <p:sp>
        <p:nvSpPr>
          <p:cNvPr id="116" name="Text 113"/>
          <p:cNvSpPr/>
          <p:nvPr/>
        </p:nvSpPr>
        <p:spPr>
          <a:xfrm>
            <a:off x="742950" y="96583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Flag can be modified anywhere in loop</a:t>
            </a:r>
            <a:endParaRPr lang="en-US" sz="675" dirty="0"/>
          </a:p>
        </p:txBody>
      </p:sp>
      <p:sp>
        <p:nvSpPr>
          <p:cNvPr id="117" name="Text 114"/>
          <p:cNvSpPr/>
          <p:nvPr/>
        </p:nvSpPr>
        <p:spPr>
          <a:xfrm>
            <a:off x="742950" y="98012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Consistent with other loop patterns</a:t>
            </a:r>
            <a:endParaRPr lang="en-US" sz="675" dirty="0"/>
          </a:p>
        </p:txBody>
      </p:sp>
      <p:sp>
        <p:nvSpPr>
          <p:cNvPr id="118" name="Text 115"/>
          <p:cNvSpPr/>
          <p:nvPr/>
        </p:nvSpPr>
        <p:spPr>
          <a:xfrm>
            <a:off x="2571750" y="91725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Do-While Loop</a:t>
            </a:r>
            <a:endParaRPr lang="en-US" sz="900" dirty="0"/>
          </a:p>
        </p:txBody>
      </p:sp>
      <p:sp>
        <p:nvSpPr>
          <p:cNvPr id="119" name="Text 116"/>
          <p:cNvSpPr/>
          <p:nvPr/>
        </p:nvSpPr>
        <p:spPr>
          <a:xfrm>
            <a:off x="2571750" y="93726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Always executes at least once</a:t>
            </a:r>
            <a:endParaRPr lang="en-US" sz="675" dirty="0"/>
          </a:p>
        </p:txBody>
      </p:sp>
      <p:sp>
        <p:nvSpPr>
          <p:cNvPr id="120" name="Text 117"/>
          <p:cNvSpPr/>
          <p:nvPr/>
        </p:nvSpPr>
        <p:spPr>
          <a:xfrm>
            <a:off x="2571750" y="95154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Condition checked at end of loop</a:t>
            </a:r>
            <a:endParaRPr lang="en-US" sz="675" dirty="0"/>
          </a:p>
        </p:txBody>
      </p:sp>
      <p:sp>
        <p:nvSpPr>
          <p:cNvPr id="121" name="Text 118"/>
          <p:cNvSpPr/>
          <p:nvPr/>
        </p:nvSpPr>
        <p:spPr>
          <a:xfrm>
            <a:off x="2571750" y="96583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Better when first iteration must run</a:t>
            </a:r>
            <a:endParaRPr lang="en-US" sz="675" dirty="0"/>
          </a:p>
        </p:txBody>
      </p:sp>
      <p:sp>
        <p:nvSpPr>
          <p:cNvPr id="122" name="Text 119"/>
          <p:cNvSpPr/>
          <p:nvPr/>
        </p:nvSpPr>
        <p:spPr>
          <a:xfrm>
            <a:off x="2571750" y="98012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Can be more concise for input validation</a:t>
            </a:r>
            <a:endParaRPr lang="en-US" sz="675" dirty="0"/>
          </a:p>
        </p:txBody>
      </p:sp>
      <p:sp>
        <p:nvSpPr>
          <p:cNvPr id="123" name="Shape 120"/>
          <p:cNvSpPr/>
          <p:nvPr/>
        </p:nvSpPr>
        <p:spPr>
          <a:xfrm>
            <a:off x="4686300" y="971550"/>
            <a:ext cx="4000500" cy="45291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24" name="Text 121"/>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Alternative 3: For Loop</a:t>
            </a:r>
            <a:endParaRPr lang="en-US" sz="1350" dirty="0"/>
          </a:p>
        </p:txBody>
      </p:sp>
      <p:sp>
        <p:nvSpPr>
          <p:cNvPr id="125" name="Text 122"/>
          <p:cNvSpPr/>
          <p:nvPr/>
        </p:nvSpPr>
        <p:spPr>
          <a:xfrm>
            <a:off x="4857750" y="1485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Flagged While Loop</a:t>
            </a:r>
            <a:endParaRPr lang="en-US" sz="1125" dirty="0"/>
          </a:p>
        </p:txBody>
      </p:sp>
      <p:sp>
        <p:nvSpPr>
          <p:cNvPr id="126" name="Shape 123"/>
          <p:cNvSpPr/>
          <p:nvPr/>
        </p:nvSpPr>
        <p:spPr>
          <a:xfrm>
            <a:off x="4857750" y="1743075"/>
            <a:ext cx="1771650" cy="1714500"/>
          </a:xfrm>
          <a:prstGeom prst="rect">
            <a:avLst/>
          </a:prstGeom>
          <a:solidFill>
            <a:srgbClr val="1A202C"/>
          </a:solidFill>
          <a:ln/>
        </p:spPr>
        <p:txBody>
          <a:bodyPr/>
          <a:lstStyle/>
          <a:p>
            <a:endParaRPr lang="en-US"/>
          </a:p>
        </p:txBody>
      </p:sp>
      <p:sp>
        <p:nvSpPr>
          <p:cNvPr id="127" name="Text 124"/>
          <p:cNvSpPr/>
          <p:nvPr/>
        </p:nvSpPr>
        <p:spPr>
          <a:xfrm>
            <a:off x="4972050" y="18555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28" name="Text 125"/>
          <p:cNvSpPr/>
          <p:nvPr/>
        </p:nvSpPr>
        <p:spPr>
          <a:xfrm>
            <a:off x="5332112" y="18555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129" name="Text 126"/>
          <p:cNvSpPr/>
          <p:nvPr/>
        </p:nvSpPr>
        <p:spPr>
          <a:xfrm>
            <a:off x="4972050" y="1969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30" name="Text 127"/>
          <p:cNvSpPr/>
          <p:nvPr/>
        </p:nvSpPr>
        <p:spPr>
          <a:xfrm>
            <a:off x="5126366" y="19698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a:t>
            </a:r>
            <a:endParaRPr lang="en-US" sz="675" dirty="0"/>
          </a:p>
        </p:txBody>
      </p:sp>
      <p:sp>
        <p:nvSpPr>
          <p:cNvPr id="131" name="Text 128"/>
          <p:cNvSpPr/>
          <p:nvPr/>
        </p:nvSpPr>
        <p:spPr>
          <a:xfrm>
            <a:off x="4972050" y="2084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32" name="Text 129"/>
          <p:cNvSpPr/>
          <p:nvPr/>
        </p:nvSpPr>
        <p:spPr>
          <a:xfrm>
            <a:off x="5126366" y="2084189"/>
            <a:ext cx="74010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result = -1;</a:t>
            </a:r>
            <a:endParaRPr lang="en-US" sz="675" dirty="0"/>
          </a:p>
        </p:txBody>
      </p:sp>
      <p:sp>
        <p:nvSpPr>
          <p:cNvPr id="133" name="Text 130"/>
          <p:cNvSpPr/>
          <p:nvPr/>
        </p:nvSpPr>
        <p:spPr>
          <a:xfrm>
            <a:off x="4972050" y="23127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34" name="Text 131"/>
          <p:cNvSpPr/>
          <p:nvPr/>
        </p:nvSpPr>
        <p:spPr>
          <a:xfrm>
            <a:off x="4972050" y="2312789"/>
            <a:ext cx="1100193"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&amp;&amp; i &lt; array.length) {</a:t>
            </a:r>
            <a:endParaRPr lang="en-US" sz="675" dirty="0"/>
          </a:p>
        </p:txBody>
      </p:sp>
      <p:sp>
        <p:nvSpPr>
          <p:cNvPr id="135" name="Text 132"/>
          <p:cNvSpPr/>
          <p:nvPr/>
        </p:nvSpPr>
        <p:spPr>
          <a:xfrm>
            <a:off x="5074937" y="25413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36" name="Text 133"/>
          <p:cNvSpPr/>
          <p:nvPr/>
        </p:nvSpPr>
        <p:spPr>
          <a:xfrm>
            <a:off x="5177823" y="25413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137" name="Text 134"/>
          <p:cNvSpPr/>
          <p:nvPr/>
        </p:nvSpPr>
        <p:spPr>
          <a:xfrm>
            <a:off x="4972050" y="265568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138" name="Text 135"/>
          <p:cNvSpPr/>
          <p:nvPr/>
        </p:nvSpPr>
        <p:spPr>
          <a:xfrm>
            <a:off x="4972050" y="27699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result = i;</a:t>
            </a:r>
            <a:endParaRPr lang="en-US" sz="675" dirty="0"/>
          </a:p>
        </p:txBody>
      </p:sp>
      <p:sp>
        <p:nvSpPr>
          <p:cNvPr id="139" name="Text 136"/>
          <p:cNvSpPr/>
          <p:nvPr/>
        </p:nvSpPr>
        <p:spPr>
          <a:xfrm>
            <a:off x="4972050" y="28842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0" name="Text 137"/>
          <p:cNvSpPr/>
          <p:nvPr/>
        </p:nvSpPr>
        <p:spPr>
          <a:xfrm>
            <a:off x="5177796" y="28842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141" name="Text 138"/>
          <p:cNvSpPr/>
          <p:nvPr/>
        </p:nvSpPr>
        <p:spPr>
          <a:xfrm>
            <a:off x="5383541" y="28842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2" name="Text 139"/>
          <p:cNvSpPr/>
          <p:nvPr/>
        </p:nvSpPr>
        <p:spPr>
          <a:xfrm>
            <a:off x="4972050" y="2998589"/>
            <a:ext cx="48292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143" name="Text 140"/>
          <p:cNvSpPr/>
          <p:nvPr/>
        </p:nvSpPr>
        <p:spPr>
          <a:xfrm>
            <a:off x="4972050" y="31128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4" name="Text 141"/>
          <p:cNvSpPr/>
          <p:nvPr/>
        </p:nvSpPr>
        <p:spPr>
          <a:xfrm>
            <a:off x="4972050" y="32271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45" name="Text 142"/>
          <p:cNvSpPr/>
          <p:nvPr/>
        </p:nvSpPr>
        <p:spPr>
          <a:xfrm>
            <a:off x="6743700" y="14859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For Loop</a:t>
            </a:r>
            <a:endParaRPr lang="en-US" sz="1125" dirty="0"/>
          </a:p>
        </p:txBody>
      </p:sp>
      <p:sp>
        <p:nvSpPr>
          <p:cNvPr id="146" name="Shape 143"/>
          <p:cNvSpPr/>
          <p:nvPr/>
        </p:nvSpPr>
        <p:spPr>
          <a:xfrm>
            <a:off x="6743700" y="1743075"/>
            <a:ext cx="1771650" cy="2286000"/>
          </a:xfrm>
          <a:prstGeom prst="rect">
            <a:avLst/>
          </a:prstGeom>
          <a:solidFill>
            <a:srgbClr val="1A202C"/>
          </a:solidFill>
          <a:ln/>
        </p:spPr>
        <p:txBody>
          <a:bodyPr/>
          <a:lstStyle/>
          <a:p>
            <a:endParaRPr lang="en-US"/>
          </a:p>
        </p:txBody>
      </p:sp>
      <p:sp>
        <p:nvSpPr>
          <p:cNvPr id="147" name="Text 144"/>
          <p:cNvSpPr/>
          <p:nvPr/>
        </p:nvSpPr>
        <p:spPr>
          <a:xfrm>
            <a:off x="6858000" y="18555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48" name="Text 145"/>
          <p:cNvSpPr/>
          <p:nvPr/>
        </p:nvSpPr>
        <p:spPr>
          <a:xfrm>
            <a:off x="7012316" y="1855589"/>
            <a:ext cx="74010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result = -1;</a:t>
            </a:r>
            <a:endParaRPr lang="en-US" sz="675" dirty="0"/>
          </a:p>
        </p:txBody>
      </p:sp>
      <p:sp>
        <p:nvSpPr>
          <p:cNvPr id="149" name="Text 146"/>
          <p:cNvSpPr/>
          <p:nvPr/>
        </p:nvSpPr>
        <p:spPr>
          <a:xfrm>
            <a:off x="6858000" y="2084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for</a:t>
            </a:r>
            <a:endParaRPr lang="en-US" sz="675" dirty="0"/>
          </a:p>
        </p:txBody>
      </p:sp>
      <p:sp>
        <p:nvSpPr>
          <p:cNvPr id="150" name="Text 147"/>
          <p:cNvSpPr/>
          <p:nvPr/>
        </p:nvSpPr>
        <p:spPr>
          <a:xfrm>
            <a:off x="7012316" y="20841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1" name="Text 148"/>
          <p:cNvSpPr/>
          <p:nvPr/>
        </p:nvSpPr>
        <p:spPr>
          <a:xfrm>
            <a:off x="7115203" y="2084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52" name="Text 149"/>
          <p:cNvSpPr/>
          <p:nvPr/>
        </p:nvSpPr>
        <p:spPr>
          <a:xfrm>
            <a:off x="6858000" y="2084189"/>
            <a:ext cx="1100165"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 i &lt; array.length; i++) {</a:t>
            </a:r>
            <a:endParaRPr lang="en-US" sz="675" dirty="0"/>
          </a:p>
        </p:txBody>
      </p:sp>
      <p:sp>
        <p:nvSpPr>
          <p:cNvPr id="153" name="Text 150"/>
          <p:cNvSpPr/>
          <p:nvPr/>
        </p:nvSpPr>
        <p:spPr>
          <a:xfrm>
            <a:off x="6960887" y="23127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54" name="Text 151"/>
          <p:cNvSpPr/>
          <p:nvPr/>
        </p:nvSpPr>
        <p:spPr>
          <a:xfrm>
            <a:off x="7063773" y="23127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155" name="Text 152"/>
          <p:cNvSpPr/>
          <p:nvPr/>
        </p:nvSpPr>
        <p:spPr>
          <a:xfrm>
            <a:off x="6858000" y="24270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result = i;</a:t>
            </a:r>
            <a:endParaRPr lang="en-US" sz="675" dirty="0"/>
          </a:p>
        </p:txBody>
      </p:sp>
      <p:sp>
        <p:nvSpPr>
          <p:cNvPr id="156" name="Text 153"/>
          <p:cNvSpPr/>
          <p:nvPr/>
        </p:nvSpPr>
        <p:spPr>
          <a:xfrm>
            <a:off x="7063746" y="25413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break</a:t>
            </a:r>
            <a:endParaRPr lang="en-US" sz="675" dirty="0"/>
          </a:p>
        </p:txBody>
      </p:sp>
      <p:sp>
        <p:nvSpPr>
          <p:cNvPr id="157" name="Text 154"/>
          <p:cNvSpPr/>
          <p:nvPr/>
        </p:nvSpPr>
        <p:spPr>
          <a:xfrm>
            <a:off x="7320948" y="25413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8" name="Text 155"/>
          <p:cNvSpPr/>
          <p:nvPr/>
        </p:nvSpPr>
        <p:spPr>
          <a:xfrm>
            <a:off x="6858000" y="26556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59" name="Text 156"/>
          <p:cNvSpPr/>
          <p:nvPr/>
        </p:nvSpPr>
        <p:spPr>
          <a:xfrm>
            <a:off x="6858000" y="27699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60" name="Text 157"/>
          <p:cNvSpPr/>
          <p:nvPr/>
        </p:nvSpPr>
        <p:spPr>
          <a:xfrm>
            <a:off x="6858000" y="2998589"/>
            <a:ext cx="1563058" cy="1160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Alternative without break:</a:t>
            </a:r>
            <a:endParaRPr lang="en-US" sz="675" dirty="0"/>
          </a:p>
        </p:txBody>
      </p:sp>
      <p:sp>
        <p:nvSpPr>
          <p:cNvPr id="161" name="Text 158"/>
          <p:cNvSpPr/>
          <p:nvPr/>
        </p:nvSpPr>
        <p:spPr>
          <a:xfrm>
            <a:off x="6858000" y="3112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for</a:t>
            </a:r>
            <a:endParaRPr lang="en-US" sz="675" dirty="0"/>
          </a:p>
        </p:txBody>
      </p:sp>
      <p:sp>
        <p:nvSpPr>
          <p:cNvPr id="162" name="Text 159"/>
          <p:cNvSpPr/>
          <p:nvPr/>
        </p:nvSpPr>
        <p:spPr>
          <a:xfrm>
            <a:off x="7012316" y="31128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63" name="Text 160"/>
          <p:cNvSpPr/>
          <p:nvPr/>
        </p:nvSpPr>
        <p:spPr>
          <a:xfrm>
            <a:off x="7115203" y="31128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64" name="Text 161"/>
          <p:cNvSpPr/>
          <p:nvPr/>
        </p:nvSpPr>
        <p:spPr>
          <a:xfrm>
            <a:off x="6858000" y="3112889"/>
            <a:ext cx="1563058" cy="3446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 i &lt; array.length &amp;&amp; result == -1; i++) {</a:t>
            </a:r>
            <a:endParaRPr lang="en-US" sz="675" dirty="0"/>
          </a:p>
        </p:txBody>
      </p:sp>
      <p:sp>
        <p:nvSpPr>
          <p:cNvPr id="165" name="Text 162"/>
          <p:cNvSpPr/>
          <p:nvPr/>
        </p:nvSpPr>
        <p:spPr>
          <a:xfrm>
            <a:off x="6960887" y="34557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66" name="Text 163"/>
          <p:cNvSpPr/>
          <p:nvPr/>
        </p:nvSpPr>
        <p:spPr>
          <a:xfrm>
            <a:off x="7063773" y="34557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167" name="Text 164"/>
          <p:cNvSpPr/>
          <p:nvPr/>
        </p:nvSpPr>
        <p:spPr>
          <a:xfrm>
            <a:off x="6858000" y="35700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result = i;</a:t>
            </a:r>
            <a:endParaRPr lang="en-US" sz="675" dirty="0"/>
          </a:p>
        </p:txBody>
      </p:sp>
      <p:sp>
        <p:nvSpPr>
          <p:cNvPr id="168" name="Text 165"/>
          <p:cNvSpPr/>
          <p:nvPr/>
        </p:nvSpPr>
        <p:spPr>
          <a:xfrm>
            <a:off x="6858000" y="36843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69" name="Text 166"/>
          <p:cNvSpPr/>
          <p:nvPr/>
        </p:nvSpPr>
        <p:spPr>
          <a:xfrm>
            <a:off x="6858000" y="37986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70" name="Shape 167"/>
          <p:cNvSpPr/>
          <p:nvPr/>
        </p:nvSpPr>
        <p:spPr>
          <a:xfrm>
            <a:off x="4857750" y="4143375"/>
            <a:ext cx="3657600" cy="1171575"/>
          </a:xfrm>
          <a:prstGeom prst="rect">
            <a:avLst/>
          </a:prstGeom>
          <a:solidFill>
            <a:srgbClr val="1E3A8A">
              <a:alpha val="30000"/>
            </a:srgbClr>
          </a:solidFill>
          <a:ln/>
        </p:spPr>
        <p:txBody>
          <a:bodyPr/>
          <a:lstStyle/>
          <a:p>
            <a:endParaRPr lang="en-US"/>
          </a:p>
        </p:txBody>
      </p:sp>
      <p:sp>
        <p:nvSpPr>
          <p:cNvPr id="171" name="Shape 168"/>
          <p:cNvSpPr/>
          <p:nvPr/>
        </p:nvSpPr>
        <p:spPr>
          <a:xfrm>
            <a:off x="4857750" y="4143375"/>
            <a:ext cx="28575" cy="1171575"/>
          </a:xfrm>
          <a:prstGeom prst="rect">
            <a:avLst/>
          </a:prstGeom>
          <a:solidFill>
            <a:srgbClr val="63B3ED"/>
          </a:solidFill>
          <a:ln/>
        </p:spPr>
        <p:txBody>
          <a:bodyPr/>
          <a:lstStyle/>
          <a:p>
            <a:endParaRPr lang="en-US"/>
          </a:p>
        </p:txBody>
      </p:sp>
      <p:sp>
        <p:nvSpPr>
          <p:cNvPr id="172" name="Text 169"/>
          <p:cNvSpPr/>
          <p:nvPr/>
        </p:nvSpPr>
        <p:spPr>
          <a:xfrm>
            <a:off x="4972050" y="4229100"/>
            <a:ext cx="36147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Comparison</a:t>
            </a:r>
            <a:endParaRPr lang="en-US" sz="1013" dirty="0"/>
          </a:p>
        </p:txBody>
      </p:sp>
      <p:sp>
        <p:nvSpPr>
          <p:cNvPr id="173" name="Text 170"/>
          <p:cNvSpPr/>
          <p:nvPr/>
        </p:nvSpPr>
        <p:spPr>
          <a:xfrm>
            <a:off x="4972050" y="44862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Flagged While Loop</a:t>
            </a:r>
            <a:endParaRPr lang="en-US" sz="900" dirty="0"/>
          </a:p>
        </p:txBody>
      </p:sp>
      <p:sp>
        <p:nvSpPr>
          <p:cNvPr id="174" name="Text 171"/>
          <p:cNvSpPr/>
          <p:nvPr/>
        </p:nvSpPr>
        <p:spPr>
          <a:xfrm>
            <a:off x="4972050" y="46863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More explicit control flow</a:t>
            </a:r>
            <a:endParaRPr lang="en-US" sz="675" dirty="0"/>
          </a:p>
        </p:txBody>
      </p:sp>
      <p:sp>
        <p:nvSpPr>
          <p:cNvPr id="175" name="Text 172"/>
          <p:cNvSpPr/>
          <p:nvPr/>
        </p:nvSpPr>
        <p:spPr>
          <a:xfrm>
            <a:off x="4972050" y="48291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Flag makes search status clear</a:t>
            </a:r>
            <a:endParaRPr lang="en-US" sz="675" dirty="0"/>
          </a:p>
        </p:txBody>
      </p:sp>
      <p:sp>
        <p:nvSpPr>
          <p:cNvPr id="176" name="Text 173"/>
          <p:cNvSpPr/>
          <p:nvPr/>
        </p:nvSpPr>
        <p:spPr>
          <a:xfrm>
            <a:off x="4972050" y="49720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Better for complex termination logic</a:t>
            </a:r>
            <a:endParaRPr lang="en-US" sz="675" dirty="0"/>
          </a:p>
        </p:txBody>
      </p:sp>
      <p:sp>
        <p:nvSpPr>
          <p:cNvPr id="177" name="Text 174"/>
          <p:cNvSpPr/>
          <p:nvPr/>
        </p:nvSpPr>
        <p:spPr>
          <a:xfrm>
            <a:off x="4972050" y="51149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More flexible for dynamic conditions</a:t>
            </a:r>
            <a:endParaRPr lang="en-US" sz="675" dirty="0"/>
          </a:p>
        </p:txBody>
      </p:sp>
      <p:sp>
        <p:nvSpPr>
          <p:cNvPr id="178" name="Text 175"/>
          <p:cNvSpPr/>
          <p:nvPr/>
        </p:nvSpPr>
        <p:spPr>
          <a:xfrm>
            <a:off x="6800850" y="44862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For Loop</a:t>
            </a:r>
            <a:endParaRPr lang="en-US" sz="900" dirty="0"/>
          </a:p>
        </p:txBody>
      </p:sp>
      <p:sp>
        <p:nvSpPr>
          <p:cNvPr id="179" name="Text 176"/>
          <p:cNvSpPr/>
          <p:nvPr/>
        </p:nvSpPr>
        <p:spPr>
          <a:xfrm>
            <a:off x="6800850" y="46863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More concise for simple iterations</a:t>
            </a:r>
            <a:endParaRPr lang="en-US" sz="675" dirty="0"/>
          </a:p>
        </p:txBody>
      </p:sp>
      <p:sp>
        <p:nvSpPr>
          <p:cNvPr id="180" name="Text 177"/>
          <p:cNvSpPr/>
          <p:nvPr/>
        </p:nvSpPr>
        <p:spPr>
          <a:xfrm>
            <a:off x="6800850" y="48291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Clearer when iteration count is known</a:t>
            </a:r>
            <a:endParaRPr lang="en-US" sz="675" dirty="0"/>
          </a:p>
        </p:txBody>
      </p:sp>
      <p:sp>
        <p:nvSpPr>
          <p:cNvPr id="181" name="Text 178"/>
          <p:cNvSpPr/>
          <p:nvPr/>
        </p:nvSpPr>
        <p:spPr>
          <a:xfrm>
            <a:off x="6800850" y="49720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Scope of counter variable is limited</a:t>
            </a:r>
            <a:endParaRPr lang="en-US" sz="675" dirty="0"/>
          </a:p>
        </p:txBody>
      </p:sp>
      <p:sp>
        <p:nvSpPr>
          <p:cNvPr id="182" name="Text 179"/>
          <p:cNvSpPr/>
          <p:nvPr/>
        </p:nvSpPr>
        <p:spPr>
          <a:xfrm>
            <a:off x="6800850" y="51149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Standard pattern for array traversal</a:t>
            </a:r>
            <a:endParaRPr lang="en-US" sz="675" dirty="0"/>
          </a:p>
        </p:txBody>
      </p:sp>
      <p:sp>
        <p:nvSpPr>
          <p:cNvPr id="183" name="Shape 180"/>
          <p:cNvSpPr/>
          <p:nvPr/>
        </p:nvSpPr>
        <p:spPr>
          <a:xfrm>
            <a:off x="4686300" y="5657850"/>
            <a:ext cx="4000500" cy="54435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84" name="Text 181"/>
          <p:cNvSpPr/>
          <p:nvPr/>
        </p:nvSpPr>
        <p:spPr>
          <a:xfrm>
            <a:off x="4857750" y="58293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Alternative 4: Recursive Approach</a:t>
            </a:r>
            <a:endParaRPr lang="en-US" sz="1350" dirty="0"/>
          </a:p>
        </p:txBody>
      </p:sp>
      <p:sp>
        <p:nvSpPr>
          <p:cNvPr id="185" name="Text 182"/>
          <p:cNvSpPr/>
          <p:nvPr/>
        </p:nvSpPr>
        <p:spPr>
          <a:xfrm>
            <a:off x="4857750" y="61722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Flagged While Loop</a:t>
            </a:r>
            <a:endParaRPr lang="en-US" sz="1125" dirty="0"/>
          </a:p>
        </p:txBody>
      </p:sp>
      <p:sp>
        <p:nvSpPr>
          <p:cNvPr id="186" name="Shape 183"/>
          <p:cNvSpPr/>
          <p:nvPr/>
        </p:nvSpPr>
        <p:spPr>
          <a:xfrm>
            <a:off x="4857750" y="6429375"/>
            <a:ext cx="1771650" cy="2171700"/>
          </a:xfrm>
          <a:prstGeom prst="rect">
            <a:avLst/>
          </a:prstGeom>
          <a:solidFill>
            <a:srgbClr val="1A202C"/>
          </a:solidFill>
          <a:ln/>
        </p:spPr>
        <p:txBody>
          <a:bodyPr/>
          <a:lstStyle/>
          <a:p>
            <a:endParaRPr lang="en-US"/>
          </a:p>
        </p:txBody>
      </p:sp>
      <p:sp>
        <p:nvSpPr>
          <p:cNvPr id="187" name="Text 184"/>
          <p:cNvSpPr/>
          <p:nvPr/>
        </p:nvSpPr>
        <p:spPr>
          <a:xfrm>
            <a:off x="4972050" y="6541889"/>
            <a:ext cx="94584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public static int</a:t>
            </a:r>
            <a:endParaRPr lang="en-US" sz="675" dirty="0"/>
          </a:p>
        </p:txBody>
      </p:sp>
      <p:sp>
        <p:nvSpPr>
          <p:cNvPr id="188" name="Text 185"/>
          <p:cNvSpPr/>
          <p:nvPr/>
        </p:nvSpPr>
        <p:spPr>
          <a:xfrm>
            <a:off x="4972050" y="66561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a:t>
            </a:r>
            <a:endParaRPr lang="en-US" sz="675" dirty="0"/>
          </a:p>
        </p:txBody>
      </p:sp>
      <p:sp>
        <p:nvSpPr>
          <p:cNvPr id="189" name="Text 186"/>
          <p:cNvSpPr/>
          <p:nvPr/>
        </p:nvSpPr>
        <p:spPr>
          <a:xfrm>
            <a:off x="5332112" y="6656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90" name="Text 187"/>
          <p:cNvSpPr/>
          <p:nvPr/>
        </p:nvSpPr>
        <p:spPr>
          <a:xfrm>
            <a:off x="5486428" y="66561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 array,</a:t>
            </a:r>
            <a:endParaRPr lang="en-US" sz="675" dirty="0"/>
          </a:p>
        </p:txBody>
      </p:sp>
      <p:sp>
        <p:nvSpPr>
          <p:cNvPr id="191" name="Text 188"/>
          <p:cNvSpPr/>
          <p:nvPr/>
        </p:nvSpPr>
        <p:spPr>
          <a:xfrm>
            <a:off x="6000806" y="6656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92" name="Text 189"/>
          <p:cNvSpPr/>
          <p:nvPr/>
        </p:nvSpPr>
        <p:spPr>
          <a:xfrm>
            <a:off x="4972050" y="6770489"/>
            <a:ext cx="53435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target) {</a:t>
            </a:r>
            <a:endParaRPr lang="en-US" sz="675" dirty="0"/>
          </a:p>
        </p:txBody>
      </p:sp>
      <p:sp>
        <p:nvSpPr>
          <p:cNvPr id="193" name="Text 190"/>
          <p:cNvSpPr/>
          <p:nvPr/>
        </p:nvSpPr>
        <p:spPr>
          <a:xfrm>
            <a:off x="5074937" y="688478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94" name="Text 191"/>
          <p:cNvSpPr/>
          <p:nvPr/>
        </p:nvSpPr>
        <p:spPr>
          <a:xfrm>
            <a:off x="5434998" y="688478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195" name="Text 192"/>
          <p:cNvSpPr/>
          <p:nvPr/>
        </p:nvSpPr>
        <p:spPr>
          <a:xfrm>
            <a:off x="5074937" y="69990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196" name="Text 193"/>
          <p:cNvSpPr/>
          <p:nvPr/>
        </p:nvSpPr>
        <p:spPr>
          <a:xfrm>
            <a:off x="5229253" y="69990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 = 0;</a:t>
            </a:r>
            <a:endParaRPr lang="en-US" sz="675" dirty="0"/>
          </a:p>
        </p:txBody>
      </p:sp>
      <p:sp>
        <p:nvSpPr>
          <p:cNvPr id="197" name="Text 194"/>
          <p:cNvSpPr/>
          <p:nvPr/>
        </p:nvSpPr>
        <p:spPr>
          <a:xfrm>
            <a:off x="5074937" y="722768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98" name="Text 195"/>
          <p:cNvSpPr/>
          <p:nvPr/>
        </p:nvSpPr>
        <p:spPr>
          <a:xfrm>
            <a:off x="4972050" y="7227689"/>
            <a:ext cx="1203080"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&amp;&amp; i &lt; array.length) {</a:t>
            </a:r>
            <a:endParaRPr lang="en-US" sz="675" dirty="0"/>
          </a:p>
        </p:txBody>
      </p:sp>
      <p:sp>
        <p:nvSpPr>
          <p:cNvPr id="199" name="Text 196"/>
          <p:cNvSpPr/>
          <p:nvPr/>
        </p:nvSpPr>
        <p:spPr>
          <a:xfrm>
            <a:off x="5177796" y="74562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00" name="Text 197"/>
          <p:cNvSpPr/>
          <p:nvPr/>
        </p:nvSpPr>
        <p:spPr>
          <a:xfrm>
            <a:off x="5280682" y="7456289"/>
            <a:ext cx="12544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 == target) {</a:t>
            </a:r>
            <a:endParaRPr lang="en-US" sz="675" dirty="0"/>
          </a:p>
        </p:txBody>
      </p:sp>
      <p:sp>
        <p:nvSpPr>
          <p:cNvPr id="201" name="Text 198"/>
          <p:cNvSpPr/>
          <p:nvPr/>
        </p:nvSpPr>
        <p:spPr>
          <a:xfrm>
            <a:off x="4972050" y="757058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202" name="Text 199"/>
          <p:cNvSpPr/>
          <p:nvPr/>
        </p:nvSpPr>
        <p:spPr>
          <a:xfrm>
            <a:off x="4972050" y="7684889"/>
            <a:ext cx="38007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03" name="Text 200"/>
          <p:cNvSpPr/>
          <p:nvPr/>
        </p:nvSpPr>
        <p:spPr>
          <a:xfrm>
            <a:off x="5280682" y="7684889"/>
            <a:ext cx="277183"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else</a:t>
            </a:r>
            <a:endParaRPr lang="en-US" sz="675" dirty="0"/>
          </a:p>
        </p:txBody>
      </p:sp>
      <p:sp>
        <p:nvSpPr>
          <p:cNvPr id="204" name="Text 201"/>
          <p:cNvSpPr/>
          <p:nvPr/>
        </p:nvSpPr>
        <p:spPr>
          <a:xfrm>
            <a:off x="5486428" y="7684889"/>
            <a:ext cx="17432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05" name="Text 202"/>
          <p:cNvSpPr/>
          <p:nvPr/>
        </p:nvSpPr>
        <p:spPr>
          <a:xfrm>
            <a:off x="4972050" y="77991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206" name="Text 203"/>
          <p:cNvSpPr/>
          <p:nvPr/>
        </p:nvSpPr>
        <p:spPr>
          <a:xfrm>
            <a:off x="4972050" y="7913489"/>
            <a:ext cx="32864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07" name="Text 204"/>
          <p:cNvSpPr/>
          <p:nvPr/>
        </p:nvSpPr>
        <p:spPr>
          <a:xfrm>
            <a:off x="4972050" y="80277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08" name="Text 205"/>
          <p:cNvSpPr/>
          <p:nvPr/>
        </p:nvSpPr>
        <p:spPr>
          <a:xfrm>
            <a:off x="5074937" y="82563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209" name="Text 206"/>
          <p:cNvSpPr/>
          <p:nvPr/>
        </p:nvSpPr>
        <p:spPr>
          <a:xfrm>
            <a:off x="5383569" y="8256389"/>
            <a:ext cx="89442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i : -1;</a:t>
            </a:r>
            <a:endParaRPr lang="en-US" sz="675" dirty="0"/>
          </a:p>
        </p:txBody>
      </p:sp>
      <p:sp>
        <p:nvSpPr>
          <p:cNvPr id="210" name="Text 207"/>
          <p:cNvSpPr/>
          <p:nvPr/>
        </p:nvSpPr>
        <p:spPr>
          <a:xfrm>
            <a:off x="4972050" y="83706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11" name="Text 208"/>
          <p:cNvSpPr/>
          <p:nvPr/>
        </p:nvSpPr>
        <p:spPr>
          <a:xfrm>
            <a:off x="6743700" y="6172200"/>
            <a:ext cx="18430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Recursive Approach</a:t>
            </a:r>
            <a:endParaRPr lang="en-US" sz="1125" dirty="0"/>
          </a:p>
        </p:txBody>
      </p:sp>
      <p:sp>
        <p:nvSpPr>
          <p:cNvPr id="212" name="Shape 209"/>
          <p:cNvSpPr/>
          <p:nvPr/>
        </p:nvSpPr>
        <p:spPr>
          <a:xfrm>
            <a:off x="6743700" y="6429375"/>
            <a:ext cx="1771650" cy="3200400"/>
          </a:xfrm>
          <a:prstGeom prst="rect">
            <a:avLst/>
          </a:prstGeom>
          <a:solidFill>
            <a:srgbClr val="1A202C"/>
          </a:solidFill>
          <a:ln/>
        </p:spPr>
        <p:txBody>
          <a:bodyPr/>
          <a:lstStyle/>
          <a:p>
            <a:endParaRPr lang="en-US"/>
          </a:p>
        </p:txBody>
      </p:sp>
      <p:sp>
        <p:nvSpPr>
          <p:cNvPr id="213" name="Text 210"/>
          <p:cNvSpPr/>
          <p:nvPr/>
        </p:nvSpPr>
        <p:spPr>
          <a:xfrm>
            <a:off x="6858000" y="6541889"/>
            <a:ext cx="94584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public static int</a:t>
            </a:r>
            <a:endParaRPr lang="en-US" sz="675" dirty="0"/>
          </a:p>
        </p:txBody>
      </p:sp>
      <p:sp>
        <p:nvSpPr>
          <p:cNvPr id="214" name="Text 211"/>
          <p:cNvSpPr/>
          <p:nvPr/>
        </p:nvSpPr>
        <p:spPr>
          <a:xfrm>
            <a:off x="6858000" y="66561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a:t>
            </a:r>
            <a:endParaRPr lang="en-US" sz="675" dirty="0"/>
          </a:p>
        </p:txBody>
      </p:sp>
      <p:sp>
        <p:nvSpPr>
          <p:cNvPr id="215" name="Text 212"/>
          <p:cNvSpPr/>
          <p:nvPr/>
        </p:nvSpPr>
        <p:spPr>
          <a:xfrm>
            <a:off x="7218062" y="6656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16" name="Text 213"/>
          <p:cNvSpPr/>
          <p:nvPr/>
        </p:nvSpPr>
        <p:spPr>
          <a:xfrm>
            <a:off x="7372378" y="66561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 array,</a:t>
            </a:r>
            <a:endParaRPr lang="en-US" sz="675" dirty="0"/>
          </a:p>
        </p:txBody>
      </p:sp>
      <p:sp>
        <p:nvSpPr>
          <p:cNvPr id="217" name="Text 214"/>
          <p:cNvSpPr/>
          <p:nvPr/>
        </p:nvSpPr>
        <p:spPr>
          <a:xfrm>
            <a:off x="7886756" y="66561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18" name="Text 215"/>
          <p:cNvSpPr/>
          <p:nvPr/>
        </p:nvSpPr>
        <p:spPr>
          <a:xfrm>
            <a:off x="6858000" y="6770489"/>
            <a:ext cx="53435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target) {</a:t>
            </a:r>
            <a:endParaRPr lang="en-US" sz="675" dirty="0"/>
          </a:p>
        </p:txBody>
      </p:sp>
      <p:sp>
        <p:nvSpPr>
          <p:cNvPr id="219" name="Text 216"/>
          <p:cNvSpPr/>
          <p:nvPr/>
        </p:nvSpPr>
        <p:spPr>
          <a:xfrm>
            <a:off x="6960887" y="68847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220" name="Text 217"/>
          <p:cNvSpPr/>
          <p:nvPr/>
        </p:nvSpPr>
        <p:spPr>
          <a:xfrm>
            <a:off x="6858000" y="6884789"/>
            <a:ext cx="1511684"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searchHelper(array, target, 0);</a:t>
            </a:r>
            <a:endParaRPr lang="en-US" sz="675" dirty="0"/>
          </a:p>
        </p:txBody>
      </p:sp>
      <p:sp>
        <p:nvSpPr>
          <p:cNvPr id="221" name="Text 218"/>
          <p:cNvSpPr/>
          <p:nvPr/>
        </p:nvSpPr>
        <p:spPr>
          <a:xfrm>
            <a:off x="6858000" y="71133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22" name="Text 219"/>
          <p:cNvSpPr/>
          <p:nvPr/>
        </p:nvSpPr>
        <p:spPr>
          <a:xfrm>
            <a:off x="6858000" y="7341989"/>
            <a:ext cx="99727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private static int</a:t>
            </a:r>
            <a:endParaRPr lang="en-US" sz="675" dirty="0"/>
          </a:p>
        </p:txBody>
      </p:sp>
      <p:sp>
        <p:nvSpPr>
          <p:cNvPr id="223" name="Text 220"/>
          <p:cNvSpPr/>
          <p:nvPr/>
        </p:nvSpPr>
        <p:spPr>
          <a:xfrm>
            <a:off x="6858000" y="7456289"/>
            <a:ext cx="74010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searchHelper(</a:t>
            </a:r>
            <a:endParaRPr lang="en-US" sz="675" dirty="0"/>
          </a:p>
        </p:txBody>
      </p:sp>
      <p:sp>
        <p:nvSpPr>
          <p:cNvPr id="224" name="Text 221"/>
          <p:cNvSpPr/>
          <p:nvPr/>
        </p:nvSpPr>
        <p:spPr>
          <a:xfrm>
            <a:off x="7526666" y="74562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25" name="Text 222"/>
          <p:cNvSpPr/>
          <p:nvPr/>
        </p:nvSpPr>
        <p:spPr>
          <a:xfrm>
            <a:off x="7680982" y="7456289"/>
            <a:ext cx="58581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 array,</a:t>
            </a:r>
            <a:endParaRPr lang="en-US" sz="675" dirty="0"/>
          </a:p>
        </p:txBody>
      </p:sp>
      <p:sp>
        <p:nvSpPr>
          <p:cNvPr id="226" name="Text 223"/>
          <p:cNvSpPr/>
          <p:nvPr/>
        </p:nvSpPr>
        <p:spPr>
          <a:xfrm>
            <a:off x="8195360" y="74562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27" name="Text 224"/>
          <p:cNvSpPr/>
          <p:nvPr/>
        </p:nvSpPr>
        <p:spPr>
          <a:xfrm>
            <a:off x="6858000" y="7570589"/>
            <a:ext cx="48292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target,</a:t>
            </a:r>
            <a:endParaRPr lang="en-US" sz="675" dirty="0"/>
          </a:p>
        </p:txBody>
      </p:sp>
      <p:sp>
        <p:nvSpPr>
          <p:cNvPr id="228" name="Text 225"/>
          <p:cNvSpPr/>
          <p:nvPr/>
        </p:nvSpPr>
        <p:spPr>
          <a:xfrm>
            <a:off x="7269491" y="7570589"/>
            <a:ext cx="22575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int</a:t>
            </a:r>
            <a:endParaRPr lang="en-US" sz="675" dirty="0"/>
          </a:p>
        </p:txBody>
      </p:sp>
      <p:sp>
        <p:nvSpPr>
          <p:cNvPr id="229" name="Text 226"/>
          <p:cNvSpPr/>
          <p:nvPr/>
        </p:nvSpPr>
        <p:spPr>
          <a:xfrm>
            <a:off x="7423807" y="7570589"/>
            <a:ext cx="53435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index) {</a:t>
            </a:r>
            <a:endParaRPr lang="en-US" sz="675" dirty="0"/>
          </a:p>
        </p:txBody>
      </p:sp>
      <p:sp>
        <p:nvSpPr>
          <p:cNvPr id="230" name="Text 227"/>
          <p:cNvSpPr/>
          <p:nvPr/>
        </p:nvSpPr>
        <p:spPr>
          <a:xfrm>
            <a:off x="6960887" y="7684889"/>
            <a:ext cx="1408770" cy="1160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Base case: end of array</a:t>
            </a:r>
            <a:endParaRPr lang="en-US" sz="675" dirty="0"/>
          </a:p>
        </p:txBody>
      </p:sp>
      <p:sp>
        <p:nvSpPr>
          <p:cNvPr id="231" name="Text 228"/>
          <p:cNvSpPr/>
          <p:nvPr/>
        </p:nvSpPr>
        <p:spPr>
          <a:xfrm>
            <a:off x="6960887" y="77991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32" name="Text 229"/>
          <p:cNvSpPr/>
          <p:nvPr/>
        </p:nvSpPr>
        <p:spPr>
          <a:xfrm>
            <a:off x="6858000" y="7799189"/>
            <a:ext cx="1511657"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(index &gt;= array.length) {</a:t>
            </a:r>
            <a:endParaRPr lang="en-US" sz="675" dirty="0"/>
          </a:p>
        </p:txBody>
      </p:sp>
      <p:sp>
        <p:nvSpPr>
          <p:cNvPr id="233" name="Text 230"/>
          <p:cNvSpPr/>
          <p:nvPr/>
        </p:nvSpPr>
        <p:spPr>
          <a:xfrm>
            <a:off x="7063746" y="80277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234" name="Text 231"/>
          <p:cNvSpPr/>
          <p:nvPr/>
        </p:nvSpPr>
        <p:spPr>
          <a:xfrm>
            <a:off x="7372378" y="8027789"/>
            <a:ext cx="27718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-1;</a:t>
            </a:r>
            <a:endParaRPr lang="en-US" sz="675" dirty="0"/>
          </a:p>
        </p:txBody>
      </p:sp>
      <p:sp>
        <p:nvSpPr>
          <p:cNvPr id="235" name="Text 232"/>
          <p:cNvSpPr/>
          <p:nvPr/>
        </p:nvSpPr>
        <p:spPr>
          <a:xfrm>
            <a:off x="6858000" y="81420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36" name="Text 233"/>
          <p:cNvSpPr/>
          <p:nvPr/>
        </p:nvSpPr>
        <p:spPr>
          <a:xfrm>
            <a:off x="6960887" y="8370689"/>
            <a:ext cx="1408770" cy="1160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Base case: found target</a:t>
            </a:r>
            <a:endParaRPr lang="en-US" sz="675" dirty="0"/>
          </a:p>
        </p:txBody>
      </p:sp>
      <p:sp>
        <p:nvSpPr>
          <p:cNvPr id="237" name="Text 234"/>
          <p:cNvSpPr/>
          <p:nvPr/>
        </p:nvSpPr>
        <p:spPr>
          <a:xfrm>
            <a:off x="6960887" y="848498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238" name="Text 235"/>
          <p:cNvSpPr/>
          <p:nvPr/>
        </p:nvSpPr>
        <p:spPr>
          <a:xfrm>
            <a:off x="6858000" y="8484989"/>
            <a:ext cx="1563114"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(array[index] == target) {</a:t>
            </a:r>
            <a:endParaRPr lang="en-US" sz="675" dirty="0"/>
          </a:p>
        </p:txBody>
      </p:sp>
      <p:sp>
        <p:nvSpPr>
          <p:cNvPr id="239" name="Text 236"/>
          <p:cNvSpPr/>
          <p:nvPr/>
        </p:nvSpPr>
        <p:spPr>
          <a:xfrm>
            <a:off x="7063746" y="87135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240" name="Text 237"/>
          <p:cNvSpPr/>
          <p:nvPr/>
        </p:nvSpPr>
        <p:spPr>
          <a:xfrm>
            <a:off x="7372378" y="8713589"/>
            <a:ext cx="43149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index;</a:t>
            </a:r>
            <a:endParaRPr lang="en-US" sz="675" dirty="0"/>
          </a:p>
        </p:txBody>
      </p:sp>
      <p:sp>
        <p:nvSpPr>
          <p:cNvPr id="241" name="Text 238"/>
          <p:cNvSpPr/>
          <p:nvPr/>
        </p:nvSpPr>
        <p:spPr>
          <a:xfrm>
            <a:off x="6858000" y="882788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42" name="Text 239"/>
          <p:cNvSpPr/>
          <p:nvPr/>
        </p:nvSpPr>
        <p:spPr>
          <a:xfrm>
            <a:off x="6960887" y="9056489"/>
            <a:ext cx="945849"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Recursive case</a:t>
            </a:r>
            <a:endParaRPr lang="en-US" sz="675" dirty="0"/>
          </a:p>
        </p:txBody>
      </p:sp>
      <p:sp>
        <p:nvSpPr>
          <p:cNvPr id="243" name="Text 240"/>
          <p:cNvSpPr/>
          <p:nvPr/>
        </p:nvSpPr>
        <p:spPr>
          <a:xfrm>
            <a:off x="6960887" y="9170789"/>
            <a:ext cx="38007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return</a:t>
            </a:r>
            <a:endParaRPr lang="en-US" sz="675" dirty="0"/>
          </a:p>
        </p:txBody>
      </p:sp>
      <p:sp>
        <p:nvSpPr>
          <p:cNvPr id="244" name="Text 241"/>
          <p:cNvSpPr/>
          <p:nvPr/>
        </p:nvSpPr>
        <p:spPr>
          <a:xfrm>
            <a:off x="6858000" y="9170789"/>
            <a:ext cx="1511684" cy="230386"/>
          </a:xfrm>
          <a:prstGeom prst="rect">
            <a:avLst/>
          </a:prstGeom>
          <a:noFill/>
          <a:ln/>
        </p:spPr>
        <p:txBody>
          <a:bodyPr wrap="squar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searchHelper(array, target, index + 1);</a:t>
            </a:r>
            <a:endParaRPr lang="en-US" sz="675" dirty="0"/>
          </a:p>
        </p:txBody>
      </p:sp>
      <p:sp>
        <p:nvSpPr>
          <p:cNvPr id="245" name="Text 242"/>
          <p:cNvSpPr/>
          <p:nvPr/>
        </p:nvSpPr>
        <p:spPr>
          <a:xfrm>
            <a:off x="6858000" y="939938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246" name="Shape 243"/>
          <p:cNvSpPr/>
          <p:nvPr/>
        </p:nvSpPr>
        <p:spPr>
          <a:xfrm>
            <a:off x="4857750" y="9744075"/>
            <a:ext cx="3657600" cy="1171575"/>
          </a:xfrm>
          <a:prstGeom prst="rect">
            <a:avLst/>
          </a:prstGeom>
          <a:solidFill>
            <a:srgbClr val="1E3A8A">
              <a:alpha val="30000"/>
            </a:srgbClr>
          </a:solidFill>
          <a:ln/>
        </p:spPr>
        <p:txBody>
          <a:bodyPr/>
          <a:lstStyle/>
          <a:p>
            <a:endParaRPr lang="en-US"/>
          </a:p>
        </p:txBody>
      </p:sp>
      <p:sp>
        <p:nvSpPr>
          <p:cNvPr id="247" name="Shape 244"/>
          <p:cNvSpPr/>
          <p:nvPr/>
        </p:nvSpPr>
        <p:spPr>
          <a:xfrm>
            <a:off x="4857750" y="9744075"/>
            <a:ext cx="28575" cy="1171575"/>
          </a:xfrm>
          <a:prstGeom prst="rect">
            <a:avLst/>
          </a:prstGeom>
          <a:solidFill>
            <a:srgbClr val="63B3ED"/>
          </a:solidFill>
          <a:ln/>
        </p:spPr>
        <p:txBody>
          <a:bodyPr/>
          <a:lstStyle/>
          <a:p>
            <a:endParaRPr lang="en-US"/>
          </a:p>
        </p:txBody>
      </p:sp>
      <p:sp>
        <p:nvSpPr>
          <p:cNvPr id="248" name="Text 245"/>
          <p:cNvSpPr/>
          <p:nvPr/>
        </p:nvSpPr>
        <p:spPr>
          <a:xfrm>
            <a:off x="4972050" y="9829800"/>
            <a:ext cx="3614738" cy="200025"/>
          </a:xfrm>
          <a:prstGeom prst="rect">
            <a:avLst/>
          </a:prstGeom>
          <a:noFill/>
          <a:ln/>
        </p:spPr>
        <p:txBody>
          <a:bodyPr wrap="square" lIns="0" tIns="0" rIns="0" bIns="0" rtlCol="0" anchor="ctr">
            <a:spAutoFit/>
          </a:bodyPr>
          <a:lstStyle/>
          <a:p>
            <a:pPr marL="0" indent="0">
              <a:buNone/>
            </a:pPr>
            <a:r>
              <a:rPr lang="en-US" sz="1013" b="1" dirty="0">
                <a:solidFill>
                  <a:srgbClr val="E2E8F0"/>
                </a:solidFill>
                <a:latin typeface="Segoe UI" pitchFamily="34" charset="0"/>
                <a:ea typeface="Segoe UI" pitchFamily="34" charset="-122"/>
                <a:cs typeface="Segoe UI" pitchFamily="34" charset="-120"/>
              </a:rPr>
              <a:t>Comparison</a:t>
            </a:r>
            <a:endParaRPr lang="en-US" sz="1013" dirty="0"/>
          </a:p>
        </p:txBody>
      </p:sp>
      <p:sp>
        <p:nvSpPr>
          <p:cNvPr id="249" name="Text 246"/>
          <p:cNvSpPr/>
          <p:nvPr/>
        </p:nvSpPr>
        <p:spPr>
          <a:xfrm>
            <a:off x="4972050" y="100869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Flagged While Loop</a:t>
            </a:r>
            <a:endParaRPr lang="en-US" sz="900" dirty="0"/>
          </a:p>
        </p:txBody>
      </p:sp>
      <p:sp>
        <p:nvSpPr>
          <p:cNvPr id="250" name="Text 247"/>
          <p:cNvSpPr/>
          <p:nvPr/>
        </p:nvSpPr>
        <p:spPr>
          <a:xfrm>
            <a:off x="4972050" y="102870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Iterative approach with explicit state</a:t>
            </a:r>
            <a:endParaRPr lang="en-US" sz="675" dirty="0"/>
          </a:p>
        </p:txBody>
      </p:sp>
      <p:sp>
        <p:nvSpPr>
          <p:cNvPr id="251" name="Text 248"/>
          <p:cNvSpPr/>
          <p:nvPr/>
        </p:nvSpPr>
        <p:spPr>
          <a:xfrm>
            <a:off x="4972050" y="104298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More memory efficient</a:t>
            </a:r>
            <a:endParaRPr lang="en-US" sz="675" dirty="0"/>
          </a:p>
        </p:txBody>
      </p:sp>
      <p:sp>
        <p:nvSpPr>
          <p:cNvPr id="252" name="Text 249"/>
          <p:cNvSpPr/>
          <p:nvPr/>
        </p:nvSpPr>
        <p:spPr>
          <a:xfrm>
            <a:off x="4972050" y="105727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No risk of stack overflow</a:t>
            </a:r>
            <a:endParaRPr lang="en-US" sz="675" dirty="0"/>
          </a:p>
        </p:txBody>
      </p:sp>
      <p:sp>
        <p:nvSpPr>
          <p:cNvPr id="253" name="Text 250"/>
          <p:cNvSpPr/>
          <p:nvPr/>
        </p:nvSpPr>
        <p:spPr>
          <a:xfrm>
            <a:off x="4972050" y="107156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Often more intuitive for simple problems</a:t>
            </a:r>
            <a:endParaRPr lang="en-US" sz="675" dirty="0"/>
          </a:p>
        </p:txBody>
      </p:sp>
      <p:sp>
        <p:nvSpPr>
          <p:cNvPr id="254" name="Text 251"/>
          <p:cNvSpPr/>
          <p:nvPr/>
        </p:nvSpPr>
        <p:spPr>
          <a:xfrm>
            <a:off x="6800850" y="10086975"/>
            <a:ext cx="1785938" cy="171450"/>
          </a:xfrm>
          <a:prstGeom prst="rect">
            <a:avLst/>
          </a:prstGeom>
          <a:noFill/>
          <a:ln/>
        </p:spPr>
        <p:txBody>
          <a:bodyPr wrap="square" lIns="0" tIns="0" rIns="0" bIns="0" rtlCol="0" anchor="ctr">
            <a:spAutoFit/>
          </a:bodyPr>
          <a:lstStyle/>
          <a:p>
            <a:pPr marL="0" indent="0">
              <a:buNone/>
            </a:pPr>
            <a:r>
              <a:rPr lang="en-US" sz="900" b="1" dirty="0">
                <a:solidFill>
                  <a:srgbClr val="E2E8F0"/>
                </a:solidFill>
                <a:latin typeface="Segoe UI" pitchFamily="34" charset="0"/>
                <a:ea typeface="Segoe UI" pitchFamily="34" charset="-122"/>
                <a:cs typeface="Segoe UI" pitchFamily="34" charset="-120"/>
              </a:rPr>
              <a:t>Recursive Approach</a:t>
            </a:r>
            <a:endParaRPr lang="en-US" sz="900" dirty="0"/>
          </a:p>
        </p:txBody>
      </p:sp>
      <p:sp>
        <p:nvSpPr>
          <p:cNvPr id="255" name="Text 252"/>
          <p:cNvSpPr/>
          <p:nvPr/>
        </p:nvSpPr>
        <p:spPr>
          <a:xfrm>
            <a:off x="6800850" y="1028700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More elegant for certain problems</a:t>
            </a:r>
            <a:endParaRPr lang="en-US" sz="675" dirty="0"/>
          </a:p>
        </p:txBody>
      </p:sp>
      <p:sp>
        <p:nvSpPr>
          <p:cNvPr id="256" name="Text 253"/>
          <p:cNvSpPr/>
          <p:nvPr/>
        </p:nvSpPr>
        <p:spPr>
          <a:xfrm>
            <a:off x="6800850" y="1042987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State managed through parameters</a:t>
            </a:r>
            <a:endParaRPr lang="en-US" sz="675" dirty="0"/>
          </a:p>
        </p:txBody>
      </p:sp>
      <p:sp>
        <p:nvSpPr>
          <p:cNvPr id="257" name="Text 254"/>
          <p:cNvSpPr/>
          <p:nvPr/>
        </p:nvSpPr>
        <p:spPr>
          <a:xfrm>
            <a:off x="6800850" y="10572750"/>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No explicit flags needed</a:t>
            </a:r>
            <a:endParaRPr lang="en-US" sz="675" dirty="0"/>
          </a:p>
        </p:txBody>
      </p:sp>
      <p:sp>
        <p:nvSpPr>
          <p:cNvPr id="258" name="Text 255"/>
          <p:cNvSpPr/>
          <p:nvPr/>
        </p:nvSpPr>
        <p:spPr>
          <a:xfrm>
            <a:off x="6800850" y="10715625"/>
            <a:ext cx="1785938" cy="114300"/>
          </a:xfrm>
          <a:prstGeom prst="rect">
            <a:avLst/>
          </a:prstGeom>
          <a:noFill/>
          <a:ln/>
        </p:spPr>
        <p:txBody>
          <a:bodyPr wrap="square" lIns="0" tIns="0" rIns="0" bIns="0" rtlCol="0" anchor="ctr">
            <a:spAutoFit/>
          </a:bodyPr>
          <a:lstStyle/>
          <a:p>
            <a:pPr marL="0" indent="0" algn="l">
              <a:buNone/>
            </a:pPr>
            <a:r>
              <a:rPr lang="en-US" sz="675" dirty="0">
                <a:solidFill>
                  <a:srgbClr val="E2E8F0"/>
                </a:solidFill>
                <a:latin typeface="Segoe UI" pitchFamily="34" charset="0"/>
                <a:ea typeface="Segoe UI" pitchFamily="34" charset="-122"/>
                <a:cs typeface="Segoe UI" pitchFamily="34" charset="-120"/>
              </a:rPr>
              <a:t>• Better for tree/graph traversals</a:t>
            </a:r>
            <a:endParaRPr lang="en-US" sz="675" dirty="0"/>
          </a:p>
        </p:txBody>
      </p:sp>
      <p:sp>
        <p:nvSpPr>
          <p:cNvPr id="259" name="Shape 256"/>
          <p:cNvSpPr/>
          <p:nvPr/>
        </p:nvSpPr>
        <p:spPr>
          <a:xfrm>
            <a:off x="457200" y="11315700"/>
            <a:ext cx="8229600" cy="50434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60" name="Text 257"/>
          <p:cNvSpPr/>
          <p:nvPr/>
        </p:nvSpPr>
        <p:spPr>
          <a:xfrm>
            <a:off x="628650" y="11487150"/>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When to Choose Each Approach</a:t>
            </a:r>
            <a:endParaRPr lang="en-US" sz="1350" dirty="0"/>
          </a:p>
        </p:txBody>
      </p:sp>
      <p:sp>
        <p:nvSpPr>
          <p:cNvPr id="261" name="Shape 258"/>
          <p:cNvSpPr/>
          <p:nvPr/>
        </p:nvSpPr>
        <p:spPr>
          <a:xfrm>
            <a:off x="628650" y="11830050"/>
            <a:ext cx="3829050" cy="2028825"/>
          </a:xfrm>
          <a:prstGeom prst="rect">
            <a:avLst/>
          </a:prstGeom>
          <a:solidFill>
            <a:srgbClr val="1E3A8A">
              <a:alpha val="30000"/>
            </a:srgbClr>
          </a:solidFill>
          <a:ln/>
        </p:spPr>
        <p:txBody>
          <a:bodyPr/>
          <a:lstStyle/>
          <a:p>
            <a:endParaRPr lang="en-US"/>
          </a:p>
        </p:txBody>
      </p:sp>
      <p:sp>
        <p:nvSpPr>
          <p:cNvPr id="262" name="Shape 259"/>
          <p:cNvSpPr/>
          <p:nvPr/>
        </p:nvSpPr>
        <p:spPr>
          <a:xfrm>
            <a:off x="628650" y="11830050"/>
            <a:ext cx="28575" cy="2028825"/>
          </a:xfrm>
          <a:prstGeom prst="rect">
            <a:avLst/>
          </a:prstGeom>
          <a:solidFill>
            <a:srgbClr val="48BB78"/>
          </a:solidFill>
          <a:ln/>
        </p:spPr>
        <p:txBody>
          <a:bodyPr/>
          <a:lstStyle/>
          <a:p>
            <a:endParaRPr lang="en-US"/>
          </a:p>
        </p:txBody>
      </p:sp>
      <p:sp>
        <p:nvSpPr>
          <p:cNvPr id="263" name="Text 260"/>
          <p:cNvSpPr/>
          <p:nvPr/>
        </p:nvSpPr>
        <p:spPr>
          <a:xfrm>
            <a:off x="742950" y="11915775"/>
            <a:ext cx="37861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Choose Flagged While Loop When:</a:t>
            </a:r>
            <a:endParaRPr lang="en-US" sz="1125" dirty="0"/>
          </a:p>
        </p:txBody>
      </p:sp>
      <p:pic>
        <p:nvPicPr>
          <p:cNvPr id="264" name="Image 1" descr="preencoded.png"/>
          <p:cNvPicPr>
            <a:picLocks noChangeAspect="1"/>
          </p:cNvPicPr>
          <p:nvPr/>
        </p:nvPicPr>
        <p:blipFill>
          <a:blip r:embed="rId4"/>
          <a:stretch>
            <a:fillRect/>
          </a:stretch>
        </p:blipFill>
        <p:spPr>
          <a:xfrm>
            <a:off x="742950" y="12201525"/>
            <a:ext cx="114300" cy="114300"/>
          </a:xfrm>
          <a:prstGeom prst="rect">
            <a:avLst/>
          </a:prstGeom>
        </p:spPr>
      </p:pic>
      <p:sp>
        <p:nvSpPr>
          <p:cNvPr id="265" name="Text 261"/>
          <p:cNvSpPr/>
          <p:nvPr/>
        </p:nvSpPr>
        <p:spPr>
          <a:xfrm>
            <a:off x="914400" y="12172950"/>
            <a:ext cx="361473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 need multiple exit conditions that are checked at the start of each iteration</a:t>
            </a:r>
            <a:endParaRPr lang="en-US" sz="900" dirty="0"/>
          </a:p>
        </p:txBody>
      </p:sp>
      <p:pic>
        <p:nvPicPr>
          <p:cNvPr id="266" name="Image 2" descr="preencoded.png"/>
          <p:cNvPicPr>
            <a:picLocks noChangeAspect="1"/>
          </p:cNvPicPr>
          <p:nvPr/>
        </p:nvPicPr>
        <p:blipFill>
          <a:blip r:embed="rId4"/>
          <a:stretch>
            <a:fillRect/>
          </a:stretch>
        </p:blipFill>
        <p:spPr>
          <a:xfrm>
            <a:off x="742950" y="12601575"/>
            <a:ext cx="114300" cy="114300"/>
          </a:xfrm>
          <a:prstGeom prst="rect">
            <a:avLst/>
          </a:prstGeom>
        </p:spPr>
      </p:pic>
      <p:sp>
        <p:nvSpPr>
          <p:cNvPr id="267" name="Text 262"/>
          <p:cNvSpPr/>
          <p:nvPr/>
        </p:nvSpPr>
        <p:spPr>
          <a:xfrm>
            <a:off x="914400" y="12573000"/>
            <a:ext cx="361473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loop's termination logic is complex and depends on multiple factors</a:t>
            </a:r>
            <a:endParaRPr lang="en-US" sz="900" dirty="0"/>
          </a:p>
        </p:txBody>
      </p:sp>
      <p:pic>
        <p:nvPicPr>
          <p:cNvPr id="268" name="Image 3" descr="preencoded.png"/>
          <p:cNvPicPr>
            <a:picLocks noChangeAspect="1"/>
          </p:cNvPicPr>
          <p:nvPr/>
        </p:nvPicPr>
        <p:blipFill>
          <a:blip r:embed="rId4"/>
          <a:stretch>
            <a:fillRect/>
          </a:stretch>
        </p:blipFill>
        <p:spPr>
          <a:xfrm>
            <a:off x="742950" y="13001625"/>
            <a:ext cx="114300" cy="114300"/>
          </a:xfrm>
          <a:prstGeom prst="rect">
            <a:avLst/>
          </a:prstGeom>
        </p:spPr>
      </p:pic>
      <p:sp>
        <p:nvSpPr>
          <p:cNvPr id="269" name="Text 263"/>
          <p:cNvSpPr/>
          <p:nvPr/>
        </p:nvSpPr>
        <p:spPr>
          <a:xfrm>
            <a:off x="914400" y="12973050"/>
            <a:ext cx="3148664"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 need to track the state of the search or process explicitly</a:t>
            </a:r>
            <a:endParaRPr lang="en-US" sz="900" dirty="0"/>
          </a:p>
        </p:txBody>
      </p:sp>
      <p:pic>
        <p:nvPicPr>
          <p:cNvPr id="270" name="Image 4" descr="preencoded.png"/>
          <p:cNvPicPr>
            <a:picLocks noChangeAspect="1"/>
          </p:cNvPicPr>
          <p:nvPr/>
        </p:nvPicPr>
        <p:blipFill>
          <a:blip r:embed="rId4"/>
          <a:stretch>
            <a:fillRect/>
          </a:stretch>
        </p:blipFill>
        <p:spPr>
          <a:xfrm>
            <a:off x="742950" y="13230225"/>
            <a:ext cx="114300" cy="114300"/>
          </a:xfrm>
          <a:prstGeom prst="rect">
            <a:avLst/>
          </a:prstGeom>
        </p:spPr>
      </p:pic>
      <p:sp>
        <p:nvSpPr>
          <p:cNvPr id="271" name="Text 264"/>
          <p:cNvSpPr/>
          <p:nvPr/>
        </p:nvSpPr>
        <p:spPr>
          <a:xfrm>
            <a:off x="914400" y="13201650"/>
            <a:ext cx="361473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 want to avoid using break/continue statements for better readability</a:t>
            </a:r>
            <a:endParaRPr lang="en-US" sz="900" dirty="0"/>
          </a:p>
        </p:txBody>
      </p:sp>
      <p:pic>
        <p:nvPicPr>
          <p:cNvPr id="272" name="Image 5" descr="preencoded.png"/>
          <p:cNvPicPr>
            <a:picLocks noChangeAspect="1"/>
          </p:cNvPicPr>
          <p:nvPr/>
        </p:nvPicPr>
        <p:blipFill>
          <a:blip r:embed="rId4"/>
          <a:stretch>
            <a:fillRect/>
          </a:stretch>
        </p:blipFill>
        <p:spPr>
          <a:xfrm>
            <a:off x="742950" y="13630275"/>
            <a:ext cx="114300" cy="114300"/>
          </a:xfrm>
          <a:prstGeom prst="rect">
            <a:avLst/>
          </a:prstGeom>
        </p:spPr>
      </p:pic>
      <p:sp>
        <p:nvSpPr>
          <p:cNvPr id="273" name="Text 265"/>
          <p:cNvSpPr/>
          <p:nvPr/>
        </p:nvSpPr>
        <p:spPr>
          <a:xfrm>
            <a:off x="914400" y="13601700"/>
            <a:ext cx="3447976"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loop's exit condition may change dynamically during execution</a:t>
            </a:r>
            <a:endParaRPr lang="en-US" sz="900" dirty="0"/>
          </a:p>
        </p:txBody>
      </p:sp>
      <p:sp>
        <p:nvSpPr>
          <p:cNvPr id="274" name="Shape 266"/>
          <p:cNvSpPr/>
          <p:nvPr/>
        </p:nvSpPr>
        <p:spPr>
          <a:xfrm>
            <a:off x="628650" y="13973175"/>
            <a:ext cx="3829050" cy="1285875"/>
          </a:xfrm>
          <a:prstGeom prst="rect">
            <a:avLst/>
          </a:prstGeom>
          <a:solidFill>
            <a:srgbClr val="1E3A8A">
              <a:alpha val="30000"/>
            </a:srgbClr>
          </a:solidFill>
          <a:ln/>
        </p:spPr>
        <p:txBody>
          <a:bodyPr/>
          <a:lstStyle/>
          <a:p>
            <a:endParaRPr lang="en-US"/>
          </a:p>
        </p:txBody>
      </p:sp>
      <p:sp>
        <p:nvSpPr>
          <p:cNvPr id="275" name="Shape 267"/>
          <p:cNvSpPr/>
          <p:nvPr/>
        </p:nvSpPr>
        <p:spPr>
          <a:xfrm>
            <a:off x="628650" y="13973175"/>
            <a:ext cx="28575" cy="1285875"/>
          </a:xfrm>
          <a:prstGeom prst="rect">
            <a:avLst/>
          </a:prstGeom>
          <a:solidFill>
            <a:srgbClr val="48BB78"/>
          </a:solidFill>
          <a:ln/>
        </p:spPr>
        <p:txBody>
          <a:bodyPr/>
          <a:lstStyle/>
          <a:p>
            <a:endParaRPr lang="en-US"/>
          </a:p>
        </p:txBody>
      </p:sp>
      <p:sp>
        <p:nvSpPr>
          <p:cNvPr id="276" name="Text 268"/>
          <p:cNvSpPr/>
          <p:nvPr/>
        </p:nvSpPr>
        <p:spPr>
          <a:xfrm>
            <a:off x="742950" y="14058900"/>
            <a:ext cx="37861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Choose For Loop When:</a:t>
            </a:r>
            <a:endParaRPr lang="en-US" sz="1125" dirty="0"/>
          </a:p>
        </p:txBody>
      </p:sp>
      <p:pic>
        <p:nvPicPr>
          <p:cNvPr id="277" name="Image 6" descr="preencoded.png"/>
          <p:cNvPicPr>
            <a:picLocks noChangeAspect="1"/>
          </p:cNvPicPr>
          <p:nvPr/>
        </p:nvPicPr>
        <p:blipFill>
          <a:blip r:embed="rId4"/>
          <a:stretch>
            <a:fillRect/>
          </a:stretch>
        </p:blipFill>
        <p:spPr>
          <a:xfrm>
            <a:off x="742950" y="14344650"/>
            <a:ext cx="114300" cy="114300"/>
          </a:xfrm>
          <a:prstGeom prst="rect">
            <a:avLst/>
          </a:prstGeom>
        </p:spPr>
      </p:pic>
      <p:sp>
        <p:nvSpPr>
          <p:cNvPr id="278" name="Text 269"/>
          <p:cNvSpPr/>
          <p:nvPr/>
        </p:nvSpPr>
        <p:spPr>
          <a:xfrm>
            <a:off x="914400" y="14316075"/>
            <a:ext cx="2776686"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You're iterating through a collection with a known size</a:t>
            </a:r>
            <a:endParaRPr lang="en-US" sz="900" dirty="0"/>
          </a:p>
        </p:txBody>
      </p:sp>
      <p:pic>
        <p:nvPicPr>
          <p:cNvPr id="279" name="Image 7" descr="preencoded.png"/>
          <p:cNvPicPr>
            <a:picLocks noChangeAspect="1"/>
          </p:cNvPicPr>
          <p:nvPr/>
        </p:nvPicPr>
        <p:blipFill>
          <a:blip r:embed="rId4"/>
          <a:stretch>
            <a:fillRect/>
          </a:stretch>
        </p:blipFill>
        <p:spPr>
          <a:xfrm>
            <a:off x="742950" y="14573250"/>
            <a:ext cx="114300" cy="114300"/>
          </a:xfrm>
          <a:prstGeom prst="rect">
            <a:avLst/>
          </a:prstGeom>
        </p:spPr>
      </p:pic>
      <p:sp>
        <p:nvSpPr>
          <p:cNvPr id="280" name="Text 270"/>
          <p:cNvSpPr/>
          <p:nvPr/>
        </p:nvSpPr>
        <p:spPr>
          <a:xfrm>
            <a:off x="914400" y="14544675"/>
            <a:ext cx="2599990"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number of iterations is predetermined or fixed</a:t>
            </a:r>
            <a:endParaRPr lang="en-US" sz="900" dirty="0"/>
          </a:p>
        </p:txBody>
      </p:sp>
      <p:pic>
        <p:nvPicPr>
          <p:cNvPr id="281" name="Image 8" descr="preencoded.png"/>
          <p:cNvPicPr>
            <a:picLocks noChangeAspect="1"/>
          </p:cNvPicPr>
          <p:nvPr/>
        </p:nvPicPr>
        <p:blipFill>
          <a:blip r:embed="rId4"/>
          <a:stretch>
            <a:fillRect/>
          </a:stretch>
        </p:blipFill>
        <p:spPr>
          <a:xfrm>
            <a:off x="742950" y="14801850"/>
            <a:ext cx="114300" cy="114300"/>
          </a:xfrm>
          <a:prstGeom prst="rect">
            <a:avLst/>
          </a:prstGeom>
        </p:spPr>
      </p:pic>
      <p:sp>
        <p:nvSpPr>
          <p:cNvPr id="282" name="Text 271"/>
          <p:cNvSpPr/>
          <p:nvPr/>
        </p:nvSpPr>
        <p:spPr>
          <a:xfrm>
            <a:off x="914400" y="14773275"/>
            <a:ext cx="2589665"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 want to limit the scope of the counter variable</a:t>
            </a:r>
            <a:endParaRPr lang="en-US" sz="900" dirty="0"/>
          </a:p>
        </p:txBody>
      </p:sp>
      <p:pic>
        <p:nvPicPr>
          <p:cNvPr id="283" name="Image 9" descr="preencoded.png"/>
          <p:cNvPicPr>
            <a:picLocks noChangeAspect="1"/>
          </p:cNvPicPr>
          <p:nvPr/>
        </p:nvPicPr>
        <p:blipFill>
          <a:blip r:embed="rId4"/>
          <a:stretch>
            <a:fillRect/>
          </a:stretch>
        </p:blipFill>
        <p:spPr>
          <a:xfrm>
            <a:off x="742950" y="15030450"/>
            <a:ext cx="114300" cy="114300"/>
          </a:xfrm>
          <a:prstGeom prst="rect">
            <a:avLst/>
          </a:prstGeom>
        </p:spPr>
      </p:pic>
      <p:sp>
        <p:nvSpPr>
          <p:cNvPr id="284" name="Text 272"/>
          <p:cNvSpPr/>
          <p:nvPr/>
        </p:nvSpPr>
        <p:spPr>
          <a:xfrm>
            <a:off x="914400" y="15001875"/>
            <a:ext cx="239047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loop follows a standard increment pattern</a:t>
            </a:r>
            <a:endParaRPr lang="en-US" sz="900" dirty="0"/>
          </a:p>
        </p:txBody>
      </p:sp>
      <p:sp>
        <p:nvSpPr>
          <p:cNvPr id="285" name="Shape 273"/>
          <p:cNvSpPr/>
          <p:nvPr/>
        </p:nvSpPr>
        <p:spPr>
          <a:xfrm>
            <a:off x="4686300" y="11830050"/>
            <a:ext cx="3829050" cy="1457325"/>
          </a:xfrm>
          <a:prstGeom prst="rect">
            <a:avLst/>
          </a:prstGeom>
          <a:solidFill>
            <a:srgbClr val="1E3A8A">
              <a:alpha val="30000"/>
            </a:srgbClr>
          </a:solidFill>
          <a:ln/>
        </p:spPr>
        <p:txBody>
          <a:bodyPr/>
          <a:lstStyle/>
          <a:p>
            <a:endParaRPr lang="en-US"/>
          </a:p>
        </p:txBody>
      </p:sp>
      <p:sp>
        <p:nvSpPr>
          <p:cNvPr id="286" name="Shape 274"/>
          <p:cNvSpPr/>
          <p:nvPr/>
        </p:nvSpPr>
        <p:spPr>
          <a:xfrm>
            <a:off x="4686300" y="11830050"/>
            <a:ext cx="28575" cy="1457325"/>
          </a:xfrm>
          <a:prstGeom prst="rect">
            <a:avLst/>
          </a:prstGeom>
          <a:solidFill>
            <a:srgbClr val="48BB78"/>
          </a:solidFill>
          <a:ln/>
        </p:spPr>
        <p:txBody>
          <a:bodyPr/>
          <a:lstStyle/>
          <a:p>
            <a:endParaRPr lang="en-US"/>
          </a:p>
        </p:txBody>
      </p:sp>
      <p:sp>
        <p:nvSpPr>
          <p:cNvPr id="287" name="Text 275"/>
          <p:cNvSpPr/>
          <p:nvPr/>
        </p:nvSpPr>
        <p:spPr>
          <a:xfrm>
            <a:off x="4800600" y="11915775"/>
            <a:ext cx="37861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Choose Do-While Loop When:</a:t>
            </a:r>
            <a:endParaRPr lang="en-US" sz="1125" dirty="0"/>
          </a:p>
        </p:txBody>
      </p:sp>
      <p:pic>
        <p:nvPicPr>
          <p:cNvPr id="288" name="Image 10" descr="preencoded.png"/>
          <p:cNvPicPr>
            <a:picLocks noChangeAspect="1"/>
          </p:cNvPicPr>
          <p:nvPr/>
        </p:nvPicPr>
        <p:blipFill>
          <a:blip r:embed="rId4"/>
          <a:stretch>
            <a:fillRect/>
          </a:stretch>
        </p:blipFill>
        <p:spPr>
          <a:xfrm>
            <a:off x="4800600" y="12201525"/>
            <a:ext cx="114300" cy="114300"/>
          </a:xfrm>
          <a:prstGeom prst="rect">
            <a:avLst/>
          </a:prstGeom>
        </p:spPr>
      </p:pic>
      <p:sp>
        <p:nvSpPr>
          <p:cNvPr id="289" name="Text 276"/>
          <p:cNvSpPr/>
          <p:nvPr/>
        </p:nvSpPr>
        <p:spPr>
          <a:xfrm>
            <a:off x="4972050" y="12172950"/>
            <a:ext cx="2507512"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 need to execute the loop body at least once</a:t>
            </a:r>
            <a:endParaRPr lang="en-US" sz="900" dirty="0"/>
          </a:p>
        </p:txBody>
      </p:sp>
      <p:pic>
        <p:nvPicPr>
          <p:cNvPr id="290" name="Image 11" descr="preencoded.png"/>
          <p:cNvPicPr>
            <a:picLocks noChangeAspect="1"/>
          </p:cNvPicPr>
          <p:nvPr/>
        </p:nvPicPr>
        <p:blipFill>
          <a:blip r:embed="rId4"/>
          <a:stretch>
            <a:fillRect/>
          </a:stretch>
        </p:blipFill>
        <p:spPr>
          <a:xfrm>
            <a:off x="4800600" y="12430125"/>
            <a:ext cx="114300" cy="114300"/>
          </a:xfrm>
          <a:prstGeom prst="rect">
            <a:avLst/>
          </a:prstGeom>
        </p:spPr>
      </p:pic>
      <p:sp>
        <p:nvSpPr>
          <p:cNvPr id="291" name="Text 277"/>
          <p:cNvSpPr/>
          <p:nvPr/>
        </p:nvSpPr>
        <p:spPr>
          <a:xfrm>
            <a:off x="4972050" y="12401550"/>
            <a:ext cx="3184661"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exit condition can only be determined after first execution</a:t>
            </a:r>
            <a:endParaRPr lang="en-US" sz="900" dirty="0"/>
          </a:p>
        </p:txBody>
      </p:sp>
      <p:pic>
        <p:nvPicPr>
          <p:cNvPr id="292" name="Image 12" descr="preencoded.png"/>
          <p:cNvPicPr>
            <a:picLocks noChangeAspect="1"/>
          </p:cNvPicPr>
          <p:nvPr/>
        </p:nvPicPr>
        <p:blipFill>
          <a:blip r:embed="rId4"/>
          <a:stretch>
            <a:fillRect/>
          </a:stretch>
        </p:blipFill>
        <p:spPr>
          <a:xfrm>
            <a:off x="4800600" y="12658725"/>
            <a:ext cx="114300" cy="114300"/>
          </a:xfrm>
          <a:prstGeom prst="rect">
            <a:avLst/>
          </a:prstGeom>
        </p:spPr>
      </p:pic>
      <p:sp>
        <p:nvSpPr>
          <p:cNvPr id="293" name="Text 278"/>
          <p:cNvSpPr/>
          <p:nvPr/>
        </p:nvSpPr>
        <p:spPr>
          <a:xfrm>
            <a:off x="4972050" y="12630150"/>
            <a:ext cx="3596376"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You're implementing input validation that requires at least one attempt</a:t>
            </a:r>
            <a:endParaRPr lang="en-US" sz="900" dirty="0"/>
          </a:p>
        </p:txBody>
      </p:sp>
      <p:pic>
        <p:nvPicPr>
          <p:cNvPr id="294" name="Image 13" descr="preencoded.png"/>
          <p:cNvPicPr>
            <a:picLocks noChangeAspect="1"/>
          </p:cNvPicPr>
          <p:nvPr/>
        </p:nvPicPr>
        <p:blipFill>
          <a:blip r:embed="rId4"/>
          <a:stretch>
            <a:fillRect/>
          </a:stretch>
        </p:blipFill>
        <p:spPr>
          <a:xfrm>
            <a:off x="4800600" y="12887325"/>
            <a:ext cx="114300" cy="114300"/>
          </a:xfrm>
          <a:prstGeom prst="rect">
            <a:avLst/>
          </a:prstGeom>
        </p:spPr>
      </p:pic>
      <p:sp>
        <p:nvSpPr>
          <p:cNvPr id="295" name="Text 279"/>
          <p:cNvSpPr/>
          <p:nvPr/>
        </p:nvSpPr>
        <p:spPr>
          <a:xfrm>
            <a:off x="4972050" y="12858750"/>
            <a:ext cx="306427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condition check logically belongs at the end of the loop</a:t>
            </a:r>
            <a:endParaRPr lang="en-US" sz="900" dirty="0"/>
          </a:p>
        </p:txBody>
      </p:sp>
      <p:sp>
        <p:nvSpPr>
          <p:cNvPr id="296" name="Shape 280"/>
          <p:cNvSpPr/>
          <p:nvPr/>
        </p:nvSpPr>
        <p:spPr>
          <a:xfrm>
            <a:off x="4686300" y="13230225"/>
            <a:ext cx="3829050" cy="1285875"/>
          </a:xfrm>
          <a:prstGeom prst="rect">
            <a:avLst/>
          </a:prstGeom>
          <a:solidFill>
            <a:srgbClr val="1E3A8A">
              <a:alpha val="30000"/>
            </a:srgbClr>
          </a:solidFill>
          <a:ln/>
        </p:spPr>
        <p:txBody>
          <a:bodyPr/>
          <a:lstStyle/>
          <a:p>
            <a:endParaRPr lang="en-US"/>
          </a:p>
        </p:txBody>
      </p:sp>
      <p:sp>
        <p:nvSpPr>
          <p:cNvPr id="297" name="Shape 281"/>
          <p:cNvSpPr/>
          <p:nvPr/>
        </p:nvSpPr>
        <p:spPr>
          <a:xfrm>
            <a:off x="4686300" y="13230225"/>
            <a:ext cx="28575" cy="1285875"/>
          </a:xfrm>
          <a:prstGeom prst="rect">
            <a:avLst/>
          </a:prstGeom>
          <a:solidFill>
            <a:srgbClr val="48BB78"/>
          </a:solidFill>
          <a:ln/>
        </p:spPr>
        <p:txBody>
          <a:bodyPr/>
          <a:lstStyle/>
          <a:p>
            <a:endParaRPr lang="en-US"/>
          </a:p>
        </p:txBody>
      </p:sp>
      <p:sp>
        <p:nvSpPr>
          <p:cNvPr id="298" name="Text 282"/>
          <p:cNvSpPr/>
          <p:nvPr/>
        </p:nvSpPr>
        <p:spPr>
          <a:xfrm>
            <a:off x="4800600" y="13315950"/>
            <a:ext cx="378618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Choose Recursive Approach When:</a:t>
            </a:r>
            <a:endParaRPr lang="en-US" sz="1125" dirty="0"/>
          </a:p>
        </p:txBody>
      </p:sp>
      <p:pic>
        <p:nvPicPr>
          <p:cNvPr id="299" name="Image 14" descr="preencoded.png"/>
          <p:cNvPicPr>
            <a:picLocks noChangeAspect="1"/>
          </p:cNvPicPr>
          <p:nvPr/>
        </p:nvPicPr>
        <p:blipFill>
          <a:blip r:embed="rId4"/>
          <a:stretch>
            <a:fillRect/>
          </a:stretch>
        </p:blipFill>
        <p:spPr>
          <a:xfrm>
            <a:off x="4800600" y="13601700"/>
            <a:ext cx="114300" cy="114300"/>
          </a:xfrm>
          <a:prstGeom prst="rect">
            <a:avLst/>
          </a:prstGeom>
        </p:spPr>
      </p:pic>
      <p:sp>
        <p:nvSpPr>
          <p:cNvPr id="300" name="Text 283"/>
          <p:cNvSpPr/>
          <p:nvPr/>
        </p:nvSpPr>
        <p:spPr>
          <a:xfrm>
            <a:off x="4972050" y="13573125"/>
            <a:ext cx="338133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problem naturally breaks down into smaller instances of itself</a:t>
            </a:r>
            <a:endParaRPr lang="en-US" sz="900" dirty="0"/>
          </a:p>
        </p:txBody>
      </p:sp>
      <p:pic>
        <p:nvPicPr>
          <p:cNvPr id="301" name="Image 15" descr="preencoded.png"/>
          <p:cNvPicPr>
            <a:picLocks noChangeAspect="1"/>
          </p:cNvPicPr>
          <p:nvPr/>
        </p:nvPicPr>
        <p:blipFill>
          <a:blip r:embed="rId4"/>
          <a:stretch>
            <a:fillRect/>
          </a:stretch>
        </p:blipFill>
        <p:spPr>
          <a:xfrm>
            <a:off x="4800600" y="13830300"/>
            <a:ext cx="114300" cy="114300"/>
          </a:xfrm>
          <a:prstGeom prst="rect">
            <a:avLst/>
          </a:prstGeom>
        </p:spPr>
      </p:pic>
      <p:sp>
        <p:nvSpPr>
          <p:cNvPr id="302" name="Text 284"/>
          <p:cNvSpPr/>
          <p:nvPr/>
        </p:nvSpPr>
        <p:spPr>
          <a:xfrm>
            <a:off x="4972050" y="13801725"/>
            <a:ext cx="3227356"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You're working with hierarchical data structures (trees, graphs)</a:t>
            </a:r>
            <a:endParaRPr lang="en-US" sz="900" dirty="0"/>
          </a:p>
        </p:txBody>
      </p:sp>
      <p:pic>
        <p:nvPicPr>
          <p:cNvPr id="303" name="Image 16" descr="preencoded.png"/>
          <p:cNvPicPr>
            <a:picLocks noChangeAspect="1"/>
          </p:cNvPicPr>
          <p:nvPr/>
        </p:nvPicPr>
        <p:blipFill>
          <a:blip r:embed="rId4"/>
          <a:stretch>
            <a:fillRect/>
          </a:stretch>
        </p:blipFill>
        <p:spPr>
          <a:xfrm>
            <a:off x="4800600" y="14058900"/>
            <a:ext cx="114300" cy="114300"/>
          </a:xfrm>
          <a:prstGeom prst="rect">
            <a:avLst/>
          </a:prstGeom>
        </p:spPr>
      </p:pic>
      <p:sp>
        <p:nvSpPr>
          <p:cNvPr id="304" name="Text 285"/>
          <p:cNvSpPr/>
          <p:nvPr/>
        </p:nvSpPr>
        <p:spPr>
          <a:xfrm>
            <a:off x="4972050" y="14030325"/>
            <a:ext cx="2943281"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solution is more elegant and readable with recursion</a:t>
            </a:r>
            <a:endParaRPr lang="en-US" sz="900" dirty="0"/>
          </a:p>
        </p:txBody>
      </p:sp>
      <p:pic>
        <p:nvPicPr>
          <p:cNvPr id="305" name="Image 17" descr="preencoded.png"/>
          <p:cNvPicPr>
            <a:picLocks noChangeAspect="1"/>
          </p:cNvPicPr>
          <p:nvPr/>
        </p:nvPicPr>
        <p:blipFill>
          <a:blip r:embed="rId4"/>
          <a:stretch>
            <a:fillRect/>
          </a:stretch>
        </p:blipFill>
        <p:spPr>
          <a:xfrm>
            <a:off x="4800600" y="14287500"/>
            <a:ext cx="114300" cy="114300"/>
          </a:xfrm>
          <a:prstGeom prst="rect">
            <a:avLst/>
          </a:prstGeom>
        </p:spPr>
      </p:pic>
      <p:sp>
        <p:nvSpPr>
          <p:cNvPr id="306" name="Text 286"/>
          <p:cNvSpPr/>
          <p:nvPr/>
        </p:nvSpPr>
        <p:spPr>
          <a:xfrm>
            <a:off x="4972050" y="14258925"/>
            <a:ext cx="3381394"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The recursion depth is limited and stack overflow is not a concern</a:t>
            </a:r>
            <a:endParaRPr lang="en-US" sz="900" dirty="0"/>
          </a:p>
        </p:txBody>
      </p:sp>
      <p:sp>
        <p:nvSpPr>
          <p:cNvPr id="307" name="Shape 287"/>
          <p:cNvSpPr/>
          <p:nvPr/>
        </p:nvSpPr>
        <p:spPr>
          <a:xfrm>
            <a:off x="628650" y="15430500"/>
            <a:ext cx="7886700" cy="742950"/>
          </a:xfrm>
          <a:prstGeom prst="rect">
            <a:avLst/>
          </a:prstGeom>
          <a:solidFill>
            <a:srgbClr val="78350F">
              <a:alpha val="20000"/>
            </a:srgbClr>
          </a:solidFill>
          <a:ln/>
        </p:spPr>
        <p:txBody>
          <a:bodyPr/>
          <a:lstStyle/>
          <a:p>
            <a:endParaRPr lang="en-US"/>
          </a:p>
        </p:txBody>
      </p:sp>
      <p:pic>
        <p:nvPicPr>
          <p:cNvPr id="308" name="Image 18" descr="preencoded.png"/>
          <p:cNvPicPr>
            <a:picLocks noChangeAspect="1"/>
          </p:cNvPicPr>
          <p:nvPr/>
        </p:nvPicPr>
        <p:blipFill>
          <a:blip r:embed="rId5"/>
          <a:stretch>
            <a:fillRect/>
          </a:stretch>
        </p:blipFill>
        <p:spPr>
          <a:xfrm>
            <a:off x="742950" y="15716250"/>
            <a:ext cx="128588" cy="171450"/>
          </a:xfrm>
          <a:prstGeom prst="rect">
            <a:avLst/>
          </a:prstGeom>
        </p:spPr>
      </p:pic>
      <p:sp>
        <p:nvSpPr>
          <p:cNvPr id="309" name="Text 288"/>
          <p:cNvSpPr/>
          <p:nvPr/>
        </p:nvSpPr>
        <p:spPr>
          <a:xfrm>
            <a:off x="985838" y="15544800"/>
            <a:ext cx="7486650" cy="51435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The best approach depends on the specific problem requirements, readability concerns, and performance considerations. Often, multiple approaches can solve the same problem effectively, so choose the one that makes your code most maintainable and understandable in your specific context.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5816263"/>
          </a:xfrm>
          <a:prstGeom prst="rect">
            <a:avLst/>
          </a:prstGeom>
        </p:spPr>
      </p:pic>
      <p:sp>
        <p:nvSpPr>
          <p:cNvPr id="3" name="Text 0"/>
          <p:cNvSpPr/>
          <p:nvPr/>
        </p:nvSpPr>
        <p:spPr>
          <a:xfrm>
            <a:off x="457200" y="455414"/>
            <a:ext cx="2444279"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Best Practices and</a:t>
            </a:r>
            <a:endParaRPr lang="en-US" sz="2025" dirty="0"/>
          </a:p>
        </p:txBody>
      </p:sp>
      <p:sp>
        <p:nvSpPr>
          <p:cNvPr id="4" name="Text 1"/>
          <p:cNvSpPr/>
          <p:nvPr/>
        </p:nvSpPr>
        <p:spPr>
          <a:xfrm>
            <a:off x="2830041" y="455414"/>
            <a:ext cx="2100458"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Common Pitfalls</a:t>
            </a:r>
            <a:endParaRPr lang="en-US" sz="2025" dirty="0"/>
          </a:p>
        </p:txBody>
      </p:sp>
      <p:sp>
        <p:nvSpPr>
          <p:cNvPr id="5" name="Shape 2"/>
          <p:cNvSpPr/>
          <p:nvPr/>
        </p:nvSpPr>
        <p:spPr>
          <a:xfrm>
            <a:off x="457200" y="971550"/>
            <a:ext cx="4000500" cy="35861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Logic Building Best Practices</a:t>
            </a:r>
            <a:endParaRPr lang="en-US" sz="1350" dirty="0"/>
          </a:p>
        </p:txBody>
      </p:sp>
      <p:sp>
        <p:nvSpPr>
          <p:cNvPr id="7" name="Shape 4"/>
          <p:cNvSpPr/>
          <p:nvPr/>
        </p:nvSpPr>
        <p:spPr>
          <a:xfrm>
            <a:off x="628650" y="1485900"/>
            <a:ext cx="3657600" cy="88582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885825"/>
          </a:xfrm>
          <a:prstGeom prst="rect">
            <a:avLst/>
          </a:prstGeom>
          <a:solidFill>
            <a:srgbClr val="48BB78"/>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Understand the Problem First</a:t>
            </a:r>
            <a:endParaRPr lang="en-US" sz="1125" dirty="0"/>
          </a:p>
        </p:txBody>
      </p:sp>
      <p:pic>
        <p:nvPicPr>
          <p:cNvPr id="10" name="Image 1" descr="preencoded.png"/>
          <p:cNvPicPr>
            <a:picLocks noChangeAspect="1"/>
          </p:cNvPicPr>
          <p:nvPr/>
        </p:nvPicPr>
        <p:blipFill>
          <a:blip r:embed="rId4"/>
          <a:stretch>
            <a:fillRect/>
          </a:stretch>
        </p:blipFill>
        <p:spPr>
          <a:xfrm>
            <a:off x="742950" y="1828800"/>
            <a:ext cx="100013" cy="100013"/>
          </a:xfrm>
          <a:prstGeom prst="rect">
            <a:avLst/>
          </a:prstGeom>
        </p:spPr>
      </p:pic>
      <p:sp>
        <p:nvSpPr>
          <p:cNvPr id="11" name="Text 7"/>
          <p:cNvSpPr/>
          <p:nvPr/>
        </p:nvSpPr>
        <p:spPr>
          <a:xfrm>
            <a:off x="900113" y="1800225"/>
            <a:ext cx="209510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Clearly define inputs, outputs, and constraints</a:t>
            </a:r>
            <a:endParaRPr lang="en-US" sz="788" dirty="0"/>
          </a:p>
        </p:txBody>
      </p:sp>
      <p:pic>
        <p:nvPicPr>
          <p:cNvPr id="12" name="Image 2" descr="preencoded.png"/>
          <p:cNvPicPr>
            <a:picLocks noChangeAspect="1"/>
          </p:cNvPicPr>
          <p:nvPr/>
        </p:nvPicPr>
        <p:blipFill>
          <a:blip r:embed="rId4"/>
          <a:stretch>
            <a:fillRect/>
          </a:stretch>
        </p:blipFill>
        <p:spPr>
          <a:xfrm>
            <a:off x="742950" y="2000250"/>
            <a:ext cx="100013" cy="100013"/>
          </a:xfrm>
          <a:prstGeom prst="rect">
            <a:avLst/>
          </a:prstGeom>
        </p:spPr>
      </p:pic>
      <p:sp>
        <p:nvSpPr>
          <p:cNvPr id="13" name="Text 8"/>
          <p:cNvSpPr/>
          <p:nvPr/>
        </p:nvSpPr>
        <p:spPr>
          <a:xfrm>
            <a:off x="900113" y="1971675"/>
            <a:ext cx="282873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Break down complex problems into smaller, manageable parts</a:t>
            </a:r>
            <a:endParaRPr lang="en-US" sz="788" dirty="0"/>
          </a:p>
        </p:txBody>
      </p:sp>
      <p:pic>
        <p:nvPicPr>
          <p:cNvPr id="14" name="Image 3" descr="preencoded.png"/>
          <p:cNvPicPr>
            <a:picLocks noChangeAspect="1"/>
          </p:cNvPicPr>
          <p:nvPr/>
        </p:nvPicPr>
        <p:blipFill>
          <a:blip r:embed="rId4"/>
          <a:stretch>
            <a:fillRect/>
          </a:stretch>
        </p:blipFill>
        <p:spPr>
          <a:xfrm>
            <a:off x="742950" y="2171700"/>
            <a:ext cx="100013" cy="100013"/>
          </a:xfrm>
          <a:prstGeom prst="rect">
            <a:avLst/>
          </a:prstGeom>
        </p:spPr>
      </p:pic>
      <p:sp>
        <p:nvSpPr>
          <p:cNvPr id="15" name="Text 9"/>
          <p:cNvSpPr/>
          <p:nvPr/>
        </p:nvSpPr>
        <p:spPr>
          <a:xfrm>
            <a:off x="900113" y="2143125"/>
            <a:ext cx="2128642"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Consider edge cases and boundary conditions</a:t>
            </a:r>
            <a:endParaRPr lang="en-US" sz="788" dirty="0"/>
          </a:p>
        </p:txBody>
      </p:sp>
      <p:sp>
        <p:nvSpPr>
          <p:cNvPr id="16" name="Shape 10"/>
          <p:cNvSpPr/>
          <p:nvPr/>
        </p:nvSpPr>
        <p:spPr>
          <a:xfrm>
            <a:off x="628650" y="2486025"/>
            <a:ext cx="3657600" cy="885825"/>
          </a:xfrm>
          <a:prstGeom prst="rect">
            <a:avLst/>
          </a:prstGeom>
          <a:solidFill>
            <a:srgbClr val="1E3A8A">
              <a:alpha val="30000"/>
            </a:srgbClr>
          </a:solidFill>
          <a:ln/>
        </p:spPr>
        <p:txBody>
          <a:bodyPr/>
          <a:lstStyle/>
          <a:p>
            <a:endParaRPr lang="en-US"/>
          </a:p>
        </p:txBody>
      </p:sp>
      <p:sp>
        <p:nvSpPr>
          <p:cNvPr id="17" name="Shape 11"/>
          <p:cNvSpPr/>
          <p:nvPr/>
        </p:nvSpPr>
        <p:spPr>
          <a:xfrm>
            <a:off x="628650" y="2486025"/>
            <a:ext cx="28575" cy="885825"/>
          </a:xfrm>
          <a:prstGeom prst="rect">
            <a:avLst/>
          </a:prstGeom>
          <a:solidFill>
            <a:srgbClr val="48BB78"/>
          </a:solidFill>
          <a:ln/>
        </p:spPr>
        <p:txBody>
          <a:bodyPr/>
          <a:lstStyle/>
          <a:p>
            <a:endParaRPr lang="en-US"/>
          </a:p>
        </p:txBody>
      </p:sp>
      <p:sp>
        <p:nvSpPr>
          <p:cNvPr id="18" name="Text 12"/>
          <p:cNvSpPr/>
          <p:nvPr/>
        </p:nvSpPr>
        <p:spPr>
          <a:xfrm>
            <a:off x="742950" y="25717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Plan Before Coding</a:t>
            </a:r>
            <a:endParaRPr lang="en-US" sz="1125" dirty="0"/>
          </a:p>
        </p:txBody>
      </p:sp>
      <p:pic>
        <p:nvPicPr>
          <p:cNvPr id="19" name="Image 4" descr="preencoded.png"/>
          <p:cNvPicPr>
            <a:picLocks noChangeAspect="1"/>
          </p:cNvPicPr>
          <p:nvPr/>
        </p:nvPicPr>
        <p:blipFill>
          <a:blip r:embed="rId4"/>
          <a:stretch>
            <a:fillRect/>
          </a:stretch>
        </p:blipFill>
        <p:spPr>
          <a:xfrm>
            <a:off x="742950" y="2828925"/>
            <a:ext cx="100013" cy="100013"/>
          </a:xfrm>
          <a:prstGeom prst="rect">
            <a:avLst/>
          </a:prstGeom>
        </p:spPr>
      </p:pic>
      <p:sp>
        <p:nvSpPr>
          <p:cNvPr id="20" name="Text 13"/>
          <p:cNvSpPr/>
          <p:nvPr/>
        </p:nvSpPr>
        <p:spPr>
          <a:xfrm>
            <a:off x="900113" y="2800350"/>
            <a:ext cx="1850622"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Use pseudocode to outline your solution</a:t>
            </a:r>
            <a:endParaRPr lang="en-US" sz="788" dirty="0"/>
          </a:p>
        </p:txBody>
      </p:sp>
      <p:pic>
        <p:nvPicPr>
          <p:cNvPr id="21" name="Image 5" descr="preencoded.png"/>
          <p:cNvPicPr>
            <a:picLocks noChangeAspect="1"/>
          </p:cNvPicPr>
          <p:nvPr/>
        </p:nvPicPr>
        <p:blipFill>
          <a:blip r:embed="rId4"/>
          <a:stretch>
            <a:fillRect/>
          </a:stretch>
        </p:blipFill>
        <p:spPr>
          <a:xfrm>
            <a:off x="742950" y="3000375"/>
            <a:ext cx="100013" cy="100013"/>
          </a:xfrm>
          <a:prstGeom prst="rect">
            <a:avLst/>
          </a:prstGeom>
        </p:spPr>
      </p:pic>
      <p:sp>
        <p:nvSpPr>
          <p:cNvPr id="22" name="Text 14"/>
          <p:cNvSpPr/>
          <p:nvPr/>
        </p:nvSpPr>
        <p:spPr>
          <a:xfrm>
            <a:off x="900113" y="2971800"/>
            <a:ext cx="1816633"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Draw flowcharts for complex logic flows</a:t>
            </a:r>
            <a:endParaRPr lang="en-US" sz="788" dirty="0"/>
          </a:p>
        </p:txBody>
      </p:sp>
      <p:pic>
        <p:nvPicPr>
          <p:cNvPr id="23" name="Image 6" descr="preencoded.png"/>
          <p:cNvPicPr>
            <a:picLocks noChangeAspect="1"/>
          </p:cNvPicPr>
          <p:nvPr/>
        </p:nvPicPr>
        <p:blipFill>
          <a:blip r:embed="rId4"/>
          <a:stretch>
            <a:fillRect/>
          </a:stretch>
        </p:blipFill>
        <p:spPr>
          <a:xfrm>
            <a:off x="742950" y="3171825"/>
            <a:ext cx="100013" cy="100013"/>
          </a:xfrm>
          <a:prstGeom prst="rect">
            <a:avLst/>
          </a:prstGeom>
        </p:spPr>
      </p:pic>
      <p:sp>
        <p:nvSpPr>
          <p:cNvPr id="24" name="Text 15"/>
          <p:cNvSpPr/>
          <p:nvPr/>
        </p:nvSpPr>
        <p:spPr>
          <a:xfrm>
            <a:off x="900113" y="3143250"/>
            <a:ext cx="2411936"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Consider multiple approaches before implementation</a:t>
            </a:r>
            <a:endParaRPr lang="en-US" sz="788" dirty="0"/>
          </a:p>
        </p:txBody>
      </p:sp>
      <p:sp>
        <p:nvSpPr>
          <p:cNvPr id="25" name="Shape 16"/>
          <p:cNvSpPr/>
          <p:nvPr/>
        </p:nvSpPr>
        <p:spPr>
          <a:xfrm>
            <a:off x="628650" y="3486150"/>
            <a:ext cx="3657600" cy="885825"/>
          </a:xfrm>
          <a:prstGeom prst="rect">
            <a:avLst/>
          </a:prstGeom>
          <a:solidFill>
            <a:srgbClr val="1E3A8A">
              <a:alpha val="30000"/>
            </a:srgbClr>
          </a:solidFill>
          <a:ln/>
        </p:spPr>
        <p:txBody>
          <a:bodyPr/>
          <a:lstStyle/>
          <a:p>
            <a:endParaRPr lang="en-US"/>
          </a:p>
        </p:txBody>
      </p:sp>
      <p:sp>
        <p:nvSpPr>
          <p:cNvPr id="26" name="Shape 17"/>
          <p:cNvSpPr/>
          <p:nvPr/>
        </p:nvSpPr>
        <p:spPr>
          <a:xfrm>
            <a:off x="628650" y="3486150"/>
            <a:ext cx="28575" cy="885825"/>
          </a:xfrm>
          <a:prstGeom prst="rect">
            <a:avLst/>
          </a:prstGeom>
          <a:solidFill>
            <a:srgbClr val="48BB78"/>
          </a:solidFill>
          <a:ln/>
        </p:spPr>
        <p:txBody>
          <a:bodyPr/>
          <a:lstStyle/>
          <a:p>
            <a:endParaRPr lang="en-US"/>
          </a:p>
        </p:txBody>
      </p:sp>
      <p:sp>
        <p:nvSpPr>
          <p:cNvPr id="27" name="Text 18"/>
          <p:cNvSpPr/>
          <p:nvPr/>
        </p:nvSpPr>
        <p:spPr>
          <a:xfrm>
            <a:off x="742950" y="35718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Start Simple, Then Refine</a:t>
            </a:r>
            <a:endParaRPr lang="en-US" sz="1125" dirty="0"/>
          </a:p>
        </p:txBody>
      </p:sp>
      <p:pic>
        <p:nvPicPr>
          <p:cNvPr id="28" name="Image 7" descr="preencoded.png"/>
          <p:cNvPicPr>
            <a:picLocks noChangeAspect="1"/>
          </p:cNvPicPr>
          <p:nvPr/>
        </p:nvPicPr>
        <p:blipFill>
          <a:blip r:embed="rId4"/>
          <a:stretch>
            <a:fillRect/>
          </a:stretch>
        </p:blipFill>
        <p:spPr>
          <a:xfrm>
            <a:off x="742950" y="3829050"/>
            <a:ext cx="100013" cy="100013"/>
          </a:xfrm>
          <a:prstGeom prst="rect">
            <a:avLst/>
          </a:prstGeom>
        </p:spPr>
      </p:pic>
      <p:sp>
        <p:nvSpPr>
          <p:cNvPr id="29" name="Text 19"/>
          <p:cNvSpPr/>
          <p:nvPr/>
        </p:nvSpPr>
        <p:spPr>
          <a:xfrm>
            <a:off x="900113" y="3800475"/>
            <a:ext cx="2159952"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Begin with a working solution, even if inefficient</a:t>
            </a:r>
            <a:endParaRPr lang="en-US" sz="788" dirty="0"/>
          </a:p>
        </p:txBody>
      </p:sp>
      <p:pic>
        <p:nvPicPr>
          <p:cNvPr id="30" name="Image 8" descr="preencoded.png"/>
          <p:cNvPicPr>
            <a:picLocks noChangeAspect="1"/>
          </p:cNvPicPr>
          <p:nvPr/>
        </p:nvPicPr>
        <p:blipFill>
          <a:blip r:embed="rId4"/>
          <a:stretch>
            <a:fillRect/>
          </a:stretch>
        </p:blipFill>
        <p:spPr>
          <a:xfrm>
            <a:off x="742950" y="4000500"/>
            <a:ext cx="100013" cy="100013"/>
          </a:xfrm>
          <a:prstGeom prst="rect">
            <a:avLst/>
          </a:prstGeom>
        </p:spPr>
      </p:pic>
      <p:sp>
        <p:nvSpPr>
          <p:cNvPr id="31" name="Text 20"/>
          <p:cNvSpPr/>
          <p:nvPr/>
        </p:nvSpPr>
        <p:spPr>
          <a:xfrm>
            <a:off x="900113" y="3971925"/>
            <a:ext cx="1644541"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Incrementally improve and optimize</a:t>
            </a:r>
            <a:endParaRPr lang="en-US" sz="788" dirty="0"/>
          </a:p>
        </p:txBody>
      </p:sp>
      <p:pic>
        <p:nvPicPr>
          <p:cNvPr id="32" name="Image 9" descr="preencoded.png"/>
          <p:cNvPicPr>
            <a:picLocks noChangeAspect="1"/>
          </p:cNvPicPr>
          <p:nvPr/>
        </p:nvPicPr>
        <p:blipFill>
          <a:blip r:embed="rId4"/>
          <a:stretch>
            <a:fillRect/>
          </a:stretch>
        </p:blipFill>
        <p:spPr>
          <a:xfrm>
            <a:off x="742950" y="4171950"/>
            <a:ext cx="100013" cy="100013"/>
          </a:xfrm>
          <a:prstGeom prst="rect">
            <a:avLst/>
          </a:prstGeom>
        </p:spPr>
      </p:pic>
      <p:sp>
        <p:nvSpPr>
          <p:cNvPr id="33" name="Text 21"/>
          <p:cNvSpPr/>
          <p:nvPr/>
        </p:nvSpPr>
        <p:spPr>
          <a:xfrm>
            <a:off x="900113" y="4143375"/>
            <a:ext cx="1594591"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Test each improvement separately</a:t>
            </a:r>
            <a:endParaRPr lang="en-US" sz="788" dirty="0"/>
          </a:p>
        </p:txBody>
      </p:sp>
      <p:sp>
        <p:nvSpPr>
          <p:cNvPr id="34" name="Shape 22"/>
          <p:cNvSpPr/>
          <p:nvPr/>
        </p:nvSpPr>
        <p:spPr>
          <a:xfrm>
            <a:off x="457200" y="4714875"/>
            <a:ext cx="4000500" cy="37576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5" name="Text 23"/>
          <p:cNvSpPr/>
          <p:nvPr/>
        </p:nvSpPr>
        <p:spPr>
          <a:xfrm>
            <a:off x="628650" y="4886325"/>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Dry Run Best Practices</a:t>
            </a:r>
            <a:endParaRPr lang="en-US" sz="1350" dirty="0"/>
          </a:p>
        </p:txBody>
      </p:sp>
      <p:sp>
        <p:nvSpPr>
          <p:cNvPr id="36" name="Shape 24"/>
          <p:cNvSpPr/>
          <p:nvPr/>
        </p:nvSpPr>
        <p:spPr>
          <a:xfrm>
            <a:off x="628650" y="5229225"/>
            <a:ext cx="3657600" cy="885825"/>
          </a:xfrm>
          <a:prstGeom prst="rect">
            <a:avLst/>
          </a:prstGeom>
          <a:solidFill>
            <a:srgbClr val="1E3A8A">
              <a:alpha val="30000"/>
            </a:srgbClr>
          </a:solidFill>
          <a:ln/>
        </p:spPr>
        <p:txBody>
          <a:bodyPr/>
          <a:lstStyle/>
          <a:p>
            <a:endParaRPr lang="en-US"/>
          </a:p>
        </p:txBody>
      </p:sp>
      <p:sp>
        <p:nvSpPr>
          <p:cNvPr id="37" name="Shape 25"/>
          <p:cNvSpPr/>
          <p:nvPr/>
        </p:nvSpPr>
        <p:spPr>
          <a:xfrm>
            <a:off x="628650" y="5229225"/>
            <a:ext cx="28575" cy="885825"/>
          </a:xfrm>
          <a:prstGeom prst="rect">
            <a:avLst/>
          </a:prstGeom>
          <a:solidFill>
            <a:srgbClr val="48BB78"/>
          </a:solidFill>
          <a:ln/>
        </p:spPr>
        <p:txBody>
          <a:bodyPr/>
          <a:lstStyle/>
          <a:p>
            <a:endParaRPr lang="en-US"/>
          </a:p>
        </p:txBody>
      </p:sp>
      <p:sp>
        <p:nvSpPr>
          <p:cNvPr id="38" name="Text 26"/>
          <p:cNvSpPr/>
          <p:nvPr/>
        </p:nvSpPr>
        <p:spPr>
          <a:xfrm>
            <a:off x="742950" y="53149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Be Systematic</a:t>
            </a:r>
            <a:endParaRPr lang="en-US" sz="1125" dirty="0"/>
          </a:p>
        </p:txBody>
      </p:sp>
      <p:pic>
        <p:nvPicPr>
          <p:cNvPr id="39" name="Image 10" descr="preencoded.png"/>
          <p:cNvPicPr>
            <a:picLocks noChangeAspect="1"/>
          </p:cNvPicPr>
          <p:nvPr/>
        </p:nvPicPr>
        <p:blipFill>
          <a:blip r:embed="rId4"/>
          <a:stretch>
            <a:fillRect/>
          </a:stretch>
        </p:blipFill>
        <p:spPr>
          <a:xfrm>
            <a:off x="742950" y="5572125"/>
            <a:ext cx="100013" cy="100013"/>
          </a:xfrm>
          <a:prstGeom prst="rect">
            <a:avLst/>
          </a:prstGeom>
        </p:spPr>
      </p:pic>
      <p:sp>
        <p:nvSpPr>
          <p:cNvPr id="40" name="Text 27"/>
          <p:cNvSpPr/>
          <p:nvPr/>
        </p:nvSpPr>
        <p:spPr>
          <a:xfrm>
            <a:off x="900113" y="5543550"/>
            <a:ext cx="2217325"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Create a table to track variables and their values</a:t>
            </a:r>
            <a:endParaRPr lang="en-US" sz="788" dirty="0"/>
          </a:p>
        </p:txBody>
      </p:sp>
      <p:pic>
        <p:nvPicPr>
          <p:cNvPr id="41" name="Image 11" descr="preencoded.png"/>
          <p:cNvPicPr>
            <a:picLocks noChangeAspect="1"/>
          </p:cNvPicPr>
          <p:nvPr/>
        </p:nvPicPr>
        <p:blipFill>
          <a:blip r:embed="rId4"/>
          <a:stretch>
            <a:fillRect/>
          </a:stretch>
        </p:blipFill>
        <p:spPr>
          <a:xfrm>
            <a:off x="742950" y="5743575"/>
            <a:ext cx="100013" cy="100013"/>
          </a:xfrm>
          <a:prstGeom prst="rect">
            <a:avLst/>
          </a:prstGeom>
        </p:spPr>
      </p:pic>
      <p:sp>
        <p:nvSpPr>
          <p:cNvPr id="42" name="Text 28"/>
          <p:cNvSpPr/>
          <p:nvPr/>
        </p:nvSpPr>
        <p:spPr>
          <a:xfrm>
            <a:off x="900113" y="5715000"/>
            <a:ext cx="156138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Follow code execution line by line</a:t>
            </a:r>
            <a:endParaRPr lang="en-US" sz="788" dirty="0"/>
          </a:p>
        </p:txBody>
      </p:sp>
      <p:pic>
        <p:nvPicPr>
          <p:cNvPr id="43" name="Image 12" descr="preencoded.png"/>
          <p:cNvPicPr>
            <a:picLocks noChangeAspect="1"/>
          </p:cNvPicPr>
          <p:nvPr/>
        </p:nvPicPr>
        <p:blipFill>
          <a:blip r:embed="rId4"/>
          <a:stretch>
            <a:fillRect/>
          </a:stretch>
        </p:blipFill>
        <p:spPr>
          <a:xfrm>
            <a:off x="742950" y="5915025"/>
            <a:ext cx="100013" cy="100013"/>
          </a:xfrm>
          <a:prstGeom prst="rect">
            <a:avLst/>
          </a:prstGeom>
        </p:spPr>
      </p:pic>
      <p:sp>
        <p:nvSpPr>
          <p:cNvPr id="44" name="Text 29"/>
          <p:cNvSpPr/>
          <p:nvPr/>
        </p:nvSpPr>
        <p:spPr>
          <a:xfrm>
            <a:off x="900113" y="5886450"/>
            <a:ext cx="168921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Document each state change clearly</a:t>
            </a:r>
            <a:endParaRPr lang="en-US" sz="788" dirty="0"/>
          </a:p>
        </p:txBody>
      </p:sp>
      <p:sp>
        <p:nvSpPr>
          <p:cNvPr id="45" name="Shape 30"/>
          <p:cNvSpPr/>
          <p:nvPr/>
        </p:nvSpPr>
        <p:spPr>
          <a:xfrm>
            <a:off x="628650" y="6229350"/>
            <a:ext cx="3657600" cy="885825"/>
          </a:xfrm>
          <a:prstGeom prst="rect">
            <a:avLst/>
          </a:prstGeom>
          <a:solidFill>
            <a:srgbClr val="1E3A8A">
              <a:alpha val="30000"/>
            </a:srgbClr>
          </a:solidFill>
          <a:ln/>
        </p:spPr>
        <p:txBody>
          <a:bodyPr/>
          <a:lstStyle/>
          <a:p>
            <a:endParaRPr lang="en-US"/>
          </a:p>
        </p:txBody>
      </p:sp>
      <p:sp>
        <p:nvSpPr>
          <p:cNvPr id="46" name="Shape 31"/>
          <p:cNvSpPr/>
          <p:nvPr/>
        </p:nvSpPr>
        <p:spPr>
          <a:xfrm>
            <a:off x="628650" y="6229350"/>
            <a:ext cx="28575" cy="885825"/>
          </a:xfrm>
          <a:prstGeom prst="rect">
            <a:avLst/>
          </a:prstGeom>
          <a:solidFill>
            <a:srgbClr val="48BB78"/>
          </a:solidFill>
          <a:ln/>
        </p:spPr>
        <p:txBody>
          <a:bodyPr/>
          <a:lstStyle/>
          <a:p>
            <a:endParaRPr lang="en-US"/>
          </a:p>
        </p:txBody>
      </p:sp>
      <p:sp>
        <p:nvSpPr>
          <p:cNvPr id="47" name="Text 32"/>
          <p:cNvSpPr/>
          <p:nvPr/>
        </p:nvSpPr>
        <p:spPr>
          <a:xfrm>
            <a:off x="742950" y="63150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Use Multiple Test Cases</a:t>
            </a:r>
            <a:endParaRPr lang="en-US" sz="1125" dirty="0"/>
          </a:p>
        </p:txBody>
      </p:sp>
      <p:pic>
        <p:nvPicPr>
          <p:cNvPr id="48" name="Image 13" descr="preencoded.png"/>
          <p:cNvPicPr>
            <a:picLocks noChangeAspect="1"/>
          </p:cNvPicPr>
          <p:nvPr/>
        </p:nvPicPr>
        <p:blipFill>
          <a:blip r:embed="rId4"/>
          <a:stretch>
            <a:fillRect/>
          </a:stretch>
        </p:blipFill>
        <p:spPr>
          <a:xfrm>
            <a:off x="742950" y="6572250"/>
            <a:ext cx="100013" cy="100013"/>
          </a:xfrm>
          <a:prstGeom prst="rect">
            <a:avLst/>
          </a:prstGeom>
        </p:spPr>
      </p:pic>
      <p:sp>
        <p:nvSpPr>
          <p:cNvPr id="49" name="Text 33"/>
          <p:cNvSpPr/>
          <p:nvPr/>
        </p:nvSpPr>
        <p:spPr>
          <a:xfrm>
            <a:off x="900113" y="6543675"/>
            <a:ext cx="2020956"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Test with normal, boundary, and edge cases</a:t>
            </a:r>
            <a:endParaRPr lang="en-US" sz="788" dirty="0"/>
          </a:p>
        </p:txBody>
      </p:sp>
      <p:pic>
        <p:nvPicPr>
          <p:cNvPr id="50" name="Image 14" descr="preencoded.png"/>
          <p:cNvPicPr>
            <a:picLocks noChangeAspect="1"/>
          </p:cNvPicPr>
          <p:nvPr/>
        </p:nvPicPr>
        <p:blipFill>
          <a:blip r:embed="rId4"/>
          <a:stretch>
            <a:fillRect/>
          </a:stretch>
        </p:blipFill>
        <p:spPr>
          <a:xfrm>
            <a:off x="742950" y="6743700"/>
            <a:ext cx="100013" cy="100013"/>
          </a:xfrm>
          <a:prstGeom prst="rect">
            <a:avLst/>
          </a:prstGeom>
        </p:spPr>
      </p:pic>
      <p:sp>
        <p:nvSpPr>
          <p:cNvPr id="51" name="Text 34"/>
          <p:cNvSpPr/>
          <p:nvPr/>
        </p:nvSpPr>
        <p:spPr>
          <a:xfrm>
            <a:off x="900113" y="6715125"/>
            <a:ext cx="1945025"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Include invalid inputs to test error handling</a:t>
            </a:r>
            <a:endParaRPr lang="en-US" sz="788" dirty="0"/>
          </a:p>
        </p:txBody>
      </p:sp>
      <p:pic>
        <p:nvPicPr>
          <p:cNvPr id="52" name="Image 15" descr="preencoded.png"/>
          <p:cNvPicPr>
            <a:picLocks noChangeAspect="1"/>
          </p:cNvPicPr>
          <p:nvPr/>
        </p:nvPicPr>
        <p:blipFill>
          <a:blip r:embed="rId4"/>
          <a:stretch>
            <a:fillRect/>
          </a:stretch>
        </p:blipFill>
        <p:spPr>
          <a:xfrm>
            <a:off x="742950" y="6915150"/>
            <a:ext cx="100013" cy="100013"/>
          </a:xfrm>
          <a:prstGeom prst="rect">
            <a:avLst/>
          </a:prstGeom>
        </p:spPr>
      </p:pic>
      <p:sp>
        <p:nvSpPr>
          <p:cNvPr id="53" name="Text 35"/>
          <p:cNvSpPr/>
          <p:nvPr/>
        </p:nvSpPr>
        <p:spPr>
          <a:xfrm>
            <a:off x="900113" y="6886575"/>
            <a:ext cx="187783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Consider minimum and maximum values</a:t>
            </a:r>
            <a:endParaRPr lang="en-US" sz="788" dirty="0"/>
          </a:p>
        </p:txBody>
      </p:sp>
      <p:sp>
        <p:nvSpPr>
          <p:cNvPr id="54" name="Shape 36"/>
          <p:cNvSpPr/>
          <p:nvPr/>
        </p:nvSpPr>
        <p:spPr>
          <a:xfrm>
            <a:off x="628650" y="7229475"/>
            <a:ext cx="3657600" cy="1057275"/>
          </a:xfrm>
          <a:prstGeom prst="rect">
            <a:avLst/>
          </a:prstGeom>
          <a:solidFill>
            <a:srgbClr val="1E3A8A">
              <a:alpha val="30000"/>
            </a:srgbClr>
          </a:solidFill>
          <a:ln/>
        </p:spPr>
        <p:txBody>
          <a:bodyPr/>
          <a:lstStyle/>
          <a:p>
            <a:endParaRPr lang="en-US"/>
          </a:p>
        </p:txBody>
      </p:sp>
      <p:sp>
        <p:nvSpPr>
          <p:cNvPr id="55" name="Shape 37"/>
          <p:cNvSpPr/>
          <p:nvPr/>
        </p:nvSpPr>
        <p:spPr>
          <a:xfrm>
            <a:off x="628650" y="7229475"/>
            <a:ext cx="28575" cy="1057275"/>
          </a:xfrm>
          <a:prstGeom prst="rect">
            <a:avLst/>
          </a:prstGeom>
          <a:solidFill>
            <a:srgbClr val="48BB78"/>
          </a:solidFill>
          <a:ln/>
        </p:spPr>
        <p:txBody>
          <a:bodyPr/>
          <a:lstStyle/>
          <a:p>
            <a:endParaRPr lang="en-US"/>
          </a:p>
        </p:txBody>
      </p:sp>
      <p:sp>
        <p:nvSpPr>
          <p:cNvPr id="56" name="Text 38"/>
          <p:cNvSpPr/>
          <p:nvPr/>
        </p:nvSpPr>
        <p:spPr>
          <a:xfrm>
            <a:off x="742950" y="73152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Pay Special Attention To</a:t>
            </a:r>
            <a:endParaRPr lang="en-US" sz="1125" dirty="0"/>
          </a:p>
        </p:txBody>
      </p:sp>
      <p:pic>
        <p:nvPicPr>
          <p:cNvPr id="57" name="Image 16" descr="preencoded.png"/>
          <p:cNvPicPr>
            <a:picLocks noChangeAspect="1"/>
          </p:cNvPicPr>
          <p:nvPr/>
        </p:nvPicPr>
        <p:blipFill>
          <a:blip r:embed="rId4"/>
          <a:stretch>
            <a:fillRect/>
          </a:stretch>
        </p:blipFill>
        <p:spPr>
          <a:xfrm>
            <a:off x="742950" y="7572375"/>
            <a:ext cx="100013" cy="100013"/>
          </a:xfrm>
          <a:prstGeom prst="rect">
            <a:avLst/>
          </a:prstGeom>
        </p:spPr>
      </p:pic>
      <p:sp>
        <p:nvSpPr>
          <p:cNvPr id="58" name="Text 39"/>
          <p:cNvSpPr/>
          <p:nvPr/>
        </p:nvSpPr>
        <p:spPr>
          <a:xfrm>
            <a:off x="900113" y="7543800"/>
            <a:ext cx="1400287"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Loop entry and exit conditions</a:t>
            </a:r>
            <a:endParaRPr lang="en-US" sz="788" dirty="0"/>
          </a:p>
        </p:txBody>
      </p:sp>
      <p:pic>
        <p:nvPicPr>
          <p:cNvPr id="59" name="Image 17" descr="preencoded.png"/>
          <p:cNvPicPr>
            <a:picLocks noChangeAspect="1"/>
          </p:cNvPicPr>
          <p:nvPr/>
        </p:nvPicPr>
        <p:blipFill>
          <a:blip r:embed="rId4"/>
          <a:stretch>
            <a:fillRect/>
          </a:stretch>
        </p:blipFill>
        <p:spPr>
          <a:xfrm>
            <a:off x="742950" y="7743825"/>
            <a:ext cx="100013" cy="100013"/>
          </a:xfrm>
          <a:prstGeom prst="rect">
            <a:avLst/>
          </a:prstGeom>
        </p:spPr>
      </p:pic>
      <p:sp>
        <p:nvSpPr>
          <p:cNvPr id="60" name="Text 40"/>
          <p:cNvSpPr/>
          <p:nvPr/>
        </p:nvSpPr>
        <p:spPr>
          <a:xfrm>
            <a:off x="900113" y="7715250"/>
            <a:ext cx="188943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Conditional branches and their outcomes</a:t>
            </a:r>
            <a:endParaRPr lang="en-US" sz="788" dirty="0"/>
          </a:p>
        </p:txBody>
      </p:sp>
      <p:pic>
        <p:nvPicPr>
          <p:cNvPr id="61" name="Image 18" descr="preencoded.png"/>
          <p:cNvPicPr>
            <a:picLocks noChangeAspect="1"/>
          </p:cNvPicPr>
          <p:nvPr/>
        </p:nvPicPr>
        <p:blipFill>
          <a:blip r:embed="rId4"/>
          <a:stretch>
            <a:fillRect/>
          </a:stretch>
        </p:blipFill>
        <p:spPr>
          <a:xfrm>
            <a:off x="742950" y="7915275"/>
            <a:ext cx="100013" cy="100013"/>
          </a:xfrm>
          <a:prstGeom prst="rect">
            <a:avLst/>
          </a:prstGeom>
        </p:spPr>
      </p:pic>
      <p:sp>
        <p:nvSpPr>
          <p:cNvPr id="62" name="Text 41"/>
          <p:cNvSpPr/>
          <p:nvPr/>
        </p:nvSpPr>
        <p:spPr>
          <a:xfrm>
            <a:off x="900113" y="7886700"/>
            <a:ext cx="162804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Array indices and boundary checks</a:t>
            </a:r>
            <a:endParaRPr lang="en-US" sz="788" dirty="0"/>
          </a:p>
        </p:txBody>
      </p:sp>
      <p:pic>
        <p:nvPicPr>
          <p:cNvPr id="63" name="Image 19" descr="preencoded.png"/>
          <p:cNvPicPr>
            <a:picLocks noChangeAspect="1"/>
          </p:cNvPicPr>
          <p:nvPr/>
        </p:nvPicPr>
        <p:blipFill>
          <a:blip r:embed="rId4"/>
          <a:stretch>
            <a:fillRect/>
          </a:stretch>
        </p:blipFill>
        <p:spPr>
          <a:xfrm>
            <a:off x="742950" y="8086725"/>
            <a:ext cx="100013" cy="100013"/>
          </a:xfrm>
          <a:prstGeom prst="rect">
            <a:avLst/>
          </a:prstGeom>
        </p:spPr>
      </p:pic>
      <p:sp>
        <p:nvSpPr>
          <p:cNvPr id="64" name="Text 42"/>
          <p:cNvSpPr/>
          <p:nvPr/>
        </p:nvSpPr>
        <p:spPr>
          <a:xfrm>
            <a:off x="900113" y="8058150"/>
            <a:ext cx="155410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Variable initialization and updates</a:t>
            </a:r>
            <a:endParaRPr lang="en-US" sz="788" dirty="0"/>
          </a:p>
        </p:txBody>
      </p:sp>
      <p:sp>
        <p:nvSpPr>
          <p:cNvPr id="65" name="Shape 43"/>
          <p:cNvSpPr/>
          <p:nvPr/>
        </p:nvSpPr>
        <p:spPr>
          <a:xfrm>
            <a:off x="4686300" y="971550"/>
            <a:ext cx="4000500" cy="55006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6" name="Text 44"/>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Flagged While Loop Best Practices</a:t>
            </a:r>
            <a:endParaRPr lang="en-US" sz="1350" dirty="0"/>
          </a:p>
        </p:txBody>
      </p:sp>
      <p:sp>
        <p:nvSpPr>
          <p:cNvPr id="67" name="Shape 45"/>
          <p:cNvSpPr/>
          <p:nvPr/>
        </p:nvSpPr>
        <p:spPr>
          <a:xfrm>
            <a:off x="4857750" y="1485900"/>
            <a:ext cx="3657600" cy="1257300"/>
          </a:xfrm>
          <a:prstGeom prst="rect">
            <a:avLst/>
          </a:prstGeom>
          <a:solidFill>
            <a:srgbClr val="1E3A8A">
              <a:alpha val="30000"/>
            </a:srgbClr>
          </a:solidFill>
          <a:ln/>
        </p:spPr>
        <p:txBody>
          <a:bodyPr/>
          <a:lstStyle/>
          <a:p>
            <a:endParaRPr lang="en-US"/>
          </a:p>
        </p:txBody>
      </p:sp>
      <p:sp>
        <p:nvSpPr>
          <p:cNvPr id="68" name="Shape 46"/>
          <p:cNvSpPr/>
          <p:nvPr/>
        </p:nvSpPr>
        <p:spPr>
          <a:xfrm>
            <a:off x="4857750" y="1485900"/>
            <a:ext cx="28575" cy="1257300"/>
          </a:xfrm>
          <a:prstGeom prst="rect">
            <a:avLst/>
          </a:prstGeom>
          <a:solidFill>
            <a:srgbClr val="48BB78"/>
          </a:solidFill>
          <a:ln/>
        </p:spPr>
        <p:txBody>
          <a:bodyPr/>
          <a:lstStyle/>
          <a:p>
            <a:endParaRPr lang="en-US"/>
          </a:p>
        </p:txBody>
      </p:sp>
      <p:sp>
        <p:nvSpPr>
          <p:cNvPr id="69" name="Text 47"/>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Clear Flag Initialization</a:t>
            </a:r>
            <a:endParaRPr lang="en-US" sz="1125" dirty="0"/>
          </a:p>
        </p:txBody>
      </p:sp>
      <p:sp>
        <p:nvSpPr>
          <p:cNvPr id="70" name="Shape 48"/>
          <p:cNvSpPr/>
          <p:nvPr/>
        </p:nvSpPr>
        <p:spPr>
          <a:xfrm>
            <a:off x="4972050" y="1828800"/>
            <a:ext cx="1714500" cy="828675"/>
          </a:xfrm>
          <a:prstGeom prst="rect">
            <a:avLst/>
          </a:prstGeom>
          <a:solidFill>
            <a:srgbClr val="064E3B">
              <a:alpha val="20000"/>
            </a:srgbClr>
          </a:solidFill>
          <a:ln/>
        </p:spPr>
        <p:txBody>
          <a:bodyPr/>
          <a:lstStyle/>
          <a:p>
            <a:endParaRPr lang="en-US"/>
          </a:p>
        </p:txBody>
      </p:sp>
      <p:sp>
        <p:nvSpPr>
          <p:cNvPr id="71" name="Text 49"/>
          <p:cNvSpPr/>
          <p:nvPr/>
        </p:nvSpPr>
        <p:spPr>
          <a:xfrm>
            <a:off x="5029200" y="1885950"/>
            <a:ext cx="1671638" cy="114300"/>
          </a:xfrm>
          <a:prstGeom prst="rect">
            <a:avLst/>
          </a:prstGeom>
          <a:noFill/>
          <a:ln/>
        </p:spPr>
        <p:txBody>
          <a:bodyPr wrap="square" lIns="0" tIns="0" rIns="0" bIns="0" rtlCol="0" anchor="ctr">
            <a:spAutoFit/>
          </a:bodyPr>
          <a:lstStyle/>
          <a:p>
            <a:pPr marL="0" indent="0">
              <a:buNone/>
            </a:pPr>
            <a:r>
              <a:rPr lang="en-US" sz="675" b="1" dirty="0">
                <a:solidFill>
                  <a:srgbClr val="6EE7B7"/>
                </a:solidFill>
                <a:latin typeface="Segoe UI" pitchFamily="34" charset="0"/>
                <a:ea typeface="Segoe UI" pitchFamily="34" charset="-122"/>
                <a:cs typeface="Segoe UI" pitchFamily="34" charset="-120"/>
              </a:rPr>
              <a:t>DO:</a:t>
            </a:r>
            <a:endParaRPr lang="en-US" sz="675" dirty="0"/>
          </a:p>
        </p:txBody>
      </p:sp>
      <p:sp>
        <p:nvSpPr>
          <p:cNvPr id="72" name="Shape 50"/>
          <p:cNvSpPr/>
          <p:nvPr/>
        </p:nvSpPr>
        <p:spPr>
          <a:xfrm>
            <a:off x="5029200" y="2028825"/>
            <a:ext cx="1600200" cy="571500"/>
          </a:xfrm>
          <a:prstGeom prst="rect">
            <a:avLst/>
          </a:prstGeom>
          <a:solidFill>
            <a:srgbClr val="1A202C"/>
          </a:solidFill>
          <a:ln/>
        </p:spPr>
        <p:txBody>
          <a:bodyPr/>
          <a:lstStyle/>
          <a:p>
            <a:endParaRPr lang="en-US"/>
          </a:p>
        </p:txBody>
      </p:sp>
      <p:sp>
        <p:nvSpPr>
          <p:cNvPr id="73" name="Text 51"/>
          <p:cNvSpPr/>
          <p:nvPr/>
        </p:nvSpPr>
        <p:spPr>
          <a:xfrm>
            <a:off x="5143500" y="2141339"/>
            <a:ext cx="894420"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Clear purpose</a:t>
            </a:r>
            <a:endParaRPr lang="en-US" sz="675" dirty="0"/>
          </a:p>
        </p:txBody>
      </p:sp>
      <p:sp>
        <p:nvSpPr>
          <p:cNvPr id="74" name="Text 52"/>
          <p:cNvSpPr/>
          <p:nvPr/>
        </p:nvSpPr>
        <p:spPr>
          <a:xfrm>
            <a:off x="5143500" y="22556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75" name="Text 53"/>
          <p:cNvSpPr/>
          <p:nvPr/>
        </p:nvSpPr>
        <p:spPr>
          <a:xfrm>
            <a:off x="5503562" y="225563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false;</a:t>
            </a:r>
            <a:endParaRPr lang="en-US" sz="675" dirty="0"/>
          </a:p>
        </p:txBody>
      </p:sp>
      <p:sp>
        <p:nvSpPr>
          <p:cNvPr id="76" name="Text 54"/>
          <p:cNvSpPr/>
          <p:nvPr/>
        </p:nvSpPr>
        <p:spPr>
          <a:xfrm>
            <a:off x="5143500" y="23699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77" name="Text 55"/>
          <p:cNvSpPr/>
          <p:nvPr/>
        </p:nvSpPr>
        <p:spPr>
          <a:xfrm>
            <a:off x="5503562" y="2369939"/>
            <a:ext cx="1048708"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hasErrors = false;</a:t>
            </a:r>
            <a:endParaRPr lang="en-US" sz="675" dirty="0"/>
          </a:p>
        </p:txBody>
      </p:sp>
      <p:sp>
        <p:nvSpPr>
          <p:cNvPr id="78" name="Shape 56"/>
          <p:cNvSpPr/>
          <p:nvPr/>
        </p:nvSpPr>
        <p:spPr>
          <a:xfrm>
            <a:off x="6800850" y="1828800"/>
            <a:ext cx="1714500" cy="828675"/>
          </a:xfrm>
          <a:prstGeom prst="rect">
            <a:avLst/>
          </a:prstGeom>
          <a:solidFill>
            <a:srgbClr val="7F1D1D">
              <a:alpha val="20000"/>
            </a:srgbClr>
          </a:solidFill>
          <a:ln/>
        </p:spPr>
        <p:txBody>
          <a:bodyPr/>
          <a:lstStyle/>
          <a:p>
            <a:endParaRPr lang="en-US"/>
          </a:p>
        </p:txBody>
      </p:sp>
      <p:sp>
        <p:nvSpPr>
          <p:cNvPr id="79" name="Text 57"/>
          <p:cNvSpPr/>
          <p:nvPr/>
        </p:nvSpPr>
        <p:spPr>
          <a:xfrm>
            <a:off x="6858000" y="1885950"/>
            <a:ext cx="1671638" cy="114300"/>
          </a:xfrm>
          <a:prstGeom prst="rect">
            <a:avLst/>
          </a:prstGeom>
          <a:noFill/>
          <a:ln/>
        </p:spPr>
        <p:txBody>
          <a:bodyPr wrap="square" lIns="0" tIns="0" rIns="0" bIns="0" rtlCol="0" anchor="ctr">
            <a:spAutoFit/>
          </a:bodyPr>
          <a:lstStyle/>
          <a:p>
            <a:pPr marL="0" indent="0">
              <a:buNone/>
            </a:pPr>
            <a:r>
              <a:rPr lang="en-US" sz="675" b="1" dirty="0">
                <a:solidFill>
                  <a:srgbClr val="FCA5A5"/>
                </a:solidFill>
                <a:latin typeface="Segoe UI" pitchFamily="34" charset="0"/>
                <a:ea typeface="Segoe UI" pitchFamily="34" charset="-122"/>
                <a:cs typeface="Segoe UI" pitchFamily="34" charset="-120"/>
              </a:rPr>
              <a:t>DON'T:</a:t>
            </a:r>
            <a:endParaRPr lang="en-US" sz="675" dirty="0"/>
          </a:p>
        </p:txBody>
      </p:sp>
      <p:sp>
        <p:nvSpPr>
          <p:cNvPr id="80" name="Shape 58"/>
          <p:cNvSpPr/>
          <p:nvPr/>
        </p:nvSpPr>
        <p:spPr>
          <a:xfrm>
            <a:off x="6858000" y="2028825"/>
            <a:ext cx="1600200" cy="571500"/>
          </a:xfrm>
          <a:prstGeom prst="rect">
            <a:avLst/>
          </a:prstGeom>
          <a:solidFill>
            <a:srgbClr val="1A202C"/>
          </a:solidFill>
          <a:ln/>
        </p:spPr>
        <p:txBody>
          <a:bodyPr/>
          <a:lstStyle/>
          <a:p>
            <a:endParaRPr lang="en-US"/>
          </a:p>
        </p:txBody>
      </p:sp>
      <p:sp>
        <p:nvSpPr>
          <p:cNvPr id="81" name="Text 59"/>
          <p:cNvSpPr/>
          <p:nvPr/>
        </p:nvSpPr>
        <p:spPr>
          <a:xfrm>
            <a:off x="6972300" y="2141339"/>
            <a:ext cx="997279" cy="1160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Unclear purpose</a:t>
            </a:r>
            <a:endParaRPr lang="en-US" sz="675" dirty="0"/>
          </a:p>
        </p:txBody>
      </p:sp>
      <p:sp>
        <p:nvSpPr>
          <p:cNvPr id="82" name="Text 60"/>
          <p:cNvSpPr/>
          <p:nvPr/>
        </p:nvSpPr>
        <p:spPr>
          <a:xfrm>
            <a:off x="6972300" y="22556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83" name="Text 61"/>
          <p:cNvSpPr/>
          <p:nvPr/>
        </p:nvSpPr>
        <p:spPr>
          <a:xfrm>
            <a:off x="7332362" y="2255639"/>
            <a:ext cx="74010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flag = true;</a:t>
            </a:r>
            <a:endParaRPr lang="en-US" sz="675" dirty="0"/>
          </a:p>
        </p:txBody>
      </p:sp>
      <p:sp>
        <p:nvSpPr>
          <p:cNvPr id="84" name="Text 62"/>
          <p:cNvSpPr/>
          <p:nvPr/>
        </p:nvSpPr>
        <p:spPr>
          <a:xfrm>
            <a:off x="6972300" y="23699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85" name="Text 63"/>
          <p:cNvSpPr/>
          <p:nvPr/>
        </p:nvSpPr>
        <p:spPr>
          <a:xfrm>
            <a:off x="7332362" y="236993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 = false;</a:t>
            </a:r>
            <a:endParaRPr lang="en-US" sz="675" dirty="0"/>
          </a:p>
        </p:txBody>
      </p:sp>
      <p:sp>
        <p:nvSpPr>
          <p:cNvPr id="86" name="Shape 64"/>
          <p:cNvSpPr/>
          <p:nvPr/>
        </p:nvSpPr>
        <p:spPr>
          <a:xfrm>
            <a:off x="4857750" y="2857500"/>
            <a:ext cx="3657600" cy="1485900"/>
          </a:xfrm>
          <a:prstGeom prst="rect">
            <a:avLst/>
          </a:prstGeom>
          <a:solidFill>
            <a:srgbClr val="1E3A8A">
              <a:alpha val="30000"/>
            </a:srgbClr>
          </a:solidFill>
          <a:ln/>
        </p:spPr>
        <p:txBody>
          <a:bodyPr/>
          <a:lstStyle/>
          <a:p>
            <a:endParaRPr lang="en-US"/>
          </a:p>
        </p:txBody>
      </p:sp>
      <p:sp>
        <p:nvSpPr>
          <p:cNvPr id="87" name="Shape 65"/>
          <p:cNvSpPr/>
          <p:nvPr/>
        </p:nvSpPr>
        <p:spPr>
          <a:xfrm>
            <a:off x="4857750" y="2857500"/>
            <a:ext cx="28575" cy="1485900"/>
          </a:xfrm>
          <a:prstGeom prst="rect">
            <a:avLst/>
          </a:prstGeom>
          <a:solidFill>
            <a:srgbClr val="48BB78"/>
          </a:solidFill>
          <a:ln/>
        </p:spPr>
        <p:txBody>
          <a:bodyPr/>
          <a:lstStyle/>
          <a:p>
            <a:endParaRPr lang="en-US"/>
          </a:p>
        </p:txBody>
      </p:sp>
      <p:sp>
        <p:nvSpPr>
          <p:cNvPr id="88" name="Text 66"/>
          <p:cNvSpPr/>
          <p:nvPr/>
        </p:nvSpPr>
        <p:spPr>
          <a:xfrm>
            <a:off x="4972050" y="29432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Meaningful Flag Names</a:t>
            </a:r>
            <a:endParaRPr lang="en-US" sz="1125" dirty="0"/>
          </a:p>
        </p:txBody>
      </p:sp>
      <p:sp>
        <p:nvSpPr>
          <p:cNvPr id="89" name="Shape 67"/>
          <p:cNvSpPr/>
          <p:nvPr/>
        </p:nvSpPr>
        <p:spPr>
          <a:xfrm>
            <a:off x="4972050" y="3200400"/>
            <a:ext cx="1714500" cy="1057275"/>
          </a:xfrm>
          <a:prstGeom prst="rect">
            <a:avLst/>
          </a:prstGeom>
          <a:solidFill>
            <a:srgbClr val="064E3B">
              <a:alpha val="20000"/>
            </a:srgbClr>
          </a:solidFill>
          <a:ln/>
        </p:spPr>
        <p:txBody>
          <a:bodyPr/>
          <a:lstStyle/>
          <a:p>
            <a:endParaRPr lang="en-US"/>
          </a:p>
        </p:txBody>
      </p:sp>
      <p:sp>
        <p:nvSpPr>
          <p:cNvPr id="90" name="Text 68"/>
          <p:cNvSpPr/>
          <p:nvPr/>
        </p:nvSpPr>
        <p:spPr>
          <a:xfrm>
            <a:off x="5029200" y="3257550"/>
            <a:ext cx="1671638" cy="114300"/>
          </a:xfrm>
          <a:prstGeom prst="rect">
            <a:avLst/>
          </a:prstGeom>
          <a:noFill/>
          <a:ln/>
        </p:spPr>
        <p:txBody>
          <a:bodyPr wrap="square" lIns="0" tIns="0" rIns="0" bIns="0" rtlCol="0" anchor="ctr">
            <a:spAutoFit/>
          </a:bodyPr>
          <a:lstStyle/>
          <a:p>
            <a:pPr marL="0" indent="0">
              <a:buNone/>
            </a:pPr>
            <a:r>
              <a:rPr lang="en-US" sz="675" b="1" dirty="0">
                <a:solidFill>
                  <a:srgbClr val="6EE7B7"/>
                </a:solidFill>
                <a:latin typeface="Segoe UI" pitchFamily="34" charset="0"/>
                <a:ea typeface="Segoe UI" pitchFamily="34" charset="-122"/>
                <a:cs typeface="Segoe UI" pitchFamily="34" charset="-120"/>
              </a:rPr>
              <a:t>DO:</a:t>
            </a:r>
            <a:endParaRPr lang="en-US" sz="675" dirty="0"/>
          </a:p>
        </p:txBody>
      </p:sp>
      <p:sp>
        <p:nvSpPr>
          <p:cNvPr id="91" name="Shape 69"/>
          <p:cNvSpPr/>
          <p:nvPr/>
        </p:nvSpPr>
        <p:spPr>
          <a:xfrm>
            <a:off x="5029200" y="3400425"/>
            <a:ext cx="1600200" cy="800100"/>
          </a:xfrm>
          <a:prstGeom prst="rect">
            <a:avLst/>
          </a:prstGeom>
          <a:solidFill>
            <a:srgbClr val="1A202C"/>
          </a:solidFill>
          <a:ln/>
        </p:spPr>
        <p:txBody>
          <a:bodyPr/>
          <a:lstStyle/>
          <a:p>
            <a:endParaRPr lang="en-US"/>
          </a:p>
        </p:txBody>
      </p:sp>
      <p:sp>
        <p:nvSpPr>
          <p:cNvPr id="92" name="Text 70"/>
          <p:cNvSpPr/>
          <p:nvPr/>
        </p:nvSpPr>
        <p:spPr>
          <a:xfrm>
            <a:off x="5143500" y="35129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93" name="Text 71"/>
          <p:cNvSpPr/>
          <p:nvPr/>
        </p:nvSpPr>
        <p:spPr>
          <a:xfrm>
            <a:off x="5143500" y="3512939"/>
            <a:ext cx="1203052"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isValidInput = false;</a:t>
            </a:r>
            <a:endParaRPr lang="en-US" sz="675" dirty="0"/>
          </a:p>
        </p:txBody>
      </p:sp>
      <p:sp>
        <p:nvSpPr>
          <p:cNvPr id="94" name="Text 72"/>
          <p:cNvSpPr/>
          <p:nvPr/>
        </p:nvSpPr>
        <p:spPr>
          <a:xfrm>
            <a:off x="5143500" y="37415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95" name="Text 73"/>
          <p:cNvSpPr/>
          <p:nvPr/>
        </p:nvSpPr>
        <p:spPr>
          <a:xfrm>
            <a:off x="5143500" y="3855839"/>
            <a:ext cx="1254454" cy="2303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connectionEstablished = true;</a:t>
            </a:r>
            <a:endParaRPr lang="en-US" sz="675" dirty="0"/>
          </a:p>
        </p:txBody>
      </p:sp>
      <p:sp>
        <p:nvSpPr>
          <p:cNvPr id="96" name="Shape 74"/>
          <p:cNvSpPr/>
          <p:nvPr/>
        </p:nvSpPr>
        <p:spPr>
          <a:xfrm>
            <a:off x="6800850" y="3200400"/>
            <a:ext cx="1714500" cy="1057275"/>
          </a:xfrm>
          <a:prstGeom prst="rect">
            <a:avLst/>
          </a:prstGeom>
          <a:solidFill>
            <a:srgbClr val="7F1D1D">
              <a:alpha val="20000"/>
            </a:srgbClr>
          </a:solidFill>
          <a:ln/>
        </p:spPr>
        <p:txBody>
          <a:bodyPr/>
          <a:lstStyle/>
          <a:p>
            <a:endParaRPr lang="en-US"/>
          </a:p>
        </p:txBody>
      </p:sp>
      <p:sp>
        <p:nvSpPr>
          <p:cNvPr id="97" name="Text 75"/>
          <p:cNvSpPr/>
          <p:nvPr/>
        </p:nvSpPr>
        <p:spPr>
          <a:xfrm>
            <a:off x="6858000" y="3257550"/>
            <a:ext cx="1671638" cy="114300"/>
          </a:xfrm>
          <a:prstGeom prst="rect">
            <a:avLst/>
          </a:prstGeom>
          <a:noFill/>
          <a:ln/>
        </p:spPr>
        <p:txBody>
          <a:bodyPr wrap="square" lIns="0" tIns="0" rIns="0" bIns="0" rtlCol="0" anchor="ctr">
            <a:spAutoFit/>
          </a:bodyPr>
          <a:lstStyle/>
          <a:p>
            <a:pPr marL="0" indent="0">
              <a:buNone/>
            </a:pPr>
            <a:r>
              <a:rPr lang="en-US" sz="675" b="1" dirty="0">
                <a:solidFill>
                  <a:srgbClr val="FCA5A5"/>
                </a:solidFill>
                <a:latin typeface="Segoe UI" pitchFamily="34" charset="0"/>
                <a:ea typeface="Segoe UI" pitchFamily="34" charset="-122"/>
                <a:cs typeface="Segoe UI" pitchFamily="34" charset="-120"/>
              </a:rPr>
              <a:t>DON'T:</a:t>
            </a:r>
            <a:endParaRPr lang="en-US" sz="675" dirty="0"/>
          </a:p>
        </p:txBody>
      </p:sp>
      <p:sp>
        <p:nvSpPr>
          <p:cNvPr id="98" name="Shape 76"/>
          <p:cNvSpPr/>
          <p:nvPr/>
        </p:nvSpPr>
        <p:spPr>
          <a:xfrm>
            <a:off x="6858000" y="3400425"/>
            <a:ext cx="1600200" cy="457200"/>
          </a:xfrm>
          <a:prstGeom prst="rect">
            <a:avLst/>
          </a:prstGeom>
          <a:solidFill>
            <a:srgbClr val="1A202C"/>
          </a:solidFill>
          <a:ln/>
        </p:spPr>
        <p:txBody>
          <a:bodyPr/>
          <a:lstStyle/>
          <a:p>
            <a:endParaRPr lang="en-US"/>
          </a:p>
        </p:txBody>
      </p:sp>
      <p:sp>
        <p:nvSpPr>
          <p:cNvPr id="99" name="Text 77"/>
          <p:cNvSpPr/>
          <p:nvPr/>
        </p:nvSpPr>
        <p:spPr>
          <a:xfrm>
            <a:off x="6972300" y="35129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00" name="Text 78"/>
          <p:cNvSpPr/>
          <p:nvPr/>
        </p:nvSpPr>
        <p:spPr>
          <a:xfrm>
            <a:off x="7332362" y="3512939"/>
            <a:ext cx="84299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check = false;</a:t>
            </a:r>
            <a:endParaRPr lang="en-US" sz="675" dirty="0"/>
          </a:p>
        </p:txBody>
      </p:sp>
      <p:sp>
        <p:nvSpPr>
          <p:cNvPr id="101" name="Text 79"/>
          <p:cNvSpPr/>
          <p:nvPr/>
        </p:nvSpPr>
        <p:spPr>
          <a:xfrm>
            <a:off x="6972300" y="3627239"/>
            <a:ext cx="431499"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boolean</a:t>
            </a:r>
            <a:endParaRPr lang="en-US" sz="675" dirty="0"/>
          </a:p>
        </p:txBody>
      </p:sp>
      <p:sp>
        <p:nvSpPr>
          <p:cNvPr id="102" name="Text 80"/>
          <p:cNvSpPr/>
          <p:nvPr/>
        </p:nvSpPr>
        <p:spPr>
          <a:xfrm>
            <a:off x="7332362" y="3627239"/>
            <a:ext cx="74010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temp = true;</a:t>
            </a:r>
            <a:endParaRPr lang="en-US" sz="675" dirty="0"/>
          </a:p>
        </p:txBody>
      </p:sp>
      <p:sp>
        <p:nvSpPr>
          <p:cNvPr id="103" name="Shape 81"/>
          <p:cNvSpPr/>
          <p:nvPr/>
        </p:nvSpPr>
        <p:spPr>
          <a:xfrm>
            <a:off x="4857750" y="4457700"/>
            <a:ext cx="3657600" cy="1828800"/>
          </a:xfrm>
          <a:prstGeom prst="rect">
            <a:avLst/>
          </a:prstGeom>
          <a:solidFill>
            <a:srgbClr val="1E3A8A">
              <a:alpha val="30000"/>
            </a:srgbClr>
          </a:solidFill>
          <a:ln/>
        </p:spPr>
        <p:txBody>
          <a:bodyPr/>
          <a:lstStyle/>
          <a:p>
            <a:endParaRPr lang="en-US"/>
          </a:p>
        </p:txBody>
      </p:sp>
      <p:sp>
        <p:nvSpPr>
          <p:cNvPr id="104" name="Shape 82"/>
          <p:cNvSpPr/>
          <p:nvPr/>
        </p:nvSpPr>
        <p:spPr>
          <a:xfrm>
            <a:off x="4857750" y="4457700"/>
            <a:ext cx="28575" cy="1828800"/>
          </a:xfrm>
          <a:prstGeom prst="rect">
            <a:avLst/>
          </a:prstGeom>
          <a:solidFill>
            <a:srgbClr val="48BB78"/>
          </a:solidFill>
          <a:ln/>
        </p:spPr>
        <p:txBody>
          <a:bodyPr/>
          <a:lstStyle/>
          <a:p>
            <a:endParaRPr lang="en-US"/>
          </a:p>
        </p:txBody>
      </p:sp>
      <p:sp>
        <p:nvSpPr>
          <p:cNvPr id="105" name="Text 83"/>
          <p:cNvSpPr/>
          <p:nvPr/>
        </p:nvSpPr>
        <p:spPr>
          <a:xfrm>
            <a:off x="4972050" y="45434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Ensure Flag Modification</a:t>
            </a:r>
            <a:endParaRPr lang="en-US" sz="1125" dirty="0"/>
          </a:p>
        </p:txBody>
      </p:sp>
      <p:sp>
        <p:nvSpPr>
          <p:cNvPr id="106" name="Shape 84"/>
          <p:cNvSpPr/>
          <p:nvPr/>
        </p:nvSpPr>
        <p:spPr>
          <a:xfrm>
            <a:off x="4972050" y="4800600"/>
            <a:ext cx="1714500" cy="1400175"/>
          </a:xfrm>
          <a:prstGeom prst="rect">
            <a:avLst/>
          </a:prstGeom>
          <a:solidFill>
            <a:srgbClr val="064E3B">
              <a:alpha val="20000"/>
            </a:srgbClr>
          </a:solidFill>
          <a:ln/>
        </p:spPr>
        <p:txBody>
          <a:bodyPr/>
          <a:lstStyle/>
          <a:p>
            <a:endParaRPr lang="en-US"/>
          </a:p>
        </p:txBody>
      </p:sp>
      <p:sp>
        <p:nvSpPr>
          <p:cNvPr id="107" name="Text 85"/>
          <p:cNvSpPr/>
          <p:nvPr/>
        </p:nvSpPr>
        <p:spPr>
          <a:xfrm>
            <a:off x="5029200" y="4857750"/>
            <a:ext cx="1671638" cy="114300"/>
          </a:xfrm>
          <a:prstGeom prst="rect">
            <a:avLst/>
          </a:prstGeom>
          <a:noFill/>
          <a:ln/>
        </p:spPr>
        <p:txBody>
          <a:bodyPr wrap="square" lIns="0" tIns="0" rIns="0" bIns="0" rtlCol="0" anchor="ctr">
            <a:spAutoFit/>
          </a:bodyPr>
          <a:lstStyle/>
          <a:p>
            <a:pPr marL="0" indent="0">
              <a:buNone/>
            </a:pPr>
            <a:r>
              <a:rPr lang="en-US" sz="675" b="1" dirty="0">
                <a:solidFill>
                  <a:srgbClr val="6EE7B7"/>
                </a:solidFill>
                <a:latin typeface="Segoe UI" pitchFamily="34" charset="0"/>
                <a:ea typeface="Segoe UI" pitchFamily="34" charset="-122"/>
                <a:cs typeface="Segoe UI" pitchFamily="34" charset="-120"/>
              </a:rPr>
              <a:t>DO:</a:t>
            </a:r>
            <a:endParaRPr lang="en-US" sz="675" dirty="0"/>
          </a:p>
        </p:txBody>
      </p:sp>
      <p:sp>
        <p:nvSpPr>
          <p:cNvPr id="108" name="Shape 86"/>
          <p:cNvSpPr/>
          <p:nvPr/>
        </p:nvSpPr>
        <p:spPr>
          <a:xfrm>
            <a:off x="5029200" y="5000625"/>
            <a:ext cx="1600200" cy="1143000"/>
          </a:xfrm>
          <a:prstGeom prst="rect">
            <a:avLst/>
          </a:prstGeom>
          <a:solidFill>
            <a:srgbClr val="1A202C"/>
          </a:solidFill>
          <a:ln/>
        </p:spPr>
        <p:txBody>
          <a:bodyPr/>
          <a:lstStyle/>
          <a:p>
            <a:endParaRPr lang="en-US"/>
          </a:p>
        </p:txBody>
      </p:sp>
      <p:sp>
        <p:nvSpPr>
          <p:cNvPr id="109" name="Text 87"/>
          <p:cNvSpPr/>
          <p:nvPr/>
        </p:nvSpPr>
        <p:spPr>
          <a:xfrm>
            <a:off x="5143500" y="511313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10" name="Text 88"/>
          <p:cNvSpPr/>
          <p:nvPr/>
        </p:nvSpPr>
        <p:spPr>
          <a:xfrm>
            <a:off x="5400703" y="511313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t>
            </a:r>
            <a:endParaRPr lang="en-US" sz="675" dirty="0"/>
          </a:p>
        </p:txBody>
      </p:sp>
      <p:sp>
        <p:nvSpPr>
          <p:cNvPr id="111" name="Text 89"/>
          <p:cNvSpPr/>
          <p:nvPr/>
        </p:nvSpPr>
        <p:spPr>
          <a:xfrm>
            <a:off x="5246387" y="522743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12" name="Text 90"/>
          <p:cNvSpPr/>
          <p:nvPr/>
        </p:nvSpPr>
        <p:spPr>
          <a:xfrm>
            <a:off x="5349273" y="5227439"/>
            <a:ext cx="79153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(condition) {</a:t>
            </a:r>
            <a:endParaRPr lang="en-US" sz="675" dirty="0"/>
          </a:p>
        </p:txBody>
      </p:sp>
      <p:sp>
        <p:nvSpPr>
          <p:cNvPr id="113" name="Text 91"/>
          <p:cNvSpPr/>
          <p:nvPr/>
        </p:nvSpPr>
        <p:spPr>
          <a:xfrm>
            <a:off x="5143500" y="5341739"/>
            <a:ext cx="94584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 true;</a:t>
            </a:r>
            <a:endParaRPr lang="en-US" sz="675" dirty="0"/>
          </a:p>
        </p:txBody>
      </p:sp>
      <p:sp>
        <p:nvSpPr>
          <p:cNvPr id="114" name="Text 92"/>
          <p:cNvSpPr/>
          <p:nvPr/>
        </p:nvSpPr>
        <p:spPr>
          <a:xfrm>
            <a:off x="5143500" y="545603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15" name="Text 93"/>
          <p:cNvSpPr/>
          <p:nvPr/>
        </p:nvSpPr>
        <p:spPr>
          <a:xfrm>
            <a:off x="5143500" y="5570339"/>
            <a:ext cx="1408770" cy="230386"/>
          </a:xfrm>
          <a:prstGeom prst="rect">
            <a:avLst/>
          </a:prstGeom>
          <a:noFill/>
          <a:ln/>
        </p:spPr>
        <p:txBody>
          <a:bodyPr wrap="squar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Always update counter or state</a:t>
            </a:r>
            <a:endParaRPr lang="en-US" sz="675" dirty="0"/>
          </a:p>
        </p:txBody>
      </p:sp>
      <p:sp>
        <p:nvSpPr>
          <p:cNvPr id="116" name="Text 94"/>
          <p:cNvSpPr/>
          <p:nvPr/>
        </p:nvSpPr>
        <p:spPr>
          <a:xfrm>
            <a:off x="5143500" y="5798939"/>
            <a:ext cx="380070"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i++;</a:t>
            </a:r>
            <a:endParaRPr lang="en-US" sz="675" dirty="0"/>
          </a:p>
        </p:txBody>
      </p:sp>
      <p:sp>
        <p:nvSpPr>
          <p:cNvPr id="117" name="Text 95"/>
          <p:cNvSpPr/>
          <p:nvPr/>
        </p:nvSpPr>
        <p:spPr>
          <a:xfrm>
            <a:off x="5143500" y="591323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18" name="Shape 96"/>
          <p:cNvSpPr/>
          <p:nvPr/>
        </p:nvSpPr>
        <p:spPr>
          <a:xfrm>
            <a:off x="6800850" y="4800600"/>
            <a:ext cx="1714500" cy="1400175"/>
          </a:xfrm>
          <a:prstGeom prst="rect">
            <a:avLst/>
          </a:prstGeom>
          <a:solidFill>
            <a:srgbClr val="7F1D1D">
              <a:alpha val="20000"/>
            </a:srgbClr>
          </a:solidFill>
          <a:ln/>
        </p:spPr>
        <p:txBody>
          <a:bodyPr/>
          <a:lstStyle/>
          <a:p>
            <a:endParaRPr lang="en-US"/>
          </a:p>
        </p:txBody>
      </p:sp>
      <p:sp>
        <p:nvSpPr>
          <p:cNvPr id="119" name="Text 97"/>
          <p:cNvSpPr/>
          <p:nvPr/>
        </p:nvSpPr>
        <p:spPr>
          <a:xfrm>
            <a:off x="6858000" y="4857750"/>
            <a:ext cx="1671638" cy="114300"/>
          </a:xfrm>
          <a:prstGeom prst="rect">
            <a:avLst/>
          </a:prstGeom>
          <a:noFill/>
          <a:ln/>
        </p:spPr>
        <p:txBody>
          <a:bodyPr wrap="square" lIns="0" tIns="0" rIns="0" bIns="0" rtlCol="0" anchor="ctr">
            <a:spAutoFit/>
          </a:bodyPr>
          <a:lstStyle/>
          <a:p>
            <a:pPr marL="0" indent="0">
              <a:buNone/>
            </a:pPr>
            <a:r>
              <a:rPr lang="en-US" sz="675" b="1" dirty="0">
                <a:solidFill>
                  <a:srgbClr val="FCA5A5"/>
                </a:solidFill>
                <a:latin typeface="Segoe UI" pitchFamily="34" charset="0"/>
                <a:ea typeface="Segoe UI" pitchFamily="34" charset="-122"/>
                <a:cs typeface="Segoe UI" pitchFamily="34" charset="-120"/>
              </a:rPr>
              <a:t>DON'T:</a:t>
            </a:r>
            <a:endParaRPr lang="en-US" sz="675" dirty="0"/>
          </a:p>
        </p:txBody>
      </p:sp>
      <p:sp>
        <p:nvSpPr>
          <p:cNvPr id="120" name="Shape 98"/>
          <p:cNvSpPr/>
          <p:nvPr/>
        </p:nvSpPr>
        <p:spPr>
          <a:xfrm>
            <a:off x="6858000" y="5000625"/>
            <a:ext cx="1600200" cy="1028700"/>
          </a:xfrm>
          <a:prstGeom prst="rect">
            <a:avLst/>
          </a:prstGeom>
          <a:solidFill>
            <a:srgbClr val="1A202C"/>
          </a:solidFill>
          <a:ln/>
        </p:spPr>
        <p:txBody>
          <a:bodyPr/>
          <a:lstStyle/>
          <a:p>
            <a:endParaRPr lang="en-US"/>
          </a:p>
        </p:txBody>
      </p:sp>
      <p:sp>
        <p:nvSpPr>
          <p:cNvPr id="121" name="Text 99"/>
          <p:cNvSpPr/>
          <p:nvPr/>
        </p:nvSpPr>
        <p:spPr>
          <a:xfrm>
            <a:off x="6972300" y="5113139"/>
            <a:ext cx="328640"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while</a:t>
            </a:r>
            <a:endParaRPr lang="en-US" sz="675" dirty="0"/>
          </a:p>
        </p:txBody>
      </p:sp>
      <p:sp>
        <p:nvSpPr>
          <p:cNvPr id="122" name="Text 100"/>
          <p:cNvSpPr/>
          <p:nvPr/>
        </p:nvSpPr>
        <p:spPr>
          <a:xfrm>
            <a:off x="7229503" y="5113139"/>
            <a:ext cx="63724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(!found) {</a:t>
            </a:r>
            <a:endParaRPr lang="en-US" sz="675" dirty="0"/>
          </a:p>
        </p:txBody>
      </p:sp>
      <p:sp>
        <p:nvSpPr>
          <p:cNvPr id="123" name="Text 101"/>
          <p:cNvSpPr/>
          <p:nvPr/>
        </p:nvSpPr>
        <p:spPr>
          <a:xfrm>
            <a:off x="7075187" y="5227439"/>
            <a:ext cx="174324" cy="116086"/>
          </a:xfrm>
          <a:prstGeom prst="rect">
            <a:avLst/>
          </a:prstGeom>
          <a:noFill/>
          <a:ln/>
        </p:spPr>
        <p:txBody>
          <a:bodyPr wrap="none" lIns="0" tIns="0" rIns="0" bIns="0" rtlCol="0" anchor="ctr">
            <a:spAutoFit/>
          </a:bodyPr>
          <a:lstStyle/>
          <a:p>
            <a:pPr marL="0" indent="0">
              <a:buNone/>
            </a:pPr>
            <a:r>
              <a:rPr lang="en-US" sz="675" dirty="0">
                <a:solidFill>
                  <a:srgbClr val="93C5FD"/>
                </a:solidFill>
                <a:latin typeface="Consolas" pitchFamily="34" charset="0"/>
                <a:ea typeface="Consolas" pitchFamily="34" charset="-122"/>
                <a:cs typeface="Consolas" pitchFamily="34" charset="-120"/>
              </a:rPr>
              <a:t>if</a:t>
            </a:r>
            <a:endParaRPr lang="en-US" sz="675" dirty="0"/>
          </a:p>
        </p:txBody>
      </p:sp>
      <p:sp>
        <p:nvSpPr>
          <p:cNvPr id="124" name="Text 102"/>
          <p:cNvSpPr/>
          <p:nvPr/>
        </p:nvSpPr>
        <p:spPr>
          <a:xfrm>
            <a:off x="7178073" y="5227439"/>
            <a:ext cx="791533"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(condition) {</a:t>
            </a:r>
            <a:endParaRPr lang="en-US" sz="675" dirty="0"/>
          </a:p>
        </p:txBody>
      </p:sp>
      <p:sp>
        <p:nvSpPr>
          <p:cNvPr id="125" name="Text 103"/>
          <p:cNvSpPr/>
          <p:nvPr/>
        </p:nvSpPr>
        <p:spPr>
          <a:xfrm>
            <a:off x="6972300" y="5341739"/>
            <a:ext cx="1151595" cy="230386"/>
          </a:xfrm>
          <a:prstGeom prst="rect">
            <a:avLst/>
          </a:prstGeom>
          <a:noFill/>
          <a:ln/>
        </p:spPr>
        <p:txBody>
          <a:bodyPr wrap="none" lIns="0" tIns="0" rIns="0" bIns="0" rtlCol="0" anchor="ctr">
            <a:spAutoFit/>
          </a:bodyPr>
          <a:lstStyle/>
          <a:p>
            <a:pPr marL="0" indent="0">
              <a:buNone/>
            </a:pPr>
            <a:r>
              <a:rPr lang="en-US" sz="675" dirty="0">
                <a:solidFill>
                  <a:srgbClr val="34D399"/>
                </a:solidFill>
                <a:latin typeface="Consolas" pitchFamily="34" charset="0"/>
                <a:ea typeface="Consolas" pitchFamily="34" charset="-122"/>
                <a:cs typeface="Consolas" pitchFamily="34" charset="-120"/>
              </a:rPr>
              <a:t>// No flag update path!</a:t>
            </a:r>
            <a:endParaRPr lang="en-US" sz="675" dirty="0"/>
          </a:p>
        </p:txBody>
      </p:sp>
      <p:sp>
        <p:nvSpPr>
          <p:cNvPr id="126" name="Text 104"/>
          <p:cNvSpPr/>
          <p:nvPr/>
        </p:nvSpPr>
        <p:spPr>
          <a:xfrm>
            <a:off x="6972300" y="5570339"/>
            <a:ext cx="997279"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doSomething();</a:t>
            </a:r>
            <a:endParaRPr lang="en-US" sz="675" dirty="0"/>
          </a:p>
        </p:txBody>
      </p:sp>
      <p:sp>
        <p:nvSpPr>
          <p:cNvPr id="127" name="Text 105"/>
          <p:cNvSpPr/>
          <p:nvPr/>
        </p:nvSpPr>
        <p:spPr>
          <a:xfrm>
            <a:off x="6972300" y="5684639"/>
            <a:ext cx="225754"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28" name="Text 106"/>
          <p:cNvSpPr/>
          <p:nvPr/>
        </p:nvSpPr>
        <p:spPr>
          <a:xfrm>
            <a:off x="6972300" y="5798939"/>
            <a:ext cx="122895" cy="116086"/>
          </a:xfrm>
          <a:prstGeom prst="rect">
            <a:avLst/>
          </a:prstGeom>
          <a:noFill/>
          <a:ln/>
        </p:spPr>
        <p:txBody>
          <a:bodyPr wrap="none" lIns="0" tIns="0" rIns="0" bIns="0" rtlCol="0" anchor="ctr">
            <a:spAutoFit/>
          </a:bodyPr>
          <a:lstStyle/>
          <a:p>
            <a:pPr marL="0" indent="0">
              <a:buNone/>
            </a:pPr>
            <a:r>
              <a:rPr lang="en-US" sz="675" dirty="0">
                <a:solidFill>
                  <a:srgbClr val="E2E8F0"/>
                </a:solidFill>
                <a:latin typeface="Consolas" pitchFamily="34" charset="0"/>
                <a:ea typeface="Consolas" pitchFamily="34" charset="-122"/>
                <a:cs typeface="Consolas" pitchFamily="34" charset="-120"/>
              </a:rPr>
              <a:t>}</a:t>
            </a:r>
            <a:endParaRPr lang="en-US" sz="675" dirty="0"/>
          </a:p>
        </p:txBody>
      </p:sp>
      <p:sp>
        <p:nvSpPr>
          <p:cNvPr id="129" name="Shape 107"/>
          <p:cNvSpPr/>
          <p:nvPr/>
        </p:nvSpPr>
        <p:spPr>
          <a:xfrm>
            <a:off x="4686300" y="6629400"/>
            <a:ext cx="4000500" cy="41005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30" name="Text 108"/>
          <p:cNvSpPr/>
          <p:nvPr/>
        </p:nvSpPr>
        <p:spPr>
          <a:xfrm>
            <a:off x="4857750" y="68008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Common Pitfalls to Avoid</a:t>
            </a:r>
            <a:endParaRPr lang="en-US" sz="1350" dirty="0"/>
          </a:p>
        </p:txBody>
      </p:sp>
      <p:sp>
        <p:nvSpPr>
          <p:cNvPr id="131" name="Shape 109"/>
          <p:cNvSpPr/>
          <p:nvPr/>
        </p:nvSpPr>
        <p:spPr>
          <a:xfrm>
            <a:off x="4857750" y="7143750"/>
            <a:ext cx="3657600" cy="1057275"/>
          </a:xfrm>
          <a:prstGeom prst="rect">
            <a:avLst/>
          </a:prstGeom>
          <a:solidFill>
            <a:srgbClr val="1E3A8A">
              <a:alpha val="30000"/>
            </a:srgbClr>
          </a:solidFill>
          <a:ln/>
        </p:spPr>
        <p:txBody>
          <a:bodyPr/>
          <a:lstStyle/>
          <a:p>
            <a:endParaRPr lang="en-US"/>
          </a:p>
        </p:txBody>
      </p:sp>
      <p:sp>
        <p:nvSpPr>
          <p:cNvPr id="132" name="Shape 110"/>
          <p:cNvSpPr/>
          <p:nvPr/>
        </p:nvSpPr>
        <p:spPr>
          <a:xfrm>
            <a:off x="4857750" y="7143750"/>
            <a:ext cx="28575" cy="1057275"/>
          </a:xfrm>
          <a:prstGeom prst="rect">
            <a:avLst/>
          </a:prstGeom>
          <a:solidFill>
            <a:srgbClr val="F56565"/>
          </a:solidFill>
          <a:ln/>
        </p:spPr>
        <p:txBody>
          <a:bodyPr/>
          <a:lstStyle/>
          <a:p>
            <a:endParaRPr lang="en-US"/>
          </a:p>
        </p:txBody>
      </p:sp>
      <p:sp>
        <p:nvSpPr>
          <p:cNvPr id="133" name="Text 111"/>
          <p:cNvSpPr/>
          <p:nvPr/>
        </p:nvSpPr>
        <p:spPr>
          <a:xfrm>
            <a:off x="4972050" y="72294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Logic Building Pitfalls</a:t>
            </a:r>
            <a:endParaRPr lang="en-US" sz="1125" dirty="0"/>
          </a:p>
        </p:txBody>
      </p:sp>
      <p:pic>
        <p:nvPicPr>
          <p:cNvPr id="134" name="Image 20" descr="preencoded.png"/>
          <p:cNvPicPr>
            <a:picLocks noChangeAspect="1"/>
          </p:cNvPicPr>
          <p:nvPr/>
        </p:nvPicPr>
        <p:blipFill>
          <a:blip r:embed="rId5"/>
          <a:stretch>
            <a:fillRect/>
          </a:stretch>
        </p:blipFill>
        <p:spPr>
          <a:xfrm>
            <a:off x="4972050" y="7486650"/>
            <a:ext cx="100013" cy="100013"/>
          </a:xfrm>
          <a:prstGeom prst="rect">
            <a:avLst/>
          </a:prstGeom>
        </p:spPr>
      </p:pic>
      <p:sp>
        <p:nvSpPr>
          <p:cNvPr id="135" name="Text 112"/>
          <p:cNvSpPr/>
          <p:nvPr/>
        </p:nvSpPr>
        <p:spPr>
          <a:xfrm>
            <a:off x="5129213" y="7458075"/>
            <a:ext cx="2801243"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Jumping straight to coding without understanding the problem</a:t>
            </a:r>
            <a:endParaRPr lang="en-US" sz="788" dirty="0"/>
          </a:p>
        </p:txBody>
      </p:sp>
      <p:pic>
        <p:nvPicPr>
          <p:cNvPr id="136" name="Image 21" descr="preencoded.png"/>
          <p:cNvPicPr>
            <a:picLocks noChangeAspect="1"/>
          </p:cNvPicPr>
          <p:nvPr/>
        </p:nvPicPr>
        <p:blipFill>
          <a:blip r:embed="rId5"/>
          <a:stretch>
            <a:fillRect/>
          </a:stretch>
        </p:blipFill>
        <p:spPr>
          <a:xfrm>
            <a:off x="4972050" y="7658100"/>
            <a:ext cx="100013" cy="100013"/>
          </a:xfrm>
          <a:prstGeom prst="rect">
            <a:avLst/>
          </a:prstGeom>
        </p:spPr>
      </p:pic>
      <p:sp>
        <p:nvSpPr>
          <p:cNvPr id="137" name="Text 113"/>
          <p:cNvSpPr/>
          <p:nvPr/>
        </p:nvSpPr>
        <p:spPr>
          <a:xfrm>
            <a:off x="5129213" y="7629525"/>
            <a:ext cx="2262057"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Overlooking edge cases and boundary conditions</a:t>
            </a:r>
            <a:endParaRPr lang="en-US" sz="788" dirty="0"/>
          </a:p>
        </p:txBody>
      </p:sp>
      <p:pic>
        <p:nvPicPr>
          <p:cNvPr id="138" name="Image 22" descr="preencoded.png"/>
          <p:cNvPicPr>
            <a:picLocks noChangeAspect="1"/>
          </p:cNvPicPr>
          <p:nvPr/>
        </p:nvPicPr>
        <p:blipFill>
          <a:blip r:embed="rId5"/>
          <a:stretch>
            <a:fillRect/>
          </a:stretch>
        </p:blipFill>
        <p:spPr>
          <a:xfrm>
            <a:off x="4972050" y="7829550"/>
            <a:ext cx="100013" cy="100013"/>
          </a:xfrm>
          <a:prstGeom prst="rect">
            <a:avLst/>
          </a:prstGeom>
        </p:spPr>
      </p:pic>
      <p:sp>
        <p:nvSpPr>
          <p:cNvPr id="139" name="Text 114"/>
          <p:cNvSpPr/>
          <p:nvPr/>
        </p:nvSpPr>
        <p:spPr>
          <a:xfrm>
            <a:off x="5129213" y="7800975"/>
            <a:ext cx="2467161"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Creating overly complex solutions for simple problems</a:t>
            </a:r>
            <a:endParaRPr lang="en-US" sz="788" dirty="0"/>
          </a:p>
        </p:txBody>
      </p:sp>
      <p:pic>
        <p:nvPicPr>
          <p:cNvPr id="140" name="Image 23" descr="preencoded.png"/>
          <p:cNvPicPr>
            <a:picLocks noChangeAspect="1"/>
          </p:cNvPicPr>
          <p:nvPr/>
        </p:nvPicPr>
        <p:blipFill>
          <a:blip r:embed="rId5"/>
          <a:stretch>
            <a:fillRect/>
          </a:stretch>
        </p:blipFill>
        <p:spPr>
          <a:xfrm>
            <a:off x="4972050" y="8001000"/>
            <a:ext cx="100013" cy="100013"/>
          </a:xfrm>
          <a:prstGeom prst="rect">
            <a:avLst/>
          </a:prstGeom>
        </p:spPr>
      </p:pic>
      <p:sp>
        <p:nvSpPr>
          <p:cNvPr id="141" name="Text 115"/>
          <p:cNvSpPr/>
          <p:nvPr/>
        </p:nvSpPr>
        <p:spPr>
          <a:xfrm>
            <a:off x="5129213" y="7972425"/>
            <a:ext cx="230433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Not considering algorithm efficiency and scalability</a:t>
            </a:r>
            <a:endParaRPr lang="en-US" sz="788" dirty="0"/>
          </a:p>
        </p:txBody>
      </p:sp>
      <p:sp>
        <p:nvSpPr>
          <p:cNvPr id="142" name="Shape 116"/>
          <p:cNvSpPr/>
          <p:nvPr/>
        </p:nvSpPr>
        <p:spPr>
          <a:xfrm>
            <a:off x="4857750" y="8315325"/>
            <a:ext cx="3657600" cy="1057275"/>
          </a:xfrm>
          <a:prstGeom prst="rect">
            <a:avLst/>
          </a:prstGeom>
          <a:solidFill>
            <a:srgbClr val="1E3A8A">
              <a:alpha val="30000"/>
            </a:srgbClr>
          </a:solidFill>
          <a:ln/>
        </p:spPr>
        <p:txBody>
          <a:bodyPr/>
          <a:lstStyle/>
          <a:p>
            <a:endParaRPr lang="en-US"/>
          </a:p>
        </p:txBody>
      </p:sp>
      <p:sp>
        <p:nvSpPr>
          <p:cNvPr id="143" name="Shape 117"/>
          <p:cNvSpPr/>
          <p:nvPr/>
        </p:nvSpPr>
        <p:spPr>
          <a:xfrm>
            <a:off x="4857750" y="8315325"/>
            <a:ext cx="28575" cy="1057275"/>
          </a:xfrm>
          <a:prstGeom prst="rect">
            <a:avLst/>
          </a:prstGeom>
          <a:solidFill>
            <a:srgbClr val="F56565"/>
          </a:solidFill>
          <a:ln/>
        </p:spPr>
        <p:txBody>
          <a:bodyPr/>
          <a:lstStyle/>
          <a:p>
            <a:endParaRPr lang="en-US"/>
          </a:p>
        </p:txBody>
      </p:sp>
      <p:sp>
        <p:nvSpPr>
          <p:cNvPr id="144" name="Text 118"/>
          <p:cNvSpPr/>
          <p:nvPr/>
        </p:nvSpPr>
        <p:spPr>
          <a:xfrm>
            <a:off x="4972050" y="840105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Dry Run Pitfalls</a:t>
            </a:r>
            <a:endParaRPr lang="en-US" sz="1125" dirty="0"/>
          </a:p>
        </p:txBody>
      </p:sp>
      <p:pic>
        <p:nvPicPr>
          <p:cNvPr id="145" name="Image 24" descr="preencoded.png"/>
          <p:cNvPicPr>
            <a:picLocks noChangeAspect="1"/>
          </p:cNvPicPr>
          <p:nvPr/>
        </p:nvPicPr>
        <p:blipFill>
          <a:blip r:embed="rId5"/>
          <a:stretch>
            <a:fillRect/>
          </a:stretch>
        </p:blipFill>
        <p:spPr>
          <a:xfrm>
            <a:off x="4972050" y="8658225"/>
            <a:ext cx="100013" cy="100013"/>
          </a:xfrm>
          <a:prstGeom prst="rect">
            <a:avLst/>
          </a:prstGeom>
        </p:spPr>
      </p:pic>
      <p:sp>
        <p:nvSpPr>
          <p:cNvPr id="146" name="Text 119"/>
          <p:cNvSpPr/>
          <p:nvPr/>
        </p:nvSpPr>
        <p:spPr>
          <a:xfrm>
            <a:off x="5129213" y="8629650"/>
            <a:ext cx="177806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Skipping steps or making assumptions</a:t>
            </a:r>
            <a:endParaRPr lang="en-US" sz="788" dirty="0"/>
          </a:p>
        </p:txBody>
      </p:sp>
      <p:pic>
        <p:nvPicPr>
          <p:cNvPr id="147" name="Image 25" descr="preencoded.png"/>
          <p:cNvPicPr>
            <a:picLocks noChangeAspect="1"/>
          </p:cNvPicPr>
          <p:nvPr/>
        </p:nvPicPr>
        <p:blipFill>
          <a:blip r:embed="rId5"/>
          <a:stretch>
            <a:fillRect/>
          </a:stretch>
        </p:blipFill>
        <p:spPr>
          <a:xfrm>
            <a:off x="4972050" y="8829675"/>
            <a:ext cx="100013" cy="100013"/>
          </a:xfrm>
          <a:prstGeom prst="rect">
            <a:avLst/>
          </a:prstGeom>
        </p:spPr>
      </p:pic>
      <p:sp>
        <p:nvSpPr>
          <p:cNvPr id="148" name="Text 120"/>
          <p:cNvSpPr/>
          <p:nvPr/>
        </p:nvSpPr>
        <p:spPr>
          <a:xfrm>
            <a:off x="5129213" y="8801100"/>
            <a:ext cx="2000445"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Not tracking all variable changes accurately</a:t>
            </a:r>
            <a:endParaRPr lang="en-US" sz="788" dirty="0"/>
          </a:p>
        </p:txBody>
      </p:sp>
      <p:pic>
        <p:nvPicPr>
          <p:cNvPr id="149" name="Image 26" descr="preencoded.png"/>
          <p:cNvPicPr>
            <a:picLocks noChangeAspect="1"/>
          </p:cNvPicPr>
          <p:nvPr/>
        </p:nvPicPr>
        <p:blipFill>
          <a:blip r:embed="rId5"/>
          <a:stretch>
            <a:fillRect/>
          </a:stretch>
        </p:blipFill>
        <p:spPr>
          <a:xfrm>
            <a:off x="4972050" y="9001125"/>
            <a:ext cx="100013" cy="100013"/>
          </a:xfrm>
          <a:prstGeom prst="rect">
            <a:avLst/>
          </a:prstGeom>
        </p:spPr>
      </p:pic>
      <p:sp>
        <p:nvSpPr>
          <p:cNvPr id="150" name="Text 121"/>
          <p:cNvSpPr/>
          <p:nvPr/>
        </p:nvSpPr>
        <p:spPr>
          <a:xfrm>
            <a:off x="5129213" y="8972550"/>
            <a:ext cx="1693627"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Testing only with "happy path" inputs</a:t>
            </a:r>
            <a:endParaRPr lang="en-US" sz="788" dirty="0"/>
          </a:p>
        </p:txBody>
      </p:sp>
      <p:pic>
        <p:nvPicPr>
          <p:cNvPr id="151" name="Image 27" descr="preencoded.png"/>
          <p:cNvPicPr>
            <a:picLocks noChangeAspect="1"/>
          </p:cNvPicPr>
          <p:nvPr/>
        </p:nvPicPr>
        <p:blipFill>
          <a:blip r:embed="rId5"/>
          <a:stretch>
            <a:fillRect/>
          </a:stretch>
        </p:blipFill>
        <p:spPr>
          <a:xfrm>
            <a:off x="4972050" y="9172575"/>
            <a:ext cx="100013" cy="100013"/>
          </a:xfrm>
          <a:prstGeom prst="rect">
            <a:avLst/>
          </a:prstGeom>
        </p:spPr>
      </p:pic>
      <p:sp>
        <p:nvSpPr>
          <p:cNvPr id="152" name="Text 122"/>
          <p:cNvSpPr/>
          <p:nvPr/>
        </p:nvSpPr>
        <p:spPr>
          <a:xfrm>
            <a:off x="5129213" y="9144000"/>
            <a:ext cx="2243165"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Overlooking off-by-one errors in loops and arrays</a:t>
            </a:r>
            <a:endParaRPr lang="en-US" sz="788" dirty="0"/>
          </a:p>
        </p:txBody>
      </p:sp>
      <p:sp>
        <p:nvSpPr>
          <p:cNvPr id="153" name="Shape 123"/>
          <p:cNvSpPr/>
          <p:nvPr/>
        </p:nvSpPr>
        <p:spPr>
          <a:xfrm>
            <a:off x="4857750" y="9486900"/>
            <a:ext cx="3657600" cy="1057275"/>
          </a:xfrm>
          <a:prstGeom prst="rect">
            <a:avLst/>
          </a:prstGeom>
          <a:solidFill>
            <a:srgbClr val="1E3A8A">
              <a:alpha val="30000"/>
            </a:srgbClr>
          </a:solidFill>
          <a:ln/>
        </p:spPr>
        <p:txBody>
          <a:bodyPr/>
          <a:lstStyle/>
          <a:p>
            <a:endParaRPr lang="en-US"/>
          </a:p>
        </p:txBody>
      </p:sp>
      <p:sp>
        <p:nvSpPr>
          <p:cNvPr id="154" name="Shape 124"/>
          <p:cNvSpPr/>
          <p:nvPr/>
        </p:nvSpPr>
        <p:spPr>
          <a:xfrm>
            <a:off x="4857750" y="9486900"/>
            <a:ext cx="28575" cy="1057275"/>
          </a:xfrm>
          <a:prstGeom prst="rect">
            <a:avLst/>
          </a:prstGeom>
          <a:solidFill>
            <a:srgbClr val="F56565"/>
          </a:solidFill>
          <a:ln/>
        </p:spPr>
        <p:txBody>
          <a:bodyPr/>
          <a:lstStyle/>
          <a:p>
            <a:endParaRPr lang="en-US"/>
          </a:p>
        </p:txBody>
      </p:sp>
      <p:sp>
        <p:nvSpPr>
          <p:cNvPr id="155" name="Text 125"/>
          <p:cNvSpPr/>
          <p:nvPr/>
        </p:nvSpPr>
        <p:spPr>
          <a:xfrm>
            <a:off x="4972050" y="9572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Flagged While Loop Pitfalls</a:t>
            </a:r>
            <a:endParaRPr lang="en-US" sz="1125" dirty="0"/>
          </a:p>
        </p:txBody>
      </p:sp>
      <p:pic>
        <p:nvPicPr>
          <p:cNvPr id="156" name="Image 28" descr="preencoded.png"/>
          <p:cNvPicPr>
            <a:picLocks noChangeAspect="1"/>
          </p:cNvPicPr>
          <p:nvPr/>
        </p:nvPicPr>
        <p:blipFill>
          <a:blip r:embed="rId5"/>
          <a:stretch>
            <a:fillRect/>
          </a:stretch>
        </p:blipFill>
        <p:spPr>
          <a:xfrm>
            <a:off x="4972050" y="9829800"/>
            <a:ext cx="100013" cy="100013"/>
          </a:xfrm>
          <a:prstGeom prst="rect">
            <a:avLst/>
          </a:prstGeom>
        </p:spPr>
      </p:pic>
      <p:sp>
        <p:nvSpPr>
          <p:cNvPr id="157" name="Text 126"/>
          <p:cNvSpPr/>
          <p:nvPr/>
        </p:nvSpPr>
        <p:spPr>
          <a:xfrm>
            <a:off x="5129213" y="9801225"/>
            <a:ext cx="1984037"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Creating infinite loops by not updating flags</a:t>
            </a:r>
            <a:endParaRPr lang="en-US" sz="788" dirty="0"/>
          </a:p>
        </p:txBody>
      </p:sp>
      <p:pic>
        <p:nvPicPr>
          <p:cNvPr id="158" name="Image 29" descr="preencoded.png"/>
          <p:cNvPicPr>
            <a:picLocks noChangeAspect="1"/>
          </p:cNvPicPr>
          <p:nvPr/>
        </p:nvPicPr>
        <p:blipFill>
          <a:blip r:embed="rId5"/>
          <a:stretch>
            <a:fillRect/>
          </a:stretch>
        </p:blipFill>
        <p:spPr>
          <a:xfrm>
            <a:off x="4972050" y="10001250"/>
            <a:ext cx="100013" cy="100013"/>
          </a:xfrm>
          <a:prstGeom prst="rect">
            <a:avLst/>
          </a:prstGeom>
        </p:spPr>
      </p:pic>
      <p:sp>
        <p:nvSpPr>
          <p:cNvPr id="159" name="Text 127"/>
          <p:cNvSpPr/>
          <p:nvPr/>
        </p:nvSpPr>
        <p:spPr>
          <a:xfrm>
            <a:off x="5129213" y="9972675"/>
            <a:ext cx="183373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Using unclear or ambiguous flag names</a:t>
            </a:r>
            <a:endParaRPr lang="en-US" sz="788" dirty="0"/>
          </a:p>
        </p:txBody>
      </p:sp>
      <p:pic>
        <p:nvPicPr>
          <p:cNvPr id="160" name="Image 30" descr="preencoded.png"/>
          <p:cNvPicPr>
            <a:picLocks noChangeAspect="1"/>
          </p:cNvPicPr>
          <p:nvPr/>
        </p:nvPicPr>
        <p:blipFill>
          <a:blip r:embed="rId5"/>
          <a:stretch>
            <a:fillRect/>
          </a:stretch>
        </p:blipFill>
        <p:spPr>
          <a:xfrm>
            <a:off x="4972050" y="10172700"/>
            <a:ext cx="100013" cy="100013"/>
          </a:xfrm>
          <a:prstGeom prst="rect">
            <a:avLst/>
          </a:prstGeom>
        </p:spPr>
      </p:pic>
      <p:sp>
        <p:nvSpPr>
          <p:cNvPr id="161" name="Text 128"/>
          <p:cNvSpPr/>
          <p:nvPr/>
        </p:nvSpPr>
        <p:spPr>
          <a:xfrm>
            <a:off x="5129213" y="10144125"/>
            <a:ext cx="2206051"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Overcomplicating conditions with too many flags</a:t>
            </a:r>
            <a:endParaRPr lang="en-US" sz="788" dirty="0"/>
          </a:p>
        </p:txBody>
      </p:sp>
      <p:pic>
        <p:nvPicPr>
          <p:cNvPr id="162" name="Image 31" descr="preencoded.png"/>
          <p:cNvPicPr>
            <a:picLocks noChangeAspect="1"/>
          </p:cNvPicPr>
          <p:nvPr/>
        </p:nvPicPr>
        <p:blipFill>
          <a:blip r:embed="rId5"/>
          <a:stretch>
            <a:fillRect/>
          </a:stretch>
        </p:blipFill>
        <p:spPr>
          <a:xfrm>
            <a:off x="4972050" y="10344150"/>
            <a:ext cx="100013" cy="100013"/>
          </a:xfrm>
          <a:prstGeom prst="rect">
            <a:avLst/>
          </a:prstGeom>
        </p:spPr>
      </p:pic>
      <p:sp>
        <p:nvSpPr>
          <p:cNvPr id="163" name="Text 129"/>
          <p:cNvSpPr/>
          <p:nvPr/>
        </p:nvSpPr>
        <p:spPr>
          <a:xfrm>
            <a:off x="5129213" y="10315575"/>
            <a:ext cx="235615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Modifying flags in multiple places without clear logic</a:t>
            </a:r>
            <a:endParaRPr lang="en-US" sz="788" dirty="0"/>
          </a:p>
        </p:txBody>
      </p:sp>
      <p:sp>
        <p:nvSpPr>
          <p:cNvPr id="164" name="Shape 130"/>
          <p:cNvSpPr/>
          <p:nvPr/>
        </p:nvSpPr>
        <p:spPr>
          <a:xfrm>
            <a:off x="457200" y="10944225"/>
            <a:ext cx="8229600" cy="43862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165" name="Text 131"/>
          <p:cNvSpPr/>
          <p:nvPr/>
        </p:nvSpPr>
        <p:spPr>
          <a:xfrm>
            <a:off x="628650" y="11115675"/>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Debugging and Troubleshooting Tips</a:t>
            </a:r>
            <a:endParaRPr lang="en-US" sz="1350" dirty="0"/>
          </a:p>
        </p:txBody>
      </p:sp>
      <p:sp>
        <p:nvSpPr>
          <p:cNvPr id="166" name="Shape 132"/>
          <p:cNvSpPr/>
          <p:nvPr/>
        </p:nvSpPr>
        <p:spPr>
          <a:xfrm>
            <a:off x="628650" y="11458575"/>
            <a:ext cx="2514600" cy="1400175"/>
          </a:xfrm>
          <a:prstGeom prst="rect">
            <a:avLst/>
          </a:prstGeom>
          <a:solidFill>
            <a:srgbClr val="1E3A8A">
              <a:alpha val="30000"/>
            </a:srgbClr>
          </a:solidFill>
          <a:ln/>
        </p:spPr>
        <p:txBody>
          <a:bodyPr/>
          <a:lstStyle/>
          <a:p>
            <a:endParaRPr lang="en-US"/>
          </a:p>
        </p:txBody>
      </p:sp>
      <p:sp>
        <p:nvSpPr>
          <p:cNvPr id="167" name="Shape 133"/>
          <p:cNvSpPr/>
          <p:nvPr/>
        </p:nvSpPr>
        <p:spPr>
          <a:xfrm>
            <a:off x="628650" y="11458575"/>
            <a:ext cx="28575" cy="1400175"/>
          </a:xfrm>
          <a:prstGeom prst="rect">
            <a:avLst/>
          </a:prstGeom>
          <a:solidFill>
            <a:srgbClr val="63B3ED"/>
          </a:solidFill>
          <a:ln/>
        </p:spPr>
        <p:txBody>
          <a:bodyPr/>
          <a:lstStyle/>
          <a:p>
            <a:endParaRPr lang="en-US"/>
          </a:p>
        </p:txBody>
      </p:sp>
      <p:pic>
        <p:nvPicPr>
          <p:cNvPr id="168" name="Image 32" descr="preencoded.png"/>
          <p:cNvPicPr>
            <a:picLocks noChangeAspect="1"/>
          </p:cNvPicPr>
          <p:nvPr/>
        </p:nvPicPr>
        <p:blipFill>
          <a:blip r:embed="rId6"/>
          <a:stretch>
            <a:fillRect/>
          </a:stretch>
        </p:blipFill>
        <p:spPr>
          <a:xfrm>
            <a:off x="742950" y="11558588"/>
            <a:ext cx="171450" cy="171450"/>
          </a:xfrm>
          <a:prstGeom prst="rect">
            <a:avLst/>
          </a:prstGeom>
        </p:spPr>
      </p:pic>
      <p:sp>
        <p:nvSpPr>
          <p:cNvPr id="169" name="Text 134"/>
          <p:cNvSpPr/>
          <p:nvPr/>
        </p:nvSpPr>
        <p:spPr>
          <a:xfrm>
            <a:off x="1000125" y="11544300"/>
            <a:ext cx="920958" cy="200025"/>
          </a:xfrm>
          <a:prstGeom prst="rect">
            <a:avLst/>
          </a:prstGeom>
          <a:noFill/>
          <a:ln/>
        </p:spPr>
        <p:txBody>
          <a:bodyPr wrap="non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Logic Errors</a:t>
            </a:r>
            <a:endParaRPr lang="en-US" sz="1125" dirty="0"/>
          </a:p>
        </p:txBody>
      </p:sp>
      <p:pic>
        <p:nvPicPr>
          <p:cNvPr id="170" name="Image 33" descr="preencoded.png"/>
          <p:cNvPicPr>
            <a:picLocks noChangeAspect="1"/>
          </p:cNvPicPr>
          <p:nvPr/>
        </p:nvPicPr>
        <p:blipFill>
          <a:blip r:embed="rId7"/>
          <a:stretch>
            <a:fillRect/>
          </a:stretch>
        </p:blipFill>
        <p:spPr>
          <a:xfrm>
            <a:off x="742950" y="11858625"/>
            <a:ext cx="87511" cy="100013"/>
          </a:xfrm>
          <a:prstGeom prst="rect">
            <a:avLst/>
          </a:prstGeom>
        </p:spPr>
      </p:pic>
      <p:sp>
        <p:nvSpPr>
          <p:cNvPr id="171" name="Text 135"/>
          <p:cNvSpPr/>
          <p:nvPr/>
        </p:nvSpPr>
        <p:spPr>
          <a:xfrm>
            <a:off x="887611" y="11830050"/>
            <a:ext cx="217239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Verify your algorithm with simple test cases first</a:t>
            </a:r>
            <a:endParaRPr lang="en-US" sz="788" dirty="0"/>
          </a:p>
        </p:txBody>
      </p:sp>
      <p:pic>
        <p:nvPicPr>
          <p:cNvPr id="172" name="Image 34" descr="preencoded.png"/>
          <p:cNvPicPr>
            <a:picLocks noChangeAspect="1"/>
          </p:cNvPicPr>
          <p:nvPr/>
        </p:nvPicPr>
        <p:blipFill>
          <a:blip r:embed="rId7"/>
          <a:stretch>
            <a:fillRect/>
          </a:stretch>
        </p:blipFill>
        <p:spPr>
          <a:xfrm>
            <a:off x="742950" y="12030075"/>
            <a:ext cx="87511" cy="100013"/>
          </a:xfrm>
          <a:prstGeom prst="rect">
            <a:avLst/>
          </a:prstGeom>
        </p:spPr>
      </p:pic>
      <p:sp>
        <p:nvSpPr>
          <p:cNvPr id="173" name="Text 136"/>
          <p:cNvSpPr/>
          <p:nvPr/>
        </p:nvSpPr>
        <p:spPr>
          <a:xfrm>
            <a:off x="887611" y="12001500"/>
            <a:ext cx="2327077"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Check boundary conditions (first/last elements, empty collections)</a:t>
            </a:r>
            <a:endParaRPr lang="en-US" sz="788" dirty="0"/>
          </a:p>
        </p:txBody>
      </p:sp>
      <p:pic>
        <p:nvPicPr>
          <p:cNvPr id="174" name="Image 35" descr="preencoded.png"/>
          <p:cNvPicPr>
            <a:picLocks noChangeAspect="1"/>
          </p:cNvPicPr>
          <p:nvPr/>
        </p:nvPicPr>
        <p:blipFill>
          <a:blip r:embed="rId7"/>
          <a:stretch>
            <a:fillRect/>
          </a:stretch>
        </p:blipFill>
        <p:spPr>
          <a:xfrm>
            <a:off x="742950" y="12344400"/>
            <a:ext cx="87511" cy="100013"/>
          </a:xfrm>
          <a:prstGeom prst="rect">
            <a:avLst/>
          </a:prstGeom>
        </p:spPr>
      </p:pic>
      <p:sp>
        <p:nvSpPr>
          <p:cNvPr id="175" name="Text 137"/>
          <p:cNvSpPr/>
          <p:nvPr/>
        </p:nvSpPr>
        <p:spPr>
          <a:xfrm>
            <a:off x="887611" y="12315825"/>
            <a:ext cx="2169133"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Trace variable values at key points in execution</a:t>
            </a:r>
            <a:endParaRPr lang="en-US" sz="788" dirty="0"/>
          </a:p>
        </p:txBody>
      </p:sp>
      <p:pic>
        <p:nvPicPr>
          <p:cNvPr id="176" name="Image 36" descr="preencoded.png"/>
          <p:cNvPicPr>
            <a:picLocks noChangeAspect="1"/>
          </p:cNvPicPr>
          <p:nvPr/>
        </p:nvPicPr>
        <p:blipFill>
          <a:blip r:embed="rId7"/>
          <a:stretch>
            <a:fillRect/>
          </a:stretch>
        </p:blipFill>
        <p:spPr>
          <a:xfrm>
            <a:off x="742950" y="12515850"/>
            <a:ext cx="87511" cy="100013"/>
          </a:xfrm>
          <a:prstGeom prst="rect">
            <a:avLst/>
          </a:prstGeom>
        </p:spPr>
      </p:pic>
      <p:sp>
        <p:nvSpPr>
          <p:cNvPr id="177" name="Text 138"/>
          <p:cNvSpPr/>
          <p:nvPr/>
        </p:nvSpPr>
        <p:spPr>
          <a:xfrm>
            <a:off x="887611" y="12487275"/>
            <a:ext cx="2300790"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Verify that your solution handles all required cases</a:t>
            </a:r>
            <a:endParaRPr lang="en-US" sz="788" dirty="0"/>
          </a:p>
        </p:txBody>
      </p:sp>
      <p:sp>
        <p:nvSpPr>
          <p:cNvPr id="178" name="Shape 139"/>
          <p:cNvSpPr/>
          <p:nvPr/>
        </p:nvSpPr>
        <p:spPr>
          <a:xfrm>
            <a:off x="3314700" y="11458575"/>
            <a:ext cx="2514600" cy="1400175"/>
          </a:xfrm>
          <a:prstGeom prst="rect">
            <a:avLst/>
          </a:prstGeom>
          <a:solidFill>
            <a:srgbClr val="1E3A8A">
              <a:alpha val="30000"/>
            </a:srgbClr>
          </a:solidFill>
          <a:ln/>
        </p:spPr>
        <p:txBody>
          <a:bodyPr/>
          <a:lstStyle/>
          <a:p>
            <a:endParaRPr lang="en-US"/>
          </a:p>
        </p:txBody>
      </p:sp>
      <p:sp>
        <p:nvSpPr>
          <p:cNvPr id="179" name="Shape 140"/>
          <p:cNvSpPr/>
          <p:nvPr/>
        </p:nvSpPr>
        <p:spPr>
          <a:xfrm>
            <a:off x="3314700" y="11458575"/>
            <a:ext cx="28575" cy="1400175"/>
          </a:xfrm>
          <a:prstGeom prst="rect">
            <a:avLst/>
          </a:prstGeom>
          <a:solidFill>
            <a:srgbClr val="63B3ED"/>
          </a:solidFill>
          <a:ln/>
        </p:spPr>
        <p:txBody>
          <a:bodyPr/>
          <a:lstStyle/>
          <a:p>
            <a:endParaRPr lang="en-US"/>
          </a:p>
        </p:txBody>
      </p:sp>
      <p:pic>
        <p:nvPicPr>
          <p:cNvPr id="180" name="Image 37" descr="preencoded.png"/>
          <p:cNvPicPr>
            <a:picLocks noChangeAspect="1"/>
          </p:cNvPicPr>
          <p:nvPr/>
        </p:nvPicPr>
        <p:blipFill>
          <a:blip r:embed="rId8"/>
          <a:stretch>
            <a:fillRect/>
          </a:stretch>
        </p:blipFill>
        <p:spPr>
          <a:xfrm>
            <a:off x="3429000" y="11558588"/>
            <a:ext cx="171450" cy="171450"/>
          </a:xfrm>
          <a:prstGeom prst="rect">
            <a:avLst/>
          </a:prstGeom>
        </p:spPr>
      </p:pic>
      <p:sp>
        <p:nvSpPr>
          <p:cNvPr id="181" name="Text 141"/>
          <p:cNvSpPr/>
          <p:nvPr/>
        </p:nvSpPr>
        <p:spPr>
          <a:xfrm>
            <a:off x="3686175" y="11544300"/>
            <a:ext cx="905052" cy="200025"/>
          </a:xfrm>
          <a:prstGeom prst="rect">
            <a:avLst/>
          </a:prstGeom>
          <a:noFill/>
          <a:ln/>
        </p:spPr>
        <p:txBody>
          <a:bodyPr wrap="non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Loop Issues</a:t>
            </a:r>
            <a:endParaRPr lang="en-US" sz="1125" dirty="0"/>
          </a:p>
        </p:txBody>
      </p:sp>
      <p:pic>
        <p:nvPicPr>
          <p:cNvPr id="182" name="Image 38" descr="preencoded.png"/>
          <p:cNvPicPr>
            <a:picLocks noChangeAspect="1"/>
          </p:cNvPicPr>
          <p:nvPr/>
        </p:nvPicPr>
        <p:blipFill>
          <a:blip r:embed="rId7"/>
          <a:stretch>
            <a:fillRect/>
          </a:stretch>
        </p:blipFill>
        <p:spPr>
          <a:xfrm>
            <a:off x="3429000" y="11858625"/>
            <a:ext cx="87511" cy="100013"/>
          </a:xfrm>
          <a:prstGeom prst="rect">
            <a:avLst/>
          </a:prstGeom>
        </p:spPr>
      </p:pic>
      <p:sp>
        <p:nvSpPr>
          <p:cNvPr id="183" name="Text 142"/>
          <p:cNvSpPr/>
          <p:nvPr/>
        </p:nvSpPr>
        <p:spPr>
          <a:xfrm>
            <a:off x="3573661" y="11830050"/>
            <a:ext cx="2327077"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Check loop initialization, condition, and update steps</a:t>
            </a:r>
            <a:endParaRPr lang="en-US" sz="788" dirty="0"/>
          </a:p>
        </p:txBody>
      </p:sp>
      <p:pic>
        <p:nvPicPr>
          <p:cNvPr id="184" name="Image 39" descr="preencoded.png"/>
          <p:cNvPicPr>
            <a:picLocks noChangeAspect="1"/>
          </p:cNvPicPr>
          <p:nvPr/>
        </p:nvPicPr>
        <p:blipFill>
          <a:blip r:embed="rId7"/>
          <a:stretch>
            <a:fillRect/>
          </a:stretch>
        </p:blipFill>
        <p:spPr>
          <a:xfrm>
            <a:off x="3429000" y="12172950"/>
            <a:ext cx="87511" cy="100013"/>
          </a:xfrm>
          <a:prstGeom prst="rect">
            <a:avLst/>
          </a:prstGeom>
        </p:spPr>
      </p:pic>
      <p:sp>
        <p:nvSpPr>
          <p:cNvPr id="185" name="Text 143"/>
          <p:cNvSpPr/>
          <p:nvPr/>
        </p:nvSpPr>
        <p:spPr>
          <a:xfrm>
            <a:off x="3573661" y="12144375"/>
            <a:ext cx="2327077"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Verify that flags are properly updated within the loop</a:t>
            </a:r>
            <a:endParaRPr lang="en-US" sz="788" dirty="0"/>
          </a:p>
        </p:txBody>
      </p:sp>
      <p:pic>
        <p:nvPicPr>
          <p:cNvPr id="186" name="Image 40" descr="preencoded.png"/>
          <p:cNvPicPr>
            <a:picLocks noChangeAspect="1"/>
          </p:cNvPicPr>
          <p:nvPr/>
        </p:nvPicPr>
        <p:blipFill>
          <a:blip r:embed="rId7"/>
          <a:stretch>
            <a:fillRect/>
          </a:stretch>
        </p:blipFill>
        <p:spPr>
          <a:xfrm>
            <a:off x="3429000" y="12487275"/>
            <a:ext cx="87511" cy="100013"/>
          </a:xfrm>
          <a:prstGeom prst="rect">
            <a:avLst/>
          </a:prstGeom>
        </p:spPr>
      </p:pic>
      <p:sp>
        <p:nvSpPr>
          <p:cNvPr id="187" name="Text 144"/>
          <p:cNvSpPr/>
          <p:nvPr/>
        </p:nvSpPr>
        <p:spPr>
          <a:xfrm>
            <a:off x="3573661" y="12458700"/>
            <a:ext cx="1898424"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Look for off-by-one errors in array indices</a:t>
            </a:r>
            <a:endParaRPr lang="en-US" sz="788" dirty="0"/>
          </a:p>
        </p:txBody>
      </p:sp>
      <p:pic>
        <p:nvPicPr>
          <p:cNvPr id="188" name="Image 41" descr="preencoded.png"/>
          <p:cNvPicPr>
            <a:picLocks noChangeAspect="1"/>
          </p:cNvPicPr>
          <p:nvPr/>
        </p:nvPicPr>
        <p:blipFill>
          <a:blip r:embed="rId7"/>
          <a:stretch>
            <a:fillRect/>
          </a:stretch>
        </p:blipFill>
        <p:spPr>
          <a:xfrm>
            <a:off x="3429000" y="12658725"/>
            <a:ext cx="87511" cy="100013"/>
          </a:xfrm>
          <a:prstGeom prst="rect">
            <a:avLst/>
          </a:prstGeom>
        </p:spPr>
      </p:pic>
      <p:sp>
        <p:nvSpPr>
          <p:cNvPr id="189" name="Text 145"/>
          <p:cNvSpPr/>
          <p:nvPr/>
        </p:nvSpPr>
        <p:spPr>
          <a:xfrm>
            <a:off x="3573661" y="12630150"/>
            <a:ext cx="224525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Ensure loop termination conditions are reachable</a:t>
            </a:r>
            <a:endParaRPr lang="en-US" sz="788" dirty="0"/>
          </a:p>
        </p:txBody>
      </p:sp>
      <p:sp>
        <p:nvSpPr>
          <p:cNvPr id="190" name="Shape 146"/>
          <p:cNvSpPr/>
          <p:nvPr/>
        </p:nvSpPr>
        <p:spPr>
          <a:xfrm>
            <a:off x="6000750" y="11458575"/>
            <a:ext cx="2514600" cy="1400175"/>
          </a:xfrm>
          <a:prstGeom prst="rect">
            <a:avLst/>
          </a:prstGeom>
          <a:solidFill>
            <a:srgbClr val="1E3A8A">
              <a:alpha val="30000"/>
            </a:srgbClr>
          </a:solidFill>
          <a:ln/>
        </p:spPr>
        <p:txBody>
          <a:bodyPr/>
          <a:lstStyle/>
          <a:p>
            <a:endParaRPr lang="en-US"/>
          </a:p>
        </p:txBody>
      </p:sp>
      <p:sp>
        <p:nvSpPr>
          <p:cNvPr id="191" name="Shape 147"/>
          <p:cNvSpPr/>
          <p:nvPr/>
        </p:nvSpPr>
        <p:spPr>
          <a:xfrm>
            <a:off x="6000750" y="11458575"/>
            <a:ext cx="28575" cy="1400175"/>
          </a:xfrm>
          <a:prstGeom prst="rect">
            <a:avLst/>
          </a:prstGeom>
          <a:solidFill>
            <a:srgbClr val="63B3ED"/>
          </a:solidFill>
          <a:ln/>
        </p:spPr>
        <p:txBody>
          <a:bodyPr/>
          <a:lstStyle/>
          <a:p>
            <a:endParaRPr lang="en-US"/>
          </a:p>
        </p:txBody>
      </p:sp>
      <p:pic>
        <p:nvPicPr>
          <p:cNvPr id="192" name="Image 42" descr="preencoded.png"/>
          <p:cNvPicPr>
            <a:picLocks noChangeAspect="1"/>
          </p:cNvPicPr>
          <p:nvPr/>
        </p:nvPicPr>
        <p:blipFill>
          <a:blip r:embed="rId9"/>
          <a:stretch>
            <a:fillRect/>
          </a:stretch>
        </p:blipFill>
        <p:spPr>
          <a:xfrm>
            <a:off x="6115050" y="11558588"/>
            <a:ext cx="150019" cy="171450"/>
          </a:xfrm>
          <a:prstGeom prst="rect">
            <a:avLst/>
          </a:prstGeom>
        </p:spPr>
      </p:pic>
      <p:sp>
        <p:nvSpPr>
          <p:cNvPr id="193" name="Text 148"/>
          <p:cNvSpPr/>
          <p:nvPr/>
        </p:nvSpPr>
        <p:spPr>
          <a:xfrm>
            <a:off x="6350794" y="11544300"/>
            <a:ext cx="1277782" cy="200025"/>
          </a:xfrm>
          <a:prstGeom prst="rect">
            <a:avLst/>
          </a:prstGeom>
          <a:noFill/>
          <a:ln/>
        </p:spPr>
        <p:txBody>
          <a:bodyPr wrap="non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Conditional Logic</a:t>
            </a:r>
            <a:endParaRPr lang="en-US" sz="1125" dirty="0"/>
          </a:p>
        </p:txBody>
      </p:sp>
      <p:pic>
        <p:nvPicPr>
          <p:cNvPr id="194" name="Image 43" descr="preencoded.png"/>
          <p:cNvPicPr>
            <a:picLocks noChangeAspect="1"/>
          </p:cNvPicPr>
          <p:nvPr/>
        </p:nvPicPr>
        <p:blipFill>
          <a:blip r:embed="rId7"/>
          <a:stretch>
            <a:fillRect/>
          </a:stretch>
        </p:blipFill>
        <p:spPr>
          <a:xfrm>
            <a:off x="6115050" y="11858625"/>
            <a:ext cx="87511" cy="100013"/>
          </a:xfrm>
          <a:prstGeom prst="rect">
            <a:avLst/>
          </a:prstGeom>
        </p:spPr>
      </p:pic>
      <p:sp>
        <p:nvSpPr>
          <p:cNvPr id="195" name="Text 149"/>
          <p:cNvSpPr/>
          <p:nvPr/>
        </p:nvSpPr>
        <p:spPr>
          <a:xfrm>
            <a:off x="6259711" y="11830050"/>
            <a:ext cx="2002259"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Check for correct boolean operators (&amp;&amp;, ||)</a:t>
            </a:r>
            <a:endParaRPr lang="en-US" sz="788" dirty="0"/>
          </a:p>
        </p:txBody>
      </p:sp>
      <p:pic>
        <p:nvPicPr>
          <p:cNvPr id="196" name="Image 44" descr="preencoded.png"/>
          <p:cNvPicPr>
            <a:picLocks noChangeAspect="1"/>
          </p:cNvPicPr>
          <p:nvPr/>
        </p:nvPicPr>
        <p:blipFill>
          <a:blip r:embed="rId7"/>
          <a:stretch>
            <a:fillRect/>
          </a:stretch>
        </p:blipFill>
        <p:spPr>
          <a:xfrm>
            <a:off x="6115050" y="12030075"/>
            <a:ext cx="87511" cy="100013"/>
          </a:xfrm>
          <a:prstGeom prst="rect">
            <a:avLst/>
          </a:prstGeom>
        </p:spPr>
      </p:pic>
      <p:sp>
        <p:nvSpPr>
          <p:cNvPr id="197" name="Text 150"/>
          <p:cNvSpPr/>
          <p:nvPr/>
        </p:nvSpPr>
        <p:spPr>
          <a:xfrm>
            <a:off x="6259711" y="12001500"/>
            <a:ext cx="224232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Verify comparison operators (==, !=, &lt;, &gt;, &lt;=, &gt;=)</a:t>
            </a:r>
            <a:endParaRPr lang="en-US" sz="788" dirty="0"/>
          </a:p>
        </p:txBody>
      </p:sp>
      <p:pic>
        <p:nvPicPr>
          <p:cNvPr id="198" name="Image 45" descr="preencoded.png"/>
          <p:cNvPicPr>
            <a:picLocks noChangeAspect="1"/>
          </p:cNvPicPr>
          <p:nvPr/>
        </p:nvPicPr>
        <p:blipFill>
          <a:blip r:embed="rId7"/>
          <a:stretch>
            <a:fillRect/>
          </a:stretch>
        </p:blipFill>
        <p:spPr>
          <a:xfrm>
            <a:off x="6115050" y="12201525"/>
            <a:ext cx="87511" cy="100013"/>
          </a:xfrm>
          <a:prstGeom prst="rect">
            <a:avLst/>
          </a:prstGeom>
        </p:spPr>
      </p:pic>
      <p:sp>
        <p:nvSpPr>
          <p:cNvPr id="199" name="Text 151"/>
          <p:cNvSpPr/>
          <p:nvPr/>
        </p:nvSpPr>
        <p:spPr>
          <a:xfrm>
            <a:off x="6259711" y="12172950"/>
            <a:ext cx="2311868" cy="142875"/>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Test each branch of complex conditions separately</a:t>
            </a:r>
            <a:endParaRPr lang="en-US" sz="788" dirty="0"/>
          </a:p>
        </p:txBody>
      </p:sp>
      <p:pic>
        <p:nvPicPr>
          <p:cNvPr id="200" name="Image 46" descr="preencoded.png"/>
          <p:cNvPicPr>
            <a:picLocks noChangeAspect="1"/>
          </p:cNvPicPr>
          <p:nvPr/>
        </p:nvPicPr>
        <p:blipFill>
          <a:blip r:embed="rId7"/>
          <a:stretch>
            <a:fillRect/>
          </a:stretch>
        </p:blipFill>
        <p:spPr>
          <a:xfrm>
            <a:off x="6115050" y="12372975"/>
            <a:ext cx="87511" cy="100013"/>
          </a:xfrm>
          <a:prstGeom prst="rect">
            <a:avLst/>
          </a:prstGeom>
        </p:spPr>
      </p:pic>
      <p:sp>
        <p:nvSpPr>
          <p:cNvPr id="201" name="Text 152"/>
          <p:cNvSpPr/>
          <p:nvPr/>
        </p:nvSpPr>
        <p:spPr>
          <a:xfrm>
            <a:off x="6259711" y="12344400"/>
            <a:ext cx="2327077" cy="285750"/>
          </a:xfrm>
          <a:prstGeom prst="rect">
            <a:avLst/>
          </a:prstGeom>
          <a:noFill/>
          <a:ln/>
        </p:spPr>
        <p:txBody>
          <a:bodyPr wrap="square" lIns="0" tIns="0" rIns="0" bIns="0" rtlCol="0" anchor="ctr">
            <a:spAutoFit/>
          </a:bodyPr>
          <a:lstStyle/>
          <a:p>
            <a:pPr marL="0" indent="0" algn="l">
              <a:buNone/>
            </a:pPr>
            <a:r>
              <a:rPr lang="en-US" sz="788" dirty="0">
                <a:solidFill>
                  <a:srgbClr val="E2E8F0"/>
                </a:solidFill>
                <a:latin typeface="Segoe UI" pitchFamily="34" charset="0"/>
                <a:ea typeface="Segoe UI" pitchFamily="34" charset="-122"/>
                <a:cs typeface="Segoe UI" pitchFamily="34" charset="-120"/>
              </a:rPr>
              <a:t>Consider De Morgan's laws for simplifying complex conditions</a:t>
            </a:r>
            <a:endParaRPr lang="en-US" sz="788" dirty="0"/>
          </a:p>
        </p:txBody>
      </p:sp>
      <p:sp>
        <p:nvSpPr>
          <p:cNvPr id="202" name="Shape 153"/>
          <p:cNvSpPr/>
          <p:nvPr/>
        </p:nvSpPr>
        <p:spPr>
          <a:xfrm>
            <a:off x="628650" y="13030200"/>
            <a:ext cx="7886700" cy="1371600"/>
          </a:xfrm>
          <a:prstGeom prst="rect">
            <a:avLst/>
          </a:prstGeom>
          <a:solidFill>
            <a:srgbClr val="1E3A8A">
              <a:alpha val="30000"/>
            </a:srgbClr>
          </a:solidFill>
          <a:ln/>
        </p:spPr>
        <p:txBody>
          <a:bodyPr/>
          <a:lstStyle/>
          <a:p>
            <a:endParaRPr lang="en-US"/>
          </a:p>
        </p:txBody>
      </p:sp>
      <p:sp>
        <p:nvSpPr>
          <p:cNvPr id="203" name="Text 154"/>
          <p:cNvSpPr/>
          <p:nvPr/>
        </p:nvSpPr>
        <p:spPr>
          <a:xfrm>
            <a:off x="742950" y="13144500"/>
            <a:ext cx="7729538" cy="200025"/>
          </a:xfrm>
          <a:prstGeom prst="rect">
            <a:avLst/>
          </a:prstGeom>
          <a:noFill/>
          <a:ln/>
        </p:spPr>
        <p:txBody>
          <a:bodyPr wrap="squar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Systematic Debugging Process</a:t>
            </a:r>
            <a:endParaRPr lang="en-US" sz="1125" dirty="0"/>
          </a:p>
        </p:txBody>
      </p:sp>
      <p:pic>
        <p:nvPicPr>
          <p:cNvPr id="204" name="Image 47" descr="preencoded.png"/>
          <p:cNvPicPr>
            <a:picLocks noChangeAspect="1"/>
          </p:cNvPicPr>
          <p:nvPr/>
        </p:nvPicPr>
        <p:blipFill>
          <a:blip r:embed="rId10"/>
          <a:stretch>
            <a:fillRect/>
          </a:stretch>
        </p:blipFill>
        <p:spPr>
          <a:xfrm>
            <a:off x="1714500" y="13430250"/>
            <a:ext cx="5715000" cy="857250"/>
          </a:xfrm>
          <a:prstGeom prst="rect">
            <a:avLst/>
          </a:prstGeom>
        </p:spPr>
      </p:pic>
      <p:sp>
        <p:nvSpPr>
          <p:cNvPr id="205" name="Text 155"/>
          <p:cNvSpPr/>
          <p:nvPr/>
        </p:nvSpPr>
        <p:spPr>
          <a:xfrm>
            <a:off x="2176318" y="13801725"/>
            <a:ext cx="576551"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Identify Issue</a:t>
            </a:r>
            <a:endParaRPr lang="en-US" sz="675" dirty="0"/>
          </a:p>
        </p:txBody>
      </p:sp>
      <p:sp>
        <p:nvSpPr>
          <p:cNvPr id="206" name="Text 156"/>
          <p:cNvSpPr/>
          <p:nvPr/>
        </p:nvSpPr>
        <p:spPr>
          <a:xfrm>
            <a:off x="3019155" y="13801725"/>
            <a:ext cx="117687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Reproduce with Simple Case</a:t>
            </a:r>
            <a:endParaRPr lang="en-US" sz="675" dirty="0"/>
          </a:p>
        </p:txBody>
      </p:sp>
      <p:sp>
        <p:nvSpPr>
          <p:cNvPr id="207" name="Text 157"/>
          <p:cNvSpPr/>
          <p:nvPr/>
        </p:nvSpPr>
        <p:spPr>
          <a:xfrm>
            <a:off x="4406759" y="13801725"/>
            <a:ext cx="687670"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Trace Execution</a:t>
            </a:r>
            <a:endParaRPr lang="en-US" sz="675" dirty="0"/>
          </a:p>
        </p:txBody>
      </p:sp>
      <p:sp>
        <p:nvSpPr>
          <p:cNvPr id="208" name="Text 158"/>
          <p:cNvSpPr/>
          <p:nvPr/>
        </p:nvSpPr>
        <p:spPr>
          <a:xfrm>
            <a:off x="5598202" y="13801725"/>
            <a:ext cx="590783"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Fix and Verify</a:t>
            </a:r>
            <a:endParaRPr lang="en-US" sz="675" dirty="0"/>
          </a:p>
        </p:txBody>
      </p:sp>
      <p:sp>
        <p:nvSpPr>
          <p:cNvPr id="209" name="Text 159"/>
          <p:cNvSpPr/>
          <p:nvPr/>
        </p:nvSpPr>
        <p:spPr>
          <a:xfrm>
            <a:off x="6779391" y="13801725"/>
            <a:ext cx="22865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Test</a:t>
            </a:r>
            <a:endParaRPr lang="en-US" sz="675" dirty="0"/>
          </a:p>
        </p:txBody>
      </p:sp>
      <p:sp>
        <p:nvSpPr>
          <p:cNvPr id="210" name="Shape 160"/>
          <p:cNvSpPr/>
          <p:nvPr/>
        </p:nvSpPr>
        <p:spPr>
          <a:xfrm>
            <a:off x="628650" y="14573250"/>
            <a:ext cx="7886700" cy="571500"/>
          </a:xfrm>
          <a:prstGeom prst="rect">
            <a:avLst/>
          </a:prstGeom>
          <a:solidFill>
            <a:srgbClr val="78350F">
              <a:alpha val="20000"/>
            </a:srgbClr>
          </a:solidFill>
          <a:ln/>
        </p:spPr>
        <p:txBody>
          <a:bodyPr/>
          <a:lstStyle/>
          <a:p>
            <a:endParaRPr lang="en-US"/>
          </a:p>
        </p:txBody>
      </p:sp>
      <p:pic>
        <p:nvPicPr>
          <p:cNvPr id="211" name="Image 48" descr="preencoded.png"/>
          <p:cNvPicPr>
            <a:picLocks noChangeAspect="1"/>
          </p:cNvPicPr>
          <p:nvPr/>
        </p:nvPicPr>
        <p:blipFill>
          <a:blip r:embed="rId11"/>
          <a:stretch>
            <a:fillRect/>
          </a:stretch>
        </p:blipFill>
        <p:spPr>
          <a:xfrm>
            <a:off x="742950" y="14773275"/>
            <a:ext cx="128588" cy="171450"/>
          </a:xfrm>
          <a:prstGeom prst="rect">
            <a:avLst/>
          </a:prstGeom>
        </p:spPr>
      </p:pic>
      <p:sp>
        <p:nvSpPr>
          <p:cNvPr id="212" name="Text 161"/>
          <p:cNvSpPr/>
          <p:nvPr/>
        </p:nvSpPr>
        <p:spPr>
          <a:xfrm>
            <a:off x="985838" y="14687550"/>
            <a:ext cx="7486650"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Remember that mastering logic building, dry run techniques, and loop constructs takes practice. Don't be discouraged by initial challenges. The ability to think algorithmically and trace code execution are skills that improve with consistent practice and application.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3201650"/>
          </a:xfrm>
          <a:prstGeom prst="rect">
            <a:avLst/>
          </a:prstGeom>
        </p:spPr>
      </p:pic>
      <p:sp>
        <p:nvSpPr>
          <p:cNvPr id="3" name="Text 0"/>
          <p:cNvSpPr/>
          <p:nvPr/>
        </p:nvSpPr>
        <p:spPr>
          <a:xfrm>
            <a:off x="457200" y="455414"/>
            <a:ext cx="1843674"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Summary and</a:t>
            </a:r>
            <a:endParaRPr lang="en-US" sz="2025" dirty="0"/>
          </a:p>
        </p:txBody>
      </p:sp>
      <p:sp>
        <p:nvSpPr>
          <p:cNvPr id="4" name="Text 1"/>
          <p:cNvSpPr/>
          <p:nvPr/>
        </p:nvSpPr>
        <p:spPr>
          <a:xfrm>
            <a:off x="2229436" y="455414"/>
            <a:ext cx="1953927" cy="287536"/>
          </a:xfrm>
          <a:prstGeom prst="rect">
            <a:avLst/>
          </a:prstGeom>
          <a:noFill/>
          <a:ln/>
        </p:spPr>
        <p:txBody>
          <a:bodyPr wrap="squar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Key Takeaways</a:t>
            </a:r>
            <a:endParaRPr lang="en-US" sz="2025" dirty="0"/>
          </a:p>
        </p:txBody>
      </p:sp>
      <p:sp>
        <p:nvSpPr>
          <p:cNvPr id="5" name="Shape 2"/>
          <p:cNvSpPr/>
          <p:nvPr/>
        </p:nvSpPr>
        <p:spPr>
          <a:xfrm>
            <a:off x="457200" y="971550"/>
            <a:ext cx="4000500" cy="37576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Logic Building</a:t>
            </a:r>
            <a:endParaRPr lang="en-US" sz="1350" dirty="0"/>
          </a:p>
        </p:txBody>
      </p:sp>
      <p:sp>
        <p:nvSpPr>
          <p:cNvPr id="7" name="Shape 4"/>
          <p:cNvSpPr/>
          <p:nvPr/>
        </p:nvSpPr>
        <p:spPr>
          <a:xfrm>
            <a:off x="628650" y="1485900"/>
            <a:ext cx="3657600" cy="157162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1571625"/>
          </a:xfrm>
          <a:prstGeom prst="rect">
            <a:avLst/>
          </a:prstGeom>
          <a:solidFill>
            <a:srgbClr val="63B3ED"/>
          </a:solidFill>
          <a:ln/>
        </p:spPr>
        <p:txBody>
          <a:bodyPr/>
          <a:lstStyle/>
          <a:p>
            <a:endParaRPr lang="en-US"/>
          </a:p>
        </p:txBody>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Key Concepts</a:t>
            </a:r>
            <a:endParaRPr lang="en-US" sz="1125" dirty="0"/>
          </a:p>
        </p:txBody>
      </p:sp>
      <p:pic>
        <p:nvPicPr>
          <p:cNvPr id="10" name="Image 1" descr="preencoded.png"/>
          <p:cNvPicPr>
            <a:picLocks noChangeAspect="1"/>
          </p:cNvPicPr>
          <p:nvPr/>
        </p:nvPicPr>
        <p:blipFill>
          <a:blip r:embed="rId4"/>
          <a:stretch>
            <a:fillRect/>
          </a:stretch>
        </p:blipFill>
        <p:spPr>
          <a:xfrm>
            <a:off x="742950" y="1857375"/>
            <a:ext cx="114300" cy="114300"/>
          </a:xfrm>
          <a:prstGeom prst="rect">
            <a:avLst/>
          </a:prstGeom>
        </p:spPr>
      </p:pic>
      <p:sp>
        <p:nvSpPr>
          <p:cNvPr id="11" name="Text 7"/>
          <p:cNvSpPr/>
          <p:nvPr/>
        </p:nvSpPr>
        <p:spPr>
          <a:xfrm>
            <a:off x="914400" y="182880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Logic building is the process of developing step-by-step solutions to programming problems</a:t>
            </a:r>
            <a:endParaRPr lang="en-US" sz="900" dirty="0"/>
          </a:p>
        </p:txBody>
      </p:sp>
      <p:pic>
        <p:nvPicPr>
          <p:cNvPr id="12" name="Image 2" descr="preencoded.png"/>
          <p:cNvPicPr>
            <a:picLocks noChangeAspect="1"/>
          </p:cNvPicPr>
          <p:nvPr/>
        </p:nvPicPr>
        <p:blipFill>
          <a:blip r:embed="rId4"/>
          <a:stretch>
            <a:fillRect/>
          </a:stretch>
        </p:blipFill>
        <p:spPr>
          <a:xfrm>
            <a:off x="742950" y="2257425"/>
            <a:ext cx="114300" cy="114300"/>
          </a:xfrm>
          <a:prstGeom prst="rect">
            <a:avLst/>
          </a:prstGeom>
        </p:spPr>
      </p:pic>
      <p:sp>
        <p:nvSpPr>
          <p:cNvPr id="13" name="Text 8"/>
          <p:cNvSpPr/>
          <p:nvPr/>
        </p:nvSpPr>
        <p:spPr>
          <a:xfrm>
            <a:off x="914400" y="222885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Effective logic building requires understanding the problem, breaking it down, and planning before coding</a:t>
            </a:r>
            <a:endParaRPr lang="en-US" sz="900" dirty="0"/>
          </a:p>
        </p:txBody>
      </p:sp>
      <p:pic>
        <p:nvPicPr>
          <p:cNvPr id="14" name="Image 3" descr="preencoded.png"/>
          <p:cNvPicPr>
            <a:picLocks noChangeAspect="1"/>
          </p:cNvPicPr>
          <p:nvPr/>
        </p:nvPicPr>
        <p:blipFill>
          <a:blip r:embed="rId4"/>
          <a:stretch>
            <a:fillRect/>
          </a:stretch>
        </p:blipFill>
        <p:spPr>
          <a:xfrm>
            <a:off x="742950" y="2657475"/>
            <a:ext cx="114300" cy="114300"/>
          </a:xfrm>
          <a:prstGeom prst="rect">
            <a:avLst/>
          </a:prstGeom>
        </p:spPr>
      </p:pic>
      <p:sp>
        <p:nvSpPr>
          <p:cNvPr id="15" name="Text 9"/>
          <p:cNvSpPr/>
          <p:nvPr/>
        </p:nvSpPr>
        <p:spPr>
          <a:xfrm>
            <a:off x="914400" y="262890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Techniques include flowcharts, pseudocode, stepwise refinement, and pattern recognition</a:t>
            </a:r>
            <a:endParaRPr lang="en-US" sz="900" dirty="0"/>
          </a:p>
        </p:txBody>
      </p:sp>
      <p:sp>
        <p:nvSpPr>
          <p:cNvPr id="16" name="Shape 10"/>
          <p:cNvSpPr/>
          <p:nvPr/>
        </p:nvSpPr>
        <p:spPr>
          <a:xfrm>
            <a:off x="628650" y="3171825"/>
            <a:ext cx="3657600" cy="628650"/>
          </a:xfrm>
          <a:prstGeom prst="rect">
            <a:avLst/>
          </a:prstGeom>
          <a:solidFill>
            <a:srgbClr val="63B3ED">
              <a:alpha val="20000"/>
            </a:srgbClr>
          </a:solidFill>
          <a:ln/>
        </p:spPr>
        <p:txBody>
          <a:bodyPr/>
          <a:lstStyle/>
          <a:p>
            <a:endParaRPr lang="en-US"/>
          </a:p>
        </p:txBody>
      </p:sp>
      <p:pic>
        <p:nvPicPr>
          <p:cNvPr id="17" name="Image 4" descr="preencoded.png"/>
          <p:cNvPicPr>
            <a:picLocks noChangeAspect="1"/>
          </p:cNvPicPr>
          <p:nvPr/>
        </p:nvPicPr>
        <p:blipFill>
          <a:blip r:embed="rId5"/>
          <a:stretch>
            <a:fillRect/>
          </a:stretch>
        </p:blipFill>
        <p:spPr>
          <a:xfrm>
            <a:off x="742950" y="3400425"/>
            <a:ext cx="128588" cy="171450"/>
          </a:xfrm>
          <a:prstGeom prst="rect">
            <a:avLst/>
          </a:prstGeom>
        </p:spPr>
      </p:pic>
      <p:sp>
        <p:nvSpPr>
          <p:cNvPr id="18" name="Text 11"/>
          <p:cNvSpPr/>
          <p:nvPr/>
        </p:nvSpPr>
        <p:spPr>
          <a:xfrm>
            <a:off x="957263" y="3286125"/>
            <a:ext cx="3286125"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Always understand the problem completely before attempting to solve it</a:t>
            </a:r>
            <a:endParaRPr lang="en-US" sz="1013" dirty="0"/>
          </a:p>
        </p:txBody>
      </p:sp>
      <p:sp>
        <p:nvSpPr>
          <p:cNvPr id="19" name="Shape 12"/>
          <p:cNvSpPr/>
          <p:nvPr/>
        </p:nvSpPr>
        <p:spPr>
          <a:xfrm>
            <a:off x="628650" y="3914775"/>
            <a:ext cx="3657600" cy="428625"/>
          </a:xfrm>
          <a:prstGeom prst="rect">
            <a:avLst/>
          </a:prstGeom>
          <a:solidFill>
            <a:srgbClr val="63B3ED">
              <a:alpha val="20000"/>
            </a:srgbClr>
          </a:solidFill>
          <a:ln/>
        </p:spPr>
        <p:txBody>
          <a:bodyPr/>
          <a:lstStyle/>
          <a:p>
            <a:endParaRPr lang="en-US"/>
          </a:p>
        </p:txBody>
      </p:sp>
      <p:pic>
        <p:nvPicPr>
          <p:cNvPr id="20" name="Image 5" descr="preencoded.png"/>
          <p:cNvPicPr>
            <a:picLocks noChangeAspect="1"/>
          </p:cNvPicPr>
          <p:nvPr/>
        </p:nvPicPr>
        <p:blipFill>
          <a:blip r:embed="rId5"/>
          <a:stretch>
            <a:fillRect/>
          </a:stretch>
        </p:blipFill>
        <p:spPr>
          <a:xfrm>
            <a:off x="742950" y="4043363"/>
            <a:ext cx="128588" cy="171450"/>
          </a:xfrm>
          <a:prstGeom prst="rect">
            <a:avLst/>
          </a:prstGeom>
        </p:spPr>
      </p:pic>
      <p:sp>
        <p:nvSpPr>
          <p:cNvPr id="21" name="Text 13"/>
          <p:cNvSpPr/>
          <p:nvPr/>
        </p:nvSpPr>
        <p:spPr>
          <a:xfrm>
            <a:off x="957263" y="4029075"/>
            <a:ext cx="3280432" cy="200025"/>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Start with simple solutions and incrementally refine them</a:t>
            </a:r>
            <a:endParaRPr lang="en-US" sz="1013" dirty="0"/>
          </a:p>
        </p:txBody>
      </p:sp>
      <p:sp>
        <p:nvSpPr>
          <p:cNvPr id="22" name="Shape 14"/>
          <p:cNvSpPr/>
          <p:nvPr/>
        </p:nvSpPr>
        <p:spPr>
          <a:xfrm>
            <a:off x="457200" y="4686300"/>
            <a:ext cx="4000500" cy="37576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3" name="Text 15"/>
          <p:cNvSpPr/>
          <p:nvPr/>
        </p:nvSpPr>
        <p:spPr>
          <a:xfrm>
            <a:off x="628650" y="485775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Dry Run Techniques</a:t>
            </a:r>
            <a:endParaRPr lang="en-US" sz="1350" dirty="0"/>
          </a:p>
        </p:txBody>
      </p:sp>
      <p:sp>
        <p:nvSpPr>
          <p:cNvPr id="24" name="Shape 16"/>
          <p:cNvSpPr/>
          <p:nvPr/>
        </p:nvSpPr>
        <p:spPr>
          <a:xfrm>
            <a:off x="628650" y="5200650"/>
            <a:ext cx="3657600" cy="1571625"/>
          </a:xfrm>
          <a:prstGeom prst="rect">
            <a:avLst/>
          </a:prstGeom>
          <a:solidFill>
            <a:srgbClr val="1E3A8A">
              <a:alpha val="30000"/>
            </a:srgbClr>
          </a:solidFill>
          <a:ln/>
        </p:spPr>
        <p:txBody>
          <a:bodyPr/>
          <a:lstStyle/>
          <a:p>
            <a:endParaRPr lang="en-US"/>
          </a:p>
        </p:txBody>
      </p:sp>
      <p:sp>
        <p:nvSpPr>
          <p:cNvPr id="25" name="Shape 17"/>
          <p:cNvSpPr/>
          <p:nvPr/>
        </p:nvSpPr>
        <p:spPr>
          <a:xfrm>
            <a:off x="628650" y="5200650"/>
            <a:ext cx="28575" cy="1571625"/>
          </a:xfrm>
          <a:prstGeom prst="rect">
            <a:avLst/>
          </a:prstGeom>
          <a:solidFill>
            <a:srgbClr val="63B3ED"/>
          </a:solidFill>
          <a:ln/>
        </p:spPr>
        <p:txBody>
          <a:bodyPr/>
          <a:lstStyle/>
          <a:p>
            <a:endParaRPr lang="en-US"/>
          </a:p>
        </p:txBody>
      </p:sp>
      <p:sp>
        <p:nvSpPr>
          <p:cNvPr id="26" name="Text 18"/>
          <p:cNvSpPr/>
          <p:nvPr/>
        </p:nvSpPr>
        <p:spPr>
          <a:xfrm>
            <a:off x="742950" y="52863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Key Concepts</a:t>
            </a:r>
            <a:endParaRPr lang="en-US" sz="1125" dirty="0"/>
          </a:p>
        </p:txBody>
      </p:sp>
      <p:pic>
        <p:nvPicPr>
          <p:cNvPr id="27" name="Image 6" descr="preencoded.png"/>
          <p:cNvPicPr>
            <a:picLocks noChangeAspect="1"/>
          </p:cNvPicPr>
          <p:nvPr/>
        </p:nvPicPr>
        <p:blipFill>
          <a:blip r:embed="rId4"/>
          <a:stretch>
            <a:fillRect/>
          </a:stretch>
        </p:blipFill>
        <p:spPr>
          <a:xfrm>
            <a:off x="742950" y="5572125"/>
            <a:ext cx="114300" cy="114300"/>
          </a:xfrm>
          <a:prstGeom prst="rect">
            <a:avLst/>
          </a:prstGeom>
        </p:spPr>
      </p:pic>
      <p:sp>
        <p:nvSpPr>
          <p:cNvPr id="28" name="Text 19"/>
          <p:cNvSpPr/>
          <p:nvPr/>
        </p:nvSpPr>
        <p:spPr>
          <a:xfrm>
            <a:off x="914400" y="554355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Dry run is a manual tracing of code execution to understand program flow and identify errors</a:t>
            </a:r>
            <a:endParaRPr lang="en-US" sz="900" dirty="0"/>
          </a:p>
        </p:txBody>
      </p:sp>
      <p:pic>
        <p:nvPicPr>
          <p:cNvPr id="29" name="Image 7" descr="preencoded.png"/>
          <p:cNvPicPr>
            <a:picLocks noChangeAspect="1"/>
          </p:cNvPicPr>
          <p:nvPr/>
        </p:nvPicPr>
        <p:blipFill>
          <a:blip r:embed="rId4"/>
          <a:stretch>
            <a:fillRect/>
          </a:stretch>
        </p:blipFill>
        <p:spPr>
          <a:xfrm>
            <a:off x="742950" y="5972175"/>
            <a:ext cx="114300" cy="114300"/>
          </a:xfrm>
          <a:prstGeom prst="rect">
            <a:avLst/>
          </a:prstGeom>
        </p:spPr>
      </p:pic>
      <p:sp>
        <p:nvSpPr>
          <p:cNvPr id="30" name="Text 20"/>
          <p:cNvSpPr/>
          <p:nvPr/>
        </p:nvSpPr>
        <p:spPr>
          <a:xfrm>
            <a:off x="914400" y="594360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Essential for debugging, understanding algorithms, and preparing for technical interviews</a:t>
            </a:r>
            <a:endParaRPr lang="en-US" sz="900" dirty="0"/>
          </a:p>
        </p:txBody>
      </p:sp>
      <p:pic>
        <p:nvPicPr>
          <p:cNvPr id="31" name="Image 8" descr="preencoded.png"/>
          <p:cNvPicPr>
            <a:picLocks noChangeAspect="1"/>
          </p:cNvPicPr>
          <p:nvPr/>
        </p:nvPicPr>
        <p:blipFill>
          <a:blip r:embed="rId4"/>
          <a:stretch>
            <a:fillRect/>
          </a:stretch>
        </p:blipFill>
        <p:spPr>
          <a:xfrm>
            <a:off x="742950" y="6372225"/>
            <a:ext cx="114300" cy="114300"/>
          </a:xfrm>
          <a:prstGeom prst="rect">
            <a:avLst/>
          </a:prstGeom>
        </p:spPr>
      </p:pic>
      <p:sp>
        <p:nvSpPr>
          <p:cNvPr id="32" name="Text 21"/>
          <p:cNvSpPr/>
          <p:nvPr/>
        </p:nvSpPr>
        <p:spPr>
          <a:xfrm>
            <a:off x="914400" y="634365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Involves tracking variables, following control flow, and documenting state changes</a:t>
            </a:r>
            <a:endParaRPr lang="en-US" sz="900" dirty="0"/>
          </a:p>
        </p:txBody>
      </p:sp>
      <p:sp>
        <p:nvSpPr>
          <p:cNvPr id="33" name="Shape 22"/>
          <p:cNvSpPr/>
          <p:nvPr/>
        </p:nvSpPr>
        <p:spPr>
          <a:xfrm>
            <a:off x="628650" y="6886575"/>
            <a:ext cx="3657600" cy="628650"/>
          </a:xfrm>
          <a:prstGeom prst="rect">
            <a:avLst/>
          </a:prstGeom>
          <a:solidFill>
            <a:srgbClr val="63B3ED">
              <a:alpha val="20000"/>
            </a:srgbClr>
          </a:solidFill>
          <a:ln/>
        </p:spPr>
        <p:txBody>
          <a:bodyPr/>
          <a:lstStyle/>
          <a:p>
            <a:endParaRPr lang="en-US"/>
          </a:p>
        </p:txBody>
      </p:sp>
      <p:pic>
        <p:nvPicPr>
          <p:cNvPr id="34" name="Image 9" descr="preencoded.png"/>
          <p:cNvPicPr>
            <a:picLocks noChangeAspect="1"/>
          </p:cNvPicPr>
          <p:nvPr/>
        </p:nvPicPr>
        <p:blipFill>
          <a:blip r:embed="rId5"/>
          <a:stretch>
            <a:fillRect/>
          </a:stretch>
        </p:blipFill>
        <p:spPr>
          <a:xfrm>
            <a:off x="742950" y="7115175"/>
            <a:ext cx="128588" cy="171450"/>
          </a:xfrm>
          <a:prstGeom prst="rect">
            <a:avLst/>
          </a:prstGeom>
        </p:spPr>
      </p:pic>
      <p:sp>
        <p:nvSpPr>
          <p:cNvPr id="35" name="Text 23"/>
          <p:cNvSpPr/>
          <p:nvPr/>
        </p:nvSpPr>
        <p:spPr>
          <a:xfrm>
            <a:off x="957263" y="7000875"/>
            <a:ext cx="3286125"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Create tables to systematically track variable values during execution</a:t>
            </a:r>
            <a:endParaRPr lang="en-US" sz="1013" dirty="0"/>
          </a:p>
        </p:txBody>
      </p:sp>
      <p:sp>
        <p:nvSpPr>
          <p:cNvPr id="36" name="Shape 24"/>
          <p:cNvSpPr/>
          <p:nvPr/>
        </p:nvSpPr>
        <p:spPr>
          <a:xfrm>
            <a:off x="628650" y="7629525"/>
            <a:ext cx="3657600" cy="628650"/>
          </a:xfrm>
          <a:prstGeom prst="rect">
            <a:avLst/>
          </a:prstGeom>
          <a:solidFill>
            <a:srgbClr val="63B3ED">
              <a:alpha val="20000"/>
            </a:srgbClr>
          </a:solidFill>
          <a:ln/>
        </p:spPr>
        <p:txBody>
          <a:bodyPr/>
          <a:lstStyle/>
          <a:p>
            <a:endParaRPr lang="en-US"/>
          </a:p>
        </p:txBody>
      </p:sp>
      <p:pic>
        <p:nvPicPr>
          <p:cNvPr id="37" name="Image 10" descr="preencoded.png"/>
          <p:cNvPicPr>
            <a:picLocks noChangeAspect="1"/>
          </p:cNvPicPr>
          <p:nvPr/>
        </p:nvPicPr>
        <p:blipFill>
          <a:blip r:embed="rId5"/>
          <a:stretch>
            <a:fillRect/>
          </a:stretch>
        </p:blipFill>
        <p:spPr>
          <a:xfrm>
            <a:off x="742950" y="7858125"/>
            <a:ext cx="128588" cy="171450"/>
          </a:xfrm>
          <a:prstGeom prst="rect">
            <a:avLst/>
          </a:prstGeom>
        </p:spPr>
      </p:pic>
      <p:sp>
        <p:nvSpPr>
          <p:cNvPr id="38" name="Text 25"/>
          <p:cNvSpPr/>
          <p:nvPr/>
        </p:nvSpPr>
        <p:spPr>
          <a:xfrm>
            <a:off x="957263" y="7743825"/>
            <a:ext cx="3286125"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Test with normal, boundary, and edge cases to ensure comprehensive understanding</a:t>
            </a:r>
            <a:endParaRPr lang="en-US" sz="1013" dirty="0"/>
          </a:p>
        </p:txBody>
      </p:sp>
      <p:sp>
        <p:nvSpPr>
          <p:cNvPr id="39" name="Shape 26"/>
          <p:cNvSpPr/>
          <p:nvPr/>
        </p:nvSpPr>
        <p:spPr>
          <a:xfrm>
            <a:off x="4686300" y="971550"/>
            <a:ext cx="4000500" cy="375761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40" name="Text 27"/>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Flagged While Loops</a:t>
            </a:r>
            <a:endParaRPr lang="en-US" sz="1350" dirty="0"/>
          </a:p>
        </p:txBody>
      </p:sp>
      <p:sp>
        <p:nvSpPr>
          <p:cNvPr id="41" name="Shape 28"/>
          <p:cNvSpPr/>
          <p:nvPr/>
        </p:nvSpPr>
        <p:spPr>
          <a:xfrm>
            <a:off x="4857750" y="1485900"/>
            <a:ext cx="3657600" cy="1571625"/>
          </a:xfrm>
          <a:prstGeom prst="rect">
            <a:avLst/>
          </a:prstGeom>
          <a:solidFill>
            <a:srgbClr val="1E3A8A">
              <a:alpha val="30000"/>
            </a:srgbClr>
          </a:solidFill>
          <a:ln/>
        </p:spPr>
        <p:txBody>
          <a:bodyPr/>
          <a:lstStyle/>
          <a:p>
            <a:endParaRPr lang="en-US"/>
          </a:p>
        </p:txBody>
      </p:sp>
      <p:sp>
        <p:nvSpPr>
          <p:cNvPr id="42" name="Shape 29"/>
          <p:cNvSpPr/>
          <p:nvPr/>
        </p:nvSpPr>
        <p:spPr>
          <a:xfrm>
            <a:off x="4857750" y="1485900"/>
            <a:ext cx="28575" cy="1571625"/>
          </a:xfrm>
          <a:prstGeom prst="rect">
            <a:avLst/>
          </a:prstGeom>
          <a:solidFill>
            <a:srgbClr val="63B3ED"/>
          </a:solidFill>
          <a:ln/>
        </p:spPr>
        <p:txBody>
          <a:bodyPr/>
          <a:lstStyle/>
          <a:p>
            <a:endParaRPr lang="en-US"/>
          </a:p>
        </p:txBody>
      </p:sp>
      <p:sp>
        <p:nvSpPr>
          <p:cNvPr id="43" name="Text 30"/>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Key Concepts</a:t>
            </a:r>
            <a:endParaRPr lang="en-US" sz="1125" dirty="0"/>
          </a:p>
        </p:txBody>
      </p:sp>
      <p:pic>
        <p:nvPicPr>
          <p:cNvPr id="44" name="Image 11" descr="preencoded.png"/>
          <p:cNvPicPr>
            <a:picLocks noChangeAspect="1"/>
          </p:cNvPicPr>
          <p:nvPr/>
        </p:nvPicPr>
        <p:blipFill>
          <a:blip r:embed="rId4"/>
          <a:stretch>
            <a:fillRect/>
          </a:stretch>
        </p:blipFill>
        <p:spPr>
          <a:xfrm>
            <a:off x="4972050" y="1857375"/>
            <a:ext cx="114300" cy="114300"/>
          </a:xfrm>
          <a:prstGeom prst="rect">
            <a:avLst/>
          </a:prstGeom>
        </p:spPr>
      </p:pic>
      <p:sp>
        <p:nvSpPr>
          <p:cNvPr id="45" name="Text 31"/>
          <p:cNvSpPr/>
          <p:nvPr/>
        </p:nvSpPr>
        <p:spPr>
          <a:xfrm>
            <a:off x="5143500" y="182880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Flagged while loops use boolean variables to control loop execution based on specific conditions</a:t>
            </a:r>
            <a:endParaRPr lang="en-US" sz="900" dirty="0"/>
          </a:p>
        </p:txBody>
      </p:sp>
      <p:pic>
        <p:nvPicPr>
          <p:cNvPr id="46" name="Image 12" descr="preencoded.png"/>
          <p:cNvPicPr>
            <a:picLocks noChangeAspect="1"/>
          </p:cNvPicPr>
          <p:nvPr/>
        </p:nvPicPr>
        <p:blipFill>
          <a:blip r:embed="rId4"/>
          <a:stretch>
            <a:fillRect/>
          </a:stretch>
        </p:blipFill>
        <p:spPr>
          <a:xfrm>
            <a:off x="4972050" y="2257425"/>
            <a:ext cx="114300" cy="114300"/>
          </a:xfrm>
          <a:prstGeom prst="rect">
            <a:avLst/>
          </a:prstGeom>
        </p:spPr>
      </p:pic>
      <p:sp>
        <p:nvSpPr>
          <p:cNvPr id="47" name="Text 32"/>
          <p:cNvSpPr/>
          <p:nvPr/>
        </p:nvSpPr>
        <p:spPr>
          <a:xfrm>
            <a:off x="5143500" y="222885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Essential components include flag initialization, loop condition using the flag, and flag modification</a:t>
            </a:r>
            <a:endParaRPr lang="en-US" sz="900" dirty="0"/>
          </a:p>
        </p:txBody>
      </p:sp>
      <p:pic>
        <p:nvPicPr>
          <p:cNvPr id="48" name="Image 13" descr="preencoded.png"/>
          <p:cNvPicPr>
            <a:picLocks noChangeAspect="1"/>
          </p:cNvPicPr>
          <p:nvPr/>
        </p:nvPicPr>
        <p:blipFill>
          <a:blip r:embed="rId4"/>
          <a:stretch>
            <a:fillRect/>
          </a:stretch>
        </p:blipFill>
        <p:spPr>
          <a:xfrm>
            <a:off x="4972050" y="2657475"/>
            <a:ext cx="114300" cy="114300"/>
          </a:xfrm>
          <a:prstGeom prst="rect">
            <a:avLst/>
          </a:prstGeom>
        </p:spPr>
      </p:pic>
      <p:sp>
        <p:nvSpPr>
          <p:cNvPr id="49" name="Text 33"/>
          <p:cNvSpPr/>
          <p:nvPr/>
        </p:nvSpPr>
        <p:spPr>
          <a:xfrm>
            <a:off x="5143500" y="2628900"/>
            <a:ext cx="344328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Common patterns: search operations, input validation, menu-driven programs, and complex termination logic</a:t>
            </a:r>
            <a:endParaRPr lang="en-US" sz="900" dirty="0"/>
          </a:p>
        </p:txBody>
      </p:sp>
      <p:sp>
        <p:nvSpPr>
          <p:cNvPr id="50" name="Shape 34"/>
          <p:cNvSpPr/>
          <p:nvPr/>
        </p:nvSpPr>
        <p:spPr>
          <a:xfrm>
            <a:off x="4857750" y="3171825"/>
            <a:ext cx="3657600" cy="628650"/>
          </a:xfrm>
          <a:prstGeom prst="rect">
            <a:avLst/>
          </a:prstGeom>
          <a:solidFill>
            <a:srgbClr val="63B3ED">
              <a:alpha val="20000"/>
            </a:srgbClr>
          </a:solidFill>
          <a:ln/>
        </p:spPr>
        <p:txBody>
          <a:bodyPr/>
          <a:lstStyle/>
          <a:p>
            <a:endParaRPr lang="en-US"/>
          </a:p>
        </p:txBody>
      </p:sp>
      <p:pic>
        <p:nvPicPr>
          <p:cNvPr id="51" name="Image 14" descr="preencoded.png"/>
          <p:cNvPicPr>
            <a:picLocks noChangeAspect="1"/>
          </p:cNvPicPr>
          <p:nvPr/>
        </p:nvPicPr>
        <p:blipFill>
          <a:blip r:embed="rId5"/>
          <a:stretch>
            <a:fillRect/>
          </a:stretch>
        </p:blipFill>
        <p:spPr>
          <a:xfrm>
            <a:off x="4972050" y="3400425"/>
            <a:ext cx="128588" cy="171450"/>
          </a:xfrm>
          <a:prstGeom prst="rect">
            <a:avLst/>
          </a:prstGeom>
        </p:spPr>
      </p:pic>
      <p:sp>
        <p:nvSpPr>
          <p:cNvPr id="52" name="Text 35"/>
          <p:cNvSpPr/>
          <p:nvPr/>
        </p:nvSpPr>
        <p:spPr>
          <a:xfrm>
            <a:off x="5186363" y="3286125"/>
            <a:ext cx="3286125"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Use meaningful flag names and ensure there's always a path to modify the flag</a:t>
            </a:r>
            <a:endParaRPr lang="en-US" sz="1013" dirty="0"/>
          </a:p>
        </p:txBody>
      </p:sp>
      <p:sp>
        <p:nvSpPr>
          <p:cNvPr id="53" name="Shape 36"/>
          <p:cNvSpPr/>
          <p:nvPr/>
        </p:nvSpPr>
        <p:spPr>
          <a:xfrm>
            <a:off x="4857750" y="3914775"/>
            <a:ext cx="3657600" cy="628650"/>
          </a:xfrm>
          <a:prstGeom prst="rect">
            <a:avLst/>
          </a:prstGeom>
          <a:solidFill>
            <a:srgbClr val="63B3ED">
              <a:alpha val="20000"/>
            </a:srgbClr>
          </a:solidFill>
          <a:ln/>
        </p:spPr>
        <p:txBody>
          <a:bodyPr/>
          <a:lstStyle/>
          <a:p>
            <a:endParaRPr lang="en-US"/>
          </a:p>
        </p:txBody>
      </p:sp>
      <p:pic>
        <p:nvPicPr>
          <p:cNvPr id="54" name="Image 15" descr="preencoded.png"/>
          <p:cNvPicPr>
            <a:picLocks noChangeAspect="1"/>
          </p:cNvPicPr>
          <p:nvPr/>
        </p:nvPicPr>
        <p:blipFill>
          <a:blip r:embed="rId5"/>
          <a:stretch>
            <a:fillRect/>
          </a:stretch>
        </p:blipFill>
        <p:spPr>
          <a:xfrm>
            <a:off x="4972050" y="4143375"/>
            <a:ext cx="128588" cy="171450"/>
          </a:xfrm>
          <a:prstGeom prst="rect">
            <a:avLst/>
          </a:prstGeom>
        </p:spPr>
      </p:pic>
      <p:sp>
        <p:nvSpPr>
          <p:cNvPr id="55" name="Text 37"/>
          <p:cNvSpPr/>
          <p:nvPr/>
        </p:nvSpPr>
        <p:spPr>
          <a:xfrm>
            <a:off x="5186363" y="4029075"/>
            <a:ext cx="3286125" cy="400050"/>
          </a:xfrm>
          <a:prstGeom prst="rect">
            <a:avLst/>
          </a:prstGeom>
          <a:noFill/>
          <a:ln/>
        </p:spPr>
        <p:txBody>
          <a:bodyPr wrap="square" lIns="0" tIns="0" rIns="0" bIns="0" rtlCol="0" anchor="ctr">
            <a:spAutoFit/>
          </a:bodyPr>
          <a:lstStyle/>
          <a:p>
            <a:pPr marL="0" indent="0">
              <a:buNone/>
            </a:pPr>
            <a:r>
              <a:rPr lang="en-US" sz="1013" dirty="0">
                <a:solidFill>
                  <a:srgbClr val="E2E8F0"/>
                </a:solidFill>
                <a:latin typeface="Segoe UI" pitchFamily="34" charset="0"/>
                <a:ea typeface="Segoe UI" pitchFamily="34" charset="-122"/>
                <a:cs typeface="Segoe UI" pitchFamily="34" charset="-120"/>
              </a:rPr>
              <a:t>Choose the appropriate loop structure based on the specific problem requirements</a:t>
            </a:r>
            <a:endParaRPr lang="en-US" sz="1013" dirty="0"/>
          </a:p>
        </p:txBody>
      </p:sp>
      <p:sp>
        <p:nvSpPr>
          <p:cNvPr id="56" name="Shape 38"/>
          <p:cNvSpPr/>
          <p:nvPr/>
        </p:nvSpPr>
        <p:spPr>
          <a:xfrm>
            <a:off x="4686300" y="4886325"/>
            <a:ext cx="4000500" cy="4457700"/>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57" name="Text 39"/>
          <p:cNvSpPr/>
          <p:nvPr/>
        </p:nvSpPr>
        <p:spPr>
          <a:xfrm>
            <a:off x="4857750" y="5057775"/>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Integrated Approach</a:t>
            </a:r>
            <a:endParaRPr lang="en-US" sz="1350" dirty="0"/>
          </a:p>
        </p:txBody>
      </p:sp>
      <p:sp>
        <p:nvSpPr>
          <p:cNvPr id="58" name="Shape 40"/>
          <p:cNvSpPr/>
          <p:nvPr/>
        </p:nvSpPr>
        <p:spPr>
          <a:xfrm>
            <a:off x="4857750" y="5400675"/>
            <a:ext cx="3657600" cy="2085975"/>
          </a:xfrm>
          <a:prstGeom prst="rect">
            <a:avLst/>
          </a:prstGeom>
          <a:solidFill>
            <a:srgbClr val="1E3A8A">
              <a:alpha val="30000"/>
            </a:srgbClr>
          </a:solidFill>
          <a:ln/>
        </p:spPr>
        <p:txBody>
          <a:bodyPr/>
          <a:lstStyle/>
          <a:p>
            <a:endParaRPr lang="en-US"/>
          </a:p>
        </p:txBody>
      </p:sp>
      <p:sp>
        <p:nvSpPr>
          <p:cNvPr id="59" name="Shape 41"/>
          <p:cNvSpPr/>
          <p:nvPr/>
        </p:nvSpPr>
        <p:spPr>
          <a:xfrm>
            <a:off x="4857750" y="5400675"/>
            <a:ext cx="28575" cy="2085975"/>
          </a:xfrm>
          <a:prstGeom prst="rect">
            <a:avLst/>
          </a:prstGeom>
          <a:solidFill>
            <a:srgbClr val="63B3ED"/>
          </a:solidFill>
          <a:ln/>
        </p:spPr>
        <p:txBody>
          <a:bodyPr/>
          <a:lstStyle/>
          <a:p>
            <a:endParaRPr lang="en-US"/>
          </a:p>
        </p:txBody>
      </p:sp>
      <p:sp>
        <p:nvSpPr>
          <p:cNvPr id="60" name="Text 42"/>
          <p:cNvSpPr/>
          <p:nvPr/>
        </p:nvSpPr>
        <p:spPr>
          <a:xfrm>
            <a:off x="4972050" y="5486400"/>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Combining All Three Skills</a:t>
            </a:r>
            <a:endParaRPr lang="en-US" sz="1125" dirty="0"/>
          </a:p>
        </p:txBody>
      </p:sp>
      <p:sp>
        <p:nvSpPr>
          <p:cNvPr id="61" name="Text 43"/>
          <p:cNvSpPr/>
          <p:nvPr/>
        </p:nvSpPr>
        <p:spPr>
          <a:xfrm>
            <a:off x="4972050" y="5743575"/>
            <a:ext cx="3614738" cy="342900"/>
          </a:xfrm>
          <a:prstGeom prst="rect">
            <a:avLst/>
          </a:prstGeom>
          <a:noFill/>
          <a:ln/>
        </p:spPr>
        <p:txBody>
          <a:bodyPr wrap="square" lIns="0" tIns="0" rIns="0" bIns="0" rtlCol="0" anchor="ctr">
            <a:spAutoFit/>
          </a:bodyPr>
          <a:lstStyle/>
          <a:p>
            <a:pPr marL="0" indent="0">
              <a:buNone/>
            </a:pPr>
            <a:r>
              <a:rPr lang="en-US" sz="900" dirty="0">
                <a:solidFill>
                  <a:srgbClr val="E2E8F0"/>
                </a:solidFill>
                <a:latin typeface="Segoe UI" pitchFamily="34" charset="0"/>
                <a:ea typeface="Segoe UI" pitchFamily="34" charset="-122"/>
                <a:cs typeface="Segoe UI" pitchFamily="34" charset="-120"/>
              </a:rPr>
              <a:t>The most effective programmers integrate logic building, dry run techniques, and appropriate control structures:</a:t>
            </a:r>
            <a:endParaRPr lang="en-US" sz="900" dirty="0"/>
          </a:p>
        </p:txBody>
      </p:sp>
      <p:sp>
        <p:nvSpPr>
          <p:cNvPr id="62" name="Text 44"/>
          <p:cNvSpPr/>
          <p:nvPr/>
        </p:nvSpPr>
        <p:spPr>
          <a:xfrm>
            <a:off x="5086350" y="6200775"/>
            <a:ext cx="350043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Build logic by understanding the problem and planning the solution</a:t>
            </a:r>
            <a:endParaRPr lang="en-US" sz="900" dirty="0"/>
          </a:p>
        </p:txBody>
      </p:sp>
      <p:sp>
        <p:nvSpPr>
          <p:cNvPr id="63" name="Text 45"/>
          <p:cNvSpPr/>
          <p:nvPr/>
        </p:nvSpPr>
        <p:spPr>
          <a:xfrm>
            <a:off x="5086350" y="6600825"/>
            <a:ext cx="3500438" cy="34290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Implement the solution using appropriate control structures like flagged while loops</a:t>
            </a:r>
            <a:endParaRPr lang="en-US" sz="900" dirty="0"/>
          </a:p>
        </p:txBody>
      </p:sp>
      <p:sp>
        <p:nvSpPr>
          <p:cNvPr id="64" name="Text 46"/>
          <p:cNvSpPr/>
          <p:nvPr/>
        </p:nvSpPr>
        <p:spPr>
          <a:xfrm>
            <a:off x="5086350" y="7000875"/>
            <a:ext cx="350043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Verify correctness through systematic dry runs</a:t>
            </a:r>
            <a:endParaRPr lang="en-US" sz="900" dirty="0"/>
          </a:p>
        </p:txBody>
      </p:sp>
      <p:sp>
        <p:nvSpPr>
          <p:cNvPr id="65" name="Text 47"/>
          <p:cNvSpPr/>
          <p:nvPr/>
        </p:nvSpPr>
        <p:spPr>
          <a:xfrm>
            <a:off x="5086350" y="7229475"/>
            <a:ext cx="350043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Refine and optimize based on insights gained</a:t>
            </a:r>
            <a:endParaRPr lang="en-US" sz="900" dirty="0"/>
          </a:p>
        </p:txBody>
      </p:sp>
      <p:sp>
        <p:nvSpPr>
          <p:cNvPr id="66" name="Shape 48"/>
          <p:cNvSpPr/>
          <p:nvPr/>
        </p:nvSpPr>
        <p:spPr>
          <a:xfrm>
            <a:off x="4857750" y="7600950"/>
            <a:ext cx="3657600" cy="1557338"/>
          </a:xfrm>
          <a:prstGeom prst="rect">
            <a:avLst/>
          </a:prstGeom>
          <a:solidFill>
            <a:srgbClr val="1E3A8A">
              <a:alpha val="30000"/>
            </a:srgbClr>
          </a:solidFill>
          <a:ln/>
        </p:spPr>
        <p:txBody>
          <a:bodyPr/>
          <a:lstStyle/>
          <a:p>
            <a:endParaRPr lang="en-US"/>
          </a:p>
        </p:txBody>
      </p:sp>
      <p:sp>
        <p:nvSpPr>
          <p:cNvPr id="67" name="Text 49"/>
          <p:cNvSpPr/>
          <p:nvPr/>
        </p:nvSpPr>
        <p:spPr>
          <a:xfrm>
            <a:off x="4972050" y="7715250"/>
            <a:ext cx="3500438" cy="200025"/>
          </a:xfrm>
          <a:prstGeom prst="rect">
            <a:avLst/>
          </a:prstGeom>
          <a:noFill/>
          <a:ln/>
        </p:spPr>
        <p:txBody>
          <a:bodyPr wrap="squar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Continuous Improvement Cycle</a:t>
            </a:r>
            <a:endParaRPr lang="en-US" sz="1125" dirty="0"/>
          </a:p>
        </p:txBody>
      </p:sp>
      <p:pic>
        <p:nvPicPr>
          <p:cNvPr id="68" name="Image 16" descr="preencoded.png"/>
          <p:cNvPicPr>
            <a:picLocks noChangeAspect="1"/>
          </p:cNvPicPr>
          <p:nvPr/>
        </p:nvPicPr>
        <p:blipFill>
          <a:blip r:embed="rId6"/>
          <a:stretch>
            <a:fillRect/>
          </a:stretch>
        </p:blipFill>
        <p:spPr>
          <a:xfrm>
            <a:off x="5614988" y="7972425"/>
            <a:ext cx="2143125" cy="1071563"/>
          </a:xfrm>
          <a:prstGeom prst="rect">
            <a:avLst/>
          </a:prstGeom>
        </p:spPr>
      </p:pic>
      <p:sp>
        <p:nvSpPr>
          <p:cNvPr id="69" name="Text 50"/>
          <p:cNvSpPr/>
          <p:nvPr/>
        </p:nvSpPr>
        <p:spPr>
          <a:xfrm>
            <a:off x="6600755" y="8076009"/>
            <a:ext cx="243027"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Plan</a:t>
            </a:r>
            <a:endParaRPr lang="en-US" sz="675" dirty="0"/>
          </a:p>
        </p:txBody>
      </p:sp>
      <p:sp>
        <p:nvSpPr>
          <p:cNvPr id="70" name="Text 51"/>
          <p:cNvSpPr/>
          <p:nvPr/>
        </p:nvSpPr>
        <p:spPr>
          <a:xfrm>
            <a:off x="7236535" y="8451056"/>
            <a:ext cx="471655"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Implement</a:t>
            </a:r>
            <a:endParaRPr lang="en-US" sz="675" dirty="0"/>
          </a:p>
        </p:txBody>
      </p:sp>
      <p:sp>
        <p:nvSpPr>
          <p:cNvPr id="71" name="Text 52"/>
          <p:cNvSpPr/>
          <p:nvPr/>
        </p:nvSpPr>
        <p:spPr>
          <a:xfrm>
            <a:off x="6607941" y="8826103"/>
            <a:ext cx="22865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Test</a:t>
            </a:r>
            <a:endParaRPr lang="en-US" sz="675" dirty="0"/>
          </a:p>
        </p:txBody>
      </p:sp>
      <p:sp>
        <p:nvSpPr>
          <p:cNvPr id="72" name="Text 53"/>
          <p:cNvSpPr/>
          <p:nvPr/>
        </p:nvSpPr>
        <p:spPr>
          <a:xfrm>
            <a:off x="5812557" y="8451056"/>
            <a:ext cx="319236" cy="114300"/>
          </a:xfrm>
          <a:prstGeom prst="rect">
            <a:avLst/>
          </a:prstGeom>
          <a:noFill/>
          <a:ln/>
        </p:spPr>
        <p:txBody>
          <a:bodyPr wrap="none" lIns="0" tIns="0" rIns="0" bIns="0" rtlCol="0" anchor="ctr">
            <a:spAutoFit/>
          </a:bodyPr>
          <a:lstStyle/>
          <a:p>
            <a:pPr marL="0" indent="0" algn="ctr">
              <a:buNone/>
            </a:pPr>
            <a:r>
              <a:rPr lang="en-US" sz="675" dirty="0">
                <a:solidFill>
                  <a:srgbClr val="E2E8F0"/>
                </a:solidFill>
                <a:latin typeface="Segoe UI" pitchFamily="34" charset="0"/>
                <a:ea typeface="Segoe UI" pitchFamily="34" charset="-122"/>
                <a:cs typeface="Segoe UI" pitchFamily="34" charset="-120"/>
              </a:rPr>
              <a:t>Refine</a:t>
            </a:r>
            <a:endParaRPr lang="en-US" sz="675" dirty="0"/>
          </a:p>
        </p:txBody>
      </p:sp>
      <p:sp>
        <p:nvSpPr>
          <p:cNvPr id="73" name="Shape 54"/>
          <p:cNvSpPr/>
          <p:nvPr/>
        </p:nvSpPr>
        <p:spPr>
          <a:xfrm>
            <a:off x="457200" y="9558338"/>
            <a:ext cx="8229600" cy="31575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74" name="Text 55"/>
          <p:cNvSpPr/>
          <p:nvPr/>
        </p:nvSpPr>
        <p:spPr>
          <a:xfrm>
            <a:off x="628650" y="9729788"/>
            <a:ext cx="79581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Final Thoughts</a:t>
            </a:r>
            <a:endParaRPr lang="en-US" sz="1350" dirty="0"/>
          </a:p>
        </p:txBody>
      </p:sp>
      <p:sp>
        <p:nvSpPr>
          <p:cNvPr id="75" name="Shape 56"/>
          <p:cNvSpPr/>
          <p:nvPr/>
        </p:nvSpPr>
        <p:spPr>
          <a:xfrm>
            <a:off x="628650" y="10072688"/>
            <a:ext cx="2514600" cy="1085850"/>
          </a:xfrm>
          <a:prstGeom prst="rect">
            <a:avLst/>
          </a:prstGeom>
          <a:solidFill>
            <a:srgbClr val="1E3A8A">
              <a:alpha val="30000"/>
            </a:srgbClr>
          </a:solidFill>
          <a:ln/>
        </p:spPr>
        <p:txBody>
          <a:bodyPr/>
          <a:lstStyle/>
          <a:p>
            <a:endParaRPr lang="en-US"/>
          </a:p>
        </p:txBody>
      </p:sp>
      <p:pic>
        <p:nvPicPr>
          <p:cNvPr id="76" name="Image 17" descr="preencoded.png"/>
          <p:cNvPicPr>
            <a:picLocks noChangeAspect="1"/>
          </p:cNvPicPr>
          <p:nvPr/>
        </p:nvPicPr>
        <p:blipFill>
          <a:blip r:embed="rId7"/>
          <a:stretch>
            <a:fillRect/>
          </a:stretch>
        </p:blipFill>
        <p:spPr>
          <a:xfrm>
            <a:off x="742950" y="10201275"/>
            <a:ext cx="171450" cy="171450"/>
          </a:xfrm>
          <a:prstGeom prst="rect">
            <a:avLst/>
          </a:prstGeom>
        </p:spPr>
      </p:pic>
      <p:sp>
        <p:nvSpPr>
          <p:cNvPr id="77" name="Text 57"/>
          <p:cNvSpPr/>
          <p:nvPr/>
        </p:nvSpPr>
        <p:spPr>
          <a:xfrm>
            <a:off x="1000125" y="10186988"/>
            <a:ext cx="1627380"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Think First, Code Later</a:t>
            </a:r>
            <a:endParaRPr lang="en-US" sz="1125" dirty="0"/>
          </a:p>
        </p:txBody>
      </p:sp>
      <p:sp>
        <p:nvSpPr>
          <p:cNvPr id="78" name="Text 58"/>
          <p:cNvSpPr/>
          <p:nvPr/>
        </p:nvSpPr>
        <p:spPr>
          <a:xfrm>
            <a:off x="742950" y="10472738"/>
            <a:ext cx="23574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Invest time in understanding problems and planning solutions before writing code. This approach leads to cleaner, more efficient, and more maintainable solutions.</a:t>
            </a:r>
            <a:endParaRPr lang="en-US" sz="788" dirty="0"/>
          </a:p>
        </p:txBody>
      </p:sp>
      <p:sp>
        <p:nvSpPr>
          <p:cNvPr id="79" name="Shape 59"/>
          <p:cNvSpPr/>
          <p:nvPr/>
        </p:nvSpPr>
        <p:spPr>
          <a:xfrm>
            <a:off x="3314700" y="10072688"/>
            <a:ext cx="2514600" cy="1085850"/>
          </a:xfrm>
          <a:prstGeom prst="rect">
            <a:avLst/>
          </a:prstGeom>
          <a:solidFill>
            <a:srgbClr val="1E3A8A">
              <a:alpha val="30000"/>
            </a:srgbClr>
          </a:solidFill>
          <a:ln/>
        </p:spPr>
        <p:txBody>
          <a:bodyPr/>
          <a:lstStyle/>
          <a:p>
            <a:endParaRPr lang="en-US"/>
          </a:p>
        </p:txBody>
      </p:sp>
      <p:pic>
        <p:nvPicPr>
          <p:cNvPr id="80" name="Image 18" descr="preencoded.png"/>
          <p:cNvPicPr>
            <a:picLocks noChangeAspect="1"/>
          </p:cNvPicPr>
          <p:nvPr/>
        </p:nvPicPr>
        <p:blipFill>
          <a:blip r:embed="rId8"/>
          <a:stretch>
            <a:fillRect/>
          </a:stretch>
        </p:blipFill>
        <p:spPr>
          <a:xfrm>
            <a:off x="3429000" y="10201275"/>
            <a:ext cx="171450" cy="171450"/>
          </a:xfrm>
          <a:prstGeom prst="rect">
            <a:avLst/>
          </a:prstGeom>
        </p:spPr>
      </p:pic>
      <p:sp>
        <p:nvSpPr>
          <p:cNvPr id="81" name="Text 60"/>
          <p:cNvSpPr/>
          <p:nvPr/>
        </p:nvSpPr>
        <p:spPr>
          <a:xfrm>
            <a:off x="3686175" y="10186988"/>
            <a:ext cx="1584685"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Choose the Right Tool</a:t>
            </a:r>
            <a:endParaRPr lang="en-US" sz="1125" dirty="0"/>
          </a:p>
        </p:txBody>
      </p:sp>
      <p:sp>
        <p:nvSpPr>
          <p:cNvPr id="82" name="Text 61"/>
          <p:cNvSpPr/>
          <p:nvPr/>
        </p:nvSpPr>
        <p:spPr>
          <a:xfrm>
            <a:off x="3429000" y="10472738"/>
            <a:ext cx="23574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Select the appropriate control structures and algorithms based on the specific requirements of each problem. There's rarely a one-size-fits-all solution in programming.</a:t>
            </a:r>
            <a:endParaRPr lang="en-US" sz="788" dirty="0"/>
          </a:p>
        </p:txBody>
      </p:sp>
      <p:sp>
        <p:nvSpPr>
          <p:cNvPr id="83" name="Shape 62"/>
          <p:cNvSpPr/>
          <p:nvPr/>
        </p:nvSpPr>
        <p:spPr>
          <a:xfrm>
            <a:off x="6000750" y="10072688"/>
            <a:ext cx="2514600" cy="1085850"/>
          </a:xfrm>
          <a:prstGeom prst="rect">
            <a:avLst/>
          </a:prstGeom>
          <a:solidFill>
            <a:srgbClr val="1E3A8A">
              <a:alpha val="30000"/>
            </a:srgbClr>
          </a:solidFill>
          <a:ln/>
        </p:spPr>
        <p:txBody>
          <a:bodyPr/>
          <a:lstStyle/>
          <a:p>
            <a:endParaRPr lang="en-US"/>
          </a:p>
        </p:txBody>
      </p:sp>
      <p:pic>
        <p:nvPicPr>
          <p:cNvPr id="84" name="Image 19" descr="preencoded.png"/>
          <p:cNvPicPr>
            <a:picLocks noChangeAspect="1"/>
          </p:cNvPicPr>
          <p:nvPr/>
        </p:nvPicPr>
        <p:blipFill>
          <a:blip r:embed="rId9"/>
          <a:stretch>
            <a:fillRect/>
          </a:stretch>
        </p:blipFill>
        <p:spPr>
          <a:xfrm>
            <a:off x="6115050" y="10201275"/>
            <a:ext cx="214313" cy="171450"/>
          </a:xfrm>
          <a:prstGeom prst="rect">
            <a:avLst/>
          </a:prstGeom>
        </p:spPr>
      </p:pic>
      <p:sp>
        <p:nvSpPr>
          <p:cNvPr id="85" name="Text 63"/>
          <p:cNvSpPr/>
          <p:nvPr/>
        </p:nvSpPr>
        <p:spPr>
          <a:xfrm>
            <a:off x="6415088" y="10186988"/>
            <a:ext cx="1477166"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Practice Deliberately</a:t>
            </a:r>
            <a:endParaRPr lang="en-US" sz="1125" dirty="0"/>
          </a:p>
        </p:txBody>
      </p:sp>
      <p:sp>
        <p:nvSpPr>
          <p:cNvPr id="86" name="Text 64"/>
          <p:cNvSpPr/>
          <p:nvPr/>
        </p:nvSpPr>
        <p:spPr>
          <a:xfrm>
            <a:off x="6115050" y="10472738"/>
            <a:ext cx="23574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Regularly practice logic building and dry run techniques with increasingly complex problems. Deliberate practice is the key to mastering these fundamental programming skills.</a:t>
            </a:r>
            <a:endParaRPr lang="en-US" sz="788" dirty="0"/>
          </a:p>
        </p:txBody>
      </p:sp>
      <p:sp>
        <p:nvSpPr>
          <p:cNvPr id="87" name="Shape 65"/>
          <p:cNvSpPr/>
          <p:nvPr/>
        </p:nvSpPr>
        <p:spPr>
          <a:xfrm>
            <a:off x="628650" y="11329988"/>
            <a:ext cx="7886700" cy="628650"/>
          </a:xfrm>
          <a:prstGeom prst="rect">
            <a:avLst/>
          </a:prstGeom>
          <a:solidFill>
            <a:srgbClr val="78350F">
              <a:alpha val="20000"/>
            </a:srgbClr>
          </a:solidFill>
          <a:ln/>
        </p:spPr>
        <p:txBody>
          <a:bodyPr/>
          <a:lstStyle/>
          <a:p>
            <a:endParaRPr lang="en-US"/>
          </a:p>
        </p:txBody>
      </p:sp>
      <p:pic>
        <p:nvPicPr>
          <p:cNvPr id="88" name="Image 20" descr="preencoded.png"/>
          <p:cNvPicPr>
            <a:picLocks noChangeAspect="1"/>
          </p:cNvPicPr>
          <p:nvPr/>
        </p:nvPicPr>
        <p:blipFill>
          <a:blip r:embed="rId10"/>
          <a:stretch>
            <a:fillRect/>
          </a:stretch>
        </p:blipFill>
        <p:spPr>
          <a:xfrm>
            <a:off x="742950" y="11537156"/>
            <a:ext cx="189309" cy="214313"/>
          </a:xfrm>
          <a:prstGeom prst="rect">
            <a:avLst/>
          </a:prstGeom>
        </p:spPr>
      </p:pic>
      <p:sp>
        <p:nvSpPr>
          <p:cNvPr id="89" name="Text 66"/>
          <p:cNvSpPr/>
          <p:nvPr/>
        </p:nvSpPr>
        <p:spPr>
          <a:xfrm>
            <a:off x="1046559" y="11444288"/>
            <a:ext cx="7425928" cy="400050"/>
          </a:xfrm>
          <a:prstGeom prst="rect">
            <a:avLst/>
          </a:prstGeom>
          <a:noFill/>
          <a:ln/>
        </p:spPr>
        <p:txBody>
          <a:bodyPr wrap="square" lIns="0" tIns="0" rIns="0" bIns="0" rtlCol="0" anchor="ctr">
            <a:spAutoFit/>
          </a:bodyPr>
          <a:lstStyle/>
          <a:p>
            <a:pPr marL="0" indent="0">
              <a:buNone/>
            </a:pPr>
            <a:r>
              <a:rPr lang="en-US" sz="1013" i="1" dirty="0">
                <a:solidFill>
                  <a:srgbClr val="E2E8F0"/>
                </a:solidFill>
                <a:latin typeface="Segoe UI" pitchFamily="34" charset="0"/>
                <a:ea typeface="Segoe UI" pitchFamily="34" charset="-122"/>
                <a:cs typeface="Segoe UI" pitchFamily="34" charset="-120"/>
              </a:rPr>
              <a:t>"Programming is not about typing, it's about thinking." — The key to becoming a proficient programmer lies not in memorizing syntax, but in developing strong logical thinking and problem-solving skills.</a:t>
            </a:r>
            <a:endParaRPr lang="en-US" sz="1013" dirty="0"/>
          </a:p>
        </p:txBody>
      </p:sp>
      <p:sp>
        <p:nvSpPr>
          <p:cNvPr id="90" name="Text 67"/>
          <p:cNvSpPr/>
          <p:nvPr/>
        </p:nvSpPr>
        <p:spPr>
          <a:xfrm>
            <a:off x="628650" y="12130088"/>
            <a:ext cx="7958138" cy="400050"/>
          </a:xfrm>
          <a:prstGeom prst="rect">
            <a:avLst/>
          </a:prstGeom>
          <a:noFill/>
          <a:ln/>
        </p:spPr>
        <p:txBody>
          <a:bodyPr wrap="square" lIns="0" tIns="0" rIns="0" bIns="0" rtlCol="0" anchor="ctr">
            <a:spAutoFit/>
          </a:bodyPr>
          <a:lstStyle/>
          <a:p>
            <a:pPr marL="0" indent="0" algn="ctr">
              <a:buNone/>
            </a:pPr>
            <a:r>
              <a:rPr lang="en-US" sz="1125" dirty="0">
                <a:solidFill>
                  <a:srgbClr val="E2E8F0"/>
                </a:solidFill>
                <a:latin typeface="Segoe UI" pitchFamily="34" charset="0"/>
                <a:ea typeface="Segoe UI" pitchFamily="34" charset="-122"/>
                <a:cs typeface="Segoe UI" pitchFamily="34" charset="-120"/>
              </a:rPr>
              <a:t>Remember: Logic building, dry run techniques, and understanding control structures are foundational skills that will serve you throughout your programming journey.</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972675"/>
          </a:xfrm>
          <a:prstGeom prst="rect">
            <a:avLst/>
          </a:prstGeom>
        </p:spPr>
      </p:pic>
      <p:sp>
        <p:nvSpPr>
          <p:cNvPr id="3" name="Text 0"/>
          <p:cNvSpPr/>
          <p:nvPr/>
        </p:nvSpPr>
        <p:spPr>
          <a:xfrm>
            <a:off x="457200" y="455414"/>
            <a:ext cx="1657573" cy="287536"/>
          </a:xfrm>
          <a:prstGeom prst="rect">
            <a:avLst/>
          </a:prstGeom>
          <a:noFill/>
          <a:ln/>
        </p:spPr>
        <p:txBody>
          <a:bodyPr wrap="square" lIns="0" tIns="0" rIns="0" bIns="0" rtlCol="0" anchor="ctr">
            <a:spAutoFit/>
          </a:bodyPr>
          <a:lstStyle/>
          <a:p>
            <a:pPr marL="0" indent="0">
              <a:buNone/>
            </a:pPr>
            <a:r>
              <a:rPr lang="en-US" sz="2025" b="1" dirty="0">
                <a:solidFill>
                  <a:srgbClr val="E2E8F0"/>
                </a:solidFill>
                <a:latin typeface="Segoe UI" pitchFamily="34" charset="0"/>
                <a:ea typeface="Segoe UI" pitchFamily="34" charset="-122"/>
                <a:cs typeface="Segoe UI" pitchFamily="34" charset="-120"/>
              </a:rPr>
              <a:t>Questions &amp;</a:t>
            </a:r>
            <a:endParaRPr lang="en-US" sz="2025" dirty="0"/>
          </a:p>
        </p:txBody>
      </p:sp>
      <p:sp>
        <p:nvSpPr>
          <p:cNvPr id="4" name="Text 1"/>
          <p:cNvSpPr/>
          <p:nvPr/>
        </p:nvSpPr>
        <p:spPr>
          <a:xfrm>
            <a:off x="2043336" y="455414"/>
            <a:ext cx="1143474" cy="287536"/>
          </a:xfrm>
          <a:prstGeom prst="rect">
            <a:avLst/>
          </a:prstGeom>
          <a:noFill/>
          <a:ln/>
        </p:spPr>
        <p:txBody>
          <a:bodyPr wrap="none" lIns="0" tIns="0" rIns="0" bIns="0" rtlCol="0" anchor="ctr">
            <a:spAutoFit/>
          </a:bodyPr>
          <a:lstStyle/>
          <a:p>
            <a:pPr marL="0" indent="0">
              <a:buNone/>
            </a:pPr>
            <a:r>
              <a:rPr lang="en-US" sz="2025" b="1" dirty="0">
                <a:solidFill>
                  <a:srgbClr val="63B3ED"/>
                </a:solidFill>
                <a:latin typeface="Segoe UI" pitchFamily="34" charset="0"/>
                <a:ea typeface="Segoe UI" pitchFamily="34" charset="-122"/>
                <a:cs typeface="Segoe UI" pitchFamily="34" charset="-120"/>
              </a:rPr>
              <a:t>Answers</a:t>
            </a:r>
            <a:endParaRPr lang="en-US" sz="2025" dirty="0"/>
          </a:p>
        </p:txBody>
      </p:sp>
      <p:sp>
        <p:nvSpPr>
          <p:cNvPr id="5" name="Shape 2"/>
          <p:cNvSpPr/>
          <p:nvPr/>
        </p:nvSpPr>
        <p:spPr>
          <a:xfrm>
            <a:off x="457200" y="971550"/>
            <a:ext cx="4000500" cy="430053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Common Questions</a:t>
            </a:r>
            <a:endParaRPr lang="en-US" sz="1350" dirty="0"/>
          </a:p>
        </p:txBody>
      </p:sp>
      <p:sp>
        <p:nvSpPr>
          <p:cNvPr id="7" name="Shape 4"/>
          <p:cNvSpPr/>
          <p:nvPr/>
        </p:nvSpPr>
        <p:spPr>
          <a:xfrm>
            <a:off x="628650" y="1485900"/>
            <a:ext cx="3657600" cy="1171575"/>
          </a:xfrm>
          <a:prstGeom prst="rect">
            <a:avLst/>
          </a:prstGeom>
          <a:solidFill>
            <a:srgbClr val="1E3A8A">
              <a:alpha val="30000"/>
            </a:srgbClr>
          </a:solidFill>
          <a:ln/>
        </p:spPr>
        <p:txBody>
          <a:bodyPr/>
          <a:lstStyle/>
          <a:p>
            <a:endParaRPr lang="en-US"/>
          </a:p>
        </p:txBody>
      </p:sp>
      <p:sp>
        <p:nvSpPr>
          <p:cNvPr id="8" name="Shape 5"/>
          <p:cNvSpPr/>
          <p:nvPr/>
        </p:nvSpPr>
        <p:spPr>
          <a:xfrm>
            <a:off x="628650" y="1485900"/>
            <a:ext cx="28575" cy="1171575"/>
          </a:xfrm>
          <a:prstGeom prst="rect">
            <a:avLst/>
          </a:prstGeom>
          <a:solidFill>
            <a:srgbClr val="63B3ED"/>
          </a:solidFill>
          <a:ln/>
        </p:spPr>
        <p:txBody>
          <a:bodyPr/>
          <a:lstStyle/>
          <a:p>
            <a:endParaRPr lang="en-US"/>
          </a:p>
        </p:txBody>
      </p:sp>
      <p:sp>
        <p:nvSpPr>
          <p:cNvPr id="9" name="Text 6"/>
          <p:cNvSpPr/>
          <p:nvPr/>
        </p:nvSpPr>
        <p:spPr>
          <a:xfrm>
            <a:off x="742950" y="1571625"/>
            <a:ext cx="3614738" cy="400050"/>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When should I use a flagged while loop instead of a for loop?</a:t>
            </a:r>
            <a:endParaRPr lang="en-US" sz="1125" dirty="0"/>
          </a:p>
        </p:txBody>
      </p:sp>
      <p:sp>
        <p:nvSpPr>
          <p:cNvPr id="10" name="Text 7"/>
          <p:cNvSpPr/>
          <p:nvPr/>
        </p:nvSpPr>
        <p:spPr>
          <a:xfrm>
            <a:off x="742950" y="2000250"/>
            <a:ext cx="36147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Use flagged while loops when you need dynamic exit conditions that may change during execution, or when the number of iterations isn't known in advance. For loops are better when iterating a fixed number of times or through collections with known sizes.</a:t>
            </a:r>
            <a:endParaRPr lang="en-US" sz="788" dirty="0"/>
          </a:p>
        </p:txBody>
      </p:sp>
      <p:sp>
        <p:nvSpPr>
          <p:cNvPr id="11" name="Shape 8"/>
          <p:cNvSpPr/>
          <p:nvPr/>
        </p:nvSpPr>
        <p:spPr>
          <a:xfrm>
            <a:off x="628650" y="2771775"/>
            <a:ext cx="3657600" cy="1028700"/>
          </a:xfrm>
          <a:prstGeom prst="rect">
            <a:avLst/>
          </a:prstGeom>
          <a:solidFill>
            <a:srgbClr val="1E3A8A">
              <a:alpha val="30000"/>
            </a:srgbClr>
          </a:solidFill>
          <a:ln/>
        </p:spPr>
        <p:txBody>
          <a:bodyPr/>
          <a:lstStyle/>
          <a:p>
            <a:endParaRPr lang="en-US"/>
          </a:p>
        </p:txBody>
      </p:sp>
      <p:sp>
        <p:nvSpPr>
          <p:cNvPr id="12" name="Shape 9"/>
          <p:cNvSpPr/>
          <p:nvPr/>
        </p:nvSpPr>
        <p:spPr>
          <a:xfrm>
            <a:off x="628650" y="2771775"/>
            <a:ext cx="28575" cy="1028700"/>
          </a:xfrm>
          <a:prstGeom prst="rect">
            <a:avLst/>
          </a:prstGeom>
          <a:solidFill>
            <a:srgbClr val="63B3ED"/>
          </a:solidFill>
          <a:ln/>
        </p:spPr>
        <p:txBody>
          <a:bodyPr/>
          <a:lstStyle/>
          <a:p>
            <a:endParaRPr lang="en-US"/>
          </a:p>
        </p:txBody>
      </p:sp>
      <p:sp>
        <p:nvSpPr>
          <p:cNvPr id="13" name="Text 10"/>
          <p:cNvSpPr/>
          <p:nvPr/>
        </p:nvSpPr>
        <p:spPr>
          <a:xfrm>
            <a:off x="742950" y="2857500"/>
            <a:ext cx="3614738" cy="400050"/>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How can I avoid infinite loops when using flagged while loops?</a:t>
            </a:r>
            <a:endParaRPr lang="en-US" sz="1125" dirty="0"/>
          </a:p>
        </p:txBody>
      </p:sp>
      <p:sp>
        <p:nvSpPr>
          <p:cNvPr id="14" name="Text 11"/>
          <p:cNvSpPr/>
          <p:nvPr/>
        </p:nvSpPr>
        <p:spPr>
          <a:xfrm>
            <a:off x="742950" y="3286125"/>
            <a:ext cx="3614738" cy="428625"/>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Always ensure there's at least one path in your loop that will modify the flag. Double-check that your flag modification logic is reachable and will eventually trigger. Consider adding safety mechanisms like maximum iteration counts.</a:t>
            </a:r>
            <a:endParaRPr lang="en-US" sz="788" dirty="0"/>
          </a:p>
        </p:txBody>
      </p:sp>
      <p:sp>
        <p:nvSpPr>
          <p:cNvPr id="15" name="Shape 12"/>
          <p:cNvSpPr/>
          <p:nvPr/>
        </p:nvSpPr>
        <p:spPr>
          <a:xfrm>
            <a:off x="628650" y="3914775"/>
            <a:ext cx="3657600" cy="1171575"/>
          </a:xfrm>
          <a:prstGeom prst="rect">
            <a:avLst/>
          </a:prstGeom>
          <a:solidFill>
            <a:srgbClr val="1E3A8A">
              <a:alpha val="30000"/>
            </a:srgbClr>
          </a:solidFill>
          <a:ln/>
        </p:spPr>
        <p:txBody>
          <a:bodyPr/>
          <a:lstStyle/>
          <a:p>
            <a:endParaRPr lang="en-US"/>
          </a:p>
        </p:txBody>
      </p:sp>
      <p:sp>
        <p:nvSpPr>
          <p:cNvPr id="16" name="Shape 13"/>
          <p:cNvSpPr/>
          <p:nvPr/>
        </p:nvSpPr>
        <p:spPr>
          <a:xfrm>
            <a:off x="628650" y="3914775"/>
            <a:ext cx="28575" cy="1171575"/>
          </a:xfrm>
          <a:prstGeom prst="rect">
            <a:avLst/>
          </a:prstGeom>
          <a:solidFill>
            <a:srgbClr val="63B3ED"/>
          </a:solidFill>
          <a:ln/>
        </p:spPr>
        <p:txBody>
          <a:bodyPr/>
          <a:lstStyle/>
          <a:p>
            <a:endParaRPr lang="en-US"/>
          </a:p>
        </p:txBody>
      </p:sp>
      <p:sp>
        <p:nvSpPr>
          <p:cNvPr id="17" name="Text 14"/>
          <p:cNvSpPr/>
          <p:nvPr/>
        </p:nvSpPr>
        <p:spPr>
          <a:xfrm>
            <a:off x="742950" y="4000500"/>
            <a:ext cx="3614738" cy="400050"/>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What's the most efficient way to perform a dry run?</a:t>
            </a:r>
            <a:endParaRPr lang="en-US" sz="1125" dirty="0"/>
          </a:p>
        </p:txBody>
      </p:sp>
      <p:sp>
        <p:nvSpPr>
          <p:cNvPr id="18" name="Text 15"/>
          <p:cNvSpPr/>
          <p:nvPr/>
        </p:nvSpPr>
        <p:spPr>
          <a:xfrm>
            <a:off x="742950" y="4429125"/>
            <a:ext cx="36147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Create a table with columns for each variable and rows for each step of execution. Trace through the code line by line, updating variable values in your table. Pay special attention to loops, conditionals, and function calls. Use arrows or notes to track the flow of execution.</a:t>
            </a:r>
            <a:endParaRPr lang="en-US" sz="788" dirty="0"/>
          </a:p>
        </p:txBody>
      </p:sp>
      <p:sp>
        <p:nvSpPr>
          <p:cNvPr id="19" name="Shape 16"/>
          <p:cNvSpPr/>
          <p:nvPr/>
        </p:nvSpPr>
        <p:spPr>
          <a:xfrm>
            <a:off x="4686300" y="971550"/>
            <a:ext cx="4000500" cy="4043363"/>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20" name="Text 17"/>
          <p:cNvSpPr/>
          <p:nvPr/>
        </p:nvSpPr>
        <p:spPr>
          <a:xfrm>
            <a:off x="4857750" y="1143000"/>
            <a:ext cx="3729038" cy="228600"/>
          </a:xfrm>
          <a:prstGeom prst="rect">
            <a:avLst/>
          </a:prstGeom>
          <a:noFill/>
          <a:ln/>
        </p:spPr>
        <p:txBody>
          <a:bodyPr wrap="square" lIns="0" tIns="0" rIns="0" bIns="0" rtlCol="0" anchor="ctr">
            <a:spAutoFit/>
          </a:bodyPr>
          <a:lstStyle/>
          <a:p>
            <a:pPr marL="0" indent="0">
              <a:buNone/>
            </a:pPr>
            <a:r>
              <a:rPr lang="en-US" sz="1350" b="1" dirty="0">
                <a:solidFill>
                  <a:srgbClr val="BFDBFE"/>
                </a:solidFill>
                <a:latin typeface="Segoe UI" pitchFamily="34" charset="0"/>
                <a:ea typeface="Segoe UI" pitchFamily="34" charset="-122"/>
                <a:cs typeface="Segoe UI" pitchFamily="34" charset="-120"/>
              </a:rPr>
              <a:t>More Questions</a:t>
            </a:r>
            <a:endParaRPr lang="en-US" sz="1350" dirty="0"/>
          </a:p>
        </p:txBody>
      </p:sp>
      <p:sp>
        <p:nvSpPr>
          <p:cNvPr id="21" name="Shape 18"/>
          <p:cNvSpPr/>
          <p:nvPr/>
        </p:nvSpPr>
        <p:spPr>
          <a:xfrm>
            <a:off x="4857750" y="1485900"/>
            <a:ext cx="3657600" cy="971550"/>
          </a:xfrm>
          <a:prstGeom prst="rect">
            <a:avLst/>
          </a:prstGeom>
          <a:solidFill>
            <a:srgbClr val="1E3A8A">
              <a:alpha val="30000"/>
            </a:srgbClr>
          </a:solidFill>
          <a:ln/>
        </p:spPr>
        <p:txBody>
          <a:bodyPr/>
          <a:lstStyle/>
          <a:p>
            <a:endParaRPr lang="en-US"/>
          </a:p>
        </p:txBody>
      </p:sp>
      <p:sp>
        <p:nvSpPr>
          <p:cNvPr id="22" name="Shape 19"/>
          <p:cNvSpPr/>
          <p:nvPr/>
        </p:nvSpPr>
        <p:spPr>
          <a:xfrm>
            <a:off x="4857750" y="1485900"/>
            <a:ext cx="28575" cy="971550"/>
          </a:xfrm>
          <a:prstGeom prst="rect">
            <a:avLst/>
          </a:prstGeom>
          <a:solidFill>
            <a:srgbClr val="63B3ED"/>
          </a:solidFill>
          <a:ln/>
        </p:spPr>
        <p:txBody>
          <a:bodyPr/>
          <a:lstStyle/>
          <a:p>
            <a:endParaRPr lang="en-US"/>
          </a:p>
        </p:txBody>
      </p:sp>
      <p:sp>
        <p:nvSpPr>
          <p:cNvPr id="23" name="Text 20"/>
          <p:cNvSpPr/>
          <p:nvPr/>
        </p:nvSpPr>
        <p:spPr>
          <a:xfrm>
            <a:off x="4972050" y="157162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How can I improve my logic building skills?</a:t>
            </a:r>
            <a:endParaRPr lang="en-US" sz="1125" dirty="0"/>
          </a:p>
        </p:txBody>
      </p:sp>
      <p:sp>
        <p:nvSpPr>
          <p:cNvPr id="24" name="Text 21"/>
          <p:cNvSpPr/>
          <p:nvPr/>
        </p:nvSpPr>
        <p:spPr>
          <a:xfrm>
            <a:off x="4972050" y="1800225"/>
            <a:ext cx="36147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Practice regularly with diverse problems. Start with simple problems and gradually increase complexity. Break down problems into smaller parts. Study algorithms and data structures. Review and analyze others' solutions. Participate in coding challenges and competitions.</a:t>
            </a:r>
            <a:endParaRPr lang="en-US" sz="788" dirty="0"/>
          </a:p>
        </p:txBody>
      </p:sp>
      <p:sp>
        <p:nvSpPr>
          <p:cNvPr id="25" name="Shape 22"/>
          <p:cNvSpPr/>
          <p:nvPr/>
        </p:nvSpPr>
        <p:spPr>
          <a:xfrm>
            <a:off x="4857750" y="2571750"/>
            <a:ext cx="3657600" cy="971550"/>
          </a:xfrm>
          <a:prstGeom prst="rect">
            <a:avLst/>
          </a:prstGeom>
          <a:solidFill>
            <a:srgbClr val="1E3A8A">
              <a:alpha val="30000"/>
            </a:srgbClr>
          </a:solidFill>
          <a:ln/>
        </p:spPr>
        <p:txBody>
          <a:bodyPr/>
          <a:lstStyle/>
          <a:p>
            <a:endParaRPr lang="en-US"/>
          </a:p>
        </p:txBody>
      </p:sp>
      <p:sp>
        <p:nvSpPr>
          <p:cNvPr id="26" name="Shape 23"/>
          <p:cNvSpPr/>
          <p:nvPr/>
        </p:nvSpPr>
        <p:spPr>
          <a:xfrm>
            <a:off x="4857750" y="2571750"/>
            <a:ext cx="28575" cy="971550"/>
          </a:xfrm>
          <a:prstGeom prst="rect">
            <a:avLst/>
          </a:prstGeom>
          <a:solidFill>
            <a:srgbClr val="63B3ED"/>
          </a:solidFill>
          <a:ln/>
        </p:spPr>
        <p:txBody>
          <a:bodyPr/>
          <a:lstStyle/>
          <a:p>
            <a:endParaRPr lang="en-US"/>
          </a:p>
        </p:txBody>
      </p:sp>
      <p:sp>
        <p:nvSpPr>
          <p:cNvPr id="27" name="Text 24"/>
          <p:cNvSpPr/>
          <p:nvPr/>
        </p:nvSpPr>
        <p:spPr>
          <a:xfrm>
            <a:off x="4972050" y="2657475"/>
            <a:ext cx="3614738" cy="200025"/>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Are there tools that can help with dry runs?</a:t>
            </a:r>
            <a:endParaRPr lang="en-US" sz="1125" dirty="0"/>
          </a:p>
        </p:txBody>
      </p:sp>
      <p:sp>
        <p:nvSpPr>
          <p:cNvPr id="28" name="Text 25"/>
          <p:cNvSpPr/>
          <p:nvPr/>
        </p:nvSpPr>
        <p:spPr>
          <a:xfrm>
            <a:off x="4972050" y="2886075"/>
            <a:ext cx="36147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Yes, many IDEs have debugging tools that let you step through code and watch variables. Online visualization tools like Python Tutor can show execution step-by-step. However, manual dry runs are still valuable for developing your understanding and for situations like technical interviews.</a:t>
            </a:r>
            <a:endParaRPr lang="en-US" sz="788" dirty="0"/>
          </a:p>
        </p:txBody>
      </p:sp>
      <p:sp>
        <p:nvSpPr>
          <p:cNvPr id="29" name="Shape 26"/>
          <p:cNvSpPr/>
          <p:nvPr/>
        </p:nvSpPr>
        <p:spPr>
          <a:xfrm>
            <a:off x="4857750" y="3657600"/>
            <a:ext cx="3657600" cy="1171575"/>
          </a:xfrm>
          <a:prstGeom prst="rect">
            <a:avLst/>
          </a:prstGeom>
          <a:solidFill>
            <a:srgbClr val="1E3A8A">
              <a:alpha val="30000"/>
            </a:srgbClr>
          </a:solidFill>
          <a:ln/>
        </p:spPr>
        <p:txBody>
          <a:bodyPr/>
          <a:lstStyle/>
          <a:p>
            <a:endParaRPr lang="en-US"/>
          </a:p>
        </p:txBody>
      </p:sp>
      <p:sp>
        <p:nvSpPr>
          <p:cNvPr id="30" name="Shape 27"/>
          <p:cNvSpPr/>
          <p:nvPr/>
        </p:nvSpPr>
        <p:spPr>
          <a:xfrm>
            <a:off x="4857750" y="3657600"/>
            <a:ext cx="28575" cy="1171575"/>
          </a:xfrm>
          <a:prstGeom prst="rect">
            <a:avLst/>
          </a:prstGeom>
          <a:solidFill>
            <a:srgbClr val="63B3ED"/>
          </a:solidFill>
          <a:ln/>
        </p:spPr>
        <p:txBody>
          <a:bodyPr/>
          <a:lstStyle/>
          <a:p>
            <a:endParaRPr lang="en-US"/>
          </a:p>
        </p:txBody>
      </p:sp>
      <p:sp>
        <p:nvSpPr>
          <p:cNvPr id="31" name="Text 28"/>
          <p:cNvSpPr/>
          <p:nvPr/>
        </p:nvSpPr>
        <p:spPr>
          <a:xfrm>
            <a:off x="4972050" y="3743325"/>
            <a:ext cx="3614738" cy="400050"/>
          </a:xfrm>
          <a:prstGeom prst="rect">
            <a:avLst/>
          </a:prstGeom>
          <a:noFill/>
          <a:ln/>
        </p:spPr>
        <p:txBody>
          <a:bodyPr wrap="square" lIns="0" tIns="0" rIns="0" bIns="0" rtlCol="0" anchor="ctr">
            <a:spAutoFit/>
          </a:bodyPr>
          <a:lstStyle/>
          <a:p>
            <a:pPr marL="0" indent="0">
              <a:buNone/>
            </a:pPr>
            <a:r>
              <a:rPr lang="en-US" sz="1125" b="1" dirty="0">
                <a:solidFill>
                  <a:srgbClr val="E2E8F0"/>
                </a:solidFill>
                <a:latin typeface="Segoe UI" pitchFamily="34" charset="0"/>
                <a:ea typeface="Segoe UI" pitchFamily="34" charset="-122"/>
                <a:cs typeface="Segoe UI" pitchFamily="34" charset="-120"/>
              </a:rPr>
              <a:t>Q: How do I choose between different loop structures?</a:t>
            </a:r>
            <a:endParaRPr lang="en-US" sz="1125" dirty="0"/>
          </a:p>
        </p:txBody>
      </p:sp>
      <p:sp>
        <p:nvSpPr>
          <p:cNvPr id="32" name="Text 29"/>
          <p:cNvSpPr/>
          <p:nvPr/>
        </p:nvSpPr>
        <p:spPr>
          <a:xfrm>
            <a:off x="4972050" y="4171950"/>
            <a:ext cx="3614738" cy="571500"/>
          </a:xfrm>
          <a:prstGeom prst="rect">
            <a:avLst/>
          </a:prstGeom>
          <a:noFill/>
          <a:ln/>
        </p:spPr>
        <p:txBody>
          <a:bodyPr wrap="square" lIns="0" tIns="0" rIns="0" bIns="0" rtlCol="0" anchor="ctr">
            <a:spAutoFit/>
          </a:bodyPr>
          <a:lstStyle/>
          <a:p>
            <a:pPr marL="0" indent="0">
              <a:buNone/>
            </a:pPr>
            <a:r>
              <a:rPr lang="en-US" sz="788" dirty="0">
                <a:solidFill>
                  <a:srgbClr val="E2E8F0"/>
                </a:solidFill>
                <a:latin typeface="Segoe UI" pitchFamily="34" charset="0"/>
                <a:ea typeface="Segoe UI" pitchFamily="34" charset="-122"/>
                <a:cs typeface="Segoe UI" pitchFamily="34" charset="-120"/>
              </a:rPr>
              <a:t>A: Consider the specific requirements of your problem. Use for loops for known iteration counts, while loops for condition-based iteration, do-while loops when you need at least one execution, and flagged while loops for complex termination logic or when you need to track the state of a process explicitly.</a:t>
            </a:r>
            <a:endParaRPr lang="en-US" sz="788" dirty="0"/>
          </a:p>
        </p:txBody>
      </p:sp>
      <p:sp>
        <p:nvSpPr>
          <p:cNvPr id="33" name="Shape 30"/>
          <p:cNvSpPr/>
          <p:nvPr/>
        </p:nvSpPr>
        <p:spPr>
          <a:xfrm>
            <a:off x="457200" y="5486400"/>
            <a:ext cx="8229600" cy="4014788"/>
          </a:xfrm>
          <a:prstGeom prst="rect">
            <a:avLst/>
          </a:prstGeom>
          <a:solidFill>
            <a:srgbClr val="FFFFFF">
              <a:alpha val="10000"/>
            </a:srgbClr>
          </a:solidFill>
          <a:ln w="99">
            <a:solidFill>
              <a:srgbClr val="63B3ED">
                <a:alpha val="30000"/>
              </a:srgbClr>
            </a:solidFill>
            <a:prstDash val="solid"/>
          </a:ln>
        </p:spPr>
        <p:txBody>
          <a:bodyPr/>
          <a:lstStyle/>
          <a:p>
            <a:endParaRPr lang="en-US"/>
          </a:p>
        </p:txBody>
      </p:sp>
      <p:sp>
        <p:nvSpPr>
          <p:cNvPr id="34" name="Shape 31"/>
          <p:cNvSpPr/>
          <p:nvPr/>
        </p:nvSpPr>
        <p:spPr>
          <a:xfrm>
            <a:off x="685800" y="5715000"/>
            <a:ext cx="7772400" cy="685800"/>
          </a:xfrm>
          <a:prstGeom prst="rect">
            <a:avLst/>
          </a:prstGeom>
          <a:solidFill>
            <a:srgbClr val="4FD1C5"/>
          </a:solidFill>
          <a:ln/>
        </p:spPr>
        <p:txBody>
          <a:bodyPr/>
          <a:lstStyle/>
          <a:p>
            <a:endParaRPr lang="en-US"/>
          </a:p>
        </p:txBody>
      </p:sp>
      <p:sp>
        <p:nvSpPr>
          <p:cNvPr id="35" name="Text 32"/>
          <p:cNvSpPr/>
          <p:nvPr/>
        </p:nvSpPr>
        <p:spPr>
          <a:xfrm>
            <a:off x="685800" y="5715000"/>
            <a:ext cx="7843838" cy="685800"/>
          </a:xfrm>
          <a:prstGeom prst="rect">
            <a:avLst/>
          </a:prstGeom>
          <a:noFill/>
          <a:ln/>
        </p:spPr>
        <p:txBody>
          <a:bodyPr wrap="square" lIns="0" tIns="0" rIns="0" bIns="0" rtlCol="0" anchor="ctr">
            <a:spAutoFit/>
          </a:bodyPr>
          <a:lstStyle/>
          <a:p>
            <a:pPr marL="0" indent="0" algn="ctr">
              <a:buNone/>
            </a:pPr>
            <a:r>
              <a:rPr lang="en-US" sz="3600" dirty="0">
                <a:solidFill>
                  <a:srgbClr val="4FD1C5"/>
                </a:solidFill>
                <a:latin typeface="Segoe UI" pitchFamily="34" charset="0"/>
                <a:ea typeface="Segoe UI" pitchFamily="34" charset="-122"/>
                <a:cs typeface="Segoe UI" pitchFamily="34" charset="-120"/>
              </a:rPr>
              <a:t>Thank You!</a:t>
            </a:r>
            <a:endParaRPr lang="en-US" sz="3600" dirty="0"/>
          </a:p>
        </p:txBody>
      </p:sp>
      <p:sp>
        <p:nvSpPr>
          <p:cNvPr id="36" name="Shape 33"/>
          <p:cNvSpPr/>
          <p:nvPr/>
        </p:nvSpPr>
        <p:spPr>
          <a:xfrm>
            <a:off x="685800" y="6572250"/>
            <a:ext cx="2476481" cy="1143000"/>
          </a:xfrm>
          <a:prstGeom prst="rect">
            <a:avLst/>
          </a:prstGeom>
          <a:solidFill>
            <a:srgbClr val="1E3A8A">
              <a:alpha val="30000"/>
            </a:srgbClr>
          </a:solidFill>
          <a:ln/>
        </p:spPr>
        <p:txBody>
          <a:bodyPr/>
          <a:lstStyle/>
          <a:p>
            <a:endParaRPr lang="en-US"/>
          </a:p>
        </p:txBody>
      </p:sp>
      <p:pic>
        <p:nvPicPr>
          <p:cNvPr id="37" name="Image 1" descr="preencoded.png"/>
          <p:cNvPicPr>
            <a:picLocks noChangeAspect="1"/>
          </p:cNvPicPr>
          <p:nvPr/>
        </p:nvPicPr>
        <p:blipFill>
          <a:blip r:embed="rId4"/>
          <a:stretch>
            <a:fillRect/>
          </a:stretch>
        </p:blipFill>
        <p:spPr>
          <a:xfrm>
            <a:off x="1763306" y="6686550"/>
            <a:ext cx="321469" cy="257175"/>
          </a:xfrm>
          <a:prstGeom prst="rect">
            <a:avLst/>
          </a:prstGeom>
        </p:spPr>
      </p:pic>
      <p:sp>
        <p:nvSpPr>
          <p:cNvPr id="38" name="Text 34"/>
          <p:cNvSpPr/>
          <p:nvPr/>
        </p:nvSpPr>
        <p:spPr>
          <a:xfrm>
            <a:off x="1646020" y="7058025"/>
            <a:ext cx="627450" cy="200025"/>
          </a:xfrm>
          <a:prstGeom prst="rect">
            <a:avLst/>
          </a:prstGeom>
          <a:noFill/>
          <a:ln/>
        </p:spPr>
        <p:txBody>
          <a:bodyPr wrap="non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Practice</a:t>
            </a:r>
            <a:endParaRPr lang="en-US" sz="1125" dirty="0"/>
          </a:p>
        </p:txBody>
      </p:sp>
      <p:sp>
        <p:nvSpPr>
          <p:cNvPr id="39" name="Text 35"/>
          <p:cNvSpPr/>
          <p:nvPr/>
        </p:nvSpPr>
        <p:spPr>
          <a:xfrm>
            <a:off x="800100" y="7315200"/>
            <a:ext cx="2319319" cy="285750"/>
          </a:xfrm>
          <a:prstGeom prst="rect">
            <a:avLst/>
          </a:prstGeom>
          <a:noFill/>
          <a:ln/>
        </p:spPr>
        <p:txBody>
          <a:bodyPr wrap="square" lIns="0" tIns="0" rIns="0" bIns="0" rtlCol="0" anchor="ctr">
            <a:spAutoFit/>
          </a:bodyPr>
          <a:lstStyle/>
          <a:p>
            <a:pPr marL="0" indent="0" algn="ctr">
              <a:buNone/>
            </a:pPr>
            <a:r>
              <a:rPr lang="en-US" sz="788" dirty="0">
                <a:solidFill>
                  <a:srgbClr val="E2E8F0"/>
                </a:solidFill>
                <a:latin typeface="Segoe UI" pitchFamily="34" charset="0"/>
                <a:ea typeface="Segoe UI" pitchFamily="34" charset="-122"/>
                <a:cs typeface="Segoe UI" pitchFamily="34" charset="-120"/>
              </a:rPr>
              <a:t>Regular practice is key to mastering these concepts</a:t>
            </a:r>
            <a:endParaRPr lang="en-US" sz="788" dirty="0"/>
          </a:p>
        </p:txBody>
      </p:sp>
      <p:sp>
        <p:nvSpPr>
          <p:cNvPr id="40" name="Shape 36"/>
          <p:cNvSpPr/>
          <p:nvPr/>
        </p:nvSpPr>
        <p:spPr>
          <a:xfrm>
            <a:off x="3333731" y="6572250"/>
            <a:ext cx="2476509" cy="1143000"/>
          </a:xfrm>
          <a:prstGeom prst="rect">
            <a:avLst/>
          </a:prstGeom>
          <a:solidFill>
            <a:srgbClr val="1E3A8A">
              <a:alpha val="30000"/>
            </a:srgbClr>
          </a:solidFill>
          <a:ln/>
        </p:spPr>
        <p:txBody>
          <a:bodyPr/>
          <a:lstStyle/>
          <a:p>
            <a:endParaRPr lang="en-US"/>
          </a:p>
        </p:txBody>
      </p:sp>
      <p:pic>
        <p:nvPicPr>
          <p:cNvPr id="41" name="Image 2" descr="preencoded.png"/>
          <p:cNvPicPr>
            <a:picLocks noChangeAspect="1"/>
          </p:cNvPicPr>
          <p:nvPr/>
        </p:nvPicPr>
        <p:blipFill>
          <a:blip r:embed="rId5"/>
          <a:stretch>
            <a:fillRect/>
          </a:stretch>
        </p:blipFill>
        <p:spPr>
          <a:xfrm>
            <a:off x="4443385" y="6686550"/>
            <a:ext cx="257175" cy="257175"/>
          </a:xfrm>
          <a:prstGeom prst="rect">
            <a:avLst/>
          </a:prstGeom>
        </p:spPr>
      </p:pic>
      <p:sp>
        <p:nvSpPr>
          <p:cNvPr id="42" name="Text 37"/>
          <p:cNvSpPr/>
          <p:nvPr/>
        </p:nvSpPr>
        <p:spPr>
          <a:xfrm>
            <a:off x="4373538" y="7058025"/>
            <a:ext cx="468334" cy="200025"/>
          </a:xfrm>
          <a:prstGeom prst="rect">
            <a:avLst/>
          </a:prstGeom>
          <a:noFill/>
          <a:ln/>
        </p:spPr>
        <p:txBody>
          <a:bodyPr wrap="non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Apply</a:t>
            </a:r>
            <a:endParaRPr lang="en-US" sz="1125" dirty="0"/>
          </a:p>
        </p:txBody>
      </p:sp>
      <p:sp>
        <p:nvSpPr>
          <p:cNvPr id="43" name="Text 38"/>
          <p:cNvSpPr/>
          <p:nvPr/>
        </p:nvSpPr>
        <p:spPr>
          <a:xfrm>
            <a:off x="3546314" y="7315200"/>
            <a:ext cx="2122782" cy="142875"/>
          </a:xfrm>
          <a:prstGeom prst="rect">
            <a:avLst/>
          </a:prstGeom>
          <a:noFill/>
          <a:ln/>
        </p:spPr>
        <p:txBody>
          <a:bodyPr wrap="square" lIns="0" tIns="0" rIns="0" bIns="0" rtlCol="0" anchor="ctr">
            <a:spAutoFit/>
          </a:bodyPr>
          <a:lstStyle/>
          <a:p>
            <a:pPr marL="0" indent="0" algn="ctr">
              <a:buNone/>
            </a:pPr>
            <a:r>
              <a:rPr lang="en-US" sz="788" dirty="0">
                <a:solidFill>
                  <a:srgbClr val="E2E8F0"/>
                </a:solidFill>
                <a:latin typeface="Segoe UI" pitchFamily="34" charset="0"/>
                <a:ea typeface="Segoe UI" pitchFamily="34" charset="-122"/>
                <a:cs typeface="Segoe UI" pitchFamily="34" charset="-120"/>
              </a:rPr>
              <a:t>Apply these techniques to real-world problems</a:t>
            </a:r>
            <a:endParaRPr lang="en-US" sz="788" dirty="0"/>
          </a:p>
        </p:txBody>
      </p:sp>
      <p:sp>
        <p:nvSpPr>
          <p:cNvPr id="44" name="Shape 39"/>
          <p:cNvSpPr/>
          <p:nvPr/>
        </p:nvSpPr>
        <p:spPr>
          <a:xfrm>
            <a:off x="5981691" y="6572250"/>
            <a:ext cx="2476481" cy="1143000"/>
          </a:xfrm>
          <a:prstGeom prst="rect">
            <a:avLst/>
          </a:prstGeom>
          <a:solidFill>
            <a:srgbClr val="1E3A8A">
              <a:alpha val="30000"/>
            </a:srgbClr>
          </a:solidFill>
          <a:ln/>
        </p:spPr>
        <p:txBody>
          <a:bodyPr/>
          <a:lstStyle/>
          <a:p>
            <a:endParaRPr lang="en-US"/>
          </a:p>
        </p:txBody>
      </p:sp>
      <p:pic>
        <p:nvPicPr>
          <p:cNvPr id="45" name="Image 3" descr="preencoded.png"/>
          <p:cNvPicPr>
            <a:picLocks noChangeAspect="1"/>
          </p:cNvPicPr>
          <p:nvPr/>
        </p:nvPicPr>
        <p:blipFill>
          <a:blip r:embed="rId6"/>
          <a:stretch>
            <a:fillRect/>
          </a:stretch>
        </p:blipFill>
        <p:spPr>
          <a:xfrm>
            <a:off x="7107417" y="6686550"/>
            <a:ext cx="225028" cy="257175"/>
          </a:xfrm>
          <a:prstGeom prst="rect">
            <a:avLst/>
          </a:prstGeom>
        </p:spPr>
      </p:pic>
      <p:sp>
        <p:nvSpPr>
          <p:cNvPr id="46" name="Text 40"/>
          <p:cNvSpPr/>
          <p:nvPr/>
        </p:nvSpPr>
        <p:spPr>
          <a:xfrm>
            <a:off x="7021385" y="7058025"/>
            <a:ext cx="468530" cy="200025"/>
          </a:xfrm>
          <a:prstGeom prst="rect">
            <a:avLst/>
          </a:prstGeom>
          <a:noFill/>
          <a:ln/>
        </p:spPr>
        <p:txBody>
          <a:bodyPr wrap="none" lIns="0" tIns="0" rIns="0" bIns="0" rtlCol="0" anchor="ctr">
            <a:spAutoFit/>
          </a:bodyPr>
          <a:lstStyle/>
          <a:p>
            <a:pPr marL="0" indent="0" algn="ctr">
              <a:buNone/>
            </a:pPr>
            <a:r>
              <a:rPr lang="en-US" sz="1125" b="1" dirty="0">
                <a:solidFill>
                  <a:srgbClr val="E2E8F0"/>
                </a:solidFill>
                <a:latin typeface="Segoe UI" pitchFamily="34" charset="0"/>
                <a:ea typeface="Segoe UI" pitchFamily="34" charset="-122"/>
                <a:cs typeface="Segoe UI" pitchFamily="34" charset="-120"/>
              </a:rPr>
              <a:t>Share</a:t>
            </a:r>
            <a:endParaRPr lang="en-US" sz="1125" dirty="0"/>
          </a:p>
        </p:txBody>
      </p:sp>
      <p:sp>
        <p:nvSpPr>
          <p:cNvPr id="47" name="Text 41"/>
          <p:cNvSpPr/>
          <p:nvPr/>
        </p:nvSpPr>
        <p:spPr>
          <a:xfrm>
            <a:off x="6233117" y="7315200"/>
            <a:ext cx="2045038" cy="142875"/>
          </a:xfrm>
          <a:prstGeom prst="rect">
            <a:avLst/>
          </a:prstGeom>
          <a:noFill/>
          <a:ln/>
        </p:spPr>
        <p:txBody>
          <a:bodyPr wrap="square" lIns="0" tIns="0" rIns="0" bIns="0" rtlCol="0" anchor="ctr">
            <a:spAutoFit/>
          </a:bodyPr>
          <a:lstStyle/>
          <a:p>
            <a:pPr marL="0" indent="0" algn="ctr">
              <a:buNone/>
            </a:pPr>
            <a:r>
              <a:rPr lang="en-US" sz="788" dirty="0">
                <a:solidFill>
                  <a:srgbClr val="E2E8F0"/>
                </a:solidFill>
                <a:latin typeface="Segoe UI" pitchFamily="34" charset="0"/>
                <a:ea typeface="Segoe UI" pitchFamily="34" charset="-122"/>
                <a:cs typeface="Segoe UI" pitchFamily="34" charset="-120"/>
              </a:rPr>
              <a:t>Share your knowledge and learn from others</a:t>
            </a:r>
            <a:endParaRPr lang="en-US" sz="788" dirty="0"/>
          </a:p>
        </p:txBody>
      </p:sp>
      <p:sp>
        <p:nvSpPr>
          <p:cNvPr id="48" name="Shape 42"/>
          <p:cNvSpPr/>
          <p:nvPr/>
        </p:nvSpPr>
        <p:spPr>
          <a:xfrm>
            <a:off x="2483737" y="7943850"/>
            <a:ext cx="4176526" cy="1314450"/>
          </a:xfrm>
          <a:prstGeom prst="rect">
            <a:avLst/>
          </a:prstGeom>
          <a:solidFill>
            <a:srgbClr val="1E40AF">
              <a:alpha val="30000"/>
            </a:srgbClr>
          </a:solidFill>
          <a:ln/>
        </p:spPr>
        <p:txBody>
          <a:bodyPr/>
          <a:lstStyle/>
          <a:p>
            <a:endParaRPr lang="en-US"/>
          </a:p>
        </p:txBody>
      </p:sp>
      <p:sp>
        <p:nvSpPr>
          <p:cNvPr id="49" name="Text 43"/>
          <p:cNvSpPr/>
          <p:nvPr/>
        </p:nvSpPr>
        <p:spPr>
          <a:xfrm>
            <a:off x="2655187" y="8115300"/>
            <a:ext cx="3905064" cy="228600"/>
          </a:xfrm>
          <a:prstGeom prst="rect">
            <a:avLst/>
          </a:prstGeom>
          <a:noFill/>
          <a:ln/>
        </p:spPr>
        <p:txBody>
          <a:bodyPr wrap="square" lIns="0" tIns="0" rIns="0" bIns="0" rtlCol="0" anchor="ctr">
            <a:spAutoFit/>
          </a:bodyPr>
          <a:lstStyle/>
          <a:p>
            <a:pPr marL="0" indent="0" algn="ctr">
              <a:buNone/>
            </a:pPr>
            <a:r>
              <a:rPr lang="en-US" sz="1350" b="1" dirty="0">
                <a:solidFill>
                  <a:srgbClr val="E2E8F0"/>
                </a:solidFill>
                <a:latin typeface="Segoe UI" pitchFamily="34" charset="0"/>
                <a:ea typeface="Segoe UI" pitchFamily="34" charset="-122"/>
                <a:cs typeface="Segoe UI" pitchFamily="34" charset="-120"/>
              </a:rPr>
              <a:t>Additional Resources</a:t>
            </a:r>
            <a:endParaRPr lang="en-US" sz="1350" dirty="0"/>
          </a:p>
        </p:txBody>
      </p:sp>
      <p:pic>
        <p:nvPicPr>
          <p:cNvPr id="50" name="Image 4" descr="preencoded.png"/>
          <p:cNvPicPr>
            <a:picLocks noChangeAspect="1"/>
          </p:cNvPicPr>
          <p:nvPr/>
        </p:nvPicPr>
        <p:blipFill>
          <a:blip r:embed="rId7"/>
          <a:stretch>
            <a:fillRect/>
          </a:stretch>
        </p:blipFill>
        <p:spPr>
          <a:xfrm>
            <a:off x="2655187" y="8486775"/>
            <a:ext cx="100013" cy="114300"/>
          </a:xfrm>
          <a:prstGeom prst="rect">
            <a:avLst/>
          </a:prstGeom>
        </p:spPr>
      </p:pic>
      <p:sp>
        <p:nvSpPr>
          <p:cNvPr id="51" name="Text 44"/>
          <p:cNvSpPr/>
          <p:nvPr/>
        </p:nvSpPr>
        <p:spPr>
          <a:xfrm>
            <a:off x="2812349" y="8458200"/>
            <a:ext cx="1773938"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Introduction to Algorithms (CLRS)</a:t>
            </a:r>
            <a:endParaRPr lang="en-US" sz="900" dirty="0"/>
          </a:p>
        </p:txBody>
      </p:sp>
      <p:pic>
        <p:nvPicPr>
          <p:cNvPr id="52" name="Image 5" descr="preencoded.png"/>
          <p:cNvPicPr>
            <a:picLocks noChangeAspect="1"/>
          </p:cNvPicPr>
          <p:nvPr/>
        </p:nvPicPr>
        <p:blipFill>
          <a:blip r:embed="rId8"/>
          <a:stretch>
            <a:fillRect/>
          </a:stretch>
        </p:blipFill>
        <p:spPr>
          <a:xfrm>
            <a:off x="2655187" y="8715375"/>
            <a:ext cx="142875" cy="114300"/>
          </a:xfrm>
          <a:prstGeom prst="rect">
            <a:avLst/>
          </a:prstGeom>
        </p:spPr>
      </p:pic>
      <p:sp>
        <p:nvSpPr>
          <p:cNvPr id="53" name="Text 45"/>
          <p:cNvSpPr/>
          <p:nvPr/>
        </p:nvSpPr>
        <p:spPr>
          <a:xfrm>
            <a:off x="2855212" y="8686800"/>
            <a:ext cx="1335770"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LeetCode &amp; HackerRank</a:t>
            </a:r>
            <a:endParaRPr lang="en-US" sz="900" dirty="0"/>
          </a:p>
        </p:txBody>
      </p:sp>
      <p:pic>
        <p:nvPicPr>
          <p:cNvPr id="54" name="Image 6" descr="preencoded.png"/>
          <p:cNvPicPr>
            <a:picLocks noChangeAspect="1"/>
          </p:cNvPicPr>
          <p:nvPr/>
        </p:nvPicPr>
        <p:blipFill>
          <a:blip r:embed="rId9"/>
          <a:stretch>
            <a:fillRect/>
          </a:stretch>
        </p:blipFill>
        <p:spPr>
          <a:xfrm>
            <a:off x="2655187" y="8943975"/>
            <a:ext cx="128588" cy="114300"/>
          </a:xfrm>
          <a:prstGeom prst="rect">
            <a:avLst/>
          </a:prstGeom>
        </p:spPr>
      </p:pic>
      <p:sp>
        <p:nvSpPr>
          <p:cNvPr id="55" name="Text 46"/>
          <p:cNvSpPr/>
          <p:nvPr/>
        </p:nvSpPr>
        <p:spPr>
          <a:xfrm>
            <a:off x="2840924" y="8915400"/>
            <a:ext cx="1522121"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Algorithm Visualization Tools</a:t>
            </a:r>
            <a:endParaRPr lang="en-US" sz="900" dirty="0"/>
          </a:p>
        </p:txBody>
      </p:sp>
      <p:pic>
        <p:nvPicPr>
          <p:cNvPr id="56" name="Image 7" descr="preencoded.png"/>
          <p:cNvPicPr>
            <a:picLocks noChangeAspect="1"/>
          </p:cNvPicPr>
          <p:nvPr/>
        </p:nvPicPr>
        <p:blipFill>
          <a:blip r:embed="rId10"/>
          <a:stretch>
            <a:fillRect/>
          </a:stretch>
        </p:blipFill>
        <p:spPr>
          <a:xfrm>
            <a:off x="4629150" y="8486775"/>
            <a:ext cx="142875" cy="114300"/>
          </a:xfrm>
          <a:prstGeom prst="rect">
            <a:avLst/>
          </a:prstGeom>
        </p:spPr>
      </p:pic>
      <p:sp>
        <p:nvSpPr>
          <p:cNvPr id="57" name="Text 47"/>
          <p:cNvSpPr/>
          <p:nvPr/>
        </p:nvSpPr>
        <p:spPr>
          <a:xfrm>
            <a:off x="4829175" y="8458200"/>
            <a:ext cx="1456153"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Programming Communities</a:t>
            </a:r>
            <a:endParaRPr lang="en-US" sz="900" dirty="0"/>
          </a:p>
        </p:txBody>
      </p:sp>
      <p:pic>
        <p:nvPicPr>
          <p:cNvPr id="58" name="Image 8" descr="preencoded.png"/>
          <p:cNvPicPr>
            <a:picLocks noChangeAspect="1"/>
          </p:cNvPicPr>
          <p:nvPr/>
        </p:nvPicPr>
        <p:blipFill>
          <a:blip r:embed="rId11"/>
          <a:stretch>
            <a:fillRect/>
          </a:stretch>
        </p:blipFill>
        <p:spPr>
          <a:xfrm>
            <a:off x="4629150" y="8715375"/>
            <a:ext cx="100013" cy="114300"/>
          </a:xfrm>
          <a:prstGeom prst="rect">
            <a:avLst/>
          </a:prstGeom>
        </p:spPr>
      </p:pic>
      <p:sp>
        <p:nvSpPr>
          <p:cNvPr id="59" name="Text 48"/>
          <p:cNvSpPr/>
          <p:nvPr/>
        </p:nvSpPr>
        <p:spPr>
          <a:xfrm>
            <a:off x="4786313" y="8686800"/>
            <a:ext cx="1189602" cy="171450"/>
          </a:xfrm>
          <a:prstGeom prst="rect">
            <a:avLst/>
          </a:prstGeom>
          <a:noFill/>
          <a:ln/>
        </p:spPr>
        <p:txBody>
          <a:bodyPr wrap="non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Open Source Projects</a:t>
            </a:r>
            <a:endParaRPr lang="en-US" sz="900" dirty="0"/>
          </a:p>
        </p:txBody>
      </p:sp>
      <p:pic>
        <p:nvPicPr>
          <p:cNvPr id="60" name="Image 9" descr="preencoded.png"/>
          <p:cNvPicPr>
            <a:picLocks noChangeAspect="1"/>
          </p:cNvPicPr>
          <p:nvPr/>
        </p:nvPicPr>
        <p:blipFill>
          <a:blip r:embed="rId12"/>
          <a:stretch>
            <a:fillRect/>
          </a:stretch>
        </p:blipFill>
        <p:spPr>
          <a:xfrm>
            <a:off x="4629150" y="8943975"/>
            <a:ext cx="142875" cy="114300"/>
          </a:xfrm>
          <a:prstGeom prst="rect">
            <a:avLst/>
          </a:prstGeom>
        </p:spPr>
      </p:pic>
      <p:sp>
        <p:nvSpPr>
          <p:cNvPr id="61" name="Text 49"/>
          <p:cNvSpPr/>
          <p:nvPr/>
        </p:nvSpPr>
        <p:spPr>
          <a:xfrm>
            <a:off x="4829175" y="8915400"/>
            <a:ext cx="1430927" cy="171450"/>
          </a:xfrm>
          <a:prstGeom prst="rect">
            <a:avLst/>
          </a:prstGeom>
          <a:noFill/>
          <a:ln/>
        </p:spPr>
        <p:txBody>
          <a:bodyPr wrap="square" lIns="0" tIns="0" rIns="0" bIns="0" rtlCol="0" anchor="ctr">
            <a:spAutoFit/>
          </a:bodyPr>
          <a:lstStyle/>
          <a:p>
            <a:pPr marL="0" indent="0" algn="l">
              <a:buNone/>
            </a:pPr>
            <a:r>
              <a:rPr lang="en-US" sz="900" dirty="0">
                <a:solidFill>
                  <a:srgbClr val="E2E8F0"/>
                </a:solidFill>
                <a:latin typeface="Segoe UI" pitchFamily="34" charset="0"/>
                <a:ea typeface="Segoe UI" pitchFamily="34" charset="-122"/>
                <a:cs typeface="Segoe UI" pitchFamily="34" charset="-120"/>
              </a:rPr>
              <a:t>Online Courses &amp; Tutorials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8767</Words>
  <Application>Microsoft Office PowerPoint</Application>
  <PresentationFormat>On-screen Show (16:9)</PresentationFormat>
  <Paragraphs>2125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Consolas</vt:lpstr>
      <vt:lpstr>Segoe UI</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Khurram Iqbal</cp:lastModifiedBy>
  <cp:revision>1</cp:revision>
  <dcterms:created xsi:type="dcterms:W3CDTF">2025-06-10T07:03:51Z</dcterms:created>
  <dcterms:modified xsi:type="dcterms:W3CDTF">2025-06-17T04:44:37Z</dcterms:modified>
</cp:coreProperties>
</file>