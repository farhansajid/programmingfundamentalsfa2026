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44" r:id="rId2"/>
    <p:sldId id="257" r:id="rId3"/>
    <p:sldId id="288" r:id="rId4"/>
    <p:sldId id="289" r:id="rId5"/>
    <p:sldId id="290" r:id="rId6"/>
    <p:sldId id="446" r:id="rId7"/>
    <p:sldId id="450" r:id="rId8"/>
    <p:sldId id="448" r:id="rId9"/>
    <p:sldId id="370" r:id="rId10"/>
    <p:sldId id="350" r:id="rId11"/>
    <p:sldId id="445" r:id="rId12"/>
    <p:sldId id="349" r:id="rId13"/>
    <p:sldId id="351" r:id="rId14"/>
    <p:sldId id="352" r:id="rId15"/>
    <p:sldId id="365" r:id="rId16"/>
    <p:sldId id="366" r:id="rId17"/>
    <p:sldId id="371" r:id="rId18"/>
    <p:sldId id="367" r:id="rId19"/>
    <p:sldId id="368" r:id="rId20"/>
    <p:sldId id="44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2" autoAdjust="0"/>
    <p:restoredTop sz="89770" autoAdjust="0"/>
  </p:normalViewPr>
  <p:slideViewPr>
    <p:cSldViewPr>
      <p:cViewPr varScale="1">
        <p:scale>
          <a:sx n="58" d="100"/>
          <a:sy n="58" d="100"/>
        </p:scale>
        <p:origin x="156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E01CBE59-94E2-4607-A170-EBFE72D8B202}"/>
    <pc:docChg chg="custSel addSld modSld">
      <pc:chgData name="Khurram Iqbal" userId="af32904b-6c78-4cff-8330-5f3a20d540de" providerId="ADAL" clId="{E01CBE59-94E2-4607-A170-EBFE72D8B202}" dt="2026-03-12T16:29:06.478" v="6" actId="478"/>
      <pc:docMkLst>
        <pc:docMk/>
      </pc:docMkLst>
      <pc:sldChg chg="mod modShow">
        <pc:chgData name="Khurram Iqbal" userId="af32904b-6c78-4cff-8330-5f3a20d540de" providerId="ADAL" clId="{E01CBE59-94E2-4607-A170-EBFE72D8B202}" dt="2026-03-12T15:43:09.160" v="0" actId="729"/>
        <pc:sldMkLst>
          <pc:docMk/>
          <pc:sldMk cId="286600690" sldId="349"/>
        </pc:sldMkLst>
      </pc:sldChg>
      <pc:sldChg chg="mod modShow">
        <pc:chgData name="Khurram Iqbal" userId="af32904b-6c78-4cff-8330-5f3a20d540de" providerId="ADAL" clId="{E01CBE59-94E2-4607-A170-EBFE72D8B202}" dt="2026-03-12T15:43:09.160" v="0" actId="729"/>
        <pc:sldMkLst>
          <pc:docMk/>
          <pc:sldMk cId="1213004522" sldId="350"/>
        </pc:sldMkLst>
      </pc:sldChg>
      <pc:sldChg chg="mod modShow">
        <pc:chgData name="Khurram Iqbal" userId="af32904b-6c78-4cff-8330-5f3a20d540de" providerId="ADAL" clId="{E01CBE59-94E2-4607-A170-EBFE72D8B202}" dt="2026-03-12T15:43:09.160" v="0" actId="729"/>
        <pc:sldMkLst>
          <pc:docMk/>
          <pc:sldMk cId="586652498" sldId="351"/>
        </pc:sldMkLst>
      </pc:sldChg>
      <pc:sldChg chg="mod modShow">
        <pc:chgData name="Khurram Iqbal" userId="af32904b-6c78-4cff-8330-5f3a20d540de" providerId="ADAL" clId="{E01CBE59-94E2-4607-A170-EBFE72D8B202}" dt="2026-03-12T15:43:09.160" v="0" actId="729"/>
        <pc:sldMkLst>
          <pc:docMk/>
          <pc:sldMk cId="239490432" sldId="352"/>
        </pc:sldMkLst>
      </pc:sldChg>
      <pc:sldChg chg="mod modShow">
        <pc:chgData name="Khurram Iqbal" userId="af32904b-6c78-4cff-8330-5f3a20d540de" providerId="ADAL" clId="{E01CBE59-94E2-4607-A170-EBFE72D8B202}" dt="2026-03-12T15:44:30.228" v="1" actId="729"/>
        <pc:sldMkLst>
          <pc:docMk/>
          <pc:sldMk cId="2495106877" sldId="367"/>
        </pc:sldMkLst>
      </pc:sldChg>
      <pc:sldChg chg="mod modShow">
        <pc:chgData name="Khurram Iqbal" userId="af32904b-6c78-4cff-8330-5f3a20d540de" providerId="ADAL" clId="{E01CBE59-94E2-4607-A170-EBFE72D8B202}" dt="2026-03-12T15:44:30.228" v="1" actId="729"/>
        <pc:sldMkLst>
          <pc:docMk/>
          <pc:sldMk cId="1481187327" sldId="368"/>
        </pc:sldMkLst>
      </pc:sldChg>
      <pc:sldChg chg="mod modShow">
        <pc:chgData name="Khurram Iqbal" userId="af32904b-6c78-4cff-8330-5f3a20d540de" providerId="ADAL" clId="{E01CBE59-94E2-4607-A170-EBFE72D8B202}" dt="2026-03-12T15:43:09.160" v="0" actId="729"/>
        <pc:sldMkLst>
          <pc:docMk/>
          <pc:sldMk cId="1725114778" sldId="370"/>
        </pc:sldMkLst>
      </pc:sldChg>
      <pc:sldChg chg="mod modShow">
        <pc:chgData name="Khurram Iqbal" userId="af32904b-6c78-4cff-8330-5f3a20d540de" providerId="ADAL" clId="{E01CBE59-94E2-4607-A170-EBFE72D8B202}" dt="2026-03-12T15:43:09.160" v="0" actId="729"/>
        <pc:sldMkLst>
          <pc:docMk/>
          <pc:sldMk cId="397401806" sldId="445"/>
        </pc:sldMkLst>
      </pc:sldChg>
      <pc:sldChg chg="delSp modSp mod">
        <pc:chgData name="Khurram Iqbal" userId="af32904b-6c78-4cff-8330-5f3a20d540de" providerId="ADAL" clId="{E01CBE59-94E2-4607-A170-EBFE72D8B202}" dt="2026-03-12T16:29:06.478" v="6" actId="478"/>
        <pc:sldMkLst>
          <pc:docMk/>
          <pc:sldMk cId="190732078" sldId="446"/>
        </pc:sldMkLst>
        <pc:spChg chg="mod">
          <ac:chgData name="Khurram Iqbal" userId="af32904b-6c78-4cff-8330-5f3a20d540de" providerId="ADAL" clId="{E01CBE59-94E2-4607-A170-EBFE72D8B202}" dt="2026-03-12T16:26:52.349" v="3" actId="20577"/>
          <ac:spMkLst>
            <pc:docMk/>
            <pc:sldMk cId="190732078" sldId="446"/>
            <ac:spMk id="3" creationId="{413A16D0-1350-F79F-7415-5EB1FEDA945C}"/>
          </ac:spMkLst>
        </pc:spChg>
        <pc:spChg chg="del mod">
          <ac:chgData name="Khurram Iqbal" userId="af32904b-6c78-4cff-8330-5f3a20d540de" providerId="ADAL" clId="{E01CBE59-94E2-4607-A170-EBFE72D8B202}" dt="2026-03-12T16:29:06.478" v="6" actId="478"/>
          <ac:spMkLst>
            <pc:docMk/>
            <pc:sldMk cId="190732078" sldId="446"/>
            <ac:spMk id="5" creationId="{1B21D282-41C2-C83E-CFC0-F127726DB151}"/>
          </ac:spMkLst>
        </pc:spChg>
      </pc:sldChg>
      <pc:sldChg chg="mod modShow">
        <pc:chgData name="Khurram Iqbal" userId="af32904b-6c78-4cff-8330-5f3a20d540de" providerId="ADAL" clId="{E01CBE59-94E2-4607-A170-EBFE72D8B202}" dt="2026-03-12T15:44:30.228" v="1" actId="729"/>
        <pc:sldMkLst>
          <pc:docMk/>
          <pc:sldMk cId="801941164" sldId="449"/>
        </pc:sldMkLst>
      </pc:sldChg>
      <pc:sldChg chg="add">
        <pc:chgData name="Khurram Iqbal" userId="af32904b-6c78-4cff-8330-5f3a20d540de" providerId="ADAL" clId="{E01CBE59-94E2-4607-A170-EBFE72D8B202}" dt="2026-03-12T16:26:21.416" v="2" actId="2890"/>
        <pc:sldMkLst>
          <pc:docMk/>
          <pc:sldMk cId="1561300423" sldId="45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50B2C2-0233-451E-A299-1933C50747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037427A-28E9-4910-8DD1-DACB2AA205CC}">
      <dgm:prSet/>
      <dgm:spPr/>
      <dgm:t>
        <a:bodyPr/>
        <a:lstStyle/>
        <a:p>
          <a:r>
            <a:rPr lang="en-US" dirty="0"/>
            <a:t>Increment/Decrement Operators</a:t>
          </a:r>
        </a:p>
      </dgm:t>
    </dgm:pt>
    <dgm:pt modelId="{A408B56E-FEA0-4780-9903-20E0EAAD53EC}" type="parTrans" cxnId="{01D1A664-9013-443F-BAF5-A2ED8C2B6118}">
      <dgm:prSet/>
      <dgm:spPr/>
      <dgm:t>
        <a:bodyPr/>
        <a:lstStyle/>
        <a:p>
          <a:endParaRPr lang="en-US"/>
        </a:p>
      </dgm:t>
    </dgm:pt>
    <dgm:pt modelId="{58B943B8-6C78-4655-A7DD-AF837913F7A5}" type="sibTrans" cxnId="{01D1A664-9013-443F-BAF5-A2ED8C2B6118}">
      <dgm:prSet/>
      <dgm:spPr/>
      <dgm:t>
        <a:bodyPr/>
        <a:lstStyle/>
        <a:p>
          <a:endParaRPr lang="en-US"/>
        </a:p>
      </dgm:t>
    </dgm:pt>
    <dgm:pt modelId="{A0A795C0-86ED-45AD-93BD-A0953D0D6133}">
      <dgm:prSet/>
      <dgm:spPr/>
      <dgm:t>
        <a:bodyPr/>
        <a:lstStyle/>
        <a:p>
          <a:r>
            <a:rPr lang="en-US" dirty="0"/>
            <a:t>Formatted Output</a:t>
          </a:r>
        </a:p>
      </dgm:t>
    </dgm:pt>
    <dgm:pt modelId="{7A040966-0341-4A30-8E74-D832E5DA28B0}" type="parTrans" cxnId="{57FE62D6-34E4-4AD7-B4B3-E68BD57933E3}">
      <dgm:prSet/>
      <dgm:spPr/>
      <dgm:t>
        <a:bodyPr/>
        <a:lstStyle/>
        <a:p>
          <a:endParaRPr lang="en-US"/>
        </a:p>
      </dgm:t>
    </dgm:pt>
    <dgm:pt modelId="{835DB930-9C46-4853-B441-BE5428FA0047}" type="sibTrans" cxnId="{57FE62D6-34E4-4AD7-B4B3-E68BD57933E3}">
      <dgm:prSet/>
      <dgm:spPr/>
      <dgm:t>
        <a:bodyPr/>
        <a:lstStyle/>
        <a:p>
          <a:endParaRPr lang="en-US"/>
        </a:p>
      </dgm:t>
    </dgm:pt>
    <dgm:pt modelId="{2042F392-1DAC-4581-B1E2-0A7AE9296E24}" type="pres">
      <dgm:prSet presAssocID="{2650B2C2-0233-451E-A299-1933C5074777}" presName="linear" presStyleCnt="0">
        <dgm:presLayoutVars>
          <dgm:animLvl val="lvl"/>
          <dgm:resizeHandles val="exact"/>
        </dgm:presLayoutVars>
      </dgm:prSet>
      <dgm:spPr/>
    </dgm:pt>
    <dgm:pt modelId="{FF656ED0-4C49-4A3A-A302-3F10330D1716}" type="pres">
      <dgm:prSet presAssocID="{2037427A-28E9-4910-8DD1-DACB2AA205C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B7598FE-D75B-4492-95CB-FCD44731CFB2}" type="pres">
      <dgm:prSet presAssocID="{58B943B8-6C78-4655-A7DD-AF837913F7A5}" presName="spacer" presStyleCnt="0"/>
      <dgm:spPr/>
    </dgm:pt>
    <dgm:pt modelId="{B68CE8C7-650B-49B7-86F9-0AC4712EE574}" type="pres">
      <dgm:prSet presAssocID="{A0A795C0-86ED-45AD-93BD-A0953D0D613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E22483D-34DD-4456-A047-D63872BF0DC3}" type="presOf" srcId="{2650B2C2-0233-451E-A299-1933C5074777}" destId="{2042F392-1DAC-4581-B1E2-0A7AE9296E24}" srcOrd="0" destOrd="0" presId="urn:microsoft.com/office/officeart/2005/8/layout/vList2"/>
    <dgm:cxn modelId="{6B7CE25E-D9ED-45EC-A77B-2CDB51E57F94}" type="presOf" srcId="{A0A795C0-86ED-45AD-93BD-A0953D0D6133}" destId="{B68CE8C7-650B-49B7-86F9-0AC4712EE574}" srcOrd="0" destOrd="0" presId="urn:microsoft.com/office/officeart/2005/8/layout/vList2"/>
    <dgm:cxn modelId="{01D1A664-9013-443F-BAF5-A2ED8C2B6118}" srcId="{2650B2C2-0233-451E-A299-1933C5074777}" destId="{2037427A-28E9-4910-8DD1-DACB2AA205CC}" srcOrd="0" destOrd="0" parTransId="{A408B56E-FEA0-4780-9903-20E0EAAD53EC}" sibTransId="{58B943B8-6C78-4655-A7DD-AF837913F7A5}"/>
    <dgm:cxn modelId="{0A9840A0-9904-4101-8DF8-77689DF1AB2F}" type="presOf" srcId="{2037427A-28E9-4910-8DD1-DACB2AA205CC}" destId="{FF656ED0-4C49-4A3A-A302-3F10330D1716}" srcOrd="0" destOrd="0" presId="urn:microsoft.com/office/officeart/2005/8/layout/vList2"/>
    <dgm:cxn modelId="{57FE62D6-34E4-4AD7-B4B3-E68BD57933E3}" srcId="{2650B2C2-0233-451E-A299-1933C5074777}" destId="{A0A795C0-86ED-45AD-93BD-A0953D0D6133}" srcOrd="1" destOrd="0" parTransId="{7A040966-0341-4A30-8E74-D832E5DA28B0}" sibTransId="{835DB930-9C46-4853-B441-BE5428FA0047}"/>
    <dgm:cxn modelId="{40A17FFA-30ED-4D51-95F2-96AFCE9B9467}" type="presParOf" srcId="{2042F392-1DAC-4581-B1E2-0A7AE9296E24}" destId="{FF656ED0-4C49-4A3A-A302-3F10330D1716}" srcOrd="0" destOrd="0" presId="urn:microsoft.com/office/officeart/2005/8/layout/vList2"/>
    <dgm:cxn modelId="{72E59FA4-9377-4DB5-B6DC-694E9A86DB53}" type="presParOf" srcId="{2042F392-1DAC-4581-B1E2-0A7AE9296E24}" destId="{0B7598FE-D75B-4492-95CB-FCD44731CFB2}" srcOrd="1" destOrd="0" presId="urn:microsoft.com/office/officeart/2005/8/layout/vList2"/>
    <dgm:cxn modelId="{6CA55796-ADBB-4956-A454-2EE8A6A425FB}" type="presParOf" srcId="{2042F392-1DAC-4581-B1E2-0A7AE9296E24}" destId="{B68CE8C7-650B-49B7-86F9-0AC4712EE57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56ED0-4C49-4A3A-A302-3F10330D1716}">
      <dsp:nvSpPr>
        <dsp:cNvPr id="0" name=""/>
        <dsp:cNvSpPr/>
      </dsp:nvSpPr>
      <dsp:spPr>
        <a:xfrm>
          <a:off x="0" y="1119270"/>
          <a:ext cx="5175384" cy="1591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Increment/Decrement Operators</a:t>
          </a:r>
        </a:p>
      </dsp:txBody>
      <dsp:txXfrm>
        <a:off x="77676" y="1196946"/>
        <a:ext cx="5020032" cy="1435848"/>
      </dsp:txXfrm>
    </dsp:sp>
    <dsp:sp modelId="{B68CE8C7-650B-49B7-86F9-0AC4712EE574}">
      <dsp:nvSpPr>
        <dsp:cNvPr id="0" name=""/>
        <dsp:cNvSpPr/>
      </dsp:nvSpPr>
      <dsp:spPr>
        <a:xfrm>
          <a:off x="0" y="2825670"/>
          <a:ext cx="5175384" cy="15912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Formatted Output</a:t>
          </a:r>
        </a:p>
      </dsp:txBody>
      <dsp:txXfrm>
        <a:off x="77676" y="2903346"/>
        <a:ext cx="5020032" cy="1435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016B81-293F-432D-A7DB-6B4EFD58CD0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A60CD-DC3B-499F-A9F7-16F2CF058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2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A60CD-DC3B-499F-A9F7-16F2CF058D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A60CD-DC3B-499F-A9F7-16F2CF058DC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24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7C4F55-6C10-566B-C8DE-39CE8246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Lecture Outline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9CBC9F-75A0-6E05-2C1D-2452666C12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03751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38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2849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656150"/>
            <a:ext cx="4193090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73940"/>
            <a:ext cx="3696218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100"/>
              <a:t>Increment and Decrement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2524721"/>
            <a:ext cx="3978854" cy="36771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increment operator (++) and decrement operator (– –) are for incrementing and decrementing a variable by 1.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5813" y="658367"/>
            <a:ext cx="3539537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5813" y="3530966"/>
            <a:ext cx="3539537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92240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5130799" y="3964836"/>
            <a:ext cx="3229430" cy="1563003"/>
            <a:chOff x="333374" y="2325260"/>
            <a:chExt cx="6829426" cy="1541974"/>
          </a:xfrm>
        </p:grpSpPr>
        <p:sp>
          <p:nvSpPr>
            <p:cNvPr id="5" name="Rectangle 4"/>
            <p:cNvSpPr/>
            <p:nvPr/>
          </p:nvSpPr>
          <p:spPr>
            <a:xfrm>
              <a:off x="2590800" y="2895600"/>
              <a:ext cx="4572000" cy="9716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429768">
                <a:spcAft>
                  <a:spcPts val="600"/>
                </a:spcAft>
              </a:pP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 </a:t>
              </a:r>
              <a:r>
                <a:rPr lang="en-US" sz="1600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= 3, j = 3;</a:t>
              </a:r>
            </a:p>
            <a:p>
              <a:pPr defTabSz="429768">
                <a:spcAft>
                  <a:spcPts val="600"/>
                </a:spcAft>
              </a:pPr>
              <a:r>
                <a:rPr lang="en-US" sz="1600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++; // </a:t>
              </a:r>
              <a:r>
                <a:rPr lang="en-US" sz="1600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becomes 4</a:t>
              </a:r>
            </a:p>
            <a:p>
              <a:pPr defTabSz="429768">
                <a:spcAft>
                  <a:spcPts val="600"/>
                </a:spcAft>
              </a:pP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J--; // j becomes 2</a:t>
              </a:r>
              <a:endParaRPr lang="en-US" sz="36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33374" y="2325260"/>
              <a:ext cx="6296026" cy="6376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29768">
                <a:spcAft>
                  <a:spcPts val="600"/>
                </a:spcAft>
              </a:pPr>
              <a:r>
                <a:rPr lang="en-US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Example – </a:t>
              </a:r>
              <a:r>
                <a:rPr lang="en-US" b="1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PostIncrement</a:t>
              </a:r>
              <a:r>
                <a:rPr lang="en-US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/ </a:t>
              </a:r>
              <a:r>
                <a:rPr lang="en-US" b="1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Postdecrement</a:t>
              </a:r>
              <a:endParaRPr lang="en-US" sz="4000" b="1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130799" y="1532471"/>
            <a:ext cx="3229429" cy="1506174"/>
            <a:chOff x="457199" y="4276488"/>
            <a:chExt cx="6705601" cy="2147566"/>
          </a:xfrm>
        </p:grpSpPr>
        <p:sp>
          <p:nvSpPr>
            <p:cNvPr id="8" name="Rectangle 7"/>
            <p:cNvSpPr/>
            <p:nvPr/>
          </p:nvSpPr>
          <p:spPr>
            <a:xfrm>
              <a:off x="2590800" y="5019764"/>
              <a:ext cx="4572000" cy="140429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438912">
                <a:spcAft>
                  <a:spcPts val="600"/>
                </a:spcAft>
              </a:pP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 </a:t>
              </a:r>
              <a:r>
                <a:rPr lang="en-US" sz="1600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= 3, j = 3;</a:t>
              </a:r>
            </a:p>
            <a:p>
              <a:pPr defTabSz="438912">
                <a:spcAft>
                  <a:spcPts val="600"/>
                </a:spcAft>
              </a:pP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++</a:t>
              </a:r>
              <a:r>
                <a:rPr lang="en-US" sz="1600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; // </a:t>
              </a:r>
              <a:r>
                <a:rPr lang="en-US" sz="1600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becomes 4</a:t>
              </a:r>
            </a:p>
            <a:p>
              <a:pPr defTabSz="438912">
                <a:spcAft>
                  <a:spcPts val="600"/>
                </a:spcAft>
              </a:pP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--j; // j becomes 2</a:t>
              </a:r>
              <a:endParaRPr lang="en-US" sz="36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7199" y="4276488"/>
              <a:ext cx="6296024" cy="8337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38912">
                <a:spcAft>
                  <a:spcPts val="600"/>
                </a:spcAft>
              </a:pPr>
              <a:r>
                <a:rPr lang="en-US" sz="16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Example – </a:t>
              </a:r>
              <a:r>
                <a:rPr lang="en-US" sz="1600" b="1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PreIncrement</a:t>
              </a:r>
              <a:r>
                <a:rPr lang="en-US" sz="16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/ </a:t>
              </a:r>
              <a:r>
                <a:rPr lang="en-US" sz="1600" b="1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Predecrement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9365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9"/>
          <p:cNvSpPr>
            <a:spLocks noChangeArrowheads="1"/>
          </p:cNvSpPr>
          <p:nvPr/>
        </p:nvSpPr>
        <p:spPr bwMode="auto">
          <a:xfrm>
            <a:off x="247650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44037" name="Rectangle 11"/>
          <p:cNvSpPr>
            <a:spLocks noChangeArrowheads="1"/>
          </p:cNvSpPr>
          <p:nvPr/>
        </p:nvSpPr>
        <p:spPr bwMode="auto">
          <a:xfrm>
            <a:off x="240030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44038" name="Rectangle 13"/>
          <p:cNvSpPr>
            <a:spLocks noChangeArrowheads="1"/>
          </p:cNvSpPr>
          <p:nvPr/>
        </p:nvSpPr>
        <p:spPr bwMode="auto">
          <a:xfrm>
            <a:off x="236220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44039" name="Rectangle 15"/>
          <p:cNvSpPr>
            <a:spLocks noChangeArrowheads="1"/>
          </p:cNvSpPr>
          <p:nvPr/>
        </p:nvSpPr>
        <p:spPr bwMode="auto">
          <a:xfrm>
            <a:off x="228600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44040" name="Rectangle 17"/>
          <p:cNvSpPr>
            <a:spLocks noChangeArrowheads="1"/>
          </p:cNvSpPr>
          <p:nvPr/>
        </p:nvSpPr>
        <p:spPr bwMode="auto">
          <a:xfrm>
            <a:off x="236220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4404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220818"/>
              </p:ext>
            </p:extLst>
          </p:nvPr>
        </p:nvGraphicFramePr>
        <p:xfrm>
          <a:off x="765175" y="2514600"/>
          <a:ext cx="746125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419720" imgH="685800" progId="Word.Picture.8">
                  <p:embed/>
                </p:oleObj>
              </mc:Choice>
              <mc:Fallback>
                <p:oleObj name="Picture" r:id="rId3" imgW="4419720" imgH="685800" progId="Word.Picture.8">
                  <p:embed/>
                  <p:pic>
                    <p:nvPicPr>
                      <p:cNvPr id="4404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2514600"/>
                        <a:ext cx="746125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2" name="Rectangle 19"/>
          <p:cNvSpPr>
            <a:spLocks noChangeArrowheads="1"/>
          </p:cNvSpPr>
          <p:nvPr/>
        </p:nvSpPr>
        <p:spPr bwMode="auto">
          <a:xfrm>
            <a:off x="228600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4404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353198"/>
              </p:ext>
            </p:extLst>
          </p:nvPr>
        </p:nvGraphicFramePr>
        <p:xfrm>
          <a:off x="765175" y="4419600"/>
          <a:ext cx="776605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4572000" imgH="685800" progId="Word.Picture.8">
                  <p:embed/>
                </p:oleObj>
              </mc:Choice>
              <mc:Fallback>
                <p:oleObj name="Picture" r:id="rId5" imgW="4572000" imgH="685800" progId="Word.Picture.8">
                  <p:embed/>
                  <p:pic>
                    <p:nvPicPr>
                      <p:cNvPr id="4404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4419600"/>
                        <a:ext cx="776605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"/>
          <p:cNvSpPr txBox="1">
            <a:spLocks/>
          </p:cNvSpPr>
          <p:nvPr/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Increment and Decrement Operators</a:t>
            </a:r>
          </a:p>
        </p:txBody>
      </p:sp>
    </p:spTree>
    <p:extLst>
      <p:ext uri="{BB962C8B-B14F-4D97-AF65-F5344CB8AC3E}">
        <p14:creationId xmlns:p14="http://schemas.microsoft.com/office/powerpoint/2010/main" val="370894383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7"/>
            <a:ext cx="5571858" cy="11997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Increment and Decrement Operators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168" y="2652534"/>
            <a:ext cx="8495662" cy="307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1001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31DF-F4E6-E934-F6F5-14CD3720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Output of the following Java program?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A16D0-1350-F79F-7415-5EB1FEDA9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763000" cy="45259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public class </a:t>
            </a:r>
            <a:r>
              <a:rPr lang="en-US" dirty="0" err="1"/>
              <a:t>IncrementDecrementTest</a:t>
            </a:r>
            <a:r>
              <a:rPr lang="en-US" dirty="0"/>
              <a:t>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int </a:t>
            </a:r>
            <a:r>
              <a:rPr lang="en-US" dirty="0" err="1"/>
              <a:t>i</a:t>
            </a:r>
            <a:r>
              <a:rPr lang="en-US" dirty="0"/>
              <a:t> = 5;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int result = ++</a:t>
            </a:r>
            <a:r>
              <a:rPr lang="en-US" dirty="0" err="1"/>
              <a:t>i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--;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("Result: " + result);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("Final value of i: "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3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98971-3A70-73DC-D061-CD92A7FD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D7A0-3842-3095-04E3-FE4E16B1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Output of the following Java program?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1FA28-DC94-376C-042F-6399372F5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763000" cy="45259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public class </a:t>
            </a:r>
            <a:r>
              <a:rPr lang="en-US" dirty="0" err="1"/>
              <a:t>IncrementDecrementTest</a:t>
            </a:r>
            <a:r>
              <a:rPr lang="en-US" dirty="0"/>
              <a:t>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int </a:t>
            </a:r>
            <a:r>
              <a:rPr lang="en-US" dirty="0" err="1"/>
              <a:t>i</a:t>
            </a:r>
            <a:r>
              <a:rPr lang="en-US" dirty="0"/>
              <a:t> = 5;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int result = ++</a:t>
            </a:r>
            <a:r>
              <a:rPr lang="en-US" dirty="0" err="1"/>
              <a:t>i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-- + </a:t>
            </a:r>
            <a:r>
              <a:rPr lang="en-US" dirty="0" err="1"/>
              <a:t>i</a:t>
            </a:r>
            <a:r>
              <a:rPr lang="en-US" dirty="0"/>
              <a:t>++ + --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("Result: " + result);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("Final value of i: "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563B8-B49F-EF94-F0EA-DDFEA800A183}"/>
              </a:ext>
            </a:extLst>
          </p:cNvPr>
          <p:cNvSpPr txBox="1"/>
          <p:nvPr/>
        </p:nvSpPr>
        <p:spPr>
          <a:xfrm>
            <a:off x="1905000" y="5047671"/>
            <a:ext cx="533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A) Result: 22, Final value of i: 5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B) Result: 21, Final value of i: 5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C) Result: 22, Final value of i: 6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D) Result: 20, Final value of i: 4</a:t>
            </a:r>
          </a:p>
        </p:txBody>
      </p:sp>
    </p:spTree>
    <p:extLst>
      <p:ext uri="{BB962C8B-B14F-4D97-AF65-F5344CB8AC3E}">
        <p14:creationId xmlns:p14="http://schemas.microsoft.com/office/powerpoint/2010/main" val="156130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67D67C-47B7-FAD0-DB3A-E87C46C0A2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30833" b="5678"/>
          <a:stretch/>
        </p:blipFill>
        <p:spPr>
          <a:xfrm>
            <a:off x="1374712" y="643467"/>
            <a:ext cx="6092888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59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775CEDF3-C7AD-6809-FFAF-7EA5D40E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61" r="11645" b="-2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altLang="en-US" sz="3500"/>
              <a:t>Character Data Type</a:t>
            </a:r>
            <a:endParaRPr lang="en-US" sz="35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2370671"/>
            <a:ext cx="4343399" cy="40816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Computers use binary numbers internally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Mapping a character to its binary representation is called </a:t>
            </a:r>
            <a:r>
              <a:rPr lang="en-US" sz="1700" b="1" i="1" dirty="0"/>
              <a:t>encoding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How characters are encoded is defined by an </a:t>
            </a:r>
            <a:r>
              <a:rPr lang="en-US" sz="1700" i="1" dirty="0"/>
              <a:t>encoding</a:t>
            </a:r>
            <a:r>
              <a:rPr lang="en-US" sz="1700" dirty="0"/>
              <a:t> </a:t>
            </a:r>
            <a:r>
              <a:rPr lang="en-US" sz="1700" i="1" dirty="0"/>
              <a:t>scheme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Java supports  </a:t>
            </a:r>
            <a:r>
              <a:rPr lang="en-US" sz="1700" b="1" dirty="0"/>
              <a:t>Unicode</a:t>
            </a:r>
            <a:r>
              <a:rPr lang="en-US" sz="1700" dirty="0"/>
              <a:t> (16 bit character encoding and 65,536 characters are possible)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A 16-bit Unicode takes </a:t>
            </a:r>
            <a:r>
              <a:rPr lang="en-US" sz="1700" b="1" dirty="0"/>
              <a:t>two bytes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Preceded by </a:t>
            </a:r>
            <a:r>
              <a:rPr lang="en-US" sz="1700" b="1" dirty="0"/>
              <a:t>\u</a:t>
            </a:r>
            <a:r>
              <a:rPr lang="en-US" sz="1700" dirty="0"/>
              <a:t>, expressed in four hexadecimal digits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i.e. ranges from \u0000 To \</a:t>
            </a:r>
            <a:r>
              <a:rPr lang="en-US" sz="1700" dirty="0" err="1"/>
              <a:t>uFFFF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2511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1158875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ASCII Code for Commonly Used Characters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686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229100" algn="l"/>
                <a:tab pos="5600700" algn="l"/>
              </a:tabLst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229100" algn="l"/>
                <a:tab pos="5600700" algn="l"/>
              </a:tabLst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229100" algn="l"/>
                <a:tab pos="56007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2600">
              <a:latin typeface="Courier New" pitchFamily="49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8438" name="Object 2"/>
          <p:cNvGraphicFramePr>
            <a:graphicFrameLocks noChangeAspect="1"/>
          </p:cNvGraphicFramePr>
          <p:nvPr/>
        </p:nvGraphicFramePr>
        <p:xfrm>
          <a:off x="228600" y="2895600"/>
          <a:ext cx="8693150" cy="199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725889" imgH="851894" progId="Word.Picture.8">
                  <p:embed/>
                </p:oleObj>
              </mc:Choice>
              <mc:Fallback>
                <p:oleObj name="Picture" r:id="rId2" imgW="3725889" imgH="851894" progId="Word.Picture.8">
                  <p:embed/>
                  <p:pic>
                    <p:nvPicPr>
                      <p:cNvPr id="184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895600"/>
                        <a:ext cx="8693150" cy="199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457200" y="1613705"/>
            <a:ext cx="8305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Unicode includes ASCII code with \u0000 to \u007F corresponding to the 128 ASCII characters</a:t>
            </a:r>
          </a:p>
        </p:txBody>
      </p:sp>
    </p:spTree>
    <p:extLst>
      <p:ext uri="{BB962C8B-B14F-4D97-AF65-F5344CB8AC3E}">
        <p14:creationId xmlns:p14="http://schemas.microsoft.com/office/powerpoint/2010/main" val="12130045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A2F3A-4E61-0B38-7DA0-C5F3EF469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41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1DE221-2394-702E-DA92-387A97FF1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75"/>
          <a:stretch/>
        </p:blipFill>
        <p:spPr bwMode="auto">
          <a:xfrm>
            <a:off x="20" y="10"/>
            <a:ext cx="9143979" cy="5486390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8443" name="Rectangle 18442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9144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7437D12-866A-44D7-2C0B-05582D003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2167" y="5746071"/>
            <a:ext cx="5261624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3100"/>
              <a:t>ASCII Table</a:t>
            </a:r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AC050CD7-77F8-D14A-0459-7ABF9B990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43000"/>
            <a:ext cx="8686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229100" algn="l"/>
                <a:tab pos="5600700" algn="l"/>
              </a:tabLst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229100" algn="l"/>
                <a:tab pos="5600700" algn="l"/>
              </a:tabLst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229100" algn="l"/>
                <a:tab pos="56007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2600">
              <a:latin typeface="Courier New" pitchFamily="49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82C3242-4F69-4B88-8FAC-4EBB52112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18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Character Data Type</a:t>
            </a:r>
            <a:endParaRPr lang="en-US" altLang="en-US" b="1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6477000" cy="2362200"/>
          </a:xfrm>
          <a:noFill/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en-US" altLang="en-US" sz="3000" dirty="0"/>
              <a:t>char letter = 'A'; (ASCII)       </a:t>
            </a:r>
          </a:p>
          <a:p>
            <a:pPr algn="just">
              <a:buFont typeface="Monotype Sorts" pitchFamily="2" charset="2"/>
              <a:buNone/>
            </a:pPr>
            <a:r>
              <a:rPr lang="en-US" altLang="en-US" sz="3000" dirty="0"/>
              <a:t>char </a:t>
            </a:r>
            <a:r>
              <a:rPr lang="en-US" altLang="en-US" sz="3000" dirty="0" err="1"/>
              <a:t>numChar</a:t>
            </a:r>
            <a:r>
              <a:rPr lang="en-US" altLang="en-US" sz="3000" dirty="0"/>
              <a:t> = '4'; (ASCII)</a:t>
            </a:r>
          </a:p>
          <a:p>
            <a:pPr>
              <a:lnSpc>
                <a:spcPct val="30000"/>
              </a:lnSpc>
              <a:spcBef>
                <a:spcPct val="100000"/>
              </a:spcBef>
              <a:buFont typeface="Monotype Sorts" pitchFamily="2" charset="2"/>
              <a:buNone/>
            </a:pPr>
            <a:r>
              <a:rPr lang="en-US" altLang="en-US" sz="3000" dirty="0"/>
              <a:t>char letter = '\u0041'; (Unicode)</a:t>
            </a:r>
          </a:p>
          <a:p>
            <a:pPr>
              <a:lnSpc>
                <a:spcPct val="30000"/>
              </a:lnSpc>
              <a:spcBef>
                <a:spcPct val="100000"/>
              </a:spcBef>
              <a:buFont typeface="Monotype Sorts" pitchFamily="2" charset="2"/>
              <a:buNone/>
            </a:pPr>
            <a:r>
              <a:rPr lang="en-US" altLang="en-US" sz="3000" dirty="0"/>
              <a:t>char </a:t>
            </a:r>
            <a:r>
              <a:rPr lang="en-US" altLang="en-US" sz="3000" dirty="0" err="1"/>
              <a:t>numChar</a:t>
            </a:r>
            <a:r>
              <a:rPr lang="en-US" altLang="en-US" sz="3000" dirty="0"/>
              <a:t> = '\u0034'; (Unicode)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5029200" y="1066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/>
              <a:t>Four hexadecimal digits. </a:t>
            </a:r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 flipH="1">
            <a:off x="2971800" y="1447800"/>
            <a:ext cx="2133600" cy="1143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208129" y="4038600"/>
            <a:ext cx="8763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just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600" dirty="0">
                <a:cs typeface="Times New Roman" pitchFamily="18" charset="0"/>
              </a:rPr>
              <a:t>NOTE: The increment and decrement operators can also be used on </a:t>
            </a:r>
            <a:r>
              <a:rPr lang="en-US" altLang="en-US" sz="2600" u="sng" dirty="0">
                <a:cs typeface="Times New Roman" pitchFamily="18" charset="0"/>
              </a:rPr>
              <a:t>char</a:t>
            </a:r>
            <a:r>
              <a:rPr lang="en-US" altLang="en-US" sz="2600" dirty="0">
                <a:cs typeface="Times New Roman" pitchFamily="18" charset="0"/>
              </a:rPr>
              <a:t> variables to get the next or preceding Unicode character. For example, the following statements display character </a:t>
            </a:r>
            <a:r>
              <a:rPr lang="en-US" altLang="en-US" sz="2600" u="sng" dirty="0">
                <a:cs typeface="Times New Roman" pitchFamily="18" charset="0"/>
              </a:rPr>
              <a:t>b</a:t>
            </a:r>
            <a:r>
              <a:rPr lang="en-US" altLang="en-US" sz="2600" dirty="0">
                <a:cs typeface="Times New Roman" pitchFamily="18" charset="0"/>
              </a:rPr>
              <a:t>.</a:t>
            </a: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</a:pPr>
            <a:r>
              <a:rPr lang="en-US" altLang="en-US" sz="2600" dirty="0">
                <a:cs typeface="Times New Roman" pitchFamily="18" charset="0"/>
              </a:rPr>
              <a:t>    char </a:t>
            </a:r>
            <a:r>
              <a:rPr lang="en-US" altLang="en-US" sz="2600" dirty="0" err="1">
                <a:cs typeface="Times New Roman" pitchFamily="18" charset="0"/>
              </a:rPr>
              <a:t>ch</a:t>
            </a:r>
            <a:r>
              <a:rPr lang="en-US" altLang="en-US" sz="2600" dirty="0">
                <a:cs typeface="Times New Roman" pitchFamily="18" charset="0"/>
              </a:rPr>
              <a:t> = 'a';</a:t>
            </a: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</a:pPr>
            <a:r>
              <a:rPr lang="en-US" altLang="en-US" sz="2600" dirty="0">
                <a:cs typeface="Times New Roman" pitchFamily="18" charset="0"/>
              </a:rPr>
              <a:t>    </a:t>
            </a:r>
            <a:r>
              <a:rPr lang="en-US" altLang="en-US" sz="2600" dirty="0" err="1">
                <a:cs typeface="Times New Roman" pitchFamily="18" charset="0"/>
              </a:rPr>
              <a:t>System.out.println</a:t>
            </a:r>
            <a:r>
              <a:rPr lang="en-US" altLang="en-US" sz="2600" dirty="0">
                <a:cs typeface="Times New Roman" pitchFamily="18" charset="0"/>
              </a:rPr>
              <a:t>(++</a:t>
            </a:r>
            <a:r>
              <a:rPr lang="en-US" altLang="en-US" sz="2600" dirty="0" err="1">
                <a:cs typeface="Times New Roman" pitchFamily="18" charset="0"/>
              </a:rPr>
              <a:t>ch</a:t>
            </a:r>
            <a:r>
              <a:rPr lang="en-US" altLang="en-US" sz="2600" dirty="0">
                <a:cs typeface="Times New Roman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660069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742950"/>
          </a:xfrm>
        </p:spPr>
        <p:txBody>
          <a:bodyPr/>
          <a:lstStyle/>
          <a:p>
            <a:r>
              <a:rPr lang="en-US" altLang="en-US" sz="4000"/>
              <a:t>Escape Sequences for Special Characters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7305358" cy="380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665249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5417"/>
            <a:ext cx="8458200" cy="1143000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Casting between char and Numeric Types</a:t>
            </a:r>
            <a:endParaRPr lang="en-US" altLang="en-US" sz="3600" dirty="0">
              <a:latin typeface="Book Antiqua" pitchFamily="18" charset="0"/>
            </a:endParaRP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280115" y="1066800"/>
            <a:ext cx="8686800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229100" algn="l"/>
                <a:tab pos="5600700" algn="l"/>
              </a:tabLst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229100" algn="l"/>
                <a:tab pos="5600700" algn="l"/>
              </a:tabLst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229100" algn="l"/>
                <a:tab pos="56007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4229100" algn="l"/>
                <a:tab pos="5600700" algn="l"/>
              </a:tabLst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600" b="1" dirty="0" err="1">
                <a:latin typeface="Courier New" pitchFamily="49" charset="0"/>
              </a:rPr>
              <a:t>int</a:t>
            </a:r>
            <a:r>
              <a:rPr lang="en-US" altLang="en-US" sz="2600" b="1" dirty="0">
                <a:latin typeface="Courier New" pitchFamily="49" charset="0"/>
              </a:rPr>
              <a:t> i = </a:t>
            </a:r>
            <a:r>
              <a:rPr lang="en-US" altLang="en-US" sz="3000" b="1" dirty="0">
                <a:latin typeface="Courier New" pitchFamily="49" charset="0"/>
              </a:rPr>
              <a:t>'</a:t>
            </a:r>
            <a:r>
              <a:rPr lang="en-US" altLang="en-US" sz="2600" b="1" dirty="0">
                <a:latin typeface="Courier New" pitchFamily="49" charset="0"/>
              </a:rPr>
              <a:t>a</a:t>
            </a:r>
            <a:r>
              <a:rPr lang="en-US" altLang="en-US" sz="3000" b="1" dirty="0">
                <a:latin typeface="Courier New" pitchFamily="49" charset="0"/>
              </a:rPr>
              <a:t>'</a:t>
            </a:r>
            <a:r>
              <a:rPr lang="en-US" altLang="en-US" sz="2600" b="1" dirty="0">
                <a:latin typeface="Courier New" pitchFamily="49" charset="0"/>
              </a:rPr>
              <a:t>; </a:t>
            </a:r>
            <a:r>
              <a:rPr lang="en-US" altLang="en-US" sz="1600" b="1" dirty="0">
                <a:latin typeface="Courier New" pitchFamily="49" charset="0"/>
              </a:rPr>
              <a:t>// Same as 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i = (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)</a:t>
            </a:r>
            <a:r>
              <a:rPr lang="en-US" altLang="en-US" sz="1800" b="1" dirty="0">
                <a:latin typeface="Courier New" pitchFamily="49" charset="0"/>
              </a:rPr>
              <a:t>'</a:t>
            </a:r>
            <a:r>
              <a:rPr lang="en-US" altLang="en-US" sz="1600" b="1" dirty="0">
                <a:latin typeface="Courier New" pitchFamily="49" charset="0"/>
              </a:rPr>
              <a:t>a</a:t>
            </a:r>
            <a:r>
              <a:rPr lang="en-US" altLang="en-US" sz="1800" b="1" dirty="0">
                <a:latin typeface="Courier New" pitchFamily="49" charset="0"/>
              </a:rPr>
              <a:t>'</a:t>
            </a:r>
            <a:r>
              <a:rPr lang="en-US" altLang="en-US" sz="1600" b="1" dirty="0">
                <a:latin typeface="Courier New" pitchFamily="49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en-US" sz="2600" b="1" dirty="0">
                <a:latin typeface="Courier New" pitchFamily="49" charset="0"/>
              </a:rPr>
              <a:t>char c = 97; </a:t>
            </a:r>
            <a:r>
              <a:rPr lang="en-US" altLang="en-US" sz="1600" b="1" dirty="0">
                <a:latin typeface="Courier New" pitchFamily="49" charset="0"/>
              </a:rPr>
              <a:t>// Same as char c = (char)97;</a:t>
            </a:r>
          </a:p>
          <a:p>
            <a:pPr>
              <a:spcBef>
                <a:spcPct val="50000"/>
              </a:spcBef>
            </a:pPr>
            <a:r>
              <a:rPr lang="en-US" altLang="en-US" sz="2600" b="1" dirty="0">
                <a:latin typeface="Courier New" pitchFamily="49" charset="0"/>
              </a:rPr>
              <a:t>char </a:t>
            </a:r>
            <a:r>
              <a:rPr lang="en-US" altLang="en-US" sz="2600" b="1" dirty="0" err="1">
                <a:latin typeface="Courier New" pitchFamily="49" charset="0"/>
              </a:rPr>
              <a:t>ch</a:t>
            </a:r>
            <a:r>
              <a:rPr lang="en-US" altLang="en-US" sz="2600" b="1" dirty="0">
                <a:latin typeface="Courier New" pitchFamily="49" charset="0"/>
              </a:rPr>
              <a:t> = (char)65.25; </a:t>
            </a:r>
            <a:r>
              <a:rPr lang="en-US" altLang="en-US" sz="1600" b="1" dirty="0">
                <a:latin typeface="Courier New" pitchFamily="49" charset="0"/>
              </a:rPr>
              <a:t>// Decimal 65 is assigned to </a:t>
            </a:r>
            <a:r>
              <a:rPr lang="en-US" altLang="en-US" sz="1600" b="1" dirty="0" err="1">
                <a:latin typeface="Courier New" pitchFamily="49" charset="0"/>
              </a:rPr>
              <a:t>ch</a:t>
            </a: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600" b="1" dirty="0" err="1">
                <a:latin typeface="Courier New" pitchFamily="49" charset="0"/>
              </a:rPr>
              <a:t>System.out.println</a:t>
            </a:r>
            <a:r>
              <a:rPr lang="en-US" altLang="en-US" sz="2600" b="1" dirty="0">
                <a:latin typeface="Courier New" pitchFamily="49" charset="0"/>
              </a:rPr>
              <a:t>(</a:t>
            </a:r>
            <a:r>
              <a:rPr lang="en-US" altLang="en-US" sz="2600" b="1" dirty="0" err="1">
                <a:latin typeface="Courier New" pitchFamily="49" charset="0"/>
              </a:rPr>
              <a:t>ch</a:t>
            </a:r>
            <a:r>
              <a:rPr lang="en-US" altLang="en-US" sz="2600" b="1" dirty="0">
                <a:latin typeface="Courier New" pitchFamily="49" charset="0"/>
              </a:rPr>
              <a:t>); </a:t>
            </a:r>
            <a:r>
              <a:rPr lang="en-US" altLang="en-US" sz="1600" b="1" dirty="0">
                <a:latin typeface="Courier New" pitchFamily="49" charset="0"/>
              </a:rPr>
              <a:t>// </a:t>
            </a:r>
            <a:r>
              <a:rPr lang="en-US" altLang="en-US" sz="1600" b="1" dirty="0" err="1">
                <a:latin typeface="Courier New" pitchFamily="49" charset="0"/>
              </a:rPr>
              <a:t>ch</a:t>
            </a:r>
            <a:r>
              <a:rPr lang="en-US" altLang="en-US" sz="1600" b="1" dirty="0">
                <a:latin typeface="Courier New" pitchFamily="49" charset="0"/>
              </a:rPr>
              <a:t> is character A</a:t>
            </a:r>
            <a:endParaRPr lang="en-US" altLang="en-US" sz="2000" b="1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0115" y="3429000"/>
            <a:ext cx="86867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All numeric operators can be applied to char operands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3952" y="3886200"/>
            <a:ext cx="6996448" cy="2009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21" r="38214"/>
          <a:stretch/>
        </p:blipFill>
        <p:spPr bwMode="auto">
          <a:xfrm>
            <a:off x="5334000" y="5654669"/>
            <a:ext cx="3810001" cy="1203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49043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43000" y="2552163"/>
            <a:ext cx="6705600" cy="437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Console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133600"/>
            <a:ext cx="8763000" cy="44958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Syntax</a:t>
            </a:r>
          </a:p>
          <a:p>
            <a:pPr marL="0" lvl="1" indent="0" algn="ctr">
              <a:buNone/>
            </a:pPr>
            <a:r>
              <a:rPr lang="en-US" altLang="en-US" dirty="0" err="1">
                <a:latin typeface="+mj-lt"/>
                <a:cs typeface="Courier New" pitchFamily="49" charset="0"/>
              </a:rPr>
              <a:t>System.out.printf</a:t>
            </a:r>
            <a:r>
              <a:rPr lang="en-US" altLang="en-US" dirty="0">
                <a:latin typeface="+mj-lt"/>
                <a:cs typeface="Courier New" pitchFamily="49" charset="0"/>
              </a:rPr>
              <a:t>(format, item1, item2,..., </a:t>
            </a:r>
            <a:r>
              <a:rPr lang="en-US" altLang="en-US" dirty="0" err="1">
                <a:latin typeface="+mj-lt"/>
                <a:cs typeface="Courier New" pitchFamily="49" charset="0"/>
              </a:rPr>
              <a:t>itemk</a:t>
            </a:r>
            <a:r>
              <a:rPr lang="en-US" altLang="en-US" dirty="0">
                <a:latin typeface="+mj-lt"/>
                <a:cs typeface="Courier New" pitchFamily="49" charset="0"/>
              </a:rPr>
              <a:t>);</a:t>
            </a:r>
          </a:p>
          <a:p>
            <a:r>
              <a:rPr lang="en-US" altLang="en-US" sz="3000" dirty="0">
                <a:cs typeface="Courier New" pitchFamily="49" charset="0"/>
              </a:rPr>
              <a:t>Where </a:t>
            </a:r>
            <a:r>
              <a:rPr lang="en-US" altLang="en-US" sz="3000" dirty="0">
                <a:solidFill>
                  <a:schemeClr val="accent1"/>
                </a:solidFill>
                <a:cs typeface="Courier New" pitchFamily="49" charset="0"/>
              </a:rPr>
              <a:t>format</a:t>
            </a:r>
            <a:r>
              <a:rPr lang="en-US" altLang="en-US" sz="3000" dirty="0">
                <a:cs typeface="Courier New" pitchFamily="49" charset="0"/>
              </a:rPr>
              <a:t> is a string that may consist of substrings and format specifier.</a:t>
            </a:r>
          </a:p>
          <a:p>
            <a:r>
              <a:rPr lang="en-US" altLang="en-US" sz="3000" dirty="0">
                <a:cs typeface="Courier New" pitchFamily="49" charset="0"/>
              </a:rPr>
              <a:t>A format specifier specifies how an item should be displayed. </a:t>
            </a:r>
          </a:p>
          <a:p>
            <a:r>
              <a:rPr lang="en-US" altLang="en-US" sz="3000" dirty="0">
                <a:cs typeface="Courier New" pitchFamily="49" charset="0"/>
              </a:rPr>
              <a:t>An item may be a numeric value, character, </a:t>
            </a:r>
            <a:r>
              <a:rPr lang="en-US" altLang="en-US" sz="3000" dirty="0" err="1">
                <a:cs typeface="Courier New" pitchFamily="49" charset="0"/>
              </a:rPr>
              <a:t>boolean</a:t>
            </a:r>
            <a:r>
              <a:rPr lang="en-US" altLang="en-US" sz="3000" dirty="0">
                <a:cs typeface="Courier New" pitchFamily="49" charset="0"/>
              </a:rPr>
              <a:t> value, or a string. </a:t>
            </a:r>
          </a:p>
          <a:p>
            <a:pPr lvl="1"/>
            <a:r>
              <a:rPr lang="en-US" altLang="en-US" sz="2600" dirty="0">
                <a:cs typeface="Courier New" pitchFamily="49" charset="0"/>
              </a:rPr>
              <a:t>Items must match the format specifier in order, in number, and in exact type</a:t>
            </a:r>
          </a:p>
          <a:p>
            <a:r>
              <a:rPr lang="en-US" altLang="en-US" sz="3000" dirty="0">
                <a:cs typeface="Courier New" pitchFamily="49" charset="0"/>
              </a:rPr>
              <a:t>A simple format specifier consists of a percent sign (%) followed by a conversion code e.g. (</a:t>
            </a: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en-US" sz="2800" b="1" dirty="0">
                <a:solidFill>
                  <a:srgbClr val="000000"/>
                </a:solidFill>
                <a:cs typeface="Courier New" pitchFamily="49" charset="0"/>
              </a:rPr>
              <a:t> </a:t>
            </a:r>
            <a:r>
              <a:rPr lang="en-US" altLang="en-US" sz="3000" dirty="0">
                <a:cs typeface="Courier New" pitchFamily="49" charset="0"/>
              </a:rPr>
              <a:t>).</a:t>
            </a:r>
            <a:endParaRPr lang="en-US" altLang="en-US" b="1" dirty="0">
              <a:latin typeface="+mj-lt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371600"/>
            <a:ext cx="8458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You can use the </a:t>
            </a:r>
            <a:r>
              <a:rPr lang="en-US" b="1" dirty="0" err="1">
                <a:latin typeface="Courier" pitchFamily="49" charset="0"/>
              </a:rPr>
              <a:t>System.out.printf</a:t>
            </a:r>
            <a:r>
              <a:rPr lang="en-US" b="1" dirty="0">
                <a:latin typeface="Courier" pitchFamily="49" charset="0"/>
              </a:rPr>
              <a:t> </a:t>
            </a:r>
            <a:r>
              <a:rPr lang="en-US" dirty="0"/>
              <a:t>method to display formatted output on the console.</a:t>
            </a:r>
          </a:p>
        </p:txBody>
      </p:sp>
    </p:spTree>
    <p:extLst>
      <p:ext uri="{BB962C8B-B14F-4D97-AF65-F5344CB8AC3E}">
        <p14:creationId xmlns:p14="http://schemas.microsoft.com/office/powerpoint/2010/main" val="1854364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296863"/>
            <a:ext cx="7219950" cy="417512"/>
          </a:xfrm>
        </p:spPr>
        <p:txBody>
          <a:bodyPr>
            <a:normAutofit fontScale="90000"/>
          </a:bodyPr>
          <a:lstStyle/>
          <a:p>
            <a:r>
              <a:rPr lang="en-US" altLang="en-US">
                <a:cs typeface="Courier New" pitchFamily="49" charset="0"/>
              </a:rPr>
              <a:t>Frequently-Used Specifiers</a:t>
            </a:r>
            <a:r>
              <a:rPr lang="en-US" altLang="en-US"/>
              <a:t> </a:t>
            </a:r>
          </a:p>
        </p:txBody>
      </p:sp>
      <p:sp>
        <p:nvSpPr>
          <p:cNvPr id="45060" name="Text Box 3"/>
          <p:cNvSpPr txBox="1">
            <a:spLocks noChangeArrowheads="1"/>
          </p:cNvSpPr>
          <p:nvPr/>
        </p:nvSpPr>
        <p:spPr bwMode="auto">
          <a:xfrm>
            <a:off x="914400" y="1524000"/>
            <a:ext cx="754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228600" y="1066800"/>
            <a:ext cx="8763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cs typeface="Courier New" pitchFamily="49" charset="0"/>
              </a:rPr>
              <a:t>Specifier  Output					Example 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%b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	 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value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 				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true or false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%c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          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 character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 				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'a'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 	 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 decimal integer 			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200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2000" b="1" dirty="0">
              <a:solidFill>
                <a:srgbClr val="000000"/>
              </a:solidFill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%f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         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 floating-point number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		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45.460000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%e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         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 number in standard scientific notation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      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4.556000e+01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%s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	 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 string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 					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"Java is cool"</a:t>
            </a:r>
            <a:r>
              <a:rPr lang="en-US" sz="2000" b="1" dirty="0">
                <a:solidFill>
                  <a:srgbClr val="000000"/>
                </a:solidFill>
                <a:cs typeface="Courier New" pitchFamily="49" charset="0"/>
              </a:rPr>
              <a:t> </a:t>
            </a: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2452688" y="2976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2452688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19427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Console Output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918783"/>
              </p:ext>
            </p:extLst>
          </p:nvPr>
        </p:nvGraphicFramePr>
        <p:xfrm>
          <a:off x="436084" y="4333875"/>
          <a:ext cx="8001000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42816" imgH="1181100" progId="Word.Picture.8">
                  <p:embed/>
                </p:oleObj>
              </mc:Choice>
              <mc:Fallback>
                <p:oleObj r:id="rId2" imgW="4242816" imgH="1181100" progId="Word.Picture.8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84" y="4333875"/>
                        <a:ext cx="8001000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447800"/>
            <a:ext cx="2895600" cy="130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84" y="1389730"/>
            <a:ext cx="5579591" cy="165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9F3D8CB-522F-E17F-FCA1-97382B067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84" y="2932123"/>
            <a:ext cx="7568588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%4.2f is a format specifier: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indicates format conversion.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represents the minimum width.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.2f ensures that the output is rounded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decimal places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floating-point result 16.444674 is rounded to 16.44 to match the .2f format.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35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Width and Precision in Format Specifier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8686800" cy="556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5106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867529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1187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E841-54A9-244C-F38B-ABE1C5A7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011753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cast operator lets you manually convert a value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74706E-980D-B55D-197C-AE6D37127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5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21" descr="A screenshot of a computer">
            <a:extLst>
              <a:ext uri="{FF2B5EF4-FFF2-40B4-BE49-F238E27FC236}">
                <a16:creationId xmlns:a16="http://schemas.microsoft.com/office/drawing/2014/main" id="{041BFE26-AD0E-649E-D57D-B0581E670B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66" y="1811853"/>
            <a:ext cx="8578467" cy="344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FE2DE3-8797-9AA1-8112-A97FC193B6A4}"/>
              </a:ext>
            </a:extLst>
          </p:cNvPr>
          <p:cNvSpPr txBox="1"/>
          <p:nvPr/>
        </p:nvSpPr>
        <p:spPr>
          <a:xfrm>
            <a:off x="2743200" y="308718"/>
            <a:ext cx="2895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Cast Operators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01941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23275</TotalTime>
  <Words>820</Words>
  <Application>Microsoft Office PowerPoint</Application>
  <PresentationFormat>On-screen Show (4:3)</PresentationFormat>
  <Paragraphs>92</Paragraphs>
  <Slides>20</Slides>
  <Notes>4</Notes>
  <HiddenSlides>9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Aptos</vt:lpstr>
      <vt:lpstr>Arial</vt:lpstr>
      <vt:lpstr>Book Antiqua</vt:lpstr>
      <vt:lpstr>Calibri</vt:lpstr>
      <vt:lpstr>Courier</vt:lpstr>
      <vt:lpstr>Courier New</vt:lpstr>
      <vt:lpstr>Monotype Sorts</vt:lpstr>
      <vt:lpstr>Times New Roman</vt:lpstr>
      <vt:lpstr>Office Theme</vt:lpstr>
      <vt:lpstr>Picture</vt:lpstr>
      <vt:lpstr>Microsoft Word Picture</vt:lpstr>
      <vt:lpstr>PowerPoint Presentation</vt:lpstr>
      <vt:lpstr>Lecture Outline</vt:lpstr>
      <vt:lpstr>Increment and Decrement Operators</vt:lpstr>
      <vt:lpstr>PowerPoint Presentation</vt:lpstr>
      <vt:lpstr>Increment and Decrement Operators</vt:lpstr>
      <vt:lpstr>Output of the following Java program?</vt:lpstr>
      <vt:lpstr>Output of the following Java program?</vt:lpstr>
      <vt:lpstr>PowerPoint Presentation</vt:lpstr>
      <vt:lpstr>Character Data Type</vt:lpstr>
      <vt:lpstr>ASCII Code for Commonly Used Characters</vt:lpstr>
      <vt:lpstr>ASCII Table</vt:lpstr>
      <vt:lpstr>Character Data Type</vt:lpstr>
      <vt:lpstr>Escape Sequences for Special Characters</vt:lpstr>
      <vt:lpstr>Casting between char and Numeric Types</vt:lpstr>
      <vt:lpstr>Formatting Console Output</vt:lpstr>
      <vt:lpstr>Frequently-Used Specifiers </vt:lpstr>
      <vt:lpstr>Formatting Console Output</vt:lpstr>
      <vt:lpstr>Width and Precision in Format Specifier</vt:lpstr>
      <vt:lpstr>Example</vt:lpstr>
      <vt:lpstr> The cast operator lets you manually convert a value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CSC103-Programming Fundamentals</dc:title>
  <dc:creator>Rizwan</dc:creator>
  <cp:lastModifiedBy>Khurram Iqbal</cp:lastModifiedBy>
  <cp:revision>83</cp:revision>
  <dcterms:created xsi:type="dcterms:W3CDTF">2006-08-16T00:00:00Z</dcterms:created>
  <dcterms:modified xsi:type="dcterms:W3CDTF">2026-03-12T16:29:17Z</dcterms:modified>
</cp:coreProperties>
</file>