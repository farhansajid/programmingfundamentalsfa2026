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96" r:id="rId13"/>
    <p:sldId id="289" r:id="rId14"/>
    <p:sldId id="290" r:id="rId15"/>
    <p:sldId id="291" r:id="rId16"/>
    <p:sldId id="265" r:id="rId17"/>
    <p:sldId id="256" r:id="rId18"/>
    <p:sldId id="266" r:id="rId19"/>
    <p:sldId id="293" r:id="rId20"/>
    <p:sldId id="294" r:id="rId21"/>
    <p:sldId id="257" r:id="rId22"/>
    <p:sldId id="259" r:id="rId23"/>
    <p:sldId id="260" r:id="rId24"/>
    <p:sldId id="262" r:id="rId25"/>
    <p:sldId id="267" r:id="rId26"/>
    <p:sldId id="261" r:id="rId27"/>
    <p:sldId id="263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F83D85-C6D9-4C34-83D7-BD270D98DCA5}">
          <p14:sldIdLst>
            <p14:sldId id="292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96"/>
            <p14:sldId id="289"/>
            <p14:sldId id="290"/>
            <p14:sldId id="291"/>
            <p14:sldId id="265"/>
            <p14:sldId id="256"/>
            <p14:sldId id="266"/>
            <p14:sldId id="293"/>
            <p14:sldId id="294"/>
            <p14:sldId id="257"/>
            <p14:sldId id="259"/>
            <p14:sldId id="260"/>
            <p14:sldId id="262"/>
            <p14:sldId id="267"/>
            <p14:sldId id="261"/>
            <p14:sldId id="263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EA308-09F4-4481-A04F-225BD12C7547}" v="1" dt="2026-04-20T15:33:53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E01CBE59-94E2-4607-A170-EBFE72D8B202}"/>
    <pc:docChg chg="undo custSel addSld delSld modSld modSection">
      <pc:chgData name="Khurram Iqbal" userId="af32904b-6c78-4cff-8330-5f3a20d540de" providerId="ADAL" clId="{E01CBE59-94E2-4607-A170-EBFE72D8B202}" dt="2026-04-20T16:10:44.216" v="16" actId="21"/>
      <pc:docMkLst>
        <pc:docMk/>
      </pc:docMkLst>
      <pc:sldChg chg="addSp delSp mod">
        <pc:chgData name="Khurram Iqbal" userId="af32904b-6c78-4cff-8330-5f3a20d540de" providerId="ADAL" clId="{E01CBE59-94E2-4607-A170-EBFE72D8B202}" dt="2026-04-20T16:10:44.216" v="16" actId="21"/>
        <pc:sldMkLst>
          <pc:docMk/>
          <pc:sldMk cId="3709212249" sldId="274"/>
        </pc:sldMkLst>
        <pc:spChg chg="add del">
          <ac:chgData name="Khurram Iqbal" userId="af32904b-6c78-4cff-8330-5f3a20d540de" providerId="ADAL" clId="{E01CBE59-94E2-4607-A170-EBFE72D8B202}" dt="2026-04-20T16:10:44.216" v="16" actId="21"/>
          <ac:spMkLst>
            <pc:docMk/>
            <pc:sldMk cId="3709212249" sldId="274"/>
            <ac:spMk id="10" creationId="{DE4F07E2-F87B-4D2A-796B-C0D301363CB0}"/>
          </ac:spMkLst>
        </pc:spChg>
      </pc:sldChg>
      <pc:sldChg chg="modSp mod">
        <pc:chgData name="Khurram Iqbal" userId="af32904b-6c78-4cff-8330-5f3a20d540de" providerId="ADAL" clId="{E01CBE59-94E2-4607-A170-EBFE72D8B202}" dt="2026-04-10T05:23:57.835" v="1" actId="20577"/>
        <pc:sldMkLst>
          <pc:docMk/>
          <pc:sldMk cId="928838765" sldId="277"/>
        </pc:sldMkLst>
        <pc:graphicFrameChg chg="modGraphic">
          <ac:chgData name="Khurram Iqbal" userId="af32904b-6c78-4cff-8330-5f3a20d540de" providerId="ADAL" clId="{E01CBE59-94E2-4607-A170-EBFE72D8B202}" dt="2026-04-10T05:23:57.835" v="1" actId="20577"/>
          <ac:graphicFrameMkLst>
            <pc:docMk/>
            <pc:sldMk cId="928838765" sldId="277"/>
            <ac:graphicFrameMk id="8198" creationId="{71B1C838-D6E6-A7B3-CD3E-9526A5013950}"/>
          </ac:graphicFrameMkLst>
        </pc:graphicFrameChg>
      </pc:sldChg>
      <pc:sldChg chg="modSp mod">
        <pc:chgData name="Khurram Iqbal" userId="af32904b-6c78-4cff-8330-5f3a20d540de" providerId="ADAL" clId="{E01CBE59-94E2-4607-A170-EBFE72D8B202}" dt="2026-04-10T06:09:36.855" v="4" actId="20577"/>
        <pc:sldMkLst>
          <pc:docMk/>
          <pc:sldMk cId="1915593865" sldId="282"/>
        </pc:sldMkLst>
        <pc:spChg chg="mod">
          <ac:chgData name="Khurram Iqbal" userId="af32904b-6c78-4cff-8330-5f3a20d540de" providerId="ADAL" clId="{E01CBE59-94E2-4607-A170-EBFE72D8B202}" dt="2026-04-10T06:09:36.855" v="4" actId="20577"/>
          <ac:spMkLst>
            <pc:docMk/>
            <pc:sldMk cId="1915593865" sldId="282"/>
            <ac:spMk id="12292" creationId="{00000000-0000-0000-0000-000000000000}"/>
          </ac:spMkLst>
        </pc:spChg>
      </pc:sldChg>
      <pc:sldChg chg="mod modShow">
        <pc:chgData name="Khurram Iqbal" userId="af32904b-6c78-4cff-8330-5f3a20d540de" providerId="ADAL" clId="{E01CBE59-94E2-4607-A170-EBFE72D8B202}" dt="2026-04-20T15:34:58.201" v="14" actId="729"/>
        <pc:sldMkLst>
          <pc:docMk/>
          <pc:sldMk cId="271692653" sldId="285"/>
        </pc:sldMkLst>
      </pc:sldChg>
      <pc:sldChg chg="mod modShow">
        <pc:chgData name="Khurram Iqbal" userId="af32904b-6c78-4cff-8330-5f3a20d540de" providerId="ADAL" clId="{E01CBE59-94E2-4607-A170-EBFE72D8B202}" dt="2026-04-20T15:34:58.201" v="14" actId="729"/>
        <pc:sldMkLst>
          <pc:docMk/>
          <pc:sldMk cId="3720692573" sldId="289"/>
        </pc:sldMkLst>
      </pc:sldChg>
      <pc:sldChg chg="mod modShow">
        <pc:chgData name="Khurram Iqbal" userId="af32904b-6c78-4cff-8330-5f3a20d540de" providerId="ADAL" clId="{E01CBE59-94E2-4607-A170-EBFE72D8B202}" dt="2026-04-20T15:34:58.201" v="14" actId="729"/>
        <pc:sldMkLst>
          <pc:docMk/>
          <pc:sldMk cId="42664820" sldId="290"/>
        </pc:sldMkLst>
      </pc:sldChg>
      <pc:sldChg chg="new del">
        <pc:chgData name="Khurram Iqbal" userId="af32904b-6c78-4cff-8330-5f3a20d540de" providerId="ADAL" clId="{E01CBE59-94E2-4607-A170-EBFE72D8B202}" dt="2026-04-20T15:31:24.675" v="7" actId="47"/>
        <pc:sldMkLst>
          <pc:docMk/>
          <pc:sldMk cId="1360482825" sldId="295"/>
        </pc:sldMkLst>
      </pc:sldChg>
      <pc:sldChg chg="addSp delSp modSp add mod modShow">
        <pc:chgData name="Khurram Iqbal" userId="af32904b-6c78-4cff-8330-5f3a20d540de" providerId="ADAL" clId="{E01CBE59-94E2-4607-A170-EBFE72D8B202}" dt="2026-04-20T15:34:58.201" v="14" actId="729"/>
        <pc:sldMkLst>
          <pc:docMk/>
          <pc:sldMk cId="2922372430" sldId="296"/>
        </pc:sldMkLst>
        <pc:spChg chg="mod">
          <ac:chgData name="Khurram Iqbal" userId="af32904b-6c78-4cff-8330-5f3a20d540de" providerId="ADAL" clId="{E01CBE59-94E2-4607-A170-EBFE72D8B202}" dt="2026-04-20T15:33:59.286" v="13" actId="1076"/>
          <ac:spMkLst>
            <pc:docMk/>
            <pc:sldMk cId="2922372430" sldId="296"/>
            <ac:spMk id="2" creationId="{A96A7D00-DE67-03E4-31B9-4B0EFD07DF4B}"/>
          </ac:spMkLst>
        </pc:spChg>
        <pc:spChg chg="del mod">
          <ac:chgData name="Khurram Iqbal" userId="af32904b-6c78-4cff-8330-5f3a20d540de" providerId="ADAL" clId="{E01CBE59-94E2-4607-A170-EBFE72D8B202}" dt="2026-04-20T15:33:19.211" v="9" actId="478"/>
          <ac:spMkLst>
            <pc:docMk/>
            <pc:sldMk cId="2922372430" sldId="296"/>
            <ac:spMk id="3" creationId="{566A7951-3318-A241-3F61-DD40078ABDD0}"/>
          </ac:spMkLst>
        </pc:spChg>
        <pc:picChg chg="add mod">
          <ac:chgData name="Khurram Iqbal" userId="af32904b-6c78-4cff-8330-5f3a20d540de" providerId="ADAL" clId="{E01CBE59-94E2-4607-A170-EBFE72D8B202}" dt="2026-04-20T15:33:25.662" v="11" actId="1076"/>
          <ac:picMkLst>
            <pc:docMk/>
            <pc:sldMk cId="2922372430" sldId="296"/>
            <ac:picMk id="5" creationId="{316973DE-2F3A-E1F1-C2BF-11B71A65D96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E018B6-C4F3-419C-9F6F-945B27A63966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2F5FA1-E1A1-4EA2-BCF5-96A98673A66A}">
      <dgm:prSet/>
      <dgm:spPr/>
      <dgm:t>
        <a:bodyPr/>
        <a:lstStyle/>
        <a:p>
          <a:r>
            <a:rPr lang="en-US"/>
            <a:t>Class constants:</a:t>
          </a:r>
        </a:p>
      </dgm:t>
    </dgm:pt>
    <dgm:pt modelId="{B11858E9-1568-4C15-A8AD-57332C7BA469}" type="parTrans" cxnId="{F51546F3-773A-4371-B756-47B57B68ABCC}">
      <dgm:prSet/>
      <dgm:spPr/>
      <dgm:t>
        <a:bodyPr/>
        <a:lstStyle/>
        <a:p>
          <a:endParaRPr lang="en-US"/>
        </a:p>
      </dgm:t>
    </dgm:pt>
    <dgm:pt modelId="{1233F1C2-A30E-4160-970A-9312F2B33451}" type="sibTrans" cxnId="{F51546F3-773A-4371-B756-47B57B68ABCC}">
      <dgm:prSet/>
      <dgm:spPr/>
      <dgm:t>
        <a:bodyPr/>
        <a:lstStyle/>
        <a:p>
          <a:endParaRPr lang="en-US"/>
        </a:p>
      </dgm:t>
    </dgm:pt>
    <dgm:pt modelId="{285A4A9C-84BD-40BF-9F8D-C2C6FB4666D6}">
      <dgm:prSet/>
      <dgm:spPr/>
      <dgm:t>
        <a:bodyPr/>
        <a:lstStyle/>
        <a:p>
          <a:r>
            <a:rPr lang="en-US" dirty="0"/>
            <a:t>PI</a:t>
          </a:r>
        </a:p>
      </dgm:t>
    </dgm:pt>
    <dgm:pt modelId="{62188D11-F824-4BDC-915E-19339642D63A}" type="parTrans" cxnId="{D81F3BE0-B565-4868-A6CF-4DB13CF4DBD3}">
      <dgm:prSet/>
      <dgm:spPr/>
      <dgm:t>
        <a:bodyPr/>
        <a:lstStyle/>
        <a:p>
          <a:endParaRPr lang="en-US"/>
        </a:p>
      </dgm:t>
    </dgm:pt>
    <dgm:pt modelId="{A71B8A35-ADCB-4F9A-A509-117E137B3998}" type="sibTrans" cxnId="{D81F3BE0-B565-4868-A6CF-4DB13CF4DBD3}">
      <dgm:prSet/>
      <dgm:spPr/>
      <dgm:t>
        <a:bodyPr/>
        <a:lstStyle/>
        <a:p>
          <a:endParaRPr lang="en-US"/>
        </a:p>
      </dgm:t>
    </dgm:pt>
    <dgm:pt modelId="{F78EA85C-E9F8-4326-B570-E2EEAE1F487B}">
      <dgm:prSet/>
      <dgm:spPr/>
      <dgm:t>
        <a:bodyPr/>
        <a:lstStyle/>
        <a:p>
          <a:r>
            <a:rPr lang="en-US"/>
            <a:t>Class methods: </a:t>
          </a:r>
        </a:p>
      </dgm:t>
    </dgm:pt>
    <dgm:pt modelId="{062872AD-98C2-483E-8AE3-0C19C9D7713A}" type="parTrans" cxnId="{468C9AEF-30E4-4455-9F3E-9012062C3B6C}">
      <dgm:prSet/>
      <dgm:spPr/>
      <dgm:t>
        <a:bodyPr/>
        <a:lstStyle/>
        <a:p>
          <a:endParaRPr lang="en-US"/>
        </a:p>
      </dgm:t>
    </dgm:pt>
    <dgm:pt modelId="{FF718691-2EE3-409A-96B2-D6D9A85F2859}" type="sibTrans" cxnId="{468C9AEF-30E4-4455-9F3E-9012062C3B6C}">
      <dgm:prSet/>
      <dgm:spPr/>
      <dgm:t>
        <a:bodyPr/>
        <a:lstStyle/>
        <a:p>
          <a:endParaRPr lang="en-US"/>
        </a:p>
      </dgm:t>
    </dgm:pt>
    <dgm:pt modelId="{4A69DC07-250B-423E-9AA4-C33DA0C2D34D}">
      <dgm:prSet/>
      <dgm:spPr/>
      <dgm:t>
        <a:bodyPr/>
        <a:lstStyle/>
        <a:p>
          <a:r>
            <a:rPr lang="en-US"/>
            <a:t>Trigonometric Methods </a:t>
          </a:r>
        </a:p>
      </dgm:t>
    </dgm:pt>
    <dgm:pt modelId="{027617BB-24F4-4897-8B21-217C0CFE6C81}" type="parTrans" cxnId="{8527C4A3-BE04-4BB6-A213-FF1F286BAF84}">
      <dgm:prSet/>
      <dgm:spPr/>
      <dgm:t>
        <a:bodyPr/>
        <a:lstStyle/>
        <a:p>
          <a:endParaRPr lang="en-US"/>
        </a:p>
      </dgm:t>
    </dgm:pt>
    <dgm:pt modelId="{062F7621-4983-488E-B904-B16E238C0C8C}" type="sibTrans" cxnId="{8527C4A3-BE04-4BB6-A213-FF1F286BAF84}">
      <dgm:prSet/>
      <dgm:spPr/>
      <dgm:t>
        <a:bodyPr/>
        <a:lstStyle/>
        <a:p>
          <a:endParaRPr lang="en-US"/>
        </a:p>
      </dgm:t>
    </dgm:pt>
    <dgm:pt modelId="{40705E80-F350-4BE2-9C30-E9261AF2D05D}">
      <dgm:prSet/>
      <dgm:spPr/>
      <dgm:t>
        <a:bodyPr/>
        <a:lstStyle/>
        <a:p>
          <a:r>
            <a:rPr lang="en-US"/>
            <a:t>Exponent Methods</a:t>
          </a:r>
        </a:p>
      </dgm:t>
    </dgm:pt>
    <dgm:pt modelId="{55A2BEAA-022D-4FF3-8977-0FDDCF412A0A}" type="parTrans" cxnId="{1FF56770-1FC9-445D-8530-9AE7CEDC9DE6}">
      <dgm:prSet/>
      <dgm:spPr/>
      <dgm:t>
        <a:bodyPr/>
        <a:lstStyle/>
        <a:p>
          <a:endParaRPr lang="en-US"/>
        </a:p>
      </dgm:t>
    </dgm:pt>
    <dgm:pt modelId="{113C7D62-36E8-4A90-A8C1-42F721CDFB82}" type="sibTrans" cxnId="{1FF56770-1FC9-445D-8530-9AE7CEDC9DE6}">
      <dgm:prSet/>
      <dgm:spPr/>
      <dgm:t>
        <a:bodyPr/>
        <a:lstStyle/>
        <a:p>
          <a:endParaRPr lang="en-US"/>
        </a:p>
      </dgm:t>
    </dgm:pt>
    <dgm:pt modelId="{B9E74858-0BEA-4784-B90B-0E878F23D699}">
      <dgm:prSet/>
      <dgm:spPr/>
      <dgm:t>
        <a:bodyPr/>
        <a:lstStyle/>
        <a:p>
          <a:r>
            <a:rPr lang="en-US"/>
            <a:t>Rounding Methods</a:t>
          </a:r>
        </a:p>
      </dgm:t>
    </dgm:pt>
    <dgm:pt modelId="{5600E770-7EE4-4E45-8E96-4D2F76126091}" type="parTrans" cxnId="{6F844F72-A905-45B7-BC8C-40FD0C92EA91}">
      <dgm:prSet/>
      <dgm:spPr/>
      <dgm:t>
        <a:bodyPr/>
        <a:lstStyle/>
        <a:p>
          <a:endParaRPr lang="en-US"/>
        </a:p>
      </dgm:t>
    </dgm:pt>
    <dgm:pt modelId="{AAD8EC39-FCC0-4AE3-B4F9-8E22F4FDF7B7}" type="sibTrans" cxnId="{6F844F72-A905-45B7-BC8C-40FD0C92EA91}">
      <dgm:prSet/>
      <dgm:spPr/>
      <dgm:t>
        <a:bodyPr/>
        <a:lstStyle/>
        <a:p>
          <a:endParaRPr lang="en-US"/>
        </a:p>
      </dgm:t>
    </dgm:pt>
    <dgm:pt modelId="{1116FC8B-635B-4EC8-BFB7-8C821F2CEA21}">
      <dgm:prSet/>
      <dgm:spPr/>
      <dgm:t>
        <a:bodyPr/>
        <a:lstStyle/>
        <a:p>
          <a:r>
            <a:rPr lang="en-US"/>
            <a:t>min, max, abs, and random Methods</a:t>
          </a:r>
        </a:p>
      </dgm:t>
    </dgm:pt>
    <dgm:pt modelId="{4C9FD17A-A9D8-46CF-AF75-A257EC35CEB8}" type="parTrans" cxnId="{253340CA-7FA2-4BA9-AE5D-79DCEB4EA7DA}">
      <dgm:prSet/>
      <dgm:spPr/>
      <dgm:t>
        <a:bodyPr/>
        <a:lstStyle/>
        <a:p>
          <a:endParaRPr lang="en-US"/>
        </a:p>
      </dgm:t>
    </dgm:pt>
    <dgm:pt modelId="{9DDB737B-7A48-4680-BB8D-12FA85DD855F}" type="sibTrans" cxnId="{253340CA-7FA2-4BA9-AE5D-79DCEB4EA7DA}">
      <dgm:prSet/>
      <dgm:spPr/>
      <dgm:t>
        <a:bodyPr/>
        <a:lstStyle/>
        <a:p>
          <a:endParaRPr lang="en-US"/>
        </a:p>
      </dgm:t>
    </dgm:pt>
    <dgm:pt modelId="{60F4702F-BAA5-43B3-AF9B-4D0166C397E6}">
      <dgm:prSet/>
      <dgm:spPr/>
      <dgm:t>
        <a:bodyPr/>
        <a:lstStyle/>
        <a:p>
          <a:r>
            <a:rPr lang="en-US" dirty="0"/>
            <a:t>E</a:t>
          </a:r>
        </a:p>
      </dgm:t>
    </dgm:pt>
    <dgm:pt modelId="{49DF928A-4A70-4A85-800D-22EFB7A3AE52}" type="parTrans" cxnId="{CFC50BA8-B4CC-40FE-B88E-3AADCFC39008}">
      <dgm:prSet/>
      <dgm:spPr/>
      <dgm:t>
        <a:bodyPr/>
        <a:lstStyle/>
        <a:p>
          <a:endParaRPr lang="en-US"/>
        </a:p>
      </dgm:t>
    </dgm:pt>
    <dgm:pt modelId="{58CD2C0E-3AB7-40E4-B956-C20D930369AA}" type="sibTrans" cxnId="{CFC50BA8-B4CC-40FE-B88E-3AADCFC39008}">
      <dgm:prSet/>
      <dgm:spPr/>
      <dgm:t>
        <a:bodyPr/>
        <a:lstStyle/>
        <a:p>
          <a:endParaRPr lang="en-US"/>
        </a:p>
      </dgm:t>
    </dgm:pt>
    <dgm:pt modelId="{0F52511C-C290-48AF-AC36-AAE08F4FCCB2}" type="pres">
      <dgm:prSet presAssocID="{CDE018B6-C4F3-419C-9F6F-945B27A63966}" presName="linear" presStyleCnt="0">
        <dgm:presLayoutVars>
          <dgm:dir/>
          <dgm:animLvl val="lvl"/>
          <dgm:resizeHandles val="exact"/>
        </dgm:presLayoutVars>
      </dgm:prSet>
      <dgm:spPr/>
    </dgm:pt>
    <dgm:pt modelId="{0ED10490-3C30-40FA-AB35-294995666F3B}" type="pres">
      <dgm:prSet presAssocID="{482F5FA1-E1A1-4EA2-BCF5-96A98673A66A}" presName="parentLin" presStyleCnt="0"/>
      <dgm:spPr/>
    </dgm:pt>
    <dgm:pt modelId="{25A82F46-371A-498B-842F-7CB968072010}" type="pres">
      <dgm:prSet presAssocID="{482F5FA1-E1A1-4EA2-BCF5-96A98673A66A}" presName="parentLeftMargin" presStyleLbl="node1" presStyleIdx="0" presStyleCnt="2"/>
      <dgm:spPr/>
    </dgm:pt>
    <dgm:pt modelId="{C1AA66CF-E058-4918-A96B-96B658B2A368}" type="pres">
      <dgm:prSet presAssocID="{482F5FA1-E1A1-4EA2-BCF5-96A98673A66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9AF1414-8EC4-4B86-8CA3-74F2773F41E3}" type="pres">
      <dgm:prSet presAssocID="{482F5FA1-E1A1-4EA2-BCF5-96A98673A66A}" presName="negativeSpace" presStyleCnt="0"/>
      <dgm:spPr/>
    </dgm:pt>
    <dgm:pt modelId="{DE2FBC67-F01E-42C8-9BF5-EAC9206EEC82}" type="pres">
      <dgm:prSet presAssocID="{482F5FA1-E1A1-4EA2-BCF5-96A98673A66A}" presName="childText" presStyleLbl="conFgAcc1" presStyleIdx="0" presStyleCnt="2">
        <dgm:presLayoutVars>
          <dgm:bulletEnabled val="1"/>
        </dgm:presLayoutVars>
      </dgm:prSet>
      <dgm:spPr/>
    </dgm:pt>
    <dgm:pt modelId="{AE3D92D2-D63A-45CD-8B8B-D042F1B69142}" type="pres">
      <dgm:prSet presAssocID="{1233F1C2-A30E-4160-970A-9312F2B33451}" presName="spaceBetweenRectangles" presStyleCnt="0"/>
      <dgm:spPr/>
    </dgm:pt>
    <dgm:pt modelId="{B4A55E51-A2CF-46FB-95F0-CE957DDF158D}" type="pres">
      <dgm:prSet presAssocID="{F78EA85C-E9F8-4326-B570-E2EEAE1F487B}" presName="parentLin" presStyleCnt="0"/>
      <dgm:spPr/>
    </dgm:pt>
    <dgm:pt modelId="{8DE2C5C1-883B-48C5-B3D2-DB720015AD9F}" type="pres">
      <dgm:prSet presAssocID="{F78EA85C-E9F8-4326-B570-E2EEAE1F487B}" presName="parentLeftMargin" presStyleLbl="node1" presStyleIdx="0" presStyleCnt="2"/>
      <dgm:spPr/>
    </dgm:pt>
    <dgm:pt modelId="{D4DC03A9-5EFF-4A10-8EC6-FB5F55E5AE59}" type="pres">
      <dgm:prSet presAssocID="{F78EA85C-E9F8-4326-B570-E2EEAE1F487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E95BCE-A10B-4022-B640-18EAE754B376}" type="pres">
      <dgm:prSet presAssocID="{F78EA85C-E9F8-4326-B570-E2EEAE1F487B}" presName="negativeSpace" presStyleCnt="0"/>
      <dgm:spPr/>
    </dgm:pt>
    <dgm:pt modelId="{72B4BA00-BE1C-42A5-930C-57E569068832}" type="pres">
      <dgm:prSet presAssocID="{F78EA85C-E9F8-4326-B570-E2EEAE1F487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C65CE00-401C-47BD-9DCF-F001A1559D22}" type="presOf" srcId="{CDE018B6-C4F3-419C-9F6F-945B27A63966}" destId="{0F52511C-C290-48AF-AC36-AAE08F4FCCB2}" srcOrd="0" destOrd="0" presId="urn:microsoft.com/office/officeart/2005/8/layout/list1"/>
    <dgm:cxn modelId="{7C44490B-88DD-44C2-9F71-AE67540E7955}" type="presOf" srcId="{40705E80-F350-4BE2-9C30-E9261AF2D05D}" destId="{72B4BA00-BE1C-42A5-930C-57E569068832}" srcOrd="0" destOrd="1" presId="urn:microsoft.com/office/officeart/2005/8/layout/list1"/>
    <dgm:cxn modelId="{E463730D-783E-4748-8593-1E3FDD5235AD}" type="presOf" srcId="{F78EA85C-E9F8-4326-B570-E2EEAE1F487B}" destId="{D4DC03A9-5EFF-4A10-8EC6-FB5F55E5AE59}" srcOrd="1" destOrd="0" presId="urn:microsoft.com/office/officeart/2005/8/layout/list1"/>
    <dgm:cxn modelId="{6536591C-F201-4B5D-8B68-07B628EB4440}" type="presOf" srcId="{F78EA85C-E9F8-4326-B570-E2EEAE1F487B}" destId="{8DE2C5C1-883B-48C5-B3D2-DB720015AD9F}" srcOrd="0" destOrd="0" presId="urn:microsoft.com/office/officeart/2005/8/layout/list1"/>
    <dgm:cxn modelId="{93AC215D-B1D2-4679-A15C-3AD0F99FF676}" type="presOf" srcId="{482F5FA1-E1A1-4EA2-BCF5-96A98673A66A}" destId="{25A82F46-371A-498B-842F-7CB968072010}" srcOrd="0" destOrd="0" presId="urn:microsoft.com/office/officeart/2005/8/layout/list1"/>
    <dgm:cxn modelId="{DD069342-89FD-4556-B85F-AA7E6FEE090B}" type="presOf" srcId="{B9E74858-0BEA-4784-B90B-0E878F23D699}" destId="{72B4BA00-BE1C-42A5-930C-57E569068832}" srcOrd="0" destOrd="2" presId="urn:microsoft.com/office/officeart/2005/8/layout/list1"/>
    <dgm:cxn modelId="{1FF56770-1FC9-445D-8530-9AE7CEDC9DE6}" srcId="{F78EA85C-E9F8-4326-B570-E2EEAE1F487B}" destId="{40705E80-F350-4BE2-9C30-E9261AF2D05D}" srcOrd="1" destOrd="0" parTransId="{55A2BEAA-022D-4FF3-8977-0FDDCF412A0A}" sibTransId="{113C7D62-36E8-4A90-A8C1-42F721CDFB82}"/>
    <dgm:cxn modelId="{6F844F72-A905-45B7-BC8C-40FD0C92EA91}" srcId="{F78EA85C-E9F8-4326-B570-E2EEAE1F487B}" destId="{B9E74858-0BEA-4784-B90B-0E878F23D699}" srcOrd="2" destOrd="0" parTransId="{5600E770-7EE4-4E45-8E96-4D2F76126091}" sibTransId="{AAD8EC39-FCC0-4AE3-B4F9-8E22F4FDF7B7}"/>
    <dgm:cxn modelId="{AC62F57B-23D2-426B-BB65-0E7EC98F8A51}" type="presOf" srcId="{285A4A9C-84BD-40BF-9F8D-C2C6FB4666D6}" destId="{DE2FBC67-F01E-42C8-9BF5-EAC9206EEC82}" srcOrd="0" destOrd="0" presId="urn:microsoft.com/office/officeart/2005/8/layout/list1"/>
    <dgm:cxn modelId="{8527C4A3-BE04-4BB6-A213-FF1F286BAF84}" srcId="{F78EA85C-E9F8-4326-B570-E2EEAE1F487B}" destId="{4A69DC07-250B-423E-9AA4-C33DA0C2D34D}" srcOrd="0" destOrd="0" parTransId="{027617BB-24F4-4897-8B21-217C0CFE6C81}" sibTransId="{062F7621-4983-488E-B904-B16E238C0C8C}"/>
    <dgm:cxn modelId="{CFC50BA8-B4CC-40FE-B88E-3AADCFC39008}" srcId="{482F5FA1-E1A1-4EA2-BCF5-96A98673A66A}" destId="{60F4702F-BAA5-43B3-AF9B-4D0166C397E6}" srcOrd="1" destOrd="0" parTransId="{49DF928A-4A70-4A85-800D-22EFB7A3AE52}" sibTransId="{58CD2C0E-3AB7-40E4-B956-C20D930369AA}"/>
    <dgm:cxn modelId="{953F0AB0-304D-445E-8930-855E34098DA9}" type="presOf" srcId="{4A69DC07-250B-423E-9AA4-C33DA0C2D34D}" destId="{72B4BA00-BE1C-42A5-930C-57E569068832}" srcOrd="0" destOrd="0" presId="urn:microsoft.com/office/officeart/2005/8/layout/list1"/>
    <dgm:cxn modelId="{AF8F3DB9-9B22-4E49-B67E-FB91BEDB89A2}" type="presOf" srcId="{60F4702F-BAA5-43B3-AF9B-4D0166C397E6}" destId="{DE2FBC67-F01E-42C8-9BF5-EAC9206EEC82}" srcOrd="0" destOrd="1" presId="urn:microsoft.com/office/officeart/2005/8/layout/list1"/>
    <dgm:cxn modelId="{253340CA-7FA2-4BA9-AE5D-79DCEB4EA7DA}" srcId="{F78EA85C-E9F8-4326-B570-E2EEAE1F487B}" destId="{1116FC8B-635B-4EC8-BFB7-8C821F2CEA21}" srcOrd="3" destOrd="0" parTransId="{4C9FD17A-A9D8-46CF-AF75-A257EC35CEB8}" sibTransId="{9DDB737B-7A48-4680-BB8D-12FA85DD855F}"/>
    <dgm:cxn modelId="{D81F3BE0-B565-4868-A6CF-4DB13CF4DBD3}" srcId="{482F5FA1-E1A1-4EA2-BCF5-96A98673A66A}" destId="{285A4A9C-84BD-40BF-9F8D-C2C6FB4666D6}" srcOrd="0" destOrd="0" parTransId="{62188D11-F824-4BDC-915E-19339642D63A}" sibTransId="{A71B8A35-ADCB-4F9A-A509-117E137B3998}"/>
    <dgm:cxn modelId="{468C9AEF-30E4-4455-9F3E-9012062C3B6C}" srcId="{CDE018B6-C4F3-419C-9F6F-945B27A63966}" destId="{F78EA85C-E9F8-4326-B570-E2EEAE1F487B}" srcOrd="1" destOrd="0" parTransId="{062872AD-98C2-483E-8AE3-0C19C9D7713A}" sibTransId="{FF718691-2EE3-409A-96B2-D6D9A85F2859}"/>
    <dgm:cxn modelId="{F51546F3-773A-4371-B756-47B57B68ABCC}" srcId="{CDE018B6-C4F3-419C-9F6F-945B27A63966}" destId="{482F5FA1-E1A1-4EA2-BCF5-96A98673A66A}" srcOrd="0" destOrd="0" parTransId="{B11858E9-1568-4C15-A8AD-57332C7BA469}" sibTransId="{1233F1C2-A30E-4160-970A-9312F2B33451}"/>
    <dgm:cxn modelId="{5EC47AF4-897C-4313-B0C2-9D31B1A68B14}" type="presOf" srcId="{482F5FA1-E1A1-4EA2-BCF5-96A98673A66A}" destId="{C1AA66CF-E058-4918-A96B-96B658B2A368}" srcOrd="1" destOrd="0" presId="urn:microsoft.com/office/officeart/2005/8/layout/list1"/>
    <dgm:cxn modelId="{CFDDE5FB-D6F7-43E5-AFA3-783B220EB123}" type="presOf" srcId="{1116FC8B-635B-4EC8-BFB7-8C821F2CEA21}" destId="{72B4BA00-BE1C-42A5-930C-57E569068832}" srcOrd="0" destOrd="3" presId="urn:microsoft.com/office/officeart/2005/8/layout/list1"/>
    <dgm:cxn modelId="{01C25219-FC3A-4C8D-84D4-293253E6B5F8}" type="presParOf" srcId="{0F52511C-C290-48AF-AC36-AAE08F4FCCB2}" destId="{0ED10490-3C30-40FA-AB35-294995666F3B}" srcOrd="0" destOrd="0" presId="urn:microsoft.com/office/officeart/2005/8/layout/list1"/>
    <dgm:cxn modelId="{8A6CB18C-0E69-4C85-8DB5-1C5E3E6D4B13}" type="presParOf" srcId="{0ED10490-3C30-40FA-AB35-294995666F3B}" destId="{25A82F46-371A-498B-842F-7CB968072010}" srcOrd="0" destOrd="0" presId="urn:microsoft.com/office/officeart/2005/8/layout/list1"/>
    <dgm:cxn modelId="{9144D98B-3129-4D3C-8E1F-BEF65A2F0653}" type="presParOf" srcId="{0ED10490-3C30-40FA-AB35-294995666F3B}" destId="{C1AA66CF-E058-4918-A96B-96B658B2A368}" srcOrd="1" destOrd="0" presId="urn:microsoft.com/office/officeart/2005/8/layout/list1"/>
    <dgm:cxn modelId="{0B0ACC63-1673-4DA5-AEC4-A3B19889DF1F}" type="presParOf" srcId="{0F52511C-C290-48AF-AC36-AAE08F4FCCB2}" destId="{99AF1414-8EC4-4B86-8CA3-74F2773F41E3}" srcOrd="1" destOrd="0" presId="urn:microsoft.com/office/officeart/2005/8/layout/list1"/>
    <dgm:cxn modelId="{4B7F7422-EC1C-4B48-95A5-DDE0E34603F0}" type="presParOf" srcId="{0F52511C-C290-48AF-AC36-AAE08F4FCCB2}" destId="{DE2FBC67-F01E-42C8-9BF5-EAC9206EEC82}" srcOrd="2" destOrd="0" presId="urn:microsoft.com/office/officeart/2005/8/layout/list1"/>
    <dgm:cxn modelId="{71E14461-6C47-4484-8292-CFBA4600D3C5}" type="presParOf" srcId="{0F52511C-C290-48AF-AC36-AAE08F4FCCB2}" destId="{AE3D92D2-D63A-45CD-8B8B-D042F1B69142}" srcOrd="3" destOrd="0" presId="urn:microsoft.com/office/officeart/2005/8/layout/list1"/>
    <dgm:cxn modelId="{86EB900A-C95F-4BAB-8E7D-60429D160081}" type="presParOf" srcId="{0F52511C-C290-48AF-AC36-AAE08F4FCCB2}" destId="{B4A55E51-A2CF-46FB-95F0-CE957DDF158D}" srcOrd="4" destOrd="0" presId="urn:microsoft.com/office/officeart/2005/8/layout/list1"/>
    <dgm:cxn modelId="{B8E3101E-5013-4CD4-A4A8-828C04F1E8FB}" type="presParOf" srcId="{B4A55E51-A2CF-46FB-95F0-CE957DDF158D}" destId="{8DE2C5C1-883B-48C5-B3D2-DB720015AD9F}" srcOrd="0" destOrd="0" presId="urn:microsoft.com/office/officeart/2005/8/layout/list1"/>
    <dgm:cxn modelId="{6C8235C5-E4B4-4C65-AF82-0340131C29CB}" type="presParOf" srcId="{B4A55E51-A2CF-46FB-95F0-CE957DDF158D}" destId="{D4DC03A9-5EFF-4A10-8EC6-FB5F55E5AE59}" srcOrd="1" destOrd="0" presId="urn:microsoft.com/office/officeart/2005/8/layout/list1"/>
    <dgm:cxn modelId="{5E800271-E505-47CF-9C50-C73878470F54}" type="presParOf" srcId="{0F52511C-C290-48AF-AC36-AAE08F4FCCB2}" destId="{E2E95BCE-A10B-4022-B640-18EAE754B376}" srcOrd="5" destOrd="0" presId="urn:microsoft.com/office/officeart/2005/8/layout/list1"/>
    <dgm:cxn modelId="{8E40151F-7B2C-4C39-8EFD-F1A72C9CA86B}" type="presParOf" srcId="{0F52511C-C290-48AF-AC36-AAE08F4FCCB2}" destId="{72B4BA00-BE1C-42A5-930C-57E56906883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FBC67-F01E-42C8-9BF5-EAC9206EEC82}">
      <dsp:nvSpPr>
        <dsp:cNvPr id="0" name=""/>
        <dsp:cNvSpPr/>
      </dsp:nvSpPr>
      <dsp:spPr>
        <a:xfrm>
          <a:off x="0" y="421497"/>
          <a:ext cx="5000124" cy="15734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PI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E</a:t>
          </a:r>
        </a:p>
      </dsp:txBody>
      <dsp:txXfrm>
        <a:off x="0" y="421497"/>
        <a:ext cx="5000124" cy="1573424"/>
      </dsp:txXfrm>
    </dsp:sp>
    <dsp:sp modelId="{C1AA66CF-E058-4918-A96B-96B658B2A368}">
      <dsp:nvSpPr>
        <dsp:cNvPr id="0" name=""/>
        <dsp:cNvSpPr/>
      </dsp:nvSpPr>
      <dsp:spPr>
        <a:xfrm>
          <a:off x="250006" y="22977"/>
          <a:ext cx="3500086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Class constants:</a:t>
          </a:r>
        </a:p>
      </dsp:txBody>
      <dsp:txXfrm>
        <a:off x="288914" y="61885"/>
        <a:ext cx="3422270" cy="719224"/>
      </dsp:txXfrm>
    </dsp:sp>
    <dsp:sp modelId="{72B4BA00-BE1C-42A5-930C-57E569068832}">
      <dsp:nvSpPr>
        <dsp:cNvPr id="0" name=""/>
        <dsp:cNvSpPr/>
      </dsp:nvSpPr>
      <dsp:spPr>
        <a:xfrm>
          <a:off x="0" y="2539242"/>
          <a:ext cx="5000124" cy="2891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Trigonometric Methods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Exponent Methods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Rounding Methods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min, max, abs, and random Methods</a:t>
          </a:r>
        </a:p>
      </dsp:txBody>
      <dsp:txXfrm>
        <a:off x="0" y="2539242"/>
        <a:ext cx="5000124" cy="2891700"/>
      </dsp:txXfrm>
    </dsp:sp>
    <dsp:sp modelId="{D4DC03A9-5EFF-4A10-8EC6-FB5F55E5AE59}">
      <dsp:nvSpPr>
        <dsp:cNvPr id="0" name=""/>
        <dsp:cNvSpPr/>
      </dsp:nvSpPr>
      <dsp:spPr>
        <a:xfrm>
          <a:off x="250006" y="2140722"/>
          <a:ext cx="3500086" cy="7970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Class methods: </a:t>
          </a:r>
        </a:p>
      </dsp:txBody>
      <dsp:txXfrm>
        <a:off x="288914" y="2179630"/>
        <a:ext cx="3422270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300"/>
              <a:t>Math, Character and String Class</a:t>
            </a:r>
            <a:br>
              <a:rPr lang="en-US" sz="6300"/>
            </a:br>
            <a:endParaRPr lang="en-US" sz="63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r>
              <a:rPr lang="en-US" sz="2400"/>
              <a:t>CSC103-Programming Fundamentals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38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3985"/>
            <a:ext cx="7329573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1796" y="1764407"/>
            <a:ext cx="4320635" cy="2310312"/>
          </a:xfrm>
        </p:spPr>
        <p:txBody>
          <a:bodyPr>
            <a:normAutofit/>
          </a:bodyPr>
          <a:lstStyle/>
          <a:p>
            <a:r>
              <a:rPr lang="en-US" sz="4500">
                <a:solidFill>
                  <a:schemeClr val="tx2"/>
                </a:solidFill>
              </a:rPr>
              <a:t>Math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676400" y="3352800"/>
            <a:ext cx="6245805" cy="24823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2"/>
                </a:solidFill>
              </a:rPr>
              <a:t>Java provides many useful methods in the </a:t>
            </a:r>
            <a:r>
              <a:rPr lang="en-US" altLang="en-US" sz="2800" b="1" dirty="0">
                <a:solidFill>
                  <a:schemeClr val="tx2"/>
                </a:solidFill>
              </a:rPr>
              <a:t>Math</a:t>
            </a:r>
            <a:r>
              <a:rPr lang="en-US" altLang="en-US" sz="2800" dirty="0">
                <a:solidFill>
                  <a:schemeClr val="tx2"/>
                </a:solidFill>
              </a:rPr>
              <a:t> class for performing common mathematical functions.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11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2" name="Rectangle 820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4" name="Rectangle 820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6" name="Rectangle 820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8" name="Rectangle 820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10" name="Freeform: Shape 820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212" name="Rectangle 821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3500">
                <a:solidFill>
                  <a:srgbClr val="FFFFFF"/>
                </a:solidFill>
              </a:rPr>
              <a:t>The </a:t>
            </a:r>
            <a:r>
              <a:rPr lang="en-US" altLang="en-US" sz="3500">
                <a:solidFill>
                  <a:srgbClr val="FFFFFF"/>
                </a:solidFill>
                <a:latin typeface="Courier New" pitchFamily="49" charset="0"/>
              </a:rPr>
              <a:t>Math</a:t>
            </a:r>
            <a:r>
              <a:rPr lang="en-US" altLang="en-US" sz="3500">
                <a:solidFill>
                  <a:srgbClr val="FFFFFF"/>
                </a:solidFill>
              </a:rPr>
              <a:t> Class</a:t>
            </a:r>
          </a:p>
        </p:txBody>
      </p:sp>
      <p:graphicFrame>
        <p:nvGraphicFramePr>
          <p:cNvPr id="8198" name="Rectangle 3">
            <a:extLst>
              <a:ext uri="{FF2B5EF4-FFF2-40B4-BE49-F238E27FC236}">
                <a16:creationId xmlns:a16="http://schemas.microsoft.com/office/drawing/2014/main" id="{71B1C838-D6E6-A7B3-CD3E-9526A50139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103258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8838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Trigonometric Methods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168" y="2238370"/>
            <a:ext cx="8495662" cy="390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90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dirty="0"/>
              <a:t>Trigonometric Methods</a:t>
            </a:r>
          </a:p>
        </p:txBody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3505200" cy="4114800"/>
          </a:xfrm>
        </p:spPr>
        <p:txBody>
          <a:bodyPr/>
          <a:lstStyle/>
          <a:p>
            <a:r>
              <a:rPr lang="en-US" sz="2600" b="1">
                <a:solidFill>
                  <a:srgbClr val="000000"/>
                </a:solidFill>
                <a:latin typeface="Courier New" pitchFamily="49" charset="0"/>
              </a:rPr>
              <a:t>sin(double a)</a:t>
            </a:r>
          </a:p>
          <a:p>
            <a:pPr>
              <a:spcBef>
                <a:spcPct val="50000"/>
              </a:spcBef>
            </a:pPr>
            <a:r>
              <a:rPr lang="en-US" sz="2600" b="1">
                <a:solidFill>
                  <a:srgbClr val="000000"/>
                </a:solidFill>
                <a:latin typeface="Courier New" pitchFamily="49" charset="0"/>
              </a:rPr>
              <a:t>cos(double a)</a:t>
            </a:r>
          </a:p>
          <a:p>
            <a:pPr>
              <a:spcBef>
                <a:spcPct val="50000"/>
              </a:spcBef>
            </a:pPr>
            <a:r>
              <a:rPr lang="en-US" sz="2600" b="1">
                <a:solidFill>
                  <a:srgbClr val="000000"/>
                </a:solidFill>
                <a:latin typeface="Courier New" pitchFamily="49" charset="0"/>
              </a:rPr>
              <a:t>tan(double a)</a:t>
            </a:r>
          </a:p>
          <a:p>
            <a:pPr>
              <a:spcBef>
                <a:spcPct val="50000"/>
              </a:spcBef>
            </a:pPr>
            <a:r>
              <a:rPr lang="en-US" sz="2600" b="1">
                <a:solidFill>
                  <a:srgbClr val="000000"/>
                </a:solidFill>
                <a:latin typeface="Courier New" pitchFamily="49" charset="0"/>
              </a:rPr>
              <a:t>acos(double a)</a:t>
            </a:r>
          </a:p>
          <a:p>
            <a:pPr>
              <a:spcBef>
                <a:spcPct val="50000"/>
              </a:spcBef>
            </a:pPr>
            <a:r>
              <a:rPr lang="en-US" sz="2600" b="1">
                <a:solidFill>
                  <a:srgbClr val="000000"/>
                </a:solidFill>
                <a:latin typeface="Courier New" pitchFamily="49" charset="0"/>
              </a:rPr>
              <a:t>asin(double a)</a:t>
            </a:r>
          </a:p>
          <a:p>
            <a:pPr>
              <a:spcBef>
                <a:spcPct val="50000"/>
              </a:spcBef>
            </a:pPr>
            <a:r>
              <a:rPr lang="en-US" sz="2600" b="1">
                <a:solidFill>
                  <a:srgbClr val="000000"/>
                </a:solidFill>
                <a:latin typeface="Courier New" pitchFamily="49" charset="0"/>
              </a:rPr>
              <a:t>atan(double a)</a:t>
            </a: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1600200" y="5486400"/>
            <a:ext cx="1981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Radians</a:t>
            </a:r>
          </a:p>
          <a:p>
            <a:pPr>
              <a:spcBef>
                <a:spcPct val="50000"/>
              </a:spcBef>
            </a:pPr>
            <a:r>
              <a:rPr lang="en-US" altLang="en-US" sz="2400" dirty="0" err="1"/>
              <a:t>toRadians</a:t>
            </a:r>
            <a:r>
              <a:rPr lang="en-US" altLang="en-US" sz="2400" dirty="0"/>
              <a:t>(90)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4419600" y="1371600"/>
            <a:ext cx="4419600" cy="4648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>
                <a:latin typeface="Courier New" pitchFamily="49" charset="0"/>
                <a:cs typeface="Courier New" pitchFamily="49" charset="0"/>
              </a:rPr>
              <a:t>Examples: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en-US" sz="22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>
                <a:latin typeface="Courier New" pitchFamily="49" charset="0"/>
                <a:cs typeface="Courier New" pitchFamily="49" charset="0"/>
              </a:rPr>
              <a:t>Math.sin(0) returns 0.0 </a:t>
            </a:r>
            <a:endParaRPr lang="en-US" altLang="en-US" sz="2200" b="1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>
                <a:latin typeface="Courier New" pitchFamily="49" charset="0"/>
                <a:cs typeface="Courier New" pitchFamily="49" charset="0"/>
              </a:rPr>
              <a:t>Math.sin(Math.PI / 6) returns 0.5 </a:t>
            </a:r>
            <a:endParaRPr lang="en-US" altLang="en-US" sz="2200" b="1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>
                <a:latin typeface="Courier New" pitchFamily="49" charset="0"/>
                <a:cs typeface="Courier New" pitchFamily="49" charset="0"/>
              </a:rPr>
              <a:t>Math.sin(Math.PI / 2) returns 1.0</a:t>
            </a:r>
            <a:endParaRPr lang="en-US" altLang="en-US" sz="2200" b="1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>
                <a:latin typeface="Courier New" pitchFamily="49" charset="0"/>
                <a:cs typeface="Courier New" pitchFamily="49" charset="0"/>
              </a:rPr>
              <a:t>Math.cos(0) returns 1.0</a:t>
            </a:r>
            <a:endParaRPr lang="en-US" altLang="en-US" sz="2200" b="1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>
                <a:latin typeface="Courier New" pitchFamily="49" charset="0"/>
                <a:cs typeface="Courier New" pitchFamily="49" charset="0"/>
              </a:rPr>
              <a:t>Math.cos(Math.PI / 6) returns 0.866 </a:t>
            </a:r>
            <a:endParaRPr lang="en-US" altLang="en-US" sz="2200" b="1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>
                <a:latin typeface="Courier New" pitchFamily="49" charset="0"/>
                <a:cs typeface="Courier New" pitchFamily="49" charset="0"/>
              </a:rPr>
              <a:t>Math.cos(Math.PI / 2) returns 0 </a:t>
            </a:r>
          </a:p>
        </p:txBody>
      </p:sp>
    </p:spTree>
    <p:extLst>
      <p:ext uri="{BB962C8B-B14F-4D97-AF65-F5344CB8AC3E}">
        <p14:creationId xmlns:p14="http://schemas.microsoft.com/office/powerpoint/2010/main" val="2460821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/>
              <a:t>Exponent Methods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4191000" cy="4572000"/>
          </a:xfrm>
          <a:noFill/>
        </p:spPr>
        <p:txBody>
          <a:bodyPr/>
          <a:lstStyle/>
          <a:p>
            <a:pPr marL="341313" indent="-341313"/>
            <a:r>
              <a:rPr lang="en-US" altLang="en-US" sz="2000" b="1">
                <a:latin typeface="Courier New" pitchFamily="49" charset="0"/>
              </a:rPr>
              <a:t>exp(double a)</a:t>
            </a:r>
            <a:endParaRPr lang="en-US" altLang="en-US" sz="2400" b="1"/>
          </a:p>
          <a:p>
            <a:pPr marL="520700" lvl="1" indent="-142875">
              <a:buFontTx/>
              <a:buNone/>
            </a:pPr>
            <a:r>
              <a:rPr lang="en-US" altLang="en-US" sz="2000"/>
              <a:t>Returns </a:t>
            </a:r>
            <a:r>
              <a:rPr lang="en-US" altLang="en-US" sz="2000">
                <a:latin typeface="Courier New" pitchFamily="49" charset="0"/>
              </a:rPr>
              <a:t>e</a:t>
            </a:r>
            <a:r>
              <a:rPr lang="en-US" altLang="en-US" sz="2000"/>
              <a:t> raised to the power of </a:t>
            </a:r>
            <a:r>
              <a:rPr lang="en-US" altLang="en-US" sz="2000">
                <a:latin typeface="Courier New" pitchFamily="49" charset="0"/>
              </a:rPr>
              <a:t>a</a:t>
            </a:r>
            <a:r>
              <a:rPr lang="en-US" altLang="en-US" sz="2000"/>
              <a:t>.</a:t>
            </a:r>
          </a:p>
          <a:p>
            <a:pPr marL="341313" indent="-341313"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</a:rPr>
              <a:t>log(double a)</a:t>
            </a:r>
            <a:endParaRPr lang="en-US" altLang="en-US" sz="2400" b="1"/>
          </a:p>
          <a:p>
            <a:pPr marL="520700" lvl="1" indent="-142875">
              <a:buFontTx/>
              <a:buNone/>
            </a:pPr>
            <a:r>
              <a:rPr lang="en-US" altLang="en-US" sz="2000"/>
              <a:t>Returns the natural logarithm of </a:t>
            </a:r>
            <a:r>
              <a:rPr lang="en-US" altLang="en-US" sz="2000">
                <a:latin typeface="Courier New" pitchFamily="49" charset="0"/>
              </a:rPr>
              <a:t>a</a:t>
            </a:r>
            <a:r>
              <a:rPr lang="en-US" altLang="en-US" sz="2000"/>
              <a:t>.</a:t>
            </a:r>
          </a:p>
          <a:p>
            <a:pPr marL="341313" indent="-341313"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</a:rPr>
              <a:t>log10(double a)</a:t>
            </a:r>
            <a:endParaRPr lang="en-US" altLang="en-US" sz="2400" b="1"/>
          </a:p>
          <a:p>
            <a:pPr marL="520700" lvl="1" indent="-142875">
              <a:buFontTx/>
              <a:buNone/>
            </a:pPr>
            <a:r>
              <a:rPr lang="en-US" altLang="en-US" sz="2000"/>
              <a:t>Returns the 10-based logarithm of </a:t>
            </a:r>
            <a:r>
              <a:rPr lang="en-US" altLang="en-US" sz="2000">
                <a:latin typeface="Courier New" pitchFamily="49" charset="0"/>
              </a:rPr>
              <a:t>a</a:t>
            </a:r>
            <a:r>
              <a:rPr lang="en-US" altLang="en-US" sz="2000"/>
              <a:t>.</a:t>
            </a:r>
          </a:p>
          <a:p>
            <a:pPr marL="341313" indent="-341313"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</a:rPr>
              <a:t>pow(double a, double b)</a:t>
            </a:r>
            <a:endParaRPr lang="en-US" altLang="en-US" sz="2400" b="1"/>
          </a:p>
          <a:p>
            <a:pPr marL="520700" lvl="1" indent="-142875">
              <a:buFontTx/>
              <a:buNone/>
            </a:pPr>
            <a:r>
              <a:rPr lang="en-US" altLang="en-US" sz="2000"/>
              <a:t>Returns </a:t>
            </a:r>
            <a:r>
              <a:rPr lang="en-US" altLang="en-US" sz="2000">
                <a:latin typeface="Courier New" pitchFamily="49" charset="0"/>
              </a:rPr>
              <a:t>a</a:t>
            </a:r>
            <a:r>
              <a:rPr lang="en-US" altLang="en-US" sz="2000"/>
              <a:t> raised to the power of </a:t>
            </a:r>
            <a:r>
              <a:rPr lang="en-US" altLang="en-US" sz="2000">
                <a:latin typeface="Courier New" pitchFamily="49" charset="0"/>
              </a:rPr>
              <a:t>b</a:t>
            </a:r>
            <a:r>
              <a:rPr lang="en-US" altLang="en-US" sz="2000"/>
              <a:t>.</a:t>
            </a:r>
          </a:p>
          <a:p>
            <a:pPr marL="341313" indent="-341313" algn="just"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</a:rPr>
              <a:t>sqrt(double a)</a:t>
            </a:r>
            <a:endParaRPr lang="en-US" altLang="en-US" sz="2400" b="1"/>
          </a:p>
          <a:p>
            <a:pPr marL="520700" lvl="1" indent="-142875">
              <a:buFontTx/>
              <a:buNone/>
            </a:pPr>
            <a:r>
              <a:rPr lang="en-US" altLang="en-US" sz="2000"/>
              <a:t>Returns the square root of </a:t>
            </a:r>
            <a:r>
              <a:rPr lang="en-US" altLang="en-US" sz="2000">
                <a:latin typeface="Courier New" pitchFamily="49" charset="0"/>
              </a:rPr>
              <a:t>a</a:t>
            </a:r>
            <a:r>
              <a:rPr lang="en-US" altLang="en-US" sz="2000"/>
              <a:t>.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4724400" y="1295400"/>
            <a:ext cx="4038600" cy="4648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Examples: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en-US" sz="2200" b="1" u="sng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Math.exp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(1) returns 2.71 </a:t>
            </a:r>
            <a:endParaRPr lang="en-US" altLang="en-US" sz="1800" b="1" dirty="0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Math.log(2.71) returns 1.0 </a:t>
            </a:r>
            <a:endParaRPr lang="en-US" altLang="en-US" sz="1800" b="1" dirty="0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Math.pow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(2, 3) returns 8.0 </a:t>
            </a:r>
            <a:endParaRPr lang="en-US" altLang="en-US" sz="1800" b="1" dirty="0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Math.pow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(3, 2) returns 9.0 </a:t>
            </a:r>
            <a:endParaRPr lang="en-US" altLang="en-US" sz="1800" b="1" dirty="0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Math.pow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(3.5, 2.5) returns 22.91765 </a:t>
            </a:r>
            <a:endParaRPr lang="en-US" altLang="en-US" sz="1800" b="1" dirty="0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(4) returns 2.0</a:t>
            </a:r>
            <a:endParaRPr lang="en-US" altLang="en-US" sz="1800" b="1" dirty="0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(10.5) returns 3.24</a:t>
            </a:r>
          </a:p>
        </p:txBody>
      </p:sp>
    </p:spTree>
    <p:extLst>
      <p:ext uri="{BB962C8B-B14F-4D97-AF65-F5344CB8AC3E}">
        <p14:creationId xmlns:p14="http://schemas.microsoft.com/office/powerpoint/2010/main" val="964136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3" name="Rectangle 1127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275" name="Rectangle 1127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9" name="Rectangle 1127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1" name="Rectangle 1128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83" name="Freeform: Shape 1128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285" name="Rectangle 1128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3500">
                <a:solidFill>
                  <a:srgbClr val="FFFFFF"/>
                </a:solidFill>
              </a:rPr>
              <a:t>Rounding Methods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341313" indent="-341313"/>
            <a:r>
              <a:rPr lang="en-US" altLang="en-US" sz="1700" b="1" dirty="0">
                <a:latin typeface="Courier New" pitchFamily="49" charset="0"/>
              </a:rPr>
              <a:t>double ceil(double x)</a:t>
            </a:r>
            <a:r>
              <a:rPr lang="en-US" altLang="en-US" sz="1700" b="1" dirty="0"/>
              <a:t>: </a:t>
            </a:r>
          </a:p>
          <a:p>
            <a:pPr marL="741363" lvl="1" indent="-341313"/>
            <a:r>
              <a:rPr lang="en-US" altLang="en-US" sz="1700" dirty="0">
                <a:cs typeface="Times New Roman" pitchFamily="18" charset="0"/>
              </a:rPr>
              <a:t>x rounded up to its nearest integer. This integer is  returned as a double value.</a:t>
            </a:r>
          </a:p>
          <a:p>
            <a:pPr marL="341313" indent="-341313">
              <a:spcBef>
                <a:spcPct val="50000"/>
              </a:spcBef>
            </a:pPr>
            <a:r>
              <a:rPr lang="en-US" altLang="en-US" sz="1700" b="1" dirty="0">
                <a:latin typeface="Courier New" pitchFamily="49" charset="0"/>
              </a:rPr>
              <a:t>double floor(double x):</a:t>
            </a:r>
          </a:p>
          <a:p>
            <a:pPr marL="741363" lvl="1" indent="-341313">
              <a:spcBef>
                <a:spcPct val="50000"/>
              </a:spcBef>
            </a:pPr>
            <a:r>
              <a:rPr lang="en-US" altLang="en-US" sz="1700" dirty="0">
                <a:cs typeface="Times New Roman" pitchFamily="18" charset="0"/>
              </a:rPr>
              <a:t>x is rounded down to its nearest integer. This integer is  returned as a double value.</a:t>
            </a:r>
            <a:endParaRPr lang="en-US" altLang="en-US" sz="1700" dirty="0"/>
          </a:p>
          <a:p>
            <a:pPr marL="341313" indent="-341313">
              <a:spcBef>
                <a:spcPct val="50000"/>
              </a:spcBef>
            </a:pPr>
            <a:r>
              <a:rPr lang="en-US" altLang="en-US" sz="1700" b="1" dirty="0">
                <a:latin typeface="Courier New" pitchFamily="49" charset="0"/>
              </a:rPr>
              <a:t>double </a:t>
            </a:r>
            <a:r>
              <a:rPr lang="en-US" altLang="en-US" sz="1700" b="1" dirty="0" err="1">
                <a:latin typeface="Courier New" pitchFamily="49" charset="0"/>
              </a:rPr>
              <a:t>rint</a:t>
            </a:r>
            <a:r>
              <a:rPr lang="en-US" altLang="en-US" sz="1700" b="1" dirty="0">
                <a:latin typeface="Courier New" pitchFamily="49" charset="0"/>
              </a:rPr>
              <a:t>(double x):</a:t>
            </a:r>
          </a:p>
          <a:p>
            <a:pPr marL="741363" lvl="1" indent="-341313">
              <a:spcBef>
                <a:spcPct val="50000"/>
              </a:spcBef>
            </a:pPr>
            <a:r>
              <a:rPr lang="en-US" altLang="en-US" sz="1700" dirty="0">
                <a:cs typeface="Times New Roman" pitchFamily="18" charset="0"/>
              </a:rPr>
              <a:t>x is rounded to its nearest integer. If x is equally close to two integers, the even one is returned as a double.</a:t>
            </a:r>
            <a:endParaRPr lang="en-US" altLang="en-US" sz="1700" dirty="0"/>
          </a:p>
          <a:p>
            <a:pPr marL="341313" indent="-341313">
              <a:spcBef>
                <a:spcPct val="50000"/>
              </a:spcBef>
            </a:pPr>
            <a:r>
              <a:rPr lang="en-US" altLang="en-US" sz="1700" b="1" dirty="0">
                <a:latin typeface="Courier New" pitchFamily="49" charset="0"/>
              </a:rPr>
              <a:t>int round(float x):</a:t>
            </a:r>
          </a:p>
          <a:p>
            <a:pPr marL="741363" lvl="1" indent="-341313">
              <a:spcBef>
                <a:spcPct val="50000"/>
              </a:spcBef>
            </a:pPr>
            <a:r>
              <a:rPr lang="en-US" altLang="en-US" sz="1700" dirty="0">
                <a:cs typeface="Times New Roman" pitchFamily="18" charset="0"/>
              </a:rPr>
              <a:t>Return (int) </a:t>
            </a:r>
            <a:r>
              <a:rPr lang="en-US" altLang="en-US" sz="1700" dirty="0" err="1">
                <a:cs typeface="Times New Roman" pitchFamily="18" charset="0"/>
              </a:rPr>
              <a:t>Math.floor</a:t>
            </a:r>
            <a:r>
              <a:rPr lang="en-US" altLang="en-US" sz="1700" dirty="0">
                <a:cs typeface="Times New Roman" pitchFamily="18" charset="0"/>
              </a:rPr>
              <a:t>(x+0.5).</a:t>
            </a:r>
          </a:p>
          <a:p>
            <a:pPr marL="341313" indent="-341313">
              <a:spcBef>
                <a:spcPct val="50000"/>
              </a:spcBef>
            </a:pPr>
            <a:r>
              <a:rPr lang="en-US" altLang="en-US" sz="1700" b="1" dirty="0">
                <a:latin typeface="Courier New" pitchFamily="49" charset="0"/>
              </a:rPr>
              <a:t>long round(double x):</a:t>
            </a:r>
          </a:p>
          <a:p>
            <a:pPr marL="741363" lvl="1" indent="-341313">
              <a:spcBef>
                <a:spcPct val="50000"/>
              </a:spcBef>
            </a:pPr>
            <a:r>
              <a:rPr lang="en-US" altLang="en-US" sz="1700" dirty="0">
                <a:cs typeface="Times New Roman" pitchFamily="18" charset="0"/>
              </a:rPr>
              <a:t>Return (long) </a:t>
            </a:r>
            <a:r>
              <a:rPr lang="en-US" altLang="en-US" sz="1700" dirty="0" err="1">
                <a:cs typeface="Times New Roman" pitchFamily="18" charset="0"/>
              </a:rPr>
              <a:t>Math.floor</a:t>
            </a:r>
            <a:r>
              <a:rPr lang="en-US" altLang="en-US" sz="1700" dirty="0">
                <a:cs typeface="Times New Roman" pitchFamily="18" charset="0"/>
              </a:rPr>
              <a:t>(x+0.5).</a:t>
            </a:r>
            <a:r>
              <a:rPr lang="en-US" altLang="en-US" sz="1700" dirty="0">
                <a:latin typeface="Courier" pitchFamily="49" charset="0"/>
                <a:cs typeface="Times New Roman" pitchFamily="18" charset="0"/>
              </a:rPr>
              <a:t> </a:t>
            </a:r>
          </a:p>
          <a:p>
            <a:pPr marL="520700" lvl="1" indent="-142875">
              <a:buFontTx/>
              <a:buNone/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678631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4295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Rounding Methods Examples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01000" cy="5486400"/>
          </a:xfrm>
          <a:noFill/>
        </p:spPr>
        <p:txBody>
          <a:bodyPr>
            <a:normAutofit fontScale="85000" lnSpcReduction="20000"/>
          </a:bodyPr>
          <a:lstStyle/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Math.ceil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(double x) – Rounds UP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Math.ceil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(2.3)  →  3.0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Math.ceil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(5.9)  →  6.0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Math.ceil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(-2.3) → -2.0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endParaRPr lang="en-US" altLang="en-US" sz="1800" dirty="0">
              <a:latin typeface="Courier New" pitchFamily="49" charset="0"/>
              <a:cs typeface="Courier New" pitchFamily="49" charset="0"/>
            </a:endParaRP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(double x) – Rounds DOWN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(2.7)  →  2.0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(5.1)  →  5.0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(-2.3) → -3.0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endParaRPr lang="en-US" altLang="en-US" sz="1800" dirty="0">
              <a:latin typeface="Courier New" pitchFamily="49" charset="0"/>
              <a:cs typeface="Courier New" pitchFamily="49" charset="0"/>
            </a:endParaRP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Math.rint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(double x) – Rounds to nearest, tie goes to EVEN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Math.rint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(2.3)  →  2.0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Math.rint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(2.7)  →  3.0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Math.rint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(2.5)  →  2.0   // even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Math.rint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(3.5)  →  4.0   // even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endParaRPr lang="en-US" altLang="en-US" sz="1800" dirty="0">
              <a:latin typeface="Courier New" pitchFamily="49" charset="0"/>
              <a:cs typeface="Courier New" pitchFamily="49" charset="0"/>
            </a:endParaRP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(float x) – Normal rounding (returns int)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(2.3f) →  2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(2.7f) →  3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(2.5f) →  3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endParaRPr lang="en-US" altLang="en-US" sz="1800" dirty="0">
              <a:latin typeface="Courier New" pitchFamily="49" charset="0"/>
              <a:cs typeface="Courier New" pitchFamily="49" charset="0"/>
            </a:endParaRP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(double x) – Normal rounding (returns long)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(5.4) →  5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(5.5) →  6</a:t>
            </a:r>
          </a:p>
          <a:p>
            <a:pPr marL="341313" indent="-341313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(5.6) →  6</a:t>
            </a:r>
          </a:p>
        </p:txBody>
      </p:sp>
    </p:spTree>
    <p:extLst>
      <p:ext uri="{BB962C8B-B14F-4D97-AF65-F5344CB8AC3E}">
        <p14:creationId xmlns:p14="http://schemas.microsoft.com/office/powerpoint/2010/main" val="1915593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/>
              <a:t>min, max, and abs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4267200" cy="4495800"/>
          </a:xfrm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z="2200" b="1" dirty="0">
                <a:latin typeface="Courier New" pitchFamily="49" charset="0"/>
              </a:rPr>
              <a:t>max(a, b)</a:t>
            </a:r>
            <a:r>
              <a:rPr lang="en-US" altLang="en-US" sz="2200" b="1" dirty="0"/>
              <a:t>and </a:t>
            </a:r>
            <a:r>
              <a:rPr lang="en-US" altLang="en-US" sz="2200" b="1" dirty="0">
                <a:latin typeface="Courier New" pitchFamily="49" charset="0"/>
              </a:rPr>
              <a:t>min(a, b)</a:t>
            </a:r>
            <a:endParaRPr lang="en-US" altLang="en-US" sz="2400" b="1" dirty="0"/>
          </a:p>
          <a:p>
            <a:pPr marL="377825" lvl="1" indent="0">
              <a:buFontTx/>
              <a:buNone/>
            </a:pPr>
            <a:r>
              <a:rPr lang="en-US" altLang="en-US" sz="2000" dirty="0"/>
              <a:t>Returns the maximum or minimum of two parameters.</a:t>
            </a:r>
          </a:p>
          <a:p>
            <a:pPr algn="just">
              <a:spcBef>
                <a:spcPct val="50000"/>
              </a:spcBef>
            </a:pPr>
            <a:r>
              <a:rPr lang="en-US" altLang="en-US" sz="2200" b="1" dirty="0">
                <a:latin typeface="Courier New" pitchFamily="49" charset="0"/>
              </a:rPr>
              <a:t>abs(a)</a:t>
            </a:r>
            <a:endParaRPr lang="en-US" altLang="en-US" sz="2400" b="1" dirty="0"/>
          </a:p>
          <a:p>
            <a:pPr marL="377825" lvl="1" indent="0">
              <a:buFontTx/>
              <a:buNone/>
            </a:pPr>
            <a:r>
              <a:rPr lang="en-US" altLang="en-US" sz="2000" dirty="0"/>
              <a:t>Returns the absolute value of the parameter.</a:t>
            </a:r>
          </a:p>
          <a:p>
            <a:pPr>
              <a:spcBef>
                <a:spcPct val="50000"/>
              </a:spcBef>
            </a:pPr>
            <a:r>
              <a:rPr lang="en-US" altLang="en-US" sz="2200" b="1" dirty="0">
                <a:latin typeface="Courier New" pitchFamily="49" charset="0"/>
              </a:rPr>
              <a:t>random()</a:t>
            </a:r>
            <a:endParaRPr lang="en-US" altLang="en-US" sz="2400" b="1" dirty="0"/>
          </a:p>
          <a:p>
            <a:pPr marL="377825" lvl="1" indent="0">
              <a:buFontTx/>
              <a:buNone/>
            </a:pPr>
            <a:r>
              <a:rPr lang="en-US" altLang="en-US" sz="2000" dirty="0"/>
              <a:t>Returns a random </a:t>
            </a:r>
            <a:r>
              <a:rPr lang="en-US" altLang="en-US" sz="2000" dirty="0">
                <a:latin typeface="Courier New" pitchFamily="49" charset="0"/>
              </a:rPr>
              <a:t>double</a:t>
            </a:r>
            <a:r>
              <a:rPr lang="en-US" altLang="en-US" sz="2000" dirty="0"/>
              <a:t> value</a:t>
            </a:r>
            <a:br>
              <a:rPr lang="en-US" altLang="en-US" sz="2000" dirty="0"/>
            </a:br>
            <a:r>
              <a:rPr lang="en-US" altLang="en-US" sz="2000" dirty="0"/>
              <a:t>in the range [0.0, 1.0).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4419600" y="1371600"/>
            <a:ext cx="4419600" cy="4648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Examples: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 dirty="0" err="1">
                <a:latin typeface="Courier New" pitchFamily="49" charset="0"/>
                <a:cs typeface="Courier New" pitchFamily="49" charset="0"/>
              </a:rPr>
              <a:t>Math.max</a:t>
            </a: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(2, 3) returns 3 </a:t>
            </a:r>
            <a:endParaRPr lang="en-US" altLang="en-US" sz="2200" b="1" dirty="0">
              <a:latin typeface="Courier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 dirty="0" err="1">
                <a:latin typeface="Courier New" pitchFamily="49" charset="0"/>
                <a:cs typeface="Courier New" pitchFamily="49" charset="0"/>
              </a:rPr>
              <a:t>Math.max</a:t>
            </a: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(2.5, 3) returns 3.0 </a:t>
            </a:r>
            <a:endParaRPr lang="en-US" altLang="en-US" sz="2200" b="1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 dirty="0" err="1">
                <a:latin typeface="Courier New" pitchFamily="49" charset="0"/>
                <a:cs typeface="Courier New" pitchFamily="49" charset="0"/>
              </a:rPr>
              <a:t>Math.min</a:t>
            </a: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(2.5, 3.6) returns 2.5 </a:t>
            </a:r>
            <a:endParaRPr lang="en-US" altLang="en-US" sz="2200" b="1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 dirty="0" err="1">
                <a:latin typeface="Courier New" pitchFamily="49" charset="0"/>
                <a:cs typeface="Courier New" pitchFamily="49" charset="0"/>
              </a:rPr>
              <a:t>Math.abs</a:t>
            </a: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(-2) returns 2</a:t>
            </a:r>
            <a:endParaRPr lang="en-US" altLang="en-US" sz="2200" b="1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200" b="1" dirty="0" err="1">
                <a:latin typeface="Courier New" pitchFamily="49" charset="0"/>
                <a:cs typeface="Times New Roman" pitchFamily="18" charset="0"/>
              </a:rPr>
              <a:t>Math.abs</a:t>
            </a:r>
            <a:r>
              <a:rPr lang="en-US" altLang="en-US" sz="2200" b="1" dirty="0">
                <a:latin typeface="Courier New" pitchFamily="49" charset="0"/>
                <a:cs typeface="Times New Roman" pitchFamily="18" charset="0"/>
              </a:rPr>
              <a:t>(-2.1) returns 2.1</a:t>
            </a:r>
          </a:p>
        </p:txBody>
      </p:sp>
    </p:spTree>
    <p:extLst>
      <p:ext uri="{BB962C8B-B14F-4D97-AF65-F5344CB8AC3E}">
        <p14:creationId xmlns:p14="http://schemas.microsoft.com/office/powerpoint/2010/main" val="3568956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>
                <a:cs typeface="Courier New" pitchFamily="49" charset="0"/>
              </a:rPr>
              <a:t>The </a:t>
            </a:r>
            <a:r>
              <a:rPr lang="en-US" altLang="en-US" u="sng">
                <a:cs typeface="Courier New" pitchFamily="49" charset="0"/>
              </a:rPr>
              <a:t>random</a:t>
            </a:r>
            <a:r>
              <a:rPr lang="en-US" altLang="en-US">
                <a:cs typeface="Courier New" pitchFamily="49" charset="0"/>
              </a:rPr>
              <a:t> Method</a:t>
            </a:r>
            <a:endParaRPr lang="en-US" altLang="en-US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838200"/>
          </a:xfrm>
          <a:noFill/>
        </p:spPr>
        <p:txBody>
          <a:bodyPr/>
          <a:lstStyle/>
          <a:p>
            <a:pPr marL="0" indent="0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>
                <a:cs typeface="Courier New" pitchFamily="49" charset="0"/>
              </a:rPr>
              <a:t>Generates a random </a:t>
            </a:r>
            <a:r>
              <a:rPr lang="en-US" altLang="en-US" sz="2400" u="sng">
                <a:cs typeface="Courier New" pitchFamily="49" charset="0"/>
              </a:rPr>
              <a:t>double</a:t>
            </a:r>
            <a:r>
              <a:rPr lang="en-US" altLang="en-US" sz="2400">
                <a:cs typeface="Courier New" pitchFamily="49" charset="0"/>
              </a:rPr>
              <a:t> value greater than or equal to 0.0 and less than 1.0 (</a:t>
            </a:r>
            <a:r>
              <a:rPr lang="en-US" altLang="en-US" sz="2400" u="sng">
                <a:cs typeface="Courier New" pitchFamily="49" charset="0"/>
              </a:rPr>
              <a:t>0 &lt;= Math.random() &lt; 1.0</a:t>
            </a:r>
            <a:r>
              <a:rPr lang="en-US" altLang="en-US" sz="2400">
                <a:cs typeface="Courier New" pitchFamily="49" charset="0"/>
              </a:rPr>
              <a:t>).</a:t>
            </a:r>
            <a:r>
              <a:rPr lang="en-US" altLang="en-US" sz="2400"/>
              <a:t> 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228600" y="2286000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>
                <a:cs typeface="Courier New" pitchFamily="49" charset="0"/>
              </a:rPr>
              <a:t>Examples:</a:t>
            </a:r>
            <a:endParaRPr lang="en-US" altLang="en-US"/>
          </a:p>
        </p:txBody>
      </p:sp>
      <p:sp>
        <p:nvSpPr>
          <p:cNvPr id="14342" name="Rectangle 7"/>
          <p:cNvSpPr>
            <a:spLocks noChangeArrowheads="1"/>
          </p:cNvSpPr>
          <p:nvPr/>
        </p:nvSpPr>
        <p:spPr bwMode="auto">
          <a:xfrm>
            <a:off x="1895475" y="2947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14343" name="Object 6"/>
          <p:cNvGraphicFramePr>
            <a:graphicFrameLocks noChangeAspect="1"/>
          </p:cNvGraphicFramePr>
          <p:nvPr/>
        </p:nvGraphicFramePr>
        <p:xfrm>
          <a:off x="533400" y="2895600"/>
          <a:ext cx="80010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53812" imgH="958596" progId="Word.Picture.8">
                  <p:embed/>
                </p:oleObj>
              </mc:Choice>
              <mc:Fallback>
                <p:oleObj r:id="rId2" imgW="5353812" imgH="958596" progId="Word.Picture.8">
                  <p:embed/>
                  <p:pic>
                    <p:nvPicPr>
                      <p:cNvPr id="1434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95600"/>
                        <a:ext cx="8001000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228600" y="4572000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>
                <a:cs typeface="Courier New" pitchFamily="49" charset="0"/>
              </a:rPr>
              <a:t>In general,</a:t>
            </a:r>
            <a:endParaRPr lang="en-US" altLang="en-US"/>
          </a:p>
        </p:txBody>
      </p:sp>
      <p:sp>
        <p:nvSpPr>
          <p:cNvPr id="14345" name="Rectangle 10"/>
          <p:cNvSpPr>
            <a:spLocks noChangeArrowheads="1"/>
          </p:cNvSpPr>
          <p:nvPr/>
        </p:nvSpPr>
        <p:spPr bwMode="auto">
          <a:xfrm>
            <a:off x="1895475" y="3228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14346" name="Object 9"/>
          <p:cNvGraphicFramePr>
            <a:graphicFrameLocks noChangeAspect="1"/>
          </p:cNvGraphicFramePr>
          <p:nvPr/>
        </p:nvGraphicFramePr>
        <p:xfrm>
          <a:off x="457200" y="5181600"/>
          <a:ext cx="85344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53812" imgH="399288" progId="Word.Picture.8">
                  <p:embed/>
                </p:oleObj>
              </mc:Choice>
              <mc:Fallback>
                <p:oleObj r:id="rId4" imgW="5353812" imgH="399288" progId="Word.Picture.8">
                  <p:embed/>
                  <p:pic>
                    <p:nvPicPr>
                      <p:cNvPr id="1434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181600"/>
                        <a:ext cx="853440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8746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 Data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029200"/>
          </a:xfrm>
        </p:spPr>
        <p:txBody>
          <a:bodyPr>
            <a:noAutofit/>
          </a:bodyPr>
          <a:lstStyle/>
          <a:p>
            <a:r>
              <a:rPr lang="en-US" sz="2800" dirty="0"/>
              <a:t>Computers use binary numbers internally</a:t>
            </a:r>
          </a:p>
          <a:p>
            <a:r>
              <a:rPr lang="en-US" sz="2800" dirty="0"/>
              <a:t>Mapping a character to its binary representation is called </a:t>
            </a:r>
            <a:r>
              <a:rPr lang="en-US" sz="2800" b="1" i="1" dirty="0"/>
              <a:t>encoding</a:t>
            </a:r>
          </a:p>
          <a:p>
            <a:r>
              <a:rPr lang="en-US" sz="2800" dirty="0"/>
              <a:t>How characters are encoded is defined by an </a:t>
            </a:r>
            <a:r>
              <a:rPr lang="en-US" sz="2800" i="1" dirty="0"/>
              <a:t>encoding</a:t>
            </a:r>
            <a:r>
              <a:rPr lang="en-US" sz="2800" dirty="0"/>
              <a:t> </a:t>
            </a:r>
            <a:r>
              <a:rPr lang="en-US" sz="2800" i="1" dirty="0"/>
              <a:t>scheme</a:t>
            </a:r>
          </a:p>
          <a:p>
            <a:r>
              <a:rPr lang="en-US" sz="2800" dirty="0"/>
              <a:t>Java supports  </a:t>
            </a:r>
            <a:r>
              <a:rPr lang="en-US" sz="2800" b="1" dirty="0"/>
              <a:t>Unicode</a:t>
            </a:r>
            <a:r>
              <a:rPr lang="en-US" sz="2800" dirty="0"/>
              <a:t> (16 bit character encoding and 65,536 characters are possible)</a:t>
            </a:r>
          </a:p>
          <a:p>
            <a:r>
              <a:rPr lang="en-US" sz="2800" dirty="0"/>
              <a:t>A 16-bit Unicode takes </a:t>
            </a:r>
            <a:r>
              <a:rPr lang="en-US" sz="2800" b="1" dirty="0"/>
              <a:t>two bytes</a:t>
            </a:r>
          </a:p>
          <a:p>
            <a:pPr lvl="1"/>
            <a:r>
              <a:rPr lang="en-US" sz="2400" dirty="0"/>
              <a:t>Preceded by </a:t>
            </a:r>
            <a:r>
              <a:rPr lang="en-US" sz="2400" b="1" dirty="0"/>
              <a:t>\u</a:t>
            </a:r>
            <a:r>
              <a:rPr lang="en-US" sz="2400" dirty="0"/>
              <a:t>, expressed in four hexadecimal digits</a:t>
            </a:r>
          </a:p>
          <a:p>
            <a:pPr lvl="1"/>
            <a:r>
              <a:rPr lang="en-US" sz="2400" dirty="0"/>
              <a:t>i.e. ranges from \u0000 To \</a:t>
            </a:r>
            <a:r>
              <a:rPr lang="en-US" sz="2400" dirty="0" err="1"/>
              <a:t>uFFFF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692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7E56-E1F1-376E-0EFB-E50EAC392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7D00-DE67-03E4-31B9-4B0EFD07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53"/>
            <a:ext cx="8229600" cy="1143000"/>
          </a:xfrm>
        </p:spPr>
        <p:txBody>
          <a:bodyPr/>
          <a:lstStyle/>
          <a:p>
            <a:r>
              <a:rPr lang="en-US" altLang="en-US" dirty="0"/>
              <a:t>Unicode and ASCII Code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973DE-2F3A-E1F1-C2BF-11B71A65D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554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72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5417"/>
            <a:ext cx="8458200" cy="1143000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Casting between char and Numeric Types</a:t>
            </a:r>
            <a:endParaRPr lang="en-US" altLang="en-US" sz="3600" dirty="0">
              <a:latin typeface="Book Antiqua" pitchFamily="18" charset="0"/>
            </a:endParaRP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280115" y="1066800"/>
            <a:ext cx="8686800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229100" algn="l"/>
                <a:tab pos="5600700" algn="l"/>
              </a:tabLst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229100" algn="l"/>
                <a:tab pos="5600700" algn="l"/>
              </a:tabLst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229100" algn="l"/>
                <a:tab pos="56007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600" b="1" dirty="0" err="1">
                <a:latin typeface="Courier New" pitchFamily="49" charset="0"/>
              </a:rPr>
              <a:t>int</a:t>
            </a:r>
            <a:r>
              <a:rPr lang="en-US" altLang="en-US" sz="2600" b="1" dirty="0">
                <a:latin typeface="Courier New" pitchFamily="49" charset="0"/>
              </a:rPr>
              <a:t> i = </a:t>
            </a:r>
            <a:r>
              <a:rPr lang="en-US" altLang="en-US" sz="3000" b="1" dirty="0">
                <a:latin typeface="Courier New" pitchFamily="49" charset="0"/>
              </a:rPr>
              <a:t>'</a:t>
            </a:r>
            <a:r>
              <a:rPr lang="en-US" altLang="en-US" sz="2600" b="1" dirty="0">
                <a:latin typeface="Courier New" pitchFamily="49" charset="0"/>
              </a:rPr>
              <a:t>a</a:t>
            </a:r>
            <a:r>
              <a:rPr lang="en-US" altLang="en-US" sz="3000" b="1" dirty="0">
                <a:latin typeface="Courier New" pitchFamily="49" charset="0"/>
              </a:rPr>
              <a:t>'</a:t>
            </a:r>
            <a:r>
              <a:rPr lang="en-US" altLang="en-US" sz="2600" b="1" dirty="0">
                <a:latin typeface="Courier New" pitchFamily="49" charset="0"/>
              </a:rPr>
              <a:t>; </a:t>
            </a:r>
            <a:r>
              <a:rPr lang="en-US" altLang="en-US" sz="1600" b="1" dirty="0">
                <a:latin typeface="Courier New" pitchFamily="49" charset="0"/>
              </a:rPr>
              <a:t>// Same as 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i = (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)</a:t>
            </a:r>
            <a:r>
              <a:rPr lang="en-US" altLang="en-US" sz="1800" b="1" dirty="0">
                <a:latin typeface="Courier New" pitchFamily="49" charset="0"/>
              </a:rPr>
              <a:t>'</a:t>
            </a:r>
            <a:r>
              <a:rPr lang="en-US" altLang="en-US" sz="1600" b="1" dirty="0">
                <a:latin typeface="Courier New" pitchFamily="49" charset="0"/>
              </a:rPr>
              <a:t>a</a:t>
            </a:r>
            <a:r>
              <a:rPr lang="en-US" altLang="en-US" sz="1800" b="1" dirty="0">
                <a:latin typeface="Courier New" pitchFamily="49" charset="0"/>
              </a:rPr>
              <a:t>'</a:t>
            </a:r>
            <a:r>
              <a:rPr lang="en-US" altLang="en-US" sz="1600" b="1" dirty="0">
                <a:latin typeface="Courier New" pitchFamily="49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latin typeface="Courier New" pitchFamily="49" charset="0"/>
              </a:rPr>
              <a:t>char c = 97; </a:t>
            </a:r>
            <a:r>
              <a:rPr lang="en-US" altLang="en-US" sz="1600" b="1" dirty="0">
                <a:latin typeface="Courier New" pitchFamily="49" charset="0"/>
              </a:rPr>
              <a:t>// Same as char c = (char)97;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latin typeface="Courier New" pitchFamily="49" charset="0"/>
              </a:rPr>
              <a:t>char </a:t>
            </a:r>
            <a:r>
              <a:rPr lang="en-US" altLang="en-US" sz="2600" b="1" dirty="0" err="1">
                <a:latin typeface="Courier New" pitchFamily="49" charset="0"/>
              </a:rPr>
              <a:t>ch</a:t>
            </a:r>
            <a:r>
              <a:rPr lang="en-US" altLang="en-US" sz="2600" b="1" dirty="0">
                <a:latin typeface="Courier New" pitchFamily="49" charset="0"/>
              </a:rPr>
              <a:t> = (char)65.25; </a:t>
            </a:r>
            <a:r>
              <a:rPr lang="en-US" altLang="en-US" sz="1600" b="1" dirty="0">
                <a:latin typeface="Courier New" pitchFamily="49" charset="0"/>
              </a:rPr>
              <a:t>// Decimal 65 is assigned to </a:t>
            </a:r>
            <a:r>
              <a:rPr lang="en-US" altLang="en-US" sz="1600" b="1" dirty="0" err="1">
                <a:latin typeface="Courier New" pitchFamily="49" charset="0"/>
              </a:rPr>
              <a:t>ch</a:t>
            </a: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600" b="1" dirty="0" err="1">
                <a:latin typeface="Courier New" pitchFamily="49" charset="0"/>
              </a:rPr>
              <a:t>System.out.println</a:t>
            </a:r>
            <a:r>
              <a:rPr lang="en-US" altLang="en-US" sz="2600" b="1" dirty="0">
                <a:latin typeface="Courier New" pitchFamily="49" charset="0"/>
              </a:rPr>
              <a:t>(</a:t>
            </a:r>
            <a:r>
              <a:rPr lang="en-US" altLang="en-US" sz="2600" b="1" dirty="0" err="1">
                <a:latin typeface="Courier New" pitchFamily="49" charset="0"/>
              </a:rPr>
              <a:t>ch</a:t>
            </a:r>
            <a:r>
              <a:rPr lang="en-US" altLang="en-US" sz="2600" b="1" dirty="0">
                <a:latin typeface="Courier New" pitchFamily="49" charset="0"/>
              </a:rPr>
              <a:t>); </a:t>
            </a:r>
            <a:r>
              <a:rPr lang="en-US" altLang="en-US" sz="1600" b="1" dirty="0">
                <a:latin typeface="Courier New" pitchFamily="49" charset="0"/>
              </a:rPr>
              <a:t>// </a:t>
            </a:r>
            <a:r>
              <a:rPr lang="en-US" altLang="en-US" sz="1600" b="1" dirty="0" err="1">
                <a:latin typeface="Courier New" pitchFamily="49" charset="0"/>
              </a:rPr>
              <a:t>ch</a:t>
            </a:r>
            <a:r>
              <a:rPr lang="en-US" altLang="en-US" sz="1600" b="1" dirty="0">
                <a:latin typeface="Courier New" pitchFamily="49" charset="0"/>
              </a:rPr>
              <a:t> is character A</a:t>
            </a:r>
            <a:endParaRPr lang="en-US" altLang="en-US" sz="2000" b="1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0115" y="3429000"/>
            <a:ext cx="86867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All numeric operators can be applied to char operands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3952" y="3886200"/>
            <a:ext cx="6996448" cy="2009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21" r="38214"/>
          <a:stretch/>
        </p:blipFill>
        <p:spPr bwMode="auto">
          <a:xfrm>
            <a:off x="5334000" y="5654669"/>
            <a:ext cx="3810001" cy="1203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069257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Comparing and Testing Characters</a:t>
            </a:r>
            <a:endParaRPr lang="en-US" altLang="en-US">
              <a:latin typeface="Book Antiqua" pitchFamily="18" charset="0"/>
            </a:endParaRP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304800" y="1752600"/>
            <a:ext cx="868680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229100" algn="l"/>
                <a:tab pos="5600700" algn="l"/>
              </a:tabLst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229100" algn="l"/>
                <a:tab pos="5600700" algn="l"/>
              </a:tabLst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229100" algn="l"/>
                <a:tab pos="56007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b="1" dirty="0"/>
              <a:t>if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&gt;= </a:t>
            </a:r>
            <a:r>
              <a:rPr lang="en-US" altLang="en-US" sz="2800" b="1" dirty="0"/>
              <a:t>'A' </a:t>
            </a:r>
            <a:r>
              <a:rPr lang="en-US" altLang="en-US" sz="2800" dirty="0"/>
              <a:t>&amp;&amp; 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&lt;= </a:t>
            </a:r>
            <a:r>
              <a:rPr lang="en-US" altLang="en-US" sz="2800" b="1" dirty="0"/>
              <a:t>'Z'</a:t>
            </a:r>
            <a:r>
              <a:rPr lang="en-US" altLang="en-US" sz="2800" dirty="0"/>
              <a:t>) </a:t>
            </a:r>
            <a:endParaRPr lang="en-US" altLang="en-US" sz="2800" u="sng" dirty="0"/>
          </a:p>
          <a:p>
            <a:r>
              <a:rPr lang="en-US" altLang="en-US" sz="2800" dirty="0"/>
              <a:t>  </a:t>
            </a:r>
            <a:r>
              <a:rPr lang="en-US" altLang="en-US" sz="2800" dirty="0" err="1"/>
              <a:t>System.out.println</a:t>
            </a:r>
            <a:r>
              <a:rPr lang="en-US" altLang="en-US" sz="2800" dirty="0"/>
              <a:t>(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+ </a:t>
            </a:r>
            <a:r>
              <a:rPr lang="en-US" altLang="en-US" sz="2800" b="1" dirty="0"/>
              <a:t>" is an uppercase letter"</a:t>
            </a:r>
            <a:r>
              <a:rPr lang="en-US" altLang="en-US" sz="2800" dirty="0"/>
              <a:t>); </a:t>
            </a:r>
            <a:endParaRPr lang="en-US" altLang="en-US" sz="2800" u="sng" dirty="0"/>
          </a:p>
          <a:p>
            <a:r>
              <a:rPr lang="en-US" altLang="en-US" sz="2800" b="1" dirty="0"/>
              <a:t>else if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&gt;= </a:t>
            </a:r>
            <a:r>
              <a:rPr lang="en-US" altLang="en-US" sz="2800" b="1" dirty="0"/>
              <a:t>'a' </a:t>
            </a:r>
            <a:r>
              <a:rPr lang="en-US" altLang="en-US" sz="2800" dirty="0"/>
              <a:t>&amp;&amp; 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&lt;= </a:t>
            </a:r>
            <a:r>
              <a:rPr lang="en-US" altLang="en-US" sz="2800" b="1" dirty="0"/>
              <a:t>'z'</a:t>
            </a:r>
            <a:r>
              <a:rPr lang="en-US" altLang="en-US" sz="2800" dirty="0"/>
              <a:t>) </a:t>
            </a:r>
            <a:endParaRPr lang="en-US" altLang="en-US" sz="2800" u="sng" dirty="0"/>
          </a:p>
          <a:p>
            <a:r>
              <a:rPr lang="en-US" altLang="en-US" sz="2800" dirty="0"/>
              <a:t>  </a:t>
            </a:r>
            <a:r>
              <a:rPr lang="en-US" altLang="en-US" sz="2800" dirty="0" err="1"/>
              <a:t>System.out.println</a:t>
            </a:r>
            <a:r>
              <a:rPr lang="en-US" altLang="en-US" sz="2800" dirty="0"/>
              <a:t>(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+ </a:t>
            </a:r>
            <a:r>
              <a:rPr lang="en-US" altLang="en-US" sz="2800" b="1" dirty="0"/>
              <a:t>" is a lowercase letter"</a:t>
            </a:r>
            <a:r>
              <a:rPr lang="en-US" altLang="en-US" sz="2800" dirty="0"/>
              <a:t>); </a:t>
            </a:r>
            <a:endParaRPr lang="en-US" altLang="en-US" sz="2800" u="sng" dirty="0"/>
          </a:p>
          <a:p>
            <a:r>
              <a:rPr lang="en-US" altLang="en-US" sz="2800" b="1" dirty="0"/>
              <a:t>else if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&gt;= </a:t>
            </a:r>
            <a:r>
              <a:rPr lang="en-US" altLang="en-US" sz="2800" b="1" dirty="0"/>
              <a:t>'0' </a:t>
            </a:r>
            <a:r>
              <a:rPr lang="en-US" altLang="en-US" sz="2800" dirty="0"/>
              <a:t>&amp;&amp; 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&lt;= </a:t>
            </a:r>
            <a:r>
              <a:rPr lang="en-US" altLang="en-US" sz="2800" b="1" dirty="0"/>
              <a:t>'9'</a:t>
            </a:r>
            <a:r>
              <a:rPr lang="en-US" altLang="en-US" sz="2800" dirty="0"/>
              <a:t>) </a:t>
            </a:r>
            <a:endParaRPr lang="en-US" altLang="en-US" sz="2800" u="sng" dirty="0"/>
          </a:p>
          <a:p>
            <a:r>
              <a:rPr lang="en-US" altLang="en-US" sz="2800" dirty="0"/>
              <a:t>  </a:t>
            </a:r>
            <a:r>
              <a:rPr lang="en-US" altLang="en-US" sz="2800" dirty="0" err="1"/>
              <a:t>System.out.println</a:t>
            </a:r>
            <a:r>
              <a:rPr lang="en-US" altLang="en-US" sz="2800" dirty="0"/>
              <a:t>(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 + </a:t>
            </a:r>
            <a:r>
              <a:rPr lang="en-US" altLang="en-US" sz="2800" b="1" dirty="0"/>
              <a:t>" is a numeric character"</a:t>
            </a:r>
            <a:r>
              <a:rPr lang="en-US" altLang="en-US" sz="2800" dirty="0"/>
              <a:t>); </a:t>
            </a:r>
            <a:endParaRPr lang="en-US" alt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4266482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800" dirty="0"/>
              <a:t>Methods in the </a:t>
            </a:r>
            <a:r>
              <a:rPr lang="en-US" altLang="en-US" sz="4800" b="1" dirty="0"/>
              <a:t>Character</a:t>
            </a:r>
            <a:r>
              <a:rPr lang="en-US" altLang="en-US" sz="4800" dirty="0"/>
              <a:t> Class</a:t>
            </a:r>
            <a:endParaRPr lang="en-US" altLang="en-US" sz="4500" dirty="0"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58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119653"/>
              </p:ext>
            </p:extLst>
          </p:nvPr>
        </p:nvGraphicFramePr>
        <p:xfrm>
          <a:off x="246063" y="1433513"/>
          <a:ext cx="8651875" cy="322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025880" imgH="1638360" progId="Word.Picture.8">
                  <p:embed/>
                </p:oleObj>
              </mc:Choice>
              <mc:Fallback>
                <p:oleObj name="Picture" r:id="rId2" imgW="4025880" imgH="1638360" progId="Word.Picture.8">
                  <p:embed/>
                  <p:pic>
                    <p:nvPicPr>
                      <p:cNvPr id="2458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3" y="1433513"/>
                        <a:ext cx="8651875" cy="322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35DF8F7-5002-116B-88DE-0CA64B872196}"/>
              </a:ext>
            </a:extLst>
          </p:cNvPr>
          <p:cNvSpPr txBox="1"/>
          <p:nvPr/>
        </p:nvSpPr>
        <p:spPr>
          <a:xfrm>
            <a:off x="457200" y="4598075"/>
            <a:ext cx="8001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char c = 'A';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Character.isDigit</a:t>
            </a:r>
            <a:r>
              <a:rPr lang="en-US" dirty="0"/>
              <a:t>(c));        // false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Character.isLetter</a:t>
            </a:r>
            <a:r>
              <a:rPr lang="en-US" dirty="0"/>
              <a:t>(c));       // true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Character.isLowerCase</a:t>
            </a:r>
            <a:r>
              <a:rPr lang="en-US" dirty="0"/>
              <a:t>(c));    // false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Character.isUpperCase</a:t>
            </a:r>
            <a:r>
              <a:rPr lang="en-US" dirty="0"/>
              <a:t>(c));    // true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Character.toLowerCase</a:t>
            </a:r>
            <a:r>
              <a:rPr lang="en-US" dirty="0"/>
              <a:t>(c));    // ‘a’</a:t>
            </a:r>
          </a:p>
        </p:txBody>
      </p:sp>
    </p:spTree>
    <p:extLst>
      <p:ext uri="{BB962C8B-B14F-4D97-AF65-F5344CB8AC3E}">
        <p14:creationId xmlns:p14="http://schemas.microsoft.com/office/powerpoint/2010/main" val="18900770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71912" y="1562669"/>
            <a:ext cx="4227085" cy="2456597"/>
          </a:xfrm>
        </p:spPr>
        <p:txBody>
          <a:bodyPr anchor="b">
            <a:normAutofit/>
          </a:bodyPr>
          <a:lstStyle/>
          <a:p>
            <a:r>
              <a:rPr lang="en-US" sz="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String 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6981" y="4298722"/>
            <a:ext cx="3508565" cy="1148885"/>
          </a:xfrm>
        </p:spPr>
        <p:txBody>
          <a:bodyPr anchor="t">
            <a:normAutofit/>
          </a:bodyPr>
          <a:lstStyle/>
          <a:p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7CFA6-4EC5-351B-CE7E-1427242491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92" r="66750" b="-1"/>
          <a:stretch/>
        </p:blipFill>
        <p:spPr>
          <a:xfrm>
            <a:off x="-5449" y="10"/>
            <a:ext cx="2677211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97967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500">
                <a:cs typeface="Times New Roman" pitchFamily="18" charset="0"/>
              </a:rPr>
              <a:t>The String Type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>
            <a:normAutofit/>
          </a:bodyPr>
          <a:lstStyle/>
          <a:p>
            <a:r>
              <a:rPr lang="en-US" sz="2800" i="1" dirty="0"/>
              <a:t>A string is a sequence of characters.</a:t>
            </a:r>
          </a:p>
          <a:p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String is an object that represents sequence of char values.</a:t>
            </a:r>
            <a:endParaRPr lang="en-US" sz="2800" i="1" dirty="0"/>
          </a:p>
          <a:p>
            <a:r>
              <a:rPr lang="en-US" sz="2800" dirty="0"/>
              <a:t>The </a:t>
            </a:r>
            <a:r>
              <a:rPr lang="en-US" sz="2800" b="1" dirty="0"/>
              <a:t>char</a:t>
            </a:r>
            <a:r>
              <a:rPr lang="en-US" sz="2800" dirty="0"/>
              <a:t> type represents only one character</a:t>
            </a:r>
          </a:p>
          <a:p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An </a:t>
            </a:r>
            <a:r>
              <a:rPr lang="en-US" sz="2800" dirty="0">
                <a:solidFill>
                  <a:srgbClr val="333333"/>
                </a:solidFill>
                <a:latin typeface="inter-regular"/>
              </a:rPr>
              <a:t>array</a:t>
            </a:r>
            <a:r>
              <a:rPr lang="en-US" sz="2800" dirty="0">
                <a:solidFill>
                  <a:srgbClr val="008000"/>
                </a:solidFill>
                <a:latin typeface="inter-regular"/>
              </a:rPr>
              <a:t> 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of characters works same as Java string</a:t>
            </a:r>
          </a:p>
          <a:p>
            <a:pPr marL="800100" lvl="2" indent="0" algn="just">
              <a:buNone/>
            </a:pPr>
            <a:r>
              <a:rPr lang="en-US" sz="1900" b="1" i="0" dirty="0">
                <a:effectLst/>
                <a:latin typeface="Courier"/>
              </a:rPr>
              <a:t>char</a:t>
            </a:r>
            <a:r>
              <a:rPr lang="en-US" sz="1900" b="0" i="0" dirty="0">
                <a:effectLst/>
                <a:latin typeface="Courier"/>
              </a:rPr>
              <a:t>[] </a:t>
            </a:r>
            <a:r>
              <a:rPr lang="en-US" sz="1900" b="0" i="0" dirty="0" err="1">
                <a:effectLst/>
                <a:latin typeface="Courier"/>
              </a:rPr>
              <a:t>ch</a:t>
            </a:r>
            <a:r>
              <a:rPr lang="en-US" sz="1900" b="0" i="0" dirty="0">
                <a:effectLst/>
                <a:latin typeface="Courier"/>
              </a:rPr>
              <a:t>={'j','a','v','a','t','p','o','</a:t>
            </a:r>
            <a:r>
              <a:rPr lang="en-US" sz="1900" b="0" i="0" dirty="0" err="1">
                <a:effectLst/>
                <a:latin typeface="Courier"/>
              </a:rPr>
              <a:t>i</a:t>
            </a:r>
            <a:r>
              <a:rPr lang="en-US" sz="1900" b="0" i="0" dirty="0">
                <a:effectLst/>
                <a:latin typeface="Courier"/>
              </a:rPr>
              <a:t>','</a:t>
            </a:r>
            <a:r>
              <a:rPr lang="en-US" sz="1900" b="0" i="0" dirty="0" err="1">
                <a:effectLst/>
                <a:latin typeface="Courier"/>
              </a:rPr>
              <a:t>n','t</a:t>
            </a:r>
            <a:r>
              <a:rPr lang="en-US" sz="1900" b="0" i="0" dirty="0">
                <a:effectLst/>
                <a:latin typeface="Courier"/>
              </a:rPr>
              <a:t>'}; String s = </a:t>
            </a:r>
            <a:r>
              <a:rPr lang="en-US" sz="1900" b="1" i="0" dirty="0">
                <a:effectLst/>
                <a:latin typeface="Courier"/>
              </a:rPr>
              <a:t>new</a:t>
            </a:r>
            <a:r>
              <a:rPr lang="en-US" sz="1900" b="0" i="0" dirty="0">
                <a:effectLst/>
                <a:latin typeface="Courier"/>
              </a:rPr>
              <a:t> String(</a:t>
            </a:r>
            <a:r>
              <a:rPr lang="en-US" sz="1900" b="0" i="0" dirty="0" err="1">
                <a:effectLst/>
                <a:latin typeface="Courier"/>
              </a:rPr>
              <a:t>ch</a:t>
            </a:r>
            <a:r>
              <a:rPr lang="en-US" sz="1900" b="0" i="0" dirty="0">
                <a:effectLst/>
                <a:latin typeface="Courier"/>
              </a:rPr>
              <a:t>);</a:t>
            </a:r>
            <a:r>
              <a:rPr lang="en-US" b="0" i="0" dirty="0">
                <a:effectLst/>
                <a:latin typeface="Courier"/>
              </a:rPr>
              <a:t>  </a:t>
            </a:r>
          </a:p>
          <a:p>
            <a:r>
              <a:rPr lang="en-US" sz="2400" b="1" dirty="0"/>
              <a:t>String</a:t>
            </a:r>
            <a:r>
              <a:rPr lang="en-US" sz="2400" dirty="0"/>
              <a:t> is a predefined class in the Java library(</a:t>
            </a:r>
            <a:r>
              <a:rPr lang="en-US" sz="2400" dirty="0" err="1"/>
              <a:t>java.lang</a:t>
            </a:r>
            <a:r>
              <a:rPr lang="en-US" sz="2400" dirty="0"/>
              <a:t>)</a:t>
            </a:r>
          </a:p>
          <a:p>
            <a:r>
              <a:rPr lang="en-US" sz="2400" dirty="0"/>
              <a:t>The String type is </a:t>
            </a:r>
            <a:r>
              <a:rPr lang="en-US" sz="2400" u="sng" dirty="0"/>
              <a:t>not</a:t>
            </a:r>
            <a:r>
              <a:rPr lang="en-US" sz="2400" dirty="0"/>
              <a:t> a primitive type</a:t>
            </a:r>
          </a:p>
        </p:txBody>
      </p:sp>
    </p:spTree>
    <p:extLst>
      <p:ext uri="{BB962C8B-B14F-4D97-AF65-F5344CB8AC3E}">
        <p14:creationId xmlns:p14="http://schemas.microsoft.com/office/powerpoint/2010/main" val="312586398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String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396" y="1442879"/>
            <a:ext cx="8711208" cy="514048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Strings are objects in Java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There are two ways to create String object:</a:t>
            </a:r>
          </a:p>
          <a:p>
            <a:pPr lvl="1" algn="just"/>
            <a:r>
              <a:rPr lang="en-US" b="1" i="0" dirty="0">
                <a:solidFill>
                  <a:srgbClr val="00B050"/>
                </a:solidFill>
                <a:effectLst/>
                <a:latin typeface="inter-regular"/>
              </a:rPr>
              <a:t>By string literal</a:t>
            </a:r>
          </a:p>
          <a:p>
            <a:pPr marL="914400" lvl="2" indent="0" algn="just">
              <a:buNone/>
            </a:pPr>
            <a:r>
              <a:rPr lang="en-US" b="1" dirty="0"/>
              <a:t>String varName = “Some String”;</a:t>
            </a:r>
          </a:p>
          <a:p>
            <a:pPr marL="914400" lvl="2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String s = 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lvl="1"/>
            <a:r>
              <a:rPr lang="en-US" dirty="0"/>
              <a:t>JVM first checks the</a:t>
            </a:r>
          </a:p>
          <a:p>
            <a:pPr lvl="2"/>
            <a:r>
              <a:rPr lang="en-US" dirty="0">
                <a:latin typeface="inter-regular"/>
              </a:rPr>
              <a:t>S</a:t>
            </a:r>
            <a:r>
              <a:rPr lang="en-US" b="0" i="0" dirty="0">
                <a:effectLst/>
                <a:latin typeface="inter-regular"/>
              </a:rPr>
              <a:t>tring constant pool</a:t>
            </a:r>
          </a:p>
          <a:p>
            <a:pPr lvl="2"/>
            <a:r>
              <a:rPr lang="en-US" b="0" i="0" dirty="0">
                <a:effectLst/>
                <a:latin typeface="inter-regular"/>
              </a:rPr>
              <a:t>If the string already exists in the pool, a reference to the pooled instance is returned</a:t>
            </a:r>
          </a:p>
          <a:p>
            <a:pPr lvl="2"/>
            <a:r>
              <a:rPr lang="en-US" dirty="0">
                <a:latin typeface="inter-regular"/>
              </a:rPr>
              <a:t>Otherwise, </a:t>
            </a:r>
            <a:r>
              <a:rPr lang="en-US" b="0" i="0" dirty="0">
                <a:effectLst/>
                <a:latin typeface="inter-regular"/>
              </a:rPr>
              <a:t>a new string instance is created and placed in the pool.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		String s1 = 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		String s2 = 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lvl="2"/>
            <a:endParaRPr lang="en-US" dirty="0"/>
          </a:p>
        </p:txBody>
      </p:sp>
      <p:pic>
        <p:nvPicPr>
          <p:cNvPr id="1026" name="Picture 2" descr="Java String">
            <a:extLst>
              <a:ext uri="{FF2B5EF4-FFF2-40B4-BE49-F238E27FC236}">
                <a16:creationId xmlns:a16="http://schemas.microsoft.com/office/drawing/2014/main" id="{C2E7915F-806D-CB53-50B2-A2FE545C5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806" y="2438400"/>
            <a:ext cx="2579798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043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String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396" y="1442879"/>
            <a:ext cx="8711208" cy="5140483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  <a:latin typeface="inter-regular"/>
              </a:rPr>
              <a:t>There are two ways to create String object:</a:t>
            </a:r>
          </a:p>
          <a:p>
            <a:pPr lvl="1" algn="just"/>
            <a:r>
              <a:rPr lang="en-US" b="1" i="0" dirty="0">
                <a:solidFill>
                  <a:srgbClr val="00B050"/>
                </a:solidFill>
                <a:effectLst/>
                <a:latin typeface="inter-regular"/>
              </a:rPr>
              <a:t>By new keyword</a:t>
            </a:r>
          </a:p>
          <a:p>
            <a:pPr marL="914400" lvl="2" indent="0" algn="just">
              <a:buNone/>
            </a:pPr>
            <a:r>
              <a:rPr lang="en-US" sz="2000" b="1" dirty="0">
                <a:latin typeface="Courier"/>
              </a:rPr>
              <a:t>String varName =  new String(“Some String”);</a:t>
            </a:r>
          </a:p>
          <a:p>
            <a:pPr marL="914400" lvl="2" indent="0" algn="just"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Courier"/>
              </a:rPr>
              <a:t>String s = new String(</a:t>
            </a:r>
            <a:r>
              <a:rPr lang="en-US" sz="2000" b="1" dirty="0">
                <a:solidFill>
                  <a:srgbClr val="0000FF"/>
                </a:solidFill>
                <a:latin typeface="Courier"/>
              </a:rPr>
              <a:t>“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"/>
              </a:rPr>
              <a:t>welcome”</a:t>
            </a:r>
            <a:r>
              <a:rPr lang="en-US" sz="2000" b="1" dirty="0">
                <a:solidFill>
                  <a:srgbClr val="000000"/>
                </a:solidFill>
                <a:latin typeface="Courier"/>
              </a:rPr>
              <a:t>)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ourier"/>
              </a:rPr>
              <a:t>;  </a:t>
            </a:r>
          </a:p>
          <a:p>
            <a:pPr lvl="1"/>
            <a:r>
              <a:rPr lang="en-US" dirty="0"/>
              <a:t>JVM creates a new string object in normal heap memory</a:t>
            </a:r>
          </a:p>
          <a:p>
            <a:pPr lvl="1"/>
            <a:r>
              <a:rPr lang="en-US" dirty="0"/>
              <a:t>In above example variable </a:t>
            </a:r>
            <a:r>
              <a:rPr lang="en-US" b="1" i="0" dirty="0">
                <a:effectLst/>
                <a:latin typeface="Courier"/>
              </a:rPr>
              <a:t>s</a:t>
            </a:r>
            <a:r>
              <a:rPr lang="en-US" b="0" i="0" dirty="0">
                <a:effectLst/>
                <a:latin typeface="inter-regular"/>
              </a:rPr>
              <a:t> will refer to the object in a heap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41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String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  <a:latin typeface="inter-regular"/>
              </a:rPr>
              <a:t>Immutable String</a:t>
            </a:r>
          </a:p>
          <a:p>
            <a:pPr lvl="1"/>
            <a:r>
              <a:rPr lang="en-US" dirty="0">
                <a:latin typeface="inter-regular"/>
              </a:rPr>
              <a:t>In java </a:t>
            </a:r>
            <a:r>
              <a:rPr lang="en-US" b="1" i="0" dirty="0">
                <a:effectLst/>
                <a:latin typeface="inter-bold"/>
              </a:rPr>
              <a:t>String objects are immutable</a:t>
            </a:r>
            <a:r>
              <a:rPr lang="en-US" b="0" i="0" dirty="0">
                <a:effectLst/>
                <a:latin typeface="inter-regular"/>
              </a:rPr>
              <a:t>. Immutable simply means unmodifiable or unchangeable.</a:t>
            </a:r>
          </a:p>
          <a:p>
            <a:pPr lvl="1" algn="just"/>
            <a:r>
              <a:rPr lang="en-US" dirty="0">
                <a:latin typeface="inter-regular"/>
              </a:rPr>
              <a:t>Example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ourier"/>
              </a:rPr>
              <a:t>String s=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Courier"/>
              </a:rPr>
              <a:t>“Hello"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urier"/>
              </a:rPr>
              <a:t>;  </a:t>
            </a:r>
          </a:p>
          <a:p>
            <a:pPr marL="0" indent="0">
              <a:buNone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Courier"/>
              </a:rPr>
              <a:t>s.concat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Courier"/>
              </a:rPr>
              <a:t>" World"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urier"/>
              </a:rPr>
              <a:t>);</a:t>
            </a:r>
          </a:p>
          <a:p>
            <a:pPr marL="0" indent="0">
              <a:buNone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Courier"/>
              </a:rPr>
              <a:t>System.out.println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urier"/>
              </a:rPr>
              <a:t>(s);</a:t>
            </a:r>
          </a:p>
          <a:p>
            <a:pPr lvl="1" algn="just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594BF0-BEB6-B602-1474-1D55D412ED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6EF404-A4F7-99E8-1A73-3B37CDCAC79D}"/>
              </a:ext>
            </a:extLst>
          </p:cNvPr>
          <p:cNvGrpSpPr/>
          <p:nvPr/>
        </p:nvGrpSpPr>
        <p:grpSpPr>
          <a:xfrm>
            <a:off x="4886689" y="2743200"/>
            <a:ext cx="3561621" cy="2771775"/>
            <a:chOff x="4886689" y="2743200"/>
            <a:chExt cx="3561621" cy="2771775"/>
          </a:xfrm>
        </p:grpSpPr>
        <p:pic>
          <p:nvPicPr>
            <p:cNvPr id="2050" name="Picture 2" descr="Immutable String in Java">
              <a:extLst>
                <a:ext uri="{FF2B5EF4-FFF2-40B4-BE49-F238E27FC236}">
                  <a16:creationId xmlns:a16="http://schemas.microsoft.com/office/drawing/2014/main" id="{4BF6BBD5-31F0-CE02-EFAD-3019AB683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6689" y="2743200"/>
              <a:ext cx="3561621" cy="2771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5230E4-7536-1FBB-5726-39B68DF2EDAA}"/>
                </a:ext>
              </a:extLst>
            </p:cNvPr>
            <p:cNvSpPr/>
            <p:nvPr/>
          </p:nvSpPr>
          <p:spPr>
            <a:xfrm>
              <a:off x="6781800" y="3733800"/>
              <a:ext cx="914400" cy="381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Hello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EE9A43-B6AB-DCA0-1B75-419108873D5D}"/>
                </a:ext>
              </a:extLst>
            </p:cNvPr>
            <p:cNvSpPr/>
            <p:nvPr/>
          </p:nvSpPr>
          <p:spPr>
            <a:xfrm>
              <a:off x="6629400" y="4220493"/>
              <a:ext cx="1219200" cy="381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Hello World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211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" y="228600"/>
            <a:ext cx="8909050" cy="857250"/>
          </a:xfrm>
          <a:noFill/>
        </p:spPr>
        <p:txBody>
          <a:bodyPr/>
          <a:lstStyle/>
          <a:p>
            <a:r>
              <a:rPr lang="en-US" altLang="en-US" sz="4800"/>
              <a:t>Simple Methods for </a:t>
            </a:r>
            <a:r>
              <a:rPr lang="en-US" altLang="en-US" sz="4800" b="1"/>
              <a:t>String</a:t>
            </a:r>
            <a:r>
              <a:rPr lang="en-US" altLang="en-US" sz="4800"/>
              <a:t> Objects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6632" name="Object 6"/>
          <p:cNvGraphicFramePr>
            <a:graphicFrameLocks noChangeAspect="1"/>
          </p:cNvGraphicFramePr>
          <p:nvPr/>
        </p:nvGraphicFramePr>
        <p:xfrm>
          <a:off x="0" y="1355725"/>
          <a:ext cx="9126538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184449" imgH="1315679" progId="Word.Picture.8">
                  <p:embed/>
                </p:oleObj>
              </mc:Choice>
              <mc:Fallback>
                <p:oleObj name="Picture" r:id="rId2" imgW="4184449" imgH="1315679" progId="Word.Picture.8">
                  <p:embed/>
                  <p:pic>
                    <p:nvPicPr>
                      <p:cNvPr id="2663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55725"/>
                        <a:ext cx="9126538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504562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" y="228600"/>
            <a:ext cx="8909050" cy="857250"/>
          </a:xfrm>
          <a:noFill/>
        </p:spPr>
        <p:txBody>
          <a:bodyPr/>
          <a:lstStyle/>
          <a:p>
            <a:r>
              <a:rPr lang="en-US" altLang="en-US" sz="4800"/>
              <a:t>Getting String Length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7" name="Rectangle 3"/>
          <p:cNvSpPr txBox="1">
            <a:spLocks noChangeArrowheads="1"/>
          </p:cNvSpPr>
          <p:nvPr/>
        </p:nvSpPr>
        <p:spPr bwMode="auto">
          <a:xfrm>
            <a:off x="155575" y="1431925"/>
            <a:ext cx="8756650" cy="489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 dirty="0">
                <a:latin typeface="Courier" pitchFamily="49" charset="0"/>
              </a:rPr>
              <a:t>String message = </a:t>
            </a:r>
            <a:r>
              <a:rPr lang="en-US" altLang="en-US" sz="2000" b="1" dirty="0">
                <a:latin typeface="Courier" pitchFamily="49" charset="0"/>
              </a:rPr>
              <a:t>"Welcome to Java"</a:t>
            </a:r>
            <a:r>
              <a:rPr lang="en-US" altLang="en-US" sz="2000" dirty="0">
                <a:latin typeface="Courier" pitchFamily="49" charset="0"/>
              </a:rPr>
              <a:t>;</a:t>
            </a:r>
            <a:endParaRPr lang="en-US" altLang="en-US" sz="2000" u="sng" dirty="0">
              <a:latin typeface="Courier" pitchFamily="49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 dirty="0" err="1">
                <a:latin typeface="Courier" pitchFamily="49" charset="0"/>
              </a:rPr>
              <a:t>System.out.println</a:t>
            </a:r>
            <a:r>
              <a:rPr lang="en-US" altLang="en-US" sz="2000" dirty="0">
                <a:latin typeface="Courier" pitchFamily="49" charset="0"/>
              </a:rPr>
              <a:t>(</a:t>
            </a:r>
            <a:r>
              <a:rPr lang="en-US" altLang="en-US" sz="2000" b="1" dirty="0">
                <a:latin typeface="Courier" pitchFamily="49" charset="0"/>
              </a:rPr>
              <a:t>"The length of "</a:t>
            </a:r>
            <a:r>
              <a:rPr lang="en-US" altLang="en-US" sz="2000" dirty="0">
                <a:latin typeface="Courier" pitchFamily="49" charset="0"/>
              </a:rPr>
              <a:t> + message + </a:t>
            </a:r>
            <a:r>
              <a:rPr lang="en-US" altLang="en-US" sz="2000" b="1" dirty="0">
                <a:latin typeface="Courier" pitchFamily="49" charset="0"/>
              </a:rPr>
              <a:t>" is " </a:t>
            </a:r>
            <a:r>
              <a:rPr lang="en-US" altLang="en-US" sz="2000" dirty="0">
                <a:latin typeface="Courier" pitchFamily="49" charset="0"/>
              </a:rPr>
              <a:t>+ </a:t>
            </a:r>
            <a:r>
              <a:rPr lang="en-US" altLang="en-US" sz="2000" dirty="0" err="1">
                <a:latin typeface="Courier" pitchFamily="49" charset="0"/>
              </a:rPr>
              <a:t>message.length</a:t>
            </a:r>
            <a:r>
              <a:rPr lang="en-US" altLang="en-US" sz="2000" dirty="0">
                <a:latin typeface="Courier" pitchFamily="49" charset="0"/>
              </a:rPr>
              <a:t>());</a:t>
            </a:r>
            <a:endParaRPr lang="en-US" altLang="en-US" sz="2400" u="sng" dirty="0">
              <a:latin typeface="Courier" pitchFamily="49" charset="0"/>
            </a:endParaRP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r>
              <a:rPr lang="en-US" altLang="en-US" sz="2400" dirty="0">
                <a:latin typeface="+mj-lt"/>
              </a:rPr>
              <a:t>The string appearing in program is called String literal</a:t>
            </a: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r>
              <a:rPr lang="en-US" altLang="en-US" sz="2400" dirty="0">
                <a:latin typeface="+mj-lt"/>
              </a:rPr>
              <a:t>Such String literals are instances of String class </a:t>
            </a: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r>
              <a:rPr lang="en-US" altLang="en-US" sz="2400" dirty="0" err="1">
                <a:latin typeface="+mj-lt"/>
              </a:rPr>
              <a:t>System.out.println</a:t>
            </a:r>
            <a:r>
              <a:rPr lang="en-US" altLang="en-US" sz="2400" dirty="0">
                <a:latin typeface="+mj-lt"/>
              </a:rPr>
              <a:t>(“</a:t>
            </a:r>
            <a:r>
              <a:rPr lang="en-US" altLang="en-US" sz="2400" dirty="0" err="1">
                <a:latin typeface="+mj-lt"/>
              </a:rPr>
              <a:t>Hello”.length</a:t>
            </a:r>
            <a:r>
              <a:rPr lang="en-US" altLang="en-US" sz="2400" dirty="0">
                <a:latin typeface="+mj-lt"/>
              </a:rPr>
              <a:t>());</a:t>
            </a:r>
            <a:endParaRPr lang="en-US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736986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" y="228600"/>
            <a:ext cx="8909050" cy="857250"/>
          </a:xfrm>
          <a:noFill/>
        </p:spPr>
        <p:txBody>
          <a:bodyPr/>
          <a:lstStyle/>
          <a:p>
            <a:r>
              <a:rPr lang="en-US" altLang="en-US" sz="4800"/>
              <a:t>Getting Characters from a String 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1" name="Rectangle 3"/>
          <p:cNvSpPr txBox="1">
            <a:spLocks noChangeArrowheads="1"/>
          </p:cNvSpPr>
          <p:nvPr/>
        </p:nvSpPr>
        <p:spPr bwMode="auto">
          <a:xfrm>
            <a:off x="155575" y="4235450"/>
            <a:ext cx="8756650" cy="208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 dirty="0"/>
              <a:t>String message = </a:t>
            </a:r>
            <a:r>
              <a:rPr lang="en-US" altLang="en-US" sz="2000" b="1" dirty="0"/>
              <a:t>"Welcome to Java"</a:t>
            </a:r>
            <a:r>
              <a:rPr lang="en-US" altLang="en-US" sz="2000" dirty="0"/>
              <a:t>;</a:t>
            </a:r>
            <a:endParaRPr lang="en-US" altLang="en-US" sz="2000" u="sng" dirty="0"/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 dirty="0" err="1"/>
              <a:t>System.out.println</a:t>
            </a:r>
            <a:r>
              <a:rPr lang="en-US" altLang="en-US" sz="2000" dirty="0"/>
              <a:t>(</a:t>
            </a:r>
            <a:r>
              <a:rPr lang="en-US" altLang="en-US" sz="2000" b="1" dirty="0"/>
              <a:t>"The first character in message is " </a:t>
            </a:r>
            <a:r>
              <a:rPr lang="en-US" altLang="en-US" sz="2000" dirty="0"/>
              <a:t> + </a:t>
            </a:r>
            <a:r>
              <a:rPr lang="en-US" altLang="en-US" sz="2000" dirty="0" err="1"/>
              <a:t>message.charAt</a:t>
            </a:r>
            <a:r>
              <a:rPr lang="en-US" altLang="en-US" sz="2000" dirty="0"/>
              <a:t>(0));</a:t>
            </a:r>
            <a:endParaRPr lang="en-US" altLang="en-US" sz="2000" u="sng" dirty="0"/>
          </a:p>
        </p:txBody>
      </p:sp>
      <p:pic>
        <p:nvPicPr>
          <p:cNvPr id="2970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1358900"/>
            <a:ext cx="9004300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7877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500" dirty="0">
                <a:cs typeface="Times New Roman" pitchFamily="18" charset="0"/>
              </a:rPr>
              <a:t>String Concatenation 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486400"/>
          </a:xfrm>
          <a:noFill/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String s3 = s1.concat(s2); or String s3 = s1 + s2;</a:t>
            </a:r>
          </a:p>
          <a:p>
            <a:pPr>
              <a:spcBef>
                <a:spcPct val="0"/>
              </a:spcBef>
            </a:pPr>
            <a:endParaRPr lang="en-US" altLang="en-US" sz="2400" u="sng" dirty="0"/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cs typeface="Times New Roman" pitchFamily="18" charset="0"/>
              </a:rPr>
              <a:t>// Three strings are concatenated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cs typeface="Times New Roman" pitchFamily="18" charset="0"/>
              </a:rPr>
              <a:t>String message = "Welcome " + "to " + "Java";</a:t>
            </a: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cs typeface="Times New Roman" pitchFamily="18" charset="0"/>
              </a:rPr>
              <a:t>// String Chapter is concatenated with number 2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cs typeface="Times New Roman" pitchFamily="18" charset="0"/>
              </a:rPr>
              <a:t>String s = "Chapter" + 2; </a:t>
            </a:r>
            <a:r>
              <a:rPr lang="en-US" altLang="en-US" sz="2000" dirty="0">
                <a:cs typeface="Times New Roman" pitchFamily="18" charset="0"/>
              </a:rPr>
              <a:t>// s becomes Chapter2</a:t>
            </a: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cs typeface="Times New Roman" pitchFamily="18" charset="0"/>
              </a:rPr>
              <a:t>// String Supplement is concatenated with character B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cs typeface="Times New Roman" pitchFamily="18" charset="0"/>
              </a:rPr>
              <a:t>String s1 = "Supplement" + 'B'; </a:t>
            </a:r>
            <a:r>
              <a:rPr lang="en-US" altLang="en-US" sz="2000" dirty="0">
                <a:cs typeface="Times New Roman" pitchFamily="18" charset="0"/>
              </a:rPr>
              <a:t>// s1 becomes </a:t>
            </a:r>
            <a:r>
              <a:rPr lang="en-US" altLang="en-US" sz="2000" dirty="0" err="1">
                <a:cs typeface="Times New Roman" pitchFamily="18" charset="0"/>
              </a:rPr>
              <a:t>SupplementB</a:t>
            </a:r>
            <a:endParaRPr lang="en-US" altLang="en-US" sz="2000" dirty="0">
              <a:cs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en-US" sz="2800" dirty="0">
                <a:cs typeface="Times New Roman" pitchFamily="18" charset="0"/>
              </a:rPr>
              <a:t>The augmented += operator can also be used for string concatenation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cs typeface="Times New Roman" pitchFamily="18" charset="0"/>
              </a:rPr>
              <a:t>Example: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en-US" sz="2400" dirty="0">
                <a:cs typeface="Times New Roman" pitchFamily="18" charset="0"/>
              </a:rPr>
              <a:t>String message = “Welcome to Java”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en-US" sz="2400" dirty="0">
                <a:cs typeface="Times New Roman" pitchFamily="18" charset="0"/>
              </a:rPr>
              <a:t>message += “ and Java is fun” </a:t>
            </a:r>
            <a:r>
              <a:rPr lang="en-US" altLang="en-US" sz="2000" dirty="0">
                <a:cs typeface="Times New Roman" pitchFamily="18" charset="0"/>
              </a:rPr>
              <a:t>//output: Welcome to Java and Java is fun</a:t>
            </a:r>
            <a:endParaRPr lang="en-US" altLang="en-US" sz="24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93267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Times New Roman" pitchFamily="18" charset="0"/>
              </a:rPr>
              <a:t>String Concatenation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1"/>
            <a:ext cx="8686800" cy="2057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 + operator can also concatenate a number with a string in SOP function</a:t>
            </a:r>
          </a:p>
          <a:p>
            <a:pPr lvl="1"/>
            <a:r>
              <a:rPr lang="en-US" dirty="0"/>
              <a:t>In this case number is converted into the string and then concatenated.</a:t>
            </a:r>
          </a:p>
          <a:p>
            <a:r>
              <a:rPr lang="en-US" dirty="0"/>
              <a:t>If i = 1 and j = 2, what is the output of the following statement?</a:t>
            </a:r>
          </a:p>
          <a:p>
            <a:pPr marL="0" indent="0" algn="ctr">
              <a:buNone/>
            </a:pPr>
            <a:r>
              <a:rPr lang="en-US" dirty="0" err="1"/>
              <a:t>System.out.println</a:t>
            </a:r>
            <a:r>
              <a:rPr lang="en-US" dirty="0"/>
              <a:t>("i + j is " + i + j);</a:t>
            </a:r>
          </a:p>
          <a:p>
            <a:r>
              <a:rPr lang="en-US" dirty="0"/>
              <a:t>Output: "i + j is 12"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3810000"/>
            <a:ext cx="7086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System.out.println</a:t>
            </a:r>
            <a:r>
              <a:rPr lang="en-US" dirty="0"/>
              <a:t>("1" + 1);  //"1" + 1 → "11"</a:t>
            </a:r>
          </a:p>
          <a:p>
            <a:r>
              <a:rPr lang="en-US" dirty="0" err="1"/>
              <a:t>System.out.println</a:t>
            </a:r>
            <a:r>
              <a:rPr lang="en-US" dirty="0"/>
              <a:t>('1' + 1); '1' has </a:t>
            </a:r>
            <a:r>
              <a:rPr lang="en-US" b="1" dirty="0"/>
              <a:t>ASCII (Unicode) value = 49 </a:t>
            </a:r>
            <a:r>
              <a:rPr lang="en-US" dirty="0"/>
              <a:t>49 + 1 → 50 </a:t>
            </a:r>
            <a:r>
              <a:rPr lang="en-US" dirty="0" err="1"/>
              <a:t>System.out.println</a:t>
            </a:r>
            <a:r>
              <a:rPr lang="en-US" dirty="0"/>
              <a:t>("1" + 1 + 1);  111</a:t>
            </a:r>
          </a:p>
          <a:p>
            <a:r>
              <a:rPr lang="en-US" dirty="0" err="1"/>
              <a:t>System.out.println</a:t>
            </a:r>
            <a:r>
              <a:rPr lang="en-US" dirty="0"/>
              <a:t>("1" + (1 + 1));12</a:t>
            </a:r>
          </a:p>
          <a:p>
            <a:r>
              <a:rPr lang="en-US" dirty="0" err="1"/>
              <a:t>System.out.println</a:t>
            </a:r>
            <a:r>
              <a:rPr lang="en-US" dirty="0"/>
              <a:t>('1' + 1 + 1); 49+1+! =  51</a:t>
            </a:r>
          </a:p>
        </p:txBody>
      </p:sp>
    </p:spTree>
    <p:extLst>
      <p:ext uri="{BB962C8B-B14F-4D97-AF65-F5344CB8AC3E}">
        <p14:creationId xmlns:p14="http://schemas.microsoft.com/office/powerpoint/2010/main" val="2704375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000"/>
              <a:t>Converting Strings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5486400"/>
          </a:xfrm>
          <a:noFill/>
        </p:spPr>
        <p:txBody>
          <a:bodyPr>
            <a:normAutofit/>
          </a:bodyPr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"Welcome".</a:t>
            </a:r>
            <a:r>
              <a:rPr lang="en-US" altLang="en-US" sz="2400" dirty="0" err="1"/>
              <a:t>toLowerCase</a:t>
            </a:r>
            <a:r>
              <a:rPr lang="en-US" altLang="en-US" sz="2400" dirty="0"/>
              <a:t>() returns a new string, welcome.</a:t>
            </a:r>
            <a:endParaRPr lang="en-US" altLang="en-US" sz="2400" b="1" i="1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"Welcome".</a:t>
            </a:r>
            <a:r>
              <a:rPr lang="en-US" altLang="en-US" sz="2400" dirty="0" err="1"/>
              <a:t>toUpperCase</a:t>
            </a:r>
            <a:r>
              <a:rPr lang="en-US" altLang="en-US" sz="2400" dirty="0"/>
              <a:t>() returns a new string, WELCOME.</a:t>
            </a:r>
            <a:endParaRPr lang="en-US" altLang="en-US" sz="2400" b="1" i="1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"  Welcome  ".trim() returns a new string, Welcome. Which has no white spaces</a:t>
            </a:r>
            <a:endParaRPr lang="en-US" alt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2417259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800"/>
              <a:t>Reading a String from the Console </a:t>
            </a:r>
            <a:endParaRPr lang="en-US" altLang="en-US" sz="4500">
              <a:cs typeface="Times New Roman" pitchFamily="18" charset="0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5257800"/>
          </a:xfrm>
          <a:noFill/>
        </p:spPr>
        <p:txBody>
          <a:bodyPr>
            <a:normAutofit fontScale="92500" lnSpcReduction="10000"/>
          </a:bodyPr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Scanner input = </a:t>
            </a:r>
            <a:r>
              <a:rPr lang="en-US" altLang="en-US" sz="2400" b="1" dirty="0"/>
              <a:t>new</a:t>
            </a:r>
            <a:r>
              <a:rPr lang="en-US" altLang="en-US" sz="2400" dirty="0"/>
              <a:t> Scanner(System.in);</a:t>
            </a:r>
            <a:endParaRPr lang="en-US" altLang="en-US" sz="2400" u="sng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 err="1"/>
              <a:t>System.out.print</a:t>
            </a:r>
            <a:r>
              <a:rPr lang="en-US" altLang="en-US" sz="2400" dirty="0"/>
              <a:t>(</a:t>
            </a:r>
            <a:r>
              <a:rPr lang="en-US" altLang="en-US" sz="2400" b="1" dirty="0"/>
              <a:t>"Enter three words separated by spaces: "</a:t>
            </a:r>
            <a:r>
              <a:rPr lang="en-US" altLang="en-US" sz="2400" dirty="0"/>
              <a:t>);</a:t>
            </a:r>
            <a:endParaRPr lang="en-US" altLang="en-US" sz="2400" u="sng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000" dirty="0"/>
              <a:t>String s1 = </a:t>
            </a:r>
            <a:r>
              <a:rPr lang="en-US" altLang="en-US" sz="2000" dirty="0" err="1"/>
              <a:t>input.next</a:t>
            </a:r>
            <a:r>
              <a:rPr lang="en-US" altLang="en-US" sz="2000" dirty="0"/>
              <a:t>();</a:t>
            </a:r>
            <a:endParaRPr lang="en-US" altLang="en-US" sz="2000" u="sng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000" dirty="0"/>
              <a:t>String s2 = </a:t>
            </a:r>
            <a:r>
              <a:rPr lang="en-US" altLang="en-US" sz="2000" dirty="0" err="1"/>
              <a:t>input.next</a:t>
            </a:r>
            <a:r>
              <a:rPr lang="en-US" altLang="en-US" sz="2000" dirty="0"/>
              <a:t>();</a:t>
            </a:r>
            <a:endParaRPr lang="en-US" altLang="en-US" sz="2000" u="sng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000" dirty="0"/>
              <a:t>String s3 = </a:t>
            </a:r>
            <a:r>
              <a:rPr lang="en-US" altLang="en-US" sz="2000" dirty="0" err="1"/>
              <a:t>input.next</a:t>
            </a:r>
            <a:r>
              <a:rPr lang="en-US" altLang="en-US" sz="2000" dirty="0"/>
              <a:t>();</a:t>
            </a:r>
            <a:endParaRPr lang="en-US" altLang="en-US" sz="2000" u="sng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000" dirty="0" err="1"/>
              <a:t>System.out.println</a:t>
            </a:r>
            <a:r>
              <a:rPr lang="en-US" altLang="en-US" sz="2000" dirty="0"/>
              <a:t>(</a:t>
            </a:r>
            <a:r>
              <a:rPr lang="en-US" altLang="en-US" sz="2000" b="1" dirty="0"/>
              <a:t>"s1 is " </a:t>
            </a:r>
            <a:r>
              <a:rPr lang="en-US" altLang="en-US" sz="2000" dirty="0"/>
              <a:t>+ s1);</a:t>
            </a:r>
            <a:endParaRPr lang="en-US" altLang="en-US" sz="2000" u="sng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000" dirty="0" err="1"/>
              <a:t>System.out.println</a:t>
            </a:r>
            <a:r>
              <a:rPr lang="en-US" altLang="en-US" sz="2000" dirty="0"/>
              <a:t>(</a:t>
            </a:r>
            <a:r>
              <a:rPr lang="en-US" altLang="en-US" sz="2000" b="1" dirty="0"/>
              <a:t>"s2 is " </a:t>
            </a:r>
            <a:r>
              <a:rPr lang="en-US" altLang="en-US" sz="2000" dirty="0"/>
              <a:t>+ s2);</a:t>
            </a:r>
            <a:endParaRPr lang="en-US" altLang="en-US" sz="2000" u="sng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sz="2000" dirty="0" err="1"/>
              <a:t>System.out.println</a:t>
            </a:r>
            <a:r>
              <a:rPr lang="en-US" altLang="en-US" sz="2000" dirty="0"/>
              <a:t>(</a:t>
            </a:r>
            <a:r>
              <a:rPr lang="en-US" altLang="en-US" sz="2000" b="1" dirty="0"/>
              <a:t>"s3 is " </a:t>
            </a:r>
            <a:r>
              <a:rPr lang="en-US" altLang="en-US" sz="2000" dirty="0"/>
              <a:t>+ s3);</a:t>
            </a:r>
          </a:p>
          <a:p>
            <a:r>
              <a:rPr lang="en-US" altLang="en-US" sz="2400" dirty="0"/>
              <a:t>The next() method reads a string that </a:t>
            </a:r>
            <a:r>
              <a:rPr lang="en-US" altLang="en-US" sz="2400" i="1" dirty="0"/>
              <a:t>ends </a:t>
            </a:r>
            <a:r>
              <a:rPr lang="en-US" altLang="en-US" sz="2400" dirty="0"/>
              <a:t>with a whitespace character</a:t>
            </a:r>
          </a:p>
          <a:p>
            <a:r>
              <a:rPr lang="en-US" altLang="en-US" sz="2400" dirty="0" err="1"/>
              <a:t>nextLine</a:t>
            </a:r>
            <a:r>
              <a:rPr lang="en-US" altLang="en-US" sz="2400" dirty="0"/>
              <a:t>() method to read an entire line of text that ends with the ENTER key is pressed</a:t>
            </a:r>
          </a:p>
          <a:p>
            <a:pPr marL="0" indent="0">
              <a:buNone/>
            </a:pPr>
            <a:r>
              <a:rPr lang="en-US" altLang="en-US" sz="1900" dirty="0"/>
              <a:t>Scanner input = new Scanner(System.in);</a:t>
            </a:r>
          </a:p>
          <a:p>
            <a:pPr marL="0" indent="0">
              <a:buNone/>
            </a:pPr>
            <a:r>
              <a:rPr lang="en-US" altLang="en-US" sz="1900" dirty="0" err="1"/>
              <a:t>System.out.println</a:t>
            </a:r>
            <a:r>
              <a:rPr lang="en-US" altLang="en-US" sz="1900" dirty="0"/>
              <a:t>("Enter a line: ");</a:t>
            </a:r>
          </a:p>
          <a:p>
            <a:pPr marL="0" indent="0">
              <a:buNone/>
            </a:pPr>
            <a:r>
              <a:rPr lang="en-US" altLang="en-US" sz="1900" dirty="0"/>
              <a:t>String s = </a:t>
            </a:r>
            <a:r>
              <a:rPr lang="en-US" altLang="en-US" sz="1900" dirty="0" err="1"/>
              <a:t>input.nextLine</a:t>
            </a:r>
            <a:r>
              <a:rPr lang="en-US" altLang="en-US" sz="1900" dirty="0"/>
              <a:t>();</a:t>
            </a:r>
          </a:p>
          <a:p>
            <a:pPr marL="0" indent="0">
              <a:buNone/>
            </a:pPr>
            <a:r>
              <a:rPr lang="en-US" altLang="en-US" sz="1900" dirty="0" err="1"/>
              <a:t>System.out.println</a:t>
            </a:r>
            <a:r>
              <a:rPr lang="en-US" altLang="en-US" sz="1900" dirty="0"/>
              <a:t>("The line entered is " + s);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905000"/>
            <a:ext cx="5296454" cy="1044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102" y="4876800"/>
            <a:ext cx="4133850" cy="763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14464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Strings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3" y="1695450"/>
            <a:ext cx="8915399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1955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Strings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2400" y="1066800"/>
            <a:ext cx="8839200" cy="1867902"/>
            <a:chOff x="152400" y="1066800"/>
            <a:chExt cx="8534400" cy="1867902"/>
          </a:xfrm>
        </p:grpSpPr>
        <p:sp>
          <p:nvSpPr>
            <p:cNvPr id="4" name="Rectangle 3"/>
            <p:cNvSpPr/>
            <p:nvPr/>
          </p:nvSpPr>
          <p:spPr>
            <a:xfrm>
              <a:off x="152400" y="1066800"/>
              <a:ext cx="8534400" cy="12003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if (string1 == string2)</a:t>
              </a:r>
            </a:p>
            <a:p>
              <a:r>
                <a:rPr lang="en-US" dirty="0"/>
                <a:t>  </a:t>
              </a:r>
              <a:r>
                <a:rPr lang="en-US" dirty="0" err="1"/>
                <a:t>System.out.println</a:t>
              </a:r>
              <a:r>
                <a:rPr lang="en-US" dirty="0"/>
                <a:t>("string1 and string2 are the same object");</a:t>
              </a:r>
            </a:p>
            <a:p>
              <a:r>
                <a:rPr lang="en-US" dirty="0"/>
                <a:t>else</a:t>
              </a:r>
            </a:p>
            <a:p>
              <a:r>
                <a:rPr lang="en-US" dirty="0"/>
                <a:t>  </a:t>
              </a:r>
              <a:r>
                <a:rPr lang="en-US" dirty="0" err="1"/>
                <a:t>System.out.println</a:t>
              </a:r>
              <a:r>
                <a:rPr lang="en-US" dirty="0"/>
                <a:t>("string1 and string2 are different objects");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2400" y="2288371"/>
              <a:ext cx="853440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the == operator checks only whether string1 and string2 refer to the same object; it does not tell you whether they have the same contents.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52400" y="3206564"/>
            <a:ext cx="8839200" cy="1852164"/>
            <a:chOff x="152400" y="3206564"/>
            <a:chExt cx="8839200" cy="1852164"/>
          </a:xfrm>
        </p:grpSpPr>
        <p:sp>
          <p:nvSpPr>
            <p:cNvPr id="7" name="Rectangle 6"/>
            <p:cNvSpPr/>
            <p:nvPr/>
          </p:nvSpPr>
          <p:spPr>
            <a:xfrm>
              <a:off x="152400" y="3581400"/>
              <a:ext cx="4572000" cy="1477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r>
                <a:rPr lang="en-US" dirty="0"/>
                <a:t>String s1 = "Welcome to Java";</a:t>
              </a:r>
            </a:p>
            <a:p>
              <a:r>
                <a:rPr lang="en-US" dirty="0"/>
                <a:t>String s2 = "Welcome to Java";</a:t>
              </a:r>
            </a:p>
            <a:p>
              <a:r>
                <a:rPr lang="en-US" dirty="0"/>
                <a:t>String s3 = "Welcome to C++";</a:t>
              </a:r>
            </a:p>
            <a:p>
              <a:r>
                <a:rPr lang="en-US" dirty="0" err="1"/>
                <a:t>System.out.println</a:t>
              </a:r>
              <a:r>
                <a:rPr lang="en-US" dirty="0"/>
                <a:t>(s1.equals(s2)); // true</a:t>
              </a:r>
            </a:p>
            <a:p>
              <a:r>
                <a:rPr lang="en-US" dirty="0" err="1"/>
                <a:t>System.out.println</a:t>
              </a:r>
              <a:r>
                <a:rPr lang="en-US" dirty="0"/>
                <a:t>(s1.equals(s3)); // false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400" y="3206564"/>
              <a:ext cx="88392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b="1" dirty="0"/>
                <a:t>equals(s2):</a:t>
              </a:r>
              <a:r>
                <a:rPr lang="en-US" dirty="0"/>
                <a:t> The equals method returns true if two strings are equal and false if they are not.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1484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Strings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910" y="4724400"/>
            <a:ext cx="86868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"Welcome to Java".</a:t>
            </a:r>
            <a:r>
              <a:rPr lang="en-US" dirty="0" err="1"/>
              <a:t>startsWith</a:t>
            </a:r>
            <a:r>
              <a:rPr lang="en-US" dirty="0"/>
              <a:t>("We") returns true.</a:t>
            </a:r>
          </a:p>
          <a:p>
            <a:r>
              <a:rPr lang="en-US" dirty="0"/>
              <a:t>"Welcome to Java".</a:t>
            </a:r>
            <a:r>
              <a:rPr lang="en-US" dirty="0" err="1"/>
              <a:t>startsWith</a:t>
            </a:r>
            <a:r>
              <a:rPr lang="en-US" dirty="0"/>
              <a:t>("we") returns false.</a:t>
            </a:r>
          </a:p>
          <a:p>
            <a:r>
              <a:rPr lang="en-US" dirty="0"/>
              <a:t>"Welcome to Java".</a:t>
            </a:r>
            <a:r>
              <a:rPr lang="en-US" dirty="0" err="1"/>
              <a:t>endsWith</a:t>
            </a:r>
            <a:r>
              <a:rPr lang="en-US" dirty="0"/>
              <a:t>("</a:t>
            </a:r>
            <a:r>
              <a:rPr lang="en-US" dirty="0" err="1"/>
              <a:t>va</a:t>
            </a:r>
            <a:r>
              <a:rPr lang="en-US" dirty="0"/>
              <a:t>") returns true.</a:t>
            </a:r>
          </a:p>
          <a:p>
            <a:r>
              <a:rPr lang="en-US" dirty="0"/>
              <a:t>"Welcome to Java".</a:t>
            </a:r>
            <a:r>
              <a:rPr lang="en-US" dirty="0" err="1"/>
              <a:t>endsWith</a:t>
            </a:r>
            <a:r>
              <a:rPr lang="en-US" dirty="0"/>
              <a:t>("v") returns false.</a:t>
            </a:r>
          </a:p>
          <a:p>
            <a:r>
              <a:rPr lang="en-US" dirty="0"/>
              <a:t>"Welcome to </a:t>
            </a:r>
            <a:r>
              <a:rPr lang="en-US" dirty="0" err="1"/>
              <a:t>Java".contains</a:t>
            </a:r>
            <a:r>
              <a:rPr lang="en-US" dirty="0"/>
              <a:t>("to") returns true.</a:t>
            </a:r>
          </a:p>
          <a:p>
            <a:r>
              <a:rPr lang="en-US" dirty="0"/>
              <a:t>"Welcome to </a:t>
            </a:r>
            <a:r>
              <a:rPr lang="en-US" dirty="0" err="1"/>
              <a:t>Java".contains</a:t>
            </a:r>
            <a:r>
              <a:rPr lang="en-US" dirty="0"/>
              <a:t>("To") returns false.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40594" y="1066800"/>
            <a:ext cx="8851006" cy="2769989"/>
            <a:chOff x="140594" y="1066800"/>
            <a:chExt cx="8851006" cy="2769989"/>
          </a:xfrm>
        </p:grpSpPr>
        <p:grpSp>
          <p:nvGrpSpPr>
            <p:cNvPr id="4" name="Group 3"/>
            <p:cNvGrpSpPr/>
            <p:nvPr/>
          </p:nvGrpSpPr>
          <p:grpSpPr>
            <a:xfrm>
              <a:off x="152400" y="1066800"/>
              <a:ext cx="8839200" cy="1015663"/>
              <a:chOff x="152400" y="5269468"/>
              <a:chExt cx="8839200" cy="1015663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152400" y="5638800"/>
                <a:ext cx="8839200" cy="6463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dirty="0"/>
                  <a:t>The method returns the </a:t>
                </a:r>
                <a:r>
                  <a:rPr lang="en-US" b="1" dirty="0"/>
                  <a:t>value 0 if s1 is equal to s2</a:t>
                </a:r>
                <a:r>
                  <a:rPr lang="en-US" dirty="0"/>
                  <a:t>, </a:t>
                </a:r>
                <a:r>
                  <a:rPr lang="en-US" b="1" dirty="0"/>
                  <a:t>a value less than 0 if s1 is less than s2</a:t>
                </a:r>
                <a:r>
                  <a:rPr lang="en-US" dirty="0"/>
                  <a:t>, and </a:t>
                </a:r>
                <a:r>
                  <a:rPr lang="en-US" b="1" dirty="0"/>
                  <a:t>a value greater than 0 </a:t>
                </a:r>
                <a:r>
                  <a:rPr lang="en-US" dirty="0"/>
                  <a:t>if </a:t>
                </a:r>
                <a:r>
                  <a:rPr lang="en-US" b="1" dirty="0"/>
                  <a:t>s1 is greater than s2</a:t>
                </a:r>
                <a:r>
                  <a:rPr lang="en-US" dirty="0"/>
                  <a:t>.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52400" y="5269468"/>
                <a:ext cx="1592487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 err="1"/>
                  <a:t>compareTo</a:t>
                </a:r>
                <a:r>
                  <a:rPr lang="en-US" b="1" dirty="0"/>
                  <a:t>(s1)</a:t>
                </a: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140594" y="2082463"/>
              <a:ext cx="8839200" cy="17543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String s1 = "Welcome to Java";    </a:t>
              </a:r>
            </a:p>
            <a:p>
              <a:r>
                <a:rPr lang="en-US" dirty="0"/>
                <a:t>String s2 = "Welcome to Java";    </a:t>
              </a:r>
            </a:p>
            <a:p>
              <a:r>
                <a:rPr lang="en-US" dirty="0"/>
                <a:t>String s3 = "Welcome to C++";      </a:t>
              </a:r>
            </a:p>
            <a:p>
              <a:r>
                <a:rPr lang="en-US" dirty="0" err="1"/>
                <a:t>System.out.println</a:t>
              </a:r>
              <a:r>
                <a:rPr lang="en-US" dirty="0"/>
                <a:t> (s1.compareTo(s2));	   </a:t>
              </a:r>
              <a:r>
                <a:rPr lang="en-US" sz="1600" dirty="0"/>
                <a:t>// Both are equal-&gt;0      </a:t>
              </a:r>
            </a:p>
            <a:p>
              <a:r>
                <a:rPr lang="en-US" dirty="0" err="1"/>
                <a:t>System.out.println</a:t>
              </a:r>
              <a:r>
                <a:rPr lang="en-US" dirty="0"/>
                <a:t> (s1.compareTo(s3));    </a:t>
              </a:r>
              <a:r>
                <a:rPr lang="en-US" sz="1600" dirty="0"/>
                <a:t>// s1 is greater than </a:t>
              </a:r>
              <a:r>
                <a:rPr lang="en-US" sz="1600"/>
                <a:t>s3-&gt; 7 </a:t>
              </a:r>
              <a:r>
                <a:rPr lang="en-US" sz="1600" dirty="0"/>
                <a:t>ASCII of J=74 and C=67  (74-67)      </a:t>
              </a:r>
            </a:p>
            <a:p>
              <a:r>
                <a:rPr lang="en-US" dirty="0" err="1"/>
                <a:t>System.out.println</a:t>
              </a:r>
              <a:r>
                <a:rPr lang="en-US" dirty="0"/>
                <a:t> (s3.compareTo(s1));    </a:t>
              </a:r>
              <a:r>
                <a:rPr lang="en-US" sz="1600" dirty="0"/>
                <a:t>// s3 less than s1 -&gt; -7 ASCII of J=74 and C=67           (67-74)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1273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1524000"/>
            <a:ext cx="8839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Scanner input = new Scanner(System.in);</a:t>
            </a:r>
          </a:p>
          <a:p>
            <a:r>
              <a:rPr lang="en-US" dirty="0"/>
              <a:t>// Prompt the user to enter two cities</a:t>
            </a:r>
          </a:p>
          <a:p>
            <a:r>
              <a:rPr lang="en-US" dirty="0" err="1"/>
              <a:t>System.out.print</a:t>
            </a:r>
            <a:r>
              <a:rPr lang="en-US" dirty="0"/>
              <a:t>("Enter the first city: ");</a:t>
            </a:r>
          </a:p>
          <a:p>
            <a:r>
              <a:rPr lang="en-US" dirty="0"/>
              <a:t>String city1 = </a:t>
            </a:r>
            <a:r>
              <a:rPr lang="en-US" dirty="0" err="1"/>
              <a:t>input.nextLine</a:t>
            </a:r>
            <a:r>
              <a:rPr lang="en-US" dirty="0"/>
              <a:t>();</a:t>
            </a:r>
          </a:p>
          <a:p>
            <a:r>
              <a:rPr lang="en-US" dirty="0" err="1"/>
              <a:t>System.out.print</a:t>
            </a:r>
            <a:r>
              <a:rPr lang="en-US" dirty="0"/>
              <a:t>("Enter the second city: ");</a:t>
            </a:r>
          </a:p>
          <a:p>
            <a:r>
              <a:rPr lang="en-US" dirty="0"/>
              <a:t>String city2 = </a:t>
            </a:r>
            <a:r>
              <a:rPr lang="en-US" dirty="0" err="1"/>
              <a:t>input.nextLine</a:t>
            </a:r>
            <a:r>
              <a:rPr lang="en-US" dirty="0"/>
              <a:t>();</a:t>
            </a:r>
          </a:p>
          <a:p>
            <a:r>
              <a:rPr lang="en-US" dirty="0"/>
              <a:t>if (city1.compareTo(city2) &lt; 0)</a:t>
            </a:r>
          </a:p>
          <a:p>
            <a:r>
              <a:rPr lang="en-US" dirty="0"/>
              <a:t>      </a:t>
            </a:r>
            <a:r>
              <a:rPr lang="en-US" dirty="0" err="1"/>
              <a:t>System.out.println</a:t>
            </a:r>
            <a:r>
              <a:rPr lang="en-US" dirty="0"/>
              <a:t>("The cities in alphabetical order are " +city1 + " " + city2);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  </a:t>
            </a:r>
            <a:r>
              <a:rPr lang="en-US" dirty="0" err="1"/>
              <a:t>System.out.println</a:t>
            </a:r>
            <a:r>
              <a:rPr lang="en-US" dirty="0"/>
              <a:t>("The cities in alphabetical order are " +city2 + " " + city1);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4876800"/>
            <a:ext cx="802697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4155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Obtaining Substrings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68" y="3622652"/>
            <a:ext cx="7336398" cy="1787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58969" y="5486400"/>
            <a:ext cx="76307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String message = "Welcome to Java";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message.substring</a:t>
            </a:r>
            <a:r>
              <a:rPr lang="en-US" dirty="0"/>
              <a:t>(3)); //come to Java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message.substring</a:t>
            </a:r>
            <a:r>
              <a:rPr lang="en-US" dirty="0"/>
              <a:t>(11,message.length())); //Java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914400"/>
            <a:ext cx="8610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substring(</a:t>
            </a:r>
            <a:r>
              <a:rPr lang="en-US" sz="2000" b="1" dirty="0" err="1"/>
              <a:t>beginIndex</a:t>
            </a:r>
            <a:r>
              <a:rPr lang="en-US" sz="2000" b="1" dirty="0"/>
              <a:t>) </a:t>
            </a:r>
          </a:p>
          <a:p>
            <a:r>
              <a:rPr lang="en-US" sz="2000" dirty="0"/>
              <a:t>Returns this string’s substring that begins with the character at the specified </a:t>
            </a:r>
            <a:r>
              <a:rPr lang="en-US" sz="2000" dirty="0" err="1"/>
              <a:t>beginIndex</a:t>
            </a:r>
            <a:r>
              <a:rPr lang="en-US" sz="2000" dirty="0"/>
              <a:t> and extends to the end of the string</a:t>
            </a:r>
          </a:p>
          <a:p>
            <a:endParaRPr lang="en-US" sz="2000" b="1" dirty="0"/>
          </a:p>
          <a:p>
            <a:r>
              <a:rPr lang="en-US" sz="2000" b="1" dirty="0"/>
              <a:t>substring(</a:t>
            </a:r>
            <a:r>
              <a:rPr lang="en-US" sz="2000" b="1" dirty="0" err="1"/>
              <a:t>beginIndex,endIndex</a:t>
            </a:r>
            <a:r>
              <a:rPr lang="en-US" sz="2000" b="1" dirty="0"/>
              <a:t>)</a:t>
            </a:r>
          </a:p>
          <a:p>
            <a:r>
              <a:rPr lang="en-US" sz="2000" dirty="0"/>
              <a:t>Returns this string’s substring that begins at the specified </a:t>
            </a:r>
            <a:r>
              <a:rPr lang="en-US" sz="2000" dirty="0" err="1"/>
              <a:t>beginIndex</a:t>
            </a:r>
            <a:r>
              <a:rPr lang="en-US" sz="2000" dirty="0"/>
              <a:t> and extends to the character at index </a:t>
            </a:r>
            <a:r>
              <a:rPr lang="en-US" sz="2000" dirty="0" err="1"/>
              <a:t>endIndex</a:t>
            </a:r>
            <a:r>
              <a:rPr lang="en-US" sz="2000" dirty="0"/>
              <a:t> – 1. Note that the character at </a:t>
            </a:r>
            <a:r>
              <a:rPr lang="en-US" sz="2000" dirty="0" err="1"/>
              <a:t>endIndex</a:t>
            </a:r>
            <a:r>
              <a:rPr lang="en-US" sz="2000" dirty="0"/>
              <a:t> is not part of the substring.</a:t>
            </a:r>
          </a:p>
        </p:txBody>
      </p:sp>
    </p:spTree>
    <p:extLst>
      <p:ext uri="{BB962C8B-B14F-4D97-AF65-F5344CB8AC3E}">
        <p14:creationId xmlns:p14="http://schemas.microsoft.com/office/powerpoint/2010/main" val="3332548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3200" dirty="0"/>
              <a:t>Finding a Character or a Substring in a String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61" y="1447800"/>
            <a:ext cx="8833444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47326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3200" dirty="0"/>
              <a:t>Finding a Character or a Substring in a String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2907" y="990600"/>
            <a:ext cx="7624292" cy="2308324"/>
            <a:chOff x="457201" y="1524000"/>
            <a:chExt cx="6404019" cy="2308324"/>
          </a:xfrm>
        </p:grpSpPr>
        <p:sp>
          <p:nvSpPr>
            <p:cNvPr id="4" name="Rectangle 3"/>
            <p:cNvSpPr/>
            <p:nvPr/>
          </p:nvSpPr>
          <p:spPr>
            <a:xfrm>
              <a:off x="460420" y="1893332"/>
              <a:ext cx="6400800" cy="193899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000" dirty="0"/>
                <a:t>"Welcome to Java".</a:t>
              </a:r>
              <a:r>
                <a:rPr lang="en-US" sz="2000" dirty="0" err="1"/>
                <a:t>indexOf</a:t>
              </a:r>
              <a:r>
                <a:rPr lang="en-US" sz="2000" dirty="0"/>
                <a:t>('W') returns 0.</a:t>
              </a:r>
            </a:p>
            <a:p>
              <a:r>
                <a:rPr lang="en-US" sz="2000" dirty="0"/>
                <a:t>"Welcome to Java".</a:t>
              </a:r>
              <a:r>
                <a:rPr lang="en-US" sz="2000" dirty="0" err="1"/>
                <a:t>indexOf</a:t>
              </a:r>
              <a:r>
                <a:rPr lang="en-US" sz="2000" dirty="0"/>
                <a:t>('o') returns 4.</a:t>
              </a:r>
            </a:p>
            <a:p>
              <a:r>
                <a:rPr lang="en-US" sz="2000" dirty="0"/>
                <a:t>"Welcome to Java".</a:t>
              </a:r>
              <a:r>
                <a:rPr lang="en-US" sz="2000" dirty="0" err="1"/>
                <a:t>indexOf</a:t>
              </a:r>
              <a:r>
                <a:rPr lang="en-US" sz="2000" dirty="0"/>
                <a:t>('o', 5) returns 9.</a:t>
              </a:r>
            </a:p>
            <a:p>
              <a:r>
                <a:rPr lang="en-US" sz="2000" dirty="0"/>
                <a:t>"Welcome to Java".</a:t>
              </a:r>
              <a:r>
                <a:rPr lang="en-US" sz="2000" dirty="0" err="1"/>
                <a:t>indexOf</a:t>
              </a:r>
              <a:r>
                <a:rPr lang="en-US" sz="2000" dirty="0"/>
                <a:t>("come") returns 3.</a:t>
              </a:r>
            </a:p>
            <a:p>
              <a:r>
                <a:rPr lang="en-US" sz="2000" dirty="0"/>
                <a:t>"Welcome to Java".</a:t>
              </a:r>
              <a:r>
                <a:rPr lang="en-US" sz="2000" dirty="0" err="1"/>
                <a:t>indexOf</a:t>
              </a:r>
              <a:r>
                <a:rPr lang="en-US" sz="2000" dirty="0"/>
                <a:t>("Java", 5) returns 11.</a:t>
              </a:r>
            </a:p>
            <a:p>
              <a:r>
                <a:rPr lang="en-US" sz="2000" dirty="0"/>
                <a:t>"Welcome to Java".</a:t>
              </a:r>
              <a:r>
                <a:rPr lang="en-US" sz="2000" dirty="0" err="1"/>
                <a:t>indexOf</a:t>
              </a:r>
              <a:r>
                <a:rPr lang="en-US" sz="2000" dirty="0"/>
                <a:t>("java", 5) returns -1.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1" y="1524000"/>
              <a:ext cx="1475702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 err="1"/>
                <a:t>indexOf</a:t>
              </a:r>
              <a:r>
                <a:rPr lang="en-US" dirty="0"/>
                <a:t>()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6739" y="3886200"/>
            <a:ext cx="7631192" cy="2123658"/>
            <a:chOff x="456739" y="3886200"/>
            <a:chExt cx="7631192" cy="2123658"/>
          </a:xfrm>
        </p:grpSpPr>
        <p:sp>
          <p:nvSpPr>
            <p:cNvPr id="7" name="Rectangle 6"/>
            <p:cNvSpPr/>
            <p:nvPr/>
          </p:nvSpPr>
          <p:spPr>
            <a:xfrm>
              <a:off x="467471" y="4255532"/>
              <a:ext cx="7620460" cy="17543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"Welcome to Java".</a:t>
              </a:r>
              <a:r>
                <a:rPr lang="en-US" dirty="0" err="1"/>
                <a:t>lastIndexOf</a:t>
              </a:r>
              <a:r>
                <a:rPr lang="en-US" dirty="0"/>
                <a:t>('W') returns 0.</a:t>
              </a:r>
            </a:p>
            <a:p>
              <a:r>
                <a:rPr lang="en-US" dirty="0"/>
                <a:t>"Welcome to Java".</a:t>
              </a:r>
              <a:r>
                <a:rPr lang="en-US" dirty="0" err="1"/>
                <a:t>lastIndexOf</a:t>
              </a:r>
              <a:r>
                <a:rPr lang="en-US" dirty="0"/>
                <a:t>('o') returns 9.</a:t>
              </a:r>
            </a:p>
            <a:p>
              <a:r>
                <a:rPr lang="en-US" dirty="0"/>
                <a:t>"Welcome to Java".</a:t>
              </a:r>
              <a:r>
                <a:rPr lang="en-US" dirty="0" err="1"/>
                <a:t>lastIndexOf</a:t>
              </a:r>
              <a:r>
                <a:rPr lang="en-US" dirty="0"/>
                <a:t>('o', 5) returns 4.</a:t>
              </a:r>
            </a:p>
            <a:p>
              <a:r>
                <a:rPr lang="en-US" dirty="0"/>
                <a:t>"Welcome to Java".</a:t>
              </a:r>
              <a:r>
                <a:rPr lang="en-US" dirty="0" err="1"/>
                <a:t>lastIndexOf</a:t>
              </a:r>
              <a:r>
                <a:rPr lang="en-US" dirty="0"/>
                <a:t>("come") returns 3.</a:t>
              </a:r>
            </a:p>
            <a:p>
              <a:r>
                <a:rPr lang="en-US" dirty="0"/>
                <a:t>"Welcome to Java".</a:t>
              </a:r>
              <a:r>
                <a:rPr lang="en-US" dirty="0" err="1"/>
                <a:t>lastIndexOf</a:t>
              </a:r>
              <a:r>
                <a:rPr lang="en-US" dirty="0"/>
                <a:t>("Java", 5) returns -1.</a:t>
              </a:r>
            </a:p>
            <a:p>
              <a:r>
                <a:rPr lang="en-US" dirty="0"/>
                <a:t>"Welcome to Java".</a:t>
              </a:r>
              <a:r>
                <a:rPr lang="en-US" dirty="0" err="1"/>
                <a:t>lastIndexOf</a:t>
              </a:r>
              <a:r>
                <a:rPr lang="en-US" dirty="0"/>
                <a:t>("Java") returns 11.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56739" y="3886200"/>
              <a:ext cx="1905461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 err="1"/>
                <a:t>lastIndexOf</a:t>
              </a:r>
              <a:r>
                <a:rPr lang="en-US" dirty="0"/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9212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Conversion between Strings and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>
            <a:normAutofit/>
          </a:bodyPr>
          <a:lstStyle/>
          <a:p>
            <a:r>
              <a:rPr lang="en-US" dirty="0"/>
              <a:t>To convert a string into an </a:t>
            </a:r>
            <a:r>
              <a:rPr lang="en-US" b="1" dirty="0" err="1"/>
              <a:t>int</a:t>
            </a:r>
            <a:r>
              <a:rPr lang="en-US" dirty="0"/>
              <a:t> value, use the </a:t>
            </a:r>
            <a:r>
              <a:rPr lang="en-US" b="1" dirty="0" err="1"/>
              <a:t>Integer.parseInt</a:t>
            </a:r>
            <a:r>
              <a:rPr lang="en-US" dirty="0"/>
              <a:t> method</a:t>
            </a:r>
          </a:p>
          <a:p>
            <a:pPr marL="0" indent="0" algn="ctr">
              <a:buNone/>
            </a:pPr>
            <a:r>
              <a:rPr lang="en-US" sz="2000" dirty="0" err="1">
                <a:latin typeface="Courier" pitchFamily="49" charset="0"/>
              </a:rPr>
              <a:t>int</a:t>
            </a:r>
            <a:r>
              <a:rPr lang="en-US" sz="2000" dirty="0">
                <a:latin typeface="Courier" pitchFamily="49" charset="0"/>
              </a:rPr>
              <a:t> </a:t>
            </a:r>
            <a:r>
              <a:rPr lang="en-US" sz="2000" dirty="0" err="1">
                <a:latin typeface="Courier" pitchFamily="49" charset="0"/>
              </a:rPr>
              <a:t>intValue</a:t>
            </a:r>
            <a:r>
              <a:rPr lang="en-US" sz="2000" dirty="0">
                <a:latin typeface="Courier" pitchFamily="49" charset="0"/>
              </a:rPr>
              <a:t> = </a:t>
            </a:r>
            <a:r>
              <a:rPr lang="en-US" sz="2000" dirty="0" err="1">
                <a:latin typeface="Courier" pitchFamily="49" charset="0"/>
              </a:rPr>
              <a:t>Integer.parseInt</a:t>
            </a:r>
            <a:r>
              <a:rPr lang="en-US" sz="2000" dirty="0">
                <a:latin typeface="Courier" pitchFamily="49" charset="0"/>
              </a:rPr>
              <a:t>(</a:t>
            </a:r>
            <a:r>
              <a:rPr lang="en-US" sz="2000" dirty="0" err="1">
                <a:latin typeface="Courier" pitchFamily="49" charset="0"/>
              </a:rPr>
              <a:t>intString</a:t>
            </a:r>
            <a:r>
              <a:rPr lang="en-US" sz="2000" dirty="0">
                <a:latin typeface="Courier" pitchFamily="49" charset="0"/>
              </a:rPr>
              <a:t>);</a:t>
            </a:r>
          </a:p>
          <a:p>
            <a:pPr lvl="1"/>
            <a:r>
              <a:rPr lang="en-US" sz="2400" dirty="0"/>
              <a:t>where </a:t>
            </a:r>
            <a:r>
              <a:rPr lang="en-US" sz="2400" i="1" dirty="0" err="1"/>
              <a:t>intString</a:t>
            </a:r>
            <a:r>
              <a:rPr lang="en-US" sz="2400" dirty="0"/>
              <a:t> is a numeric string such as "123“</a:t>
            </a:r>
          </a:p>
          <a:p>
            <a:r>
              <a:rPr lang="en-US" dirty="0"/>
              <a:t>To convert a string into a  double value, use the  </a:t>
            </a:r>
            <a:r>
              <a:rPr lang="en-US" b="1" dirty="0" err="1"/>
              <a:t>Double.parseDouble</a:t>
            </a:r>
            <a:r>
              <a:rPr lang="en-US" b="1" dirty="0"/>
              <a:t> </a:t>
            </a:r>
            <a:r>
              <a:rPr lang="en-US" dirty="0"/>
              <a:t>method</a:t>
            </a:r>
          </a:p>
          <a:p>
            <a:pPr marL="0" indent="0" algn="ctr">
              <a:buNone/>
            </a:pPr>
            <a:r>
              <a:rPr lang="en-US" sz="2000" dirty="0">
                <a:latin typeface="Courier" pitchFamily="49" charset="0"/>
              </a:rPr>
              <a:t>double </a:t>
            </a:r>
            <a:r>
              <a:rPr lang="en-US" sz="2000" dirty="0" err="1">
                <a:latin typeface="Courier" pitchFamily="49" charset="0"/>
              </a:rPr>
              <a:t>doubleValue</a:t>
            </a:r>
            <a:r>
              <a:rPr lang="en-US" sz="2000" dirty="0">
                <a:latin typeface="Courier" pitchFamily="49" charset="0"/>
              </a:rPr>
              <a:t> = </a:t>
            </a:r>
            <a:r>
              <a:rPr lang="en-US" sz="2000" dirty="0" err="1">
                <a:latin typeface="Courier" pitchFamily="49" charset="0"/>
              </a:rPr>
              <a:t>Double.parseDouble</a:t>
            </a:r>
            <a:r>
              <a:rPr lang="en-US" sz="2000" dirty="0">
                <a:latin typeface="Courier" pitchFamily="49" charset="0"/>
              </a:rPr>
              <a:t>(</a:t>
            </a:r>
            <a:r>
              <a:rPr lang="en-US" sz="2000" dirty="0" err="1">
                <a:latin typeface="Courier" pitchFamily="49" charset="0"/>
              </a:rPr>
              <a:t>doubleString</a:t>
            </a:r>
            <a:r>
              <a:rPr lang="en-US" sz="2000" dirty="0">
                <a:latin typeface="Courier" pitchFamily="49" charset="0"/>
              </a:rPr>
              <a:t>);</a:t>
            </a:r>
          </a:p>
          <a:p>
            <a:pPr lvl="1"/>
            <a:r>
              <a:rPr lang="en-US" sz="2400" dirty="0"/>
              <a:t>where </a:t>
            </a:r>
            <a:r>
              <a:rPr lang="en-US" sz="2400" dirty="0" err="1"/>
              <a:t>doubleString</a:t>
            </a:r>
            <a:r>
              <a:rPr lang="en-US" sz="2400" dirty="0"/>
              <a:t> is a numeric string such as "123.45"</a:t>
            </a:r>
          </a:p>
        </p:txBody>
      </p:sp>
    </p:spTree>
    <p:extLst>
      <p:ext uri="{BB962C8B-B14F-4D97-AF65-F5344CB8AC3E}">
        <p14:creationId xmlns:p14="http://schemas.microsoft.com/office/powerpoint/2010/main" val="125588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28998</TotalTime>
  <Words>2764</Words>
  <Application>Microsoft Office PowerPoint</Application>
  <PresentationFormat>On-screen Show (4:3)</PresentationFormat>
  <Paragraphs>296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</vt:lpstr>
      <vt:lpstr>Book Antiqua</vt:lpstr>
      <vt:lpstr>Calibri</vt:lpstr>
      <vt:lpstr>Courier</vt:lpstr>
      <vt:lpstr>Courier New</vt:lpstr>
      <vt:lpstr>inter-bold</vt:lpstr>
      <vt:lpstr>inter-regular</vt:lpstr>
      <vt:lpstr>Monotype Sorts</vt:lpstr>
      <vt:lpstr>Times New Roman</vt:lpstr>
      <vt:lpstr>Office Theme</vt:lpstr>
      <vt:lpstr>Microsoft Word Picture</vt:lpstr>
      <vt:lpstr>Picture</vt:lpstr>
      <vt:lpstr>Math, Character and String Class </vt:lpstr>
      <vt:lpstr>Math Functions</vt:lpstr>
      <vt:lpstr>The Math Class</vt:lpstr>
      <vt:lpstr>Trigonometric Methods</vt:lpstr>
      <vt:lpstr>Trigonometric Methods</vt:lpstr>
      <vt:lpstr>Exponent Methods</vt:lpstr>
      <vt:lpstr>Rounding Methods</vt:lpstr>
      <vt:lpstr>Rounding Methods Examples</vt:lpstr>
      <vt:lpstr>min, max, and abs</vt:lpstr>
      <vt:lpstr>The random Method</vt:lpstr>
      <vt:lpstr>Character Data Type</vt:lpstr>
      <vt:lpstr>Unicode and ASCII Code</vt:lpstr>
      <vt:lpstr>Casting between char and Numeric Types</vt:lpstr>
      <vt:lpstr>Comparing and Testing Characters</vt:lpstr>
      <vt:lpstr>Methods in the Character Class</vt:lpstr>
      <vt:lpstr>String Type</vt:lpstr>
      <vt:lpstr>The String Type </vt:lpstr>
      <vt:lpstr>The String Type</vt:lpstr>
      <vt:lpstr>The String Type</vt:lpstr>
      <vt:lpstr>The String Type</vt:lpstr>
      <vt:lpstr>Simple Methods for String Objects</vt:lpstr>
      <vt:lpstr>Getting String Length</vt:lpstr>
      <vt:lpstr>Getting Characters from a String </vt:lpstr>
      <vt:lpstr>String Concatenation </vt:lpstr>
      <vt:lpstr>String Concatenation </vt:lpstr>
      <vt:lpstr>Converting Strings</vt:lpstr>
      <vt:lpstr>Reading a String from the Console </vt:lpstr>
      <vt:lpstr>Comparing Strings</vt:lpstr>
      <vt:lpstr>Comparing Strings</vt:lpstr>
      <vt:lpstr>Comparing Strings</vt:lpstr>
      <vt:lpstr>Example</vt:lpstr>
      <vt:lpstr>Obtaining Substrings</vt:lpstr>
      <vt:lpstr>Finding a Character or a Substring in a String</vt:lpstr>
      <vt:lpstr>Finding a Character or a Substring in a String</vt:lpstr>
      <vt:lpstr>Conversion between Strings and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Type</dc:title>
  <dc:creator>Rizwan</dc:creator>
  <cp:lastModifiedBy>Khurram Iqbal</cp:lastModifiedBy>
  <cp:revision>23</cp:revision>
  <dcterms:created xsi:type="dcterms:W3CDTF">2006-08-16T00:00:00Z</dcterms:created>
  <dcterms:modified xsi:type="dcterms:W3CDTF">2026-04-20T16:10:51Z</dcterms:modified>
</cp:coreProperties>
</file>