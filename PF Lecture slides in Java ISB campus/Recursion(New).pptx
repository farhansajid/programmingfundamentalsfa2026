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6"/>
  </p:notesMasterIdLst>
  <p:sldIdLst>
    <p:sldId id="256" r:id="rId3"/>
    <p:sldId id="830" r:id="rId4"/>
    <p:sldId id="1384" r:id="rId5"/>
    <p:sldId id="1382" r:id="rId6"/>
    <p:sldId id="1385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4D7B78-3A68-44B2-9BF0-80E7A77F4621}" v="72" dt="2025-12-03T07:35:38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rram Iqbal" userId="af32904b-6c78-4cff-8330-5f3a20d540de" providerId="ADAL" clId="{66A0FA1A-D85E-4C58-8269-D269B26C7570}"/>
    <pc:docChg chg="undo custSel addSld delSld modSld">
      <pc:chgData name="Khurram Iqbal" userId="af32904b-6c78-4cff-8330-5f3a20d540de" providerId="ADAL" clId="{66A0FA1A-D85E-4C58-8269-D269B26C7570}" dt="2025-12-03T07:35:38.307" v="106" actId="20577"/>
      <pc:docMkLst>
        <pc:docMk/>
      </pc:docMkLst>
      <pc:sldChg chg="addSp">
        <pc:chgData name="Khurram Iqbal" userId="af32904b-6c78-4cff-8330-5f3a20d540de" providerId="ADAL" clId="{66A0FA1A-D85E-4C58-8269-D269B26C7570}" dt="2025-11-26T05:25:57.659" v="2"/>
        <pc:sldMkLst>
          <pc:docMk/>
          <pc:sldMk cId="204949989" sldId="257"/>
        </pc:sldMkLst>
      </pc:sldChg>
      <pc:sldChg chg="modSp mod modAnim">
        <pc:chgData name="Khurram Iqbal" userId="af32904b-6c78-4cff-8330-5f3a20d540de" providerId="ADAL" clId="{66A0FA1A-D85E-4C58-8269-D269B26C7570}" dt="2025-12-03T07:35:38.307" v="106" actId="20577"/>
        <pc:sldMkLst>
          <pc:docMk/>
          <pc:sldMk cId="4055668369" sldId="261"/>
        </pc:sldMkLst>
        <pc:spChg chg="mod">
          <ac:chgData name="Khurram Iqbal" userId="af32904b-6c78-4cff-8330-5f3a20d540de" providerId="ADAL" clId="{66A0FA1A-D85E-4C58-8269-D269B26C7570}" dt="2025-12-03T07:35:38.307" v="106" actId="20577"/>
          <ac:spMkLst>
            <pc:docMk/>
            <pc:sldMk cId="4055668369" sldId="261"/>
            <ac:spMk id="7172" creationId="{C28C1711-79DE-455B-A4E3-D8B6B5DF7223}"/>
          </ac:spMkLst>
        </pc:spChg>
      </pc:sldChg>
      <pc:sldChg chg="modSp add del mod">
        <pc:chgData name="Khurram Iqbal" userId="af32904b-6c78-4cff-8330-5f3a20d540de" providerId="ADAL" clId="{66A0FA1A-D85E-4C58-8269-D269B26C7570}" dt="2025-11-26T05:26:46.763" v="8"/>
        <pc:sldMkLst>
          <pc:docMk/>
          <pc:sldMk cId="0" sldId="830"/>
        </pc:sldMkLst>
        <pc:spChg chg="mod">
          <ac:chgData name="Khurram Iqbal" userId="af32904b-6c78-4cff-8330-5f3a20d540de" providerId="ADAL" clId="{66A0FA1A-D85E-4C58-8269-D269B26C7570}" dt="2025-11-26T05:26:46.732" v="7"/>
          <ac:spMkLst>
            <pc:docMk/>
            <pc:sldMk cId="0" sldId="830"/>
            <ac:spMk id="48131" creationId="{3012BB5F-78AD-F609-C868-D60F3A25DE39}"/>
          </ac:spMkLst>
        </pc:spChg>
      </pc:sldChg>
      <pc:sldChg chg="add del">
        <pc:chgData name="Khurram Iqbal" userId="af32904b-6c78-4cff-8330-5f3a20d540de" providerId="ADAL" clId="{66A0FA1A-D85E-4C58-8269-D269B26C7570}" dt="2025-11-26T05:26:06.351" v="3"/>
        <pc:sldMkLst>
          <pc:docMk/>
          <pc:sldMk cId="0" sldId="1382"/>
        </pc:sldMkLst>
      </pc:sldChg>
      <pc:sldChg chg="add del">
        <pc:chgData name="Khurram Iqbal" userId="af32904b-6c78-4cff-8330-5f3a20d540de" providerId="ADAL" clId="{66A0FA1A-D85E-4C58-8269-D269B26C7570}" dt="2025-11-26T05:26:06.351" v="3"/>
        <pc:sldMkLst>
          <pc:docMk/>
          <pc:sldMk cId="0" sldId="1384"/>
        </pc:sldMkLst>
      </pc:sldChg>
      <pc:sldChg chg="add del">
        <pc:chgData name="Khurram Iqbal" userId="af32904b-6c78-4cff-8330-5f3a20d540de" providerId="ADAL" clId="{66A0FA1A-D85E-4C58-8269-D269B26C7570}" dt="2025-11-26T05:26:06.351" v="3"/>
        <pc:sldMkLst>
          <pc:docMk/>
          <pc:sldMk cId="0" sldId="13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D632EC-E639-407C-93EC-7C299876C6F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9DDC9-3C11-44EF-9F56-20FA057F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822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B1FE5E99-E6A8-4A69-AB62-A2A38786D4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92C218F0-F7A9-48D8-B9BF-3CFA0771E0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94C35B8E-4B55-493A-AD98-F094CB0DC0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4B2979C5-C580-48CD-A95E-ACAFC1F557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75D21C6A-0ACB-43D8-98F5-F080BE25EE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9256CDDF-2BBA-4AA3-A3CC-73A486C6E3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3E53BC47-51D0-4646-9523-B48045A6B1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16EC4EE8-AB56-4280-A1E7-3DC6DAD9FD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E333FCB4-6C2F-4048-9F0A-818C763E5B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FA9E588E-2531-4BA1-AE9D-5F9316BB16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23AFBFA5-0EFB-486B-94B3-49D063C8D4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FA889CF4-CF00-406C-BDE6-B20DB996BB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607A2048-F22B-44F2-AEEF-A700630F27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7094C3E4-48AB-4B28-B50F-D85FF30A18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82EFBBFF-ABAD-4A6E-B18B-6DD3E0BD39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8D42D75C-2564-450B-BB4A-061470FF06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CC793CCA-FF4A-4C8E-A709-4258088CE4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0C7C1DC0-7490-4DD1-BB29-0EF74D7D2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5BA9BE1E-9931-4EE2-9454-50C9D2C0E4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18EADBD9-8AC2-4802-93C0-3F81C3BD87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EFD9DA16-6EAD-461E-A7FD-045F698F34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D3F6D0A4-DABA-43D7-A21F-E11C802168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9F0BCC5E-2473-43BB-AC3A-91015CF4D4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C8DAE3A2-05AB-4E0F-9EE3-A8CC6C3136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A73228F0-7F19-4519-B569-10EA1A4DC3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0D402464-04F1-4877-A407-8C4782629D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56920ACA-90F2-4F9A-B780-5186E11D52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F49C25F4-2C82-4242-904E-1F0F9AE83B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20ECF626-79B1-4938-B229-4DE30F6F91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68A742C0-ED13-4AAC-B2D3-917530C6BC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DE3F3050-0B86-4C3F-8AAD-0FEDDA4D61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B9C77B0B-2893-41F3-B497-D5A7D3B312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C4E94837-942B-4357-A84C-2D7BDC1997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572A3CF3-2317-4D80-B68F-FD999290D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0B1DCCE8-DFA5-4491-AC59-1B034EC414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508E35FB-40CF-4F35-831A-A8508D9AAC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DAE67E46-0904-4484-BB35-3A3702C102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D5B7FEC6-DE43-4EDD-916B-2C8ACF0FF1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DDA05F22-3F74-4EEE-8BED-D69EBABA4A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87F67EB7-F53D-4D6B-83FB-111A57DF32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78540508-97FC-415C-B33F-7D14561980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AD590E80-DE96-4428-943F-A345B1937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2E689D47-D28C-4777-9013-A58611B149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80C0D649-9092-445F-93E0-44F6E2C594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6C73CC64-6EE1-4124-9B5B-CAB497CDF0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86BFEF74-E5A5-4070-879D-E836975BB9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CD921DF3-EBFF-459D-A495-52BAF1C7E9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9B6EB9F9-1F19-4363-B7C4-83547CBE2E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032CB8CD-5246-4C57-A390-3019159B3F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D4ED51E8-A731-4FE9-BE21-6D8D3D2F58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7F888965-A4B5-4955-BB80-1B52C69DB1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E5933174-922D-4E81-90C8-DD7EB8A1A2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8B76EC4C-D438-424E-B17A-E4DEB2A4F1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465525CC-55B1-4D06-8D11-A5A8A14BF0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DCF6B5CC-C455-4876-83F5-2C0A4D7EF2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BC7EA2F7-0E0A-4B52-9A21-C3774E198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AE8C1840-958B-47BF-83FD-793604B07F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0A52A49F-1B4D-471B-B3EC-4454762360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7AED9C4F-DF00-4F0F-9E5C-EABA14409B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4CA59465-96C0-4589-8D9E-E9A1F6580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F0A60E5A-14C4-47E4-8E8E-3E1F460F41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BD919DB6-2C50-4DCD-8559-A44CC7525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864AA6F6-F8DA-45A5-A212-AB61837ABD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68CBB2C7-5C36-4D79-8F35-143F4F1C00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C08751A-5484-DD0C-C7F5-C86F81CE35CC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0" y="0"/>
            <a:ext cx="3505200" cy="6858000"/>
          </a:xfrm>
          <a:prstGeom prst="rect">
            <a:avLst/>
          </a:prstGeom>
          <a:gradFill rotWithShape="0"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de-DE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3" name="Group 33">
            <a:extLst>
              <a:ext uri="{FF2B5EF4-FFF2-40B4-BE49-F238E27FC236}">
                <a16:creationId xmlns:a16="http://schemas.microsoft.com/office/drawing/2014/main" id="{E8E658A7-795E-4694-913D-F49BA70726A7}"/>
              </a:ext>
            </a:extLst>
          </p:cNvPr>
          <p:cNvGrpSpPr>
            <a:grpSpLocks/>
          </p:cNvGrpSpPr>
          <p:nvPr/>
        </p:nvGrpSpPr>
        <p:grpSpPr bwMode="auto">
          <a:xfrm>
            <a:off x="0" y="3090863"/>
            <a:ext cx="9144000" cy="781050"/>
            <a:chOff x="0" y="1947"/>
            <a:chExt cx="5760" cy="492"/>
          </a:xfrm>
        </p:grpSpPr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3FE60C28-1817-36D5-1592-C54374760593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hidden">
            <a:xfrm>
              <a:off x="267" y="2143"/>
              <a:ext cx="5493" cy="199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bg2">
                    <a:gamma/>
                    <a:tint val="0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de-DE" sz="2400">
                <a:latin typeface="Times New Roman" pitchFamily="18" charset="0"/>
              </a:endParaRPr>
            </a:p>
          </p:txBody>
        </p:sp>
        <p:grpSp>
          <p:nvGrpSpPr>
            <p:cNvPr id="5" name="Group 22">
              <a:extLst>
                <a:ext uri="{FF2B5EF4-FFF2-40B4-BE49-F238E27FC236}">
                  <a16:creationId xmlns:a16="http://schemas.microsoft.com/office/drawing/2014/main" id="{21A21A06-0A38-1219-DE2D-AA277BE43866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1" y="1947"/>
              <a:ext cx="447" cy="492"/>
              <a:chOff x="0" y="672"/>
              <a:chExt cx="1806" cy="198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1AE6EDD-59C3-2DE6-ADE0-A702329287F7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auto">
              <a:xfrm>
                <a:off x="360" y="2257"/>
                <a:ext cx="364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de-DE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89D996E-F6E3-6857-B615-16DEBD7B9C4E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auto">
              <a:xfrm>
                <a:off x="1083" y="1064"/>
                <a:ext cx="360" cy="404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de-DE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395A14E-B02A-4C6C-8D14-8815A99F1B91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auto">
              <a:xfrm>
                <a:off x="1438" y="672"/>
                <a:ext cx="368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de-DE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FFE00B3-F827-8977-343E-937CD5CDE9B3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de-DE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D753BC9-E593-32AE-6233-B9E4DCE4DCBB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auto">
              <a:xfrm>
                <a:off x="1438" y="1064"/>
                <a:ext cx="368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de-DE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6BB40AE-7655-6BC7-907A-4F8815D70AAD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auto">
              <a:xfrm>
                <a:off x="719" y="1464"/>
                <a:ext cx="368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de-DE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5740907-671D-B48B-ABAD-F24B8AA98DC8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auto">
              <a:xfrm>
                <a:off x="0" y="1464"/>
                <a:ext cx="368" cy="4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de-DE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7945044-A2B9-21C7-D1C1-4FA693CBC240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auto">
              <a:xfrm>
                <a:off x="1083" y="1464"/>
                <a:ext cx="360" cy="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de-DE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CBD680A-1A59-7C42-87F2-896B94395388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auto">
              <a:xfrm>
                <a:off x="360" y="1857"/>
                <a:ext cx="364" cy="408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de-DE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7D19901-2910-4EE0-AC48-645649AFCFF2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auto">
              <a:xfrm>
                <a:off x="719" y="1857"/>
                <a:ext cx="368" cy="40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de-DE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6" name="Text Box 30">
            <a:extLst>
              <a:ext uri="{FF2B5EF4-FFF2-40B4-BE49-F238E27FC236}">
                <a16:creationId xmlns:a16="http://schemas.microsoft.com/office/drawing/2014/main" id="{F7166937-F9F9-ABF7-2673-BFDF74AF73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5692775"/>
            <a:ext cx="5181600" cy="8318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</a:rPr>
              <a:t>Department of Computer Science</a:t>
            </a:r>
          </a:p>
          <a:p>
            <a:pPr eaLnBrk="1" hangingPunct="1">
              <a:defRPr/>
            </a:pPr>
            <a:r>
              <a:rPr lang="en-US" altLang="en-US" sz="24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</a:rPr>
              <a:t>COMSATS University, Islamabad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F3AA0B61-095C-58F6-41F8-357B365BF0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900" y="0"/>
            <a:ext cx="3848100" cy="221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2" descr="Image result for COMSATS University logo">
            <a:extLst>
              <a:ext uri="{FF2B5EF4-FFF2-40B4-BE49-F238E27FC236}">
                <a16:creationId xmlns:a16="http://schemas.microsoft.com/office/drawing/2014/main" id="{A0BB7FE5-2C03-5A4B-3B90-F3A3FF8FF2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1641475" cy="1581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53" name="Rectangle 17"/>
          <p:cNvSpPr>
            <a:spLocks noGrp="1" noChangeArrowheads="1"/>
          </p:cNvSpPr>
          <p:nvPr>
            <p:ph type="ctrTitle"/>
          </p:nvPr>
        </p:nvSpPr>
        <p:spPr>
          <a:xfrm>
            <a:off x="2790825" y="1504950"/>
            <a:ext cx="6105525" cy="1990725"/>
          </a:xfrm>
        </p:spPr>
        <p:txBody>
          <a:bodyPr/>
          <a:lstStyle>
            <a:lvl1pPr>
              <a:defRPr sz="3800">
                <a:solidFill>
                  <a:schemeClr val="bg2"/>
                </a:solidFill>
              </a:defRPr>
            </a:lvl1pPr>
          </a:lstStyle>
          <a:p>
            <a:r>
              <a:rPr lang="en-US"/>
              <a:t>Titelmasterformat durch Klicken bearbeiten</a:t>
            </a:r>
          </a:p>
        </p:txBody>
      </p:sp>
      <p:sp>
        <p:nvSpPr>
          <p:cNvPr id="39954" name="Rectangle 18"/>
          <p:cNvSpPr>
            <a:spLocks noGrp="1" noChangeArrowheads="1"/>
          </p:cNvSpPr>
          <p:nvPr>
            <p:ph type="subTitle" idx="1"/>
          </p:nvPr>
        </p:nvSpPr>
        <p:spPr>
          <a:xfrm>
            <a:off x="3352800" y="4267200"/>
            <a:ext cx="5543550" cy="17526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2600"/>
            </a:lvl1pPr>
          </a:lstStyle>
          <a:p>
            <a:r>
              <a:rPr lang="en-US" dirty="0" err="1"/>
              <a:t>Formatvorlage</a:t>
            </a:r>
            <a:r>
              <a:rPr lang="en-US" dirty="0"/>
              <a:t> des </a:t>
            </a:r>
            <a:r>
              <a:rPr lang="en-US" dirty="0" err="1"/>
              <a:t>Untertitelmasters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4CF44743-59FD-7A7C-9D4C-25A6E0117B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algn="l">
              <a:defRPr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AFD72EFB-ECDE-4909-B285-7181EA77AF98}" type="datetime1">
              <a:rPr lang="de-AT"/>
              <a:pPr>
                <a:defRPr/>
              </a:pPr>
              <a:t>03.12.2025</a:t>
            </a:fld>
            <a:endParaRPr lang="en-US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283DBFF1-FC19-5B42-E935-77E2B9656B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1B4DBE8F-B142-A6B7-52F2-02453FFF0F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 algn="r">
              <a:defRPr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1C0CACCE-B964-4BE5-BBB0-D9450D919DEB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35644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0" y="1270000"/>
            <a:ext cx="8134350" cy="452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4AC29305-18BE-0644-24B8-5B8980C332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FBCFEE-671F-4C4F-BFAF-11AB19E77913}" type="datetime1">
              <a:rPr lang="de-AT"/>
              <a:pPr>
                <a:defRPr/>
              </a:pPr>
              <a:t>03.12.2025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332003A-E308-064C-8AB4-110DCEDB59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5A80B28-5630-4351-6428-C6C79C0EB1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FE07F1-8B3F-48AF-872B-E94994EB5A07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3555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AFEE1582-609E-50E7-0913-98B9AB7758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B6C911-35B1-4370-AB96-70FF4FA947C6}" type="datetime1">
              <a:rPr lang="de-AT"/>
              <a:pPr>
                <a:defRPr/>
              </a:pPr>
              <a:t>03.12.2025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9FBE0B-2F45-9302-ADCC-60A47BB06D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E7F342B-AFC2-B802-A9D4-0C77C8311A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4DB6C-7083-4C32-877F-FDF3941D5FC5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4509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2450" y="1346200"/>
            <a:ext cx="3990975" cy="452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5825" y="1346200"/>
            <a:ext cx="3990975" cy="452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2083C985-7047-3E77-F1DB-C0A526B898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AB1A4-36ED-4BFD-BB89-2B03A3EE4502}" type="datetime1">
              <a:rPr lang="de-AT"/>
              <a:pPr>
                <a:defRPr/>
              </a:pPr>
              <a:t>03.12.2025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891BC40-BABD-66E8-EDEF-90CC9919CE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3DB7F50-F1C5-6D47-AD31-D89063B6F5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691EC6-382D-4E9C-A2D5-A7A59C890DAD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019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D5702C08-F8C2-1832-C830-8C34745134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035BB5-9967-43AB-8C44-6C2ED1D10D47}" type="datetime1">
              <a:rPr lang="de-AT"/>
              <a:pPr>
                <a:defRPr/>
              </a:pPr>
              <a:t>03.12.2025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4422D4C-A8B2-F840-F254-C5E7E3BA97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D1BFA5E-6D19-062F-5E5D-2741403478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A6846-2C25-4465-843E-2526FD48306E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09904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C9B2CC08-958D-7F8D-54C1-0DC0F72810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49E278-9329-47CA-BF7C-D8B0140C8A01}" type="datetime1">
              <a:rPr lang="de-AT"/>
              <a:pPr>
                <a:defRPr/>
              </a:pPr>
              <a:t>03.12.2025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C91075-AED5-3085-3772-57FF207F83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E2CA66-B589-38A0-36F4-BA9FF02E8B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AB60D4-C24A-4DD1-913B-73EB3E5CEE18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50792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608A075D-1BA6-A795-DA8F-90AC025251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CD83A2-32DE-4BB7-8BC8-3CFA471AA688}" type="datetime1">
              <a:rPr lang="de-AT"/>
              <a:pPr>
                <a:defRPr/>
              </a:pPr>
              <a:t>03.12.2025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0D90E12-DCEF-A27F-9C10-CBE159E4C0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7DE3597-74C4-AEA4-C0EA-86BD92355F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DBA359-252E-4EA4-9C4A-F858EC0D60AE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38091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6429AF44-4C0A-B76D-F2EB-DBBACE0E44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7C78AC-5F8D-4A5C-8463-8AA5324ABA43}" type="datetime1">
              <a:rPr lang="de-AT"/>
              <a:pPr>
                <a:defRPr/>
              </a:pPr>
              <a:t>03.12.2025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DE0CD2E-45E4-C8BD-297A-E2E1CFE6E3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B5E9D2D-9119-D0D2-1E16-570D6E7838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F12F8C-3211-4FCA-83AE-EDE926D2BE82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57114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FD65841A-B12A-7F98-0832-9A5F99DF0B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18941-AA37-4D5C-A6A8-BF98541FF77E}" type="datetime1">
              <a:rPr lang="de-AT"/>
              <a:pPr>
                <a:defRPr/>
              </a:pPr>
              <a:t>03.12.2025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F869BE1-D3C9-4C58-92AC-D779119AD7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04CE917-058E-E392-D152-EC04281BFC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4CAFD7-BF87-467E-A8DE-904D5A11B0AD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6581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A053BDA9-5CA6-03C6-4D96-510C00DF43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665A68-89A6-40E5-8530-920E696A8111}" type="datetime1">
              <a:rPr lang="de-AT"/>
              <a:pPr>
                <a:defRPr/>
              </a:pPr>
              <a:t>03.12.2025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0E513C6-CBB7-0029-1E13-6F83817AA5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B00849D-FE85-8975-8FF8-1ADCBFD7D2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3DFFD2-85AD-4029-AF5C-DF76DF4AE1CD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9648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3213" y="115888"/>
            <a:ext cx="2033587" cy="57515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2450" y="115888"/>
            <a:ext cx="5948363" cy="57515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1F820525-5F26-0855-B6EE-31CDFCE5E7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FDFBE4-481C-4E77-AA1C-2E29ED744570}" type="datetime1">
              <a:rPr lang="de-AT"/>
              <a:pPr>
                <a:defRPr/>
              </a:pPr>
              <a:t>03.12.2025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1D4F180-308A-78BF-E161-82728F2455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B046208-39E3-5BAD-9FD1-4EA8EE71FE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9332C3-9219-43BD-B6A2-3D8CC7DB978C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91983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8188" y="115888"/>
            <a:ext cx="6645275" cy="9366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52450" y="1346200"/>
            <a:ext cx="8134350" cy="4521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8948BCCE-92D6-8CBF-08F5-8F9350F8FF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D0501F-7F6E-44A4-8991-01FA7331957B}" type="datetime1">
              <a:rPr lang="de-AT"/>
              <a:pPr>
                <a:defRPr/>
              </a:pPr>
              <a:t>03.12.2025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756FF70-8BB0-F0A9-700D-B556C4622B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1651F3F-B64F-E4C0-A91B-B38A9DCEB5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6DAAC4-C3AD-4B8E-90D9-82EAA3F9A655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96776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008188" y="115888"/>
            <a:ext cx="6645275" cy="9366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52450" y="1346200"/>
            <a:ext cx="3990975" cy="218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95825" y="1346200"/>
            <a:ext cx="3990975" cy="218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52450" y="3683000"/>
            <a:ext cx="3990975" cy="218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825" y="3683000"/>
            <a:ext cx="3990975" cy="218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90168ABE-9528-CBEF-35CC-74F8097CB1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7BA58E-B3E5-4021-85E0-F8A27CE4F962}" type="datetime1">
              <a:rPr lang="de-AT"/>
              <a:pPr>
                <a:defRPr/>
              </a:pPr>
              <a:t>03.12.2025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47DF965-35CC-00A8-78CC-A035515599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3AFD0C2-C397-B740-3872-4447089889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2A0207-EA0C-4CDA-9545-351138AF3963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3646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1">
            <a:extLst>
              <a:ext uri="{FF2B5EF4-FFF2-40B4-BE49-F238E27FC236}">
                <a16:creationId xmlns:a16="http://schemas.microsoft.com/office/drawing/2014/main" id="{F8296013-4A66-AF5D-8441-3C9A0D2C6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0"/>
            <a:ext cx="179387" cy="6858000"/>
          </a:xfrm>
          <a:prstGeom prst="rect">
            <a:avLst/>
          </a:prstGeom>
          <a:gradFill rotWithShape="1">
            <a:gsLst>
              <a:gs pos="0">
                <a:srgbClr val="BFBFDA"/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endParaRPr lang="en-US" altLang="en-US"/>
          </a:p>
        </p:txBody>
      </p:sp>
      <p:sp>
        <p:nvSpPr>
          <p:cNvPr id="1027" name="Rectangle 45">
            <a:extLst>
              <a:ext uri="{FF2B5EF4-FFF2-40B4-BE49-F238E27FC236}">
                <a16:creationId xmlns:a16="http://schemas.microsoft.com/office/drawing/2014/main" id="{F35B9313-FAEB-0069-8D43-ED9AFF7AA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27088" cy="6858000"/>
          </a:xfrm>
          <a:prstGeom prst="rect">
            <a:avLst/>
          </a:prstGeom>
          <a:solidFill>
            <a:srgbClr val="BFBFDA"/>
          </a:solidFill>
          <a:ln>
            <a:noFill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endParaRPr lang="en-US" altLang="en-US"/>
          </a:p>
        </p:txBody>
      </p:sp>
      <p:sp>
        <p:nvSpPr>
          <p:cNvPr id="1028" name="Rectangle 14">
            <a:extLst>
              <a:ext uri="{FF2B5EF4-FFF2-40B4-BE49-F238E27FC236}">
                <a16:creationId xmlns:a16="http://schemas.microsoft.com/office/drawing/2014/main" id="{D1A65688-EBD3-957E-14C4-814E409715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008188" y="115888"/>
            <a:ext cx="664527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Titelmasterformat durch Klicken bearbeiten</a:t>
            </a:r>
          </a:p>
        </p:txBody>
      </p:sp>
      <p:sp>
        <p:nvSpPr>
          <p:cNvPr id="1029" name="Rectangle 15">
            <a:extLst>
              <a:ext uri="{FF2B5EF4-FFF2-40B4-BE49-F238E27FC236}">
                <a16:creationId xmlns:a16="http://schemas.microsoft.com/office/drawing/2014/main" id="{699B3B67-810E-88CD-7593-3CDFA2D8F9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52450" y="1346200"/>
            <a:ext cx="8134350" cy="452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Textmasterformate durch Klicken bearbeiten</a:t>
            </a:r>
          </a:p>
          <a:p>
            <a:pPr lvl="1"/>
            <a:r>
              <a:rPr lang="en-US" altLang="en-US"/>
              <a:t>Zweite Ebene</a:t>
            </a:r>
          </a:p>
          <a:p>
            <a:pPr lvl="2"/>
            <a:r>
              <a:rPr lang="en-US" altLang="en-US"/>
              <a:t>Dritte Ebene</a:t>
            </a:r>
          </a:p>
          <a:p>
            <a:pPr lvl="3"/>
            <a:r>
              <a:rPr lang="en-US" altLang="en-US"/>
              <a:t>Vierte Ebene</a:t>
            </a:r>
          </a:p>
          <a:p>
            <a:pPr lvl="4"/>
            <a:r>
              <a:rPr lang="en-US" altLang="en-US"/>
              <a:t>Fünfte Ebene</a:t>
            </a:r>
          </a:p>
        </p:txBody>
      </p:sp>
      <p:grpSp>
        <p:nvGrpSpPr>
          <p:cNvPr id="1030" name="Group 77">
            <a:extLst>
              <a:ext uri="{FF2B5EF4-FFF2-40B4-BE49-F238E27FC236}">
                <a16:creationId xmlns:a16="http://schemas.microsoft.com/office/drawing/2014/main" id="{0EC32287-7E9F-E966-501F-29214FC73406}"/>
              </a:ext>
            </a:extLst>
          </p:cNvPr>
          <p:cNvGrpSpPr>
            <a:grpSpLocks/>
          </p:cNvGrpSpPr>
          <p:nvPr/>
        </p:nvGrpSpPr>
        <p:grpSpPr bwMode="auto">
          <a:xfrm>
            <a:off x="663575" y="6226175"/>
            <a:ext cx="6184900" cy="336550"/>
            <a:chOff x="418" y="3922"/>
            <a:chExt cx="3896" cy="212"/>
          </a:xfrm>
        </p:grpSpPr>
        <p:sp>
          <p:nvSpPr>
            <p:cNvPr id="1044" name="Rectangle 48">
              <a:extLst>
                <a:ext uri="{FF2B5EF4-FFF2-40B4-BE49-F238E27FC236}">
                  <a16:creationId xmlns:a16="http://schemas.microsoft.com/office/drawing/2014/main" id="{D96C7586-7D17-5993-83C2-9D909DCC088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21" y="3976"/>
              <a:ext cx="3893" cy="5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de-DE" altLang="en-US" sz="24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45" name="Rectangle 50">
              <a:extLst>
                <a:ext uri="{FF2B5EF4-FFF2-40B4-BE49-F238E27FC236}">
                  <a16:creationId xmlns:a16="http://schemas.microsoft.com/office/drawing/2014/main" id="{9672ABE0-AD63-2985-BBB4-8ABB31E1F6C5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 flipV="1">
              <a:off x="471" y="4029"/>
              <a:ext cx="54" cy="5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rot="10800000"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de-DE" altLang="en-US" sz="180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6" name="Rectangle 54">
              <a:extLst>
                <a:ext uri="{FF2B5EF4-FFF2-40B4-BE49-F238E27FC236}">
                  <a16:creationId xmlns:a16="http://schemas.microsoft.com/office/drawing/2014/main" id="{A063FA8F-338D-99AF-4D27-D49C2A36655B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 flipV="1">
              <a:off x="472" y="3976"/>
              <a:ext cx="53" cy="5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ot="10800000"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de-DE" altLang="en-US" sz="180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7" name="Rectangle 62">
              <a:extLst>
                <a:ext uri="{FF2B5EF4-FFF2-40B4-BE49-F238E27FC236}">
                  <a16:creationId xmlns:a16="http://schemas.microsoft.com/office/drawing/2014/main" id="{13856895-CDAF-0390-CBCE-84C74F6D1569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 flipV="1">
              <a:off x="525" y="4029"/>
              <a:ext cx="53" cy="5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ot="10800000"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de-DE" altLang="en-US" sz="180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8" name="Rectangle 64">
              <a:extLst>
                <a:ext uri="{FF2B5EF4-FFF2-40B4-BE49-F238E27FC236}">
                  <a16:creationId xmlns:a16="http://schemas.microsoft.com/office/drawing/2014/main" id="{AB0E8FFB-389F-1473-6DED-6C41BA9A30A8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 flipV="1">
              <a:off x="419" y="3922"/>
              <a:ext cx="53" cy="5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ot="10800000"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de-DE" altLang="en-US" sz="180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9" name="Rectangle 65">
              <a:extLst>
                <a:ext uri="{FF2B5EF4-FFF2-40B4-BE49-F238E27FC236}">
                  <a16:creationId xmlns:a16="http://schemas.microsoft.com/office/drawing/2014/main" id="{E69E0BBC-6FF8-6BA9-A6B9-C8D2DCA14E80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 flipV="1">
              <a:off x="524" y="4081"/>
              <a:ext cx="54" cy="5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rot="10800000"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de-DE" altLang="en-US" sz="180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0" name="Rectangle 66">
              <a:extLst>
                <a:ext uri="{FF2B5EF4-FFF2-40B4-BE49-F238E27FC236}">
                  <a16:creationId xmlns:a16="http://schemas.microsoft.com/office/drawing/2014/main" id="{573C6810-BBC8-4AA8-C8C1-6F8B7E3ED042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 flipV="1">
              <a:off x="418" y="3976"/>
              <a:ext cx="54" cy="5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rot="10800000"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de-DE" altLang="en-US" sz="180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031" name="Group 78">
            <a:extLst>
              <a:ext uri="{FF2B5EF4-FFF2-40B4-BE49-F238E27FC236}">
                <a16:creationId xmlns:a16="http://schemas.microsoft.com/office/drawing/2014/main" id="{920A8180-5599-41DD-ABAF-74EDC52302B2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2670175" y="798513"/>
            <a:ext cx="6184900" cy="336550"/>
            <a:chOff x="418" y="3922"/>
            <a:chExt cx="3896" cy="212"/>
          </a:xfrm>
        </p:grpSpPr>
        <p:sp>
          <p:nvSpPr>
            <p:cNvPr id="1037" name="Rectangle 79">
              <a:extLst>
                <a:ext uri="{FF2B5EF4-FFF2-40B4-BE49-F238E27FC236}">
                  <a16:creationId xmlns:a16="http://schemas.microsoft.com/office/drawing/2014/main" id="{A77B49D4-DD5E-1617-C51A-61CC339B4A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21" y="3976"/>
              <a:ext cx="3893" cy="53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 rot="10800000"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de-DE" altLang="en-US" sz="24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8" name="Rectangle 80">
              <a:extLst>
                <a:ext uri="{FF2B5EF4-FFF2-40B4-BE49-F238E27FC236}">
                  <a16:creationId xmlns:a16="http://schemas.microsoft.com/office/drawing/2014/main" id="{0493C33E-6455-39EC-6648-F44AC96D2891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 flipV="1">
              <a:off x="471" y="4029"/>
              <a:ext cx="54" cy="5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de-DE" altLang="en-US" sz="180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9" name="Rectangle 81">
              <a:extLst>
                <a:ext uri="{FF2B5EF4-FFF2-40B4-BE49-F238E27FC236}">
                  <a16:creationId xmlns:a16="http://schemas.microsoft.com/office/drawing/2014/main" id="{3AF75319-2132-2D6D-721C-96BBE1C154A4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 flipV="1">
              <a:off x="472" y="3976"/>
              <a:ext cx="53" cy="5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de-DE" altLang="en-US" sz="180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0" name="Rectangle 82">
              <a:extLst>
                <a:ext uri="{FF2B5EF4-FFF2-40B4-BE49-F238E27FC236}">
                  <a16:creationId xmlns:a16="http://schemas.microsoft.com/office/drawing/2014/main" id="{D9001137-DB3F-D5C4-1561-16EA81AB2F59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 flipV="1">
              <a:off x="525" y="4029"/>
              <a:ext cx="53" cy="5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de-DE" altLang="en-US" sz="180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1" name="Rectangle 83">
              <a:extLst>
                <a:ext uri="{FF2B5EF4-FFF2-40B4-BE49-F238E27FC236}">
                  <a16:creationId xmlns:a16="http://schemas.microsoft.com/office/drawing/2014/main" id="{669C0E57-9595-039D-4441-559A692EF3AA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 flipV="1">
              <a:off x="419" y="3922"/>
              <a:ext cx="53" cy="5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de-DE" altLang="en-US" sz="180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2" name="Rectangle 84">
              <a:extLst>
                <a:ext uri="{FF2B5EF4-FFF2-40B4-BE49-F238E27FC236}">
                  <a16:creationId xmlns:a16="http://schemas.microsoft.com/office/drawing/2014/main" id="{99459704-0312-0D40-3DE7-8EE659D0FF89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 flipV="1">
              <a:off x="524" y="4081"/>
              <a:ext cx="54" cy="5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de-DE" altLang="en-US" sz="180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3" name="Rectangle 85">
              <a:extLst>
                <a:ext uri="{FF2B5EF4-FFF2-40B4-BE49-F238E27FC236}">
                  <a16:creationId xmlns:a16="http://schemas.microsoft.com/office/drawing/2014/main" id="{96FBA749-4B57-0283-985A-8FB3BC1102C1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 flipV="1">
              <a:off x="418" y="3976"/>
              <a:ext cx="54" cy="5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de-DE" altLang="en-US" sz="180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32" name="Text Box 86">
            <a:extLst>
              <a:ext uri="{FF2B5EF4-FFF2-40B4-BE49-F238E27FC236}">
                <a16:creationId xmlns:a16="http://schemas.microsoft.com/office/drawing/2014/main" id="{E5919CAB-BFE5-DA85-11B2-FEF7C906E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050" y="6443663"/>
            <a:ext cx="2425700" cy="27463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de-DE" altLang="en-US" sz="1200">
                <a:solidFill>
                  <a:schemeClr val="bg2"/>
                </a:solidFill>
              </a:rPr>
              <a:t>Department of Computer Science</a:t>
            </a:r>
          </a:p>
        </p:txBody>
      </p:sp>
      <p:sp>
        <p:nvSpPr>
          <p:cNvPr id="38929" name="Rectangle 17">
            <a:extLst>
              <a:ext uri="{FF2B5EF4-FFF2-40B4-BE49-F238E27FC236}">
                <a16:creationId xmlns:a16="http://schemas.microsoft.com/office/drawing/2014/main" id="{91AB8475-955B-BED1-683E-92289A4DE00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754813" y="6265863"/>
            <a:ext cx="1319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FontTx/>
              <a:buNone/>
              <a:defRPr sz="1200" b="1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fld id="{98962899-4E48-4DDC-A022-7A50EB4F31F5}" type="datetime1">
              <a:rPr lang="de-AT"/>
              <a:pPr>
                <a:defRPr/>
              </a:pPr>
              <a:t>03.12.2025</a:t>
            </a:fld>
            <a:endParaRPr lang="en-US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683E4DD-5EF9-6350-142C-F9771180596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59125" y="6259513"/>
            <a:ext cx="3568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FontTx/>
              <a:buNone/>
              <a:defRPr sz="1200" b="1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9A77F07E-B691-99BB-C01C-F83C1C65DC2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05775" y="6261100"/>
            <a:ext cx="581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1">
                <a:solidFill>
                  <a:schemeClr val="bg2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23D35CB-934A-4D4D-ABE5-67726CB63284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6" name="Picture 26" descr="Image result for COMSATS University logo">
            <a:extLst>
              <a:ext uri="{FF2B5EF4-FFF2-40B4-BE49-F238E27FC236}">
                <a16:creationId xmlns:a16="http://schemas.microsoft.com/office/drawing/2014/main" id="{85083313-A256-A12E-E2FB-253BF3FED0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6310313"/>
            <a:ext cx="74295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178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/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ahoma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ahoma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ahoma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ahoma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ahoma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ahoma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ahoma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8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8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8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8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8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8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8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8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8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winword%20TestArrayOfObjects.java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3088" y="0"/>
            <a:ext cx="7177823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9037" y="955309"/>
            <a:ext cx="5305926" cy="2898975"/>
          </a:xfrm>
        </p:spPr>
        <p:txBody>
          <a:bodyPr>
            <a:normAutofit/>
          </a:bodyPr>
          <a:lstStyle/>
          <a:p>
            <a:r>
              <a:rPr lang="en-US" sz="5700">
                <a:solidFill>
                  <a:srgbClr val="FFFFFF"/>
                </a:solidFill>
              </a:rPr>
              <a:t>Recursion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7591318-6801-884B-37D1-DD7566B04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6187" y="4533813"/>
            <a:ext cx="5197641" cy="938463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173498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31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58F3A6E-0E05-9104-420E-0FCEFEB87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8725" y="-249238"/>
            <a:ext cx="6645275" cy="936626"/>
          </a:xfrm>
        </p:spPr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Recursion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3012BB5F-78AD-F609-C868-D60F3A25DE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6950" y="1033463"/>
            <a:ext cx="8147050" cy="2506662"/>
          </a:xfrm>
        </p:spPr>
        <p:txBody>
          <a:bodyPr/>
          <a:lstStyle/>
          <a:p>
            <a:pPr algn="just">
              <a:spcBef>
                <a:spcPts val="0"/>
              </a:spcBef>
              <a:defRPr/>
            </a:pPr>
            <a:r>
              <a:rPr lang="en-US" sz="2400" dirty="0">
                <a:solidFill>
                  <a:srgbClr val="C00000"/>
                </a:solidFill>
              </a:rPr>
              <a:t>Dictionary definition:</a:t>
            </a:r>
          </a:p>
          <a:p>
            <a:pPr algn="just">
              <a:spcBef>
                <a:spcPts val="0"/>
              </a:spcBef>
              <a:defRPr/>
            </a:pP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 problem-solving method of </a:t>
            </a:r>
          </a:p>
          <a:p>
            <a:pPr lvl="1" algn="just">
              <a:spcBef>
                <a:spcPts val="0"/>
              </a:spcBef>
              <a:buFont typeface="Monotype Sorts" pitchFamily="2" charset="2"/>
              <a:buNone/>
              <a:defRPr/>
            </a:pP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	“decomposing </a:t>
            </a:r>
            <a:r>
              <a:rPr lang="en-US" sz="2000" dirty="0">
                <a:solidFill>
                  <a:srgbClr val="00B050"/>
                </a:solidFill>
              </a:rPr>
              <a:t>bigger problems 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into </a:t>
            </a:r>
            <a:r>
              <a:rPr lang="en-US" sz="2000" dirty="0">
                <a:solidFill>
                  <a:srgbClr val="00B050"/>
                </a:solidFill>
              </a:rPr>
              <a:t>smaller sub-problems 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that </a:t>
            </a:r>
            <a:r>
              <a:rPr lang="en-US" sz="2000" i="1" u="sng" dirty="0">
                <a:solidFill>
                  <a:srgbClr val="C00000"/>
                </a:solidFill>
              </a:rPr>
              <a:t>are identical to itself</a:t>
            </a:r>
            <a:r>
              <a:rPr lang="en-US" sz="2000" i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.</a:t>
            </a:r>
            <a:r>
              <a:rPr lang="en-US" sz="2000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”</a:t>
            </a:r>
          </a:p>
          <a:p>
            <a:pPr eaLnBrk="1" hangingPunct="1">
              <a:spcBef>
                <a:spcPts val="0"/>
              </a:spcBef>
              <a:defRPr/>
            </a:pPr>
            <a:r>
              <a:rPr lang="en-US" sz="2400" dirty="0">
                <a:solidFill>
                  <a:srgbClr val="C00000"/>
                </a:solidFill>
              </a:rPr>
              <a:t>Recursion:</a:t>
            </a:r>
          </a:p>
          <a:p>
            <a:pPr lvl="1" algn="just" eaLnBrk="1" hangingPunct="1">
              <a:spcBef>
                <a:spcPts val="0"/>
              </a:spcBef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Process of solving a problem by </a:t>
            </a:r>
            <a:r>
              <a:rPr lang="en-US" dirty="0">
                <a:solidFill>
                  <a:srgbClr val="BF119A"/>
                </a:solidFill>
              </a:rPr>
              <a:t>reducing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it to </a:t>
            </a:r>
            <a:r>
              <a:rPr lang="en-US" dirty="0">
                <a:solidFill>
                  <a:srgbClr val="006600"/>
                </a:solidFill>
              </a:rPr>
              <a:t>smaller versions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of </a:t>
            </a:r>
            <a:r>
              <a:rPr lang="en-US" dirty="0">
                <a:solidFill>
                  <a:srgbClr val="C00000"/>
                </a:solidFill>
              </a:rPr>
              <a:t>itself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sz="1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4340" name="Picture 3" descr="siide bar">
            <a:extLst>
              <a:ext uri="{FF2B5EF4-FFF2-40B4-BE49-F238E27FC236}">
                <a16:creationId xmlns:a16="http://schemas.microsoft.com/office/drawing/2014/main" id="{95ABB0D3-FD1F-C166-2BF5-D598B0637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Text Box 7">
            <a:extLst>
              <a:ext uri="{FF2B5EF4-FFF2-40B4-BE49-F238E27FC236}">
                <a16:creationId xmlns:a16="http://schemas.microsoft.com/office/drawing/2014/main" id="{CEE36E5C-C3C5-B40F-2F7A-47656981E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                                         What is Recursion?</a:t>
            </a:r>
          </a:p>
        </p:txBody>
      </p:sp>
      <p:pic>
        <p:nvPicPr>
          <p:cNvPr id="14342" name="Picture 2">
            <a:extLst>
              <a:ext uri="{FF2B5EF4-FFF2-40B4-BE49-F238E27FC236}">
                <a16:creationId xmlns:a16="http://schemas.microsoft.com/office/drawing/2014/main" id="{B75E3741-9E83-4DFC-E6B8-17177BBCB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950" y="3687763"/>
            <a:ext cx="7812088" cy="2373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B66C919-7ED6-0347-6D6A-4A43B4A9B7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8725" y="-249238"/>
            <a:ext cx="6645275" cy="936626"/>
          </a:xfrm>
        </p:spPr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Recursion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7BCB8D2-BAC6-4883-66E2-E01DD2C99D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6950" y="1033463"/>
            <a:ext cx="8147050" cy="5249862"/>
          </a:xfrm>
        </p:spPr>
        <p:txBody>
          <a:bodyPr/>
          <a:lstStyle/>
          <a:p>
            <a:pPr algn="just">
              <a:lnSpc>
                <a:spcPct val="80000"/>
              </a:lnSpc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There are two key point in recursion</a:t>
            </a:r>
          </a:p>
          <a:p>
            <a:pPr lvl="1" algn="just">
              <a:lnSpc>
                <a:spcPct val="80000"/>
              </a:lnSpc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How to decompose bigger problem into smaller problem?</a:t>
            </a:r>
          </a:p>
          <a:p>
            <a:pPr lvl="1" algn="just">
              <a:lnSpc>
                <a:spcPct val="80000"/>
              </a:lnSpc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When to stop decomposing problem</a:t>
            </a:r>
          </a:p>
          <a:p>
            <a:pPr algn="just" eaLnBrk="1" hangingPunct="1">
              <a:spcBef>
                <a:spcPts val="0"/>
              </a:spcBef>
              <a:defRPr/>
            </a:pPr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Base case:</a:t>
            </a:r>
          </a:p>
          <a:p>
            <a:pPr lvl="1" algn="just" eaLnBrk="1" hangingPunct="1">
              <a:spcBef>
                <a:spcPts val="0"/>
              </a:spcBef>
              <a:defRPr/>
            </a:pPr>
            <a:r>
              <a:rPr lang="en-US" sz="2200" dirty="0">
                <a:solidFill>
                  <a:schemeClr val="bg2">
                    <a:lumMod val="60000"/>
                    <a:lumOff val="40000"/>
                  </a:schemeClr>
                </a:solidFill>
                <a:cs typeface="Times New Roman" pitchFamily="18" charset="0"/>
              </a:rPr>
              <a:t>Case in recursive definition in which the solution is obtained directly.</a:t>
            </a:r>
            <a:r>
              <a:rPr lang="en-US" sz="2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 algn="just" eaLnBrk="1" hangingPunct="1">
              <a:spcBef>
                <a:spcPts val="0"/>
              </a:spcBef>
              <a:defRPr/>
            </a:pPr>
            <a:r>
              <a:rPr lang="en-US" sz="2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Stops the recursion.</a:t>
            </a:r>
          </a:p>
          <a:p>
            <a:pPr eaLnBrk="1" hangingPunct="1">
              <a:spcBef>
                <a:spcPts val="0"/>
              </a:spcBef>
              <a:defRPr/>
            </a:pPr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General case:</a:t>
            </a:r>
          </a:p>
          <a:p>
            <a:pPr lvl="1" eaLnBrk="1" hangingPunct="1">
              <a:spcBef>
                <a:spcPts val="0"/>
              </a:spcBef>
              <a:defRPr/>
            </a:pPr>
            <a:r>
              <a:rPr lang="en-US" sz="2200" dirty="0">
                <a:solidFill>
                  <a:schemeClr val="bg2">
                    <a:lumMod val="60000"/>
                    <a:lumOff val="40000"/>
                  </a:schemeClr>
                </a:solidFill>
                <a:cs typeface="Times New Roman" pitchFamily="18" charset="0"/>
              </a:rPr>
              <a:t>Case in recursive definition in which a smaller version of itself is called.</a:t>
            </a:r>
          </a:p>
          <a:p>
            <a:pPr lvl="1" eaLnBrk="1" hangingPunct="1">
              <a:spcBef>
                <a:spcPts val="0"/>
              </a:spcBef>
              <a:defRPr/>
            </a:pPr>
            <a:r>
              <a:rPr lang="en-US" sz="2200" dirty="0">
                <a:solidFill>
                  <a:schemeClr val="bg2">
                    <a:lumMod val="60000"/>
                    <a:lumOff val="40000"/>
                  </a:schemeClr>
                </a:solidFill>
                <a:cs typeface="Times New Roman" pitchFamily="18" charset="0"/>
              </a:rPr>
              <a:t>Must eventually be reduced to a base case.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sz="1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5364" name="Picture 3" descr="siide bar">
            <a:extLst>
              <a:ext uri="{FF2B5EF4-FFF2-40B4-BE49-F238E27FC236}">
                <a16:creationId xmlns:a16="http://schemas.microsoft.com/office/drawing/2014/main" id="{6DFB032A-A29F-22F2-9075-160BDB982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Text Box 7">
            <a:extLst>
              <a:ext uri="{FF2B5EF4-FFF2-40B4-BE49-F238E27FC236}">
                <a16:creationId xmlns:a16="http://schemas.microsoft.com/office/drawing/2014/main" id="{FFF2538B-2589-A5EE-73DB-08B42A97B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                                         What is Recursion?</a:t>
            </a:r>
          </a:p>
        </p:txBody>
      </p:sp>
      <p:pic>
        <p:nvPicPr>
          <p:cNvPr id="15366" name="Picture 1">
            <a:extLst>
              <a:ext uri="{FF2B5EF4-FFF2-40B4-BE49-F238E27FC236}">
                <a16:creationId xmlns:a16="http://schemas.microsoft.com/office/drawing/2014/main" id="{25EE1A04-E667-5DE7-68C7-2CEE1D55C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963" y="5459413"/>
            <a:ext cx="2416175" cy="119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D00313A-B4A5-5392-BFCF-FCB6FC1767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8725" y="-249238"/>
            <a:ext cx="6645275" cy="936626"/>
          </a:xfrm>
        </p:spPr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Recursion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F8F86161-8698-8548-58BF-59BA790DBD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6950" y="1033463"/>
            <a:ext cx="8147050" cy="5249862"/>
          </a:xfrm>
        </p:spPr>
        <p:txBody>
          <a:bodyPr/>
          <a:lstStyle/>
          <a:p>
            <a:pPr algn="just">
              <a:lnSpc>
                <a:spcPct val="80000"/>
              </a:lnSpc>
              <a:defRPr/>
            </a:pPr>
            <a:r>
              <a:rPr lang="en-US" dirty="0">
                <a:solidFill>
                  <a:srgbClr val="C00000"/>
                </a:solidFill>
              </a:rPr>
              <a:t>General Idea:</a:t>
            </a:r>
          </a:p>
          <a:p>
            <a:pPr lvl="1" algn="just">
              <a:lnSpc>
                <a:spcPct val="80000"/>
              </a:lnSpc>
              <a:defRPr/>
            </a:pPr>
            <a:r>
              <a:rPr 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Solve simplest (smallest) cases </a:t>
            </a:r>
            <a:r>
              <a:rPr lang="en-US" sz="2800" dirty="0">
                <a:solidFill>
                  <a:srgbClr val="C00000"/>
                </a:solidFill>
              </a:rPr>
              <a:t>DIRECTLY</a:t>
            </a:r>
          </a:p>
          <a:p>
            <a:pPr lvl="2" algn="just">
              <a:lnSpc>
                <a:spcPct val="80000"/>
              </a:lnSpc>
              <a:defRPr/>
            </a:pPr>
            <a:r>
              <a:rPr lang="en-US" sz="2800" dirty="0">
                <a:solidFill>
                  <a:srgbClr val="00B050"/>
                </a:solidFill>
              </a:rPr>
              <a:t>usually these are very easy to solve</a:t>
            </a:r>
          </a:p>
          <a:p>
            <a:pPr lvl="1" algn="just">
              <a:lnSpc>
                <a:spcPct val="80000"/>
              </a:lnSpc>
              <a:defRPr/>
            </a:pPr>
            <a:r>
              <a:rPr 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Solve bigger problems using smaller sub-problems</a:t>
            </a:r>
          </a:p>
          <a:p>
            <a:pPr lvl="2" algn="just">
              <a:lnSpc>
                <a:spcPct val="80000"/>
              </a:lnSpc>
              <a:defRPr/>
            </a:pPr>
            <a:r>
              <a:rPr lang="en-US" sz="2800" dirty="0">
                <a:solidFill>
                  <a:srgbClr val="00B050"/>
                </a:solidFill>
              </a:rPr>
              <a:t>that are identical to itself (but smaller and simpler)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sz="1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7412" name="Picture 3" descr="siide bar">
            <a:extLst>
              <a:ext uri="{FF2B5EF4-FFF2-40B4-BE49-F238E27FC236}">
                <a16:creationId xmlns:a16="http://schemas.microsoft.com/office/drawing/2014/main" id="{77704ACC-959B-4F6E-78BE-49492AAE4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Text Box 7">
            <a:extLst>
              <a:ext uri="{FF2B5EF4-FFF2-40B4-BE49-F238E27FC236}">
                <a16:creationId xmlns:a16="http://schemas.microsoft.com/office/drawing/2014/main" id="{4C2F932F-D711-AD60-4660-639AE9D11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                         What is Recursion? </a:t>
            </a: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UPSHOT</a:t>
            </a:r>
          </a:p>
        </p:txBody>
      </p:sp>
      <p:pic>
        <p:nvPicPr>
          <p:cNvPr id="17414" name="Picture 3">
            <a:extLst>
              <a:ext uri="{FF2B5EF4-FFF2-40B4-BE49-F238E27FC236}">
                <a16:creationId xmlns:a16="http://schemas.microsoft.com/office/drawing/2014/main" id="{778B06BE-F750-42B4-D424-ABC7B8627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363" y="3686175"/>
            <a:ext cx="2933700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4">
            <a:extLst>
              <a:ext uri="{FF2B5EF4-FFF2-40B4-BE49-F238E27FC236}">
                <a16:creationId xmlns:a16="http://schemas.microsoft.com/office/drawing/2014/main" id="{3F0A6F9B-0E49-C02F-7A5B-CA0781489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B33716-1B2B-4BBC-9E5E-EB5ACF96F29E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307F785F-082D-D66D-3276-9A88FF339E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RECURSIVELY DEFINED FUNCTIONS</a:t>
            </a:r>
          </a:p>
        </p:txBody>
      </p:sp>
      <p:sp>
        <p:nvSpPr>
          <p:cNvPr id="18436" name="Text Box 3">
            <a:extLst>
              <a:ext uri="{FF2B5EF4-FFF2-40B4-BE49-F238E27FC236}">
                <a16:creationId xmlns:a16="http://schemas.microsoft.com/office/drawing/2014/main" id="{1D2C91DA-B0B6-9142-1B97-2CF1DF8AC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675" y="1201738"/>
            <a:ext cx="8188325" cy="267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 function is said to be recursively defined if the function refers to itself such that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1.	There are certain arguments, called base values, for which 	the function does not refer to itself.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2.	Each time the function does refer to itself, the argument 	of the function must be closer to a base value.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Recursion in java is a process in which a method calls itself continuously</a:t>
            </a:r>
          </a:p>
          <a:p>
            <a:r>
              <a:rPr lang="en-US" dirty="0"/>
              <a:t>A method in java that calls itself is called recursive method</a:t>
            </a:r>
          </a:p>
          <a:p>
            <a:r>
              <a:rPr lang="en-US" dirty="0"/>
              <a:t>It makes the code compact but complex to understand</a:t>
            </a:r>
          </a:p>
          <a:p>
            <a:r>
              <a:rPr lang="en-US" dirty="0"/>
              <a:t>Syntax:</a:t>
            </a:r>
          </a:p>
          <a:p>
            <a:pPr marL="800100" lvl="2" indent="0">
              <a:buNone/>
            </a:pPr>
            <a:r>
              <a:rPr lang="en-US" dirty="0" err="1">
                <a:latin typeface="Courier" pitchFamily="49" charset="0"/>
              </a:rPr>
              <a:t>returntype</a:t>
            </a:r>
            <a:r>
              <a:rPr lang="en-US" dirty="0">
                <a:latin typeface="Courier" pitchFamily="49" charset="0"/>
              </a:rPr>
              <a:t> </a:t>
            </a:r>
            <a:r>
              <a:rPr lang="en-US" dirty="0" err="1">
                <a:latin typeface="Courier" pitchFamily="49" charset="0"/>
              </a:rPr>
              <a:t>methodname</a:t>
            </a:r>
            <a:r>
              <a:rPr lang="en-US" dirty="0">
                <a:latin typeface="Courier" pitchFamily="49" charset="0"/>
              </a:rPr>
              <a:t>(){  </a:t>
            </a:r>
          </a:p>
          <a:p>
            <a:pPr marL="800100" lvl="2" indent="0">
              <a:buNone/>
            </a:pPr>
            <a:r>
              <a:rPr lang="en-US" dirty="0">
                <a:latin typeface="Courier" pitchFamily="49" charset="0"/>
              </a:rPr>
              <a:t>  //code to be executed  </a:t>
            </a:r>
          </a:p>
          <a:p>
            <a:pPr marL="800100" lvl="2" indent="0">
              <a:buNone/>
            </a:pPr>
            <a:r>
              <a:rPr lang="en-US" dirty="0">
                <a:latin typeface="Courier" pitchFamily="49" charset="0"/>
              </a:rPr>
              <a:t>  </a:t>
            </a:r>
            <a:r>
              <a:rPr lang="en-US" dirty="0" err="1">
                <a:latin typeface="Courier" pitchFamily="49" charset="0"/>
              </a:rPr>
              <a:t>methodname</a:t>
            </a:r>
            <a:r>
              <a:rPr lang="en-US" dirty="0">
                <a:latin typeface="Courier" pitchFamily="49" charset="0"/>
              </a:rPr>
              <a:t>();//calling same method  </a:t>
            </a:r>
          </a:p>
          <a:p>
            <a:pPr marL="800100" lvl="2" indent="0">
              <a:buNone/>
            </a:pPr>
            <a:r>
              <a:rPr lang="en-US" dirty="0">
                <a:latin typeface="Courier" pitchFamily="49" charset="0"/>
              </a:rPr>
              <a:t>} 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49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Example-1 (Infinite Times)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" y="1752600"/>
            <a:ext cx="8839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49" charset="0"/>
              </a:rPr>
              <a:t>public static void main(String[] </a:t>
            </a:r>
            <a:r>
              <a:rPr lang="en-US" dirty="0" err="1">
                <a:latin typeface="Courier" pitchFamily="49" charset="0"/>
              </a:rPr>
              <a:t>args</a:t>
            </a:r>
            <a:r>
              <a:rPr lang="en-US" dirty="0">
                <a:latin typeface="Courier" pitchFamily="49" charset="0"/>
              </a:rPr>
              <a:t>){		</a:t>
            </a:r>
          </a:p>
          <a:p>
            <a:r>
              <a:rPr lang="en-US" dirty="0">
                <a:latin typeface="Courier" pitchFamily="49" charset="0"/>
              </a:rPr>
              <a:t>		</a:t>
            </a:r>
            <a:r>
              <a:rPr lang="en-US" dirty="0" err="1">
                <a:latin typeface="Courier" pitchFamily="49" charset="0"/>
              </a:rPr>
              <a:t>infiniteMethod</a:t>
            </a:r>
            <a:r>
              <a:rPr lang="en-US" dirty="0">
                <a:latin typeface="Courier" pitchFamily="49" charset="0"/>
              </a:rPr>
              <a:t>();</a:t>
            </a:r>
          </a:p>
          <a:p>
            <a:r>
              <a:rPr lang="en-US" dirty="0">
                <a:latin typeface="Courier" pitchFamily="49" charset="0"/>
              </a:rPr>
              <a:t>  }</a:t>
            </a:r>
          </a:p>
          <a:p>
            <a:r>
              <a:rPr lang="en-US" dirty="0">
                <a:latin typeface="Courier" pitchFamily="49" charset="0"/>
              </a:rPr>
              <a:t>public static void </a:t>
            </a:r>
            <a:r>
              <a:rPr lang="en-US" dirty="0" err="1">
                <a:latin typeface="Courier" pitchFamily="49" charset="0"/>
              </a:rPr>
              <a:t>infiniteMethod</a:t>
            </a:r>
            <a:r>
              <a:rPr lang="en-US" dirty="0">
                <a:latin typeface="Courier" pitchFamily="49" charset="0"/>
              </a:rPr>
              <a:t>(){</a:t>
            </a:r>
          </a:p>
          <a:p>
            <a:r>
              <a:rPr lang="en-US" dirty="0">
                <a:latin typeface="Courier" pitchFamily="49" charset="0"/>
              </a:rPr>
              <a:t>  	</a:t>
            </a:r>
            <a:r>
              <a:rPr lang="en-US" dirty="0" err="1">
                <a:latin typeface="Courier" pitchFamily="49" charset="0"/>
              </a:rPr>
              <a:t>System.out.println</a:t>
            </a:r>
            <a:r>
              <a:rPr lang="en-US" dirty="0">
                <a:latin typeface="Courier" pitchFamily="49" charset="0"/>
              </a:rPr>
              <a:t>("infinite Recursion");</a:t>
            </a:r>
          </a:p>
          <a:p>
            <a:r>
              <a:rPr lang="en-US" dirty="0">
                <a:latin typeface="Courier" pitchFamily="49" charset="0"/>
              </a:rPr>
              <a:t>  	</a:t>
            </a:r>
            <a:r>
              <a:rPr lang="en-US" dirty="0" err="1">
                <a:latin typeface="Courier" pitchFamily="49" charset="0"/>
              </a:rPr>
              <a:t>infiniteMethod</a:t>
            </a:r>
            <a:r>
              <a:rPr lang="en-US" dirty="0">
                <a:latin typeface="Courier" pitchFamily="49" charset="0"/>
              </a:rPr>
              <a:t>();</a:t>
            </a:r>
          </a:p>
          <a:p>
            <a:r>
              <a:rPr lang="en-US" dirty="0">
                <a:latin typeface="Courier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216156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 (Finite Times)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" y="1752600"/>
            <a:ext cx="8839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49" charset="0"/>
              </a:rPr>
              <a:t>static </a:t>
            </a:r>
            <a:r>
              <a:rPr lang="en-US" dirty="0" err="1">
                <a:latin typeface="Courier" pitchFamily="49" charset="0"/>
              </a:rPr>
              <a:t>int</a:t>
            </a:r>
            <a:r>
              <a:rPr lang="en-US" dirty="0">
                <a:latin typeface="Courier" pitchFamily="49" charset="0"/>
              </a:rPr>
              <a:t> count=0;</a:t>
            </a:r>
          </a:p>
          <a:p>
            <a:r>
              <a:rPr lang="en-US" dirty="0">
                <a:latin typeface="Courier" pitchFamily="49" charset="0"/>
              </a:rPr>
              <a:t>public static void main(String[] </a:t>
            </a:r>
            <a:r>
              <a:rPr lang="en-US" dirty="0" err="1">
                <a:latin typeface="Courier" pitchFamily="49" charset="0"/>
              </a:rPr>
              <a:t>args</a:t>
            </a:r>
            <a:r>
              <a:rPr lang="en-US" dirty="0">
                <a:latin typeface="Courier" pitchFamily="49" charset="0"/>
              </a:rPr>
              <a:t>){		</a:t>
            </a:r>
          </a:p>
          <a:p>
            <a:r>
              <a:rPr lang="en-US" dirty="0">
                <a:latin typeface="Courier" pitchFamily="49" charset="0"/>
              </a:rPr>
              <a:t>		</a:t>
            </a:r>
            <a:r>
              <a:rPr lang="en-US" dirty="0" err="1">
                <a:latin typeface="Courier" pitchFamily="49" charset="0"/>
              </a:rPr>
              <a:t>finiteMethod</a:t>
            </a:r>
            <a:r>
              <a:rPr lang="en-US" dirty="0">
                <a:latin typeface="Courier" pitchFamily="49" charset="0"/>
              </a:rPr>
              <a:t>();</a:t>
            </a:r>
          </a:p>
          <a:p>
            <a:r>
              <a:rPr lang="en-US" dirty="0">
                <a:latin typeface="Courier" pitchFamily="49" charset="0"/>
              </a:rPr>
              <a:t>  }</a:t>
            </a:r>
          </a:p>
          <a:p>
            <a:r>
              <a:rPr lang="en-US" dirty="0">
                <a:latin typeface="Courier" pitchFamily="49" charset="0"/>
              </a:rPr>
              <a:t>public static void </a:t>
            </a:r>
            <a:r>
              <a:rPr lang="en-US" dirty="0" err="1">
                <a:latin typeface="Courier" pitchFamily="49" charset="0"/>
              </a:rPr>
              <a:t>finiteMethod</a:t>
            </a:r>
            <a:r>
              <a:rPr lang="en-US" dirty="0">
                <a:latin typeface="Courier" pitchFamily="49" charset="0"/>
              </a:rPr>
              <a:t>(){</a:t>
            </a:r>
          </a:p>
          <a:p>
            <a:r>
              <a:rPr lang="en-US" dirty="0">
                <a:latin typeface="Courier" pitchFamily="49" charset="0"/>
              </a:rPr>
              <a:t>  	if(count&lt;=5){</a:t>
            </a:r>
          </a:p>
          <a:p>
            <a:r>
              <a:rPr lang="en-US" dirty="0">
                <a:latin typeface="Courier" pitchFamily="49" charset="0"/>
              </a:rPr>
              <a:t>  		</a:t>
            </a:r>
            <a:r>
              <a:rPr lang="en-US" dirty="0" err="1">
                <a:latin typeface="Courier" pitchFamily="49" charset="0"/>
              </a:rPr>
              <a:t>System.out.println</a:t>
            </a:r>
            <a:r>
              <a:rPr lang="en-US" dirty="0">
                <a:latin typeface="Courier" pitchFamily="49" charset="0"/>
              </a:rPr>
              <a:t>(count+" Finite Method");</a:t>
            </a:r>
          </a:p>
          <a:p>
            <a:r>
              <a:rPr lang="en-US" dirty="0">
                <a:latin typeface="Courier" pitchFamily="49" charset="0"/>
              </a:rPr>
              <a:t>  		count++;</a:t>
            </a:r>
          </a:p>
          <a:p>
            <a:r>
              <a:rPr lang="en-US" dirty="0">
                <a:latin typeface="Courier" pitchFamily="49" charset="0"/>
              </a:rPr>
              <a:t>  		</a:t>
            </a:r>
            <a:r>
              <a:rPr lang="en-US" dirty="0" err="1">
                <a:latin typeface="Courier" pitchFamily="49" charset="0"/>
              </a:rPr>
              <a:t>finiteMethod</a:t>
            </a:r>
            <a:r>
              <a:rPr lang="en-US" dirty="0">
                <a:latin typeface="Courier" pitchFamily="49" charset="0"/>
              </a:rPr>
              <a:t>();</a:t>
            </a:r>
          </a:p>
          <a:p>
            <a:r>
              <a:rPr lang="en-US" dirty="0">
                <a:latin typeface="Courier" pitchFamily="49" charset="0"/>
              </a:rPr>
              <a:t>  	}</a:t>
            </a:r>
          </a:p>
          <a:p>
            <a:r>
              <a:rPr lang="en-US" dirty="0">
                <a:latin typeface="Courier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897924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>
            <a:extLst>
              <a:ext uri="{FF2B5EF4-FFF2-40B4-BE49-F238E27FC236}">
                <a16:creationId xmlns:a16="http://schemas.microsoft.com/office/drawing/2014/main" id="{A835B21F-8C1E-4301-BD99-DE8CCF207B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Characteristics of Recursion 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A95164A9-4E60-4F55-BEA2-E10B62AFD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495300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altLang="en-US" sz="2800"/>
              <a:t>All recursive methods have the following characteristics:</a:t>
            </a:r>
          </a:p>
          <a:p>
            <a:pPr marL="0" indent="0">
              <a:lnSpc>
                <a:spcPct val="90000"/>
              </a:lnSpc>
              <a:buFont typeface="Monotype Sorts" charset="2"/>
              <a:buNone/>
              <a:defRPr/>
            </a:pPr>
            <a:endParaRPr lang="en-US" altLang="en-US" sz="2800"/>
          </a:p>
          <a:p>
            <a:pPr lvl="1">
              <a:lnSpc>
                <a:spcPct val="90000"/>
              </a:lnSpc>
              <a:defRPr/>
            </a:pPr>
            <a:r>
              <a:rPr lang="en-US" altLang="en-US" sz="2400"/>
              <a:t>One or more base cases (the simplest case) are used to stop recursion.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/>
              <a:t>Every recursive call reduces the original problem, bringing it increasingly closer to a base case until it becomes that case.</a:t>
            </a:r>
          </a:p>
          <a:p>
            <a:pPr lvl="1">
              <a:lnSpc>
                <a:spcPct val="90000"/>
              </a:lnSpc>
              <a:defRPr/>
            </a:pPr>
            <a:endParaRPr lang="en-US" altLang="en-US" sz="2400"/>
          </a:p>
          <a:p>
            <a:pPr marL="0" indent="0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altLang="en-US" sz="2800"/>
              <a:t>In general, to solve a problem using recursion, you break it into subproblems. If a subproblem resembles the original problem, you can apply the same approach to solve the subproblem recursively. This subproblem is almost the same as the original problem in nature with a smaller size.</a:t>
            </a:r>
          </a:p>
        </p:txBody>
      </p:sp>
    </p:spTree>
    <p:extLst>
      <p:ext uri="{BB962C8B-B14F-4D97-AF65-F5344CB8AC3E}">
        <p14:creationId xmlns:p14="http://schemas.microsoft.com/office/powerpoint/2010/main" val="3962120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051D7985-B2A9-41A4-9106-E7F72561CC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US" altLang="en-US"/>
              <a:t>Computing Factorial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C28C1711-79DE-455B-A4E3-D8B6B5DF72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551863" cy="3794125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dirty="0"/>
              <a:t>factorial(0) = 1;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dirty="0"/>
              <a:t>factorial(n) = n*factorial(n-1);</a:t>
            </a:r>
          </a:p>
          <a:p>
            <a:pPr>
              <a:buFont typeface="Monotype Sorts" charset="2"/>
              <a:buNone/>
              <a:defRPr/>
            </a:pPr>
            <a:endParaRPr lang="en-US" altLang="en-US" dirty="0"/>
          </a:p>
          <a:p>
            <a:pPr>
              <a:buFont typeface="Monotype Sorts" charset="2"/>
              <a:buNone/>
              <a:defRPr/>
            </a:pPr>
            <a:r>
              <a:rPr lang="en-US" altLang="en-US" dirty="0"/>
              <a:t>//this are math rules</a:t>
            </a:r>
          </a:p>
          <a:p>
            <a:pPr>
              <a:buNone/>
              <a:defRPr/>
            </a:pPr>
            <a:r>
              <a:rPr lang="en-US" altLang="en-US" dirty="0"/>
              <a:t>Base Case: 0! = 1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dirty="0" err="1"/>
              <a:t>Recurssive</a:t>
            </a:r>
            <a:r>
              <a:rPr lang="en-US" altLang="en-US" dirty="0"/>
              <a:t> Case: n! = n * (n-1)!</a:t>
            </a:r>
          </a:p>
        </p:txBody>
      </p:sp>
    </p:spTree>
    <p:extLst>
      <p:ext uri="{BB962C8B-B14F-4D97-AF65-F5344CB8AC3E}">
        <p14:creationId xmlns:p14="http://schemas.microsoft.com/office/powerpoint/2010/main" val="405566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4823B960-6021-4A8A-B818-7514C8DE89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US" altLang="en-US"/>
              <a:t>Computing Factorial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70099326-21F4-4289-9051-A09F884E13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7338" y="1736725"/>
            <a:ext cx="8534400" cy="4679950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sz="2800"/>
              <a:t>factorial(4)</a:t>
            </a: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B1CCB8BA-DAED-4053-9532-BB01CC00B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013" y="1196975"/>
            <a:ext cx="329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factorial(0) = 1;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factorial(n) = n*factorial(n-1);</a:t>
            </a:r>
          </a:p>
        </p:txBody>
      </p:sp>
    </p:spTree>
    <p:extLst>
      <p:ext uri="{BB962C8B-B14F-4D97-AF65-F5344CB8AC3E}">
        <p14:creationId xmlns:p14="http://schemas.microsoft.com/office/powerpoint/2010/main" val="3883322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09E3E51F-AC8E-4D59-96FB-6BDBE22D05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US" altLang="en-US"/>
              <a:t>Computing Factorial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C04DD608-F13B-4BA2-9E3D-793EE4EEBF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7338" y="1736725"/>
            <a:ext cx="8534400" cy="4679950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sz="2800"/>
              <a:t>factorial(4) = 4 * factorial(3) </a:t>
            </a:r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76116F84-63EB-4103-9FB9-BFFC0E710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013" y="1196975"/>
            <a:ext cx="329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factorial(0) = 1;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factorial(n) = n*factorial(n-1);</a:t>
            </a:r>
          </a:p>
        </p:txBody>
      </p:sp>
    </p:spTree>
    <p:extLst>
      <p:ext uri="{BB962C8B-B14F-4D97-AF65-F5344CB8AC3E}">
        <p14:creationId xmlns:p14="http://schemas.microsoft.com/office/powerpoint/2010/main" val="2247475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E64F6355-9721-4D77-A7D4-C1FC600D04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US" altLang="en-US"/>
              <a:t>Computing Factorial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0CE419D5-71AC-4D78-A41F-874669F8CE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7338" y="1736725"/>
            <a:ext cx="8534400" cy="4679950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sz="2800"/>
              <a:t>factorial(4) = 4 * factorial(3)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factorial(2) </a:t>
            </a:r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F9F950B9-6CAA-43CB-89A5-42890DCB9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013" y="1196975"/>
            <a:ext cx="329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factorial(0) = 1;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factorial(n) = n*factorial(n-1);</a:t>
            </a:r>
          </a:p>
        </p:txBody>
      </p:sp>
    </p:spTree>
    <p:extLst>
      <p:ext uri="{BB962C8B-B14F-4D97-AF65-F5344CB8AC3E}">
        <p14:creationId xmlns:p14="http://schemas.microsoft.com/office/powerpoint/2010/main" val="3210530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id="{C34F4E62-F76F-4EA9-89F6-3FFF84CC5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US" altLang="en-US"/>
              <a:t>Computing Factorial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07681ABC-51B3-437A-B26E-8EBC3C5E43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7338" y="1736725"/>
            <a:ext cx="8534400" cy="4679950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sz="2800"/>
              <a:t>factorial(4) = 4 * factorial(3)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factorial(2)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(2 * factorial(1)) </a:t>
            </a:r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5E7066C3-BFCE-485B-AC0F-3905ED26C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013" y="1196975"/>
            <a:ext cx="329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factorial(0) = 1;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factorial(n) = n*factorial(n-1);</a:t>
            </a:r>
          </a:p>
        </p:txBody>
      </p:sp>
    </p:spTree>
    <p:extLst>
      <p:ext uri="{BB962C8B-B14F-4D97-AF65-F5344CB8AC3E}">
        <p14:creationId xmlns:p14="http://schemas.microsoft.com/office/powerpoint/2010/main" val="1972006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EF74A286-2634-4F8B-BE47-7E32A6A078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US" altLang="en-US"/>
              <a:t>Computing Factorial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F01E794-FC44-4D43-B3C4-7E61DC89DF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7338" y="1736725"/>
            <a:ext cx="8534400" cy="4679950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sz="2800"/>
              <a:t>factorial(4) = 4 * factorial(3)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factorial(2)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(2 * factorial(1))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( 2 * (1 * factorial(0))) </a:t>
            </a:r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87C62C37-CC31-40A9-95FA-B5B25123D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013" y="1196975"/>
            <a:ext cx="329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factorial(0) = 1;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factorial(n) = n*factorial(n-1);</a:t>
            </a:r>
          </a:p>
        </p:txBody>
      </p:sp>
    </p:spTree>
    <p:extLst>
      <p:ext uri="{BB962C8B-B14F-4D97-AF65-F5344CB8AC3E}">
        <p14:creationId xmlns:p14="http://schemas.microsoft.com/office/powerpoint/2010/main" val="2260926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144CA891-9568-4B52-93A6-60C86B7442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US" altLang="en-US"/>
              <a:t>Computing Factorial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DCA020EA-25B9-4D59-B170-909697D3F4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7338" y="1736725"/>
            <a:ext cx="8534400" cy="4679950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sz="2800"/>
              <a:t>factorial(4) = 4 * factorial(3)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factorial(2)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(2 * factorial(1))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( 2 * (1 * factorial(0)))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( 2 * ( 1 * 1))) </a:t>
            </a:r>
          </a:p>
        </p:txBody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93A73B35-49D1-41F6-B3FD-20736F612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013" y="1196975"/>
            <a:ext cx="329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factorial(0) = 1;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factorial(n) = n*factorial(n-1);</a:t>
            </a:r>
          </a:p>
        </p:txBody>
      </p:sp>
    </p:spTree>
    <p:extLst>
      <p:ext uri="{BB962C8B-B14F-4D97-AF65-F5344CB8AC3E}">
        <p14:creationId xmlns:p14="http://schemas.microsoft.com/office/powerpoint/2010/main" val="1409840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26C05DC3-94A6-442D-A0DF-1A9FC97499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US" altLang="en-US"/>
              <a:t>Computing Factorial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366C7107-3C69-4896-A41C-ED9BF0CF20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7338" y="1736725"/>
            <a:ext cx="8534400" cy="4679950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sz="2800"/>
              <a:t>factorial(4) = 4 * factorial(3)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factorial(2)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(2 * factorial(1))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( 2 * (1 * factorial(0)))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( 2 * ( 1 * 1)))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( 2 * 1) </a:t>
            </a:r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8E45D3E5-CB23-410F-946C-B5BE6CCBF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013" y="1196975"/>
            <a:ext cx="329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factorial(0) = 1;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factorial(n) = n*factorial(n-1);</a:t>
            </a:r>
          </a:p>
        </p:txBody>
      </p:sp>
    </p:spTree>
    <p:extLst>
      <p:ext uri="{BB962C8B-B14F-4D97-AF65-F5344CB8AC3E}">
        <p14:creationId xmlns:p14="http://schemas.microsoft.com/office/powerpoint/2010/main" val="1270789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827BEC54-1390-4297-A5F5-893246FFCC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US" altLang="en-US"/>
              <a:t>Computing Factorial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9B79C0E3-8FBD-4840-999A-E5F47474E2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7338" y="1736725"/>
            <a:ext cx="8534400" cy="4679950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sz="2800"/>
              <a:t>factorial(4) = 4 * factorial(3)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factorial(2)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(2 * factorial(1))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( 2 * (1 * factorial(0)))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( 2 * ( 1 * 1)))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( 2 * 1)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3 * 2 </a:t>
            </a:r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733702E5-DA48-40BB-B5FA-BEEB12875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013" y="1196975"/>
            <a:ext cx="329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factorial(0) = 1;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factorial(n) = n*factorial(n-1);</a:t>
            </a:r>
          </a:p>
        </p:txBody>
      </p:sp>
    </p:spTree>
    <p:extLst>
      <p:ext uri="{BB962C8B-B14F-4D97-AF65-F5344CB8AC3E}">
        <p14:creationId xmlns:p14="http://schemas.microsoft.com/office/powerpoint/2010/main" val="752046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E5BC085A-19DE-4485-A10B-F1C3E28921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US" altLang="en-US"/>
              <a:t>Computing Factorial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EB6AE12-8D1B-4528-BC88-CBF8F4BAA7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7338" y="1736725"/>
            <a:ext cx="8534400" cy="4679950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sz="2800"/>
              <a:t>factorial(4) = 4 * factorial(3)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(3 * factorial(2))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(3 * (2 * factorial(1)))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(3 * ( 2 * (1 * factorial(0))))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(3 * ( 2 * ( 1 * 1))))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(3 * ( 2 * 1))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(3 * 2)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(6)</a:t>
            </a:r>
          </a:p>
        </p:txBody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818FB144-CA52-496D-BB10-00BFDCAEC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013" y="1196975"/>
            <a:ext cx="329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factorial(0) = 1;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factorial(n) = n*factorial(n-1);</a:t>
            </a:r>
          </a:p>
        </p:txBody>
      </p:sp>
    </p:spTree>
    <p:extLst>
      <p:ext uri="{BB962C8B-B14F-4D97-AF65-F5344CB8AC3E}">
        <p14:creationId xmlns:p14="http://schemas.microsoft.com/office/powerpoint/2010/main" val="3258595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id="{1840E4B6-D25F-4387-B924-844262BC12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US" altLang="en-US"/>
              <a:t>Computing Factorial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5D77197F-579E-4057-B575-4E0773E4A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7338" y="1736725"/>
            <a:ext cx="8534400" cy="4679950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sz="2800"/>
              <a:t>factorial(4) = 4 * factorial(3)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(3 * factorial(2))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(3 * (2 * factorial(1)))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(3 * ( 2 * (1 * factorial(0))))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(3 * ( 2 * ( 1 * 1))))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(3 * ( 2 * 1))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(3 * 2)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4 * (6)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2800"/>
              <a:t>                   = 24</a:t>
            </a:r>
          </a:p>
        </p:txBody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8A6E7DDE-E766-4949-9801-A51647DAC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013" y="1196975"/>
            <a:ext cx="329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factorial(0) = 1;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factorial(n) = n*factorial(n-1);</a:t>
            </a:r>
          </a:p>
        </p:txBody>
      </p:sp>
    </p:spTree>
    <p:extLst>
      <p:ext uri="{BB962C8B-B14F-4D97-AF65-F5344CB8AC3E}">
        <p14:creationId xmlns:p14="http://schemas.microsoft.com/office/powerpoint/2010/main" val="285126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172914EF-565C-4537-8706-9A8DD0D069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81050"/>
          </a:xfrm>
        </p:spPr>
        <p:txBody>
          <a:bodyPr/>
          <a:lstStyle/>
          <a:p>
            <a:pPr>
              <a:defRPr/>
            </a:pPr>
            <a:r>
              <a:rPr lang="en-US" altLang="en-US" sz="4000"/>
              <a:t>Trace Recursive factorial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013CDF1-6000-4C7A-AECC-D781AEAB4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79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224472DE-E2B4-4270-8988-EB0C4AA7E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18439" name="Rectangle 13">
            <a:extLst>
              <a:ext uri="{FF2B5EF4-FFF2-40B4-BE49-F238E27FC236}">
                <a16:creationId xmlns:a16="http://schemas.microsoft.com/office/drawing/2014/main" id="{BC55B6A1-1544-4196-9BBA-62D707EF3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graphicFrame>
        <p:nvGraphicFramePr>
          <p:cNvPr id="40967" name="Object 12">
            <a:extLst>
              <a:ext uri="{FF2B5EF4-FFF2-40B4-BE49-F238E27FC236}">
                <a16:creationId xmlns:a16="http://schemas.microsoft.com/office/drawing/2014/main" id="{1E43AA4B-50C3-479F-8B42-4E289CBB16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1828800"/>
          <a:ext cx="6705600" cy="432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660648" imgH="2360676" progId="Word.Picture.8">
                  <p:embed/>
                </p:oleObj>
              </mc:Choice>
              <mc:Fallback>
                <p:oleObj name="Picture" r:id="rId3" imgW="3660648" imgH="2360676" progId="Word.Picture.8">
                  <p:embed/>
                  <p:pic>
                    <p:nvPicPr>
                      <p:cNvPr id="40967" name="Object 12">
                        <a:extLst>
                          <a:ext uri="{FF2B5EF4-FFF2-40B4-BE49-F238E27FC236}">
                            <a16:creationId xmlns:a16="http://schemas.microsoft.com/office/drawing/2014/main" id="{1E43AA4B-50C3-479F-8B42-4E289CBB16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828800"/>
                        <a:ext cx="6705600" cy="432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AutoShape 6">
            <a:extLst>
              <a:ext uri="{FF2B5EF4-FFF2-40B4-BE49-F238E27FC236}">
                <a16:creationId xmlns:a16="http://schemas.microsoft.com/office/drawing/2014/main" id="{0864CCDB-D42D-4CCD-A811-E416A9EBB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1066800"/>
            <a:ext cx="3533775" cy="384175"/>
          </a:xfrm>
          <a:prstGeom prst="wedgeRoundRectCallout">
            <a:avLst>
              <a:gd name="adj1" fmla="val -102245"/>
              <a:gd name="adj2" fmla="val 239671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/>
              <a:t>Executes factorial(4)</a:t>
            </a:r>
          </a:p>
        </p:txBody>
      </p:sp>
      <p:sp useBgFill="1">
        <p:nvSpPr>
          <p:cNvPr id="40969" name="Rectangle 15">
            <a:extLst>
              <a:ext uri="{FF2B5EF4-FFF2-40B4-BE49-F238E27FC236}">
                <a16:creationId xmlns:a16="http://schemas.microsoft.com/office/drawing/2014/main" id="{9BDFC544-0642-4974-83E5-62F8BDA62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312988"/>
            <a:ext cx="6477000" cy="3783012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40970" name="Object 2">
            <a:extLst>
              <a:ext uri="{FF2B5EF4-FFF2-40B4-BE49-F238E27FC236}">
                <a16:creationId xmlns:a16="http://schemas.microsoft.com/office/drawing/2014/main" id="{BF47BE32-C421-45BF-B8B3-A63419CC99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10463" y="3810000"/>
          <a:ext cx="1139825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1068324" imgH="2208276" progId="Word.Picture.8">
                  <p:embed/>
                </p:oleObj>
              </mc:Choice>
              <mc:Fallback>
                <p:oleObj name="Picture" r:id="rId5" imgW="1068324" imgH="2208276" progId="Word.Picture.8">
                  <p:embed/>
                  <p:pic>
                    <p:nvPicPr>
                      <p:cNvPr id="40970" name="Object 2">
                        <a:extLst>
                          <a:ext uri="{FF2B5EF4-FFF2-40B4-BE49-F238E27FC236}">
                            <a16:creationId xmlns:a16="http://schemas.microsoft.com/office/drawing/2014/main" id="{BF47BE32-C421-45BF-B8B3-A63419CC99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0463" y="3810000"/>
                        <a:ext cx="1139825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5378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09" name="Object 7">
            <a:extLst>
              <a:ext uri="{FF2B5EF4-FFF2-40B4-BE49-F238E27FC236}">
                <a16:creationId xmlns:a16="http://schemas.microsoft.com/office/drawing/2014/main" id="{E9EA40FA-6796-4A9F-9FAF-2957E7E95F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1828800"/>
          <a:ext cx="6705600" cy="432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660648" imgH="2360676" progId="Word.Picture.8">
                  <p:embed/>
                </p:oleObj>
              </mc:Choice>
              <mc:Fallback>
                <p:oleObj name="Picture" r:id="rId3" imgW="3660648" imgH="2360676" progId="Word.Picture.8">
                  <p:embed/>
                  <p:pic>
                    <p:nvPicPr>
                      <p:cNvPr id="43009" name="Object 7">
                        <a:extLst>
                          <a:ext uri="{FF2B5EF4-FFF2-40B4-BE49-F238E27FC236}">
                            <a16:creationId xmlns:a16="http://schemas.microsoft.com/office/drawing/2014/main" id="{E9EA40FA-6796-4A9F-9FAF-2957E7E95F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828800"/>
                        <a:ext cx="6705600" cy="432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Rectangle 2">
            <a:extLst>
              <a:ext uri="{FF2B5EF4-FFF2-40B4-BE49-F238E27FC236}">
                <a16:creationId xmlns:a16="http://schemas.microsoft.com/office/drawing/2014/main" id="{E5AB97A0-EF07-4261-8153-B1587D4218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81050"/>
          </a:xfrm>
        </p:spPr>
        <p:txBody>
          <a:bodyPr/>
          <a:lstStyle/>
          <a:p>
            <a:pPr>
              <a:defRPr/>
            </a:pPr>
            <a:r>
              <a:rPr lang="en-US" altLang="en-US" sz="4000"/>
              <a:t>Trace Recursive factorial</a:t>
            </a: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C511A452-BA85-45B6-AA37-38B32A000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79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19462" name="Rectangle 4">
            <a:extLst>
              <a:ext uri="{FF2B5EF4-FFF2-40B4-BE49-F238E27FC236}">
                <a16:creationId xmlns:a16="http://schemas.microsoft.com/office/drawing/2014/main" id="{88098187-609F-4278-B7EF-11399C57B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19464" name="Rectangle 6">
            <a:extLst>
              <a:ext uri="{FF2B5EF4-FFF2-40B4-BE49-F238E27FC236}">
                <a16:creationId xmlns:a16="http://schemas.microsoft.com/office/drawing/2014/main" id="{647CAAA4-CF33-4706-8A6C-5A4E53BDD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19465" name="AutoShape 8">
            <a:extLst>
              <a:ext uri="{FF2B5EF4-FFF2-40B4-BE49-F238E27FC236}">
                <a16:creationId xmlns:a16="http://schemas.microsoft.com/office/drawing/2014/main" id="{4BAB7BCE-A84B-4948-AABF-7451CB095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113" y="2528888"/>
            <a:ext cx="3533775" cy="384175"/>
          </a:xfrm>
          <a:prstGeom prst="wedgeRoundRectCallout">
            <a:avLst>
              <a:gd name="adj1" fmla="val -102157"/>
              <a:gd name="adj2" fmla="val 63222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/>
              <a:t>Executes factorial(3)</a:t>
            </a:r>
          </a:p>
        </p:txBody>
      </p:sp>
      <p:sp useBgFill="1">
        <p:nvSpPr>
          <p:cNvPr id="43017" name="Rectangle 10">
            <a:extLst>
              <a:ext uri="{FF2B5EF4-FFF2-40B4-BE49-F238E27FC236}">
                <a16:creationId xmlns:a16="http://schemas.microsoft.com/office/drawing/2014/main" id="{CC8E7A72-7F3F-4B1F-90A2-D947246F3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068638"/>
            <a:ext cx="6477000" cy="3027362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43018" name="Rectangle 11">
            <a:extLst>
              <a:ext uri="{FF2B5EF4-FFF2-40B4-BE49-F238E27FC236}">
                <a16:creationId xmlns:a16="http://schemas.microsoft.com/office/drawing/2014/main" id="{6FE3C645-4783-4CCE-B5BC-5678CE7A6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060575"/>
            <a:ext cx="1873250" cy="24130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43019" name="Rectangle 12">
            <a:extLst>
              <a:ext uri="{FF2B5EF4-FFF2-40B4-BE49-F238E27FC236}">
                <a16:creationId xmlns:a16="http://schemas.microsoft.com/office/drawing/2014/main" id="{E01B9D32-65F3-40E8-A929-3E13FB2E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312988"/>
            <a:ext cx="1873250" cy="39528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43020" name="Rectangle 13">
            <a:extLst>
              <a:ext uri="{FF2B5EF4-FFF2-40B4-BE49-F238E27FC236}">
                <a16:creationId xmlns:a16="http://schemas.microsoft.com/office/drawing/2014/main" id="{CE9A91BB-05BC-48F7-B503-67712B1C2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263" y="3033713"/>
            <a:ext cx="144462" cy="39528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43021" name="Content Placeholder 2">
            <a:extLst>
              <a:ext uri="{FF2B5EF4-FFF2-40B4-BE49-F238E27FC236}">
                <a16:creationId xmlns:a16="http://schemas.microsoft.com/office/drawing/2014/main" id="{CD6AFEA6-4CD6-47CB-BD7C-F1EF28FF4FCB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7380288" y="3897313"/>
          <a:ext cx="1068387" cy="220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1068324" imgH="2208276" progId="Word.Picture.8">
                  <p:embed/>
                </p:oleObj>
              </mc:Choice>
              <mc:Fallback>
                <p:oleObj name="Picture" r:id="rId5" imgW="1068324" imgH="2208276" progId="Word.Picture.8">
                  <p:embed/>
                  <p:pic>
                    <p:nvPicPr>
                      <p:cNvPr id="43021" name="Content Placeholder 2">
                        <a:extLst>
                          <a:ext uri="{FF2B5EF4-FFF2-40B4-BE49-F238E27FC236}">
                            <a16:creationId xmlns:a16="http://schemas.microsoft.com/office/drawing/2014/main" id="{CD6AFEA6-4CD6-47CB-BD7C-F1EF28FF4FCB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3897313"/>
                        <a:ext cx="1068387" cy="220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97016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7" name="Object 7">
            <a:extLst>
              <a:ext uri="{FF2B5EF4-FFF2-40B4-BE49-F238E27FC236}">
                <a16:creationId xmlns:a16="http://schemas.microsoft.com/office/drawing/2014/main" id="{A467A5BC-8B9B-4577-BED3-EEFB067129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1828800"/>
          <a:ext cx="6705600" cy="432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660648" imgH="2360676" progId="Word.Picture.8">
                  <p:embed/>
                </p:oleObj>
              </mc:Choice>
              <mc:Fallback>
                <p:oleObj name="Picture" r:id="rId3" imgW="3660648" imgH="2360676" progId="Word.Picture.8">
                  <p:embed/>
                  <p:pic>
                    <p:nvPicPr>
                      <p:cNvPr id="45057" name="Object 7">
                        <a:extLst>
                          <a:ext uri="{FF2B5EF4-FFF2-40B4-BE49-F238E27FC236}">
                            <a16:creationId xmlns:a16="http://schemas.microsoft.com/office/drawing/2014/main" id="{A467A5BC-8B9B-4577-BED3-EEFB067129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828800"/>
                        <a:ext cx="6705600" cy="432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45058" name="Rectangle 11">
            <a:extLst>
              <a:ext uri="{FF2B5EF4-FFF2-40B4-BE49-F238E27FC236}">
                <a16:creationId xmlns:a16="http://schemas.microsoft.com/office/drawing/2014/main" id="{4D6A4566-C92A-44CE-BE1C-A03C5E381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060575"/>
            <a:ext cx="1873250" cy="24130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45059" name="Rectangle 12">
            <a:extLst>
              <a:ext uri="{FF2B5EF4-FFF2-40B4-BE49-F238E27FC236}">
                <a16:creationId xmlns:a16="http://schemas.microsoft.com/office/drawing/2014/main" id="{B1149FC7-B3AD-417E-925F-CB0A4A648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312988"/>
            <a:ext cx="1873250" cy="39528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0486" name="Rectangle 2">
            <a:extLst>
              <a:ext uri="{FF2B5EF4-FFF2-40B4-BE49-F238E27FC236}">
                <a16:creationId xmlns:a16="http://schemas.microsoft.com/office/drawing/2014/main" id="{9F71B648-5615-449A-99E1-B32CA58D2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81050"/>
          </a:xfrm>
        </p:spPr>
        <p:txBody>
          <a:bodyPr/>
          <a:lstStyle/>
          <a:p>
            <a:pPr>
              <a:defRPr/>
            </a:pPr>
            <a:r>
              <a:rPr lang="en-US" altLang="en-US" sz="4000"/>
              <a:t>Trace Recursive factorial</a:t>
            </a:r>
          </a:p>
        </p:txBody>
      </p:sp>
      <p:sp>
        <p:nvSpPr>
          <p:cNvPr id="20487" name="Rectangle 3">
            <a:extLst>
              <a:ext uri="{FF2B5EF4-FFF2-40B4-BE49-F238E27FC236}">
                <a16:creationId xmlns:a16="http://schemas.microsoft.com/office/drawing/2014/main" id="{9FB128EF-3103-4ACB-BD59-238AC5984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79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0488" name="Rectangle 4">
            <a:extLst>
              <a:ext uri="{FF2B5EF4-FFF2-40B4-BE49-F238E27FC236}">
                <a16:creationId xmlns:a16="http://schemas.microsoft.com/office/drawing/2014/main" id="{22A414AB-D231-4121-B95B-EFE2C6503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0490" name="Rectangle 6">
            <a:extLst>
              <a:ext uri="{FF2B5EF4-FFF2-40B4-BE49-F238E27FC236}">
                <a16:creationId xmlns:a16="http://schemas.microsoft.com/office/drawing/2014/main" id="{BAB99449-9630-4535-A3AA-26BD12E6A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0491" name="AutoShape 8">
            <a:extLst>
              <a:ext uri="{FF2B5EF4-FFF2-40B4-BE49-F238E27FC236}">
                <a16:creationId xmlns:a16="http://schemas.microsoft.com/office/drawing/2014/main" id="{47356523-4A1D-4C03-B9A8-62F212A0B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024063"/>
            <a:ext cx="3533775" cy="384175"/>
          </a:xfrm>
          <a:prstGeom prst="wedgeRoundRectCallout">
            <a:avLst>
              <a:gd name="adj1" fmla="val -91241"/>
              <a:gd name="adj2" fmla="val 349588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/>
              <a:t>Executes factorial(2)</a:t>
            </a:r>
          </a:p>
        </p:txBody>
      </p:sp>
      <p:sp useBgFill="1">
        <p:nvSpPr>
          <p:cNvPr id="45067" name="Rectangle 10">
            <a:extLst>
              <a:ext uri="{FF2B5EF4-FFF2-40B4-BE49-F238E27FC236}">
                <a16:creationId xmlns:a16="http://schemas.microsoft.com/office/drawing/2014/main" id="{9A170A9E-3A3A-445F-AF90-715F787E7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824288"/>
            <a:ext cx="6477000" cy="2271712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20493" name="Rectangle 13">
            <a:extLst>
              <a:ext uri="{FF2B5EF4-FFF2-40B4-BE49-F238E27FC236}">
                <a16:creationId xmlns:a16="http://schemas.microsoft.com/office/drawing/2014/main" id="{7E117DC9-55E8-47C2-9EBB-11A931141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263" y="3033713"/>
            <a:ext cx="144462" cy="395287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 useBgFill="1">
        <p:nvSpPr>
          <p:cNvPr id="45069" name="Rectangle 14">
            <a:extLst>
              <a:ext uri="{FF2B5EF4-FFF2-40B4-BE49-F238E27FC236}">
                <a16:creationId xmlns:a16="http://schemas.microsoft.com/office/drawing/2014/main" id="{4662B9CD-9E14-4212-AE5C-48ADCDC7D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068638"/>
            <a:ext cx="1512888" cy="4318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45070" name="Rectangle 15">
            <a:extLst>
              <a:ext uri="{FF2B5EF4-FFF2-40B4-BE49-F238E27FC236}">
                <a16:creationId xmlns:a16="http://schemas.microsoft.com/office/drawing/2014/main" id="{7BF7D6B1-64B6-4239-A5F1-65318C052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392488"/>
            <a:ext cx="1512887" cy="4318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45071" name="Content Placeholder 2">
            <a:extLst>
              <a:ext uri="{FF2B5EF4-FFF2-40B4-BE49-F238E27FC236}">
                <a16:creationId xmlns:a16="http://schemas.microsoft.com/office/drawing/2014/main" id="{245689C2-70B0-4578-A60F-6E868E82C755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7559675" y="4005263"/>
          <a:ext cx="1068388" cy="220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1068324" imgH="2208276" progId="Word.Picture.8">
                  <p:embed/>
                </p:oleObj>
              </mc:Choice>
              <mc:Fallback>
                <p:oleObj name="Picture" r:id="rId5" imgW="1068324" imgH="2208276" progId="Word.Picture.8">
                  <p:embed/>
                  <p:pic>
                    <p:nvPicPr>
                      <p:cNvPr id="45071" name="Content Placeholder 2">
                        <a:extLst>
                          <a:ext uri="{FF2B5EF4-FFF2-40B4-BE49-F238E27FC236}">
                            <a16:creationId xmlns:a16="http://schemas.microsoft.com/office/drawing/2014/main" id="{245689C2-70B0-4578-A60F-6E868E82C755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9675" y="4005263"/>
                        <a:ext cx="1068388" cy="220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40846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105" name="Rectangle 12">
            <a:extLst>
              <a:ext uri="{FF2B5EF4-FFF2-40B4-BE49-F238E27FC236}">
                <a16:creationId xmlns:a16="http://schemas.microsoft.com/office/drawing/2014/main" id="{A89DCD70-6BC9-4333-8CFF-569908580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312988"/>
            <a:ext cx="1873250" cy="39528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47106" name="Object 7">
            <a:extLst>
              <a:ext uri="{FF2B5EF4-FFF2-40B4-BE49-F238E27FC236}">
                <a16:creationId xmlns:a16="http://schemas.microsoft.com/office/drawing/2014/main" id="{8A7D8C7C-BE91-4270-83E4-521CE41E5F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1828800"/>
          <a:ext cx="6705600" cy="432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660648" imgH="2360676" progId="Word.Picture.8">
                  <p:embed/>
                </p:oleObj>
              </mc:Choice>
              <mc:Fallback>
                <p:oleObj name="Picture" r:id="rId3" imgW="3660648" imgH="2360676" progId="Word.Picture.8">
                  <p:embed/>
                  <p:pic>
                    <p:nvPicPr>
                      <p:cNvPr id="47106" name="Object 7">
                        <a:extLst>
                          <a:ext uri="{FF2B5EF4-FFF2-40B4-BE49-F238E27FC236}">
                            <a16:creationId xmlns:a16="http://schemas.microsoft.com/office/drawing/2014/main" id="{8A7D8C7C-BE91-4270-83E4-521CE41E5F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828800"/>
                        <a:ext cx="6705600" cy="432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47107" name="Rectangle 15">
            <a:extLst>
              <a:ext uri="{FF2B5EF4-FFF2-40B4-BE49-F238E27FC236}">
                <a16:creationId xmlns:a16="http://schemas.microsoft.com/office/drawing/2014/main" id="{2CB31233-0309-4AA4-BA10-C783FB490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392488"/>
            <a:ext cx="1512887" cy="4318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10" name="Rectangle 2">
            <a:extLst>
              <a:ext uri="{FF2B5EF4-FFF2-40B4-BE49-F238E27FC236}">
                <a16:creationId xmlns:a16="http://schemas.microsoft.com/office/drawing/2014/main" id="{E91F3AFD-B8BD-41D1-B696-345BE92FC3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81050"/>
          </a:xfrm>
        </p:spPr>
        <p:txBody>
          <a:bodyPr/>
          <a:lstStyle/>
          <a:p>
            <a:pPr>
              <a:defRPr/>
            </a:pPr>
            <a:r>
              <a:rPr lang="en-US" altLang="en-US" sz="4000"/>
              <a:t>Trace Recursive factorial</a:t>
            </a:r>
          </a:p>
        </p:txBody>
      </p:sp>
      <p:sp>
        <p:nvSpPr>
          <p:cNvPr id="21511" name="Rectangle 3">
            <a:extLst>
              <a:ext uri="{FF2B5EF4-FFF2-40B4-BE49-F238E27FC236}">
                <a16:creationId xmlns:a16="http://schemas.microsoft.com/office/drawing/2014/main" id="{6A3D1988-48B8-4502-8605-24B7EDBDE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79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1512" name="Rectangle 4">
            <a:extLst>
              <a:ext uri="{FF2B5EF4-FFF2-40B4-BE49-F238E27FC236}">
                <a16:creationId xmlns:a16="http://schemas.microsoft.com/office/drawing/2014/main" id="{A6B81C76-62BE-4C29-9099-BF05A1620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1514" name="Rectangle 6">
            <a:extLst>
              <a:ext uri="{FF2B5EF4-FFF2-40B4-BE49-F238E27FC236}">
                <a16:creationId xmlns:a16="http://schemas.microsoft.com/office/drawing/2014/main" id="{E2B6F98C-8D6F-44CD-A4BA-9D3D0F271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1515" name="AutoShape 8">
            <a:extLst>
              <a:ext uri="{FF2B5EF4-FFF2-40B4-BE49-F238E27FC236}">
                <a16:creationId xmlns:a16="http://schemas.microsoft.com/office/drawing/2014/main" id="{50270EEC-7CF8-4A74-8EE9-26B3E7C7F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024063"/>
            <a:ext cx="3533775" cy="384175"/>
          </a:xfrm>
          <a:prstGeom prst="wedgeRoundRectCallout">
            <a:avLst>
              <a:gd name="adj1" fmla="val -80819"/>
              <a:gd name="adj2" fmla="val 562398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/>
              <a:t>Executes factorial(1)</a:t>
            </a:r>
          </a:p>
        </p:txBody>
      </p:sp>
      <p:sp useBgFill="1">
        <p:nvSpPr>
          <p:cNvPr id="47115" name="Rectangle 10">
            <a:extLst>
              <a:ext uri="{FF2B5EF4-FFF2-40B4-BE49-F238E27FC236}">
                <a16:creationId xmlns:a16="http://schemas.microsoft.com/office/drawing/2014/main" id="{F435619D-C655-4D53-A6C4-78C97EEB3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4545013"/>
            <a:ext cx="6477000" cy="155098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47116" name="Rectangle 11">
            <a:extLst>
              <a:ext uri="{FF2B5EF4-FFF2-40B4-BE49-F238E27FC236}">
                <a16:creationId xmlns:a16="http://schemas.microsoft.com/office/drawing/2014/main" id="{B5053C43-669B-42FA-8EC8-DD97021FB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060575"/>
            <a:ext cx="1873250" cy="24130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47117" name="Rectangle 13">
            <a:extLst>
              <a:ext uri="{FF2B5EF4-FFF2-40B4-BE49-F238E27FC236}">
                <a16:creationId xmlns:a16="http://schemas.microsoft.com/office/drawing/2014/main" id="{1A501A59-553C-43BC-9737-706D443A6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263" y="3033713"/>
            <a:ext cx="144462" cy="39528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47118" name="Rectangle 14">
            <a:extLst>
              <a:ext uri="{FF2B5EF4-FFF2-40B4-BE49-F238E27FC236}">
                <a16:creationId xmlns:a16="http://schemas.microsoft.com/office/drawing/2014/main" id="{F85D2603-7B3D-4F4F-B921-8865CCAEB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068638"/>
            <a:ext cx="1512888" cy="4318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47119" name="Rectangle 16">
            <a:extLst>
              <a:ext uri="{FF2B5EF4-FFF2-40B4-BE49-F238E27FC236}">
                <a16:creationId xmlns:a16="http://schemas.microsoft.com/office/drawing/2014/main" id="{035C5E16-4075-42F8-9C34-96CA7D0FF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824288"/>
            <a:ext cx="3059112" cy="43338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47120" name="Rectangle 17">
            <a:extLst>
              <a:ext uri="{FF2B5EF4-FFF2-40B4-BE49-F238E27FC236}">
                <a16:creationId xmlns:a16="http://schemas.microsoft.com/office/drawing/2014/main" id="{D1627080-24E0-4AA7-9A19-B860C7660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184650"/>
            <a:ext cx="2303463" cy="433388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47121" name="Rectangle 17">
            <a:extLst>
              <a:ext uri="{FF2B5EF4-FFF2-40B4-BE49-F238E27FC236}">
                <a16:creationId xmlns:a16="http://schemas.microsoft.com/office/drawing/2014/main" id="{689BAEDF-C290-4FE1-AA2B-3E7BCE1C3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525" y="2339975"/>
            <a:ext cx="1150938" cy="338138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47122" name="Object 2">
            <a:extLst>
              <a:ext uri="{FF2B5EF4-FFF2-40B4-BE49-F238E27FC236}">
                <a16:creationId xmlns:a16="http://schemas.microsoft.com/office/drawing/2014/main" id="{C4EAFF79-6D2B-4B16-A53F-51FF9F9A31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10463" y="3810000"/>
          <a:ext cx="1139825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1068324" imgH="2208276" progId="Word.Picture.8">
                  <p:embed/>
                </p:oleObj>
              </mc:Choice>
              <mc:Fallback>
                <p:oleObj name="Picture" r:id="rId5" imgW="1068324" imgH="2208276" progId="Word.Picture.8">
                  <p:embed/>
                  <p:pic>
                    <p:nvPicPr>
                      <p:cNvPr id="47122" name="Object 2">
                        <a:extLst>
                          <a:ext uri="{FF2B5EF4-FFF2-40B4-BE49-F238E27FC236}">
                            <a16:creationId xmlns:a16="http://schemas.microsoft.com/office/drawing/2014/main" id="{C4EAFF79-6D2B-4B16-A53F-51FF9F9A31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0463" y="3810000"/>
                        <a:ext cx="1139825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50173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3" name="Object 7">
            <a:extLst>
              <a:ext uri="{FF2B5EF4-FFF2-40B4-BE49-F238E27FC236}">
                <a16:creationId xmlns:a16="http://schemas.microsoft.com/office/drawing/2014/main" id="{B58FE466-582C-480C-9601-C46B557779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1828800"/>
          <a:ext cx="6705600" cy="432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660648" imgH="2360676" progId="Word.Picture.8">
                  <p:embed/>
                </p:oleObj>
              </mc:Choice>
              <mc:Fallback>
                <p:oleObj name="Picture" r:id="rId3" imgW="3660648" imgH="2360676" progId="Word.Picture.8">
                  <p:embed/>
                  <p:pic>
                    <p:nvPicPr>
                      <p:cNvPr id="49153" name="Object 7">
                        <a:extLst>
                          <a:ext uri="{FF2B5EF4-FFF2-40B4-BE49-F238E27FC236}">
                            <a16:creationId xmlns:a16="http://schemas.microsoft.com/office/drawing/2014/main" id="{B58FE466-582C-480C-9601-C46B557779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828800"/>
                        <a:ext cx="6705600" cy="432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Rectangle 2">
            <a:extLst>
              <a:ext uri="{FF2B5EF4-FFF2-40B4-BE49-F238E27FC236}">
                <a16:creationId xmlns:a16="http://schemas.microsoft.com/office/drawing/2014/main" id="{3125CB23-68F2-4B9C-825C-FFF98A415E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81050"/>
          </a:xfrm>
        </p:spPr>
        <p:txBody>
          <a:bodyPr/>
          <a:lstStyle/>
          <a:p>
            <a:pPr>
              <a:defRPr/>
            </a:pPr>
            <a:r>
              <a:rPr lang="en-US" altLang="en-US" sz="4000"/>
              <a:t>Trace Recursive factorial</a:t>
            </a:r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8D96F3E8-7648-4028-B610-285802E27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79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2534" name="Rectangle 4">
            <a:extLst>
              <a:ext uri="{FF2B5EF4-FFF2-40B4-BE49-F238E27FC236}">
                <a16:creationId xmlns:a16="http://schemas.microsoft.com/office/drawing/2014/main" id="{BDEC770D-01E9-4B8C-98E7-9F2EE7171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2536" name="Rectangle 6">
            <a:extLst>
              <a:ext uri="{FF2B5EF4-FFF2-40B4-BE49-F238E27FC236}">
                <a16:creationId xmlns:a16="http://schemas.microsoft.com/office/drawing/2014/main" id="{372B8EA8-15BB-47AD-95B7-D15BECA61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2537" name="AutoShape 8">
            <a:extLst>
              <a:ext uri="{FF2B5EF4-FFF2-40B4-BE49-F238E27FC236}">
                <a16:creationId xmlns:a16="http://schemas.microsoft.com/office/drawing/2014/main" id="{97869F09-56AE-4068-A6D6-A16585FB1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024063"/>
            <a:ext cx="3533775" cy="384175"/>
          </a:xfrm>
          <a:prstGeom prst="wedgeRoundRectCallout">
            <a:avLst>
              <a:gd name="adj1" fmla="val -67880"/>
              <a:gd name="adj2" fmla="val 730579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/>
              <a:t>Executes factorial(0)</a:t>
            </a:r>
          </a:p>
        </p:txBody>
      </p:sp>
      <p:sp useBgFill="1">
        <p:nvSpPr>
          <p:cNvPr id="49161" name="Rectangle 19">
            <a:extLst>
              <a:ext uri="{FF2B5EF4-FFF2-40B4-BE49-F238E27FC236}">
                <a16:creationId xmlns:a16="http://schemas.microsoft.com/office/drawing/2014/main" id="{99EE7821-81E3-4971-984D-C94E33AE4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616450"/>
            <a:ext cx="2625725" cy="684213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49162" name="Rectangle 19">
            <a:extLst>
              <a:ext uri="{FF2B5EF4-FFF2-40B4-BE49-F238E27FC236}">
                <a16:creationId xmlns:a16="http://schemas.microsoft.com/office/drawing/2014/main" id="{B41EDBF7-9EAB-4AB6-B959-D52A94F31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300663"/>
            <a:ext cx="6624637" cy="72072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49163" name="Rectangle 19">
            <a:extLst>
              <a:ext uri="{FF2B5EF4-FFF2-40B4-BE49-F238E27FC236}">
                <a16:creationId xmlns:a16="http://schemas.microsoft.com/office/drawing/2014/main" id="{D7EAA733-E99D-4F72-8622-DA7292C7F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4583113"/>
            <a:ext cx="2625725" cy="37623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49164" name="Rectangle 19">
            <a:extLst>
              <a:ext uri="{FF2B5EF4-FFF2-40B4-BE49-F238E27FC236}">
                <a16:creationId xmlns:a16="http://schemas.microsoft.com/office/drawing/2014/main" id="{34C7D0D1-AC2A-4085-AE7A-49BD27B3F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" y="4113213"/>
            <a:ext cx="2800350" cy="37623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49165" name="Rectangle 19">
            <a:extLst>
              <a:ext uri="{FF2B5EF4-FFF2-40B4-BE49-F238E27FC236}">
                <a16:creationId xmlns:a16="http://schemas.microsoft.com/office/drawing/2014/main" id="{D723E9C3-01AE-474D-88D9-B33323EB6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4265613"/>
            <a:ext cx="2800350" cy="37623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49166" name="Rectangle 19">
            <a:extLst>
              <a:ext uri="{FF2B5EF4-FFF2-40B4-BE49-F238E27FC236}">
                <a16:creationId xmlns:a16="http://schemas.microsoft.com/office/drawing/2014/main" id="{5B954AA5-5418-4C48-B26C-183D5D6C1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188" y="3859213"/>
            <a:ext cx="1770062" cy="37623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49167" name="Rectangle 19">
            <a:extLst>
              <a:ext uri="{FF2B5EF4-FFF2-40B4-BE49-F238E27FC236}">
                <a16:creationId xmlns:a16="http://schemas.microsoft.com/office/drawing/2014/main" id="{AE2B10E8-D88D-4B84-B6DA-D82E28034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3213100"/>
            <a:ext cx="1771650" cy="376238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49168" name="Rectangle 19">
            <a:extLst>
              <a:ext uri="{FF2B5EF4-FFF2-40B4-BE49-F238E27FC236}">
                <a16:creationId xmlns:a16="http://schemas.microsoft.com/office/drawing/2014/main" id="{48B410DA-5EF9-4536-A336-D124A1908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0" y="3024188"/>
            <a:ext cx="1771650" cy="37623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49169" name="Rectangle 19">
            <a:extLst>
              <a:ext uri="{FF2B5EF4-FFF2-40B4-BE49-F238E27FC236}">
                <a16:creationId xmlns:a16="http://schemas.microsoft.com/office/drawing/2014/main" id="{359C6ACD-0ADB-4AE5-9DF2-55145F6B7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2565400"/>
            <a:ext cx="1784350" cy="376238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49170" name="Rectangle 19">
            <a:extLst>
              <a:ext uri="{FF2B5EF4-FFF2-40B4-BE49-F238E27FC236}">
                <a16:creationId xmlns:a16="http://schemas.microsoft.com/office/drawing/2014/main" id="{D4F094F8-74D0-45CB-9A6D-5B9BC4A1F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297113"/>
            <a:ext cx="1784350" cy="37465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49171" name="Object 2">
            <a:extLst>
              <a:ext uri="{FF2B5EF4-FFF2-40B4-BE49-F238E27FC236}">
                <a16:creationId xmlns:a16="http://schemas.microsoft.com/office/drawing/2014/main" id="{458AF27A-37FA-4851-9EB0-6CD3C65F73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10463" y="3810000"/>
          <a:ext cx="1139825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1068324" imgH="2208276" progId="Word.Picture.8">
                  <p:embed/>
                </p:oleObj>
              </mc:Choice>
              <mc:Fallback>
                <p:oleObj name="Picture" r:id="rId5" imgW="1068324" imgH="2208276" progId="Word.Picture.8">
                  <p:embed/>
                  <p:pic>
                    <p:nvPicPr>
                      <p:cNvPr id="49171" name="Object 2">
                        <a:extLst>
                          <a:ext uri="{FF2B5EF4-FFF2-40B4-BE49-F238E27FC236}">
                            <a16:creationId xmlns:a16="http://schemas.microsoft.com/office/drawing/2014/main" id="{458AF27A-37FA-4851-9EB0-6CD3C65F73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0463" y="3810000"/>
                        <a:ext cx="1139825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5895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1" name="Object 7">
            <a:extLst>
              <a:ext uri="{FF2B5EF4-FFF2-40B4-BE49-F238E27FC236}">
                <a16:creationId xmlns:a16="http://schemas.microsoft.com/office/drawing/2014/main" id="{E67F0D23-3C31-4782-BDE6-6E97CF5B33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950" y="1811338"/>
          <a:ext cx="6705600" cy="432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660648" imgH="2360676" progId="Word.Picture.8">
                  <p:embed/>
                </p:oleObj>
              </mc:Choice>
              <mc:Fallback>
                <p:oleObj name="Picture" r:id="rId3" imgW="3660648" imgH="2360676" progId="Word.Picture.8">
                  <p:embed/>
                  <p:pic>
                    <p:nvPicPr>
                      <p:cNvPr id="51201" name="Object 7">
                        <a:extLst>
                          <a:ext uri="{FF2B5EF4-FFF2-40B4-BE49-F238E27FC236}">
                            <a16:creationId xmlns:a16="http://schemas.microsoft.com/office/drawing/2014/main" id="{E67F0D23-3C31-4782-BDE6-6E97CF5B33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1811338"/>
                        <a:ext cx="6705600" cy="432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Rectangle 2">
            <a:extLst>
              <a:ext uri="{FF2B5EF4-FFF2-40B4-BE49-F238E27FC236}">
                <a16:creationId xmlns:a16="http://schemas.microsoft.com/office/drawing/2014/main" id="{A2732843-3A40-4222-96D4-D0C763461B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81050"/>
          </a:xfrm>
        </p:spPr>
        <p:txBody>
          <a:bodyPr/>
          <a:lstStyle/>
          <a:p>
            <a:pPr>
              <a:defRPr/>
            </a:pPr>
            <a:r>
              <a:rPr lang="en-US" altLang="en-US" sz="4000"/>
              <a:t>Trace Recursive factorial</a:t>
            </a:r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0D4C6EE4-126C-404F-A9DE-1DA62A8F5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79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3558" name="Rectangle 4">
            <a:extLst>
              <a:ext uri="{FF2B5EF4-FFF2-40B4-BE49-F238E27FC236}">
                <a16:creationId xmlns:a16="http://schemas.microsoft.com/office/drawing/2014/main" id="{89CE3631-A9B3-44B7-AD37-EC11934E8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3560" name="Rectangle 6">
            <a:extLst>
              <a:ext uri="{FF2B5EF4-FFF2-40B4-BE49-F238E27FC236}">
                <a16:creationId xmlns:a16="http://schemas.microsoft.com/office/drawing/2014/main" id="{E7FDAB65-1FA5-4E5C-B68E-0E2E85475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3561" name="AutoShape 8">
            <a:extLst>
              <a:ext uri="{FF2B5EF4-FFF2-40B4-BE49-F238E27FC236}">
                <a16:creationId xmlns:a16="http://schemas.microsoft.com/office/drawing/2014/main" id="{D7875447-3FD6-4D65-989B-19D5F3E9E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024063"/>
            <a:ext cx="3533775" cy="384175"/>
          </a:xfrm>
          <a:prstGeom prst="wedgeRoundRectCallout">
            <a:avLst>
              <a:gd name="adj1" fmla="val -66755"/>
              <a:gd name="adj2" fmla="val 900412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/>
              <a:t>returns 1</a:t>
            </a:r>
          </a:p>
        </p:txBody>
      </p:sp>
      <p:graphicFrame>
        <p:nvGraphicFramePr>
          <p:cNvPr id="51209" name="Object 9">
            <a:extLst>
              <a:ext uri="{FF2B5EF4-FFF2-40B4-BE49-F238E27FC236}">
                <a16:creationId xmlns:a16="http://schemas.microsoft.com/office/drawing/2014/main" id="{C89987F0-C133-4D00-B412-0CA99A5A45DA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7510463" y="3810000"/>
          <a:ext cx="1139825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1068324" imgH="2208276" progId="Word.Picture.8">
                  <p:embed/>
                </p:oleObj>
              </mc:Choice>
              <mc:Fallback>
                <p:oleObj name="Picture" r:id="rId5" imgW="1068324" imgH="2208276" progId="Word.Picture.8">
                  <p:embed/>
                  <p:pic>
                    <p:nvPicPr>
                      <p:cNvPr id="51209" name="Object 9">
                        <a:extLst>
                          <a:ext uri="{FF2B5EF4-FFF2-40B4-BE49-F238E27FC236}">
                            <a16:creationId xmlns:a16="http://schemas.microsoft.com/office/drawing/2014/main" id="{C89987F0-C133-4D00-B412-0CA99A5A45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0463" y="3810000"/>
                        <a:ext cx="1139825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0" name="Rectangle 13">
            <a:extLst>
              <a:ext uri="{FF2B5EF4-FFF2-40B4-BE49-F238E27FC236}">
                <a16:creationId xmlns:a16="http://schemas.microsoft.com/office/drawing/2014/main" id="{A9A9896B-A544-4344-9718-ADA2B8C2B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263" y="3033713"/>
            <a:ext cx="144462" cy="395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1211" name="Rectangle 22">
            <a:extLst>
              <a:ext uri="{FF2B5EF4-FFF2-40B4-BE49-F238E27FC236}">
                <a16:creationId xmlns:a16="http://schemas.microsoft.com/office/drawing/2014/main" id="{DAF62548-E0DC-4A6A-ACF4-411C6AD8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5300663"/>
            <a:ext cx="2625725" cy="627062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1212" name="Rectangle 22">
            <a:extLst>
              <a:ext uri="{FF2B5EF4-FFF2-40B4-BE49-F238E27FC236}">
                <a16:creationId xmlns:a16="http://schemas.microsoft.com/office/drawing/2014/main" id="{EE3964F7-FC92-4DAD-833F-B5D464AA8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656138"/>
            <a:ext cx="2625725" cy="627062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1213" name="Rectangle 22">
            <a:extLst>
              <a:ext uri="{FF2B5EF4-FFF2-40B4-BE49-F238E27FC236}">
                <a16:creationId xmlns:a16="http://schemas.microsoft.com/office/drawing/2014/main" id="{3107E426-9D85-4373-8E1A-ED37CB89B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537075"/>
            <a:ext cx="1617662" cy="26035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1214" name="Rectangle 23">
            <a:extLst>
              <a:ext uri="{FF2B5EF4-FFF2-40B4-BE49-F238E27FC236}">
                <a16:creationId xmlns:a16="http://schemas.microsoft.com/office/drawing/2014/main" id="{8F6A1768-1077-437B-ACE8-EA82632FD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3897313"/>
            <a:ext cx="1727200" cy="53975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1215" name="Rectangle 24">
            <a:extLst>
              <a:ext uri="{FF2B5EF4-FFF2-40B4-BE49-F238E27FC236}">
                <a16:creationId xmlns:a16="http://schemas.microsoft.com/office/drawing/2014/main" id="{401714C7-99CA-42CB-A981-38B687D68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789363"/>
            <a:ext cx="1597025" cy="3937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1216" name="Rectangle 25">
            <a:extLst>
              <a:ext uri="{FF2B5EF4-FFF2-40B4-BE49-F238E27FC236}">
                <a16:creationId xmlns:a16="http://schemas.microsoft.com/office/drawing/2014/main" id="{B573B9E2-E465-4597-963D-3EACA0D13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141663"/>
            <a:ext cx="1765300" cy="46672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1217" name="Rectangle 26">
            <a:extLst>
              <a:ext uri="{FF2B5EF4-FFF2-40B4-BE49-F238E27FC236}">
                <a16:creationId xmlns:a16="http://schemas.microsoft.com/office/drawing/2014/main" id="{3B323459-4322-4E92-9580-47D18CF09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2408238"/>
            <a:ext cx="1908175" cy="544512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1218" name="Rectangle 27">
            <a:extLst>
              <a:ext uri="{FF2B5EF4-FFF2-40B4-BE49-F238E27FC236}">
                <a16:creationId xmlns:a16="http://schemas.microsoft.com/office/drawing/2014/main" id="{4E991475-952C-4132-A4E8-FFA657B21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825" y="2312988"/>
            <a:ext cx="1762125" cy="26987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1219" name="Rectangle 28">
            <a:extLst>
              <a:ext uri="{FF2B5EF4-FFF2-40B4-BE49-F238E27FC236}">
                <a16:creationId xmlns:a16="http://schemas.microsoft.com/office/drawing/2014/main" id="{C30A3AF2-43DB-4741-8A36-BACC780DB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3033713"/>
            <a:ext cx="1762125" cy="39528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1150835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49" name="Object 7">
            <a:extLst>
              <a:ext uri="{FF2B5EF4-FFF2-40B4-BE49-F238E27FC236}">
                <a16:creationId xmlns:a16="http://schemas.microsoft.com/office/drawing/2014/main" id="{E92F66D4-BC2F-48AD-9C13-895B7605AA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950" y="1811338"/>
          <a:ext cx="6705600" cy="432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660648" imgH="2360676" progId="Word.Picture.8">
                  <p:embed/>
                </p:oleObj>
              </mc:Choice>
              <mc:Fallback>
                <p:oleObj name="Picture" r:id="rId3" imgW="3660648" imgH="2360676" progId="Word.Picture.8">
                  <p:embed/>
                  <p:pic>
                    <p:nvPicPr>
                      <p:cNvPr id="53249" name="Object 7">
                        <a:extLst>
                          <a:ext uri="{FF2B5EF4-FFF2-40B4-BE49-F238E27FC236}">
                            <a16:creationId xmlns:a16="http://schemas.microsoft.com/office/drawing/2014/main" id="{E92F66D4-BC2F-48AD-9C13-895B7605AA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1811338"/>
                        <a:ext cx="6705600" cy="432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Rectangle 2">
            <a:extLst>
              <a:ext uri="{FF2B5EF4-FFF2-40B4-BE49-F238E27FC236}">
                <a16:creationId xmlns:a16="http://schemas.microsoft.com/office/drawing/2014/main" id="{69107B2D-3F7A-45CC-B821-785B765BAD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81050"/>
          </a:xfrm>
        </p:spPr>
        <p:txBody>
          <a:bodyPr/>
          <a:lstStyle/>
          <a:p>
            <a:pPr>
              <a:defRPr/>
            </a:pPr>
            <a:r>
              <a:rPr lang="en-US" altLang="en-US" sz="4000"/>
              <a:t>Trace Recursive factorial</a:t>
            </a:r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08607C84-2F5F-4E0B-9274-9DA445A1E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79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4582" name="Rectangle 4">
            <a:extLst>
              <a:ext uri="{FF2B5EF4-FFF2-40B4-BE49-F238E27FC236}">
                <a16:creationId xmlns:a16="http://schemas.microsoft.com/office/drawing/2014/main" id="{B617C3D4-7171-464A-AF16-65D8B66D1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4584" name="Rectangle 6">
            <a:extLst>
              <a:ext uri="{FF2B5EF4-FFF2-40B4-BE49-F238E27FC236}">
                <a16:creationId xmlns:a16="http://schemas.microsoft.com/office/drawing/2014/main" id="{A82DEE2E-A75E-4B5F-9A19-460922120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4585" name="AutoShape 8">
            <a:extLst>
              <a:ext uri="{FF2B5EF4-FFF2-40B4-BE49-F238E27FC236}">
                <a16:creationId xmlns:a16="http://schemas.microsoft.com/office/drawing/2014/main" id="{EAAF966C-C6DC-4D27-A08C-BE8A52222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024063"/>
            <a:ext cx="3533775" cy="384175"/>
          </a:xfrm>
          <a:prstGeom prst="wedgeRoundRectCallout">
            <a:avLst>
              <a:gd name="adj1" fmla="val -105856"/>
              <a:gd name="adj2" fmla="val 839588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/>
              <a:t>returns factorial(0)</a:t>
            </a:r>
          </a:p>
        </p:txBody>
      </p:sp>
      <p:sp>
        <p:nvSpPr>
          <p:cNvPr id="53257" name="Rectangle 13">
            <a:extLst>
              <a:ext uri="{FF2B5EF4-FFF2-40B4-BE49-F238E27FC236}">
                <a16:creationId xmlns:a16="http://schemas.microsoft.com/office/drawing/2014/main" id="{4BED004D-DBE4-4AB9-BDE6-5F62D4A00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263" y="3033713"/>
            <a:ext cx="144462" cy="395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3258" name="Rectangle 22">
            <a:extLst>
              <a:ext uri="{FF2B5EF4-FFF2-40B4-BE49-F238E27FC236}">
                <a16:creationId xmlns:a16="http://schemas.microsoft.com/office/drawing/2014/main" id="{60B32A12-7FB0-4888-A180-36DB3C5AD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656138"/>
            <a:ext cx="2625725" cy="627062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3259" name="Rectangle 22">
            <a:extLst>
              <a:ext uri="{FF2B5EF4-FFF2-40B4-BE49-F238E27FC236}">
                <a16:creationId xmlns:a16="http://schemas.microsoft.com/office/drawing/2014/main" id="{B28FC3D3-61C9-4CA0-B387-A2E8F5955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537075"/>
            <a:ext cx="1617662" cy="26035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3260" name="Rectangle 23">
            <a:extLst>
              <a:ext uri="{FF2B5EF4-FFF2-40B4-BE49-F238E27FC236}">
                <a16:creationId xmlns:a16="http://schemas.microsoft.com/office/drawing/2014/main" id="{9C263F2E-5E3B-4B43-AE3B-39B740B0C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3897313"/>
            <a:ext cx="1727200" cy="53975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3261" name="Rectangle 24">
            <a:extLst>
              <a:ext uri="{FF2B5EF4-FFF2-40B4-BE49-F238E27FC236}">
                <a16:creationId xmlns:a16="http://schemas.microsoft.com/office/drawing/2014/main" id="{1AB0DB86-1225-4861-8329-A03C770A3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789363"/>
            <a:ext cx="1597025" cy="3937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3262" name="Rectangle 25">
            <a:extLst>
              <a:ext uri="{FF2B5EF4-FFF2-40B4-BE49-F238E27FC236}">
                <a16:creationId xmlns:a16="http://schemas.microsoft.com/office/drawing/2014/main" id="{E29078C5-F8F1-40A7-B62D-F90633C3D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141663"/>
            <a:ext cx="1765300" cy="46672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3263" name="Rectangle 26">
            <a:extLst>
              <a:ext uri="{FF2B5EF4-FFF2-40B4-BE49-F238E27FC236}">
                <a16:creationId xmlns:a16="http://schemas.microsoft.com/office/drawing/2014/main" id="{186200A4-539D-42BE-99CE-51D12E898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2408238"/>
            <a:ext cx="1908175" cy="544512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3264" name="Rectangle 27">
            <a:extLst>
              <a:ext uri="{FF2B5EF4-FFF2-40B4-BE49-F238E27FC236}">
                <a16:creationId xmlns:a16="http://schemas.microsoft.com/office/drawing/2014/main" id="{08D193C9-12B7-4BA4-BA71-F65C500C2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825" y="2312988"/>
            <a:ext cx="1762125" cy="26987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3265" name="Rectangle 28">
            <a:extLst>
              <a:ext uri="{FF2B5EF4-FFF2-40B4-BE49-F238E27FC236}">
                <a16:creationId xmlns:a16="http://schemas.microsoft.com/office/drawing/2014/main" id="{C7434C71-274B-4990-8280-BAA3B85B2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3033713"/>
            <a:ext cx="1762125" cy="39528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53266" name="Object 2">
            <a:extLst>
              <a:ext uri="{FF2B5EF4-FFF2-40B4-BE49-F238E27FC236}">
                <a16:creationId xmlns:a16="http://schemas.microsoft.com/office/drawing/2014/main" id="{5F141114-F707-4B32-A2C4-35574332BA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10463" y="3810000"/>
          <a:ext cx="1139825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1068324" imgH="2208276" progId="Word.Picture.8">
                  <p:embed/>
                </p:oleObj>
              </mc:Choice>
              <mc:Fallback>
                <p:oleObj name="Picture" r:id="rId5" imgW="1068324" imgH="2208276" progId="Word.Picture.8">
                  <p:embed/>
                  <p:pic>
                    <p:nvPicPr>
                      <p:cNvPr id="53266" name="Object 2">
                        <a:extLst>
                          <a:ext uri="{FF2B5EF4-FFF2-40B4-BE49-F238E27FC236}">
                            <a16:creationId xmlns:a16="http://schemas.microsoft.com/office/drawing/2014/main" id="{5F141114-F707-4B32-A2C4-35574332BA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0463" y="3810000"/>
                        <a:ext cx="1139825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87086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297" name="Object 7">
            <a:extLst>
              <a:ext uri="{FF2B5EF4-FFF2-40B4-BE49-F238E27FC236}">
                <a16:creationId xmlns:a16="http://schemas.microsoft.com/office/drawing/2014/main" id="{067B6D43-4AA2-46A2-AED2-92F48E9828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950" y="1811338"/>
          <a:ext cx="6705600" cy="432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660648" imgH="2360676" progId="Word.Picture.8">
                  <p:embed/>
                </p:oleObj>
              </mc:Choice>
              <mc:Fallback>
                <p:oleObj name="Picture" r:id="rId3" imgW="3660648" imgH="2360676" progId="Word.Picture.8">
                  <p:embed/>
                  <p:pic>
                    <p:nvPicPr>
                      <p:cNvPr id="55297" name="Object 7">
                        <a:extLst>
                          <a:ext uri="{FF2B5EF4-FFF2-40B4-BE49-F238E27FC236}">
                            <a16:creationId xmlns:a16="http://schemas.microsoft.com/office/drawing/2014/main" id="{067B6D43-4AA2-46A2-AED2-92F48E9828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1811338"/>
                        <a:ext cx="6705600" cy="432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Rectangle 2">
            <a:extLst>
              <a:ext uri="{FF2B5EF4-FFF2-40B4-BE49-F238E27FC236}">
                <a16:creationId xmlns:a16="http://schemas.microsoft.com/office/drawing/2014/main" id="{840F6F9D-A7C1-4EEA-800A-F7851CF0D1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81050"/>
          </a:xfrm>
        </p:spPr>
        <p:txBody>
          <a:bodyPr/>
          <a:lstStyle/>
          <a:p>
            <a:pPr>
              <a:defRPr/>
            </a:pPr>
            <a:r>
              <a:rPr lang="en-US" altLang="en-US" sz="4000"/>
              <a:t>Trace Recursive factorial</a:t>
            </a: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1DB6E884-46B1-4B68-BD7B-9CE077A17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79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5606" name="Rectangle 4">
            <a:extLst>
              <a:ext uri="{FF2B5EF4-FFF2-40B4-BE49-F238E27FC236}">
                <a16:creationId xmlns:a16="http://schemas.microsoft.com/office/drawing/2014/main" id="{BD0A39F9-F668-4755-9722-F30EB274D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5608" name="Rectangle 6">
            <a:extLst>
              <a:ext uri="{FF2B5EF4-FFF2-40B4-BE49-F238E27FC236}">
                <a16:creationId xmlns:a16="http://schemas.microsoft.com/office/drawing/2014/main" id="{BEDF9836-6CFD-4565-A7D6-12534CC8C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5609" name="AutoShape 8">
            <a:extLst>
              <a:ext uri="{FF2B5EF4-FFF2-40B4-BE49-F238E27FC236}">
                <a16:creationId xmlns:a16="http://schemas.microsoft.com/office/drawing/2014/main" id="{B9EB3F30-9105-463B-B6F4-74C538D59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024063"/>
            <a:ext cx="3533775" cy="384175"/>
          </a:xfrm>
          <a:prstGeom prst="wedgeRoundRectCallout">
            <a:avLst>
              <a:gd name="adj1" fmla="val -125407"/>
              <a:gd name="adj2" fmla="val 662398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/>
              <a:t>returns factorial(1)</a:t>
            </a:r>
          </a:p>
        </p:txBody>
      </p:sp>
      <p:sp>
        <p:nvSpPr>
          <p:cNvPr id="55305" name="Rectangle 13">
            <a:extLst>
              <a:ext uri="{FF2B5EF4-FFF2-40B4-BE49-F238E27FC236}">
                <a16:creationId xmlns:a16="http://schemas.microsoft.com/office/drawing/2014/main" id="{D86EBC8B-4C05-4FD1-AAEF-469CD35B3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263" y="3033713"/>
            <a:ext cx="144462" cy="395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5306" name="Rectangle 23">
            <a:extLst>
              <a:ext uri="{FF2B5EF4-FFF2-40B4-BE49-F238E27FC236}">
                <a16:creationId xmlns:a16="http://schemas.microsoft.com/office/drawing/2014/main" id="{97EAD20F-6720-4D59-901D-FC4F41647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3897313"/>
            <a:ext cx="1727200" cy="53975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5307" name="Rectangle 24">
            <a:extLst>
              <a:ext uri="{FF2B5EF4-FFF2-40B4-BE49-F238E27FC236}">
                <a16:creationId xmlns:a16="http://schemas.microsoft.com/office/drawing/2014/main" id="{2545E098-6B69-48E3-B875-1FB9D01A0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789363"/>
            <a:ext cx="1597025" cy="3937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5308" name="Rectangle 25">
            <a:extLst>
              <a:ext uri="{FF2B5EF4-FFF2-40B4-BE49-F238E27FC236}">
                <a16:creationId xmlns:a16="http://schemas.microsoft.com/office/drawing/2014/main" id="{FCCFE348-60B9-4127-8CB0-E64E57A4E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141663"/>
            <a:ext cx="1765300" cy="46672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5309" name="Rectangle 26">
            <a:extLst>
              <a:ext uri="{FF2B5EF4-FFF2-40B4-BE49-F238E27FC236}">
                <a16:creationId xmlns:a16="http://schemas.microsoft.com/office/drawing/2014/main" id="{CB0FD4F9-35EE-4845-B3E0-9284B69B7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2408238"/>
            <a:ext cx="1908175" cy="544512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5310" name="Rectangle 27">
            <a:extLst>
              <a:ext uri="{FF2B5EF4-FFF2-40B4-BE49-F238E27FC236}">
                <a16:creationId xmlns:a16="http://schemas.microsoft.com/office/drawing/2014/main" id="{EBC8258B-8341-45DA-82A7-E5E1ABC4E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825" y="2312988"/>
            <a:ext cx="1762125" cy="26987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5311" name="Rectangle 28">
            <a:extLst>
              <a:ext uri="{FF2B5EF4-FFF2-40B4-BE49-F238E27FC236}">
                <a16:creationId xmlns:a16="http://schemas.microsoft.com/office/drawing/2014/main" id="{58B25A1C-F65B-4586-8D93-2F25A4914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3033713"/>
            <a:ext cx="1762125" cy="39528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55312" name="Object 1">
            <a:extLst>
              <a:ext uri="{FF2B5EF4-FFF2-40B4-BE49-F238E27FC236}">
                <a16:creationId xmlns:a16="http://schemas.microsoft.com/office/drawing/2014/main" id="{BE94165B-C7DB-476B-BDE8-9283186B2A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32700" y="3984625"/>
          <a:ext cx="1139825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1068324" imgH="2208276" progId="Word.Picture.8">
                  <p:embed/>
                </p:oleObj>
              </mc:Choice>
              <mc:Fallback>
                <p:oleObj name="Picture" r:id="rId5" imgW="1068324" imgH="2208276" progId="Word.Picture.8">
                  <p:embed/>
                  <p:pic>
                    <p:nvPicPr>
                      <p:cNvPr id="55312" name="Object 1">
                        <a:extLst>
                          <a:ext uri="{FF2B5EF4-FFF2-40B4-BE49-F238E27FC236}">
                            <a16:creationId xmlns:a16="http://schemas.microsoft.com/office/drawing/2014/main" id="{BE94165B-C7DB-476B-BDE8-9283186B2A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0" y="3984625"/>
                        <a:ext cx="1139825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95031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5" name="Object 7">
            <a:extLst>
              <a:ext uri="{FF2B5EF4-FFF2-40B4-BE49-F238E27FC236}">
                <a16:creationId xmlns:a16="http://schemas.microsoft.com/office/drawing/2014/main" id="{2BB4B19A-8E62-448E-A012-C55695C761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950" y="1811338"/>
          <a:ext cx="6705600" cy="432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660648" imgH="2360676" progId="Word.Picture.8">
                  <p:embed/>
                </p:oleObj>
              </mc:Choice>
              <mc:Fallback>
                <p:oleObj name="Picture" r:id="rId3" imgW="3660648" imgH="2360676" progId="Word.Picture.8">
                  <p:embed/>
                  <p:pic>
                    <p:nvPicPr>
                      <p:cNvPr id="57345" name="Object 7">
                        <a:extLst>
                          <a:ext uri="{FF2B5EF4-FFF2-40B4-BE49-F238E27FC236}">
                            <a16:creationId xmlns:a16="http://schemas.microsoft.com/office/drawing/2014/main" id="{2BB4B19A-8E62-448E-A012-C55695C761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1811338"/>
                        <a:ext cx="6705600" cy="432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Rectangle 2">
            <a:extLst>
              <a:ext uri="{FF2B5EF4-FFF2-40B4-BE49-F238E27FC236}">
                <a16:creationId xmlns:a16="http://schemas.microsoft.com/office/drawing/2014/main" id="{3E5A5A75-7DC9-4DC9-85C0-D41CF57F6D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81050"/>
          </a:xfrm>
        </p:spPr>
        <p:txBody>
          <a:bodyPr/>
          <a:lstStyle/>
          <a:p>
            <a:pPr>
              <a:defRPr/>
            </a:pPr>
            <a:r>
              <a:rPr lang="en-US" altLang="en-US" sz="4000"/>
              <a:t>Trace Recursive factorial</a:t>
            </a: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58DD209B-4FA7-4254-AA59-E7CD567A1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79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6630" name="Rectangle 4">
            <a:extLst>
              <a:ext uri="{FF2B5EF4-FFF2-40B4-BE49-F238E27FC236}">
                <a16:creationId xmlns:a16="http://schemas.microsoft.com/office/drawing/2014/main" id="{EE55A9DE-5745-4C2D-8322-22772E6E4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6632" name="Rectangle 6">
            <a:extLst>
              <a:ext uri="{FF2B5EF4-FFF2-40B4-BE49-F238E27FC236}">
                <a16:creationId xmlns:a16="http://schemas.microsoft.com/office/drawing/2014/main" id="{DDF3A3EA-2070-4B34-9080-C25AF616B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6633" name="AutoShape 8">
            <a:extLst>
              <a:ext uri="{FF2B5EF4-FFF2-40B4-BE49-F238E27FC236}">
                <a16:creationId xmlns:a16="http://schemas.microsoft.com/office/drawing/2014/main" id="{909B04A3-5E44-485C-958A-5FB3472C5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024063"/>
            <a:ext cx="3533775" cy="384175"/>
          </a:xfrm>
          <a:prstGeom prst="wedgeRoundRectCallout">
            <a:avLst>
              <a:gd name="adj1" fmla="val -137194"/>
              <a:gd name="adj2" fmla="val 474625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/>
              <a:t>returns factorial(2)</a:t>
            </a:r>
          </a:p>
        </p:txBody>
      </p:sp>
      <p:sp>
        <p:nvSpPr>
          <p:cNvPr id="57353" name="Rectangle 13">
            <a:extLst>
              <a:ext uri="{FF2B5EF4-FFF2-40B4-BE49-F238E27FC236}">
                <a16:creationId xmlns:a16="http://schemas.microsoft.com/office/drawing/2014/main" id="{5CCFF01E-D381-4A50-8EDF-995BE5929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263" y="3033713"/>
            <a:ext cx="144462" cy="395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7354" name="Rectangle 25">
            <a:extLst>
              <a:ext uri="{FF2B5EF4-FFF2-40B4-BE49-F238E27FC236}">
                <a16:creationId xmlns:a16="http://schemas.microsoft.com/office/drawing/2014/main" id="{8DD19E81-0075-4D31-ABE0-89442BB03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141663"/>
            <a:ext cx="1765300" cy="46672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7355" name="Rectangle 26">
            <a:extLst>
              <a:ext uri="{FF2B5EF4-FFF2-40B4-BE49-F238E27FC236}">
                <a16:creationId xmlns:a16="http://schemas.microsoft.com/office/drawing/2014/main" id="{DA1375C4-7B26-4ECE-A234-DEF29C4B7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2408238"/>
            <a:ext cx="1908175" cy="544512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7356" name="Rectangle 27">
            <a:extLst>
              <a:ext uri="{FF2B5EF4-FFF2-40B4-BE49-F238E27FC236}">
                <a16:creationId xmlns:a16="http://schemas.microsoft.com/office/drawing/2014/main" id="{0902F369-D1EB-4C93-A63E-1F403194D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825" y="2312988"/>
            <a:ext cx="1762125" cy="26987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7357" name="Rectangle 28">
            <a:extLst>
              <a:ext uri="{FF2B5EF4-FFF2-40B4-BE49-F238E27FC236}">
                <a16:creationId xmlns:a16="http://schemas.microsoft.com/office/drawing/2014/main" id="{724901E8-3FC9-407E-87AA-64F2F557A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3033713"/>
            <a:ext cx="1762125" cy="39528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57358" name="Object 1">
            <a:extLst>
              <a:ext uri="{FF2B5EF4-FFF2-40B4-BE49-F238E27FC236}">
                <a16:creationId xmlns:a16="http://schemas.microsoft.com/office/drawing/2014/main" id="{A4F0DE1A-C596-416D-96A9-00C2CBD685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16800" y="3933825"/>
          <a:ext cx="1139825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1068324" imgH="2208276" progId="Word.Picture.8">
                  <p:embed/>
                </p:oleObj>
              </mc:Choice>
              <mc:Fallback>
                <p:oleObj name="Picture" r:id="rId5" imgW="1068324" imgH="2208276" progId="Word.Picture.8">
                  <p:embed/>
                  <p:pic>
                    <p:nvPicPr>
                      <p:cNvPr id="57358" name="Object 1">
                        <a:extLst>
                          <a:ext uri="{FF2B5EF4-FFF2-40B4-BE49-F238E27FC236}">
                            <a16:creationId xmlns:a16="http://schemas.microsoft.com/office/drawing/2014/main" id="{A4F0DE1A-C596-416D-96A9-00C2CBD685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800" y="3933825"/>
                        <a:ext cx="1139825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96342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393" name="Object 7">
            <a:extLst>
              <a:ext uri="{FF2B5EF4-FFF2-40B4-BE49-F238E27FC236}">
                <a16:creationId xmlns:a16="http://schemas.microsoft.com/office/drawing/2014/main" id="{1F6906DA-4749-4F9A-B71D-2438A5B1CF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950" y="1811338"/>
          <a:ext cx="6705600" cy="432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660648" imgH="2360676" progId="Word.Picture.8">
                  <p:embed/>
                </p:oleObj>
              </mc:Choice>
              <mc:Fallback>
                <p:oleObj name="Picture" r:id="rId3" imgW="3660648" imgH="2360676" progId="Word.Picture.8">
                  <p:embed/>
                  <p:pic>
                    <p:nvPicPr>
                      <p:cNvPr id="59393" name="Object 7">
                        <a:extLst>
                          <a:ext uri="{FF2B5EF4-FFF2-40B4-BE49-F238E27FC236}">
                            <a16:creationId xmlns:a16="http://schemas.microsoft.com/office/drawing/2014/main" id="{1F6906DA-4749-4F9A-B71D-2438A5B1CF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1811338"/>
                        <a:ext cx="6705600" cy="432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Rectangle 2">
            <a:extLst>
              <a:ext uri="{FF2B5EF4-FFF2-40B4-BE49-F238E27FC236}">
                <a16:creationId xmlns:a16="http://schemas.microsoft.com/office/drawing/2014/main" id="{9DCA883C-C07B-4EBF-97F1-00BF2D9413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81050"/>
          </a:xfrm>
        </p:spPr>
        <p:txBody>
          <a:bodyPr/>
          <a:lstStyle/>
          <a:p>
            <a:pPr>
              <a:defRPr/>
            </a:pPr>
            <a:r>
              <a:rPr lang="en-US" altLang="en-US" sz="4000"/>
              <a:t>Trace Recursive factorial</a:t>
            </a: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5F13D416-4A2F-4145-A2D9-69F03C275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79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7654" name="Rectangle 4">
            <a:extLst>
              <a:ext uri="{FF2B5EF4-FFF2-40B4-BE49-F238E27FC236}">
                <a16:creationId xmlns:a16="http://schemas.microsoft.com/office/drawing/2014/main" id="{FA3CED61-DA28-48F0-A4AE-8D5994F7E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7656" name="Rectangle 6">
            <a:extLst>
              <a:ext uri="{FF2B5EF4-FFF2-40B4-BE49-F238E27FC236}">
                <a16:creationId xmlns:a16="http://schemas.microsoft.com/office/drawing/2014/main" id="{711F69F4-9CF6-45BB-8EC7-9128B36AF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7657" name="AutoShape 8">
            <a:extLst>
              <a:ext uri="{FF2B5EF4-FFF2-40B4-BE49-F238E27FC236}">
                <a16:creationId xmlns:a16="http://schemas.microsoft.com/office/drawing/2014/main" id="{444E0D31-5F03-4E4B-A954-C77888F85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024063"/>
            <a:ext cx="3533775" cy="384175"/>
          </a:xfrm>
          <a:prstGeom prst="wedgeRoundRectCallout">
            <a:avLst>
              <a:gd name="adj1" fmla="val -148986"/>
              <a:gd name="adj2" fmla="val 260412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/>
              <a:t>returns factorial(3)</a:t>
            </a:r>
          </a:p>
        </p:txBody>
      </p:sp>
      <p:sp>
        <p:nvSpPr>
          <p:cNvPr id="59401" name="Rectangle 13">
            <a:extLst>
              <a:ext uri="{FF2B5EF4-FFF2-40B4-BE49-F238E27FC236}">
                <a16:creationId xmlns:a16="http://schemas.microsoft.com/office/drawing/2014/main" id="{EE1223B7-DC4F-4FA9-B423-31DA6071D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263" y="3033713"/>
            <a:ext cx="144462" cy="395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9402" name="Rectangle 26">
            <a:extLst>
              <a:ext uri="{FF2B5EF4-FFF2-40B4-BE49-F238E27FC236}">
                <a16:creationId xmlns:a16="http://schemas.microsoft.com/office/drawing/2014/main" id="{79DAAA52-0AAE-4509-A7A3-11FE2C033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2408238"/>
            <a:ext cx="1908175" cy="544512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 useBgFill="1">
        <p:nvSpPr>
          <p:cNvPr id="59403" name="Rectangle 27">
            <a:extLst>
              <a:ext uri="{FF2B5EF4-FFF2-40B4-BE49-F238E27FC236}">
                <a16:creationId xmlns:a16="http://schemas.microsoft.com/office/drawing/2014/main" id="{3362C38A-1A15-42AA-A851-68C60B98B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825" y="2312988"/>
            <a:ext cx="1762125" cy="26987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59404" name="Object 1">
            <a:extLst>
              <a:ext uri="{FF2B5EF4-FFF2-40B4-BE49-F238E27FC236}">
                <a16:creationId xmlns:a16="http://schemas.microsoft.com/office/drawing/2014/main" id="{6DA7D4B2-8329-4D0F-A653-C606747506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4750" y="3968750"/>
          <a:ext cx="1139825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1068324" imgH="2208276" progId="Word.Picture.8">
                  <p:embed/>
                </p:oleObj>
              </mc:Choice>
              <mc:Fallback>
                <p:oleObj name="Picture" r:id="rId5" imgW="1068324" imgH="2208276" progId="Word.Picture.8">
                  <p:embed/>
                  <p:pic>
                    <p:nvPicPr>
                      <p:cNvPr id="59404" name="Object 1">
                        <a:extLst>
                          <a:ext uri="{FF2B5EF4-FFF2-40B4-BE49-F238E27FC236}">
                            <a16:creationId xmlns:a16="http://schemas.microsoft.com/office/drawing/2014/main" id="{6DA7D4B2-8329-4D0F-A653-C606747506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3968750"/>
                        <a:ext cx="1139825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29387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1" name="Object 7">
            <a:extLst>
              <a:ext uri="{FF2B5EF4-FFF2-40B4-BE49-F238E27FC236}">
                <a16:creationId xmlns:a16="http://schemas.microsoft.com/office/drawing/2014/main" id="{BD2CF1A2-BF75-4AC2-BB9E-341FA43A13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950" y="1811338"/>
          <a:ext cx="6705600" cy="432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660648" imgH="2360676" progId="Word.Picture.8">
                  <p:embed/>
                </p:oleObj>
              </mc:Choice>
              <mc:Fallback>
                <p:oleObj name="Picture" r:id="rId3" imgW="3660648" imgH="2360676" progId="Word.Picture.8">
                  <p:embed/>
                  <p:pic>
                    <p:nvPicPr>
                      <p:cNvPr id="61441" name="Object 7">
                        <a:extLst>
                          <a:ext uri="{FF2B5EF4-FFF2-40B4-BE49-F238E27FC236}">
                            <a16:creationId xmlns:a16="http://schemas.microsoft.com/office/drawing/2014/main" id="{BD2CF1A2-BF75-4AC2-BB9E-341FA43A13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1811338"/>
                        <a:ext cx="6705600" cy="432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Rectangle 2">
            <a:extLst>
              <a:ext uri="{FF2B5EF4-FFF2-40B4-BE49-F238E27FC236}">
                <a16:creationId xmlns:a16="http://schemas.microsoft.com/office/drawing/2014/main" id="{3B4EB2C7-2064-4A72-B4DD-F7FAA54490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81050"/>
          </a:xfrm>
        </p:spPr>
        <p:txBody>
          <a:bodyPr/>
          <a:lstStyle/>
          <a:p>
            <a:pPr>
              <a:defRPr/>
            </a:pPr>
            <a:r>
              <a:rPr lang="en-US" altLang="en-US" sz="4000"/>
              <a:t>Trace Recursive factorial</a:t>
            </a:r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E4C2C0A2-EFBC-4C7D-A59E-4273FB12C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79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8678" name="Rectangle 4">
            <a:extLst>
              <a:ext uri="{FF2B5EF4-FFF2-40B4-BE49-F238E27FC236}">
                <a16:creationId xmlns:a16="http://schemas.microsoft.com/office/drawing/2014/main" id="{D6672299-8B5D-4FF3-8221-0A097AC27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8680" name="Rectangle 6">
            <a:extLst>
              <a:ext uri="{FF2B5EF4-FFF2-40B4-BE49-F238E27FC236}">
                <a16:creationId xmlns:a16="http://schemas.microsoft.com/office/drawing/2014/main" id="{A84B6D76-A11B-4B8F-B182-89C7A1C05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8681" name="AutoShape 8">
            <a:extLst>
              <a:ext uri="{FF2B5EF4-FFF2-40B4-BE49-F238E27FC236}">
                <a16:creationId xmlns:a16="http://schemas.microsoft.com/office/drawing/2014/main" id="{360898E7-2DEF-4BF3-833B-9D5E83648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450" y="1457325"/>
            <a:ext cx="3533775" cy="384175"/>
          </a:xfrm>
          <a:prstGeom prst="wedgeRoundRectCallout">
            <a:avLst>
              <a:gd name="adj1" fmla="val -158759"/>
              <a:gd name="adj2" fmla="val 223389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/>
              <a:t>returns factorial(4)</a:t>
            </a:r>
          </a:p>
        </p:txBody>
      </p:sp>
      <p:sp>
        <p:nvSpPr>
          <p:cNvPr id="61449" name="Rectangle 13">
            <a:extLst>
              <a:ext uri="{FF2B5EF4-FFF2-40B4-BE49-F238E27FC236}">
                <a16:creationId xmlns:a16="http://schemas.microsoft.com/office/drawing/2014/main" id="{CA52B8D5-7186-417D-8F1B-CFF409A20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263" y="3033713"/>
            <a:ext cx="144462" cy="395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61450" name="Object 1">
            <a:extLst>
              <a:ext uri="{FF2B5EF4-FFF2-40B4-BE49-F238E27FC236}">
                <a16:creationId xmlns:a16="http://schemas.microsoft.com/office/drawing/2014/main" id="{90C64BED-427D-4068-81FE-C210BAA995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4750" y="3860800"/>
          <a:ext cx="1139825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1068324" imgH="2208276" progId="Word.Picture.8">
                  <p:embed/>
                </p:oleObj>
              </mc:Choice>
              <mc:Fallback>
                <p:oleObj name="Picture" r:id="rId5" imgW="1068324" imgH="2208276" progId="Word.Picture.8">
                  <p:embed/>
                  <p:pic>
                    <p:nvPicPr>
                      <p:cNvPr id="61450" name="Object 1">
                        <a:extLst>
                          <a:ext uri="{FF2B5EF4-FFF2-40B4-BE49-F238E27FC236}">
                            <a16:creationId xmlns:a16="http://schemas.microsoft.com/office/drawing/2014/main" id="{90C64BED-427D-4068-81FE-C210BAA995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3860800"/>
                        <a:ext cx="1139825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91182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>
            <a:extLst>
              <a:ext uri="{FF2B5EF4-FFF2-40B4-BE49-F238E27FC236}">
                <a16:creationId xmlns:a16="http://schemas.microsoft.com/office/drawing/2014/main" id="{3EDBE290-7984-46FE-B38B-E1640474C9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33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4000"/>
              <a:t>factorial(4) Stack Trace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5617C63-0B13-4A02-9BE4-0F155C456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79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29701" name="Rectangle 4">
            <a:extLst>
              <a:ext uri="{FF2B5EF4-FFF2-40B4-BE49-F238E27FC236}">
                <a16:creationId xmlns:a16="http://schemas.microsoft.com/office/drawing/2014/main" id="{B706C96F-B476-47C3-8676-6296736B8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950" y="1485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graphicFrame>
        <p:nvGraphicFramePr>
          <p:cNvPr id="63493" name="Object 5">
            <a:extLst>
              <a:ext uri="{FF2B5EF4-FFF2-40B4-BE49-F238E27FC236}">
                <a16:creationId xmlns:a16="http://schemas.microsoft.com/office/drawing/2014/main" id="{07093CC5-6CA6-4238-860E-BE04D3EBFA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838200"/>
          <a:ext cx="7696200" cy="556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372100" imgH="3886200" progId="Word.Picture.8">
                  <p:embed/>
                </p:oleObj>
              </mc:Choice>
              <mc:Fallback>
                <p:oleObj name="Picture" r:id="rId3" imgW="5372100" imgH="3886200" progId="Word.Picture.8">
                  <p:embed/>
                  <p:pic>
                    <p:nvPicPr>
                      <p:cNvPr id="63493" name="Object 5">
                        <a:extLst>
                          <a:ext uri="{FF2B5EF4-FFF2-40B4-BE49-F238E27FC236}">
                            <a16:creationId xmlns:a16="http://schemas.microsoft.com/office/drawing/2014/main" id="{07093CC5-6CA6-4238-860E-BE04D3EBFA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838200"/>
                        <a:ext cx="7696200" cy="556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98287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>
            <a:extLst>
              <a:ext uri="{FF2B5EF4-FFF2-40B4-BE49-F238E27FC236}">
                <a16:creationId xmlns:a16="http://schemas.microsoft.com/office/drawing/2014/main" id="{33202FDD-E30D-46E6-9E37-B2B9DD3A79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85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/>
              <a:t>Fibonacci Numbers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123BBF13-EB4F-4AF9-8C34-76AAE5D567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534400" cy="24384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altLang="en-US" sz="2000">
                <a:latin typeface="Courier New" charset="0"/>
              </a:rPr>
              <a:t>Fibonacci series: 0 1 1 2 3 5 8 13 21 34 55 89…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Monotype Sorts" charset="2"/>
              <a:buNone/>
              <a:defRPr/>
            </a:pPr>
            <a:r>
              <a:rPr lang="en-US" altLang="en-US" sz="2000">
                <a:latin typeface="Courier New" charset="0"/>
              </a:rPr>
              <a:t>         indices: 0 1 2 3 4 5 6 7  8  9  10 11</a:t>
            </a:r>
            <a:r>
              <a:rPr lang="en-US" altLang="en-US" sz="2400">
                <a:latin typeface="Courier New" charset="0"/>
              </a:rPr>
              <a:t>             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Monotype Sorts" charset="2"/>
              <a:buNone/>
              <a:defRPr/>
            </a:pPr>
            <a:r>
              <a:rPr lang="en-US" altLang="en-US" sz="2400"/>
              <a:t>fib(0) = 0;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Monotype Sorts" charset="2"/>
              <a:buNone/>
              <a:defRPr/>
            </a:pPr>
            <a:r>
              <a:rPr lang="en-US" altLang="en-US" sz="2400"/>
              <a:t>fib(1) = 1;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Monotype Sorts" charset="2"/>
              <a:buNone/>
              <a:defRPr/>
            </a:pPr>
            <a:r>
              <a:rPr lang="en-US" altLang="en-US" sz="2400"/>
              <a:t>fib(index) = fib(index -1) + fib(index -2); index &gt;=2</a:t>
            </a:r>
          </a:p>
        </p:txBody>
      </p:sp>
      <p:sp>
        <p:nvSpPr>
          <p:cNvPr id="31749" name="Rectangle 4">
            <a:extLst>
              <a:ext uri="{FF2B5EF4-FFF2-40B4-BE49-F238E27FC236}">
                <a16:creationId xmlns:a16="http://schemas.microsoft.com/office/drawing/2014/main" id="{B0CEE144-2AA0-4EC2-88C8-B791ED8AF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114800"/>
            <a:ext cx="8610600" cy="95885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  <a:buFont typeface="Monotype Sorts" charset="2"/>
              <a:buNone/>
              <a:defRPr/>
            </a:pPr>
            <a:r>
              <a:rPr lang="en-US" altLang="en-US" sz="2800"/>
              <a:t>fib(3) = fib(2) + fib(1) = (fib(1) + fib(0)) + fib(1) = (1 + 0) +fib(1) = 1 + fib(1) = 1 + 1 = 2</a:t>
            </a:r>
          </a:p>
        </p:txBody>
      </p:sp>
    </p:spTree>
    <p:extLst>
      <p:ext uri="{BB962C8B-B14F-4D97-AF65-F5344CB8AC3E}">
        <p14:creationId xmlns:p14="http://schemas.microsoft.com/office/powerpoint/2010/main" val="31832904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>
            <a:extLst>
              <a:ext uri="{FF2B5EF4-FFF2-40B4-BE49-F238E27FC236}">
                <a16:creationId xmlns:a16="http://schemas.microsoft.com/office/drawing/2014/main" id="{A246DE18-6262-4F2A-8DE9-A06D38C579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</p:spPr>
        <p:txBody>
          <a:bodyPr/>
          <a:lstStyle/>
          <a:p>
            <a:pPr>
              <a:defRPr/>
            </a:pPr>
            <a:r>
              <a:rPr lang="en-US" altLang="en-US"/>
              <a:t>Fibonnaci Numbers, cont.</a:t>
            </a:r>
          </a:p>
        </p:txBody>
      </p:sp>
      <p:sp>
        <p:nvSpPr>
          <p:cNvPr id="32772" name="Rectangle 8">
            <a:extLst>
              <a:ext uri="{FF2B5EF4-FFF2-40B4-BE49-F238E27FC236}">
                <a16:creationId xmlns:a16="http://schemas.microsoft.com/office/drawing/2014/main" id="{99A448D6-621B-485A-A005-89A711F07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0843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32773" name="Rectangle 10">
            <a:extLst>
              <a:ext uri="{FF2B5EF4-FFF2-40B4-BE49-F238E27FC236}">
                <a16:creationId xmlns:a16="http://schemas.microsoft.com/office/drawing/2014/main" id="{660ECC4F-9F9B-49D9-846E-C4192FEE2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424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32774" name="Rectangle 12">
            <a:extLst>
              <a:ext uri="{FF2B5EF4-FFF2-40B4-BE49-F238E27FC236}">
                <a16:creationId xmlns:a16="http://schemas.microsoft.com/office/drawing/2014/main" id="{C758BF24-E673-4047-857E-0B3C5E2F5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sp>
        <p:nvSpPr>
          <p:cNvPr id="32775" name="Rectangle 14">
            <a:extLst>
              <a:ext uri="{FF2B5EF4-FFF2-40B4-BE49-F238E27FC236}">
                <a16:creationId xmlns:a16="http://schemas.microsoft.com/office/drawing/2014/main" id="{9126EF96-7CEA-4108-8D51-C482FD0CE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/>
          </a:p>
        </p:txBody>
      </p:sp>
      <p:graphicFrame>
        <p:nvGraphicFramePr>
          <p:cNvPr id="69639" name="Object 13">
            <a:extLst>
              <a:ext uri="{FF2B5EF4-FFF2-40B4-BE49-F238E27FC236}">
                <a16:creationId xmlns:a16="http://schemas.microsoft.com/office/drawing/2014/main" id="{8DE7C2EF-1866-43DE-A7BD-CA355BBB87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808163"/>
          <a:ext cx="914400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6862572" imgH="2284476" progId="Word.Picture.8">
                  <p:embed/>
                </p:oleObj>
              </mc:Choice>
              <mc:Fallback>
                <p:oleObj name="Picture" r:id="rId3" imgW="6862572" imgH="2284476" progId="Word.Picture.8">
                  <p:embed/>
                  <p:pic>
                    <p:nvPicPr>
                      <p:cNvPr id="69639" name="Object 13">
                        <a:extLst>
                          <a:ext uri="{FF2B5EF4-FFF2-40B4-BE49-F238E27FC236}">
                            <a16:creationId xmlns:a16="http://schemas.microsoft.com/office/drawing/2014/main" id="{8DE7C2EF-1866-43DE-A7BD-CA355BBB87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808163"/>
                        <a:ext cx="9144000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34720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762000" y="381000"/>
            <a:ext cx="7467600" cy="6057900"/>
            <a:chOff x="228600" y="152400"/>
            <a:chExt cx="7467600" cy="6057900"/>
          </a:xfrm>
        </p:grpSpPr>
        <p:pic>
          <p:nvPicPr>
            <p:cNvPr id="1433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600" y="152400"/>
              <a:ext cx="7467600" cy="4714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922" y="4867275"/>
              <a:ext cx="5362575" cy="1343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482827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>
            <a:extLst>
              <a:ext uri="{FF2B5EF4-FFF2-40B4-BE49-F238E27FC236}">
                <a16:creationId xmlns:a16="http://schemas.microsoft.com/office/drawing/2014/main" id="{A9B8883E-E7E9-4645-9586-50CFE2299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4000"/>
              <a:t>Think Recursively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1264A4E4-546D-43C7-98A8-A6A508FFB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686800" cy="198120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altLang="en-US" sz="2800"/>
              <a:t>Many of the problems presented in the early chapters can be solved using recursion if you </a:t>
            </a:r>
            <a:r>
              <a:rPr lang="en-US" altLang="en-US" sz="2800" i="1"/>
              <a:t>think recursively</a:t>
            </a:r>
            <a:r>
              <a:rPr lang="en-US" altLang="en-US" sz="2800"/>
              <a:t>.  For example, the palindrome problem can be solved recursively as follows:</a:t>
            </a:r>
          </a:p>
        </p:txBody>
      </p:sp>
      <p:sp>
        <p:nvSpPr>
          <p:cNvPr id="75780" name="Rectangle 4">
            <a:extLst>
              <a:ext uri="{FF2B5EF4-FFF2-40B4-BE49-F238E27FC236}">
                <a16:creationId xmlns:a16="http://schemas.microsoft.com/office/drawing/2014/main" id="{C1C32A7A-6D0C-47AB-8262-D63C3FB2A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819400"/>
            <a:ext cx="8458200" cy="356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public static </a:t>
            </a:r>
            <a:r>
              <a:rPr lang="en-US" altLang="en-US" sz="1800" dirty="0" err="1">
                <a:solidFill>
                  <a:schemeClr val="tx2"/>
                </a:solidFill>
                <a:latin typeface="Courier" pitchFamily="49" charset="0"/>
              </a:rPr>
              <a:t>boolean</a:t>
            </a: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 </a:t>
            </a:r>
            <a:r>
              <a:rPr lang="en-US" altLang="en-US" sz="1800" dirty="0" err="1">
                <a:solidFill>
                  <a:schemeClr val="tx2"/>
                </a:solidFill>
                <a:latin typeface="Courier" pitchFamily="49" charset="0"/>
              </a:rPr>
              <a:t>isPalindrome</a:t>
            </a: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(String s) {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  if (</a:t>
            </a:r>
            <a:r>
              <a:rPr lang="en-US" altLang="en-US" sz="1800" dirty="0" err="1">
                <a:solidFill>
                  <a:schemeClr val="tx2"/>
                </a:solidFill>
                <a:latin typeface="Courier" pitchFamily="49" charset="0"/>
              </a:rPr>
              <a:t>s.length</a:t>
            </a: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() &lt;= 1) // Base case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    return true;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  else if (</a:t>
            </a:r>
            <a:r>
              <a:rPr lang="en-US" altLang="en-US" sz="1800" dirty="0" err="1">
                <a:solidFill>
                  <a:schemeClr val="tx2"/>
                </a:solidFill>
                <a:latin typeface="Courier" pitchFamily="49" charset="0"/>
              </a:rPr>
              <a:t>s.charAt</a:t>
            </a: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(0) != </a:t>
            </a:r>
            <a:r>
              <a:rPr lang="en-US" altLang="en-US" sz="1800" dirty="0" err="1">
                <a:solidFill>
                  <a:schemeClr val="tx2"/>
                </a:solidFill>
                <a:latin typeface="Courier" pitchFamily="49" charset="0"/>
              </a:rPr>
              <a:t>s.charAt</a:t>
            </a: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(</a:t>
            </a:r>
            <a:r>
              <a:rPr lang="en-US" altLang="en-US" sz="1800" dirty="0" err="1">
                <a:solidFill>
                  <a:schemeClr val="tx2"/>
                </a:solidFill>
                <a:latin typeface="Courier" pitchFamily="49" charset="0"/>
              </a:rPr>
              <a:t>s.length</a:t>
            </a: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() - 1)) // Base case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    return false;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  else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    return </a:t>
            </a:r>
            <a:r>
              <a:rPr lang="en-US" altLang="en-US" sz="1800" dirty="0" err="1">
                <a:solidFill>
                  <a:schemeClr val="tx2"/>
                </a:solidFill>
                <a:latin typeface="Courier" pitchFamily="49" charset="0"/>
              </a:rPr>
              <a:t>isPalindrome</a:t>
            </a: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(</a:t>
            </a:r>
            <a:r>
              <a:rPr lang="en-US" altLang="en-US" sz="1800" dirty="0" err="1">
                <a:solidFill>
                  <a:schemeClr val="tx2"/>
                </a:solidFill>
                <a:latin typeface="Courier" pitchFamily="49" charset="0"/>
              </a:rPr>
              <a:t>s.substring</a:t>
            </a: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(1, </a:t>
            </a:r>
            <a:r>
              <a:rPr lang="en-US" altLang="en-US" sz="1800" dirty="0" err="1">
                <a:solidFill>
                  <a:schemeClr val="tx2"/>
                </a:solidFill>
                <a:latin typeface="Courier" pitchFamily="49" charset="0"/>
              </a:rPr>
              <a:t>s.length</a:t>
            </a: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() - 1));   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351004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>
            <a:extLst>
              <a:ext uri="{FF2B5EF4-FFF2-40B4-BE49-F238E27FC236}">
                <a16:creationId xmlns:a16="http://schemas.microsoft.com/office/drawing/2014/main" id="{D2C534CF-9988-45A5-848A-5B50C70B24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4000"/>
              <a:t>Recursive Helper Methods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DA843893-A8DE-4A0E-B762-66F1FC83C0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686800" cy="15240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altLang="en-US" sz="2800" dirty="0"/>
              <a:t>The preceding recursive </a:t>
            </a:r>
            <a:r>
              <a:rPr lang="en-US" altLang="en-US" sz="2800" dirty="0" err="1"/>
              <a:t>isPalindrome</a:t>
            </a:r>
            <a:r>
              <a:rPr lang="en-US" altLang="en-US" sz="2800" dirty="0"/>
              <a:t> method is not efficient, because it creates a new string for every recursive call. To avoid creating new strings, use a </a:t>
            </a:r>
            <a:r>
              <a:rPr lang="en-US" altLang="en-US" sz="2800" b="1" dirty="0"/>
              <a:t>helpe</a:t>
            </a:r>
            <a:r>
              <a:rPr lang="en-US" altLang="en-US" sz="2800" dirty="0"/>
              <a:t>r </a:t>
            </a:r>
            <a:r>
              <a:rPr lang="en-US" altLang="en-US" sz="2800" b="1" dirty="0"/>
              <a:t>method:</a:t>
            </a:r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0ACD9ECE-0A7F-49CC-91BD-B542F9BE6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362200"/>
            <a:ext cx="8763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public static </a:t>
            </a:r>
            <a:r>
              <a:rPr lang="en-US" altLang="en-US" sz="1800" dirty="0" err="1">
                <a:solidFill>
                  <a:schemeClr val="tx2"/>
                </a:solidFill>
                <a:latin typeface="Courier" pitchFamily="49" charset="0"/>
              </a:rPr>
              <a:t>boolean</a:t>
            </a: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 </a:t>
            </a:r>
            <a:r>
              <a:rPr lang="en-US" altLang="en-US" sz="1800" dirty="0" err="1">
                <a:solidFill>
                  <a:schemeClr val="tx2"/>
                </a:solidFill>
                <a:latin typeface="Courier" pitchFamily="49" charset="0"/>
              </a:rPr>
              <a:t>isPalindrome</a:t>
            </a: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(String s) {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  return </a:t>
            </a:r>
            <a:r>
              <a:rPr lang="en-US" altLang="en-US" sz="1800" dirty="0" err="1">
                <a:solidFill>
                  <a:schemeClr val="tx2"/>
                </a:solidFill>
                <a:latin typeface="Courier" pitchFamily="49" charset="0"/>
              </a:rPr>
              <a:t>isPalindrome</a:t>
            </a: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(s, 0, </a:t>
            </a:r>
            <a:r>
              <a:rPr lang="en-US" altLang="en-US" sz="1800" dirty="0" err="1">
                <a:solidFill>
                  <a:schemeClr val="tx2"/>
                </a:solidFill>
                <a:latin typeface="Courier" pitchFamily="49" charset="0"/>
              </a:rPr>
              <a:t>s.length</a:t>
            </a: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() - 1);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}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public static </a:t>
            </a:r>
            <a:r>
              <a:rPr lang="en-US" altLang="en-US" sz="1800" dirty="0" err="1">
                <a:solidFill>
                  <a:schemeClr val="tx2"/>
                </a:solidFill>
                <a:latin typeface="Courier" pitchFamily="49" charset="0"/>
              </a:rPr>
              <a:t>boolean</a:t>
            </a: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 </a:t>
            </a:r>
            <a:r>
              <a:rPr lang="en-US" altLang="en-US" sz="1800" dirty="0" err="1">
                <a:solidFill>
                  <a:schemeClr val="tx2"/>
                </a:solidFill>
                <a:latin typeface="Courier" pitchFamily="49" charset="0"/>
              </a:rPr>
              <a:t>isPalindrome</a:t>
            </a: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(String s, </a:t>
            </a:r>
            <a:r>
              <a:rPr lang="en-US" altLang="en-US" sz="1800" dirty="0" err="1">
                <a:solidFill>
                  <a:schemeClr val="tx2"/>
                </a:solidFill>
                <a:latin typeface="Courier" pitchFamily="49" charset="0"/>
              </a:rPr>
              <a:t>int</a:t>
            </a: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 low, </a:t>
            </a:r>
            <a:r>
              <a:rPr lang="en-US" altLang="en-US" sz="1800" dirty="0" err="1">
                <a:solidFill>
                  <a:schemeClr val="tx2"/>
                </a:solidFill>
                <a:latin typeface="Courier" pitchFamily="49" charset="0"/>
              </a:rPr>
              <a:t>int</a:t>
            </a: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 high) {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  if (high &lt;= low) // Base case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    return true;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  else if (</a:t>
            </a:r>
            <a:r>
              <a:rPr lang="en-US" altLang="en-US" sz="1800" dirty="0" err="1">
                <a:solidFill>
                  <a:schemeClr val="tx2"/>
                </a:solidFill>
                <a:latin typeface="Courier" pitchFamily="49" charset="0"/>
              </a:rPr>
              <a:t>s.charAt</a:t>
            </a: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(low) != </a:t>
            </a:r>
            <a:r>
              <a:rPr lang="en-US" altLang="en-US" sz="1800" dirty="0" err="1">
                <a:solidFill>
                  <a:schemeClr val="tx2"/>
                </a:solidFill>
                <a:latin typeface="Courier" pitchFamily="49" charset="0"/>
              </a:rPr>
              <a:t>s.charAt</a:t>
            </a: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(high)) // Base case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    return false;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  else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    return </a:t>
            </a:r>
            <a:r>
              <a:rPr lang="en-US" altLang="en-US" sz="1800" dirty="0" err="1">
                <a:solidFill>
                  <a:schemeClr val="tx2"/>
                </a:solidFill>
                <a:latin typeface="Courier" pitchFamily="49" charset="0"/>
              </a:rPr>
              <a:t>isPalindrome</a:t>
            </a: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(s, low + 1, high - 1);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  <a:latin typeface="Courier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326108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>
            <a:extLst>
              <a:ext uri="{FF2B5EF4-FFF2-40B4-BE49-F238E27FC236}">
                <a16:creationId xmlns:a16="http://schemas.microsoft.com/office/drawing/2014/main" id="{1F333E81-7A11-40DA-A4DD-285C170F4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/>
              <a:t>Recursive Selection Sort</a:t>
            </a:r>
          </a:p>
        </p:txBody>
      </p:sp>
      <p:sp>
        <p:nvSpPr>
          <p:cNvPr id="37892" name="Rectangle 9">
            <a:extLst>
              <a:ext uri="{FF2B5EF4-FFF2-40B4-BE49-F238E27FC236}">
                <a16:creationId xmlns:a16="http://schemas.microsoft.com/office/drawing/2014/main" id="{5F645E0F-C882-4805-ACA1-C41ACE7993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686800" cy="2438400"/>
          </a:xfrm>
        </p:spPr>
        <p:txBody>
          <a:bodyPr/>
          <a:lstStyle/>
          <a:p>
            <a:pPr marL="609600" indent="-609600">
              <a:buFont typeface="Monotype Sorts" charset="2"/>
              <a:buAutoNum type="arabicPeriod"/>
              <a:defRPr/>
            </a:pPr>
            <a:r>
              <a:rPr lang="en-US" altLang="en-US"/>
              <a:t>Find the smallest number in the list and swaps it with the first number.</a:t>
            </a:r>
          </a:p>
          <a:p>
            <a:pPr marL="609600" indent="-609600">
              <a:buFont typeface="Monotype Sorts" charset="2"/>
              <a:buAutoNum type="arabicPeriod"/>
              <a:defRPr/>
            </a:pPr>
            <a:r>
              <a:rPr lang="en-US" altLang="en-US"/>
              <a:t>Ignore the first number and sort the remaining smaller list recursively.</a:t>
            </a:r>
          </a:p>
        </p:txBody>
      </p:sp>
    </p:spTree>
    <p:extLst>
      <p:ext uri="{BB962C8B-B14F-4D97-AF65-F5344CB8AC3E}">
        <p14:creationId xmlns:p14="http://schemas.microsoft.com/office/powerpoint/2010/main" val="29360107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>
            <a:extLst>
              <a:ext uri="{FF2B5EF4-FFF2-40B4-BE49-F238E27FC236}">
                <a16:creationId xmlns:a16="http://schemas.microsoft.com/office/drawing/2014/main" id="{70BE7853-DAD2-4BE5-90F1-F042663D01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/>
              <a:t>Recursive Binary Search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07FAD538-2F9D-4F55-B603-E25F98E355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30480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Monotype Sorts" charset="2"/>
              <a:buAutoNum type="arabicPeriod"/>
              <a:defRPr/>
            </a:pPr>
            <a:r>
              <a:rPr lang="en-US" altLang="en-US" sz="2800"/>
              <a:t>Case 1: If the key is less than the middle element, recursively search the key in the first half of the array.</a:t>
            </a:r>
          </a:p>
          <a:p>
            <a:pPr marL="609600" indent="-609600">
              <a:lnSpc>
                <a:spcPct val="90000"/>
              </a:lnSpc>
              <a:buFont typeface="Monotype Sorts" charset="2"/>
              <a:buAutoNum type="arabicPeriod"/>
              <a:defRPr/>
            </a:pPr>
            <a:r>
              <a:rPr lang="en-US" altLang="en-US" sz="2800"/>
              <a:t>Case 2: If the key is equal to the middle element, the search ends with a match.</a:t>
            </a:r>
          </a:p>
          <a:p>
            <a:pPr marL="609600" indent="-609600">
              <a:lnSpc>
                <a:spcPct val="90000"/>
              </a:lnSpc>
              <a:buFont typeface="Monotype Sorts" charset="2"/>
              <a:buAutoNum type="arabicPeriod"/>
              <a:defRPr/>
            </a:pPr>
            <a:r>
              <a:rPr lang="en-US" altLang="en-US" sz="2800"/>
              <a:t>Case 3: If the key is greater than the middle element, recursively search the key in the second half of the array.</a:t>
            </a:r>
          </a:p>
        </p:txBody>
      </p:sp>
    </p:spTree>
    <p:extLst>
      <p:ext uri="{BB962C8B-B14F-4D97-AF65-F5344CB8AC3E}">
        <p14:creationId xmlns:p14="http://schemas.microsoft.com/office/powerpoint/2010/main" val="42428958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>
            <a:extLst>
              <a:ext uri="{FF2B5EF4-FFF2-40B4-BE49-F238E27FC236}">
                <a16:creationId xmlns:a16="http://schemas.microsoft.com/office/drawing/2014/main" id="{950F5187-7DE0-40BE-B8FB-514C4BBBE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33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/>
              <a:t>Recursive Implementation</a:t>
            </a:r>
            <a:endParaRPr lang="en-US" altLang="en-US" u="sng">
              <a:latin typeface="Book Antiqua" charset="0"/>
              <a:hlinkClick r:id="rId2" action="ppaction://program"/>
            </a:endParaRP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1E660895-8118-466E-9FB9-3DBA42C6C8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8610600" cy="55626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Use binary search to find the key in the list */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int recursiveBinarySearch(int[] list, int key) {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low = 0;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high = list.length - 1;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recursiveBinarySearch(list, key, low, high);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cs typeface="Courier New" panose="02070309020205020404" pitchFamily="49" charset="0"/>
              </a:rPr>
              <a:t> 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Use binary search to find the key in the list between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list[low] list[high] */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int recursiveBinarySearch(int[] list, int key,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low, int high) {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(low &gt; high)  // The list has been exhausted without a match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-low - 1;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cs typeface="Courier New" panose="02070309020205020404" pitchFamily="49" charset="0"/>
              </a:rPr>
              <a:t> 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mid = (low + high) / 2;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(key &lt; list[mid])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recursiveBinarySearch(list, key, low, mid - 1);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 if (key == list[mid])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mid;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recursiveBinarySearch(list, key, mid + 1, high);</a:t>
            </a:r>
            <a:endParaRPr lang="en-US" altLang="en-US" sz="1500" b="1">
              <a:solidFill>
                <a:schemeClr val="tx2"/>
              </a:solidFill>
              <a:latin typeface="Courier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5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62551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>
            <a:extLst>
              <a:ext uri="{FF2B5EF4-FFF2-40B4-BE49-F238E27FC236}">
                <a16:creationId xmlns:a16="http://schemas.microsoft.com/office/drawing/2014/main" id="{2194683F-1689-4236-A14B-9194185F9A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304" y="152400"/>
            <a:ext cx="8763000" cy="9906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Recursion vs. Iteration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8FDE2E74-C65A-4E91-B658-21CF26C404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072" y="1324310"/>
            <a:ext cx="8686800" cy="1138238"/>
          </a:xfrm>
        </p:spPr>
        <p:txBody>
          <a:bodyPr/>
          <a:lstStyle/>
          <a:p>
            <a:pPr marL="0" indent="0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dirty="0"/>
              <a:t>Recursion is an alternative form of program control. It is essentially repetition without a loop.</a:t>
            </a:r>
          </a:p>
        </p:txBody>
      </p:sp>
      <p:sp>
        <p:nvSpPr>
          <p:cNvPr id="53253" name="Rectangle 4">
            <a:extLst>
              <a:ext uri="{FF2B5EF4-FFF2-40B4-BE49-F238E27FC236}">
                <a16:creationId xmlns:a16="http://schemas.microsoft.com/office/drawing/2014/main" id="{513F10EA-BF27-4267-B057-24B3FE9E8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480793"/>
            <a:ext cx="8677275" cy="3132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dirty="0">
                <a:latin typeface="+mj-lt"/>
              </a:rPr>
              <a:t>Recursion bears substantial overhead. Each time the program calls a method, the system must assign space for all of the method’s local variables and parameters. This can consume considerable memory and requires extra time to manage the additional space.</a:t>
            </a:r>
          </a:p>
        </p:txBody>
      </p:sp>
    </p:spTree>
    <p:extLst>
      <p:ext uri="{BB962C8B-B14F-4D97-AF65-F5344CB8AC3E}">
        <p14:creationId xmlns:p14="http://schemas.microsoft.com/office/powerpoint/2010/main" val="39947763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>
            <a:extLst>
              <a:ext uri="{FF2B5EF4-FFF2-40B4-BE49-F238E27FC236}">
                <a16:creationId xmlns:a16="http://schemas.microsoft.com/office/drawing/2014/main" id="{D1F1E0EA-96CA-47EF-9604-7904D7AC3A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990600"/>
          </a:xfrm>
        </p:spPr>
        <p:txBody>
          <a:bodyPr/>
          <a:lstStyle/>
          <a:p>
            <a:pPr>
              <a:defRPr/>
            </a:pPr>
            <a:r>
              <a:rPr lang="en-US" altLang="en-US"/>
              <a:t>Tail Recursion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5D8C9BDA-24A0-4951-9F40-4D6159685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899" y="1066800"/>
            <a:ext cx="8785225" cy="169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F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charset="2"/>
              <a:buChar char="u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dirty="0">
                <a:latin typeface="+mj-lt"/>
              </a:rPr>
              <a:t>A recursive method is said to be </a:t>
            </a:r>
            <a:r>
              <a:rPr lang="en-US" altLang="en-US" i="1" dirty="0">
                <a:latin typeface="+mj-lt"/>
              </a:rPr>
              <a:t>tail recursive</a:t>
            </a:r>
            <a:r>
              <a:rPr lang="en-US" altLang="en-US" dirty="0">
                <a:latin typeface="+mj-lt"/>
              </a:rPr>
              <a:t> if there are no pending operations to be performed on return from a recursive call.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34" y="3198030"/>
            <a:ext cx="8678804" cy="2127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08203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05" y="448357"/>
            <a:ext cx="8166101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1730C1A1-5014-4AA3-9D9C-85F5FECA3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412" y="150812"/>
            <a:ext cx="2595988" cy="5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r>
              <a:rPr lang="en-US" altLang="en-US" sz="2400" dirty="0">
                <a:latin typeface="+mj-lt"/>
              </a:rPr>
              <a:t>Tail recursive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D80B46A-7BCC-4492-9B62-CEE918433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412" y="4155585"/>
            <a:ext cx="3902299" cy="304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r>
              <a:rPr lang="en-US" altLang="en-US" sz="2400" dirty="0">
                <a:latin typeface="+mj-lt"/>
              </a:rPr>
              <a:t>Non-tail recursive</a:t>
            </a: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391" y="4876800"/>
            <a:ext cx="7963348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2192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wisTemplate">
  <a:themeElements>
    <a:clrScheme name="PawisTemplate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awis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pitchFamily="2" charset="2"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pitchFamily="2" charset="2"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PawisTemplate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wisTemplate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wisTemplate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wisTemplate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wisTemplate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wisTemplate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wisTemplate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wisTemplate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wisTemplate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wisTemplate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wisTemplate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wisTemplate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2115</Words>
  <Application>Microsoft Office PowerPoint</Application>
  <PresentationFormat>On-screen Show (4:3)</PresentationFormat>
  <Paragraphs>241</Paragraphs>
  <Slides>43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7" baseType="lpstr">
      <vt:lpstr>Arial</vt:lpstr>
      <vt:lpstr>Arial Black</vt:lpstr>
      <vt:lpstr>Book Antiqua</vt:lpstr>
      <vt:lpstr>Calibri</vt:lpstr>
      <vt:lpstr>Cambria</vt:lpstr>
      <vt:lpstr>Courier</vt:lpstr>
      <vt:lpstr>Courier New</vt:lpstr>
      <vt:lpstr>Monotype Sorts</vt:lpstr>
      <vt:lpstr>Tahoma</vt:lpstr>
      <vt:lpstr>Times New Roman</vt:lpstr>
      <vt:lpstr>Wingdings</vt:lpstr>
      <vt:lpstr>Office Theme</vt:lpstr>
      <vt:lpstr>PawisTemplate</vt:lpstr>
      <vt:lpstr>Picture</vt:lpstr>
      <vt:lpstr>Recursion</vt:lpstr>
      <vt:lpstr>Recursion</vt:lpstr>
      <vt:lpstr>Recursion</vt:lpstr>
      <vt:lpstr>Recursion</vt:lpstr>
      <vt:lpstr>RECURSIVELY DEFINED FUNCTIONS</vt:lpstr>
      <vt:lpstr>Recursion</vt:lpstr>
      <vt:lpstr>Example-1 (Infinite Times)</vt:lpstr>
      <vt:lpstr>Example-2 (Finite Times)</vt:lpstr>
      <vt:lpstr>Characteristics of Recursion </vt:lpstr>
      <vt:lpstr>Computing Factorial</vt:lpstr>
      <vt:lpstr>Computing Factorial</vt:lpstr>
      <vt:lpstr>Computing Factorial</vt:lpstr>
      <vt:lpstr>Computing Factorial</vt:lpstr>
      <vt:lpstr>Computing Factorial</vt:lpstr>
      <vt:lpstr>Computing Factorial</vt:lpstr>
      <vt:lpstr>Computing Factorial</vt:lpstr>
      <vt:lpstr>Computing Factorial</vt:lpstr>
      <vt:lpstr>Computing Factorial</vt:lpstr>
      <vt:lpstr>Computing Factorial</vt:lpstr>
      <vt:lpstr>Computing Factorial</vt:lpstr>
      <vt:lpstr>Trace Recursive factorial</vt:lpstr>
      <vt:lpstr>Trace Recursive factorial</vt:lpstr>
      <vt:lpstr>Trace Recursive factorial</vt:lpstr>
      <vt:lpstr>Trace Recursive factorial</vt:lpstr>
      <vt:lpstr>Trace Recursive factorial</vt:lpstr>
      <vt:lpstr>Trace Recursive factorial</vt:lpstr>
      <vt:lpstr>Trace Recursive factorial</vt:lpstr>
      <vt:lpstr>Trace Recursive factorial</vt:lpstr>
      <vt:lpstr>Trace Recursive factorial</vt:lpstr>
      <vt:lpstr>Trace Recursive factorial</vt:lpstr>
      <vt:lpstr>Trace Recursive factorial</vt:lpstr>
      <vt:lpstr>factorial(4) Stack Trace</vt:lpstr>
      <vt:lpstr>Fibonacci Numbers</vt:lpstr>
      <vt:lpstr>Fibonnaci Numbers, cont.</vt:lpstr>
      <vt:lpstr>PowerPoint Presentation</vt:lpstr>
      <vt:lpstr>Think Recursively</vt:lpstr>
      <vt:lpstr>Recursive Helper Methods</vt:lpstr>
      <vt:lpstr>Recursive Selection Sort</vt:lpstr>
      <vt:lpstr>Recursive Binary Search</vt:lpstr>
      <vt:lpstr>Recursive Implementation</vt:lpstr>
      <vt:lpstr>Recursion vs. Iteration</vt:lpstr>
      <vt:lpstr>Tail Recursion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Recursion</dc:title>
  <dc:creator>Rizwan</dc:creator>
  <cp:lastModifiedBy>Khurram Iqbal</cp:lastModifiedBy>
  <cp:revision>8</cp:revision>
  <dcterms:created xsi:type="dcterms:W3CDTF">2006-08-16T00:00:00Z</dcterms:created>
  <dcterms:modified xsi:type="dcterms:W3CDTF">2025-12-03T07:35:47Z</dcterms:modified>
</cp:coreProperties>
</file>