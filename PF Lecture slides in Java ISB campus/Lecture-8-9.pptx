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444" r:id="rId2"/>
    <p:sldId id="257" r:id="rId3"/>
    <p:sldId id="294" r:id="rId4"/>
    <p:sldId id="295" r:id="rId5"/>
    <p:sldId id="330" r:id="rId6"/>
    <p:sldId id="300" r:id="rId7"/>
    <p:sldId id="299" r:id="rId8"/>
    <p:sldId id="301" r:id="rId9"/>
    <p:sldId id="302" r:id="rId10"/>
    <p:sldId id="303" r:id="rId11"/>
    <p:sldId id="304" r:id="rId12"/>
    <p:sldId id="305" r:id="rId13"/>
    <p:sldId id="332" r:id="rId14"/>
    <p:sldId id="331" r:id="rId15"/>
    <p:sldId id="333" r:id="rId16"/>
    <p:sldId id="307" r:id="rId17"/>
    <p:sldId id="308" r:id="rId18"/>
    <p:sldId id="306" r:id="rId19"/>
    <p:sldId id="329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28" r:id="rId30"/>
    <p:sldId id="318" r:id="rId31"/>
    <p:sldId id="319" r:id="rId32"/>
    <p:sldId id="320" r:id="rId33"/>
    <p:sldId id="321" r:id="rId34"/>
    <p:sldId id="322" r:id="rId35"/>
    <p:sldId id="323" r:id="rId36"/>
    <p:sldId id="327" r:id="rId37"/>
    <p:sldId id="334" r:id="rId38"/>
    <p:sldId id="335" r:id="rId39"/>
    <p:sldId id="336" r:id="rId40"/>
    <p:sldId id="292" r:id="rId41"/>
    <p:sldId id="293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ram Iqbal" userId="af32904b-6c78-4cff-8330-5f3a20d540de" providerId="ADAL" clId="{E01CBE59-94E2-4607-A170-EBFE72D8B202}"/>
    <pc:docChg chg="modSld sldOrd">
      <pc:chgData name="Khurram Iqbal" userId="af32904b-6c78-4cff-8330-5f3a20d540de" providerId="ADAL" clId="{E01CBE59-94E2-4607-A170-EBFE72D8B202}" dt="2026-03-30T14:36:28.135" v="3"/>
      <pc:docMkLst>
        <pc:docMk/>
      </pc:docMkLst>
      <pc:sldChg chg="ord">
        <pc:chgData name="Khurram Iqbal" userId="af32904b-6c78-4cff-8330-5f3a20d540de" providerId="ADAL" clId="{E01CBE59-94E2-4607-A170-EBFE72D8B202}" dt="2026-03-30T14:36:11.290" v="1"/>
        <pc:sldMkLst>
          <pc:docMk/>
          <pc:sldMk cId="289756958" sldId="307"/>
        </pc:sldMkLst>
      </pc:sldChg>
      <pc:sldChg chg="ord">
        <pc:chgData name="Khurram Iqbal" userId="af32904b-6c78-4cff-8330-5f3a20d540de" providerId="ADAL" clId="{E01CBE59-94E2-4607-A170-EBFE72D8B202}" dt="2026-03-30T14:36:28.135" v="3"/>
        <pc:sldMkLst>
          <pc:docMk/>
          <pc:sldMk cId="2724935517" sldId="30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8C33C4-E297-43FB-A302-1B894FD17C5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5FD45EF-C8E4-4284-895B-3451426352C5}">
      <dgm:prSet/>
      <dgm:spPr/>
      <dgm:t>
        <a:bodyPr/>
        <a:lstStyle/>
        <a:p>
          <a:r>
            <a:rPr lang="en-US"/>
            <a:t>Nested </a:t>
          </a:r>
          <a:r>
            <a:rPr lang="en-US" b="1"/>
            <a:t>if </a:t>
          </a:r>
          <a:r>
            <a:rPr lang="en-US"/>
            <a:t>statement</a:t>
          </a:r>
        </a:p>
      </dgm:t>
    </dgm:pt>
    <dgm:pt modelId="{EA90E6F7-F862-4D0E-874D-C68D194712E6}" type="parTrans" cxnId="{10AB876C-9E07-42A5-9F71-AEB387B6BB84}">
      <dgm:prSet/>
      <dgm:spPr/>
      <dgm:t>
        <a:bodyPr/>
        <a:lstStyle/>
        <a:p>
          <a:endParaRPr lang="en-US"/>
        </a:p>
      </dgm:t>
    </dgm:pt>
    <dgm:pt modelId="{B5A00D4C-23C3-41EB-A834-D8129C2F5974}" type="sibTrans" cxnId="{10AB876C-9E07-42A5-9F71-AEB387B6BB84}">
      <dgm:prSet/>
      <dgm:spPr/>
      <dgm:t>
        <a:bodyPr/>
        <a:lstStyle/>
        <a:p>
          <a:endParaRPr lang="en-US"/>
        </a:p>
      </dgm:t>
    </dgm:pt>
    <dgm:pt modelId="{A54DDA16-C69F-4B64-A702-7FFE2B54B57C}">
      <dgm:prSet/>
      <dgm:spPr/>
      <dgm:t>
        <a:bodyPr/>
        <a:lstStyle/>
        <a:p>
          <a:r>
            <a:rPr lang="en-US"/>
            <a:t>Multi-way </a:t>
          </a:r>
          <a:r>
            <a:rPr lang="en-US" b="1"/>
            <a:t>if-else if-else </a:t>
          </a:r>
          <a:r>
            <a:rPr lang="en-US"/>
            <a:t>statement</a:t>
          </a:r>
        </a:p>
      </dgm:t>
    </dgm:pt>
    <dgm:pt modelId="{3E3670BC-5444-4385-AA1E-7D253EE9F24B}" type="parTrans" cxnId="{12D2DACC-F178-4636-B1E6-6E078138E469}">
      <dgm:prSet/>
      <dgm:spPr/>
      <dgm:t>
        <a:bodyPr/>
        <a:lstStyle/>
        <a:p>
          <a:endParaRPr lang="en-US"/>
        </a:p>
      </dgm:t>
    </dgm:pt>
    <dgm:pt modelId="{463CDB5A-1D2E-4534-9E3C-E078DDA9F2AF}" type="sibTrans" cxnId="{12D2DACC-F178-4636-B1E6-6E078138E469}">
      <dgm:prSet/>
      <dgm:spPr/>
      <dgm:t>
        <a:bodyPr/>
        <a:lstStyle/>
        <a:p>
          <a:endParaRPr lang="en-US"/>
        </a:p>
      </dgm:t>
    </dgm:pt>
    <dgm:pt modelId="{9CBC6453-508D-4497-90C6-4C6A656D76D5}">
      <dgm:prSet/>
      <dgm:spPr/>
      <dgm:t>
        <a:bodyPr/>
        <a:lstStyle/>
        <a:p>
          <a:r>
            <a:rPr lang="en-US"/>
            <a:t>Logical Operators</a:t>
          </a:r>
        </a:p>
      </dgm:t>
    </dgm:pt>
    <dgm:pt modelId="{F637F2EE-FA16-4D95-9F4C-E842E6E55BCE}" type="parTrans" cxnId="{0590195E-AA4B-422F-8948-7A1FFF51DCF5}">
      <dgm:prSet/>
      <dgm:spPr/>
      <dgm:t>
        <a:bodyPr/>
        <a:lstStyle/>
        <a:p>
          <a:endParaRPr lang="en-US"/>
        </a:p>
      </dgm:t>
    </dgm:pt>
    <dgm:pt modelId="{64F8466D-4E5C-4B27-9E11-43A3ED29A2DA}" type="sibTrans" cxnId="{0590195E-AA4B-422F-8948-7A1FFF51DCF5}">
      <dgm:prSet/>
      <dgm:spPr/>
      <dgm:t>
        <a:bodyPr/>
        <a:lstStyle/>
        <a:p>
          <a:endParaRPr lang="en-US"/>
        </a:p>
      </dgm:t>
    </dgm:pt>
    <dgm:pt modelId="{DF1EE03E-414C-4568-89A6-24B791B70D28}">
      <dgm:prSet/>
      <dgm:spPr/>
      <dgm:t>
        <a:bodyPr/>
        <a:lstStyle/>
        <a:p>
          <a:r>
            <a:rPr lang="en-US"/>
            <a:t>Conditional Expressions</a:t>
          </a:r>
        </a:p>
      </dgm:t>
    </dgm:pt>
    <dgm:pt modelId="{6596B688-0735-45C2-A373-3CC94D96E6DC}" type="parTrans" cxnId="{3B9DD7F9-140A-4D67-8116-5C16DF3658E8}">
      <dgm:prSet/>
      <dgm:spPr/>
      <dgm:t>
        <a:bodyPr/>
        <a:lstStyle/>
        <a:p>
          <a:endParaRPr lang="en-US"/>
        </a:p>
      </dgm:t>
    </dgm:pt>
    <dgm:pt modelId="{01B66F6A-2521-487E-B258-668E276F6602}" type="sibTrans" cxnId="{3B9DD7F9-140A-4D67-8116-5C16DF3658E8}">
      <dgm:prSet/>
      <dgm:spPr/>
      <dgm:t>
        <a:bodyPr/>
        <a:lstStyle/>
        <a:p>
          <a:endParaRPr lang="en-US"/>
        </a:p>
      </dgm:t>
    </dgm:pt>
    <dgm:pt modelId="{23F529FD-3F3E-4141-A04B-5D6C83260B02}" type="pres">
      <dgm:prSet presAssocID="{198C33C4-E297-43FB-A302-1B894FD17C55}" presName="linear" presStyleCnt="0">
        <dgm:presLayoutVars>
          <dgm:animLvl val="lvl"/>
          <dgm:resizeHandles val="exact"/>
        </dgm:presLayoutVars>
      </dgm:prSet>
      <dgm:spPr/>
    </dgm:pt>
    <dgm:pt modelId="{537954F2-68B9-451F-A04E-DB007FEB3373}" type="pres">
      <dgm:prSet presAssocID="{D5FD45EF-C8E4-4284-895B-3451426352C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DE9A8A6-67C4-44F9-8DB9-1717CEFC4F38}" type="pres">
      <dgm:prSet presAssocID="{B5A00D4C-23C3-41EB-A834-D8129C2F5974}" presName="spacer" presStyleCnt="0"/>
      <dgm:spPr/>
    </dgm:pt>
    <dgm:pt modelId="{F4C9FEF9-008C-4113-BF94-0232E2E47AB4}" type="pres">
      <dgm:prSet presAssocID="{A54DDA16-C69F-4B64-A702-7FFE2B54B57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C1F2FF3-5D33-4C41-A40E-C82A494DA769}" type="pres">
      <dgm:prSet presAssocID="{463CDB5A-1D2E-4534-9E3C-E078DDA9F2AF}" presName="spacer" presStyleCnt="0"/>
      <dgm:spPr/>
    </dgm:pt>
    <dgm:pt modelId="{465FF9C3-0CAA-4AB1-B2BB-A3C7C2D3DDFA}" type="pres">
      <dgm:prSet presAssocID="{9CBC6453-508D-4497-90C6-4C6A656D76D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B36DCFE-5868-4E3A-B7C7-C01A8E4E0F67}" type="pres">
      <dgm:prSet presAssocID="{64F8466D-4E5C-4B27-9E11-43A3ED29A2DA}" presName="spacer" presStyleCnt="0"/>
      <dgm:spPr/>
    </dgm:pt>
    <dgm:pt modelId="{4AD284EB-246E-4AAF-A2CF-4B53432A4A60}" type="pres">
      <dgm:prSet presAssocID="{DF1EE03E-414C-4568-89A6-24B791B70D2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ECFAE33-6ED8-4AB9-A296-CD20658BC826}" type="presOf" srcId="{A54DDA16-C69F-4B64-A702-7FFE2B54B57C}" destId="{F4C9FEF9-008C-4113-BF94-0232E2E47AB4}" srcOrd="0" destOrd="0" presId="urn:microsoft.com/office/officeart/2005/8/layout/vList2"/>
    <dgm:cxn modelId="{0590195E-AA4B-422F-8948-7A1FFF51DCF5}" srcId="{198C33C4-E297-43FB-A302-1B894FD17C55}" destId="{9CBC6453-508D-4497-90C6-4C6A656D76D5}" srcOrd="2" destOrd="0" parTransId="{F637F2EE-FA16-4D95-9F4C-E842E6E55BCE}" sibTransId="{64F8466D-4E5C-4B27-9E11-43A3ED29A2DA}"/>
    <dgm:cxn modelId="{0729FA48-224D-4F44-BCD2-8F77D92A4055}" type="presOf" srcId="{D5FD45EF-C8E4-4284-895B-3451426352C5}" destId="{537954F2-68B9-451F-A04E-DB007FEB3373}" srcOrd="0" destOrd="0" presId="urn:microsoft.com/office/officeart/2005/8/layout/vList2"/>
    <dgm:cxn modelId="{10AB876C-9E07-42A5-9F71-AEB387B6BB84}" srcId="{198C33C4-E297-43FB-A302-1B894FD17C55}" destId="{D5FD45EF-C8E4-4284-895B-3451426352C5}" srcOrd="0" destOrd="0" parTransId="{EA90E6F7-F862-4D0E-874D-C68D194712E6}" sibTransId="{B5A00D4C-23C3-41EB-A834-D8129C2F5974}"/>
    <dgm:cxn modelId="{F4EE8992-CB22-455E-AEA8-BB79C6619B3A}" type="presOf" srcId="{9CBC6453-508D-4497-90C6-4C6A656D76D5}" destId="{465FF9C3-0CAA-4AB1-B2BB-A3C7C2D3DDFA}" srcOrd="0" destOrd="0" presId="urn:microsoft.com/office/officeart/2005/8/layout/vList2"/>
    <dgm:cxn modelId="{1B0B3BAE-60BF-495C-9784-0908EA603FD3}" type="presOf" srcId="{DF1EE03E-414C-4568-89A6-24B791B70D28}" destId="{4AD284EB-246E-4AAF-A2CF-4B53432A4A60}" srcOrd="0" destOrd="0" presId="urn:microsoft.com/office/officeart/2005/8/layout/vList2"/>
    <dgm:cxn modelId="{12D2DACC-F178-4636-B1E6-6E078138E469}" srcId="{198C33C4-E297-43FB-A302-1B894FD17C55}" destId="{A54DDA16-C69F-4B64-A702-7FFE2B54B57C}" srcOrd="1" destOrd="0" parTransId="{3E3670BC-5444-4385-AA1E-7D253EE9F24B}" sibTransId="{463CDB5A-1D2E-4534-9E3C-E078DDA9F2AF}"/>
    <dgm:cxn modelId="{FA542ED9-EA96-4924-95F4-BD298664EF3D}" type="presOf" srcId="{198C33C4-E297-43FB-A302-1B894FD17C55}" destId="{23F529FD-3F3E-4141-A04B-5D6C83260B02}" srcOrd="0" destOrd="0" presId="urn:microsoft.com/office/officeart/2005/8/layout/vList2"/>
    <dgm:cxn modelId="{3B9DD7F9-140A-4D67-8116-5C16DF3658E8}" srcId="{198C33C4-E297-43FB-A302-1B894FD17C55}" destId="{DF1EE03E-414C-4568-89A6-24B791B70D28}" srcOrd="3" destOrd="0" parTransId="{6596B688-0735-45C2-A373-3CC94D96E6DC}" sibTransId="{01B66F6A-2521-487E-B258-668E276F6602}"/>
    <dgm:cxn modelId="{8331F1DC-00E1-452A-A200-FE06D3FA9EB3}" type="presParOf" srcId="{23F529FD-3F3E-4141-A04B-5D6C83260B02}" destId="{537954F2-68B9-451F-A04E-DB007FEB3373}" srcOrd="0" destOrd="0" presId="urn:microsoft.com/office/officeart/2005/8/layout/vList2"/>
    <dgm:cxn modelId="{C41AF5B5-CAF6-4E21-B3C2-07B13C808941}" type="presParOf" srcId="{23F529FD-3F3E-4141-A04B-5D6C83260B02}" destId="{3DE9A8A6-67C4-44F9-8DB9-1717CEFC4F38}" srcOrd="1" destOrd="0" presId="urn:microsoft.com/office/officeart/2005/8/layout/vList2"/>
    <dgm:cxn modelId="{F8EF5013-DC62-46A4-8819-50AE935D7A23}" type="presParOf" srcId="{23F529FD-3F3E-4141-A04B-5D6C83260B02}" destId="{F4C9FEF9-008C-4113-BF94-0232E2E47AB4}" srcOrd="2" destOrd="0" presId="urn:microsoft.com/office/officeart/2005/8/layout/vList2"/>
    <dgm:cxn modelId="{C727D17C-2B70-490A-A0CA-4629D3C8CE61}" type="presParOf" srcId="{23F529FD-3F3E-4141-A04B-5D6C83260B02}" destId="{DC1F2FF3-5D33-4C41-A40E-C82A494DA769}" srcOrd="3" destOrd="0" presId="urn:microsoft.com/office/officeart/2005/8/layout/vList2"/>
    <dgm:cxn modelId="{D3767B80-DE3B-4D44-ACFE-5681276DB190}" type="presParOf" srcId="{23F529FD-3F3E-4141-A04B-5D6C83260B02}" destId="{465FF9C3-0CAA-4AB1-B2BB-A3C7C2D3DDFA}" srcOrd="4" destOrd="0" presId="urn:microsoft.com/office/officeart/2005/8/layout/vList2"/>
    <dgm:cxn modelId="{1528EA8D-D36D-4F6E-88FA-A6E47C4C6236}" type="presParOf" srcId="{23F529FD-3F3E-4141-A04B-5D6C83260B02}" destId="{BB36DCFE-5868-4E3A-B7C7-C01A8E4E0F67}" srcOrd="5" destOrd="0" presId="urn:microsoft.com/office/officeart/2005/8/layout/vList2"/>
    <dgm:cxn modelId="{9626C08A-C114-4F1D-9508-894E980C908D}" type="presParOf" srcId="{23F529FD-3F3E-4141-A04B-5D6C83260B02}" destId="{4AD284EB-246E-4AAF-A2CF-4B53432A4A6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7954F2-68B9-451F-A04E-DB007FEB3373}">
      <dsp:nvSpPr>
        <dsp:cNvPr id="0" name=""/>
        <dsp:cNvSpPr/>
      </dsp:nvSpPr>
      <dsp:spPr>
        <a:xfrm>
          <a:off x="0" y="46309"/>
          <a:ext cx="5000124" cy="127120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Nested </a:t>
          </a:r>
          <a:r>
            <a:rPr lang="en-US" sz="3200" b="1" kern="1200"/>
            <a:t>if </a:t>
          </a:r>
          <a:r>
            <a:rPr lang="en-US" sz="3200" kern="1200"/>
            <a:t>statement</a:t>
          </a:r>
        </a:p>
      </dsp:txBody>
      <dsp:txXfrm>
        <a:off x="62055" y="108364"/>
        <a:ext cx="4876014" cy="1147095"/>
      </dsp:txXfrm>
    </dsp:sp>
    <dsp:sp modelId="{F4C9FEF9-008C-4113-BF94-0232E2E47AB4}">
      <dsp:nvSpPr>
        <dsp:cNvPr id="0" name=""/>
        <dsp:cNvSpPr/>
      </dsp:nvSpPr>
      <dsp:spPr>
        <a:xfrm>
          <a:off x="0" y="1409674"/>
          <a:ext cx="5000124" cy="1271205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shade val="51000"/>
                <a:satMod val="130000"/>
              </a:schemeClr>
            </a:gs>
            <a:gs pos="80000">
              <a:schemeClr val="accent5">
                <a:hueOff val="-3311292"/>
                <a:satOff val="13270"/>
                <a:lumOff val="2876"/>
                <a:alphaOff val="0"/>
                <a:shade val="93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Multi-way </a:t>
          </a:r>
          <a:r>
            <a:rPr lang="en-US" sz="3200" b="1" kern="1200"/>
            <a:t>if-else if-else </a:t>
          </a:r>
          <a:r>
            <a:rPr lang="en-US" sz="3200" kern="1200"/>
            <a:t>statement</a:t>
          </a:r>
        </a:p>
      </dsp:txBody>
      <dsp:txXfrm>
        <a:off x="62055" y="1471729"/>
        <a:ext cx="4876014" cy="1147095"/>
      </dsp:txXfrm>
    </dsp:sp>
    <dsp:sp modelId="{465FF9C3-0CAA-4AB1-B2BB-A3C7C2D3DDFA}">
      <dsp:nvSpPr>
        <dsp:cNvPr id="0" name=""/>
        <dsp:cNvSpPr/>
      </dsp:nvSpPr>
      <dsp:spPr>
        <a:xfrm>
          <a:off x="0" y="2773040"/>
          <a:ext cx="5000124" cy="1271205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shade val="51000"/>
                <a:satMod val="130000"/>
              </a:schemeClr>
            </a:gs>
            <a:gs pos="80000">
              <a:schemeClr val="accent5">
                <a:hueOff val="-6622584"/>
                <a:satOff val="26541"/>
                <a:lumOff val="5752"/>
                <a:alphaOff val="0"/>
                <a:shade val="93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Logical Operators</a:t>
          </a:r>
        </a:p>
      </dsp:txBody>
      <dsp:txXfrm>
        <a:off x="62055" y="2835095"/>
        <a:ext cx="4876014" cy="1147095"/>
      </dsp:txXfrm>
    </dsp:sp>
    <dsp:sp modelId="{4AD284EB-246E-4AAF-A2CF-4B53432A4A60}">
      <dsp:nvSpPr>
        <dsp:cNvPr id="0" name=""/>
        <dsp:cNvSpPr/>
      </dsp:nvSpPr>
      <dsp:spPr>
        <a:xfrm>
          <a:off x="0" y="4136405"/>
          <a:ext cx="5000124" cy="1271205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Conditional Expressions</a:t>
          </a:r>
        </a:p>
      </dsp:txBody>
      <dsp:txXfrm>
        <a:off x="62055" y="4198460"/>
        <a:ext cx="4876014" cy="1147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0C2BB-0A71-43EC-8B6B-1FC2E576D30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406AD-5AEF-4217-BA9D-D06D426BC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6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CC05-6431-4DE6-A8DC-A8F2CBF452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54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1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699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7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5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3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7891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8851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899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6803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2947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7043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9091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1139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3187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5235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7283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9331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8371" name="Text Box 2"/>
          <p:cNvSpPr txBox="1">
            <a:spLocks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0419" name="Text Box 2"/>
          <p:cNvSpPr txBox="1">
            <a:spLocks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2467" name="Text Box 2"/>
          <p:cNvSpPr txBox="1">
            <a:spLocks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4515" name="Text Box 2"/>
          <p:cNvSpPr txBox="1">
            <a:spLocks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CC05-6431-4DE6-A8DC-A8F2CBF452A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17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7C4F55-6C10-566B-C8DE-39CE82462F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56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Lecture Outline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0FB999DD-D286-345B-B209-E4EB17F968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224598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797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Nested Decision Structures</a:t>
            </a:r>
            <a:endParaRPr lang="he-IL" altLang="en-US" sz="4000" dirty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068763"/>
          </a:xfrm>
        </p:spPr>
        <p:txBody>
          <a:bodyPr>
            <a:noAutofit/>
          </a:bodyPr>
          <a:lstStyle/>
          <a:p>
            <a:r>
              <a:rPr lang="en-US" altLang="en-US" sz="2400" b="1" dirty="0"/>
              <a:t>Example: </a:t>
            </a:r>
          </a:p>
          <a:p>
            <a:pPr lvl="1"/>
            <a:r>
              <a:rPr lang="en-US" altLang="en-US" sz="2400" dirty="0"/>
              <a:t>Determine if someone qualifies for a loan, they must meet two conditions:</a:t>
            </a:r>
          </a:p>
          <a:p>
            <a:pPr lvl="2"/>
            <a:r>
              <a:rPr lang="en-US" altLang="en-US" sz="2000" dirty="0"/>
              <a:t>Must earn at least $30,000/year</a:t>
            </a:r>
          </a:p>
          <a:p>
            <a:pPr lvl="2"/>
            <a:r>
              <a:rPr lang="en-US" altLang="en-US" sz="2000" dirty="0"/>
              <a:t>Must have been employed for at least two years</a:t>
            </a:r>
          </a:p>
          <a:p>
            <a:pPr lvl="1"/>
            <a:r>
              <a:rPr lang="en-US" altLang="en-US" sz="2400" dirty="0"/>
              <a:t>Check first condition, and if it is true, check second condition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62636" y="1496115"/>
            <a:ext cx="883920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An if statement can be inside another if statement to form a nested if statement</a:t>
            </a:r>
          </a:p>
        </p:txBody>
      </p:sp>
    </p:spTree>
    <p:extLst>
      <p:ext uri="{BB962C8B-B14F-4D97-AF65-F5344CB8AC3E}">
        <p14:creationId xmlns:p14="http://schemas.microsoft.com/office/powerpoint/2010/main" val="3269646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7"/>
          <a:stretch/>
        </p:blipFill>
        <p:spPr bwMode="auto">
          <a:xfrm>
            <a:off x="586897" y="1371600"/>
            <a:ext cx="7780283" cy="4950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Nested Decision Structures – Example 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C8C74-4A28-42C1-92A0-1CB51970C1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89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Multiple Alternative if Statements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90600" y="2313801"/>
            <a:ext cx="7232073" cy="3967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/>
              <a:t>if (condition)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/>
              <a:t>      statement;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/>
              <a:t>else if (condition)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/>
              <a:t>      statement;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/>
              <a:t>   . 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/>
              <a:t>else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/>
              <a:t>      statement; 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695" y="144638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dirty="0"/>
              <a:t>Syntax</a:t>
            </a:r>
          </a:p>
        </p:txBody>
      </p:sp>
      <p:sp>
        <p:nvSpPr>
          <p:cNvPr id="6" name="AutoShape 3" descr="if-else-if-ladd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1" r="10558"/>
          <a:stretch/>
        </p:blipFill>
        <p:spPr bwMode="auto">
          <a:xfrm>
            <a:off x="4405744" y="1446388"/>
            <a:ext cx="4560917" cy="5411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1997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0" y="2033588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auto">
          <a:xfrm>
            <a:off x="0" y="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pic>
        <p:nvPicPr>
          <p:cNvPr id="2663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625475"/>
            <a:ext cx="7588250" cy="585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631" name="Text Box 6"/>
          <p:cNvSpPr txBox="1">
            <a:spLocks noChangeArrowheads="1"/>
          </p:cNvSpPr>
          <p:nvPr/>
        </p:nvSpPr>
        <p:spPr bwMode="auto">
          <a:xfrm>
            <a:off x="685800" y="203200"/>
            <a:ext cx="800100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 dirty="0">
                <a:latin typeface="+mj-lt"/>
              </a:rPr>
              <a:t>Multi-Way if-else Statements</a:t>
            </a:r>
          </a:p>
        </p:txBody>
      </p:sp>
    </p:spTree>
    <p:extLst>
      <p:ext uri="{BB962C8B-B14F-4D97-AF65-F5344CB8AC3E}">
        <p14:creationId xmlns:p14="http://schemas.microsoft.com/office/powerpoint/2010/main" val="18934576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0" y="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graphicFrame>
        <p:nvGraphicFramePr>
          <p:cNvPr id="24582" name="Object 5"/>
          <p:cNvGraphicFramePr>
            <a:graphicFrameLocks noChangeAspect="1"/>
          </p:cNvGraphicFramePr>
          <p:nvPr/>
        </p:nvGraphicFramePr>
        <p:xfrm>
          <a:off x="117475" y="1700213"/>
          <a:ext cx="8909050" cy="367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486613" imgH="1849336" progId="">
                  <p:embed/>
                </p:oleObj>
              </mc:Choice>
              <mc:Fallback>
                <p:oleObj r:id="rId3" imgW="4486613" imgH="1849336" progId="">
                  <p:embed/>
                  <p:pic>
                    <p:nvPicPr>
                      <p:cNvPr id="2458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75" y="1700213"/>
                        <a:ext cx="8909050" cy="3671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Multiple Alternative if Statements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527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685800" y="0"/>
            <a:ext cx="8001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>
                <a:latin typeface="+mj-lt"/>
              </a:rPr>
              <a:t>Trace if-else statement</a:t>
            </a:r>
          </a:p>
        </p:txBody>
      </p:sp>
      <p:sp>
        <p:nvSpPr>
          <p:cNvPr id="28676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28677" name="Text Box 4"/>
          <p:cNvSpPr txBox="1">
            <a:spLocks noChangeArrowheads="1"/>
          </p:cNvSpPr>
          <p:nvPr/>
        </p:nvSpPr>
        <p:spPr bwMode="auto">
          <a:xfrm>
            <a:off x="381000" y="1524000"/>
            <a:ext cx="3429000" cy="375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if (score &gt;= 90.0)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System.out.print("A");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80.0)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System.out.print("B");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70.0)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System.out.print("C");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60.0)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System.out.print("D");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System.out.print("F");</a:t>
            </a:r>
          </a:p>
        </p:txBody>
      </p:sp>
      <p:sp>
        <p:nvSpPr>
          <p:cNvPr id="28678" name="AutoShape 5"/>
          <p:cNvSpPr>
            <a:spLocks noChangeArrowheads="1"/>
          </p:cNvSpPr>
          <p:nvPr/>
        </p:nvSpPr>
        <p:spPr bwMode="auto">
          <a:xfrm>
            <a:off x="533400" y="914400"/>
            <a:ext cx="2590800" cy="536575"/>
          </a:xfrm>
          <a:prstGeom prst="wedgeRoundRectCallout">
            <a:avLst>
              <a:gd name="adj1" fmla="val -16421"/>
              <a:gd name="adj2" fmla="val 88463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Suppose score is 70.0</a:t>
            </a:r>
          </a:p>
        </p:txBody>
      </p:sp>
      <p:sp>
        <p:nvSpPr>
          <p:cNvPr id="28679" name="Rectangle 6"/>
          <p:cNvSpPr>
            <a:spLocks noChangeArrowheads="1"/>
          </p:cNvSpPr>
          <p:nvPr/>
        </p:nvSpPr>
        <p:spPr bwMode="auto">
          <a:xfrm>
            <a:off x="381000" y="1600200"/>
            <a:ext cx="3048000" cy="381000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  <p:sp>
        <p:nvSpPr>
          <p:cNvPr id="28680" name="AutoShape 7"/>
          <p:cNvSpPr>
            <a:spLocks noChangeArrowheads="1"/>
          </p:cNvSpPr>
          <p:nvPr/>
        </p:nvSpPr>
        <p:spPr bwMode="auto">
          <a:xfrm>
            <a:off x="3810000" y="914400"/>
            <a:ext cx="2590800" cy="536575"/>
          </a:xfrm>
          <a:prstGeom prst="wedgeRoundRectCallout">
            <a:avLst>
              <a:gd name="adj1" fmla="val -99144"/>
              <a:gd name="adj2" fmla="val 90236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The condition is false</a:t>
            </a:r>
          </a:p>
        </p:txBody>
      </p:sp>
    </p:spTree>
    <p:extLst>
      <p:ext uri="{BB962C8B-B14F-4D97-AF65-F5344CB8AC3E}">
        <p14:creationId xmlns:p14="http://schemas.microsoft.com/office/powerpoint/2010/main" val="40339618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685800" y="0"/>
            <a:ext cx="8001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/>
              <a:t>Trace if-else statement</a:t>
            </a:r>
          </a:p>
        </p:txBody>
      </p:sp>
      <p:sp>
        <p:nvSpPr>
          <p:cNvPr id="30724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30725" name="Text Box 4"/>
          <p:cNvSpPr txBox="1">
            <a:spLocks noChangeArrowheads="1"/>
          </p:cNvSpPr>
          <p:nvPr/>
        </p:nvSpPr>
        <p:spPr bwMode="auto">
          <a:xfrm>
            <a:off x="381000" y="1524000"/>
            <a:ext cx="3429000" cy="375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if (score &gt;= 90.0)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System.out.print("A");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80.0)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System.out.print("B");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70.0)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System.out.print("C");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60.0)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System.out.print("D");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System.out.print("F");</a:t>
            </a:r>
          </a:p>
        </p:txBody>
      </p:sp>
      <p:sp>
        <p:nvSpPr>
          <p:cNvPr id="30726" name="AutoShape 5"/>
          <p:cNvSpPr>
            <a:spLocks noChangeArrowheads="1"/>
          </p:cNvSpPr>
          <p:nvPr/>
        </p:nvSpPr>
        <p:spPr bwMode="auto">
          <a:xfrm>
            <a:off x="533400" y="914400"/>
            <a:ext cx="2590800" cy="536575"/>
          </a:xfrm>
          <a:prstGeom prst="wedgeRoundRectCallout">
            <a:avLst>
              <a:gd name="adj1" fmla="val -16421"/>
              <a:gd name="adj2" fmla="val 88463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Suppose score is 70.0</a:t>
            </a:r>
          </a:p>
        </p:txBody>
      </p:sp>
      <p:sp>
        <p:nvSpPr>
          <p:cNvPr id="30727" name="AutoShape 6"/>
          <p:cNvSpPr>
            <a:spLocks noChangeArrowheads="1"/>
          </p:cNvSpPr>
          <p:nvPr/>
        </p:nvSpPr>
        <p:spPr bwMode="auto">
          <a:xfrm>
            <a:off x="3810000" y="914400"/>
            <a:ext cx="2590800" cy="536575"/>
          </a:xfrm>
          <a:prstGeom prst="wedgeRoundRectCallout">
            <a:avLst>
              <a:gd name="adj1" fmla="val -87745"/>
              <a:gd name="adj2" fmla="val 222782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The condition is false</a:t>
            </a:r>
          </a:p>
        </p:txBody>
      </p:sp>
      <p:sp>
        <p:nvSpPr>
          <p:cNvPr id="30728" name="Rectangle 7"/>
          <p:cNvSpPr>
            <a:spLocks noChangeArrowheads="1"/>
          </p:cNvSpPr>
          <p:nvPr/>
        </p:nvSpPr>
        <p:spPr bwMode="auto">
          <a:xfrm>
            <a:off x="381000" y="2286000"/>
            <a:ext cx="3048000" cy="381000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161141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685800" y="0"/>
            <a:ext cx="8001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/>
              <a:t>Trace if-else statement</a:t>
            </a:r>
          </a:p>
        </p:txBody>
      </p:sp>
      <p:sp>
        <p:nvSpPr>
          <p:cNvPr id="32772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32773" name="Text Box 4"/>
          <p:cNvSpPr txBox="1">
            <a:spLocks noChangeArrowheads="1"/>
          </p:cNvSpPr>
          <p:nvPr/>
        </p:nvSpPr>
        <p:spPr bwMode="auto">
          <a:xfrm>
            <a:off x="381000" y="1524000"/>
            <a:ext cx="3429000" cy="375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if (score &gt;= 90.0)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System.out.print("A");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80.0)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System.out.print("B");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70.0)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System.out.print("C");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60.0)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System.out.print("D");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System.out.print("F");</a:t>
            </a:r>
          </a:p>
        </p:txBody>
      </p:sp>
      <p:sp>
        <p:nvSpPr>
          <p:cNvPr id="32774" name="AutoShape 5"/>
          <p:cNvSpPr>
            <a:spLocks noChangeArrowheads="1"/>
          </p:cNvSpPr>
          <p:nvPr/>
        </p:nvSpPr>
        <p:spPr bwMode="auto">
          <a:xfrm>
            <a:off x="533400" y="914400"/>
            <a:ext cx="2590800" cy="536575"/>
          </a:xfrm>
          <a:prstGeom prst="wedgeRoundRectCallout">
            <a:avLst>
              <a:gd name="adj1" fmla="val -16421"/>
              <a:gd name="adj2" fmla="val 88463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Suppose score is 70.0</a:t>
            </a:r>
          </a:p>
        </p:txBody>
      </p:sp>
      <p:sp>
        <p:nvSpPr>
          <p:cNvPr id="32775" name="AutoShape 6"/>
          <p:cNvSpPr>
            <a:spLocks noChangeArrowheads="1"/>
          </p:cNvSpPr>
          <p:nvPr/>
        </p:nvSpPr>
        <p:spPr bwMode="auto">
          <a:xfrm>
            <a:off x="3810000" y="914400"/>
            <a:ext cx="2590800" cy="536575"/>
          </a:xfrm>
          <a:prstGeom prst="wedgeRoundRectCallout">
            <a:avLst>
              <a:gd name="adj1" fmla="val -79472"/>
              <a:gd name="adj2" fmla="val 357102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The condition is true</a:t>
            </a:r>
          </a:p>
        </p:txBody>
      </p:sp>
      <p:sp>
        <p:nvSpPr>
          <p:cNvPr id="32776" name="Rectangle 7"/>
          <p:cNvSpPr>
            <a:spLocks noChangeArrowheads="1"/>
          </p:cNvSpPr>
          <p:nvPr/>
        </p:nvSpPr>
        <p:spPr bwMode="auto">
          <a:xfrm>
            <a:off x="381000" y="3048000"/>
            <a:ext cx="3048000" cy="381000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670693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ext Box 2"/>
          <p:cNvSpPr txBox="1">
            <a:spLocks noChangeArrowheads="1"/>
          </p:cNvSpPr>
          <p:nvPr/>
        </p:nvSpPr>
        <p:spPr bwMode="auto">
          <a:xfrm>
            <a:off x="685800" y="0"/>
            <a:ext cx="8001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 dirty="0">
                <a:latin typeface="+mj-lt"/>
              </a:rPr>
              <a:t>Trace if-else statement</a:t>
            </a:r>
          </a:p>
        </p:txBody>
      </p:sp>
      <p:sp>
        <p:nvSpPr>
          <p:cNvPr id="34820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34821" name="Text Box 4"/>
          <p:cNvSpPr txBox="1">
            <a:spLocks noChangeArrowheads="1"/>
          </p:cNvSpPr>
          <p:nvPr/>
        </p:nvSpPr>
        <p:spPr bwMode="auto">
          <a:xfrm>
            <a:off x="381000" y="1524000"/>
            <a:ext cx="3429000" cy="375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if (score &gt;= 90.0)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System.out.print("A");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80.0)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System.out.print("B");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70.0)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System.out.print("C");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60.0)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System.out.print("D");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System.out.print("F");</a:t>
            </a:r>
          </a:p>
        </p:txBody>
      </p:sp>
      <p:sp>
        <p:nvSpPr>
          <p:cNvPr id="34822" name="AutoShape 5"/>
          <p:cNvSpPr>
            <a:spLocks noChangeArrowheads="1"/>
          </p:cNvSpPr>
          <p:nvPr/>
        </p:nvSpPr>
        <p:spPr bwMode="auto">
          <a:xfrm>
            <a:off x="533400" y="914400"/>
            <a:ext cx="2590800" cy="536575"/>
          </a:xfrm>
          <a:prstGeom prst="wedgeRoundRectCallout">
            <a:avLst>
              <a:gd name="adj1" fmla="val -16421"/>
              <a:gd name="adj2" fmla="val 88463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Suppose score is 70.0</a:t>
            </a:r>
          </a:p>
        </p:txBody>
      </p:sp>
      <p:sp>
        <p:nvSpPr>
          <p:cNvPr id="34823" name="AutoShape 6"/>
          <p:cNvSpPr>
            <a:spLocks noChangeArrowheads="1"/>
          </p:cNvSpPr>
          <p:nvPr/>
        </p:nvSpPr>
        <p:spPr bwMode="auto">
          <a:xfrm>
            <a:off x="3810000" y="914400"/>
            <a:ext cx="2590800" cy="536575"/>
          </a:xfrm>
          <a:prstGeom prst="wedgeRoundRectCallout">
            <a:avLst>
              <a:gd name="adj1" fmla="val -78676"/>
              <a:gd name="adj2" fmla="val 453551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grade is C</a:t>
            </a:r>
          </a:p>
        </p:txBody>
      </p:sp>
      <p:sp>
        <p:nvSpPr>
          <p:cNvPr id="34824" name="Rectangle 7"/>
          <p:cNvSpPr>
            <a:spLocks noChangeArrowheads="1"/>
          </p:cNvSpPr>
          <p:nvPr/>
        </p:nvSpPr>
        <p:spPr bwMode="auto">
          <a:xfrm>
            <a:off x="381000" y="3429000"/>
            <a:ext cx="3048000" cy="381000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360667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685800" y="0"/>
            <a:ext cx="8001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>
                <a:latin typeface="+mj-lt"/>
              </a:rPr>
              <a:t>Trace if-else statement</a:t>
            </a:r>
          </a:p>
        </p:txBody>
      </p:sp>
      <p:sp>
        <p:nvSpPr>
          <p:cNvPr id="36868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36869" name="Text Box 4"/>
          <p:cNvSpPr txBox="1">
            <a:spLocks noChangeArrowheads="1"/>
          </p:cNvSpPr>
          <p:nvPr/>
        </p:nvSpPr>
        <p:spPr bwMode="auto">
          <a:xfrm>
            <a:off x="381000" y="1524000"/>
            <a:ext cx="3429000" cy="375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if (score &gt;= 90.0)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System.out.print("A");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80.0)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System.out.print("B");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70.0)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System.out.print("C");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60.0)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System.out.print("D");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System.out.print("F");</a:t>
            </a:r>
          </a:p>
        </p:txBody>
      </p:sp>
      <p:sp>
        <p:nvSpPr>
          <p:cNvPr id="36870" name="AutoShape 5"/>
          <p:cNvSpPr>
            <a:spLocks noChangeArrowheads="1"/>
          </p:cNvSpPr>
          <p:nvPr/>
        </p:nvSpPr>
        <p:spPr bwMode="auto">
          <a:xfrm>
            <a:off x="533400" y="914400"/>
            <a:ext cx="2590800" cy="536575"/>
          </a:xfrm>
          <a:prstGeom prst="wedgeRoundRectCallout">
            <a:avLst>
              <a:gd name="adj1" fmla="val -16421"/>
              <a:gd name="adj2" fmla="val 88463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Suppose score is 70.0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381000" y="5334000"/>
            <a:ext cx="3048000" cy="381000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381000" y="5257800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81000" y="5334000"/>
            <a:ext cx="3048000" cy="381000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  <p:sp>
        <p:nvSpPr>
          <p:cNvPr id="36874" name="AutoShape 9"/>
          <p:cNvSpPr>
            <a:spLocks noChangeArrowheads="1"/>
          </p:cNvSpPr>
          <p:nvPr/>
        </p:nvSpPr>
        <p:spPr bwMode="auto">
          <a:xfrm>
            <a:off x="3810000" y="914400"/>
            <a:ext cx="2590800" cy="536575"/>
          </a:xfrm>
          <a:prstGeom prst="wedgeRoundRectCallout">
            <a:avLst>
              <a:gd name="adj1" fmla="val -88847"/>
              <a:gd name="adj2" fmla="val 817162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Exit the if statement</a:t>
            </a:r>
          </a:p>
        </p:txBody>
      </p:sp>
    </p:spTree>
    <p:extLst>
      <p:ext uri="{BB962C8B-B14F-4D97-AF65-F5344CB8AC3E}">
        <p14:creationId xmlns:p14="http://schemas.microsoft.com/office/powerpoint/2010/main" val="15694200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533401"/>
            <a:ext cx="65532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24" y="2532846"/>
            <a:ext cx="6577207" cy="175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6705600" y="3041758"/>
            <a:ext cx="23643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else </a:t>
            </a:r>
            <a:r>
              <a:rPr lang="en-US" dirty="0"/>
              <a:t>clause always matches the most recent unmatched </a:t>
            </a:r>
            <a:r>
              <a:rPr lang="en-US" b="1" dirty="0"/>
              <a:t>if</a:t>
            </a:r>
            <a:r>
              <a:rPr lang="en-US" dirty="0"/>
              <a:t> clause in the same block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629400" y="2667000"/>
            <a:ext cx="24641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Dangling else ambiguity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23" y="4716887"/>
            <a:ext cx="2643398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979504" y="519380"/>
            <a:ext cx="3110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Wrong Semicolon at the if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5201" y="501722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/>
              <a:t>To force the </a:t>
            </a:r>
            <a:r>
              <a:rPr lang="en-US" b="1" i="1" dirty="0"/>
              <a:t>else</a:t>
            </a:r>
            <a:r>
              <a:rPr lang="en-US" i="1" dirty="0"/>
              <a:t> clause to match the first </a:t>
            </a:r>
            <a:r>
              <a:rPr lang="en-US" b="1" i="1" dirty="0"/>
              <a:t>if</a:t>
            </a:r>
            <a:r>
              <a:rPr lang="en-US" i="1" dirty="0"/>
              <a:t> clause, you must add a pair of braces</a:t>
            </a:r>
          </a:p>
        </p:txBody>
      </p:sp>
    </p:spTree>
    <p:extLst>
      <p:ext uri="{BB962C8B-B14F-4D97-AF65-F5344CB8AC3E}">
        <p14:creationId xmlns:p14="http://schemas.microsoft.com/office/powerpoint/2010/main" val="1044995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62000" y="4024649"/>
            <a:ext cx="807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Suppose x = 2 and y = 3. Show the output, if any, of the following code. What is </a:t>
            </a:r>
          </a:p>
          <a:p>
            <a:r>
              <a:rPr lang="en-US" dirty="0"/>
              <a:t>the output if x = 3 and y = 2? What is the output if x = 3 and y = 3?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0" y="467098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if (x &gt; 2)</a:t>
            </a:r>
          </a:p>
          <a:p>
            <a:r>
              <a:rPr lang="en-US" dirty="0"/>
              <a:t>     if (y &gt; 2) {</a:t>
            </a:r>
          </a:p>
          <a:p>
            <a:r>
              <a:rPr lang="en-US" dirty="0"/>
              <a:t>          </a:t>
            </a:r>
            <a:r>
              <a:rPr lang="en-US" dirty="0" err="1"/>
              <a:t>int</a:t>
            </a:r>
            <a:r>
              <a:rPr lang="en-US" dirty="0"/>
              <a:t> z = x + y;</a:t>
            </a:r>
          </a:p>
          <a:p>
            <a:r>
              <a:rPr lang="en-US" dirty="0"/>
              <a:t>         </a:t>
            </a:r>
            <a:r>
              <a:rPr lang="en-US" dirty="0" err="1"/>
              <a:t>System.out.println</a:t>
            </a:r>
            <a:r>
              <a:rPr lang="en-US" dirty="0"/>
              <a:t>("z is " + z);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</a:t>
            </a:r>
            <a:r>
              <a:rPr lang="en-US" dirty="0" err="1"/>
              <a:t>System.out.println</a:t>
            </a:r>
            <a:r>
              <a:rPr lang="en-US" dirty="0"/>
              <a:t>("x is " + x);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762000" y="480605"/>
            <a:ext cx="3739769" cy="3219917"/>
            <a:chOff x="762000" y="480605"/>
            <a:chExt cx="3739769" cy="3219917"/>
          </a:xfrm>
        </p:grpSpPr>
        <p:sp>
          <p:nvSpPr>
            <p:cNvPr id="2" name="Rectangle 1"/>
            <p:cNvSpPr/>
            <p:nvPr/>
          </p:nvSpPr>
          <p:spPr>
            <a:xfrm>
              <a:off x="762000" y="838200"/>
              <a:ext cx="3429000" cy="28623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if (score &gt;= 60.0)  </a:t>
              </a:r>
            </a:p>
            <a:p>
              <a:r>
                <a:rPr lang="en-US" dirty="0"/>
                <a:t>	</a:t>
              </a:r>
              <a:r>
                <a:rPr lang="en-US" dirty="0" err="1"/>
                <a:t>System.out.println</a:t>
              </a:r>
              <a:r>
                <a:rPr lang="en-US" dirty="0"/>
                <a:t>("D");</a:t>
              </a:r>
            </a:p>
            <a:p>
              <a:r>
                <a:rPr lang="en-US" dirty="0"/>
                <a:t>else if (score &gt;= 70.0)  </a:t>
              </a:r>
            </a:p>
            <a:p>
              <a:r>
                <a:rPr lang="en-US" dirty="0"/>
                <a:t>	</a:t>
              </a:r>
              <a:r>
                <a:rPr lang="en-US" dirty="0" err="1"/>
                <a:t>System.out.println</a:t>
              </a:r>
              <a:r>
                <a:rPr lang="en-US" dirty="0"/>
                <a:t>("C");</a:t>
              </a:r>
            </a:p>
            <a:p>
              <a:r>
                <a:rPr lang="en-US" dirty="0"/>
                <a:t>else if (score &gt;= 80.0) </a:t>
              </a:r>
            </a:p>
            <a:p>
              <a:r>
                <a:rPr lang="en-US" dirty="0"/>
                <a:t>	</a:t>
              </a:r>
              <a:r>
                <a:rPr lang="en-US" dirty="0" err="1"/>
                <a:t>System.out.println</a:t>
              </a:r>
              <a:r>
                <a:rPr lang="en-US" dirty="0"/>
                <a:t>("B");</a:t>
              </a:r>
            </a:p>
            <a:p>
              <a:r>
                <a:rPr lang="en-US" dirty="0"/>
                <a:t>else if (score &gt;= 90.0)  </a:t>
              </a:r>
            </a:p>
            <a:p>
              <a:r>
                <a:rPr lang="en-US" dirty="0"/>
                <a:t>	</a:t>
              </a:r>
              <a:r>
                <a:rPr lang="en-US" dirty="0" err="1"/>
                <a:t>System.out.println</a:t>
              </a:r>
              <a:r>
                <a:rPr lang="en-US" dirty="0"/>
                <a:t>("A");</a:t>
              </a:r>
            </a:p>
            <a:p>
              <a:r>
                <a:rPr lang="en-US" dirty="0"/>
                <a:t>else  </a:t>
              </a:r>
            </a:p>
            <a:p>
              <a:r>
                <a:rPr lang="en-US" dirty="0"/>
                <a:t>	</a:t>
              </a:r>
              <a:r>
                <a:rPr lang="en-US" dirty="0" err="1"/>
                <a:t>System.out.println</a:t>
              </a:r>
              <a:r>
                <a:rPr lang="en-US" dirty="0"/>
                <a:t>("F");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768439" y="480605"/>
              <a:ext cx="37333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What is wrong in the following code?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402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6055" y="2013466"/>
            <a:ext cx="4088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Simplifying Boolean Variable Assignment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52400"/>
            <a:ext cx="4156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Equality Test of Two Floating-Point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5400" y="6858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double x = 1.0 - 0.1 - 0.1 - 0.1 - 0.1 - 0.1;</a:t>
            </a:r>
          </a:p>
          <a:p>
            <a:r>
              <a:rPr lang="en-US" dirty="0" err="1"/>
              <a:t>System.out.println</a:t>
            </a:r>
            <a:r>
              <a:rPr lang="en-US" dirty="0"/>
              <a:t>(x == 0.5);</a:t>
            </a:r>
          </a:p>
        </p:txBody>
      </p:sp>
      <p:sp>
        <p:nvSpPr>
          <p:cNvPr id="5" name="Rectangle 4"/>
          <p:cNvSpPr/>
          <p:nvPr/>
        </p:nvSpPr>
        <p:spPr>
          <a:xfrm>
            <a:off x="387438" y="1332131"/>
            <a:ext cx="68515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x is not exactly 0.5, but is 0.5000000000000001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14600"/>
            <a:ext cx="7145032" cy="148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1763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Text Box 2"/>
          <p:cNvSpPr txBox="1">
            <a:spLocks noChangeArrowheads="1"/>
          </p:cNvSpPr>
          <p:nvPr/>
        </p:nvSpPr>
        <p:spPr bwMode="auto">
          <a:xfrm>
            <a:off x="685800" y="165100"/>
            <a:ext cx="7772400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3800">
                <a:latin typeface="Courier New" pitchFamily="49" charset="0"/>
              </a:rPr>
              <a:t>switch</a:t>
            </a:r>
            <a:r>
              <a:rPr lang="en-US" altLang="en-US" sz="4000"/>
              <a:t> Statement Flow Chart</a:t>
            </a:r>
          </a:p>
        </p:txBody>
      </p:sp>
      <p:sp>
        <p:nvSpPr>
          <p:cNvPr id="77828" name="Rectangle 3"/>
          <p:cNvSpPr>
            <a:spLocks noChangeArrowheads="1"/>
          </p:cNvSpPr>
          <p:nvPr/>
        </p:nvSpPr>
        <p:spPr bwMode="auto">
          <a:xfrm>
            <a:off x="2743200" y="188595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77829" name="Rectangle 4"/>
          <p:cNvSpPr>
            <a:spLocks noChangeArrowheads="1"/>
          </p:cNvSpPr>
          <p:nvPr/>
        </p:nvSpPr>
        <p:spPr bwMode="auto">
          <a:xfrm>
            <a:off x="0" y="188595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pic>
        <p:nvPicPr>
          <p:cNvPr id="7783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" y="1035050"/>
            <a:ext cx="80645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7569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Text Box 2"/>
          <p:cNvSpPr txBox="1">
            <a:spLocks noChangeArrowheads="1"/>
          </p:cNvSpPr>
          <p:nvPr/>
        </p:nvSpPr>
        <p:spPr bwMode="auto">
          <a:xfrm>
            <a:off x="685800" y="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200" dirty="0">
                <a:latin typeface="Courier New" pitchFamily="49" charset="0"/>
              </a:rPr>
              <a:t>switch</a:t>
            </a:r>
            <a:r>
              <a:rPr lang="en-US" altLang="en-US" sz="4400" dirty="0"/>
              <a:t> Statement Rules</a:t>
            </a:r>
          </a:p>
        </p:txBody>
      </p:sp>
      <p:sp>
        <p:nvSpPr>
          <p:cNvPr id="79876" name="Rectangle 3"/>
          <p:cNvSpPr>
            <a:spLocks noChangeArrowheads="1"/>
          </p:cNvSpPr>
          <p:nvPr/>
        </p:nvSpPr>
        <p:spPr bwMode="auto">
          <a:xfrm>
            <a:off x="5105400" y="1246628"/>
            <a:ext cx="3657600" cy="3810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2160" tIns="46080" rIns="92160" bIns="46080"/>
          <a:lstStyle/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switch (</a:t>
            </a:r>
            <a:r>
              <a:rPr lang="en-US" altLang="en-US" sz="1900" b="1" dirty="0">
                <a:solidFill>
                  <a:srgbClr val="FF0000"/>
                </a:solidFill>
                <a:cs typeface="Times New Roman" pitchFamily="16" charset="0"/>
              </a:rPr>
              <a:t>switch-expression</a:t>
            </a: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) {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case </a:t>
            </a:r>
            <a:r>
              <a:rPr lang="en-US" altLang="en-US" sz="1900" b="1" dirty="0">
                <a:solidFill>
                  <a:srgbClr val="FF0000"/>
                </a:solidFill>
                <a:cs typeface="Times New Roman" pitchFamily="16" charset="0"/>
              </a:rPr>
              <a:t>value1</a:t>
            </a: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:  statement(s)1;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         break;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case </a:t>
            </a:r>
            <a:r>
              <a:rPr lang="en-US" altLang="en-US" sz="1900" b="1" dirty="0">
                <a:solidFill>
                  <a:srgbClr val="FF0000"/>
                </a:solidFill>
                <a:cs typeface="Times New Roman" pitchFamily="16" charset="0"/>
              </a:rPr>
              <a:t>value2</a:t>
            </a: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: statement(s)2;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         break;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…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case </a:t>
            </a:r>
            <a:r>
              <a:rPr lang="en-US" altLang="en-US" sz="1900" b="1" dirty="0" err="1">
                <a:solidFill>
                  <a:srgbClr val="FF0000"/>
                </a:solidFill>
                <a:cs typeface="Times New Roman" pitchFamily="16" charset="0"/>
              </a:rPr>
              <a:t>valueN</a:t>
            </a: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: statement(s)N;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         break;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default: statement(s)-for-default;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}</a:t>
            </a:r>
          </a:p>
        </p:txBody>
      </p:sp>
      <p:grpSp>
        <p:nvGrpSpPr>
          <p:cNvPr id="41988" name="Group 4"/>
          <p:cNvGrpSpPr>
            <a:grpSpLocks/>
          </p:cNvGrpSpPr>
          <p:nvPr/>
        </p:nvGrpSpPr>
        <p:grpSpPr bwMode="auto">
          <a:xfrm>
            <a:off x="381000" y="1066800"/>
            <a:ext cx="5791201" cy="914400"/>
            <a:chOff x="240" y="672"/>
            <a:chExt cx="3648" cy="576"/>
          </a:xfrm>
        </p:grpSpPr>
        <p:sp>
          <p:nvSpPr>
            <p:cNvPr id="79883" name="Rectangle 5"/>
            <p:cNvSpPr>
              <a:spLocks noChangeArrowheads="1"/>
            </p:cNvSpPr>
            <p:nvPr/>
          </p:nvSpPr>
          <p:spPr bwMode="auto">
            <a:xfrm>
              <a:off x="240" y="672"/>
              <a:ext cx="2540" cy="576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2160" tIns="46080" rIns="92160" bIns="46080"/>
            <a:lstStyle/>
            <a:p>
              <a:pPr marL="55563" indent="-53975">
                <a:lnSpc>
                  <a:spcPct val="90000"/>
                </a:lnSpc>
                <a:buSzPct val="75000"/>
                <a:tabLst>
                  <a:tab pos="55563" algn="l"/>
                  <a:tab pos="969963" algn="l"/>
                  <a:tab pos="1884363" algn="l"/>
                  <a:tab pos="2798763" algn="l"/>
                  <a:tab pos="3713163" algn="l"/>
                  <a:tab pos="4627563" algn="l"/>
                  <a:tab pos="5541963" algn="l"/>
                  <a:tab pos="6456363" algn="l"/>
                  <a:tab pos="7370763" algn="l"/>
                  <a:tab pos="8285163" algn="l"/>
                  <a:tab pos="9199563" algn="l"/>
                  <a:tab pos="10113963" algn="l"/>
                </a:tabLst>
              </a:pP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The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switch-expression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must yield a value of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char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,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byte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,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short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, or </a:t>
              </a:r>
              <a:r>
                <a:rPr lang="en-US" altLang="en-US" sz="1800" u="sng" dirty="0" err="1">
                  <a:solidFill>
                    <a:srgbClr val="000000"/>
                  </a:solidFill>
                  <a:cs typeface="Times New Roman" pitchFamily="16" charset="0"/>
                </a:rPr>
                <a:t>int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type and must always be enclosed in parentheses.</a:t>
              </a:r>
            </a:p>
          </p:txBody>
        </p:sp>
        <p:sp>
          <p:nvSpPr>
            <p:cNvPr id="79884" name="Line 6"/>
            <p:cNvSpPr>
              <a:spLocks noChangeShapeType="1"/>
            </p:cNvSpPr>
            <p:nvPr/>
          </p:nvSpPr>
          <p:spPr bwMode="auto">
            <a:xfrm>
              <a:off x="2780" y="863"/>
              <a:ext cx="1108" cy="0"/>
            </a:xfrm>
            <a:prstGeom prst="line">
              <a:avLst/>
            </a:prstGeom>
            <a:ln>
              <a:headEnd/>
              <a:tailEnd type="stealth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41991" name="Group 7"/>
          <p:cNvGrpSpPr>
            <a:grpSpLocks/>
          </p:cNvGrpSpPr>
          <p:nvPr/>
        </p:nvGrpSpPr>
        <p:grpSpPr bwMode="auto">
          <a:xfrm>
            <a:off x="381000" y="1828105"/>
            <a:ext cx="5486619" cy="4496496"/>
            <a:chOff x="432" y="1160"/>
            <a:chExt cx="3232" cy="2582"/>
          </a:xfrm>
        </p:grpSpPr>
        <p:sp>
          <p:nvSpPr>
            <p:cNvPr id="79879" name="Rectangle 8"/>
            <p:cNvSpPr>
              <a:spLocks noChangeArrowheads="1"/>
            </p:cNvSpPr>
            <p:nvPr/>
          </p:nvSpPr>
          <p:spPr bwMode="auto">
            <a:xfrm>
              <a:off x="432" y="1335"/>
              <a:ext cx="2469" cy="2407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2160" tIns="46080" rIns="92160" bIns="46080"/>
            <a:lstStyle/>
            <a:p>
              <a:pPr marL="55563" indent="-53975">
                <a:buSzPct val="75000"/>
                <a:tabLst>
                  <a:tab pos="55563" algn="l"/>
                  <a:tab pos="969963" algn="l"/>
                  <a:tab pos="1884363" algn="l"/>
                  <a:tab pos="2798763" algn="l"/>
                  <a:tab pos="3713163" algn="l"/>
                  <a:tab pos="4627563" algn="l"/>
                  <a:tab pos="5541963" algn="l"/>
                  <a:tab pos="6456363" algn="l"/>
                  <a:tab pos="7370763" algn="l"/>
                  <a:tab pos="8285163" algn="l"/>
                  <a:tab pos="9199563" algn="l"/>
                  <a:tab pos="10113963" algn="l"/>
                </a:tabLst>
              </a:pP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The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value1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, ..., and </a:t>
              </a:r>
              <a:r>
                <a:rPr lang="en-US" altLang="en-US" sz="1800" u="sng" dirty="0" err="1">
                  <a:solidFill>
                    <a:srgbClr val="000000"/>
                  </a:solidFill>
                  <a:cs typeface="Times New Roman" pitchFamily="16" charset="0"/>
                </a:rPr>
                <a:t>valueN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must have the same data type as the value of the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switch-expression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. </a:t>
              </a:r>
            </a:p>
            <a:p>
              <a:pPr marL="55563" indent="-53975">
                <a:buSzPct val="75000"/>
                <a:tabLst>
                  <a:tab pos="55563" algn="l"/>
                  <a:tab pos="969963" algn="l"/>
                  <a:tab pos="1884363" algn="l"/>
                  <a:tab pos="2798763" algn="l"/>
                  <a:tab pos="3713163" algn="l"/>
                  <a:tab pos="4627563" algn="l"/>
                  <a:tab pos="5541963" algn="l"/>
                  <a:tab pos="6456363" algn="l"/>
                  <a:tab pos="7370763" algn="l"/>
                  <a:tab pos="8285163" algn="l"/>
                  <a:tab pos="9199563" algn="l"/>
                  <a:tab pos="10113963" algn="l"/>
                </a:tabLst>
              </a:pPr>
              <a:endParaRPr lang="en-US" altLang="en-US" dirty="0">
                <a:solidFill>
                  <a:srgbClr val="000000"/>
                </a:solidFill>
                <a:cs typeface="Times New Roman" pitchFamily="16" charset="0"/>
              </a:endParaRPr>
            </a:p>
            <a:p>
              <a:pPr marL="55563" indent="-53975">
                <a:buSzPct val="75000"/>
                <a:tabLst>
                  <a:tab pos="55563" algn="l"/>
                  <a:tab pos="969963" algn="l"/>
                  <a:tab pos="1884363" algn="l"/>
                  <a:tab pos="2798763" algn="l"/>
                  <a:tab pos="3713163" algn="l"/>
                  <a:tab pos="4627563" algn="l"/>
                  <a:tab pos="5541963" algn="l"/>
                  <a:tab pos="6456363" algn="l"/>
                  <a:tab pos="7370763" algn="l"/>
                  <a:tab pos="8285163" algn="l"/>
                  <a:tab pos="9199563" algn="l"/>
                  <a:tab pos="10113963" algn="l"/>
                </a:tabLst>
              </a:pP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The resulting statements in the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case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statement are executed when the value in the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case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statement matches the value of the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switch-expression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. </a:t>
              </a:r>
            </a:p>
            <a:p>
              <a:pPr marL="55563" indent="-53975">
                <a:buSzPct val="75000"/>
                <a:tabLst>
                  <a:tab pos="55563" algn="l"/>
                  <a:tab pos="969963" algn="l"/>
                  <a:tab pos="1884363" algn="l"/>
                  <a:tab pos="2798763" algn="l"/>
                  <a:tab pos="3713163" algn="l"/>
                  <a:tab pos="4627563" algn="l"/>
                  <a:tab pos="5541963" algn="l"/>
                  <a:tab pos="6456363" algn="l"/>
                  <a:tab pos="7370763" algn="l"/>
                  <a:tab pos="8285163" algn="l"/>
                  <a:tab pos="9199563" algn="l"/>
                  <a:tab pos="10113963" algn="l"/>
                </a:tabLst>
              </a:pPr>
              <a:r>
                <a:rPr lang="en-US" altLang="en-US" dirty="0">
                  <a:solidFill>
                    <a:srgbClr val="000000"/>
                  </a:solidFill>
                  <a:cs typeface="Times New Roman" pitchFamily="16" charset="0"/>
                </a:rPr>
                <a:t> </a:t>
              </a:r>
            </a:p>
            <a:p>
              <a:pPr marL="55563" indent="-53975">
                <a:buSzPct val="75000"/>
                <a:tabLst>
                  <a:tab pos="55563" algn="l"/>
                  <a:tab pos="969963" algn="l"/>
                  <a:tab pos="1884363" algn="l"/>
                  <a:tab pos="2798763" algn="l"/>
                  <a:tab pos="3713163" algn="l"/>
                  <a:tab pos="4627563" algn="l"/>
                  <a:tab pos="5541963" algn="l"/>
                  <a:tab pos="6456363" algn="l"/>
                  <a:tab pos="7370763" algn="l"/>
                  <a:tab pos="8285163" algn="l"/>
                  <a:tab pos="9199563" algn="l"/>
                  <a:tab pos="10113963" algn="l"/>
                </a:tabLst>
              </a:pP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Note that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value1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, ..., and </a:t>
              </a:r>
              <a:r>
                <a:rPr lang="en-US" altLang="en-US" sz="1800" u="sng" dirty="0" err="1">
                  <a:solidFill>
                    <a:srgbClr val="000000"/>
                  </a:solidFill>
                  <a:cs typeface="Times New Roman" pitchFamily="16" charset="0"/>
                </a:rPr>
                <a:t>valueN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are constant expressions, meaning that they cannot contain variables in the expression, such as 1 +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x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. </a:t>
              </a:r>
            </a:p>
          </p:txBody>
        </p:sp>
        <p:sp>
          <p:nvSpPr>
            <p:cNvPr id="79880" name="Line 9"/>
            <p:cNvSpPr>
              <a:spLocks noChangeShapeType="1"/>
            </p:cNvSpPr>
            <p:nvPr/>
          </p:nvSpPr>
          <p:spPr bwMode="auto">
            <a:xfrm flipV="1">
              <a:off x="2901" y="1160"/>
              <a:ext cx="763" cy="621"/>
            </a:xfrm>
            <a:prstGeom prst="line">
              <a:avLst/>
            </a:prstGeom>
            <a:ln>
              <a:headEnd/>
              <a:tailEnd type="stealth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9881" name="Line 10"/>
            <p:cNvSpPr>
              <a:spLocks noChangeShapeType="1"/>
            </p:cNvSpPr>
            <p:nvPr/>
          </p:nvSpPr>
          <p:spPr bwMode="auto">
            <a:xfrm flipV="1">
              <a:off x="2901" y="1642"/>
              <a:ext cx="718" cy="139"/>
            </a:xfrm>
            <a:prstGeom prst="line">
              <a:avLst/>
            </a:prstGeom>
            <a:ln>
              <a:headEnd/>
              <a:tailEnd type="stealth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9882" name="Line 11"/>
            <p:cNvSpPr>
              <a:spLocks noChangeShapeType="1"/>
            </p:cNvSpPr>
            <p:nvPr/>
          </p:nvSpPr>
          <p:spPr bwMode="auto">
            <a:xfrm>
              <a:off x="2901" y="1781"/>
              <a:ext cx="763" cy="330"/>
            </a:xfrm>
            <a:prstGeom prst="line">
              <a:avLst/>
            </a:prstGeom>
            <a:ln>
              <a:headEnd/>
              <a:tailEnd type="stealth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49355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Text Box 2"/>
          <p:cNvSpPr txBox="1">
            <a:spLocks noChangeArrowheads="1"/>
          </p:cNvSpPr>
          <p:nvPr/>
        </p:nvSpPr>
        <p:spPr bwMode="auto">
          <a:xfrm>
            <a:off x="6096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200">
                <a:latin typeface="+mj-lt"/>
              </a:rPr>
              <a:t>switch</a:t>
            </a:r>
            <a:r>
              <a:rPr lang="en-US" altLang="en-US" sz="4400">
                <a:latin typeface="+mj-lt"/>
              </a:rPr>
              <a:t> Statements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95400" y="1371600"/>
            <a:ext cx="6629400" cy="4204821"/>
            <a:chOff x="1600200" y="1205379"/>
            <a:chExt cx="4674809" cy="2604621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1205379"/>
              <a:ext cx="3475630" cy="728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0200" y="1933606"/>
              <a:ext cx="4674809" cy="1876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465195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676400"/>
            <a:ext cx="7620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int</a:t>
            </a:r>
            <a:r>
              <a:rPr lang="en-US" sz="2400" dirty="0"/>
              <a:t> number=20;  </a:t>
            </a:r>
          </a:p>
          <a:p>
            <a:r>
              <a:rPr lang="en-US" sz="2400" dirty="0"/>
              <a:t>        //Switch expression  </a:t>
            </a:r>
          </a:p>
          <a:p>
            <a:r>
              <a:rPr lang="en-US" sz="2400" dirty="0"/>
              <a:t>        switch(number){  </a:t>
            </a:r>
          </a:p>
          <a:p>
            <a:r>
              <a:rPr lang="en-US" sz="2400" dirty="0"/>
              <a:t>        //Case statements  </a:t>
            </a:r>
          </a:p>
          <a:p>
            <a:r>
              <a:rPr lang="en-US" sz="2400" dirty="0"/>
              <a:t>            case 10: </a:t>
            </a:r>
            <a:r>
              <a:rPr lang="en-US" sz="2400" dirty="0" err="1"/>
              <a:t>System.out.println</a:t>
            </a:r>
            <a:r>
              <a:rPr lang="en-US" sz="2400" dirty="0"/>
              <a:t>("10");  </a:t>
            </a:r>
          </a:p>
          <a:p>
            <a:r>
              <a:rPr lang="en-US" sz="2400" dirty="0"/>
              <a:t>            break;  </a:t>
            </a:r>
          </a:p>
          <a:p>
            <a:r>
              <a:rPr lang="en-US" sz="2400" dirty="0"/>
              <a:t>            case 20: </a:t>
            </a:r>
            <a:r>
              <a:rPr lang="en-US" sz="2400" dirty="0" err="1"/>
              <a:t>System.out.println</a:t>
            </a:r>
            <a:r>
              <a:rPr lang="en-US" sz="2400" dirty="0"/>
              <a:t>("20");  </a:t>
            </a:r>
          </a:p>
          <a:p>
            <a:r>
              <a:rPr lang="en-US" sz="2400" dirty="0"/>
              <a:t>            break;  </a:t>
            </a:r>
          </a:p>
          <a:p>
            <a:r>
              <a:rPr lang="en-US" sz="2400" dirty="0"/>
              <a:t>            case 30: </a:t>
            </a:r>
            <a:r>
              <a:rPr lang="en-US" sz="2400" dirty="0" err="1"/>
              <a:t>System.out.println</a:t>
            </a:r>
            <a:r>
              <a:rPr lang="en-US" sz="2400" dirty="0"/>
              <a:t>("30");  </a:t>
            </a:r>
          </a:p>
          <a:p>
            <a:r>
              <a:rPr lang="en-US" sz="2400" dirty="0"/>
              <a:t>            break;  </a:t>
            </a:r>
          </a:p>
          <a:p>
            <a:r>
              <a:rPr lang="en-US" sz="2400" dirty="0"/>
              <a:t>            //Default case statement  </a:t>
            </a:r>
          </a:p>
          <a:p>
            <a:r>
              <a:rPr lang="en-US" sz="2400" dirty="0"/>
              <a:t>            </a:t>
            </a:r>
            <a:r>
              <a:rPr lang="en-US" sz="2400" dirty="0" err="1"/>
              <a:t>default:System.out.println</a:t>
            </a:r>
            <a:r>
              <a:rPr lang="en-US" sz="2400" dirty="0"/>
              <a:t>("Not in 10, 20 or 30");  </a:t>
            </a:r>
          </a:p>
          <a:p>
            <a:r>
              <a:rPr lang="en-US" sz="2400" dirty="0"/>
              <a:t>        }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Switch- Example</a:t>
            </a:r>
          </a:p>
        </p:txBody>
      </p:sp>
    </p:spTree>
    <p:extLst>
      <p:ext uri="{BB962C8B-B14F-4D97-AF65-F5344CB8AC3E}">
        <p14:creationId xmlns:p14="http://schemas.microsoft.com/office/powerpoint/2010/main" val="2422330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Text Box 2"/>
          <p:cNvSpPr txBox="1">
            <a:spLocks noChangeArrowheads="1"/>
          </p:cNvSpPr>
          <p:nvPr/>
        </p:nvSpPr>
        <p:spPr bwMode="auto">
          <a:xfrm>
            <a:off x="685800" y="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200" dirty="0">
                <a:latin typeface="+mj-lt"/>
              </a:rPr>
              <a:t>switch</a:t>
            </a:r>
            <a:r>
              <a:rPr lang="en-US" altLang="en-US" sz="4400" dirty="0">
                <a:latin typeface="+mj-lt"/>
              </a:rPr>
              <a:t> Statement Rules</a:t>
            </a:r>
          </a:p>
        </p:txBody>
      </p:sp>
      <p:sp>
        <p:nvSpPr>
          <p:cNvPr id="81925" name="Rectangle 4"/>
          <p:cNvSpPr>
            <a:spLocks noChangeArrowheads="1"/>
          </p:cNvSpPr>
          <p:nvPr/>
        </p:nvSpPr>
        <p:spPr bwMode="auto">
          <a:xfrm>
            <a:off x="5051946" y="1219200"/>
            <a:ext cx="3657600" cy="3810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2160" tIns="46080" rIns="92160" bIns="46080"/>
          <a:lstStyle/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switch (switch-expression) {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case value1:  statement(s)1;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         </a:t>
            </a:r>
            <a:r>
              <a:rPr lang="en-US" altLang="en-US" sz="1900" b="1" dirty="0">
                <a:solidFill>
                  <a:srgbClr val="FF0000"/>
                </a:solidFill>
                <a:latin typeface="+mj-lt"/>
                <a:cs typeface="Times New Roman" pitchFamily="16" charset="0"/>
              </a:rPr>
              <a:t>break</a:t>
            </a: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case value2: statement(s)2;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         </a:t>
            </a:r>
            <a:r>
              <a:rPr lang="en-US" altLang="en-US" sz="1900" b="1" dirty="0">
                <a:solidFill>
                  <a:srgbClr val="FF0000"/>
                </a:solidFill>
                <a:latin typeface="+mj-lt"/>
                <a:cs typeface="Times New Roman" pitchFamily="16" charset="0"/>
              </a:rPr>
              <a:t>break</a:t>
            </a: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…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case </a:t>
            </a:r>
            <a:r>
              <a:rPr lang="en-US" altLang="en-US" sz="1900" dirty="0" err="1">
                <a:solidFill>
                  <a:srgbClr val="000000"/>
                </a:solidFill>
                <a:latin typeface="+mj-lt"/>
                <a:cs typeface="Times New Roman" pitchFamily="16" charset="0"/>
              </a:rPr>
              <a:t>valueN</a:t>
            </a: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: statement(s)N;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         </a:t>
            </a:r>
            <a:r>
              <a:rPr lang="en-US" altLang="en-US" sz="1900" b="1" dirty="0">
                <a:solidFill>
                  <a:srgbClr val="FF0000"/>
                </a:solidFill>
                <a:latin typeface="+mj-lt"/>
                <a:cs typeface="Times New Roman" pitchFamily="16" charset="0"/>
              </a:rPr>
              <a:t>break</a:t>
            </a: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</a:t>
            </a:r>
            <a:r>
              <a:rPr lang="en-US" altLang="en-US" sz="1900" b="1" dirty="0">
                <a:solidFill>
                  <a:srgbClr val="FF0000"/>
                </a:solidFill>
                <a:latin typeface="+mj-lt"/>
                <a:cs typeface="Times New Roman" pitchFamily="16" charset="0"/>
              </a:rPr>
              <a:t>default</a:t>
            </a: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: statement(s)-for-default;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}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28600" y="1219200"/>
            <a:ext cx="5486400" cy="2590800"/>
            <a:chOff x="228600" y="1219200"/>
            <a:chExt cx="5486400" cy="2590800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228600" y="1219200"/>
              <a:ext cx="3886200" cy="20574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2160" tIns="46080" rIns="92160" bIns="46080"/>
            <a:lstStyle>
              <a:lvl1pPr marL="55563" indent="-53975"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32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1pPr>
              <a:lvl2pPr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8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2pPr>
              <a:lvl3pPr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3pPr>
              <a:lvl4pPr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0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4pPr>
              <a:lvl5pPr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0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5pPr>
              <a:lvl6pPr defTabSz="457200" eaLnBrk="0" fontAlgn="base" hangingPunct="0"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0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6pPr>
              <a:lvl7pPr defTabSz="457200" eaLnBrk="0" fontAlgn="base" hangingPunct="0"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0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7pPr>
              <a:lvl8pPr defTabSz="457200" eaLnBrk="0" fontAlgn="base" hangingPunct="0"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0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8pPr>
              <a:lvl9pPr defTabSz="457200" eaLnBrk="0" fontAlgn="base" hangingPunct="0"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0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9pPr>
            </a:lstStyle>
            <a:p>
              <a:pPr eaLnBrk="1" hangingPunct="1">
                <a:buSzPct val="75000"/>
              </a:pPr>
              <a:r>
                <a:rPr lang="en-US" altLang="en-US" dirty="0">
                  <a:latin typeface="+mj-lt"/>
                  <a:cs typeface="Times New Roman" pitchFamily="16" charset="0"/>
                </a:rPr>
                <a:t>	</a:t>
              </a:r>
              <a:r>
                <a:rPr lang="en-US" altLang="en-US" sz="1800" dirty="0">
                  <a:latin typeface="+mj-lt"/>
                  <a:cs typeface="Times New Roman" pitchFamily="16" charset="0"/>
                </a:rPr>
                <a:t>The keyword </a:t>
              </a:r>
              <a:r>
                <a:rPr lang="en-US" altLang="en-US" sz="1800" u="sng" dirty="0">
                  <a:latin typeface="+mj-lt"/>
                  <a:cs typeface="Times New Roman" pitchFamily="16" charset="0"/>
                </a:rPr>
                <a:t>break</a:t>
              </a:r>
              <a:r>
                <a:rPr lang="en-US" altLang="en-US" sz="1800" dirty="0">
                  <a:latin typeface="+mj-lt"/>
                  <a:cs typeface="Times New Roman" pitchFamily="16" charset="0"/>
                </a:rPr>
                <a:t> is optional, but it should be used at the end of each case in order to terminate the remainder of the </a:t>
              </a:r>
              <a:r>
                <a:rPr lang="en-US" altLang="en-US" sz="1800" u="sng" dirty="0">
                  <a:latin typeface="+mj-lt"/>
                  <a:cs typeface="Times New Roman" pitchFamily="16" charset="0"/>
                </a:rPr>
                <a:t>switch</a:t>
              </a:r>
              <a:r>
                <a:rPr lang="en-US" altLang="en-US" sz="1800" dirty="0">
                  <a:latin typeface="+mj-lt"/>
                  <a:cs typeface="Times New Roman" pitchFamily="16" charset="0"/>
                </a:rPr>
                <a:t> statement. If the </a:t>
              </a:r>
              <a:r>
                <a:rPr lang="en-US" altLang="en-US" sz="1800" u="sng" dirty="0">
                  <a:latin typeface="+mj-lt"/>
                  <a:cs typeface="Times New Roman" pitchFamily="16" charset="0"/>
                </a:rPr>
                <a:t>break</a:t>
              </a:r>
              <a:r>
                <a:rPr lang="en-US" altLang="en-US" sz="1800" dirty="0">
                  <a:latin typeface="+mj-lt"/>
                  <a:cs typeface="Times New Roman" pitchFamily="16" charset="0"/>
                </a:rPr>
                <a:t> statement is not present, the next </a:t>
              </a:r>
              <a:r>
                <a:rPr lang="en-US" altLang="en-US" sz="1800" u="sng" dirty="0">
                  <a:latin typeface="+mj-lt"/>
                  <a:cs typeface="Times New Roman" pitchFamily="16" charset="0"/>
                </a:rPr>
                <a:t>case</a:t>
              </a:r>
              <a:r>
                <a:rPr lang="en-US" altLang="en-US" sz="1800" dirty="0">
                  <a:latin typeface="+mj-lt"/>
                  <a:cs typeface="Times New Roman" pitchFamily="16" charset="0"/>
                </a:rPr>
                <a:t> statement will be executed.</a:t>
              </a: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 flipV="1">
              <a:off x="4114800" y="2133600"/>
              <a:ext cx="1600200" cy="266700"/>
            </a:xfrm>
            <a:prstGeom prst="line">
              <a:avLst/>
            </a:prstGeom>
            <a:ln w="28575">
              <a:headEnd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b="1">
                <a:latin typeface="+mj-lt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4114800" y="2400300"/>
              <a:ext cx="1600200" cy="419100"/>
            </a:xfrm>
            <a:prstGeom prst="line">
              <a:avLst/>
            </a:prstGeom>
            <a:ln w="28575">
              <a:headEnd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b="1">
                <a:latin typeface="+mj-lt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4114800" y="2400300"/>
              <a:ext cx="1600200" cy="1409700"/>
            </a:xfrm>
            <a:prstGeom prst="line">
              <a:avLst/>
            </a:prstGeom>
            <a:ln w="28575">
              <a:headEnd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b="1">
                <a:latin typeface="+mj-lt"/>
              </a:endParaRPr>
            </a:p>
          </p:txBody>
        </p:sp>
      </p:grpSp>
      <p:grpSp>
        <p:nvGrpSpPr>
          <p:cNvPr id="43016" name="Group 8"/>
          <p:cNvGrpSpPr>
            <a:grpSpLocks/>
          </p:cNvGrpSpPr>
          <p:nvPr/>
        </p:nvGrpSpPr>
        <p:grpSpPr bwMode="auto">
          <a:xfrm>
            <a:off x="228600" y="3733800"/>
            <a:ext cx="4953001" cy="1522413"/>
            <a:chOff x="144" y="2352"/>
            <a:chExt cx="3120" cy="959"/>
          </a:xfrm>
        </p:grpSpPr>
        <p:sp>
          <p:nvSpPr>
            <p:cNvPr id="81931" name="Rectangle 9"/>
            <p:cNvSpPr>
              <a:spLocks noChangeArrowheads="1"/>
            </p:cNvSpPr>
            <p:nvPr/>
          </p:nvSpPr>
          <p:spPr bwMode="auto">
            <a:xfrm>
              <a:off x="144" y="2352"/>
              <a:ext cx="2592" cy="95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2160" tIns="46080" rIns="92160" bIns="46080"/>
            <a:lstStyle/>
            <a:p>
              <a:pPr marL="55563" indent="-53975">
                <a:buSzPct val="75000"/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</a:pPr>
              <a:r>
                <a:rPr lang="en-US" altLang="en-US" sz="3600" dirty="0">
                  <a:solidFill>
                    <a:srgbClr val="000000"/>
                  </a:solidFill>
                  <a:latin typeface="+mj-lt"/>
                  <a:cs typeface="Times New Roman" pitchFamily="16" charset="0"/>
                </a:rPr>
                <a:t>	</a:t>
              </a:r>
              <a:r>
                <a:rPr lang="en-US" altLang="en-US" sz="2000" dirty="0">
                  <a:solidFill>
                    <a:srgbClr val="000000"/>
                  </a:solidFill>
                  <a:latin typeface="+mj-lt"/>
                  <a:cs typeface="Times New Roman" pitchFamily="16" charset="0"/>
                </a:rPr>
                <a:t>The </a:t>
              </a:r>
              <a:r>
                <a:rPr lang="en-US" altLang="en-US" sz="2000" u="sng" dirty="0">
                  <a:solidFill>
                    <a:srgbClr val="000000"/>
                  </a:solidFill>
                  <a:latin typeface="+mj-lt"/>
                  <a:cs typeface="Times New Roman" pitchFamily="16" charset="0"/>
                </a:rPr>
                <a:t>default</a:t>
              </a:r>
              <a:r>
                <a:rPr lang="en-US" altLang="en-US" sz="2000" dirty="0">
                  <a:solidFill>
                    <a:srgbClr val="000000"/>
                  </a:solidFill>
                  <a:latin typeface="+mj-lt"/>
                  <a:cs typeface="Times New Roman" pitchFamily="16" charset="0"/>
                </a:rPr>
                <a:t> case, which is optional, can be used to perform actions when none of the specified cases matches the </a:t>
              </a:r>
              <a:r>
                <a:rPr lang="en-US" altLang="en-US" sz="2000" u="sng" dirty="0">
                  <a:solidFill>
                    <a:srgbClr val="000000"/>
                  </a:solidFill>
                  <a:latin typeface="+mj-lt"/>
                  <a:cs typeface="Times New Roman" pitchFamily="16" charset="0"/>
                </a:rPr>
                <a:t>switch-expression</a:t>
              </a:r>
              <a:r>
                <a:rPr lang="en-US" altLang="en-US" sz="2000" dirty="0">
                  <a:solidFill>
                    <a:srgbClr val="000000"/>
                  </a:solidFill>
                  <a:latin typeface="+mj-lt"/>
                  <a:cs typeface="Times New Roman" pitchFamily="16" charset="0"/>
                </a:rPr>
                <a:t>.</a:t>
              </a:r>
            </a:p>
          </p:txBody>
        </p:sp>
        <p:sp>
          <p:nvSpPr>
            <p:cNvPr id="81932" name="Line 10"/>
            <p:cNvSpPr>
              <a:spLocks noChangeShapeType="1"/>
            </p:cNvSpPr>
            <p:nvPr/>
          </p:nvSpPr>
          <p:spPr bwMode="auto">
            <a:xfrm flipV="1">
              <a:off x="2736" y="2688"/>
              <a:ext cx="528" cy="0"/>
            </a:xfrm>
            <a:prstGeom prst="line">
              <a:avLst/>
            </a:prstGeom>
            <a:ln>
              <a:headEnd/>
              <a:tailEnd type="stealth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43019" name="Rectangle 11"/>
          <p:cNvSpPr>
            <a:spLocks noChangeArrowheads="1"/>
          </p:cNvSpPr>
          <p:nvPr/>
        </p:nvSpPr>
        <p:spPr bwMode="auto">
          <a:xfrm>
            <a:off x="369627" y="5426501"/>
            <a:ext cx="8077200" cy="132080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2160" tIns="46080" rIns="92160" bIns="46080"/>
          <a:lstStyle/>
          <a:p>
            <a:pPr marL="55563" indent="-53975">
              <a:buSzPct val="75000"/>
              <a:tabLst>
                <a:tab pos="55563" algn="l"/>
                <a:tab pos="969963" algn="l"/>
                <a:tab pos="1884363" algn="l"/>
                <a:tab pos="2798763" algn="l"/>
                <a:tab pos="3713163" algn="l"/>
                <a:tab pos="4627563" algn="l"/>
                <a:tab pos="5541963" algn="l"/>
                <a:tab pos="6456363" algn="l"/>
                <a:tab pos="7370763" algn="l"/>
                <a:tab pos="8285163" algn="l"/>
                <a:tab pos="9199563" algn="l"/>
                <a:tab pos="10113963" algn="l"/>
              </a:tabLst>
            </a:pPr>
            <a:r>
              <a:rPr lang="en-US" altLang="en-US" sz="1800" dirty="0">
                <a:solidFill>
                  <a:srgbClr val="000000"/>
                </a:solidFill>
                <a:latin typeface="+mj-lt"/>
              </a:rPr>
              <a:t> When the value in a </a:t>
            </a:r>
            <a:r>
              <a:rPr lang="en-US" altLang="en-US" sz="1800" b="1" dirty="0">
                <a:solidFill>
                  <a:srgbClr val="000000"/>
                </a:solidFill>
                <a:latin typeface="+mj-lt"/>
              </a:rPr>
              <a:t>case</a:t>
            </a:r>
            <a:r>
              <a:rPr lang="en-US" altLang="en-US" sz="1800" dirty="0">
                <a:solidFill>
                  <a:srgbClr val="000000"/>
                </a:solidFill>
                <a:latin typeface="+mj-lt"/>
              </a:rPr>
              <a:t> statement matches the value of the </a:t>
            </a:r>
            <a:r>
              <a:rPr lang="en-US" altLang="en-US" sz="1800" b="1" dirty="0">
                <a:solidFill>
                  <a:srgbClr val="000000"/>
                </a:solidFill>
                <a:latin typeface="+mj-lt"/>
              </a:rPr>
              <a:t>switch-expression</a:t>
            </a:r>
            <a:r>
              <a:rPr lang="en-US" altLang="en-US" sz="1800" dirty="0">
                <a:solidFill>
                  <a:srgbClr val="000000"/>
                </a:solidFill>
                <a:latin typeface="+mj-lt"/>
              </a:rPr>
              <a:t>,  the statements </a:t>
            </a:r>
            <a:r>
              <a:rPr lang="en-US" altLang="en-US" sz="1800" i="1" dirty="0">
                <a:solidFill>
                  <a:srgbClr val="000000"/>
                </a:solidFill>
                <a:latin typeface="+mj-lt"/>
              </a:rPr>
              <a:t>starting from this case</a:t>
            </a:r>
            <a:r>
              <a:rPr lang="en-US" altLang="en-US" sz="1800" dirty="0">
                <a:solidFill>
                  <a:srgbClr val="000000"/>
                </a:solidFill>
                <a:latin typeface="+mj-lt"/>
              </a:rPr>
              <a:t> are executed until either a </a:t>
            </a:r>
            <a:r>
              <a:rPr lang="en-US" altLang="en-US" sz="1800" b="1" dirty="0">
                <a:solidFill>
                  <a:srgbClr val="000000"/>
                </a:solidFill>
                <a:latin typeface="+mj-lt"/>
              </a:rPr>
              <a:t>break</a:t>
            </a:r>
            <a:r>
              <a:rPr lang="en-US" altLang="en-US" sz="1800" dirty="0">
                <a:solidFill>
                  <a:srgbClr val="000000"/>
                </a:solidFill>
                <a:latin typeface="+mj-lt"/>
              </a:rPr>
              <a:t> statement or the end of the </a:t>
            </a:r>
            <a:r>
              <a:rPr lang="en-US" altLang="en-US" sz="1800" b="1" dirty="0">
                <a:solidFill>
                  <a:srgbClr val="000000"/>
                </a:solidFill>
                <a:latin typeface="+mj-lt"/>
              </a:rPr>
              <a:t>switch</a:t>
            </a:r>
            <a:r>
              <a:rPr lang="en-US" altLang="en-US" sz="1800" dirty="0">
                <a:solidFill>
                  <a:srgbClr val="000000"/>
                </a:solidFill>
                <a:latin typeface="+mj-lt"/>
              </a:rPr>
              <a:t>  statement is reached.</a:t>
            </a:r>
          </a:p>
        </p:txBody>
      </p:sp>
    </p:spTree>
    <p:extLst>
      <p:ext uri="{BB962C8B-B14F-4D97-AF65-F5344CB8AC3E}">
        <p14:creationId xmlns:p14="http://schemas.microsoft.com/office/powerpoint/2010/main" val="11175309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 dirty="0">
                <a:latin typeface="+mj-lt"/>
              </a:rPr>
              <a:t>Trace switch statement</a:t>
            </a:r>
          </a:p>
        </p:txBody>
      </p:sp>
      <p:sp>
        <p:nvSpPr>
          <p:cNvPr id="83972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83973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 dirty="0">
                <a:latin typeface="+mj-lt"/>
                <a:cs typeface="Arial" charset="0"/>
              </a:rPr>
              <a:t>switch</a:t>
            </a:r>
            <a:r>
              <a:rPr lang="en-US" altLang="en-US" sz="2400" dirty="0">
                <a:latin typeface="+mj-lt"/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5: </a:t>
            </a:r>
            <a:r>
              <a:rPr lang="en-US" altLang="en-US" sz="2400" dirty="0" err="1">
                <a:latin typeface="+mj-lt"/>
                <a:cs typeface="Arial" charset="0"/>
              </a:rPr>
              <a:t>System.out.println</a:t>
            </a:r>
            <a:r>
              <a:rPr lang="en-US" altLang="en-US" sz="2400" dirty="0">
                <a:latin typeface="+mj-lt"/>
                <a:cs typeface="Arial" charset="0"/>
              </a:rPr>
              <a:t>("Weekday"); </a:t>
            </a:r>
            <a:r>
              <a:rPr lang="en-US" altLang="en-US" sz="2400" b="1" dirty="0">
                <a:latin typeface="+mj-lt"/>
                <a:cs typeface="Arial" charset="0"/>
              </a:rPr>
              <a:t>break</a:t>
            </a:r>
            <a:r>
              <a:rPr lang="en-US" altLang="en-US" sz="2400" dirty="0">
                <a:latin typeface="+mj-lt"/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6: </a:t>
            </a:r>
            <a:r>
              <a:rPr lang="en-US" altLang="en-US" sz="2400" dirty="0" err="1">
                <a:latin typeface="+mj-lt"/>
                <a:cs typeface="Arial" charset="0"/>
              </a:rPr>
              <a:t>System.out.println</a:t>
            </a:r>
            <a:r>
              <a:rPr lang="en-US" altLang="en-US" sz="2400" dirty="0">
                <a:latin typeface="+mj-lt"/>
                <a:cs typeface="Arial" charset="0"/>
              </a:rPr>
              <a:t>("Weekend"); 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}  </a:t>
            </a:r>
          </a:p>
        </p:txBody>
      </p:sp>
      <p:sp>
        <p:nvSpPr>
          <p:cNvPr id="83974" name="Rectangle 5"/>
          <p:cNvSpPr>
            <a:spLocks noChangeArrowheads="1"/>
          </p:cNvSpPr>
          <p:nvPr/>
        </p:nvSpPr>
        <p:spPr bwMode="auto">
          <a:xfrm>
            <a:off x="1492250" y="2306638"/>
            <a:ext cx="422275" cy="3460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  <p:sp>
        <p:nvSpPr>
          <p:cNvPr id="44038" name="AutoShape 6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-6745"/>
              <a:gd name="adj2" fmla="val 177255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Suppose day is 2: </a:t>
            </a:r>
          </a:p>
        </p:txBody>
      </p:sp>
    </p:spTree>
    <p:extLst>
      <p:ext uri="{BB962C8B-B14F-4D97-AF65-F5344CB8AC3E}">
        <p14:creationId xmlns:p14="http://schemas.microsoft.com/office/powerpoint/2010/main" val="13276687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/>
              <a:t>Trace switch statement</a:t>
            </a:r>
          </a:p>
        </p:txBody>
      </p:sp>
      <p:sp>
        <p:nvSpPr>
          <p:cNvPr id="86020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86021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>
                <a:cs typeface="Arial" charset="0"/>
              </a:rPr>
              <a:t>switch</a:t>
            </a:r>
            <a:r>
              <a:rPr lang="en-US" altLang="en-US" sz="2400"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5: System.out.println("Weekday"); </a:t>
            </a:r>
            <a:r>
              <a:rPr lang="en-US" altLang="en-US" sz="2400" b="1">
                <a:cs typeface="Arial" charset="0"/>
              </a:rPr>
              <a:t>break</a:t>
            </a:r>
            <a:r>
              <a:rPr lang="en-US" altLang="en-US" sz="2400"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6: System.out.println("Weekend"); 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}  </a:t>
            </a:r>
          </a:p>
        </p:txBody>
      </p:sp>
      <p:sp>
        <p:nvSpPr>
          <p:cNvPr id="45061" name="AutoShape 5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-33736"/>
              <a:gd name="adj2" fmla="val 298056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</a:rPr>
              <a:t>Match case 2 </a:t>
            </a:r>
          </a:p>
        </p:txBody>
      </p:sp>
      <p:sp>
        <p:nvSpPr>
          <p:cNvPr id="86024" name="Rectangle 7"/>
          <p:cNvSpPr>
            <a:spLocks noChangeArrowheads="1"/>
          </p:cNvSpPr>
          <p:nvPr/>
        </p:nvSpPr>
        <p:spPr bwMode="auto">
          <a:xfrm>
            <a:off x="574675" y="3082925"/>
            <a:ext cx="949325" cy="3460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71742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>
                <a:latin typeface="+mj-lt"/>
              </a:rPr>
              <a:t>Trace switch statement</a:t>
            </a:r>
          </a:p>
        </p:txBody>
      </p:sp>
      <p:sp>
        <p:nvSpPr>
          <p:cNvPr id="88068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88069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>
                <a:latin typeface="+mj-lt"/>
                <a:cs typeface="Arial" charset="0"/>
              </a:rPr>
              <a:t>switch</a:t>
            </a:r>
            <a:r>
              <a:rPr lang="en-US" altLang="en-US" sz="2400">
                <a:latin typeface="+mj-lt"/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5: System.out.println("Weekday"); </a:t>
            </a:r>
            <a:r>
              <a:rPr lang="en-US" altLang="en-US" sz="2400" b="1">
                <a:latin typeface="+mj-lt"/>
                <a:cs typeface="Arial" charset="0"/>
              </a:rPr>
              <a:t>break</a:t>
            </a:r>
            <a:r>
              <a:rPr lang="en-US" altLang="en-US" sz="2400">
                <a:latin typeface="+mj-lt"/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6: System.out.println("Weekend");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}  </a:t>
            </a:r>
          </a:p>
        </p:txBody>
      </p:sp>
      <p:sp>
        <p:nvSpPr>
          <p:cNvPr id="46085" name="AutoShape 5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-31958"/>
              <a:gd name="adj2" fmla="val 388944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Fall through case 3</a:t>
            </a:r>
          </a:p>
        </p:txBody>
      </p:sp>
      <p:sp>
        <p:nvSpPr>
          <p:cNvPr id="88072" name="Rectangle 7"/>
          <p:cNvSpPr>
            <a:spLocks noChangeArrowheads="1"/>
          </p:cNvSpPr>
          <p:nvPr/>
        </p:nvSpPr>
        <p:spPr bwMode="auto">
          <a:xfrm>
            <a:off x="574675" y="3429000"/>
            <a:ext cx="949325" cy="3460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001104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>
                <a:latin typeface="+mj-lt"/>
              </a:rPr>
              <a:t>Trace switch statement</a:t>
            </a:r>
          </a:p>
        </p:txBody>
      </p:sp>
      <p:sp>
        <p:nvSpPr>
          <p:cNvPr id="90116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90117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>
                <a:latin typeface="+mj-lt"/>
                <a:cs typeface="Arial" charset="0"/>
              </a:rPr>
              <a:t>switch</a:t>
            </a:r>
            <a:r>
              <a:rPr lang="en-US" altLang="en-US" sz="2400">
                <a:latin typeface="+mj-lt"/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5: System.out.println("Weekday"); </a:t>
            </a:r>
            <a:r>
              <a:rPr lang="en-US" altLang="en-US" sz="2400" b="1">
                <a:latin typeface="+mj-lt"/>
                <a:cs typeface="Arial" charset="0"/>
              </a:rPr>
              <a:t>break</a:t>
            </a:r>
            <a:r>
              <a:rPr lang="en-US" altLang="en-US" sz="2400">
                <a:latin typeface="+mj-lt"/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6: System.out.println("Weekend");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}  </a:t>
            </a:r>
          </a:p>
        </p:txBody>
      </p:sp>
      <p:sp>
        <p:nvSpPr>
          <p:cNvPr id="47109" name="AutoShape 5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-30181"/>
              <a:gd name="adj2" fmla="val 445750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Fall through case 4 </a:t>
            </a:r>
          </a:p>
        </p:txBody>
      </p:sp>
      <p:sp>
        <p:nvSpPr>
          <p:cNvPr id="90120" name="Rectangle 7"/>
          <p:cNvSpPr>
            <a:spLocks noChangeArrowheads="1"/>
          </p:cNvSpPr>
          <p:nvPr/>
        </p:nvSpPr>
        <p:spPr bwMode="auto">
          <a:xfrm>
            <a:off x="571500" y="3773488"/>
            <a:ext cx="949325" cy="3460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659308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>
                <a:latin typeface="+mj-lt"/>
              </a:rPr>
              <a:t>Trace switch statement</a:t>
            </a:r>
          </a:p>
        </p:txBody>
      </p:sp>
      <p:sp>
        <p:nvSpPr>
          <p:cNvPr id="92164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92165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>
                <a:latin typeface="+mj-lt"/>
                <a:cs typeface="Arial" charset="0"/>
              </a:rPr>
              <a:t>switch</a:t>
            </a:r>
            <a:r>
              <a:rPr lang="en-US" altLang="en-US" sz="2400">
                <a:latin typeface="+mj-lt"/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5: System.out.println("Weekday"); </a:t>
            </a:r>
            <a:r>
              <a:rPr lang="en-US" altLang="en-US" sz="2400" b="1">
                <a:latin typeface="+mj-lt"/>
                <a:cs typeface="Arial" charset="0"/>
              </a:rPr>
              <a:t>break</a:t>
            </a:r>
            <a:r>
              <a:rPr lang="en-US" altLang="en-US" sz="2400">
                <a:latin typeface="+mj-lt"/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6: System.out.println("Weekend");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}  </a:t>
            </a:r>
          </a:p>
        </p:txBody>
      </p:sp>
      <p:sp>
        <p:nvSpPr>
          <p:cNvPr id="48133" name="AutoShape 5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-30630"/>
              <a:gd name="adj2" fmla="val 508306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Fall through case 5 </a:t>
            </a:r>
          </a:p>
        </p:txBody>
      </p:sp>
      <p:sp>
        <p:nvSpPr>
          <p:cNvPr id="92168" name="Rectangle 7"/>
          <p:cNvSpPr>
            <a:spLocks noChangeArrowheads="1"/>
          </p:cNvSpPr>
          <p:nvPr/>
        </p:nvSpPr>
        <p:spPr bwMode="auto">
          <a:xfrm>
            <a:off x="568325" y="4119563"/>
            <a:ext cx="949325" cy="3460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018869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>
                <a:latin typeface="+mj-lt"/>
              </a:rPr>
              <a:t>Trace switch statement</a:t>
            </a:r>
          </a:p>
        </p:txBody>
      </p:sp>
      <p:sp>
        <p:nvSpPr>
          <p:cNvPr id="94212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94213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>
                <a:latin typeface="+mj-lt"/>
                <a:cs typeface="Arial" charset="0"/>
              </a:rPr>
              <a:t>switch</a:t>
            </a:r>
            <a:r>
              <a:rPr lang="en-US" altLang="en-US" sz="2400">
                <a:latin typeface="+mj-lt"/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5: System.out.println("Weekday"); </a:t>
            </a:r>
            <a:r>
              <a:rPr lang="en-US" altLang="en-US" sz="2400" b="1">
                <a:latin typeface="+mj-lt"/>
                <a:cs typeface="Arial" charset="0"/>
              </a:rPr>
              <a:t>break</a:t>
            </a:r>
            <a:r>
              <a:rPr lang="en-US" altLang="en-US" sz="2400">
                <a:latin typeface="+mj-lt"/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6: System.out.println("Weekend");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}  </a:t>
            </a:r>
          </a:p>
        </p:txBody>
      </p:sp>
      <p:sp>
        <p:nvSpPr>
          <p:cNvPr id="49157" name="AutoShape 5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150185"/>
              <a:gd name="adj2" fmla="val 514778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Encounter break</a:t>
            </a:r>
          </a:p>
        </p:txBody>
      </p:sp>
      <p:sp>
        <p:nvSpPr>
          <p:cNvPr id="94216" name="Rectangle 7"/>
          <p:cNvSpPr>
            <a:spLocks noChangeArrowheads="1"/>
          </p:cNvSpPr>
          <p:nvPr/>
        </p:nvSpPr>
        <p:spPr bwMode="auto">
          <a:xfrm>
            <a:off x="5494338" y="4119563"/>
            <a:ext cx="947737" cy="3460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436188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>
                <a:latin typeface="+mj-lt"/>
              </a:rPr>
              <a:t>Trace switch statement</a:t>
            </a:r>
          </a:p>
        </p:txBody>
      </p:sp>
      <p:sp>
        <p:nvSpPr>
          <p:cNvPr id="96260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96261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>
                <a:latin typeface="+mj-lt"/>
                <a:cs typeface="Arial" charset="0"/>
              </a:rPr>
              <a:t>switch</a:t>
            </a:r>
            <a:r>
              <a:rPr lang="en-US" altLang="en-US" sz="2400">
                <a:latin typeface="+mj-lt"/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5: System.out.println("Weekday"); </a:t>
            </a:r>
            <a:r>
              <a:rPr lang="en-US" altLang="en-US" sz="2400" b="1">
                <a:latin typeface="+mj-lt"/>
                <a:cs typeface="Arial" charset="0"/>
              </a:rPr>
              <a:t>break</a:t>
            </a:r>
            <a:r>
              <a:rPr lang="en-US" altLang="en-US" sz="2400">
                <a:latin typeface="+mj-lt"/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6: System.out.println("Weekend");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}  </a:t>
            </a:r>
          </a:p>
        </p:txBody>
      </p:sp>
      <p:sp>
        <p:nvSpPr>
          <p:cNvPr id="50181" name="AutoShape 5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-57167"/>
              <a:gd name="adj2" fmla="val 834032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Exit the statement</a:t>
            </a:r>
          </a:p>
        </p:txBody>
      </p:sp>
    </p:spTree>
    <p:extLst>
      <p:ext uri="{BB962C8B-B14F-4D97-AF65-F5344CB8AC3E}">
        <p14:creationId xmlns:p14="http://schemas.microsoft.com/office/powerpoint/2010/main" val="22039743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Text Box 2"/>
          <p:cNvSpPr txBox="1">
            <a:spLocks noChangeArrowheads="1"/>
          </p:cNvSpPr>
          <p:nvPr/>
        </p:nvSpPr>
        <p:spPr bwMode="auto">
          <a:xfrm>
            <a:off x="193675" y="241300"/>
            <a:ext cx="864076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3600" dirty="0">
                <a:latin typeface="+mj-lt"/>
              </a:rPr>
              <a:t>Problem: Chinese Zodiac</a:t>
            </a:r>
            <a:r>
              <a:rPr lang="en-US" altLang="en-US" sz="4400" dirty="0">
                <a:latin typeface="+mj-lt"/>
              </a:rPr>
              <a:t> </a:t>
            </a:r>
          </a:p>
        </p:txBody>
      </p:sp>
      <p:sp>
        <p:nvSpPr>
          <p:cNvPr id="98308" name="Text Box 3"/>
          <p:cNvSpPr txBox="1">
            <a:spLocks noChangeArrowheads="1"/>
          </p:cNvSpPr>
          <p:nvPr/>
        </p:nvSpPr>
        <p:spPr bwMode="auto">
          <a:xfrm>
            <a:off x="193675" y="990600"/>
            <a:ext cx="86836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/>
          <a:lstStyle>
            <a:lvl1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eaLnBrk="1" hangingPunct="1">
              <a:spcBef>
                <a:spcPts val="800"/>
              </a:spcBef>
              <a:buSzPct val="75000"/>
            </a:pPr>
            <a:r>
              <a:rPr lang="en-US" altLang="en-US" sz="2800" dirty="0">
                <a:latin typeface="+mj-lt"/>
              </a:rPr>
              <a:t>Write a program that prompts the user to enter a year and displays the animal for the year. </a:t>
            </a:r>
          </a:p>
        </p:txBody>
      </p:sp>
      <p:sp>
        <p:nvSpPr>
          <p:cNvPr id="98311" name="Rectangle 6"/>
          <p:cNvSpPr>
            <a:spLocks noChangeArrowheads="1"/>
          </p:cNvSpPr>
          <p:nvPr/>
        </p:nvSpPr>
        <p:spPr bwMode="auto">
          <a:xfrm>
            <a:off x="0" y="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pic>
        <p:nvPicPr>
          <p:cNvPr id="98313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50" y="1931988"/>
            <a:ext cx="7226300" cy="368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97295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2400"/>
            <a:ext cx="6699536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536" y="5235054"/>
            <a:ext cx="6350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539" y="6057331"/>
            <a:ext cx="6360997" cy="758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813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3916363"/>
          </a:xfrm>
        </p:spPr>
        <p:txBody>
          <a:bodyPr/>
          <a:lstStyle/>
          <a:p>
            <a:r>
              <a:rPr lang="en-US" dirty="0"/>
              <a:t>Logical operators, also known as Boolean operators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6967"/>
            <a:ext cx="8045355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The logical operators !, &amp;&amp;, ||, and ^ can be used to create a compound Boolean expression</a:t>
            </a:r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149428"/>
              </p:ext>
            </p:extLst>
          </p:nvPr>
        </p:nvGraphicFramePr>
        <p:xfrm>
          <a:off x="838200" y="3352800"/>
          <a:ext cx="7502525" cy="31480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9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9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960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Operator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Description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60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!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not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logical negation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60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&amp;&amp;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and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logical conjunction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60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||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or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logical disjunction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60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^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exclusive or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logical exclusion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1437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Text Box 2"/>
          <p:cNvSpPr txBox="1">
            <a:spLocks noChangeArrowheads="1"/>
          </p:cNvSpPr>
          <p:nvPr/>
        </p:nvSpPr>
        <p:spPr bwMode="auto">
          <a:xfrm>
            <a:off x="533400" y="0"/>
            <a:ext cx="7772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/>
              <a:t>Truth Table for Operator !</a:t>
            </a:r>
          </a:p>
        </p:txBody>
      </p:sp>
      <p:sp>
        <p:nvSpPr>
          <p:cNvPr id="57348" name="Rectangle 3"/>
          <p:cNvSpPr>
            <a:spLocks noChangeArrowheads="1"/>
          </p:cNvSpPr>
          <p:nvPr/>
        </p:nvSpPr>
        <p:spPr bwMode="auto">
          <a:xfrm>
            <a:off x="2362200" y="324802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57349" name="Rectangle 4"/>
          <p:cNvSpPr>
            <a:spLocks noChangeArrowheads="1"/>
          </p:cNvSpPr>
          <p:nvPr/>
        </p:nvSpPr>
        <p:spPr bwMode="auto">
          <a:xfrm>
            <a:off x="2052638" y="301942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57350" name="Rectangle 5"/>
          <p:cNvSpPr>
            <a:spLocks noChangeArrowheads="1"/>
          </p:cNvSpPr>
          <p:nvPr/>
        </p:nvSpPr>
        <p:spPr bwMode="auto">
          <a:xfrm>
            <a:off x="0" y="29718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57351" name="Rectangle 6"/>
          <p:cNvSpPr>
            <a:spLocks noChangeArrowheads="1"/>
          </p:cNvSpPr>
          <p:nvPr/>
        </p:nvSpPr>
        <p:spPr bwMode="auto">
          <a:xfrm>
            <a:off x="0" y="3021013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57352" name="Rectangle 7"/>
          <p:cNvSpPr>
            <a:spLocks noChangeArrowheads="1"/>
          </p:cNvSpPr>
          <p:nvPr/>
        </p:nvSpPr>
        <p:spPr bwMode="auto">
          <a:xfrm>
            <a:off x="0" y="3021013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graphicFrame>
        <p:nvGraphicFramePr>
          <p:cNvPr id="30728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502401"/>
              </p:ext>
            </p:extLst>
          </p:nvPr>
        </p:nvGraphicFramePr>
        <p:xfrm>
          <a:off x="155575" y="1431925"/>
          <a:ext cx="8720138" cy="4224339"/>
        </p:xfrm>
        <a:graphic>
          <a:graphicData uri="http://schemas.openxmlformats.org/drawingml/2006/table">
            <a:tbl>
              <a:tblPr/>
              <a:tblGrid>
                <a:gridCol w="966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6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811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!p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Example (assume age = 24, weight = 140)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811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!(age &gt; 18) is false, because (age &gt; 18) is true.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811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!(weight == 150)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is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, because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(weight == 150)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is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654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Text Box 2"/>
          <p:cNvSpPr txBox="1">
            <a:spLocks noChangeArrowheads="1"/>
          </p:cNvSpPr>
          <p:nvPr/>
        </p:nvSpPr>
        <p:spPr bwMode="auto">
          <a:xfrm>
            <a:off x="533400" y="0"/>
            <a:ext cx="7772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/>
              <a:t>Truth Table for Operator &amp;&amp;</a:t>
            </a:r>
          </a:p>
        </p:txBody>
      </p:sp>
      <p:sp>
        <p:nvSpPr>
          <p:cNvPr id="59396" name="Rectangle 3"/>
          <p:cNvSpPr>
            <a:spLocks noChangeArrowheads="1"/>
          </p:cNvSpPr>
          <p:nvPr/>
        </p:nvSpPr>
        <p:spPr bwMode="auto">
          <a:xfrm>
            <a:off x="2052638" y="2795588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59397" name="Rectangle 4"/>
          <p:cNvSpPr>
            <a:spLocks noChangeArrowheads="1"/>
          </p:cNvSpPr>
          <p:nvPr/>
        </p:nvSpPr>
        <p:spPr bwMode="auto">
          <a:xfrm>
            <a:off x="0" y="272415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59398" name="Rectangle 5"/>
          <p:cNvSpPr>
            <a:spLocks noChangeArrowheads="1"/>
          </p:cNvSpPr>
          <p:nvPr/>
        </p:nvSpPr>
        <p:spPr bwMode="auto">
          <a:xfrm>
            <a:off x="0" y="2811463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graphicFrame>
        <p:nvGraphicFramePr>
          <p:cNvPr id="31750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854520"/>
              </p:ext>
            </p:extLst>
          </p:nvPr>
        </p:nvGraphicFramePr>
        <p:xfrm>
          <a:off x="250825" y="1239838"/>
          <a:ext cx="8643938" cy="5081587"/>
        </p:xfrm>
        <a:graphic>
          <a:graphicData uri="http://schemas.openxmlformats.org/drawingml/2006/table">
            <a:tbl>
              <a:tblPr/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13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866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&amp;&amp; 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Example (assume age = 24, weight = 140)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8412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&lt;= 18) &amp;&amp; (weight &lt; 140) is false, because (age &gt; 18) and (weight &lt;= 140) are both false.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078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&gt; 18) &amp;&amp; (weight &gt; 140) is false, because (weight &gt; 140) is false.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078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 (age &gt; 18) &amp;&amp; (weight &gt;= 140) is true, because both (age &gt; 18) and (weight &gt;= 140) are true.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3392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Text Box 2"/>
          <p:cNvSpPr txBox="1">
            <a:spLocks noChangeArrowheads="1"/>
          </p:cNvSpPr>
          <p:nvPr/>
        </p:nvSpPr>
        <p:spPr bwMode="auto">
          <a:xfrm>
            <a:off x="533400" y="0"/>
            <a:ext cx="7772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/>
              <a:t>Truth Table for Operator ||</a:t>
            </a:r>
          </a:p>
        </p:txBody>
      </p:sp>
      <p:sp>
        <p:nvSpPr>
          <p:cNvPr id="61444" name="Rectangle 3"/>
          <p:cNvSpPr>
            <a:spLocks noChangeArrowheads="1"/>
          </p:cNvSpPr>
          <p:nvPr/>
        </p:nvSpPr>
        <p:spPr bwMode="auto">
          <a:xfrm>
            <a:off x="2052638" y="2795588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61445" name="Rectangle 4"/>
          <p:cNvSpPr>
            <a:spLocks noChangeArrowheads="1"/>
          </p:cNvSpPr>
          <p:nvPr/>
        </p:nvSpPr>
        <p:spPr bwMode="auto">
          <a:xfrm>
            <a:off x="0" y="2792413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61446" name="Rectangle 5"/>
          <p:cNvSpPr>
            <a:spLocks noChangeArrowheads="1"/>
          </p:cNvSpPr>
          <p:nvPr/>
        </p:nvSpPr>
        <p:spPr bwMode="auto">
          <a:xfrm>
            <a:off x="0" y="28194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graphicFrame>
        <p:nvGraphicFramePr>
          <p:cNvPr id="32774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102746"/>
              </p:ext>
            </p:extLst>
          </p:nvPr>
        </p:nvGraphicFramePr>
        <p:xfrm>
          <a:off x="155575" y="1393825"/>
          <a:ext cx="8720138" cy="5102225"/>
        </p:xfrm>
        <a:graphic>
          <a:graphicData uri="http://schemas.openxmlformats.org/drawingml/2006/table">
            <a:tbl>
              <a:tblPr/>
              <a:tblGrid>
                <a:gridCol w="852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8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3438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|| p</a:t>
                      </a:r>
                      <a:r>
                        <a:rPr kumimoji="0" lang="en-US" alt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Example (assume age = 24, weight = 140)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838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143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&gt; 34) || (weight &lt;= 140) is true, because (age &gt; 34) is false, but (weight &lt;= 140) is true.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674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&gt; 14) || (weight &gt;= 150) is false, because (age &gt; 14) is true.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838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7762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Text Box 2"/>
          <p:cNvSpPr txBox="1">
            <a:spLocks noChangeArrowheads="1"/>
          </p:cNvSpPr>
          <p:nvPr/>
        </p:nvSpPr>
        <p:spPr bwMode="auto">
          <a:xfrm>
            <a:off x="533400" y="0"/>
            <a:ext cx="7772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/>
              <a:t>Truth Table for Operator ^</a:t>
            </a:r>
          </a:p>
        </p:txBody>
      </p:sp>
      <p:sp>
        <p:nvSpPr>
          <p:cNvPr id="63492" name="Rectangle 3"/>
          <p:cNvSpPr>
            <a:spLocks noChangeArrowheads="1"/>
          </p:cNvSpPr>
          <p:nvPr/>
        </p:nvSpPr>
        <p:spPr bwMode="auto">
          <a:xfrm>
            <a:off x="2052638" y="2795588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63493" name="Rectangle 4"/>
          <p:cNvSpPr>
            <a:spLocks noChangeArrowheads="1"/>
          </p:cNvSpPr>
          <p:nvPr/>
        </p:nvSpPr>
        <p:spPr bwMode="auto">
          <a:xfrm>
            <a:off x="2052638" y="2795588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63494" name="Rectangle 5"/>
          <p:cNvSpPr>
            <a:spLocks noChangeArrowheads="1"/>
          </p:cNvSpPr>
          <p:nvPr/>
        </p:nvSpPr>
        <p:spPr bwMode="auto">
          <a:xfrm>
            <a:off x="0" y="28194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graphicFrame>
        <p:nvGraphicFramePr>
          <p:cNvPr id="33798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812255"/>
              </p:ext>
            </p:extLst>
          </p:nvPr>
        </p:nvGraphicFramePr>
        <p:xfrm>
          <a:off x="193675" y="1316038"/>
          <a:ext cx="8682038" cy="5173662"/>
        </p:xfrm>
        <a:graphic>
          <a:graphicData uri="http://schemas.openxmlformats.org/drawingml/2006/table">
            <a:tbl>
              <a:tblPr/>
              <a:tblGrid>
                <a:gridCol w="83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3738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^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Example (assume age = 24, weight = 140)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0962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&gt; 34) ^ (weight &gt; 140) is true, because (age &gt; 34) is false and (weight &gt; 140) is false.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8875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&gt; 34) ^ (weight &gt;= 140) is true, because (age &gt; 34) is false but (weight &gt;= 140) is true.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0962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&gt; 14) ^ (weight &gt; 140) is true, because (age &gt; 14) is true and (weight &gt; 140) is false.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4545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8600" y="457200"/>
            <a:ext cx="84682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Whether a number is divisible by 2 and 3, by 2 or 3, and by 2 or 3 but not both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1" y="1752600"/>
            <a:ext cx="89154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java.util.Scanner</a:t>
            </a:r>
            <a:r>
              <a:rPr lang="en-US" dirty="0"/>
              <a:t>; </a:t>
            </a:r>
          </a:p>
          <a:p>
            <a:r>
              <a:rPr lang="en-US" dirty="0"/>
              <a:t>public class </a:t>
            </a:r>
            <a:r>
              <a:rPr lang="en-US" dirty="0" err="1"/>
              <a:t>TestBooleanOperators</a:t>
            </a:r>
            <a:r>
              <a:rPr lang="en-US" dirty="0"/>
              <a:t> {</a:t>
            </a:r>
          </a:p>
          <a:p>
            <a:r>
              <a:rPr lang="en-US" dirty="0"/>
              <a:t> 	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	    Scanner input = new Scanner(System.in);</a:t>
            </a:r>
          </a:p>
          <a:p>
            <a:r>
              <a:rPr lang="en-US" dirty="0"/>
              <a:t>   	    // Receive an input</a:t>
            </a:r>
          </a:p>
          <a:p>
            <a:r>
              <a:rPr lang="en-US" dirty="0"/>
              <a:t>      	   </a:t>
            </a:r>
            <a:r>
              <a:rPr lang="en-US" dirty="0" err="1"/>
              <a:t>System.out.print</a:t>
            </a:r>
            <a:r>
              <a:rPr lang="en-US" dirty="0"/>
              <a:t>("Enter an integer: ");</a:t>
            </a:r>
          </a:p>
          <a:p>
            <a:r>
              <a:rPr lang="en-US" dirty="0"/>
              <a:t> 	   </a:t>
            </a:r>
            <a:r>
              <a:rPr lang="en-US" dirty="0" err="1"/>
              <a:t>int</a:t>
            </a:r>
            <a:r>
              <a:rPr lang="en-US" dirty="0"/>
              <a:t> number = </a:t>
            </a:r>
            <a:r>
              <a:rPr lang="en-US" dirty="0" err="1"/>
              <a:t>input.nextInt</a:t>
            </a:r>
            <a:r>
              <a:rPr lang="en-US" dirty="0"/>
              <a:t>();</a:t>
            </a:r>
          </a:p>
          <a:p>
            <a:r>
              <a:rPr lang="en-US" dirty="0"/>
              <a:t>    	 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	   if (number % 2 == 0 &amp;&amp; number % 3 == 0)</a:t>
            </a:r>
          </a:p>
          <a:p>
            <a:r>
              <a:rPr lang="en-US" dirty="0"/>
              <a:t>                            </a:t>
            </a:r>
            <a:r>
              <a:rPr lang="en-US" dirty="0" err="1"/>
              <a:t>System.out.println</a:t>
            </a:r>
            <a:r>
              <a:rPr lang="en-US" dirty="0"/>
              <a:t>(number + " is divisible by 2 and 3.");</a:t>
            </a:r>
          </a:p>
          <a:p>
            <a:r>
              <a:rPr lang="en-US" dirty="0"/>
              <a:t>	   if (number % 2 == 0 || number % 3 == 0)</a:t>
            </a:r>
          </a:p>
          <a:p>
            <a:r>
              <a:rPr lang="en-US" dirty="0"/>
              <a:t>        	          </a:t>
            </a:r>
            <a:r>
              <a:rPr lang="en-US" dirty="0" err="1"/>
              <a:t>System.out.println</a:t>
            </a:r>
            <a:r>
              <a:rPr lang="en-US" dirty="0"/>
              <a:t>(number + " is divisible by 2 or 3.");</a:t>
            </a:r>
          </a:p>
          <a:p>
            <a:r>
              <a:rPr lang="en-US" dirty="0"/>
              <a:t>	   if (number % 2 == 0 ^ number % 3 == 0)</a:t>
            </a:r>
          </a:p>
          <a:p>
            <a:r>
              <a:rPr lang="en-US" dirty="0"/>
              <a:t>	          </a:t>
            </a:r>
            <a:r>
              <a:rPr lang="en-US" dirty="0" err="1"/>
              <a:t>System.out.println</a:t>
            </a:r>
            <a:r>
              <a:rPr lang="en-US" dirty="0"/>
              <a:t>(number +  " is divisible by 2 or 3, but not both.");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16"/>
          <a:stretch/>
        </p:blipFill>
        <p:spPr bwMode="auto">
          <a:xfrm>
            <a:off x="5019101" y="1143000"/>
            <a:ext cx="3972500" cy="10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475"/>
          <a:stretch/>
        </p:blipFill>
        <p:spPr bwMode="auto">
          <a:xfrm>
            <a:off x="5060043" y="2751160"/>
            <a:ext cx="3931557" cy="1294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845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6D63-3B91-4E3B-8479-B0092CDF4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Expressions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F2F94F-B8CD-4740-964F-3F09A7B13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250" y="1905000"/>
            <a:ext cx="8385277" cy="1577203"/>
          </a:xfrm>
        </p:spPr>
        <p:txBody>
          <a:bodyPr>
            <a:noAutofit/>
          </a:bodyPr>
          <a:lstStyle/>
          <a:p>
            <a:r>
              <a:rPr lang="en-US" sz="2400" dirty="0"/>
              <a:t>Conditional expressions are in a completely different style </a:t>
            </a:r>
          </a:p>
          <a:p>
            <a:r>
              <a:rPr lang="en-US" sz="2400" b="1" dirty="0"/>
              <a:t>Syntax :</a:t>
            </a:r>
          </a:p>
          <a:p>
            <a:pPr marL="457200" lvl="1" indent="0">
              <a:buNone/>
            </a:pPr>
            <a:r>
              <a:rPr lang="en-US" sz="2400" b="1" dirty="0" err="1">
                <a:latin typeface="+mj-lt"/>
              </a:rPr>
              <a:t>boolean</a:t>
            </a:r>
            <a:r>
              <a:rPr lang="en-US" sz="2400" b="1" dirty="0">
                <a:latin typeface="+mj-lt"/>
              </a:rPr>
              <a:t>-expression ? expression1 : expression2;</a:t>
            </a:r>
            <a:endParaRPr lang="en-US" sz="1800" b="1" dirty="0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DB7E65-405F-4811-9A7C-855B57D2D4C8}"/>
              </a:ext>
            </a:extLst>
          </p:cNvPr>
          <p:cNvSpPr/>
          <p:nvPr/>
        </p:nvSpPr>
        <p:spPr>
          <a:xfrm>
            <a:off x="454250" y="1343055"/>
            <a:ext cx="8385277" cy="40011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i="1" dirty="0">
                <a:latin typeface="Times-Italic"/>
              </a:rPr>
              <a:t>A conditional expression evaluates an expression based on a condition.</a:t>
            </a:r>
            <a:endParaRPr lang="en-US" sz="20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42824" y="3366534"/>
            <a:ext cx="6874615" cy="1692771"/>
            <a:chOff x="622738" y="3828926"/>
            <a:chExt cx="6874615" cy="1692771"/>
          </a:xfrm>
        </p:grpSpPr>
        <p:grpSp>
          <p:nvGrpSpPr>
            <p:cNvPr id="8" name="Group 7"/>
            <p:cNvGrpSpPr/>
            <p:nvPr/>
          </p:nvGrpSpPr>
          <p:grpSpPr>
            <a:xfrm>
              <a:off x="622738" y="3828926"/>
              <a:ext cx="1500732" cy="1692771"/>
              <a:chOff x="830317" y="3828926"/>
              <a:chExt cx="2000976" cy="1692771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830317" y="4198258"/>
                <a:ext cx="2000976" cy="132343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lvl="1"/>
                <a:r>
                  <a:rPr lang="es-ES" sz="2000" b="1" dirty="0" err="1"/>
                  <a:t>if</a:t>
                </a:r>
                <a:r>
                  <a:rPr lang="es-ES" sz="2000" b="1" dirty="0"/>
                  <a:t> (x &gt; 0)</a:t>
                </a:r>
              </a:p>
              <a:p>
                <a:pPr lvl="1"/>
                <a:r>
                  <a:rPr lang="es-ES" sz="2000" b="1" dirty="0"/>
                  <a:t>  y = 1;</a:t>
                </a:r>
              </a:p>
              <a:p>
                <a:pPr lvl="1"/>
                <a:r>
                  <a:rPr lang="es-ES" sz="2000" b="1" dirty="0" err="1"/>
                  <a:t>else</a:t>
                </a:r>
                <a:endParaRPr lang="es-ES" sz="2000" b="1" dirty="0"/>
              </a:p>
              <a:p>
                <a:pPr lvl="1"/>
                <a:r>
                  <a:rPr lang="es-ES" sz="2000" b="1" dirty="0"/>
                  <a:t>  y = -1;</a:t>
                </a:r>
                <a:endParaRPr lang="en-US" sz="2000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830317" y="3828926"/>
                <a:ext cx="15772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Example-1</a:t>
                </a:r>
                <a:endParaRPr lang="en-US" dirty="0"/>
              </a:p>
            </p:txBody>
          </p:sp>
        </p:grpSp>
        <p:sp>
          <p:nvSpPr>
            <p:cNvPr id="9" name="Right Arrow 8"/>
            <p:cNvSpPr/>
            <p:nvPr/>
          </p:nvSpPr>
          <p:spPr>
            <a:xfrm>
              <a:off x="2298197" y="4366808"/>
              <a:ext cx="2447597" cy="89400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Can be written as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46270" y="4613756"/>
              <a:ext cx="2751083" cy="400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1"/>
              <a:r>
                <a:rPr lang="es-ES" sz="2000" b="1" dirty="0"/>
                <a:t>y = (x &gt; 0)? 1 : -1;</a:t>
              </a:r>
              <a:endParaRPr lang="en-US" sz="20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57024" y="5460142"/>
            <a:ext cx="8001176" cy="830997"/>
            <a:chOff x="1142824" y="5460142"/>
            <a:chExt cx="6077604" cy="830997"/>
          </a:xfrm>
        </p:grpSpPr>
        <p:sp>
          <p:nvSpPr>
            <p:cNvPr id="11" name="Rectangle 10"/>
            <p:cNvSpPr/>
            <p:nvPr/>
          </p:nvSpPr>
          <p:spPr>
            <a:xfrm>
              <a:off x="1142824" y="5829474"/>
              <a:ext cx="6077604" cy="461665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pt-BR" sz="2400" dirty="0"/>
                <a:t>max = (num1 &gt; num2) ? num1 : num2;</a:t>
              </a:r>
              <a:endParaRPr lang="en-US" sz="2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49668" y="5460142"/>
              <a:ext cx="19486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/>
                <a:t>MaxNum</a:t>
              </a:r>
              <a:r>
                <a:rPr lang="en-US" b="1" dirty="0"/>
                <a:t>-Example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976357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Operator Precedence and Associativity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2209800"/>
            <a:ext cx="8610600" cy="3916363"/>
          </a:xfrm>
        </p:spPr>
        <p:txBody>
          <a:bodyPr>
            <a:normAutofit/>
          </a:bodyPr>
          <a:lstStyle/>
          <a:p>
            <a:r>
              <a:rPr lang="en-US" sz="2800" dirty="0"/>
              <a:t>If operators with the same precedence are next to each other, their associativity determines the order of evaluation</a:t>
            </a:r>
          </a:p>
          <a:p>
            <a:pPr lvl="1"/>
            <a:r>
              <a:rPr lang="en-US" sz="2400" dirty="0"/>
              <a:t>All binary operators except assignment operators are </a:t>
            </a:r>
            <a:r>
              <a:rPr lang="en-US" sz="2400" i="1" dirty="0"/>
              <a:t>left associative</a:t>
            </a:r>
          </a:p>
          <a:p>
            <a:pPr lvl="1"/>
            <a:r>
              <a:rPr lang="en-US" sz="2400" dirty="0"/>
              <a:t>Assignment operators are </a:t>
            </a:r>
            <a:r>
              <a:rPr lang="en-US" sz="2400" i="1" dirty="0"/>
              <a:t>right associative</a:t>
            </a:r>
          </a:p>
          <a:p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304800" y="1371600"/>
            <a:ext cx="8610600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i="1" dirty="0"/>
              <a:t>Operator precedence and associativity determine the order in which operators are evaluated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857750"/>
            <a:ext cx="6732651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871950"/>
            <a:ext cx="6783313" cy="701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4839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Operator Precedence and Associativity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90"/>
          <a:stretch/>
        </p:blipFill>
        <p:spPr bwMode="auto">
          <a:xfrm>
            <a:off x="335506" y="1371600"/>
            <a:ext cx="8503693" cy="5363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2590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true || true &amp;&amp; false</a:t>
            </a:r>
          </a:p>
          <a:p>
            <a:r>
              <a:rPr lang="en-US" sz="2800" dirty="0"/>
              <a:t>true &amp;&amp; true || false</a:t>
            </a:r>
          </a:p>
          <a:p>
            <a:r>
              <a:rPr lang="en-US" sz="2800" dirty="0"/>
              <a:t>2 * 2 - 3 &gt; 2 &amp;&amp; 4 - 2 &gt; 5</a:t>
            </a:r>
          </a:p>
          <a:p>
            <a:r>
              <a:rPr lang="en-US" sz="2800" dirty="0"/>
              <a:t>2 * 2 - 3 &gt; 2 || 4 - 2 &gt; 5</a:t>
            </a:r>
          </a:p>
          <a:p>
            <a:r>
              <a:rPr lang="en-US" sz="2800" dirty="0"/>
              <a:t>Is x &gt; 0 &amp;&amp; x &lt; 10   the same as(x &gt; 0) &amp;&amp; (x &lt; 10) ?</a:t>
            </a:r>
          </a:p>
          <a:p>
            <a:r>
              <a:rPr lang="en-US" sz="2800" dirty="0"/>
              <a:t>Is (x &gt; 0 || x &lt; 10) the same as ((x &gt; 0) || (x &lt; 10))?</a:t>
            </a:r>
          </a:p>
          <a:p>
            <a:r>
              <a:rPr lang="en-US" sz="2400" dirty="0"/>
              <a:t>Is (x &gt; 0 || x &lt; 10 &amp;&amp; y &lt; 0) the same as (x &gt; 0 || (x &lt; 10 &amp;&amp; y &lt; 0))?</a:t>
            </a:r>
          </a:p>
          <a:p>
            <a:r>
              <a:rPr lang="en-US" sz="2800" dirty="0"/>
              <a:t>3 + 4 * 4 &gt; 5 * (4 + 3) – 1 </a:t>
            </a:r>
            <a:r>
              <a:rPr lang="en-US" sz="2400" dirty="0"/>
              <a:t>&amp;&amp;</a:t>
            </a:r>
            <a:r>
              <a:rPr lang="en-US" sz="2800" dirty="0"/>
              <a:t> (4 - 3 &gt; 5)</a:t>
            </a:r>
          </a:p>
        </p:txBody>
      </p:sp>
    </p:spTree>
    <p:extLst>
      <p:ext uri="{BB962C8B-B14F-4D97-AF65-F5344CB8AC3E}">
        <p14:creationId xmlns:p14="http://schemas.microsoft.com/office/powerpoint/2010/main" val="42344528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Nested </a:t>
            </a:r>
            <a:r>
              <a:rPr lang="en-US" b="1" dirty="0"/>
              <a:t>if</a:t>
            </a:r>
            <a:r>
              <a:rPr lang="en-US" dirty="0"/>
              <a:t> and Multi way </a:t>
            </a:r>
            <a:r>
              <a:rPr lang="en-US" b="1" dirty="0"/>
              <a:t>if</a:t>
            </a:r>
            <a:r>
              <a:rPr lang="en-US" dirty="0"/>
              <a:t> statements and switch statement</a:t>
            </a:r>
          </a:p>
          <a:p>
            <a:r>
              <a:rPr lang="en-US" dirty="0"/>
              <a:t>Logical Operators</a:t>
            </a:r>
          </a:p>
          <a:p>
            <a:r>
              <a:rPr lang="en-US" dirty="0"/>
              <a:t>Conditional Expression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205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Repetition Structure</a:t>
            </a:r>
          </a:p>
        </p:txBody>
      </p:sp>
    </p:spTree>
    <p:extLst>
      <p:ext uri="{BB962C8B-B14F-4D97-AF65-F5344CB8AC3E}">
        <p14:creationId xmlns:p14="http://schemas.microsoft.com/office/powerpoint/2010/main" val="3223216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29116</TotalTime>
  <Words>2584</Words>
  <Application>Microsoft Office PowerPoint</Application>
  <PresentationFormat>On-screen Show (4:3)</PresentationFormat>
  <Paragraphs>390</Paragraphs>
  <Slides>41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Courier New</vt:lpstr>
      <vt:lpstr>Times New Roman</vt:lpstr>
      <vt:lpstr>Times-Italic</vt:lpstr>
      <vt:lpstr>Office Theme</vt:lpstr>
      <vt:lpstr>PowerPoint Presentation</vt:lpstr>
      <vt:lpstr>Lecture Outline</vt:lpstr>
      <vt:lpstr>Nested Decision Structures</vt:lpstr>
      <vt:lpstr>Nested Decision Structures – Example </vt:lpstr>
      <vt:lpstr>Multiple Alternative if Statements</vt:lpstr>
      <vt:lpstr>PowerPoint Presentation</vt:lpstr>
      <vt:lpstr>Multiple Alternative if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Switch-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Logical Operators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Conditional Expressions</vt:lpstr>
      <vt:lpstr>Operator Precedence and Associativity</vt:lpstr>
      <vt:lpstr>Operator Precedence and Associativity</vt:lpstr>
      <vt:lpstr>Example</vt:lpstr>
      <vt:lpstr>Summary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CSC103-Programming Fundamentals</dc:title>
  <dc:creator>Rizwan</dc:creator>
  <cp:lastModifiedBy>Khurram Iqbal</cp:lastModifiedBy>
  <cp:revision>64</cp:revision>
  <dcterms:created xsi:type="dcterms:W3CDTF">2006-08-16T00:00:00Z</dcterms:created>
  <dcterms:modified xsi:type="dcterms:W3CDTF">2026-03-30T14:36:33Z</dcterms:modified>
</cp:coreProperties>
</file>