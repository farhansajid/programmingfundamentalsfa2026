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5" r:id="rId2"/>
    <p:sldId id="270" r:id="rId3"/>
    <p:sldId id="274" r:id="rId4"/>
    <p:sldId id="275" r:id="rId5"/>
    <p:sldId id="266" r:id="rId6"/>
    <p:sldId id="267" r:id="rId7"/>
    <p:sldId id="268" r:id="rId8"/>
    <p:sldId id="269" r:id="rId9"/>
    <p:sldId id="278" r:id="rId10"/>
    <p:sldId id="279" r:id="rId11"/>
    <p:sldId id="280" r:id="rId12"/>
    <p:sldId id="281" r:id="rId13"/>
    <p:sldId id="277" r:id="rId14"/>
    <p:sldId id="271" r:id="rId15"/>
    <p:sldId id="272" r:id="rId16"/>
    <p:sldId id="273" r:id="rId17"/>
    <p:sldId id="297" r:id="rId18"/>
    <p:sldId id="298" r:id="rId19"/>
    <p:sldId id="299" r:id="rId20"/>
    <p:sldId id="282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F83D85-C6D9-4C34-83D7-BD270D98DCA5}">
          <p14:sldIdLst>
            <p14:sldId id="265"/>
            <p14:sldId id="270"/>
            <p14:sldId id="274"/>
            <p14:sldId id="275"/>
            <p14:sldId id="266"/>
            <p14:sldId id="267"/>
            <p14:sldId id="268"/>
            <p14:sldId id="269"/>
            <p14:sldId id="278"/>
            <p14:sldId id="279"/>
            <p14:sldId id="280"/>
            <p14:sldId id="281"/>
            <p14:sldId id="277"/>
            <p14:sldId id="271"/>
            <p14:sldId id="272"/>
            <p14:sldId id="273"/>
            <p14:sldId id="297"/>
            <p14:sldId id="298"/>
            <p14:sldId id="299"/>
            <p14:sldId id="282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84" autoAdjust="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73F09AE0-E8BC-44AA-8113-3A05FA1611FE}"/>
    <pc:docChg chg="custSel modSld sldOrd">
      <pc:chgData name="Khurram Iqbal" userId="af32904b-6c78-4cff-8330-5f3a20d540de" providerId="ADAL" clId="{73F09AE0-E8BC-44AA-8113-3A05FA1611FE}" dt="2025-03-19T06:19:58.038" v="30"/>
      <pc:docMkLst>
        <pc:docMk/>
      </pc:docMkLst>
      <pc:sldChg chg="addSp modSp mod setBg">
        <pc:chgData name="Khurram Iqbal" userId="af32904b-6c78-4cff-8330-5f3a20d540de" providerId="ADAL" clId="{73F09AE0-E8BC-44AA-8113-3A05FA1611FE}" dt="2025-03-19T06:19:15.440" v="24" actId="26606"/>
        <pc:sldMkLst>
          <pc:docMk/>
          <pc:sldMk cId="1897967930" sldId="265"/>
        </pc:sldMkLst>
        <pc:spChg chg="mod">
          <ac:chgData name="Khurram Iqbal" userId="af32904b-6c78-4cff-8330-5f3a20d540de" providerId="ADAL" clId="{73F09AE0-E8BC-44AA-8113-3A05FA1611FE}" dt="2025-03-19T06:19:15.440" v="24" actId="26606"/>
          <ac:spMkLst>
            <pc:docMk/>
            <pc:sldMk cId="1897967930" sldId="265"/>
            <ac:spMk id="2" creationId="{00000000-0000-0000-0000-000000000000}"/>
          </ac:spMkLst>
        </pc:spChg>
        <pc:spChg chg="mod">
          <ac:chgData name="Khurram Iqbal" userId="af32904b-6c78-4cff-8330-5f3a20d540de" providerId="ADAL" clId="{73F09AE0-E8BC-44AA-8113-3A05FA1611FE}" dt="2025-03-19T06:19:15.440" v="24" actId="26606"/>
          <ac:spMkLst>
            <pc:docMk/>
            <pc:sldMk cId="1897967930" sldId="265"/>
            <ac:spMk id="3" creationId="{00000000-0000-0000-0000-000000000000}"/>
          </ac:spMkLst>
        </pc:spChg>
        <pc:spChg chg="add">
          <ac:chgData name="Khurram Iqbal" userId="af32904b-6c78-4cff-8330-5f3a20d540de" providerId="ADAL" clId="{73F09AE0-E8BC-44AA-8113-3A05FA1611FE}" dt="2025-03-19T06:19:15.440" v="24" actId="26606"/>
          <ac:spMkLst>
            <pc:docMk/>
            <pc:sldMk cId="1897967930" sldId="265"/>
            <ac:spMk id="8" creationId="{FFD48BC7-DC40-47DE-87EE-9F4B6ECB9ABB}"/>
          </ac:spMkLst>
        </pc:spChg>
        <pc:spChg chg="add">
          <ac:chgData name="Khurram Iqbal" userId="af32904b-6c78-4cff-8330-5f3a20d540de" providerId="ADAL" clId="{73F09AE0-E8BC-44AA-8113-3A05FA1611FE}" dt="2025-03-19T06:19:15.440" v="24" actId="26606"/>
          <ac:spMkLst>
            <pc:docMk/>
            <pc:sldMk cId="1897967930" sldId="265"/>
            <ac:spMk id="10" creationId="{E502BBC7-2C76-46F3-BC24-5985BC13DB88}"/>
          </ac:spMkLst>
        </pc:spChg>
        <pc:spChg chg="add">
          <ac:chgData name="Khurram Iqbal" userId="af32904b-6c78-4cff-8330-5f3a20d540de" providerId="ADAL" clId="{73F09AE0-E8BC-44AA-8113-3A05FA1611FE}" dt="2025-03-19T06:19:15.440" v="24" actId="26606"/>
          <ac:spMkLst>
            <pc:docMk/>
            <pc:sldMk cId="1897967930" sldId="265"/>
            <ac:spMk id="12" creationId="{C7F28D52-2A5F-4D23-81AE-7CB8B591C7AF}"/>
          </ac:spMkLst>
        </pc:spChg>
        <pc:spChg chg="add">
          <ac:chgData name="Khurram Iqbal" userId="af32904b-6c78-4cff-8330-5f3a20d540de" providerId="ADAL" clId="{73F09AE0-E8BC-44AA-8113-3A05FA1611FE}" dt="2025-03-19T06:19:15.440" v="24" actId="26606"/>
          <ac:spMkLst>
            <pc:docMk/>
            <pc:sldMk cId="1897967930" sldId="265"/>
            <ac:spMk id="14" creationId="{3629484E-3792-4B3D-89AD-7C8A1ED0E0D4}"/>
          </ac:spMkLst>
        </pc:spChg>
      </pc:sldChg>
      <pc:sldChg chg="ord">
        <pc:chgData name="Khurram Iqbal" userId="af32904b-6c78-4cff-8330-5f3a20d540de" providerId="ADAL" clId="{73F09AE0-E8BC-44AA-8113-3A05FA1611FE}" dt="2025-03-19T06:19:34.316" v="26"/>
        <pc:sldMkLst>
          <pc:docMk/>
          <pc:sldMk cId="2831676311" sldId="270"/>
        </pc:sldMkLst>
      </pc:sldChg>
      <pc:sldChg chg="ord">
        <pc:chgData name="Khurram Iqbal" userId="af32904b-6c78-4cff-8330-5f3a20d540de" providerId="ADAL" clId="{73F09AE0-E8BC-44AA-8113-3A05FA1611FE}" dt="2025-03-19T06:19:42.221" v="28"/>
        <pc:sldMkLst>
          <pc:docMk/>
          <pc:sldMk cId="710818933" sldId="274"/>
        </pc:sldMkLst>
      </pc:sldChg>
      <pc:sldChg chg="ord">
        <pc:chgData name="Khurram Iqbal" userId="af32904b-6c78-4cff-8330-5f3a20d540de" providerId="ADAL" clId="{73F09AE0-E8BC-44AA-8113-3A05FA1611FE}" dt="2025-03-19T06:19:58.038" v="30"/>
        <pc:sldMkLst>
          <pc:docMk/>
          <pc:sldMk cId="4193019877" sldId="275"/>
        </pc:sldMkLst>
      </pc:sldChg>
    </pc:docChg>
  </pc:docChgLst>
  <pc:docChgLst>
    <pc:chgData name="Rizwan Rashid" userId="12b6bffb-8fd7-410a-bd1e-f473b901c3a4" providerId="ADAL" clId="{C1D432BA-C99C-4AC5-AC0A-EF80F44D0ECF}"/>
    <pc:docChg chg="custSel modSld">
      <pc:chgData name="Rizwan Rashid" userId="12b6bffb-8fd7-410a-bd1e-f473b901c3a4" providerId="ADAL" clId="{C1D432BA-C99C-4AC5-AC0A-EF80F44D0ECF}" dt="2022-10-26T08:01:47.899" v="0" actId="33524"/>
      <pc:docMkLst>
        <pc:docMk/>
      </pc:docMkLst>
      <pc:sldChg chg="modSp mod">
        <pc:chgData name="Rizwan Rashid" userId="12b6bffb-8fd7-410a-bd1e-f473b901c3a4" providerId="ADAL" clId="{C1D432BA-C99C-4AC5-AC0A-EF80F44D0ECF}" dt="2022-10-26T08:01:47.899" v="0" actId="33524"/>
        <pc:sldMkLst>
          <pc:docMk/>
          <pc:sldMk cId="3568003759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DDA7E-9D10-424E-8D91-147768DD6A75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988DE-DC7E-4950-9759-C240D06BD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3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Methods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US" sz="2400"/>
              <a:t>Instructor Khurram Iqbal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96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/>
              <a:t>Pre-defined Methods</a:t>
            </a:r>
          </a:p>
          <a:p>
            <a:pPr lvl="1"/>
            <a:r>
              <a:rPr lang="en-US" dirty="0"/>
              <a:t>Already defined in the Java class libraries known as </a:t>
            </a:r>
            <a:r>
              <a:rPr lang="en-US" b="1" dirty="0"/>
              <a:t>standard library method</a:t>
            </a:r>
            <a:r>
              <a:rPr lang="en-US" dirty="0"/>
              <a:t> or </a:t>
            </a:r>
            <a:r>
              <a:rPr lang="en-US" b="1" dirty="0"/>
              <a:t>built-in method</a:t>
            </a:r>
            <a:endParaRPr lang="en-US" dirty="0"/>
          </a:p>
          <a:p>
            <a:pPr lvl="1"/>
            <a:r>
              <a:rPr lang="en-US" dirty="0" err="1"/>
              <a:t>println</a:t>
            </a:r>
            <a:r>
              <a:rPr lang="en-US" dirty="0"/>
              <a:t>(), </a:t>
            </a:r>
            <a:r>
              <a:rPr lang="en-US" dirty="0" err="1"/>
              <a:t>Math.pow</a:t>
            </a:r>
            <a:r>
              <a:rPr lang="en-US" dirty="0"/>
              <a:t>(), </a:t>
            </a:r>
            <a:r>
              <a:rPr lang="en-US" dirty="0" err="1"/>
              <a:t>input.nextInt</a:t>
            </a:r>
            <a:r>
              <a:rPr lang="en-US" dirty="0"/>
              <a:t>(), etc.</a:t>
            </a:r>
          </a:p>
          <a:p>
            <a:r>
              <a:rPr lang="en-US" dirty="0"/>
              <a:t>User-defined Methods</a:t>
            </a:r>
          </a:p>
          <a:p>
            <a:pPr lvl="1"/>
            <a:r>
              <a:rPr lang="en-US" dirty="0"/>
              <a:t>The method written by the user or programmer</a:t>
            </a:r>
          </a:p>
          <a:p>
            <a:pPr lvl="1"/>
            <a:r>
              <a:rPr lang="en-US" dirty="0"/>
              <a:t>Modified as per requirement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268568"/>
            <a:ext cx="86868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A method is a collection of statements grouped together to perform an operation</a:t>
            </a:r>
          </a:p>
        </p:txBody>
      </p:sp>
    </p:spTree>
    <p:extLst>
      <p:ext uri="{BB962C8B-B14F-4D97-AF65-F5344CB8AC3E}">
        <p14:creationId xmlns:p14="http://schemas.microsoft.com/office/powerpoint/2010/main" val="283167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Defining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675470"/>
          </a:xfrm>
        </p:spPr>
        <p:txBody>
          <a:bodyPr/>
          <a:lstStyle/>
          <a:p>
            <a:r>
              <a:rPr lang="en-US" dirty="0"/>
              <a:t>Syntax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22938"/>
            <a:ext cx="86106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urier" pitchFamily="49" charset="0"/>
              </a:rPr>
              <a:t>modifier </a:t>
            </a:r>
            <a:r>
              <a:rPr lang="en-US" sz="2000" dirty="0" err="1">
                <a:latin typeface="Courier" pitchFamily="49" charset="0"/>
              </a:rPr>
              <a:t>returnValueType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 err="1">
                <a:latin typeface="Courier" pitchFamily="49" charset="0"/>
              </a:rPr>
              <a:t>methodName</a:t>
            </a:r>
            <a:r>
              <a:rPr lang="en-US" sz="2000" dirty="0">
                <a:latin typeface="Courier" pitchFamily="49" charset="0"/>
              </a:rPr>
              <a:t>(list of parameters) {</a:t>
            </a:r>
          </a:p>
          <a:p>
            <a:r>
              <a:rPr lang="en-US" sz="2000" dirty="0">
                <a:latin typeface="Courier" pitchFamily="49" charset="0"/>
              </a:rPr>
              <a:t>	  // Method body;</a:t>
            </a:r>
          </a:p>
          <a:p>
            <a:r>
              <a:rPr lang="en-US" sz="2000" dirty="0">
                <a:latin typeface="Courier" pitchFamily="49" charset="0"/>
              </a:rPr>
              <a:t>}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07" y="3047999"/>
            <a:ext cx="8614893" cy="351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081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49530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Access Specifier: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It specifies the visibility of the method. Java provides </a:t>
            </a:r>
            <a:r>
              <a:rPr lang="en-US" b="1" dirty="0"/>
              <a:t>four</a:t>
            </a:r>
            <a:r>
              <a:rPr lang="en-US" dirty="0"/>
              <a:t> types of access specifier:</a:t>
            </a:r>
          </a:p>
          <a:p>
            <a:pPr lvl="1"/>
            <a:r>
              <a:rPr lang="en-US" b="1" dirty="0"/>
              <a:t>Public:</a:t>
            </a:r>
            <a:r>
              <a:rPr lang="en-US" dirty="0"/>
              <a:t> The method is accessible by all classes</a:t>
            </a:r>
          </a:p>
          <a:p>
            <a:pPr lvl="1"/>
            <a:r>
              <a:rPr lang="en-US" b="1" dirty="0"/>
              <a:t>Private:</a:t>
            </a:r>
            <a:r>
              <a:rPr lang="en-US" dirty="0"/>
              <a:t> The method is accessible only in the classes in which it is defined</a:t>
            </a:r>
          </a:p>
          <a:p>
            <a:pPr lvl="1"/>
            <a:r>
              <a:rPr lang="en-US" b="1" dirty="0"/>
              <a:t>Protected:</a:t>
            </a:r>
            <a:r>
              <a:rPr lang="en-US" dirty="0"/>
              <a:t> The method is accessible within the same package or subclasses in a different package</a:t>
            </a:r>
          </a:p>
          <a:p>
            <a:pPr lvl="1"/>
            <a:r>
              <a:rPr lang="en-US" b="1" dirty="0"/>
              <a:t>Default:</a:t>
            </a:r>
            <a:r>
              <a:rPr lang="en-US" dirty="0"/>
              <a:t> When we do not use any access specifier in the method declaration, Java uses default access specifier by default. It is visible only from the same package only.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1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/>
              <a:t>Opening Problem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 the sum of integers from 1 to 10, from 20 to 30, and from 35 to 45, respectively.</a:t>
            </a:r>
          </a:p>
          <a:p>
            <a:endParaRPr lang="en-US" dirty="0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0" y="2370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0" y="4487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0" y="2182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93738" y="125413"/>
            <a:ext cx="7880350" cy="500062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Problem</a:t>
            </a: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0" y="2370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0" y="4487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0" y="2182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7175" name="Text Box 6"/>
          <p:cNvSpPr txBox="1">
            <a:spLocks noChangeArrowheads="1"/>
          </p:cNvSpPr>
          <p:nvPr/>
        </p:nvSpPr>
        <p:spPr bwMode="auto">
          <a:xfrm>
            <a:off x="117475" y="971550"/>
            <a:ext cx="887095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int sum = 0;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for (int i = 1; i &lt;= 10; i++)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  sum += i;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System.out.println("Sum from 1 to 10 is " + sum);</a:t>
            </a:r>
          </a:p>
          <a:p>
            <a:endParaRPr lang="en-US" sz="2200" b="1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sum = 0;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for (int i = 20; i &lt;= 30; i++)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  sum += i;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System.out.println("Sum from 20 to 30 is " + sum);</a:t>
            </a:r>
          </a:p>
          <a:p>
            <a:endParaRPr lang="en-US" sz="2200" b="1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sum = 0;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for (int i = 35; i &lt;= 45; i++)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  sum += i;</a:t>
            </a:r>
          </a:p>
          <a:p>
            <a:r>
              <a:rPr lang="en-US" sz="2200" b="1">
                <a:solidFill>
                  <a:srgbClr val="000000"/>
                </a:solidFill>
                <a:latin typeface="Courier New" pitchFamily="49" charset="0"/>
              </a:rPr>
              <a:t>System.out.println("Sum from 35 to 45 is " + sum);</a:t>
            </a:r>
          </a:p>
        </p:txBody>
      </p:sp>
    </p:spTree>
    <p:extLst>
      <p:ext uri="{BB962C8B-B14F-4D97-AF65-F5344CB8AC3E}">
        <p14:creationId xmlns:p14="http://schemas.microsoft.com/office/powerpoint/2010/main" val="132891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93738" y="125413"/>
            <a:ext cx="7880350" cy="500062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Problem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0" y="2370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0" y="4487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2182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117475" y="971550"/>
            <a:ext cx="887095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sum = 0;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for (</a:t>
            </a:r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i = 1; i &lt;= 10; i++)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sum += i;</a:t>
            </a:r>
          </a:p>
          <a:p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System.out.println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("Sum from 1 to 10 is " + sum); </a:t>
            </a:r>
          </a:p>
          <a:p>
            <a:endParaRPr lang="en-US" sz="2200" b="1" dirty="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sum = 0;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for (</a:t>
            </a:r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i = 20; i &lt;= 30; i++)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sum += i;</a:t>
            </a:r>
          </a:p>
          <a:p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System.out.println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("Sum from 20 to 30 is " + sum);</a:t>
            </a:r>
          </a:p>
          <a:p>
            <a:endParaRPr lang="en-US" sz="2200" b="1" dirty="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sum = 0;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for (</a:t>
            </a:r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i = 35; i &lt;= 45; i++)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sum += i;</a:t>
            </a:r>
          </a:p>
          <a:p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System.out.println</a:t>
            </a: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("Sum from 35 to 45 is " + sum);</a:t>
            </a:r>
          </a:p>
        </p:txBody>
      </p:sp>
      <p:sp>
        <p:nvSpPr>
          <p:cNvPr id="6152" name="Rectangle 7"/>
          <p:cNvSpPr>
            <a:spLocks noChangeArrowheads="1"/>
          </p:cNvSpPr>
          <p:nvPr/>
        </p:nvSpPr>
        <p:spPr bwMode="auto">
          <a:xfrm>
            <a:off x="193675" y="1009650"/>
            <a:ext cx="5684838" cy="1036638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153" name="Rectangle 8"/>
          <p:cNvSpPr>
            <a:spLocks noChangeArrowheads="1"/>
          </p:cNvSpPr>
          <p:nvPr/>
        </p:nvSpPr>
        <p:spPr bwMode="auto">
          <a:xfrm>
            <a:off x="231775" y="2698750"/>
            <a:ext cx="5646738" cy="1036638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auto">
          <a:xfrm>
            <a:off x="231775" y="4389438"/>
            <a:ext cx="5607050" cy="1036637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19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231775" y="76200"/>
            <a:ext cx="2819400" cy="619125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Solution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0" y="2667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0" y="4487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0" y="247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155575" y="855663"/>
            <a:ext cx="8832850" cy="495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400" b="1" dirty="0">
                <a:solidFill>
                  <a:srgbClr val="000000"/>
                </a:solidFill>
                <a:latin typeface="Courier" pitchFamily="49" charset="0"/>
              </a:rPr>
              <a:t>public static </a:t>
            </a:r>
            <a:r>
              <a:rPr lang="en-US" sz="2400" b="1" dirty="0" err="1">
                <a:solidFill>
                  <a:srgbClr val="000000"/>
                </a:solidFill>
                <a:latin typeface="Courier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sum(</a:t>
            </a:r>
            <a:r>
              <a:rPr lang="en-US" sz="2400" b="1" dirty="0" err="1">
                <a:solidFill>
                  <a:srgbClr val="000000"/>
                </a:solidFill>
                <a:latin typeface="Courier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 i1, </a:t>
            </a:r>
            <a:r>
              <a:rPr lang="en-US" sz="2400" b="1" dirty="0" err="1">
                <a:solidFill>
                  <a:srgbClr val="000000"/>
                </a:solidFill>
                <a:latin typeface="Courier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 i2) {</a:t>
            </a:r>
            <a:endParaRPr lang="en-US" sz="2400" b="1" dirty="0">
              <a:solidFill>
                <a:srgbClr val="000000"/>
              </a:solidFill>
              <a:latin typeface="Courier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urier" pitchFamily="49" charset="0"/>
              </a:rPr>
              <a:t>  </a:t>
            </a:r>
            <a:r>
              <a:rPr lang="en-US" sz="2400" b="1" dirty="0" err="1">
                <a:solidFill>
                  <a:srgbClr val="000000"/>
                </a:solidFill>
                <a:latin typeface="Courier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sum = 0;</a:t>
            </a:r>
            <a:endParaRPr lang="en-US" sz="2400" b="1" dirty="0">
              <a:solidFill>
                <a:srgbClr val="000000"/>
              </a:solidFill>
              <a:latin typeface="Courier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urier" pitchFamily="49" charset="0"/>
              </a:rPr>
              <a:t>  for (</a:t>
            </a:r>
            <a:r>
              <a:rPr lang="en-US" sz="2400" b="1" dirty="0" err="1">
                <a:solidFill>
                  <a:srgbClr val="000000"/>
                </a:solidFill>
                <a:latin typeface="Courier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 i = i1; i &lt;= i2; i++)</a:t>
            </a:r>
          </a:p>
          <a:p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    sum += i;</a:t>
            </a:r>
            <a:endParaRPr lang="en-US" sz="2400" b="1" dirty="0">
              <a:solidFill>
                <a:srgbClr val="000000"/>
              </a:solidFill>
              <a:latin typeface="Courier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urier" pitchFamily="49" charset="0"/>
              </a:rPr>
              <a:t>  return </a:t>
            </a:r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sum;</a:t>
            </a:r>
          </a:p>
          <a:p>
            <a:r>
              <a:rPr lang="en-US" sz="2400" dirty="0">
                <a:solidFill>
                  <a:srgbClr val="000000"/>
                </a:solidFill>
                <a:latin typeface="Courier" pitchFamily="49" charset="0"/>
              </a:rPr>
              <a:t>}</a:t>
            </a:r>
          </a:p>
          <a:p>
            <a:endParaRPr lang="en-US" sz="2800" b="1" dirty="0">
              <a:solidFill>
                <a:srgbClr val="000000"/>
              </a:solidFill>
            </a:endParaRPr>
          </a:p>
          <a:p>
            <a:endParaRPr lang="en-US" sz="1800" b="1" dirty="0">
              <a:solidFill>
                <a:srgbClr val="000000"/>
              </a:solidFill>
              <a:latin typeface="Courier" pitchFamily="49" charset="0"/>
            </a:endParaRPr>
          </a:p>
          <a:p>
            <a:r>
              <a:rPr lang="en-US" sz="18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("Sum from 1 to 10 is " + sum(1, 10));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("Sum from 20 to 30 is " + sum(20, 30));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("Sum from 35 to 45 is " + sum(35, 45));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168275" y="685800"/>
            <a:ext cx="7756525" cy="2908299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1600" dirty="0">
              <a:latin typeface="Courier" pitchFamily="49" charset="0"/>
            </a:endParaRPr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auto">
          <a:xfrm>
            <a:off x="6477000" y="4049713"/>
            <a:ext cx="1574800" cy="384175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178" name="Rectangle 11"/>
          <p:cNvSpPr>
            <a:spLocks noChangeArrowheads="1"/>
          </p:cNvSpPr>
          <p:nvPr/>
        </p:nvSpPr>
        <p:spPr bwMode="auto">
          <a:xfrm>
            <a:off x="6591300" y="4593867"/>
            <a:ext cx="1727200" cy="384175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179" name="Rectangle 12"/>
          <p:cNvSpPr>
            <a:spLocks noChangeArrowheads="1"/>
          </p:cNvSpPr>
          <p:nvPr/>
        </p:nvSpPr>
        <p:spPr bwMode="auto">
          <a:xfrm>
            <a:off x="6591300" y="5181600"/>
            <a:ext cx="1727200" cy="384175"/>
          </a:xfrm>
          <a:prstGeom prst="rect">
            <a:avLst/>
          </a:prstGeom>
          <a:solidFill>
            <a:srgbClr val="FF6600">
              <a:alpha val="36078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923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Method Signature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45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i="1" dirty="0">
                <a:latin typeface="+mj-lt"/>
              </a:rPr>
              <a:t>Method signature</a:t>
            </a:r>
            <a:r>
              <a:rPr lang="en-US" altLang="en-US" sz="2400" dirty="0">
                <a:latin typeface="+mj-lt"/>
              </a:rPr>
              <a:t> is the combination of the method name and the parameter list.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3086100" y="2314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2771775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5" name="Rectangle 10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1276" name="Rectangle 11"/>
          <p:cNvSpPr>
            <a:spLocks noChangeArrowheads="1"/>
          </p:cNvSpPr>
          <p:nvPr/>
        </p:nvSpPr>
        <p:spPr bwMode="auto">
          <a:xfrm>
            <a:off x="0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11277" name="Object 12"/>
          <p:cNvGraphicFramePr>
            <a:graphicFrameLocks noChangeAspect="1"/>
          </p:cNvGraphicFramePr>
          <p:nvPr/>
        </p:nvGraphicFramePr>
        <p:xfrm>
          <a:off x="231775" y="2546350"/>
          <a:ext cx="864235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72145" imgH="1976382" progId="Word.Picture.8">
                  <p:embed/>
                </p:oleObj>
              </mc:Choice>
              <mc:Fallback>
                <p:oleObj name="Picture" r:id="rId3" imgW="4972145" imgH="1976382" progId="Word.Picture.8">
                  <p:embed/>
                  <p:pic>
                    <p:nvPicPr>
                      <p:cNvPr id="1127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2546350"/>
                        <a:ext cx="8642350" cy="344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3"/>
          <p:cNvSpPr>
            <a:spLocks noChangeArrowheads="1"/>
          </p:cNvSpPr>
          <p:nvPr/>
        </p:nvSpPr>
        <p:spPr bwMode="auto">
          <a:xfrm>
            <a:off x="3189288" y="3505200"/>
            <a:ext cx="2535237" cy="423863"/>
          </a:xfrm>
          <a:prstGeom prst="rect">
            <a:avLst/>
          </a:prstGeom>
          <a:solidFill>
            <a:schemeClr val="accent1">
              <a:alpha val="29019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59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Formal Parameters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458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+mj-lt"/>
              </a:rPr>
              <a:t>The variables defined in the method header are known as </a:t>
            </a:r>
            <a:r>
              <a:rPr lang="en-US" altLang="en-US" sz="2800" i="1" dirty="0">
                <a:latin typeface="+mj-lt"/>
              </a:rPr>
              <a:t>formal parameters</a:t>
            </a:r>
            <a:r>
              <a:rPr lang="en-US" altLang="en-US" sz="2800" dirty="0">
                <a:latin typeface="+mj-lt"/>
              </a:rPr>
              <a:t>. 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3086100" y="2314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2771775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296" name="Rectangle 7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297" name="Rectangle 8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298" name="Rectangle 9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299" name="Rectangle 10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2300" name="Rectangle 11"/>
          <p:cNvSpPr>
            <a:spLocks noChangeArrowheads="1"/>
          </p:cNvSpPr>
          <p:nvPr/>
        </p:nvSpPr>
        <p:spPr bwMode="auto">
          <a:xfrm>
            <a:off x="0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12301" name="Object 12"/>
          <p:cNvGraphicFramePr>
            <a:graphicFrameLocks noChangeAspect="1"/>
          </p:cNvGraphicFramePr>
          <p:nvPr/>
        </p:nvGraphicFramePr>
        <p:xfrm>
          <a:off x="231775" y="2546350"/>
          <a:ext cx="864235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72145" imgH="1976382" progId="Word.Picture.8">
                  <p:embed/>
                </p:oleObj>
              </mc:Choice>
              <mc:Fallback>
                <p:oleObj name="Picture" r:id="rId3" imgW="4972145" imgH="1976382" progId="Word.Picture.8">
                  <p:embed/>
                  <p:pic>
                    <p:nvPicPr>
                      <p:cNvPr id="1230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2546350"/>
                        <a:ext cx="8642350" cy="344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5110163" y="3544888"/>
            <a:ext cx="461962" cy="306387"/>
          </a:xfrm>
          <a:prstGeom prst="rect">
            <a:avLst/>
          </a:prstGeom>
          <a:solidFill>
            <a:schemeClr val="accent1">
              <a:alpha val="39999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4071938" y="3544888"/>
            <a:ext cx="461962" cy="306387"/>
          </a:xfrm>
          <a:prstGeom prst="rect">
            <a:avLst/>
          </a:prstGeom>
          <a:solidFill>
            <a:schemeClr val="accent1">
              <a:alpha val="39999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75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Actual Parameters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45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When a method is invoked, you pass a value to the parameter. This value is referred to as </a:t>
            </a:r>
            <a:r>
              <a:rPr lang="en-US" altLang="en-US" sz="2400" i="1" dirty="0">
                <a:latin typeface="+mj-lt"/>
              </a:rPr>
              <a:t>actual parameter or argument</a:t>
            </a:r>
            <a:r>
              <a:rPr lang="en-US" altLang="en-US" sz="2400" dirty="0">
                <a:latin typeface="+mj-lt"/>
              </a:rPr>
              <a:t>.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3086100" y="2314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2771775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0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13325" name="Object 12"/>
          <p:cNvGraphicFramePr>
            <a:graphicFrameLocks noChangeAspect="1"/>
          </p:cNvGraphicFramePr>
          <p:nvPr/>
        </p:nvGraphicFramePr>
        <p:xfrm>
          <a:off x="231775" y="2546350"/>
          <a:ext cx="864235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72145" imgH="1976382" progId="Word.Picture.8">
                  <p:embed/>
                </p:oleObj>
              </mc:Choice>
              <mc:Fallback>
                <p:oleObj name="Picture" r:id="rId3" imgW="4972145" imgH="1976382" progId="Word.Picture.8">
                  <p:embed/>
                  <p:pic>
                    <p:nvPicPr>
                      <p:cNvPr id="133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2546350"/>
                        <a:ext cx="8642350" cy="344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Rectangle 15"/>
          <p:cNvSpPr>
            <a:spLocks noChangeArrowheads="1"/>
          </p:cNvSpPr>
          <p:nvPr/>
        </p:nvSpPr>
        <p:spPr bwMode="auto">
          <a:xfrm>
            <a:off x="7759700" y="3390900"/>
            <a:ext cx="461963" cy="230188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94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Return Value Type</a:t>
            </a: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309563" y="893763"/>
            <a:ext cx="8458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>
                <a:latin typeface="+mj-lt"/>
              </a:rPr>
              <a:t>A method may return a value. The </a:t>
            </a:r>
            <a:r>
              <a:rPr lang="en-US" altLang="en-US" sz="2400" u="sng" dirty="0" err="1">
                <a:latin typeface="+mj-lt"/>
              </a:rPr>
              <a:t>returnValueType</a:t>
            </a:r>
            <a:r>
              <a:rPr lang="en-US" altLang="en-US" sz="2400" dirty="0">
                <a:latin typeface="+mj-lt"/>
              </a:rPr>
              <a:t> is the data type of the value the method returns. If the method does not return a value, the </a:t>
            </a:r>
            <a:r>
              <a:rPr lang="en-US" altLang="en-US" sz="2400" u="sng" dirty="0" err="1">
                <a:latin typeface="+mj-lt"/>
              </a:rPr>
              <a:t>returnValueType</a:t>
            </a:r>
            <a:r>
              <a:rPr lang="en-US" altLang="en-US" sz="2400" dirty="0">
                <a:latin typeface="+mj-lt"/>
              </a:rPr>
              <a:t> is the keyword </a:t>
            </a:r>
            <a:r>
              <a:rPr lang="en-US" altLang="en-US" sz="2400" u="sng" dirty="0">
                <a:latin typeface="+mj-lt"/>
              </a:rPr>
              <a:t>void</a:t>
            </a:r>
            <a:r>
              <a:rPr lang="en-US" altLang="en-US" sz="2400" dirty="0">
                <a:latin typeface="+mj-lt"/>
              </a:rPr>
              <a:t>. For example, the </a:t>
            </a:r>
            <a:r>
              <a:rPr lang="en-US" altLang="en-US" sz="2400" u="sng" dirty="0" err="1">
                <a:latin typeface="+mj-lt"/>
              </a:rPr>
              <a:t>returnValueType</a:t>
            </a:r>
            <a:r>
              <a:rPr lang="en-US" altLang="en-US" sz="2400" dirty="0">
                <a:latin typeface="+mj-lt"/>
              </a:rPr>
              <a:t> in the </a:t>
            </a:r>
            <a:r>
              <a:rPr lang="en-US" altLang="en-US" sz="2400" u="sng" dirty="0">
                <a:latin typeface="+mj-lt"/>
              </a:rPr>
              <a:t>main</a:t>
            </a:r>
            <a:r>
              <a:rPr lang="en-US" altLang="en-US" sz="2400" dirty="0">
                <a:latin typeface="+mj-lt"/>
              </a:rPr>
              <a:t> method is </a:t>
            </a:r>
            <a:r>
              <a:rPr lang="en-US" altLang="en-US" sz="2400" u="sng" dirty="0">
                <a:latin typeface="+mj-lt"/>
              </a:rPr>
              <a:t>void</a:t>
            </a:r>
            <a:r>
              <a:rPr lang="en-US" altLang="en-US" sz="2400" dirty="0">
                <a:latin typeface="+mj-lt"/>
              </a:rPr>
              <a:t>.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3086100" y="2314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2771775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auto">
          <a:xfrm>
            <a:off x="2085975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7" name="Rectangle 10"/>
          <p:cNvSpPr>
            <a:spLocks noChangeArrowheads="1"/>
          </p:cNvSpPr>
          <p:nvPr/>
        </p:nvSpPr>
        <p:spPr bwMode="auto">
          <a:xfrm>
            <a:off x="2085975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14348" name="Rectangle 11"/>
          <p:cNvSpPr>
            <a:spLocks noChangeArrowheads="1"/>
          </p:cNvSpPr>
          <p:nvPr/>
        </p:nvSpPr>
        <p:spPr bwMode="auto">
          <a:xfrm>
            <a:off x="0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altLang="en-US"/>
          </a:p>
        </p:txBody>
      </p:sp>
      <p:graphicFrame>
        <p:nvGraphicFramePr>
          <p:cNvPr id="14349" name="Object 12"/>
          <p:cNvGraphicFramePr>
            <a:graphicFrameLocks noChangeAspect="1"/>
          </p:cNvGraphicFramePr>
          <p:nvPr/>
        </p:nvGraphicFramePr>
        <p:xfrm>
          <a:off x="231775" y="2584450"/>
          <a:ext cx="864235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972145" imgH="1976382" progId="Word.Picture.8">
                  <p:embed/>
                </p:oleObj>
              </mc:Choice>
              <mc:Fallback>
                <p:oleObj name="Picture" r:id="rId3" imgW="4972145" imgH="1976382" progId="Word.Picture.8">
                  <p:embed/>
                  <p:pic>
                    <p:nvPicPr>
                      <p:cNvPr id="1434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2584450"/>
                        <a:ext cx="8642350" cy="344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2805113" y="3659188"/>
            <a:ext cx="385762" cy="230187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1576388" y="5464175"/>
            <a:ext cx="1382712" cy="230188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78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Naming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Single-word method name:</a:t>
            </a:r>
            <a:r>
              <a:rPr lang="en-US" dirty="0"/>
              <a:t> sum(), area()</a:t>
            </a:r>
          </a:p>
          <a:p>
            <a:r>
              <a:rPr lang="en-US" b="1" dirty="0"/>
              <a:t>Multi-word method name:</a:t>
            </a:r>
            <a:r>
              <a:rPr lang="en-US" dirty="0"/>
              <a:t> </a:t>
            </a:r>
            <a:r>
              <a:rPr lang="en-US" dirty="0" err="1"/>
              <a:t>areaOfCircle</a:t>
            </a:r>
            <a:r>
              <a:rPr lang="en-US" dirty="0"/>
              <a:t>(), </a:t>
            </a:r>
            <a:r>
              <a:rPr lang="en-US" dirty="0" err="1"/>
              <a:t>stringComparision</a:t>
            </a:r>
            <a:r>
              <a:rPr lang="en-US" dirty="0"/>
              <a:t>()</a:t>
            </a:r>
          </a:p>
          <a:p>
            <a:r>
              <a:rPr lang="en-US" dirty="0"/>
              <a:t>It is also possible that a method has the same name as another method name in the same class, it is known as </a:t>
            </a:r>
            <a:r>
              <a:rPr lang="en-US" b="1" dirty="0"/>
              <a:t>method overloading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9695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Java main()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74" y="940979"/>
            <a:ext cx="8683625" cy="914400"/>
          </a:xfrm>
        </p:spPr>
        <p:txBody>
          <a:bodyPr>
            <a:normAutofit/>
          </a:bodyPr>
          <a:lstStyle/>
          <a:p>
            <a:r>
              <a:rPr lang="en-US" sz="2400" dirty="0"/>
              <a:t>The main() is the starting point for JVM to start execution of a Java program</a:t>
            </a:r>
          </a:p>
        </p:txBody>
      </p:sp>
      <p:sp>
        <p:nvSpPr>
          <p:cNvPr id="4" name="AutoShape 2" descr="Java Main Metho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049" name="Group 2048"/>
          <p:cNvGrpSpPr/>
          <p:nvPr/>
        </p:nvGrpSpPr>
        <p:grpSpPr>
          <a:xfrm>
            <a:off x="248924" y="1551653"/>
            <a:ext cx="8826926" cy="5025262"/>
            <a:chOff x="257509" y="1617532"/>
            <a:chExt cx="8826926" cy="502526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054" y="1617532"/>
              <a:ext cx="5162796" cy="1970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257509" y="1910512"/>
              <a:ext cx="2557553" cy="138499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b="1" u="sng" dirty="0"/>
                <a:t>public:</a:t>
              </a:r>
            </a:p>
            <a:p>
              <a:r>
                <a:rPr lang="en-US" sz="1400" dirty="0"/>
                <a:t>JVM can identify the execution point of the program. If we use private, protected, and default before the main() method, it will not be visible to JVM</a:t>
              </a:r>
            </a:p>
          </p:txBody>
        </p:sp>
        <p:cxnSp>
          <p:nvCxnSpPr>
            <p:cNvPr id="7" name="Straight Arrow Connector 6"/>
            <p:cNvCxnSpPr>
              <a:stCxn id="2051" idx="1"/>
              <a:endCxn id="5" idx="3"/>
            </p:cNvCxnSpPr>
            <p:nvPr/>
          </p:nvCxnSpPr>
          <p:spPr>
            <a:xfrm flipH="1">
              <a:off x="2815062" y="2603010"/>
              <a:ext cx="1097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69851" y="3591194"/>
              <a:ext cx="2532868" cy="14157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u="sng" dirty="0"/>
                <a:t>static:</a:t>
              </a:r>
            </a:p>
            <a:p>
              <a:r>
                <a:rPr lang="en-US" sz="1400" dirty="0"/>
                <a:t>Static methods are the method which invokes without creating the objects, so we do not need any object to call the main() method.</a:t>
              </a:r>
            </a:p>
          </p:txBody>
        </p:sp>
        <p:cxnSp>
          <p:nvCxnSpPr>
            <p:cNvPr id="16" name="Straight Arrow Connector 15"/>
            <p:cNvCxnSpPr>
              <a:stCxn id="2051" idx="1"/>
              <a:endCxn id="14" idx="3"/>
            </p:cNvCxnSpPr>
            <p:nvPr/>
          </p:nvCxnSpPr>
          <p:spPr>
            <a:xfrm flipH="1">
              <a:off x="2802719" y="2603010"/>
              <a:ext cx="1110335" cy="16960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301535" y="5257800"/>
              <a:ext cx="2501183" cy="116955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b="1" dirty="0"/>
                <a:t>void:</a:t>
              </a:r>
              <a:r>
                <a:rPr lang="en-US" sz="1400" dirty="0"/>
                <a:t> </a:t>
              </a:r>
            </a:p>
            <a:p>
              <a:r>
                <a:rPr lang="en-US" sz="1400" dirty="0"/>
                <a:t>Void keyword acknowledges the compiler that main() method does not return any value.</a:t>
              </a:r>
            </a:p>
          </p:txBody>
        </p:sp>
        <p:cxnSp>
          <p:nvCxnSpPr>
            <p:cNvPr id="22" name="Straight Arrow Connector 21"/>
            <p:cNvCxnSpPr>
              <a:stCxn id="2051" idx="2"/>
            </p:cNvCxnSpPr>
            <p:nvPr/>
          </p:nvCxnSpPr>
          <p:spPr>
            <a:xfrm flipH="1">
              <a:off x="3045832" y="3588487"/>
              <a:ext cx="3448620" cy="187355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3787765" y="5042356"/>
              <a:ext cx="2743200" cy="16004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b="1" dirty="0"/>
                <a:t>main():</a:t>
              </a:r>
            </a:p>
            <a:p>
              <a:r>
                <a:rPr lang="en-US" sz="1400" dirty="0"/>
                <a:t>It is a default signature which is predefined in the JVM. It is called by JVM to execute a program line by line and end the execution after completion of this method. We can also overload the main() method.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62134" y="4806075"/>
              <a:ext cx="2422301" cy="18158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b="1" dirty="0"/>
                <a:t>String </a:t>
              </a:r>
              <a:r>
                <a:rPr lang="en-US" sz="1400" b="1" dirty="0" err="1"/>
                <a:t>args</a:t>
              </a:r>
              <a:r>
                <a:rPr lang="en-US" sz="1400" b="1" dirty="0"/>
                <a:t>[]: </a:t>
              </a:r>
            </a:p>
            <a:p>
              <a:r>
                <a:rPr lang="en-US" sz="1400" dirty="0"/>
                <a:t>The main() method also accepts some data from the user. It accepts a group of strings, which is called a string array. It is used to hold the command line arguments in the form of string values.</a:t>
              </a:r>
            </a:p>
          </p:txBody>
        </p:sp>
        <p:cxnSp>
          <p:nvCxnSpPr>
            <p:cNvPr id="29" name="Straight Arrow Connector 28"/>
            <p:cNvCxnSpPr>
              <a:stCxn id="2051" idx="2"/>
              <a:endCxn id="26" idx="0"/>
            </p:cNvCxnSpPr>
            <p:nvPr/>
          </p:nvCxnSpPr>
          <p:spPr>
            <a:xfrm flipH="1">
              <a:off x="5159365" y="3588487"/>
              <a:ext cx="1335087" cy="145386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Arrow Connector 2047"/>
            <p:cNvCxnSpPr>
              <a:stCxn id="2051" idx="2"/>
              <a:endCxn id="27" idx="0"/>
            </p:cNvCxnSpPr>
            <p:nvPr/>
          </p:nvCxnSpPr>
          <p:spPr>
            <a:xfrm>
              <a:off x="6494452" y="3588487"/>
              <a:ext cx="1378833" cy="1217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9914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main()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What happens if the main() method is written without String </a:t>
            </a:r>
            <a:r>
              <a:rPr lang="en-US" sz="2400" dirty="0" err="1"/>
              <a:t>args</a:t>
            </a:r>
            <a:r>
              <a:rPr lang="en-US" sz="2400" dirty="0"/>
              <a:t>[]?</a:t>
            </a:r>
          </a:p>
          <a:p>
            <a:pPr lvl="1"/>
            <a:r>
              <a:rPr lang="en-US" sz="2000" dirty="0"/>
              <a:t>The program will compile, but not run, because JVM will not recognize the main() method</a:t>
            </a:r>
          </a:p>
          <a:p>
            <a:pPr lvl="1"/>
            <a:r>
              <a:rPr lang="en-US" sz="2000" dirty="0"/>
              <a:t>JVM always looks for the main() method with a string type array as a parameter.</a:t>
            </a:r>
          </a:p>
          <a:p>
            <a:r>
              <a:rPr lang="en-US" sz="2400" dirty="0"/>
              <a:t>Execution Process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First, JVM executes the static block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Then it executes static methods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Then it creates the object needed by the program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Finally, it executes the instance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07110" y="3429000"/>
            <a:ext cx="316069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static void main(String[] </a:t>
            </a:r>
            <a:r>
              <a:rPr lang="en-US" sz="1400" dirty="0" err="1"/>
              <a:t>args</a:t>
            </a:r>
            <a:r>
              <a:rPr lang="en-US" sz="1400" dirty="0"/>
              <a:t>){</a:t>
            </a:r>
          </a:p>
          <a:p>
            <a:r>
              <a:rPr lang="en-US" sz="1400" dirty="0" err="1"/>
              <a:t>System.out.println</a:t>
            </a:r>
            <a:r>
              <a:rPr lang="en-US" sz="1400" dirty="0"/>
              <a:t>("Hello");</a:t>
            </a:r>
          </a:p>
          <a:p>
            <a:r>
              <a:rPr lang="en-US" sz="1400" dirty="0"/>
              <a:t>}</a:t>
            </a:r>
          </a:p>
          <a:p>
            <a:r>
              <a:rPr lang="en-US" sz="1400" dirty="0"/>
              <a:t>static                  //static block  </a:t>
            </a:r>
          </a:p>
          <a:p>
            <a:r>
              <a:rPr lang="en-US" sz="1400" dirty="0"/>
              <a:t>{  </a:t>
            </a:r>
          </a:p>
          <a:p>
            <a:r>
              <a:rPr lang="en-US" sz="1400" dirty="0" err="1"/>
              <a:t>System.out.println</a:t>
            </a:r>
            <a:r>
              <a:rPr lang="en-US" sz="1400" dirty="0"/>
              <a:t>("Static block");  </a:t>
            </a:r>
          </a:p>
          <a:p>
            <a:r>
              <a:rPr lang="en-US" sz="1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36947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 to write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  </a:t>
            </a:r>
          </a:p>
          <a:p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  </a:t>
            </a:r>
          </a:p>
          <a:p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x)  </a:t>
            </a:r>
          </a:p>
          <a:p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[]x)  </a:t>
            </a:r>
          </a:p>
          <a:p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main(String...</a:t>
            </a:r>
            <a:r>
              <a:rPr lang="en-US" dirty="0" err="1"/>
              <a:t>args</a:t>
            </a:r>
            <a:r>
              <a:rPr lang="en-US" dirty="0"/>
              <a:t>)  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30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5334000" cy="5410200"/>
          </a:xfrm>
        </p:spPr>
        <p:txBody>
          <a:bodyPr>
            <a:noAutofit/>
          </a:bodyPr>
          <a:lstStyle/>
          <a:p>
            <a:r>
              <a:rPr lang="en-US" sz="2400" dirty="0"/>
              <a:t>Calling a method executes the code in the method</a:t>
            </a:r>
          </a:p>
          <a:p>
            <a:r>
              <a:rPr lang="en-US" sz="2400" b="1" dirty="0"/>
              <a:t>Method definition: </a:t>
            </a:r>
            <a:r>
              <a:rPr lang="en-US" sz="2400" dirty="0"/>
              <a:t>indicates what the method does</a:t>
            </a:r>
          </a:p>
          <a:p>
            <a:r>
              <a:rPr lang="en-US" sz="2400" dirty="0"/>
              <a:t>How to call a method?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dirty="0"/>
              <a:t>Value returning method: a call to the method is </a:t>
            </a:r>
            <a:r>
              <a:rPr lang="en-US" sz="2400" i="1" dirty="0"/>
              <a:t>treated as a value </a:t>
            </a:r>
          </a:p>
          <a:p>
            <a:pPr marL="114300" indent="0">
              <a:buNone/>
            </a:pPr>
            <a:r>
              <a:rPr lang="en-US" sz="2400" dirty="0"/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larger = max(3, 4);</a:t>
            </a:r>
          </a:p>
          <a:p>
            <a:pPr marL="114300" indent="0">
              <a:buNone/>
            </a:pPr>
            <a:r>
              <a:rPr lang="en-US" sz="2400" dirty="0"/>
              <a:t>or 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b="1" dirty="0">
                <a:latin typeface="Consolas" pitchFamily="49" charset="0"/>
                <a:cs typeface="Consolas" pitchFamily="49" charset="0"/>
              </a:rPr>
              <a:t>max(3, 4)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marL="571500" indent="-457200">
              <a:buFont typeface="+mj-lt"/>
              <a:buAutoNum type="arabicPeriod" startAt="2"/>
            </a:pPr>
            <a:r>
              <a:rPr lang="en-US" sz="2400" dirty="0"/>
              <a:t>Void method: a call to the method must be a </a:t>
            </a:r>
            <a:r>
              <a:rPr lang="en-US" sz="2400" i="1" dirty="0"/>
              <a:t>statement</a:t>
            </a:r>
          </a:p>
          <a:p>
            <a:pPr marL="114300" indent="0">
              <a:buNone/>
            </a:pPr>
            <a:r>
              <a:rPr lang="en-US" sz="2400" dirty="0"/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(“Hello”);</a:t>
            </a:r>
          </a:p>
          <a:p>
            <a:pPr marL="114300" indent="0">
              <a:buNone/>
            </a:pP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2616200"/>
            <a:ext cx="350520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767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When a program calls a method, program control is transferred to the called method</a:t>
            </a:r>
          </a:p>
          <a:p>
            <a:r>
              <a:rPr lang="en-US" sz="2800" dirty="0"/>
              <a:t>How is the control returned?</a:t>
            </a:r>
          </a:p>
          <a:p>
            <a:pPr lvl="1"/>
            <a:r>
              <a:rPr lang="en-US" sz="2400" dirty="0">
                <a:latin typeface="Courier" pitchFamily="49" charset="0"/>
              </a:rPr>
              <a:t>return</a:t>
            </a:r>
            <a:r>
              <a:rPr lang="en-US" sz="2400" dirty="0"/>
              <a:t> statement is executed OR</a:t>
            </a:r>
          </a:p>
          <a:p>
            <a:pPr lvl="1"/>
            <a:r>
              <a:rPr lang="en-US" sz="2400" dirty="0"/>
              <a:t>Ending closing brace ( } )is reached</a:t>
            </a:r>
          </a:p>
        </p:txBody>
      </p:sp>
    </p:spTree>
    <p:extLst>
      <p:ext uri="{BB962C8B-B14F-4D97-AF65-F5344CB8AC3E}">
        <p14:creationId xmlns:p14="http://schemas.microsoft.com/office/powerpoint/2010/main" val="3568003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Using/reusing a method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813300" y="1469135"/>
            <a:ext cx="4343400" cy="513892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TestMax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/* main method */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 public static void main(String[]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args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){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i = 5;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j = 2;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k = max(i, j);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("The max of " + i + " and " + j + " is " + k);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/* Returns the maximum of two numbers */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 public static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max(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num1,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num2){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result;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if(num1 &gt; num2)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	result = num1;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else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	result = num2;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return result;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76200" y="1719071"/>
            <a:ext cx="4724400" cy="440740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  </a:t>
            </a:r>
          </a:p>
          <a:p>
            <a:pPr marL="114300" indent="0">
              <a:buNone/>
            </a:pPr>
            <a:r>
              <a:rPr lang="en-US" sz="1800" b="1" dirty="0"/>
              <a:t>    i            j           k        num1     num2      result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28600" y="1905000"/>
            <a:ext cx="4419600" cy="3429000"/>
            <a:chOff x="76200" y="1600200"/>
            <a:chExt cx="4419600" cy="34290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76200" y="2133600"/>
              <a:ext cx="4419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85800" y="1600200"/>
              <a:ext cx="0" cy="3429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371600" y="1600200"/>
              <a:ext cx="0" cy="3429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057400" y="1600200"/>
              <a:ext cx="0" cy="3429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895600" y="1600200"/>
              <a:ext cx="0" cy="3429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733800" y="1600200"/>
              <a:ext cx="0" cy="3429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76200" y="1600200"/>
              <a:ext cx="4419600" cy="3429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81000" y="2438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694" y="2819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400" y="3200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32004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2809" y="3581400"/>
            <a:ext cx="819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undefined</a:t>
            </a:r>
            <a:endParaRPr lang="en-US" sz="1100"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4038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6400" y="4267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188732"/>
            <a:ext cx="2362200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178407" y="5486400"/>
            <a:ext cx="270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max of 5 and 2 is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5867400"/>
            <a:ext cx="4451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Reusing a static method: </a:t>
            </a:r>
            <a:r>
              <a:rPr lang="en-US" sz="1600" b="1" dirty="0" err="1">
                <a:solidFill>
                  <a:srgbClr val="FF0000"/>
                </a:solidFill>
              </a:rPr>
              <a:t>Classname.methodName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600" b="1" dirty="0"/>
              <a:t>Reusing max(): </a:t>
            </a:r>
            <a:r>
              <a:rPr lang="en-US" sz="1600" b="1" dirty="0" err="1"/>
              <a:t>TestMax.max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7839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Method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2613"/>
            <a:ext cx="9144000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5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Activation record &amp; call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Each time a method is invoked, the system creates an </a:t>
            </a:r>
            <a:r>
              <a:rPr lang="en-US" b="1" dirty="0"/>
              <a:t>activation record</a:t>
            </a:r>
            <a:r>
              <a:rPr lang="en-US" dirty="0"/>
              <a:t>, </a:t>
            </a:r>
            <a:r>
              <a:rPr lang="en-US" i="1" dirty="0" err="1"/>
              <a:t>a.k.a</a:t>
            </a:r>
            <a:r>
              <a:rPr lang="en-US" i="1" dirty="0"/>
              <a:t> activation frame</a:t>
            </a:r>
          </a:p>
          <a:p>
            <a:pPr lvl="1"/>
            <a:r>
              <a:rPr lang="en-US" dirty="0"/>
              <a:t>Stores parameters and variables for the method</a:t>
            </a:r>
          </a:p>
          <a:p>
            <a:r>
              <a:rPr lang="en-US" dirty="0"/>
              <a:t>The system places the record in an area of memory known as a </a:t>
            </a:r>
            <a:r>
              <a:rPr lang="en-US" b="1" dirty="0"/>
              <a:t>call stack </a:t>
            </a:r>
            <a:r>
              <a:rPr lang="en-US" dirty="0"/>
              <a:t>(</a:t>
            </a:r>
            <a:r>
              <a:rPr lang="en-US" i="1" dirty="0" err="1"/>
              <a:t>a.k.a</a:t>
            </a:r>
            <a:r>
              <a:rPr lang="en-US" i="1" dirty="0"/>
              <a:t> execution stack, runtime stack, machine stack, or just stack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Information is stored in a </a:t>
            </a:r>
            <a:r>
              <a:rPr lang="en-US" dirty="0">
                <a:solidFill>
                  <a:srgbClr val="0070C0"/>
                </a:solidFill>
              </a:rPr>
              <a:t>last-in, first-out </a:t>
            </a:r>
            <a:r>
              <a:rPr lang="en-US" dirty="0"/>
              <a:t>fashion</a:t>
            </a:r>
          </a:p>
          <a:p>
            <a:r>
              <a:rPr lang="en-US" dirty="0"/>
              <a:t>When a method calls another method, the caller’s activation record is kept intact, and a new activation record is created for the called method</a:t>
            </a:r>
          </a:p>
          <a:p>
            <a:r>
              <a:rPr lang="en-US" dirty="0"/>
              <a:t>When the called method finishes its work and returns to its caller, its activation record is removed from the call stack</a:t>
            </a:r>
          </a:p>
        </p:txBody>
      </p:sp>
    </p:spTree>
    <p:extLst>
      <p:ext uri="{BB962C8B-B14F-4D97-AF65-F5344CB8AC3E}">
        <p14:creationId xmlns:p14="http://schemas.microsoft.com/office/powerpoint/2010/main" val="2463098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C7963F-3A9E-44BE-A048-57D4C1B9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stack: example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3E4B0B5-4F40-41F2-8082-01B26B0FA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76400"/>
            <a:ext cx="4311650" cy="44069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TestMax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/* main method */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 public static void main(String[]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args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){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i = 5;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j = 2;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k = max(i, j);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System.out.println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("The max of " + i + " and " + j + " is " + k);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/* Returns the maximum of two numbers */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 public static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max(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num1,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num2){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 result;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if(num1 &gt; num2)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	result = num1;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else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	result = num2;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return result;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marL="114300" indent="0">
              <a:buNone/>
            </a:pPr>
            <a:r>
              <a:rPr lang="en-US" sz="14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DAAB2E-F418-412E-BEDF-62638E68DD75}"/>
              </a:ext>
            </a:extLst>
          </p:cNvPr>
          <p:cNvSpPr/>
          <p:nvPr/>
        </p:nvSpPr>
        <p:spPr>
          <a:xfrm>
            <a:off x="4419600" y="2971800"/>
            <a:ext cx="1905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Activation record for </a:t>
            </a:r>
            <a:r>
              <a:rPr lang="en-US" sz="1200" b="1" dirty="0">
                <a:solidFill>
                  <a:schemeClr val="tx1"/>
                </a:solidFill>
              </a:rPr>
              <a:t>main</a:t>
            </a:r>
            <a:r>
              <a:rPr lang="en-US" sz="1200" dirty="0">
                <a:solidFill>
                  <a:schemeClr val="tx1"/>
                </a:solidFill>
              </a:rPr>
              <a:t> method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k :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j :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 :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7A08AA-4044-4C93-A814-4D2292333087}"/>
              </a:ext>
            </a:extLst>
          </p:cNvPr>
          <p:cNvSpPr/>
          <p:nvPr/>
        </p:nvSpPr>
        <p:spPr>
          <a:xfrm>
            <a:off x="4419600" y="1600200"/>
            <a:ext cx="1905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Activation record for </a:t>
            </a:r>
            <a:r>
              <a:rPr lang="en-US" sz="1200" b="1" dirty="0">
                <a:solidFill>
                  <a:schemeClr val="tx1"/>
                </a:solidFill>
              </a:rPr>
              <a:t>max</a:t>
            </a:r>
            <a:r>
              <a:rPr lang="en-US" sz="1200" dirty="0">
                <a:solidFill>
                  <a:schemeClr val="tx1"/>
                </a:solidFill>
              </a:rPr>
              <a:t> method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result: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num2: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num1: 5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854640-6AA6-4013-AE71-D6590F058320}"/>
              </a:ext>
            </a:extLst>
          </p:cNvPr>
          <p:cNvGrpSpPr/>
          <p:nvPr/>
        </p:nvGrpSpPr>
        <p:grpSpPr>
          <a:xfrm>
            <a:off x="5638800" y="2743200"/>
            <a:ext cx="914392" cy="1371600"/>
            <a:chOff x="6705600" y="4876800"/>
            <a:chExt cx="1066800" cy="13716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09DDFB3-1D60-4EFD-A097-8F70E789EDA5}"/>
                </a:ext>
              </a:extLst>
            </p:cNvPr>
            <p:cNvCxnSpPr/>
            <p:nvPr/>
          </p:nvCxnSpPr>
          <p:spPr>
            <a:xfrm>
              <a:off x="6705600" y="6248400"/>
              <a:ext cx="10668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1F52B6B-04C1-460A-AC12-A6E535DFE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2400" y="4876800"/>
              <a:ext cx="0" cy="13716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70416ED-E756-4956-8E3C-9968FA08883F}"/>
                </a:ext>
              </a:extLst>
            </p:cNvPr>
            <p:cNvCxnSpPr/>
            <p:nvPr/>
          </p:nvCxnSpPr>
          <p:spPr>
            <a:xfrm flipH="1">
              <a:off x="6858000" y="4876800"/>
              <a:ext cx="9144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A847F4-9139-4B0A-8544-38CBAC830249}"/>
              </a:ext>
            </a:extLst>
          </p:cNvPr>
          <p:cNvGrpSpPr/>
          <p:nvPr/>
        </p:nvGrpSpPr>
        <p:grpSpPr>
          <a:xfrm>
            <a:off x="5638800" y="2590800"/>
            <a:ext cx="1066796" cy="1371600"/>
            <a:chOff x="6705600" y="4724400"/>
            <a:chExt cx="1219200" cy="13716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E427645-2E95-4C37-BA33-4AF6540B9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6083300"/>
              <a:ext cx="1219200" cy="127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855152-24D5-43FF-AA5C-8A1467FEC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4800" y="4724400"/>
              <a:ext cx="0" cy="13716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10183EC-3439-4B70-B069-D296CDBE8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8000" y="4724400"/>
              <a:ext cx="10668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9372009-AB31-44DD-A6EC-D9B59569B66B}"/>
              </a:ext>
            </a:extLst>
          </p:cNvPr>
          <p:cNvSpPr/>
          <p:nvPr/>
        </p:nvSpPr>
        <p:spPr>
          <a:xfrm>
            <a:off x="6858000" y="2971800"/>
            <a:ext cx="1905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Activation record for </a:t>
            </a:r>
            <a:r>
              <a:rPr lang="en-US" sz="1200" b="1" dirty="0">
                <a:solidFill>
                  <a:schemeClr val="tx1"/>
                </a:solidFill>
              </a:rPr>
              <a:t>main</a:t>
            </a:r>
            <a:r>
              <a:rPr lang="en-US" sz="1200" dirty="0">
                <a:solidFill>
                  <a:schemeClr val="tx1"/>
                </a:solidFill>
              </a:rPr>
              <a:t> method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k :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j :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 : 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F615AB-FA36-43CD-9362-4C2CAFE4BF22}"/>
              </a:ext>
            </a:extLst>
          </p:cNvPr>
          <p:cNvSpPr/>
          <p:nvPr/>
        </p:nvSpPr>
        <p:spPr>
          <a:xfrm>
            <a:off x="6858000" y="1600200"/>
            <a:ext cx="1905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Activation record for </a:t>
            </a:r>
            <a:r>
              <a:rPr lang="en-US" sz="1200" b="1" dirty="0">
                <a:solidFill>
                  <a:schemeClr val="tx1"/>
                </a:solidFill>
              </a:rPr>
              <a:t>max</a:t>
            </a:r>
            <a:r>
              <a:rPr lang="en-US" sz="1200" dirty="0">
                <a:solidFill>
                  <a:schemeClr val="tx1"/>
                </a:solidFill>
              </a:rPr>
              <a:t> method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result: 5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num2: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num1: 5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F6C2E3-C6BC-4453-A61E-B3CE5519AC1F}"/>
              </a:ext>
            </a:extLst>
          </p:cNvPr>
          <p:cNvGrpSpPr/>
          <p:nvPr/>
        </p:nvGrpSpPr>
        <p:grpSpPr>
          <a:xfrm>
            <a:off x="8058153" y="2350478"/>
            <a:ext cx="888989" cy="1371600"/>
            <a:chOff x="8058153" y="3798278"/>
            <a:chExt cx="933447" cy="1383322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010FD65-9E92-4F00-BD33-47A508A794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5532" y="3798278"/>
              <a:ext cx="776068" cy="0"/>
            </a:xfrm>
            <a:prstGeom prst="line">
              <a:avLst/>
            </a:prstGeom>
            <a:ln w="12700">
              <a:solidFill>
                <a:schemeClr val="tx1">
                  <a:alpha val="96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925F6FA-2AC5-448D-9F68-248FC2886F5D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3798278"/>
              <a:ext cx="0" cy="1371600"/>
            </a:xfrm>
            <a:prstGeom prst="line">
              <a:avLst/>
            </a:prstGeom>
            <a:ln w="12700">
              <a:solidFill>
                <a:schemeClr val="tx1">
                  <a:alpha val="96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E57ED58-5D78-4621-9F3E-836FA901D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8153" y="5181600"/>
              <a:ext cx="93344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3803647C-254A-4AB4-B0AF-DC6DED370AAC}"/>
              </a:ext>
            </a:extLst>
          </p:cNvPr>
          <p:cNvSpPr/>
          <p:nvPr/>
        </p:nvSpPr>
        <p:spPr>
          <a:xfrm>
            <a:off x="6934200" y="1676400"/>
            <a:ext cx="1752600" cy="12954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FBFB89-F910-456D-B5F1-24BD4E879530}"/>
              </a:ext>
            </a:extLst>
          </p:cNvPr>
          <p:cNvSpPr/>
          <p:nvPr/>
        </p:nvSpPr>
        <p:spPr>
          <a:xfrm>
            <a:off x="4419600" y="5334000"/>
            <a:ext cx="19050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Activation record for </a:t>
            </a:r>
            <a:r>
              <a:rPr lang="en-US" sz="1200" b="1" dirty="0">
                <a:solidFill>
                  <a:schemeClr val="tx1"/>
                </a:solidFill>
              </a:rPr>
              <a:t>main</a:t>
            </a:r>
            <a:r>
              <a:rPr lang="en-US" sz="1200" dirty="0">
                <a:solidFill>
                  <a:schemeClr val="tx1"/>
                </a:solidFill>
              </a:rPr>
              <a:t> method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k : 5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j :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 : 5</a:t>
            </a:r>
          </a:p>
        </p:txBody>
      </p: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B4F64CBC-74F1-4C3F-80BF-FDF9A24CFEBD}"/>
              </a:ext>
            </a:extLst>
          </p:cNvPr>
          <p:cNvSpPr/>
          <p:nvPr/>
        </p:nvSpPr>
        <p:spPr>
          <a:xfrm>
            <a:off x="4724400" y="5486400"/>
            <a:ext cx="1371600" cy="12192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F980248-5B04-4ACE-A2FB-4118CE22C879}"/>
              </a:ext>
            </a:extLst>
          </p:cNvPr>
          <p:cNvGrpSpPr/>
          <p:nvPr/>
        </p:nvGrpSpPr>
        <p:grpSpPr>
          <a:xfrm>
            <a:off x="6553192" y="4953000"/>
            <a:ext cx="1504969" cy="1752600"/>
            <a:chOff x="6553192" y="4800600"/>
            <a:chExt cx="1504969" cy="17526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1512D29-7B0C-44A6-8EED-594A23319B33}"/>
                </a:ext>
              </a:extLst>
            </p:cNvPr>
            <p:cNvCxnSpPr/>
            <p:nvPr/>
          </p:nvCxnSpPr>
          <p:spPr>
            <a:xfrm>
              <a:off x="6553192" y="4800600"/>
              <a:ext cx="8" cy="173831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E4FB3DA-34E8-4AAE-84E8-5082E7F9C5FB}"/>
                </a:ext>
              </a:extLst>
            </p:cNvPr>
            <p:cNvCxnSpPr/>
            <p:nvPr/>
          </p:nvCxnSpPr>
          <p:spPr>
            <a:xfrm>
              <a:off x="8058153" y="4814887"/>
              <a:ext cx="8" cy="173831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396F811-15E3-447D-9F95-1013FB568E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3200" y="6538913"/>
              <a:ext cx="1504953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A0F0273-EFE5-4488-B186-B5167AC9172E}"/>
                </a:ext>
              </a:extLst>
            </p:cNvPr>
            <p:cNvSpPr txBox="1"/>
            <p:nvPr/>
          </p:nvSpPr>
          <p:spPr>
            <a:xfrm>
              <a:off x="6705596" y="6019800"/>
              <a:ext cx="12554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Stack is empty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756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0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000" fill="hold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3" grpId="0" animBg="1"/>
      <p:bldP spid="34" grpId="0" animBg="1"/>
      <p:bldP spid="44" grpId="0" animBg="1"/>
      <p:bldP spid="45" grpId="0" animBg="1"/>
      <p:bldP spid="4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ED9906-485F-4E44-BB0E-7499C4C3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method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9313A7-2045-4807-9DCB-653716A3F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752601"/>
            <a:ext cx="3048000" cy="4968874"/>
          </a:xfrm>
        </p:spPr>
        <p:txBody>
          <a:bodyPr>
            <a:normAutofit/>
          </a:bodyPr>
          <a:lstStyle/>
          <a:p>
            <a:r>
              <a:rPr lang="en-US" sz="2000" dirty="0"/>
              <a:t>A void method does not return a value.</a:t>
            </a:r>
          </a:p>
          <a:p>
            <a:r>
              <a:rPr lang="en-US" sz="2000" dirty="0"/>
              <a:t>No return statement is used; ending brace returns the control to the caller method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FBA42-6E02-4973-B4D2-5F8BA739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79F8-BAD7-4FA0-A207-096E8197C981}" type="slidenum">
              <a:rPr lang="en-US" smtClean="0"/>
              <a:t>23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5D3BF8-59B7-4D36-AD69-F0D07E424BF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276600" y="1676400"/>
            <a:ext cx="5770098" cy="5045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97CF60-193B-4FFE-9EC4-B2F80ABDE8A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762000" y="4572000"/>
            <a:ext cx="1828799" cy="5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38"/>
    </mc:Choice>
    <mc:Fallback xmlns="">
      <p:transition spd="slow" advTm="288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81FF-FF28-4582-9BEF-6126E959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method with return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3E9429-08E5-432F-B47F-B44EDC25B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600200" y="1752600"/>
            <a:ext cx="5943600" cy="469702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92E7235-5403-4876-9E99-61BC998EEC31}"/>
              </a:ext>
            </a:extLst>
          </p:cNvPr>
          <p:cNvSpPr/>
          <p:nvPr/>
        </p:nvSpPr>
        <p:spPr>
          <a:xfrm>
            <a:off x="1905000" y="2438400"/>
            <a:ext cx="15240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9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70EB-CC49-4DF7-A9AB-4380662F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by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0A71-8853-4C9F-A95C-F1515088D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arguments are passed by value to parameters when invoking a method (pass-by-value)</a:t>
            </a:r>
          </a:p>
          <a:p>
            <a:pPr lvl="1"/>
            <a:r>
              <a:rPr lang="en-US" dirty="0"/>
              <a:t>If the argument is a variable, the value of the variable is passed to the parameter</a:t>
            </a:r>
          </a:p>
          <a:p>
            <a:r>
              <a:rPr lang="en-US" dirty="0"/>
              <a:t>Parameter order association</a:t>
            </a:r>
          </a:p>
          <a:p>
            <a:pPr lvl="1"/>
            <a:r>
              <a:rPr lang="en-US" dirty="0"/>
              <a:t>Arguments must be in the same order as their respective parameters in the method signature</a:t>
            </a:r>
          </a:p>
          <a:p>
            <a:r>
              <a:rPr lang="en-US" dirty="0"/>
              <a:t>Example: 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nPrintln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(“Hi”, 3);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nPrintln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(3, “Hi”);</a:t>
            </a:r>
          </a:p>
          <a:p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nPrintln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(“Hi”, ‘3’);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E5F0C-DA01-42F6-B260-651F8C0F87C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467100" y="4895958"/>
            <a:ext cx="5385980" cy="87651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ADDE41-CDCD-4F6B-BAF2-48DF73C9AC33}"/>
              </a:ext>
            </a:extLst>
          </p:cNvPr>
          <p:cNvCxnSpPr/>
          <p:nvPr/>
        </p:nvCxnSpPr>
        <p:spPr>
          <a:xfrm>
            <a:off x="838200" y="5334216"/>
            <a:ext cx="21336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50188D-BF6D-40B0-ACD8-B2A56783576A}"/>
              </a:ext>
            </a:extLst>
          </p:cNvPr>
          <p:cNvCxnSpPr>
            <a:cxnSpLocks/>
          </p:cNvCxnSpPr>
          <p:nvPr/>
        </p:nvCxnSpPr>
        <p:spPr>
          <a:xfrm>
            <a:off x="838200" y="5638800"/>
            <a:ext cx="21336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88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A255-31FB-47F5-B43C-35DF876D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Pass-by-value (example 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677EF-E5A0-4B6F-9984-23C65BCC7E5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371600" y="1828800"/>
            <a:ext cx="6400800" cy="350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DA3B2B-C7F8-4F30-AD45-9EAE5A4CF6E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3276032" y="5595885"/>
            <a:ext cx="2591368" cy="73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8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DE1E-F912-47F6-8EFC-F5930DC8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Pass-by-value (example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627F9-90E1-4064-BB8F-D569244F031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143000" y="1752601"/>
            <a:ext cx="6629400" cy="487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5DC338-AFDE-4340-9B01-4BF5E43749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838200" y="2438400"/>
            <a:ext cx="7162800" cy="12702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A46C52-FC07-4A8C-BE66-5731CB5EFE59}"/>
              </a:ext>
            </a:extLst>
          </p:cNvPr>
          <p:cNvSpPr/>
          <p:nvPr/>
        </p:nvSpPr>
        <p:spPr>
          <a:xfrm>
            <a:off x="762000" y="4191000"/>
            <a:ext cx="7467600" cy="144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What will happen if we change the parameter name </a:t>
            </a:r>
            <a:r>
              <a:rPr lang="en-US" sz="2000" b="1" dirty="0">
                <a:solidFill>
                  <a:srgbClr val="0070C0"/>
                </a:solidFill>
              </a:rPr>
              <a:t>n1</a:t>
            </a:r>
            <a:r>
              <a:rPr lang="en-US" sz="2000" b="1" dirty="0">
                <a:solidFill>
                  <a:schemeClr val="tx1"/>
                </a:solidFill>
              </a:rPr>
              <a:t> in </a:t>
            </a:r>
            <a:r>
              <a:rPr lang="en-US" sz="2000" b="1" dirty="0">
                <a:solidFill>
                  <a:srgbClr val="0070C0"/>
                </a:solidFill>
              </a:rPr>
              <a:t>swap</a:t>
            </a:r>
            <a:r>
              <a:rPr lang="en-US" sz="2000" b="1" dirty="0">
                <a:solidFill>
                  <a:schemeClr val="tx1"/>
                </a:solidFill>
              </a:rPr>
              <a:t> method to </a:t>
            </a:r>
            <a:r>
              <a:rPr lang="en-US" sz="2000" b="1" dirty="0">
                <a:solidFill>
                  <a:srgbClr val="0070C0"/>
                </a:solidFill>
              </a:rPr>
              <a:t>num1</a:t>
            </a:r>
            <a:r>
              <a:rPr lang="en-US" sz="2000" b="1" dirty="0">
                <a:solidFill>
                  <a:schemeClr val="tx1"/>
                </a:solidFill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87516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387D13-0C5D-42C2-AED5-E35EB459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1DCDD-AD9B-4FEF-A5CA-A7DCB41B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Overloading the methods enables their redefinition with the same name</a:t>
            </a:r>
          </a:p>
          <a:p>
            <a:r>
              <a:rPr lang="en-US" sz="2800" dirty="0"/>
              <a:t>Signatures of overloaded methods must be different </a:t>
            </a:r>
          </a:p>
          <a:p>
            <a:r>
              <a:rPr lang="en-US" sz="2800" dirty="0"/>
              <a:t>Different number or type of parameters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5807-E1CE-427E-98F7-D19330FAD33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457200" y="3731301"/>
            <a:ext cx="3353535" cy="2337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BBA9EC-DD43-4EEE-9A39-9257E0D22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0" y="3837316"/>
            <a:ext cx="3941907" cy="2006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0D5826-CFC6-419B-A7BA-DC9E952961DF}"/>
              </a:ext>
            </a:extLst>
          </p:cNvPr>
          <p:cNvSpPr txBox="1"/>
          <p:nvPr/>
        </p:nvSpPr>
        <p:spPr>
          <a:xfrm>
            <a:off x="361857" y="6387546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larger = max(10, 5);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F19666-65FD-425E-819B-1774B821AA4C}"/>
              </a:ext>
            </a:extLst>
          </p:cNvPr>
          <p:cNvSpPr/>
          <p:nvPr/>
        </p:nvSpPr>
        <p:spPr>
          <a:xfrm>
            <a:off x="361857" y="3668354"/>
            <a:ext cx="3558208" cy="2656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F37B5-7580-4204-B501-FE42B9888199}"/>
              </a:ext>
            </a:extLst>
          </p:cNvPr>
          <p:cNvSpPr txBox="1"/>
          <p:nvPr/>
        </p:nvSpPr>
        <p:spPr>
          <a:xfrm>
            <a:off x="4430900" y="6202880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 larger = max(12.3, 15.7);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6BEA0-3AB7-4B37-A5E4-51C665B0E395}"/>
              </a:ext>
            </a:extLst>
          </p:cNvPr>
          <p:cNvSpPr/>
          <p:nvPr/>
        </p:nvSpPr>
        <p:spPr>
          <a:xfrm>
            <a:off x="4472609" y="3746278"/>
            <a:ext cx="4153641" cy="220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7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197"/>
    </mc:Choice>
    <mc:Fallback xmlns="">
      <p:transition spd="slow" advTm="1991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91B4A9-6021-4E35-8275-D162C8F31ED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1797" y="0"/>
            <a:ext cx="501740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CAF23-37ED-4AD9-879B-A0ADFC105E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5448766" y="429779"/>
            <a:ext cx="3315427" cy="7240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D30FC7-E5FF-44EE-91EB-A9EA9662E190}"/>
              </a:ext>
            </a:extLst>
          </p:cNvPr>
          <p:cNvSpPr/>
          <p:nvPr/>
        </p:nvSpPr>
        <p:spPr>
          <a:xfrm>
            <a:off x="377686" y="2888974"/>
            <a:ext cx="3448878" cy="14179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D923E1-18C6-4ABF-A7E0-F5E7020653A9}"/>
              </a:ext>
            </a:extLst>
          </p:cNvPr>
          <p:cNvSpPr/>
          <p:nvPr/>
        </p:nvSpPr>
        <p:spPr>
          <a:xfrm>
            <a:off x="382656" y="4353343"/>
            <a:ext cx="3819739" cy="14179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23A6A6-5FA9-4D3E-96A2-92046E422487}"/>
              </a:ext>
            </a:extLst>
          </p:cNvPr>
          <p:cNvSpPr/>
          <p:nvPr/>
        </p:nvSpPr>
        <p:spPr>
          <a:xfrm>
            <a:off x="387628" y="5844212"/>
            <a:ext cx="4641572" cy="768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5B9A5-765D-4565-B7A6-BFFF50DA5B83}"/>
              </a:ext>
            </a:extLst>
          </p:cNvPr>
          <p:cNvSpPr txBox="1"/>
          <p:nvPr/>
        </p:nvSpPr>
        <p:spPr>
          <a:xfrm>
            <a:off x="5925848" y="1669774"/>
            <a:ext cx="2864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max(2, 2.5);   ????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30895-ED7D-452C-B045-12D2C350FE93}"/>
              </a:ext>
            </a:extLst>
          </p:cNvPr>
          <p:cNvSpPr txBox="1"/>
          <p:nvPr/>
        </p:nvSpPr>
        <p:spPr>
          <a:xfrm>
            <a:off x="5257800" y="2332387"/>
            <a:ext cx="402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Which max method will be invoked?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86EC9-7D0B-49A3-9C3C-8A11A8081E8A}"/>
              </a:ext>
            </a:extLst>
          </p:cNvPr>
          <p:cNvSpPr txBox="1"/>
          <p:nvPr/>
        </p:nvSpPr>
        <p:spPr>
          <a:xfrm>
            <a:off x="5257800" y="3246784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max(double, double) is not invoked for the call max(3, 4)?</a:t>
            </a:r>
          </a:p>
        </p:txBody>
      </p:sp>
    </p:spTree>
    <p:extLst>
      <p:ext uri="{BB962C8B-B14F-4D97-AF65-F5344CB8AC3E}">
        <p14:creationId xmlns:p14="http://schemas.microsoft.com/office/powerpoint/2010/main" val="295296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920"/>
    </mc:Choice>
    <mc:Fallback xmlns="">
      <p:transition spd="slow" advTm="2719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201051-987B-48BE-8BB6-5A40EE30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Ambiguous invocation of overloaded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2606E-DFE9-4A30-A2A5-B87E03546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68861" cy="4525963"/>
          </a:xfrm>
        </p:spPr>
        <p:txBody>
          <a:bodyPr/>
          <a:lstStyle/>
          <a:p>
            <a:r>
              <a:rPr lang="en-US" dirty="0"/>
              <a:t>Two or more possible matches for the invocation</a:t>
            </a:r>
          </a:p>
          <a:p>
            <a:r>
              <a:rPr lang="en-US" dirty="0"/>
              <a:t>Best match cannot be determined</a:t>
            </a:r>
          </a:p>
          <a:p>
            <a:r>
              <a:rPr lang="en-US" dirty="0"/>
              <a:t>Generates a compiler error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97FE5-EEAF-4820-86AD-2210558F45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4800600" y="1676400"/>
            <a:ext cx="3963269" cy="388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1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840"/>
    </mc:Choice>
    <mc:Fallback xmlns="">
      <p:transition spd="slow" advTm="7184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BF15-F455-4443-9189-110853F6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87DBF-8DC0-4802-8345-3B83E718D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4" y="1752602"/>
            <a:ext cx="8617226" cy="43735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scope of a variable is the portion of the program where it can be referenced</a:t>
            </a:r>
          </a:p>
          <a:p>
            <a:r>
              <a:rPr lang="en-US" dirty="0"/>
              <a:t>Local variable: a variable defined inside a method</a:t>
            </a:r>
          </a:p>
          <a:p>
            <a:pPr lvl="1"/>
            <a:r>
              <a:rPr lang="en-US" dirty="0"/>
              <a:t>Scope starts from its declaration; continues to the end of the block</a:t>
            </a:r>
          </a:p>
          <a:p>
            <a:pPr lvl="1"/>
            <a:r>
              <a:rPr lang="en-US" dirty="0"/>
              <a:t>Must be declared and assigned a value before its use</a:t>
            </a:r>
          </a:p>
          <a:p>
            <a:pPr lvl="1"/>
            <a:r>
              <a:rPr lang="en-US" b="1" dirty="0"/>
              <a:t>Method-level scope</a:t>
            </a:r>
          </a:p>
          <a:p>
            <a:pPr lvl="2"/>
            <a:r>
              <a:rPr lang="en-US" dirty="0"/>
              <a:t>Parameter is a local variable: scope is within the entire method body</a:t>
            </a:r>
          </a:p>
          <a:p>
            <a:pPr lvl="2"/>
            <a:r>
              <a:rPr lang="en-US" dirty="0"/>
              <a:t>Variables inside a method have method level scope</a:t>
            </a:r>
          </a:p>
          <a:p>
            <a:pPr lvl="1"/>
            <a:r>
              <a:rPr lang="en-US" b="1" dirty="0"/>
              <a:t>Block-level scope</a:t>
            </a:r>
          </a:p>
          <a:p>
            <a:pPr lvl="2"/>
            <a:r>
              <a:rPr lang="en-US" dirty="0"/>
              <a:t>A variable declared in header of a for-loop can be referenced in the entire loop</a:t>
            </a:r>
          </a:p>
          <a:p>
            <a:pPr lvl="2"/>
            <a:r>
              <a:rPr lang="en-US" dirty="0"/>
              <a:t>A variable declared inside for-loop’s body has its scope after declaration till the end of loop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44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E030-4625-42F2-9FC4-D8AE08088B3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-1" y="92696"/>
            <a:ext cx="4880114" cy="662878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public class Test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public static void main(String[] </a:t>
            </a:r>
            <a:r>
              <a:rPr lang="en-US" sz="1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x = 5;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(y);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public static void Method1()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x = 1;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y = 10;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(y);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(z);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public static void Method2()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x = 13;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y = 12;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z = 5;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(y);</a:t>
            </a:r>
          </a:p>
          <a:p>
            <a:pPr marL="114300" indent="0" algn="l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14300" indent="0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C1EC5-1EB9-474C-BA06-075B64D28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2545" y="1696278"/>
            <a:ext cx="3954377" cy="353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6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195"/>
    </mc:Choice>
    <mc:Fallback xmlns="">
      <p:transition spd="slow" advTm="230195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40E4-6D4B-426D-B813-91EEF9A6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DD3AA-CFAD-4CE6-9680-35616B60D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316306" y="1371600"/>
            <a:ext cx="6480316" cy="3279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284688-9C00-4A7A-B217-E8BE3EA2BDA0}"/>
              </a:ext>
            </a:extLst>
          </p:cNvPr>
          <p:cNvSpPr txBox="1"/>
          <p:nvPr/>
        </p:nvSpPr>
        <p:spPr>
          <a:xfrm>
            <a:off x="3528390" y="4784035"/>
            <a:ext cx="2221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common mistake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8E9184-397D-4398-B760-96BA9D682DD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3279834" y="5216092"/>
            <a:ext cx="2553260" cy="9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D8D2-BDA7-4A08-A2B1-7F444B35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205D7-E26B-46DA-897A-5D1E28EF8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definition &amp; calling</a:t>
            </a:r>
          </a:p>
          <a:p>
            <a:r>
              <a:rPr lang="en-US" dirty="0"/>
              <a:t>Value returning method &amp; void method</a:t>
            </a:r>
          </a:p>
          <a:p>
            <a:r>
              <a:rPr lang="en-US" dirty="0"/>
              <a:t>The call stack</a:t>
            </a:r>
          </a:p>
          <a:p>
            <a:r>
              <a:rPr lang="en-US" dirty="0"/>
              <a:t>Transfer of control</a:t>
            </a:r>
          </a:p>
          <a:p>
            <a:r>
              <a:rPr lang="en-US" dirty="0"/>
              <a:t>Pass-by-value (argument passing)</a:t>
            </a:r>
          </a:p>
          <a:p>
            <a:r>
              <a:rPr lang="en-US" dirty="0"/>
              <a:t>Method overloading</a:t>
            </a:r>
          </a:p>
          <a:p>
            <a:r>
              <a:rPr lang="en-US" dirty="0"/>
              <a:t>The scope of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10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594"/>
    </mc:Choice>
    <mc:Fallback xmlns="">
      <p:transition spd="slow" advTm="10959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6611</TotalTime>
  <Words>2176</Words>
  <Application>Microsoft Office PowerPoint</Application>
  <PresentationFormat>On-screen Show (4:3)</PresentationFormat>
  <Paragraphs>285</Paragraphs>
  <Slides>34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Consolas</vt:lpstr>
      <vt:lpstr>Courier</vt:lpstr>
      <vt:lpstr>Courier New</vt:lpstr>
      <vt:lpstr>Office Theme</vt:lpstr>
      <vt:lpstr>Picture</vt:lpstr>
      <vt:lpstr>Methods in Java</vt:lpstr>
      <vt:lpstr>Methods</vt:lpstr>
      <vt:lpstr>Defining a Method</vt:lpstr>
      <vt:lpstr>Defining a Method</vt:lpstr>
      <vt:lpstr>Opening Problem</vt:lpstr>
      <vt:lpstr>Problem</vt:lpstr>
      <vt:lpstr>Problem</vt:lpstr>
      <vt:lpstr>Solution</vt:lpstr>
      <vt:lpstr>Method Signature</vt:lpstr>
      <vt:lpstr>Formal Parameters</vt:lpstr>
      <vt:lpstr>Actual Parameters</vt:lpstr>
      <vt:lpstr>Return Value Type</vt:lpstr>
      <vt:lpstr>Naming a Method</vt:lpstr>
      <vt:lpstr>Java main() method</vt:lpstr>
      <vt:lpstr>Java main() method</vt:lpstr>
      <vt:lpstr>Different way to write main()</vt:lpstr>
      <vt:lpstr>Calling a Method</vt:lpstr>
      <vt:lpstr>Calling a Method</vt:lpstr>
      <vt:lpstr>Using/reusing a method</vt:lpstr>
      <vt:lpstr>Calling a Method</vt:lpstr>
      <vt:lpstr>Activation record &amp; call stack</vt:lpstr>
      <vt:lpstr>Call stack: example</vt:lpstr>
      <vt:lpstr>Void method</vt:lpstr>
      <vt:lpstr>Void method with return</vt:lpstr>
      <vt:lpstr>Passing arguments by values</vt:lpstr>
      <vt:lpstr>Pass-by-value (example 1)</vt:lpstr>
      <vt:lpstr>Pass-by-value (example 2)</vt:lpstr>
      <vt:lpstr>Overloading methods</vt:lpstr>
      <vt:lpstr>PowerPoint Presentation</vt:lpstr>
      <vt:lpstr>Ambiguous invocation of overloaded method</vt:lpstr>
      <vt:lpstr>Scope of variables</vt:lpstr>
      <vt:lpstr>PowerPoint Presentation</vt:lpstr>
      <vt:lpstr>Scope of variables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Type</dc:title>
  <dc:creator>Rizwan</dc:creator>
  <cp:lastModifiedBy>Khurram Iqbal</cp:lastModifiedBy>
  <cp:revision>46</cp:revision>
  <dcterms:created xsi:type="dcterms:W3CDTF">2006-08-16T00:00:00Z</dcterms:created>
  <dcterms:modified xsi:type="dcterms:W3CDTF">2025-03-19T06:20:06Z</dcterms:modified>
</cp:coreProperties>
</file>