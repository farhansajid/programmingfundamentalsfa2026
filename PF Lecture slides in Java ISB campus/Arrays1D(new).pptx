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2"/>
  </p:notesMasterIdLst>
  <p:sldIdLst>
    <p:sldId id="256" r:id="rId2"/>
    <p:sldId id="267" r:id="rId3"/>
    <p:sldId id="257" r:id="rId4"/>
    <p:sldId id="258" r:id="rId5"/>
    <p:sldId id="259" r:id="rId6"/>
    <p:sldId id="260" r:id="rId7"/>
    <p:sldId id="268" r:id="rId8"/>
    <p:sldId id="261" r:id="rId9"/>
    <p:sldId id="262" r:id="rId10"/>
    <p:sldId id="263" r:id="rId11"/>
    <p:sldId id="264" r:id="rId12"/>
    <p:sldId id="266" r:id="rId13"/>
    <p:sldId id="269" r:id="rId14"/>
    <p:sldId id="270" r:id="rId15"/>
    <p:sldId id="271" r:id="rId16"/>
    <p:sldId id="272" r:id="rId17"/>
    <p:sldId id="273" r:id="rId18"/>
    <p:sldId id="274" r:id="rId19"/>
    <p:sldId id="275" r:id="rId20"/>
    <p:sldId id="276" r:id="rId21"/>
    <p:sldId id="282" r:id="rId22"/>
    <p:sldId id="277" r:id="rId23"/>
    <p:sldId id="278" r:id="rId24"/>
    <p:sldId id="279" r:id="rId25"/>
    <p:sldId id="280" r:id="rId26"/>
    <p:sldId id="281" r:id="rId27"/>
    <p:sldId id="283" r:id="rId28"/>
    <p:sldId id="284" r:id="rId29"/>
    <p:sldId id="310" r:id="rId30"/>
    <p:sldId id="285" r:id="rId31"/>
    <p:sldId id="309"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303" r:id="rId46"/>
    <p:sldId id="304" r:id="rId47"/>
    <p:sldId id="305" r:id="rId48"/>
    <p:sldId id="306" r:id="rId49"/>
    <p:sldId id="307" r:id="rId50"/>
    <p:sldId id="308" r:id="rId5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0" d="100"/>
          <a:sy n="60" d="100"/>
        </p:scale>
        <p:origin x="588" y="48"/>
      </p:cViewPr>
      <p:guideLst>
        <p:guide orient="horz" pos="216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6/11/relationships/changesInfo" Target="changesInfos/changesInfo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hurram Iqbal" userId="af32904b-6c78-4cff-8330-5f3a20d540de" providerId="ADAL" clId="{E01CBE59-94E2-4607-A170-EBFE72D8B202}"/>
    <pc:docChg chg="custSel modSld">
      <pc:chgData name="Khurram Iqbal" userId="af32904b-6c78-4cff-8330-5f3a20d540de" providerId="ADAL" clId="{E01CBE59-94E2-4607-A170-EBFE72D8B202}" dt="2026-05-08T06:04:45.238" v="1" actId="26606"/>
      <pc:docMkLst>
        <pc:docMk/>
      </pc:docMkLst>
      <pc:sldChg chg="addSp modSp mod setBg">
        <pc:chgData name="Khurram Iqbal" userId="af32904b-6c78-4cff-8330-5f3a20d540de" providerId="ADAL" clId="{E01CBE59-94E2-4607-A170-EBFE72D8B202}" dt="2026-05-08T06:04:45.238" v="1" actId="26606"/>
        <pc:sldMkLst>
          <pc:docMk/>
          <pc:sldMk cId="961198547" sldId="256"/>
        </pc:sldMkLst>
        <pc:spChg chg="mod">
          <ac:chgData name="Khurram Iqbal" userId="af32904b-6c78-4cff-8330-5f3a20d540de" providerId="ADAL" clId="{E01CBE59-94E2-4607-A170-EBFE72D8B202}" dt="2026-05-08T06:04:45.238" v="1" actId="26606"/>
          <ac:spMkLst>
            <pc:docMk/>
            <pc:sldMk cId="961198547" sldId="256"/>
            <ac:spMk id="2" creationId="{00000000-0000-0000-0000-000000000000}"/>
          </ac:spMkLst>
        </pc:spChg>
        <pc:spChg chg="mod">
          <ac:chgData name="Khurram Iqbal" userId="af32904b-6c78-4cff-8330-5f3a20d540de" providerId="ADAL" clId="{E01CBE59-94E2-4607-A170-EBFE72D8B202}" dt="2026-05-08T06:04:45.238" v="1" actId="26606"/>
          <ac:spMkLst>
            <pc:docMk/>
            <pc:sldMk cId="961198547" sldId="256"/>
            <ac:spMk id="3" creationId="{00000000-0000-0000-0000-000000000000}"/>
          </ac:spMkLst>
        </pc:spChg>
        <pc:spChg chg="add">
          <ac:chgData name="Khurram Iqbal" userId="af32904b-6c78-4cff-8330-5f3a20d540de" providerId="ADAL" clId="{E01CBE59-94E2-4607-A170-EBFE72D8B202}" dt="2026-05-08T06:04:45.238" v="1" actId="26606"/>
          <ac:spMkLst>
            <pc:docMk/>
            <pc:sldMk cId="961198547" sldId="256"/>
            <ac:spMk id="8" creationId="{4522B21E-B2B9-4C72-9A71-C87EFD137480}"/>
          </ac:spMkLst>
        </pc:spChg>
        <pc:spChg chg="add">
          <ac:chgData name="Khurram Iqbal" userId="af32904b-6c78-4cff-8330-5f3a20d540de" providerId="ADAL" clId="{E01CBE59-94E2-4607-A170-EBFE72D8B202}" dt="2026-05-08T06:04:45.238" v="1" actId="26606"/>
          <ac:spMkLst>
            <pc:docMk/>
            <pc:sldMk cId="961198547" sldId="256"/>
            <ac:spMk id="10" creationId="{5EB7D2A2-F448-44D4-938C-DC84CBCB3B1E}"/>
          </ac:spMkLst>
        </pc:spChg>
        <pc:spChg chg="add">
          <ac:chgData name="Khurram Iqbal" userId="af32904b-6c78-4cff-8330-5f3a20d540de" providerId="ADAL" clId="{E01CBE59-94E2-4607-A170-EBFE72D8B202}" dt="2026-05-08T06:04:45.238" v="1" actId="26606"/>
          <ac:spMkLst>
            <pc:docMk/>
            <pc:sldMk cId="961198547" sldId="256"/>
            <ac:spMk id="12" creationId="{871AEA07-1E14-44B4-8E55-64EF049CD66F}"/>
          </ac:spMkLst>
        </pc:spChg>
        <pc:cxnChg chg="add">
          <ac:chgData name="Khurram Iqbal" userId="af32904b-6c78-4cff-8330-5f3a20d540de" providerId="ADAL" clId="{E01CBE59-94E2-4607-A170-EBFE72D8B202}" dt="2026-05-08T06:04:45.238" v="1" actId="26606"/>
          <ac:cxnSpMkLst>
            <pc:docMk/>
            <pc:sldMk cId="961198547" sldId="256"/>
            <ac:cxnSpMk id="14" creationId="{F7C8EA93-3210-4C62-99E9-153C275E3A87}"/>
          </ac:cxnSpMkLst>
        </pc:cxnChg>
      </pc:sldChg>
      <pc:sldChg chg="mod modShow">
        <pc:chgData name="Khurram Iqbal" userId="af32904b-6c78-4cff-8330-5f3a20d540de" providerId="ADAL" clId="{E01CBE59-94E2-4607-A170-EBFE72D8B202}" dt="2026-05-07T09:20:03.118" v="0" actId="729"/>
        <pc:sldMkLst>
          <pc:docMk/>
          <pc:sldMk cId="3058552599" sldId="297"/>
        </pc:sldMkLst>
      </pc:sldChg>
      <pc:sldChg chg="mod modShow">
        <pc:chgData name="Khurram Iqbal" userId="af32904b-6c78-4cff-8330-5f3a20d540de" providerId="ADAL" clId="{E01CBE59-94E2-4607-A170-EBFE72D8B202}" dt="2026-05-07T09:20:03.118" v="0" actId="729"/>
        <pc:sldMkLst>
          <pc:docMk/>
          <pc:sldMk cId="1734269342" sldId="298"/>
        </pc:sldMkLst>
      </pc:sldChg>
      <pc:sldChg chg="mod modShow">
        <pc:chgData name="Khurram Iqbal" userId="af32904b-6c78-4cff-8330-5f3a20d540de" providerId="ADAL" clId="{E01CBE59-94E2-4607-A170-EBFE72D8B202}" dt="2026-05-07T09:20:03.118" v="0" actId="729"/>
        <pc:sldMkLst>
          <pc:docMk/>
          <pc:sldMk cId="3488405919" sldId="30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AA50C02-4BD2-4C74-A6DB-D1E6A5F300D0}" type="datetimeFigureOut">
              <a:rPr lang="en-US" smtClean="0"/>
              <a:t>5/7/2026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DF88034-7A35-4115-A428-9F2BC7EE8DC1}" type="slidenum">
              <a:rPr lang="en-US" smtClean="0"/>
              <a:t>‹#›</a:t>
            </a:fld>
            <a:endParaRPr lang="en-US"/>
          </a:p>
        </p:txBody>
      </p:sp>
    </p:spTree>
    <p:extLst>
      <p:ext uri="{BB962C8B-B14F-4D97-AF65-F5344CB8AC3E}">
        <p14:creationId xmlns:p14="http://schemas.microsoft.com/office/powerpoint/2010/main" val="33890683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a:extLst>
              <a:ext uri="{FF2B5EF4-FFF2-40B4-BE49-F238E27FC236}">
                <a16:creationId xmlns:a16="http://schemas.microsoft.com/office/drawing/2014/main" id="{D36A752E-57A6-46E9-8A1E-C3582F129461}"/>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066800A1-323A-45BF-87E5-CDEE09D3DDFE}" type="slidenum">
              <a:rPr lang="en-US" altLang="en-US" sz="1000"/>
              <a:pPr/>
              <a:t>4</a:t>
            </a:fld>
            <a:endParaRPr lang="en-US" altLang="en-US" sz="1000"/>
          </a:p>
        </p:txBody>
      </p:sp>
      <p:sp>
        <p:nvSpPr>
          <p:cNvPr id="117763" name="Rectangle 2">
            <a:extLst>
              <a:ext uri="{FF2B5EF4-FFF2-40B4-BE49-F238E27FC236}">
                <a16:creationId xmlns:a16="http://schemas.microsoft.com/office/drawing/2014/main" id="{65CD0136-57B3-4A31-B47B-A131E87B5EB6}"/>
              </a:ext>
            </a:extLst>
          </p:cNvPr>
          <p:cNvSpPr>
            <a:spLocks noGrp="1" noRot="1" noChangeAspect="1" noChangeArrowheads="1" noTextEdit="1"/>
          </p:cNvSpPr>
          <p:nvPr>
            <p:ph type="sldImg"/>
          </p:nvPr>
        </p:nvSpPr>
        <p:spPr>
          <a:xfrm>
            <a:off x="1150938" y="692150"/>
            <a:ext cx="4556125" cy="3416300"/>
          </a:xfrm>
          <a:ln cap="flat"/>
        </p:spPr>
      </p:sp>
      <p:sp>
        <p:nvSpPr>
          <p:cNvPr id="117764" name="Rectangle 3">
            <a:extLst>
              <a:ext uri="{FF2B5EF4-FFF2-40B4-BE49-F238E27FC236}">
                <a16:creationId xmlns:a16="http://schemas.microsoft.com/office/drawing/2014/main" id="{9BF02D91-1F81-457E-A738-0FACBF597890}"/>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F88034-7A35-4115-A428-9F2BC7EE8DC1}" type="slidenum">
              <a:rPr lang="en-US" smtClean="0"/>
              <a:t>19</a:t>
            </a:fld>
            <a:endParaRPr lang="en-US"/>
          </a:p>
        </p:txBody>
      </p:sp>
    </p:spTree>
    <p:extLst>
      <p:ext uri="{BB962C8B-B14F-4D97-AF65-F5344CB8AC3E}">
        <p14:creationId xmlns:p14="http://schemas.microsoft.com/office/powerpoint/2010/main" val="30461797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a:extLst>
              <a:ext uri="{FF2B5EF4-FFF2-40B4-BE49-F238E27FC236}">
                <a16:creationId xmlns:a16="http://schemas.microsoft.com/office/drawing/2014/main" id="{CC413307-CDC9-45C5-B3DE-D27B2C316B76}"/>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75925482-339C-4C82-BF15-E8E53444AFD1}" type="slidenum">
              <a:rPr lang="en-US" altLang="en-US" sz="1000"/>
              <a:pPr/>
              <a:t>50</a:t>
            </a:fld>
            <a:endParaRPr lang="en-US" altLang="en-US" sz="1000"/>
          </a:p>
        </p:txBody>
      </p:sp>
      <p:sp>
        <p:nvSpPr>
          <p:cNvPr id="118787" name="Rectangle 2">
            <a:extLst>
              <a:ext uri="{FF2B5EF4-FFF2-40B4-BE49-F238E27FC236}">
                <a16:creationId xmlns:a16="http://schemas.microsoft.com/office/drawing/2014/main" id="{D1A6F8D3-9E8E-427B-A7EC-F993DB67E53D}"/>
              </a:ext>
            </a:extLst>
          </p:cNvPr>
          <p:cNvSpPr>
            <a:spLocks noGrp="1" noRot="1" noChangeAspect="1" noChangeArrowheads="1" noTextEdit="1"/>
          </p:cNvSpPr>
          <p:nvPr>
            <p:ph type="sldImg"/>
          </p:nvPr>
        </p:nvSpPr>
        <p:spPr>
          <a:xfrm>
            <a:off x="1150938" y="692150"/>
            <a:ext cx="4556125" cy="3416300"/>
          </a:xfrm>
          <a:noFill/>
          <a:ln cap="flat"/>
        </p:spPr>
      </p:sp>
      <p:sp>
        <p:nvSpPr>
          <p:cNvPr id="118788" name="Rectangle 3">
            <a:extLst>
              <a:ext uri="{FF2B5EF4-FFF2-40B4-BE49-F238E27FC236}">
                <a16:creationId xmlns:a16="http://schemas.microsoft.com/office/drawing/2014/main" id="{3FE7BABA-1784-4A45-9B6E-DDC5CA6872C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en-US"/>
              <a:t>Example 12.4</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685800" y="285750"/>
            <a:ext cx="7772400" cy="1143000"/>
          </a:xfrm>
        </p:spPr>
        <p:txBody>
          <a:bodyPr/>
          <a:lstStyle/>
          <a:p>
            <a:r>
              <a:rPr lang="en-US"/>
              <a:t>Click to edit Master title style</a:t>
            </a:r>
          </a:p>
        </p:txBody>
      </p:sp>
      <p:sp>
        <p:nvSpPr>
          <p:cNvPr id="3" name="Content Placeholder 2"/>
          <p:cNvSpPr>
            <a:spLocks noGrp="1"/>
          </p:cNvSpPr>
          <p:nvPr>
            <p:ph sz="quarter" idx="1"/>
          </p:nvPr>
        </p:nvSpPr>
        <p:spPr>
          <a:xfrm>
            <a:off x="685800" y="165735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5735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85800" y="379095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8200" y="379095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32">
            <a:extLst>
              <a:ext uri="{FF2B5EF4-FFF2-40B4-BE49-F238E27FC236}">
                <a16:creationId xmlns:a16="http://schemas.microsoft.com/office/drawing/2014/main" id="{9AB77186-E251-45D6-B696-FB695853071E}"/>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34">
            <a:extLst>
              <a:ext uri="{FF2B5EF4-FFF2-40B4-BE49-F238E27FC236}">
                <a16:creationId xmlns:a16="http://schemas.microsoft.com/office/drawing/2014/main" id="{0AAC378E-260A-49C1-83B2-DC417A5AD0D1}"/>
              </a:ext>
            </a:extLst>
          </p:cNvPr>
          <p:cNvSpPr>
            <a:spLocks noGrp="1" noChangeArrowheads="1"/>
          </p:cNvSpPr>
          <p:nvPr>
            <p:ph type="sldNum" sz="quarter" idx="11"/>
          </p:nvPr>
        </p:nvSpPr>
        <p:spPr>
          <a:ln/>
        </p:spPr>
        <p:txBody>
          <a:bodyPr/>
          <a:lstStyle>
            <a:lvl1pPr>
              <a:defRPr/>
            </a:lvl1pPr>
          </a:lstStyle>
          <a:p>
            <a:fld id="{B341542C-51DD-441C-B1D5-DF1D9CB3A4DF}" type="slidenum">
              <a:rPr lang="en-US" altLang="en-US"/>
              <a:pPr/>
              <a:t>‹#›</a:t>
            </a:fld>
            <a:endParaRPr lang="en-US" altLang="en-US"/>
          </a:p>
        </p:txBody>
      </p:sp>
    </p:spTree>
    <p:extLst>
      <p:ext uri="{BB962C8B-B14F-4D97-AF65-F5344CB8AC3E}">
        <p14:creationId xmlns:p14="http://schemas.microsoft.com/office/powerpoint/2010/main" val="33198217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winword%20TestSelectionSort.java"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winword%20TestArrayOfObjects.java"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winword%20TestArrayOfObjects.java"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hyperlink" Target="winword%20TestArrayOfObjects.java"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hyperlink" Target="winword%20TestArrayOfObjects.java"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hyperlink" Target="winword%20TestArrayOfObjects.java"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winword%20TestArrayOfObjects.java"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hyperlink" Target="winword%20TestArrayOfObjects.java" TargetMode="External"/><Relationship Id="rId1" Type="http://schemas.openxmlformats.org/officeDocument/2006/relationships/slideLayout" Target="../slideLayouts/slideLayout2.xml"/><Relationship Id="rId4" Type="http://schemas.openxmlformats.org/officeDocument/2006/relationships/image" Target="../media/image11.wmf"/></Relationships>
</file>

<file path=ppt/slides/_rels/slide40.xml.rels><?xml version="1.0" encoding="UTF-8" standalone="yes"?>
<Relationships xmlns="http://schemas.openxmlformats.org/package/2006/relationships"><Relationship Id="rId2" Type="http://schemas.openxmlformats.org/officeDocument/2006/relationships/hyperlink" Target="winword%20TestArrayOfObjects.java"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hyperlink" Target="winword%20TestArrayOfObjects.java"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hyperlink" Target="winword%20TestArrayOfObjects.java"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hyperlink" Target="winword%20TestArrayOfObjects.java"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522B21E-B2B9-4C72-9A71-C87EFD137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9144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7348" y="551962"/>
            <a:ext cx="8249304"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143000" y="1293338"/>
            <a:ext cx="6858000" cy="3274592"/>
          </a:xfrm>
        </p:spPr>
        <p:txBody>
          <a:bodyPr anchor="ctr">
            <a:normAutofit/>
          </a:bodyPr>
          <a:lstStyle/>
          <a:p>
            <a:r>
              <a:rPr lang="en-US" sz="6300"/>
              <a:t>Arrays</a:t>
            </a:r>
          </a:p>
        </p:txBody>
      </p:sp>
      <p:sp>
        <p:nvSpPr>
          <p:cNvPr id="3" name="Subtitle 2"/>
          <p:cNvSpPr>
            <a:spLocks noGrp="1"/>
          </p:cNvSpPr>
          <p:nvPr>
            <p:ph type="subTitle" idx="1"/>
          </p:nvPr>
        </p:nvSpPr>
        <p:spPr>
          <a:xfrm>
            <a:off x="1143000" y="5514052"/>
            <a:ext cx="6858000" cy="651910"/>
          </a:xfrm>
        </p:spPr>
        <p:txBody>
          <a:bodyPr anchor="ctr">
            <a:normAutofit/>
          </a:bodyPr>
          <a:lstStyle/>
          <a:p>
            <a:r>
              <a:rPr lang="en-US" dirty="0"/>
              <a:t>Instructor: Mr. Khurram Iqbal</a:t>
            </a:r>
          </a:p>
        </p:txBody>
      </p:sp>
      <p:cxnSp>
        <p:nvCxnSpPr>
          <p:cNvPr id="14" name="Straight Connector 13">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447348" y="6354708"/>
            <a:ext cx="8250174"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11985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a:extLst>
              <a:ext uri="{FF2B5EF4-FFF2-40B4-BE49-F238E27FC236}">
                <a16:creationId xmlns:a16="http://schemas.microsoft.com/office/drawing/2014/main" id="{2E5E516E-E7E7-41E4-806A-1B30D161B926}"/>
              </a:ext>
            </a:extLst>
          </p:cNvPr>
          <p:cNvSpPr>
            <a:spLocks noGrp="1" noChangeArrowheads="1"/>
          </p:cNvSpPr>
          <p:nvPr>
            <p:ph type="title"/>
          </p:nvPr>
        </p:nvSpPr>
        <p:spPr>
          <a:xfrm>
            <a:off x="152400" y="228600"/>
            <a:ext cx="8763000" cy="473075"/>
          </a:xfrm>
          <a:noFill/>
        </p:spPr>
        <p:txBody>
          <a:bodyPr>
            <a:normAutofit fontScale="90000"/>
          </a:bodyPr>
          <a:lstStyle/>
          <a:p>
            <a:r>
              <a:rPr lang="en-US" altLang="en-US" sz="4000"/>
              <a:t>Opening Problem</a:t>
            </a:r>
          </a:p>
        </p:txBody>
      </p:sp>
      <p:sp>
        <p:nvSpPr>
          <p:cNvPr id="4100" name="Rectangle 3">
            <a:extLst>
              <a:ext uri="{FF2B5EF4-FFF2-40B4-BE49-F238E27FC236}">
                <a16:creationId xmlns:a16="http://schemas.microsoft.com/office/drawing/2014/main" id="{51C49DD4-E387-4E8D-9308-2873FB6C32E3}"/>
              </a:ext>
            </a:extLst>
          </p:cNvPr>
          <p:cNvSpPr>
            <a:spLocks noGrp="1" noChangeArrowheads="1"/>
          </p:cNvSpPr>
          <p:nvPr>
            <p:ph type="body" idx="1"/>
          </p:nvPr>
        </p:nvSpPr>
        <p:spPr>
          <a:xfrm>
            <a:off x="231775" y="971550"/>
            <a:ext cx="8642350" cy="5106988"/>
          </a:xfrm>
          <a:noFill/>
        </p:spPr>
        <p:txBody>
          <a:bodyPr>
            <a:normAutofit/>
          </a:bodyPr>
          <a:lstStyle/>
          <a:p>
            <a:pPr marL="0" indent="0">
              <a:buFont typeface="Monotype Sorts" pitchFamily="2" charset="2"/>
              <a:buNone/>
            </a:pPr>
            <a:r>
              <a:rPr lang="en-US" altLang="en-US" sz="3500" dirty="0"/>
              <a:t>Read one hundred numbers, compute their average, and find out how many numbers are above the average. </a:t>
            </a:r>
          </a:p>
          <a:p>
            <a:pPr marL="0" indent="0">
              <a:buFont typeface="Monotype Sorts" pitchFamily="2" charset="2"/>
              <a:buNone/>
            </a:pPr>
            <a:endParaRPr lang="en-US" altLang="en-US" sz="3500" dirty="0"/>
          </a:p>
          <a:p>
            <a:pPr marL="0" indent="0">
              <a:buFont typeface="Monotype Sorts" pitchFamily="2" charset="2"/>
              <a:buNone/>
            </a:pPr>
            <a:endParaRPr lang="en-US" altLang="en-US" sz="3500" dirty="0"/>
          </a:p>
        </p:txBody>
      </p:sp>
    </p:spTree>
    <p:extLst>
      <p:ext uri="{BB962C8B-B14F-4D97-AF65-F5344CB8AC3E}">
        <p14:creationId xmlns:p14="http://schemas.microsoft.com/office/powerpoint/2010/main" val="14451105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1026">
            <a:extLst>
              <a:ext uri="{FF2B5EF4-FFF2-40B4-BE49-F238E27FC236}">
                <a16:creationId xmlns:a16="http://schemas.microsoft.com/office/drawing/2014/main" id="{FD2CB90E-95AA-4933-AC54-810287A1B4CB}"/>
              </a:ext>
            </a:extLst>
          </p:cNvPr>
          <p:cNvSpPr>
            <a:spLocks noGrp="1" noChangeArrowheads="1"/>
          </p:cNvSpPr>
          <p:nvPr>
            <p:ph type="title"/>
          </p:nvPr>
        </p:nvSpPr>
        <p:spPr/>
        <p:txBody>
          <a:bodyPr>
            <a:normAutofit/>
          </a:bodyPr>
          <a:lstStyle/>
          <a:p>
            <a:r>
              <a:rPr lang="en-US" altLang="en-US" sz="4000" dirty="0"/>
              <a:t>Introducing Arrays</a:t>
            </a:r>
          </a:p>
        </p:txBody>
      </p:sp>
      <p:sp>
        <p:nvSpPr>
          <p:cNvPr id="3" name="Content Placeholder 2"/>
          <p:cNvSpPr>
            <a:spLocks noGrp="1"/>
          </p:cNvSpPr>
          <p:nvPr>
            <p:ph idx="1"/>
          </p:nvPr>
        </p:nvSpPr>
        <p:spPr/>
        <p:txBody>
          <a:bodyPr/>
          <a:lstStyle/>
          <a:p>
            <a:r>
              <a:rPr lang="en-US" altLang="en-US" dirty="0"/>
              <a:t>Array is a data structure that represents a collection of the same types of data</a:t>
            </a:r>
          </a:p>
          <a:p>
            <a:r>
              <a:rPr lang="en-US" altLang="en-US" sz="3600" dirty="0"/>
              <a:t>Once an array is created, its size is fixed</a:t>
            </a:r>
          </a:p>
          <a:p>
            <a:r>
              <a:rPr lang="en-US" altLang="en-US" sz="3600" dirty="0"/>
              <a:t>An array reference variable is used to access the elements in an array using an index</a:t>
            </a:r>
          </a:p>
          <a:p>
            <a:endParaRPr lang="en-US" dirty="0"/>
          </a:p>
        </p:txBody>
      </p:sp>
      <p:sp>
        <p:nvSpPr>
          <p:cNvPr id="6149" name="Rectangle 1035">
            <a:extLst>
              <a:ext uri="{FF2B5EF4-FFF2-40B4-BE49-F238E27FC236}">
                <a16:creationId xmlns:a16="http://schemas.microsoft.com/office/drawing/2014/main" id="{2180348B-1F46-4ECB-A604-9B6B6C83964A}"/>
              </a:ext>
            </a:extLst>
          </p:cNvPr>
          <p:cNvSpPr>
            <a:spLocks noChangeArrowheads="1"/>
          </p:cNvSpPr>
          <p:nvPr/>
        </p:nvSpPr>
        <p:spPr bwMode="auto">
          <a:xfrm>
            <a:off x="2770188" y="2198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6150" name="Rectangle 1040">
            <a:extLst>
              <a:ext uri="{FF2B5EF4-FFF2-40B4-BE49-F238E27FC236}">
                <a16:creationId xmlns:a16="http://schemas.microsoft.com/office/drawing/2014/main" id="{086AEB36-CEC3-4F7F-B4A6-E5FCA268C6D6}"/>
              </a:ext>
            </a:extLst>
          </p:cNvPr>
          <p:cNvSpPr>
            <a:spLocks noChangeArrowheads="1"/>
          </p:cNvSpPr>
          <p:nvPr/>
        </p:nvSpPr>
        <p:spPr bwMode="auto">
          <a:xfrm>
            <a:off x="2171700" y="1912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Tree>
    <p:extLst>
      <p:ext uri="{BB962C8B-B14F-4D97-AF65-F5344CB8AC3E}">
        <p14:creationId xmlns:p14="http://schemas.microsoft.com/office/powerpoint/2010/main" val="1093721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a:extLst>
              <a:ext uri="{FF2B5EF4-FFF2-40B4-BE49-F238E27FC236}">
                <a16:creationId xmlns:a16="http://schemas.microsoft.com/office/drawing/2014/main" id="{642CB257-EDC3-4EC5-9E25-2AB7EE691E33}"/>
              </a:ext>
            </a:extLst>
          </p:cNvPr>
          <p:cNvSpPr>
            <a:spLocks noGrp="1" noChangeArrowheads="1"/>
          </p:cNvSpPr>
          <p:nvPr>
            <p:ph type="title"/>
          </p:nvPr>
        </p:nvSpPr>
        <p:spPr>
          <a:xfrm>
            <a:off x="685800" y="304800"/>
            <a:ext cx="7772400" cy="838200"/>
          </a:xfrm>
          <a:noFill/>
        </p:spPr>
        <p:txBody>
          <a:bodyPr/>
          <a:lstStyle/>
          <a:p>
            <a:r>
              <a:rPr lang="en-US" altLang="en-US"/>
              <a:t>Declaring Array Variables</a:t>
            </a:r>
          </a:p>
        </p:txBody>
      </p:sp>
      <p:sp>
        <p:nvSpPr>
          <p:cNvPr id="7172" name="Rectangle 3">
            <a:extLst>
              <a:ext uri="{FF2B5EF4-FFF2-40B4-BE49-F238E27FC236}">
                <a16:creationId xmlns:a16="http://schemas.microsoft.com/office/drawing/2014/main" id="{3094684A-2D5F-419C-A6EF-40394B437846}"/>
              </a:ext>
            </a:extLst>
          </p:cNvPr>
          <p:cNvSpPr>
            <a:spLocks noGrp="1" noChangeArrowheads="1"/>
          </p:cNvSpPr>
          <p:nvPr>
            <p:ph type="body" idx="1"/>
          </p:nvPr>
        </p:nvSpPr>
        <p:spPr>
          <a:xfrm>
            <a:off x="609600" y="1371600"/>
            <a:ext cx="7696200" cy="4724400"/>
          </a:xfrm>
          <a:noFill/>
        </p:spPr>
        <p:txBody>
          <a:bodyPr/>
          <a:lstStyle/>
          <a:p>
            <a:r>
              <a:rPr lang="en-US" altLang="en-US" sz="2600">
                <a:latin typeface="Courier New" panose="02070309020205020404" pitchFamily="49" charset="0"/>
              </a:rPr>
              <a:t>datatype[] arrayRefVar;</a:t>
            </a:r>
            <a:endParaRPr lang="en-US" altLang="en-US" sz="2400">
              <a:latin typeface="Courier New" panose="02070309020205020404" pitchFamily="49" charset="0"/>
            </a:endParaRPr>
          </a:p>
          <a:p>
            <a:pPr>
              <a:spcBef>
                <a:spcPct val="50000"/>
              </a:spcBef>
              <a:buFont typeface="Monotype Sorts" pitchFamily="2" charset="2"/>
              <a:buNone/>
            </a:pPr>
            <a:r>
              <a:rPr lang="en-US" altLang="en-US" sz="2800"/>
              <a:t>	</a:t>
            </a:r>
            <a:r>
              <a:rPr lang="en-US" altLang="en-US" sz="2600"/>
              <a:t>Example: </a:t>
            </a:r>
          </a:p>
          <a:p>
            <a:pPr>
              <a:spcBef>
                <a:spcPct val="50000"/>
              </a:spcBef>
              <a:buFont typeface="Monotype Sorts" pitchFamily="2" charset="2"/>
              <a:buNone/>
            </a:pPr>
            <a:r>
              <a:rPr lang="en-US" altLang="en-US" sz="2600"/>
              <a:t>    </a:t>
            </a:r>
            <a:r>
              <a:rPr lang="en-US" altLang="en-US" sz="2400">
                <a:latin typeface="Courier New" panose="02070309020205020404" pitchFamily="49" charset="0"/>
              </a:rPr>
              <a:t>double[] myList;</a:t>
            </a:r>
            <a:endParaRPr lang="en-US" altLang="en-US" sz="2400"/>
          </a:p>
          <a:p>
            <a:pPr>
              <a:buFont typeface="Monotype Sorts" pitchFamily="2" charset="2"/>
              <a:buNone/>
            </a:pPr>
            <a:endParaRPr lang="en-US" altLang="en-US" sz="2800">
              <a:latin typeface="Courier New" panose="02070309020205020404" pitchFamily="49" charset="0"/>
            </a:endParaRPr>
          </a:p>
          <a:p>
            <a:r>
              <a:rPr lang="en-US" altLang="en-US" sz="2600">
                <a:latin typeface="Courier New" panose="02070309020205020404" pitchFamily="49" charset="0"/>
              </a:rPr>
              <a:t>datatype arrayRefVar[]; </a:t>
            </a:r>
            <a:r>
              <a:rPr lang="en-US" altLang="en-US" sz="2600" u="sng">
                <a:solidFill>
                  <a:srgbClr val="FF6600"/>
                </a:solidFill>
                <a:cs typeface="Courier New" panose="02070309020205020404" pitchFamily="49" charset="0"/>
              </a:rPr>
              <a:t>// This style is allowed, but not preferred</a:t>
            </a:r>
            <a:endParaRPr lang="en-US" altLang="en-US" sz="2400">
              <a:solidFill>
                <a:srgbClr val="FF6600"/>
              </a:solidFill>
            </a:endParaRPr>
          </a:p>
          <a:p>
            <a:pPr algn="just">
              <a:spcBef>
                <a:spcPct val="50000"/>
              </a:spcBef>
              <a:buFont typeface="Monotype Sorts" pitchFamily="2" charset="2"/>
              <a:buNone/>
            </a:pPr>
            <a:r>
              <a:rPr lang="en-US" altLang="en-US" sz="2800"/>
              <a:t>	</a:t>
            </a:r>
            <a:r>
              <a:rPr lang="en-US" altLang="en-US" sz="2600"/>
              <a:t>Example: </a:t>
            </a:r>
          </a:p>
          <a:p>
            <a:pPr algn="just">
              <a:spcBef>
                <a:spcPct val="50000"/>
              </a:spcBef>
              <a:buFont typeface="Monotype Sorts" pitchFamily="2" charset="2"/>
              <a:buNone/>
            </a:pPr>
            <a:r>
              <a:rPr lang="en-US" altLang="en-US" sz="2600"/>
              <a:t>    </a:t>
            </a:r>
            <a:r>
              <a:rPr lang="en-US" altLang="en-US" sz="2400">
                <a:latin typeface="Courier New" panose="02070309020205020404" pitchFamily="49" charset="0"/>
              </a:rPr>
              <a:t>double myList[];</a:t>
            </a:r>
          </a:p>
        </p:txBody>
      </p:sp>
    </p:spTree>
    <p:extLst>
      <p:ext uri="{BB962C8B-B14F-4D97-AF65-F5344CB8AC3E}">
        <p14:creationId xmlns:p14="http://schemas.microsoft.com/office/powerpoint/2010/main" val="4197141305"/>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a:extLst>
              <a:ext uri="{FF2B5EF4-FFF2-40B4-BE49-F238E27FC236}">
                <a16:creationId xmlns:a16="http://schemas.microsoft.com/office/drawing/2014/main" id="{137D4C80-45E9-490B-BFFA-AC531E270B93}"/>
              </a:ext>
            </a:extLst>
          </p:cNvPr>
          <p:cNvSpPr>
            <a:spLocks noGrp="1" noChangeArrowheads="1"/>
          </p:cNvSpPr>
          <p:nvPr>
            <p:ph type="title"/>
          </p:nvPr>
        </p:nvSpPr>
        <p:spPr>
          <a:xfrm>
            <a:off x="685800" y="228600"/>
            <a:ext cx="7772400" cy="990600"/>
          </a:xfrm>
          <a:noFill/>
        </p:spPr>
        <p:txBody>
          <a:bodyPr/>
          <a:lstStyle/>
          <a:p>
            <a:r>
              <a:rPr lang="en-US" altLang="en-US" dirty="0"/>
              <a:t>Creating Arrays</a:t>
            </a:r>
          </a:p>
        </p:txBody>
      </p:sp>
      <p:sp>
        <p:nvSpPr>
          <p:cNvPr id="8196" name="Rectangle 3">
            <a:extLst>
              <a:ext uri="{FF2B5EF4-FFF2-40B4-BE49-F238E27FC236}">
                <a16:creationId xmlns:a16="http://schemas.microsoft.com/office/drawing/2014/main" id="{B2A0445B-862B-4791-BF68-295CDBF54196}"/>
              </a:ext>
            </a:extLst>
          </p:cNvPr>
          <p:cNvSpPr>
            <a:spLocks noGrp="1" noChangeArrowheads="1"/>
          </p:cNvSpPr>
          <p:nvPr>
            <p:ph type="body" idx="1"/>
          </p:nvPr>
        </p:nvSpPr>
        <p:spPr>
          <a:xfrm>
            <a:off x="76200" y="2057400"/>
            <a:ext cx="8839200" cy="4114800"/>
          </a:xfrm>
          <a:noFill/>
        </p:spPr>
        <p:txBody>
          <a:bodyPr>
            <a:normAutofit fontScale="85000" lnSpcReduction="10000"/>
          </a:bodyPr>
          <a:lstStyle/>
          <a:p>
            <a:pPr>
              <a:buFont typeface="Monotype Sorts" pitchFamily="2" charset="2"/>
              <a:buNone/>
            </a:pPr>
            <a:r>
              <a:rPr lang="en-US" altLang="en-US" sz="2800" dirty="0" err="1">
                <a:latin typeface="Courier New" panose="02070309020205020404" pitchFamily="49" charset="0"/>
              </a:rPr>
              <a:t>arrayRefVar</a:t>
            </a:r>
            <a:r>
              <a:rPr lang="en-US" altLang="en-US" sz="2800" dirty="0">
                <a:latin typeface="Courier New" panose="02070309020205020404" pitchFamily="49" charset="0"/>
              </a:rPr>
              <a:t> = new </a:t>
            </a:r>
            <a:r>
              <a:rPr lang="en-US" altLang="en-US" sz="2800" dirty="0" err="1">
                <a:latin typeface="Courier New" panose="02070309020205020404" pitchFamily="49" charset="0"/>
              </a:rPr>
              <a:t>datatype</a:t>
            </a:r>
            <a:r>
              <a:rPr lang="en-US" altLang="en-US" sz="2800" dirty="0">
                <a:latin typeface="Courier New" panose="02070309020205020404" pitchFamily="49" charset="0"/>
              </a:rPr>
              <a:t>[</a:t>
            </a:r>
            <a:r>
              <a:rPr lang="en-US" altLang="en-US" sz="2800" dirty="0" err="1">
                <a:latin typeface="Courier New" panose="02070309020205020404" pitchFamily="49" charset="0"/>
              </a:rPr>
              <a:t>arraySize</a:t>
            </a:r>
            <a:r>
              <a:rPr lang="en-US" altLang="en-US" sz="2800" dirty="0">
                <a:latin typeface="Courier New" panose="02070309020205020404" pitchFamily="49" charset="0"/>
              </a:rPr>
              <a:t>];</a:t>
            </a:r>
            <a:endParaRPr lang="en-US" altLang="en-US" dirty="0"/>
          </a:p>
          <a:p>
            <a:pPr>
              <a:buFont typeface="Monotype Sorts" pitchFamily="2" charset="2"/>
              <a:buNone/>
            </a:pPr>
            <a:r>
              <a:rPr lang="en-US" altLang="en-US" dirty="0"/>
              <a:t>(1) It creates an array using new </a:t>
            </a:r>
            <a:r>
              <a:rPr lang="en-US" altLang="en-US" dirty="0" err="1"/>
              <a:t>elementType</a:t>
            </a:r>
            <a:r>
              <a:rPr lang="en-US" altLang="en-US" dirty="0"/>
              <a:t>[</a:t>
            </a:r>
            <a:r>
              <a:rPr lang="en-US" altLang="en-US" dirty="0" err="1"/>
              <a:t>arraySize</a:t>
            </a:r>
            <a:r>
              <a:rPr lang="en-US" altLang="en-US" dirty="0"/>
              <a:t>];</a:t>
            </a:r>
          </a:p>
          <a:p>
            <a:pPr>
              <a:buFont typeface="Monotype Sorts" pitchFamily="2" charset="2"/>
              <a:buNone/>
            </a:pPr>
            <a:r>
              <a:rPr lang="en-US" altLang="en-US" dirty="0"/>
              <a:t>(2) It assigns the reference of the newly created array to the variable </a:t>
            </a:r>
            <a:r>
              <a:rPr lang="en-US" altLang="en-US" dirty="0" err="1"/>
              <a:t>arrayRefVar</a:t>
            </a:r>
            <a:r>
              <a:rPr lang="en-US" altLang="en-US" dirty="0"/>
              <a:t>.</a:t>
            </a:r>
          </a:p>
          <a:p>
            <a:pPr>
              <a:buFont typeface="Monotype Sorts" pitchFamily="2" charset="2"/>
              <a:buNone/>
            </a:pPr>
            <a:endParaRPr lang="en-US" altLang="en-US" sz="2800" dirty="0"/>
          </a:p>
          <a:p>
            <a:pPr>
              <a:buFont typeface="Monotype Sorts" pitchFamily="2" charset="2"/>
              <a:buNone/>
            </a:pPr>
            <a:r>
              <a:rPr lang="en-US" altLang="en-US" sz="2800" dirty="0"/>
              <a:t>Example:</a:t>
            </a:r>
            <a:endParaRPr lang="en-US" altLang="en-US" dirty="0"/>
          </a:p>
          <a:p>
            <a:pPr>
              <a:buFont typeface="Monotype Sorts" pitchFamily="2" charset="2"/>
              <a:buNone/>
            </a:pPr>
            <a:r>
              <a:rPr lang="en-US" altLang="en-US" sz="2600" dirty="0" err="1">
                <a:latin typeface="Courier New" panose="02070309020205020404" pitchFamily="49" charset="0"/>
              </a:rPr>
              <a:t>myList</a:t>
            </a:r>
            <a:r>
              <a:rPr lang="en-US" altLang="en-US" sz="2600" dirty="0">
                <a:latin typeface="Courier New" panose="02070309020205020404" pitchFamily="49" charset="0"/>
              </a:rPr>
              <a:t> = new double[10];</a:t>
            </a:r>
            <a:endParaRPr lang="en-US" altLang="en-US" dirty="0"/>
          </a:p>
          <a:p>
            <a:pPr>
              <a:buFont typeface="Monotype Sorts" pitchFamily="2" charset="2"/>
              <a:buNone/>
            </a:pPr>
            <a:r>
              <a:rPr lang="en-US" altLang="en-US" sz="2600" dirty="0" err="1">
                <a:latin typeface="Courier New" panose="02070309020205020404" pitchFamily="49" charset="0"/>
              </a:rPr>
              <a:t>myList</a:t>
            </a:r>
            <a:r>
              <a:rPr lang="en-US" altLang="en-US" sz="2600" dirty="0">
                <a:latin typeface="Courier New" panose="02070309020205020404" pitchFamily="49" charset="0"/>
              </a:rPr>
              <a:t>[0]</a:t>
            </a:r>
            <a:r>
              <a:rPr lang="en-US" altLang="en-US" dirty="0"/>
              <a:t> references the first element in the array.</a:t>
            </a:r>
          </a:p>
          <a:p>
            <a:pPr>
              <a:buFont typeface="Monotype Sorts" pitchFamily="2" charset="2"/>
              <a:buNone/>
            </a:pPr>
            <a:r>
              <a:rPr lang="en-US" altLang="en-US" sz="2600" dirty="0" err="1">
                <a:latin typeface="Courier New" panose="02070309020205020404" pitchFamily="49" charset="0"/>
              </a:rPr>
              <a:t>myList</a:t>
            </a:r>
            <a:r>
              <a:rPr lang="en-US" altLang="en-US" sz="2600" dirty="0">
                <a:latin typeface="Courier New" panose="02070309020205020404" pitchFamily="49" charset="0"/>
              </a:rPr>
              <a:t>[9]</a:t>
            </a:r>
            <a:r>
              <a:rPr lang="en-US" altLang="en-US" dirty="0"/>
              <a:t> references the last element in the array.</a:t>
            </a:r>
          </a:p>
        </p:txBody>
      </p:sp>
      <p:grpSp>
        <p:nvGrpSpPr>
          <p:cNvPr id="7" name="Group 6"/>
          <p:cNvGrpSpPr/>
          <p:nvPr/>
        </p:nvGrpSpPr>
        <p:grpSpPr>
          <a:xfrm>
            <a:off x="2648755" y="1073497"/>
            <a:ext cx="5428445" cy="1441103"/>
            <a:chOff x="3124200" y="1143000"/>
            <a:chExt cx="5428445" cy="1441103"/>
          </a:xfrm>
        </p:grpSpPr>
        <p:sp>
          <p:nvSpPr>
            <p:cNvPr id="5" name="Rectangle 4"/>
            <p:cNvSpPr/>
            <p:nvPr/>
          </p:nvSpPr>
          <p:spPr>
            <a:xfrm>
              <a:off x="3124200" y="2142530"/>
              <a:ext cx="762000" cy="441573"/>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Courier" pitchFamily="49" charset="0"/>
                </a:rPr>
                <a:t>new</a:t>
              </a:r>
            </a:p>
          </p:txBody>
        </p:sp>
        <p:sp>
          <p:nvSpPr>
            <p:cNvPr id="2" name="Rectangle 1"/>
            <p:cNvSpPr/>
            <p:nvPr/>
          </p:nvSpPr>
          <p:spPr>
            <a:xfrm>
              <a:off x="5181600" y="1143000"/>
              <a:ext cx="3371045" cy="92333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t>Create an array by using the new operator and assign its reference to the variable </a:t>
              </a:r>
            </a:p>
          </p:txBody>
        </p:sp>
        <p:cxnSp>
          <p:nvCxnSpPr>
            <p:cNvPr id="4" name="Straight Arrow Connector 3"/>
            <p:cNvCxnSpPr>
              <a:stCxn id="5" idx="0"/>
              <a:endCxn id="2" idx="1"/>
            </p:cNvCxnSpPr>
            <p:nvPr/>
          </p:nvCxnSpPr>
          <p:spPr>
            <a:xfrm flipV="1">
              <a:off x="3505200" y="1604665"/>
              <a:ext cx="1676400" cy="53786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46115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a:extLst>
              <a:ext uri="{FF2B5EF4-FFF2-40B4-BE49-F238E27FC236}">
                <a16:creationId xmlns:a16="http://schemas.microsoft.com/office/drawing/2014/main" id="{DE73E6D4-321D-4943-A95C-5FE7C6F7E124}"/>
              </a:ext>
            </a:extLst>
          </p:cNvPr>
          <p:cNvSpPr>
            <a:spLocks noGrp="1" noChangeArrowheads="1"/>
          </p:cNvSpPr>
          <p:nvPr>
            <p:ph type="title"/>
          </p:nvPr>
        </p:nvSpPr>
        <p:spPr>
          <a:noFill/>
        </p:spPr>
        <p:txBody>
          <a:bodyPr>
            <a:normAutofit/>
          </a:bodyPr>
          <a:lstStyle/>
          <a:p>
            <a:r>
              <a:rPr lang="en-US" altLang="en-US" sz="3600" dirty="0"/>
              <a:t>Declaring and Creating in One Step</a:t>
            </a:r>
            <a:endParaRPr lang="en-US" altLang="en-US" sz="3200" dirty="0"/>
          </a:p>
        </p:txBody>
      </p:sp>
      <p:sp>
        <p:nvSpPr>
          <p:cNvPr id="13316" name="Rectangle 3">
            <a:extLst>
              <a:ext uri="{FF2B5EF4-FFF2-40B4-BE49-F238E27FC236}">
                <a16:creationId xmlns:a16="http://schemas.microsoft.com/office/drawing/2014/main" id="{262CF0DF-212B-49C1-A64F-5C16C00C2A8C}"/>
              </a:ext>
            </a:extLst>
          </p:cNvPr>
          <p:cNvSpPr>
            <a:spLocks noGrp="1" noChangeArrowheads="1"/>
          </p:cNvSpPr>
          <p:nvPr>
            <p:ph idx="1"/>
          </p:nvPr>
        </p:nvSpPr>
        <p:spPr>
          <a:xfrm>
            <a:off x="152400" y="1600200"/>
            <a:ext cx="8839200" cy="5029200"/>
          </a:xfrm>
        </p:spPr>
        <p:txBody>
          <a:bodyPr/>
          <a:lstStyle/>
          <a:p>
            <a:pPr>
              <a:defRPr/>
            </a:pPr>
            <a:r>
              <a:rPr lang="en-US" sz="2000" dirty="0" err="1">
                <a:latin typeface="Courier New" pitchFamily="49" charset="0"/>
              </a:rPr>
              <a:t>datatype</a:t>
            </a:r>
            <a:r>
              <a:rPr lang="en-US" sz="2000" dirty="0">
                <a:latin typeface="Courier New" pitchFamily="49" charset="0"/>
              </a:rPr>
              <a:t>[] </a:t>
            </a:r>
            <a:r>
              <a:rPr lang="en-US" sz="2000" dirty="0" err="1">
                <a:latin typeface="Courier New" pitchFamily="49" charset="0"/>
              </a:rPr>
              <a:t>arrayRefVar</a:t>
            </a:r>
            <a:r>
              <a:rPr lang="en-US" sz="2000" dirty="0">
                <a:latin typeface="Courier New" pitchFamily="49" charset="0"/>
              </a:rPr>
              <a:t> = new  </a:t>
            </a:r>
            <a:r>
              <a:rPr lang="en-US" sz="2000" dirty="0" err="1">
                <a:latin typeface="Courier New" pitchFamily="49" charset="0"/>
              </a:rPr>
              <a:t>datatype</a:t>
            </a:r>
            <a:r>
              <a:rPr lang="en-US" sz="2000" dirty="0">
                <a:latin typeface="Courier New" pitchFamily="49" charset="0"/>
              </a:rPr>
              <a:t>[</a:t>
            </a:r>
            <a:r>
              <a:rPr lang="en-US" sz="2000" dirty="0" err="1">
                <a:latin typeface="Courier New" pitchFamily="49" charset="0"/>
              </a:rPr>
              <a:t>arraySize</a:t>
            </a:r>
            <a:r>
              <a:rPr lang="en-US" sz="2000" dirty="0">
                <a:latin typeface="Courier New" pitchFamily="49" charset="0"/>
              </a:rPr>
              <a:t>];</a:t>
            </a:r>
          </a:p>
          <a:p>
            <a:pPr algn="ctr">
              <a:spcBef>
                <a:spcPct val="75000"/>
              </a:spcBef>
              <a:buFont typeface="Monotype Sorts" pitchFamily="2" charset="2"/>
              <a:buNone/>
              <a:defRPr/>
            </a:pPr>
            <a:r>
              <a:rPr lang="en-US" sz="2800" dirty="0">
                <a:latin typeface="Courier New" pitchFamily="49" charset="0"/>
              </a:rPr>
              <a:t> 	</a:t>
            </a:r>
            <a:r>
              <a:rPr lang="en-US" sz="2000" b="1" dirty="0">
                <a:latin typeface="Courier New" pitchFamily="49" charset="0"/>
              </a:rPr>
              <a:t>double[] </a:t>
            </a:r>
            <a:r>
              <a:rPr lang="en-US" sz="2000" b="1" dirty="0" err="1">
                <a:latin typeface="Courier New" pitchFamily="49" charset="0"/>
              </a:rPr>
              <a:t>myList</a:t>
            </a:r>
            <a:r>
              <a:rPr lang="en-US" sz="2000" b="1" dirty="0">
                <a:latin typeface="Courier New" pitchFamily="49" charset="0"/>
              </a:rPr>
              <a:t> = new double[10];</a:t>
            </a:r>
            <a:endParaRPr lang="en-US" sz="2400" b="1" dirty="0">
              <a:latin typeface="Courier New" pitchFamily="49" charset="0"/>
            </a:endParaRPr>
          </a:p>
          <a:p>
            <a:pPr>
              <a:spcBef>
                <a:spcPct val="150000"/>
              </a:spcBef>
              <a:defRPr/>
            </a:pPr>
            <a:r>
              <a:rPr lang="en-US" sz="2000" dirty="0" err="1">
                <a:latin typeface="Courier New" pitchFamily="49" charset="0"/>
              </a:rPr>
              <a:t>datatype</a:t>
            </a:r>
            <a:r>
              <a:rPr lang="en-US" sz="2000" dirty="0">
                <a:latin typeface="Courier New" pitchFamily="49" charset="0"/>
              </a:rPr>
              <a:t> </a:t>
            </a:r>
            <a:r>
              <a:rPr lang="en-US" sz="2000" dirty="0" err="1">
                <a:latin typeface="Courier New" pitchFamily="49" charset="0"/>
              </a:rPr>
              <a:t>arrayRefVar</a:t>
            </a:r>
            <a:r>
              <a:rPr lang="en-US" sz="2000" dirty="0">
                <a:latin typeface="Courier New" pitchFamily="49" charset="0"/>
              </a:rPr>
              <a:t>[] = new </a:t>
            </a:r>
            <a:r>
              <a:rPr lang="en-US" sz="2000" dirty="0" err="1">
                <a:latin typeface="Courier New" pitchFamily="49" charset="0"/>
              </a:rPr>
              <a:t>datatype</a:t>
            </a:r>
            <a:r>
              <a:rPr lang="en-US" sz="2000" dirty="0">
                <a:latin typeface="Courier New" pitchFamily="49" charset="0"/>
              </a:rPr>
              <a:t>[</a:t>
            </a:r>
            <a:r>
              <a:rPr lang="en-US" sz="2000" dirty="0" err="1">
                <a:latin typeface="Courier New" pitchFamily="49" charset="0"/>
              </a:rPr>
              <a:t>arraySize</a:t>
            </a:r>
            <a:r>
              <a:rPr lang="en-US" sz="2000" dirty="0">
                <a:latin typeface="Courier New" pitchFamily="49" charset="0"/>
              </a:rPr>
              <a:t>];</a:t>
            </a:r>
          </a:p>
          <a:p>
            <a:pPr marL="0" indent="0">
              <a:spcBef>
                <a:spcPct val="150000"/>
              </a:spcBef>
              <a:buNone/>
              <a:defRPr/>
            </a:pPr>
            <a:r>
              <a:rPr lang="en-US" sz="2000" b="1" dirty="0">
                <a:latin typeface="Courier New" pitchFamily="49" charset="0"/>
              </a:rPr>
              <a:t>   double </a:t>
            </a:r>
            <a:r>
              <a:rPr lang="en-US" sz="2000" b="1" dirty="0" err="1">
                <a:latin typeface="Courier New" pitchFamily="49" charset="0"/>
              </a:rPr>
              <a:t>myList</a:t>
            </a:r>
            <a:r>
              <a:rPr lang="en-US" sz="2000" b="1" dirty="0">
                <a:latin typeface="Courier New" pitchFamily="49" charset="0"/>
              </a:rPr>
              <a:t>[] = new double[10];</a:t>
            </a:r>
            <a:endParaRPr lang="en-US" b="1" dirty="0">
              <a:latin typeface="Courier New" pitchFamily="49" charset="0"/>
            </a:endParaRPr>
          </a:p>
          <a:p>
            <a:pPr>
              <a:spcBef>
                <a:spcPct val="75000"/>
              </a:spcBef>
              <a:defRPr/>
            </a:pPr>
            <a:r>
              <a:rPr lang="en-US" sz="2400" dirty="0">
                <a:latin typeface="+mj-lt"/>
              </a:rPr>
              <a:t>To assign values to the elements:</a:t>
            </a:r>
          </a:p>
          <a:p>
            <a:pPr marL="0" indent="0">
              <a:spcBef>
                <a:spcPct val="75000"/>
              </a:spcBef>
              <a:buNone/>
              <a:defRPr/>
            </a:pPr>
            <a:r>
              <a:rPr lang="en-US" sz="2400" dirty="0">
                <a:latin typeface="+mj-lt"/>
              </a:rPr>
              <a:t>      </a:t>
            </a:r>
            <a:r>
              <a:rPr lang="en-US" sz="2400" b="1" dirty="0" err="1">
                <a:latin typeface="Courier" pitchFamily="49" charset="0"/>
              </a:rPr>
              <a:t>arrayRefVar</a:t>
            </a:r>
            <a:r>
              <a:rPr lang="en-US" sz="2400" b="1" dirty="0">
                <a:latin typeface="Courier" pitchFamily="49" charset="0"/>
              </a:rPr>
              <a:t>[index] = value;</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72199" y="3657600"/>
            <a:ext cx="2788703" cy="297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804365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Creating Arrays</a:t>
            </a:r>
            <a:endParaRPr lang="en-US" dirty="0"/>
          </a:p>
        </p:txBody>
      </p:sp>
      <p:sp>
        <p:nvSpPr>
          <p:cNvPr id="3" name="Content Placeholder 2"/>
          <p:cNvSpPr>
            <a:spLocks noGrp="1"/>
          </p:cNvSpPr>
          <p:nvPr>
            <p:ph idx="1"/>
          </p:nvPr>
        </p:nvSpPr>
        <p:spPr/>
        <p:txBody>
          <a:bodyPr/>
          <a:lstStyle/>
          <a:p>
            <a:endParaRPr lang="en-US"/>
          </a:p>
        </p:txBody>
      </p:sp>
      <p:pic>
        <p:nvPicPr>
          <p:cNvPr id="4" name="Picture 8">
            <a:extLst>
              <a:ext uri="{FF2B5EF4-FFF2-40B4-BE49-F238E27FC236}">
                <a16:creationId xmlns:a16="http://schemas.microsoft.com/office/drawing/2014/main" id="{BEAF8416-71E8-45AD-B9FB-3653B15920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676400"/>
            <a:ext cx="8170863" cy="4302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extLst>
      <p:ext uri="{BB962C8B-B14F-4D97-AF65-F5344CB8AC3E}">
        <p14:creationId xmlns:p14="http://schemas.microsoft.com/office/powerpoint/2010/main" val="23709392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a:extLst>
              <a:ext uri="{FF2B5EF4-FFF2-40B4-BE49-F238E27FC236}">
                <a16:creationId xmlns:a16="http://schemas.microsoft.com/office/drawing/2014/main" id="{4A179533-C13D-482F-95DC-8EDE1A040638}"/>
              </a:ext>
            </a:extLst>
          </p:cNvPr>
          <p:cNvSpPr>
            <a:spLocks noGrp="1" noChangeArrowheads="1"/>
          </p:cNvSpPr>
          <p:nvPr>
            <p:ph type="title"/>
          </p:nvPr>
        </p:nvSpPr>
        <p:spPr>
          <a:xfrm>
            <a:off x="685800" y="0"/>
            <a:ext cx="7772400" cy="1428750"/>
          </a:xfrm>
          <a:noFill/>
        </p:spPr>
        <p:txBody>
          <a:bodyPr/>
          <a:lstStyle/>
          <a:p>
            <a:r>
              <a:rPr lang="en-US" altLang="en-US"/>
              <a:t>The Length of an Array</a:t>
            </a:r>
          </a:p>
        </p:txBody>
      </p:sp>
      <p:sp>
        <p:nvSpPr>
          <p:cNvPr id="10244" name="Rectangle 3">
            <a:extLst>
              <a:ext uri="{FF2B5EF4-FFF2-40B4-BE49-F238E27FC236}">
                <a16:creationId xmlns:a16="http://schemas.microsoft.com/office/drawing/2014/main" id="{DD7B30E6-F641-4758-ADD4-F3F759B7E86A}"/>
              </a:ext>
            </a:extLst>
          </p:cNvPr>
          <p:cNvSpPr>
            <a:spLocks noGrp="1" noChangeArrowheads="1"/>
          </p:cNvSpPr>
          <p:nvPr>
            <p:ph type="body" idx="1"/>
          </p:nvPr>
        </p:nvSpPr>
        <p:spPr>
          <a:xfrm>
            <a:off x="228600" y="1447800"/>
            <a:ext cx="8686800" cy="4114800"/>
          </a:xfrm>
          <a:noFill/>
        </p:spPr>
        <p:txBody>
          <a:bodyPr/>
          <a:lstStyle/>
          <a:p>
            <a:pPr marL="0" indent="0" algn="just">
              <a:buFont typeface="Monotype Sorts" pitchFamily="2" charset="2"/>
              <a:buNone/>
            </a:pPr>
            <a:r>
              <a:rPr lang="en-US" altLang="en-US" sz="3000"/>
              <a:t>Once an array is created, its size is fixed. It cannot be changed. You can find its size using</a:t>
            </a:r>
          </a:p>
          <a:p>
            <a:pPr marL="0" indent="0" algn="just">
              <a:buFont typeface="Monotype Sorts" pitchFamily="2" charset="2"/>
              <a:buNone/>
            </a:pPr>
            <a:endParaRPr lang="en-US" altLang="en-US"/>
          </a:p>
          <a:p>
            <a:pPr lvl="2" algn="just">
              <a:buFont typeface="Monotype Sorts" pitchFamily="2" charset="2"/>
              <a:buNone/>
            </a:pPr>
            <a:r>
              <a:rPr lang="en-US" altLang="en-US"/>
              <a:t>arrayRefVar.length</a:t>
            </a:r>
          </a:p>
          <a:p>
            <a:pPr lvl="2" algn="just">
              <a:buFont typeface="Monotype Sorts" pitchFamily="2" charset="2"/>
              <a:buNone/>
            </a:pPr>
            <a:endParaRPr lang="en-US" altLang="en-US"/>
          </a:p>
          <a:p>
            <a:pPr marL="0" indent="0" algn="just">
              <a:buFont typeface="Monotype Sorts" pitchFamily="2" charset="2"/>
              <a:buNone/>
            </a:pPr>
            <a:r>
              <a:rPr lang="en-US" altLang="en-US"/>
              <a:t>For example,</a:t>
            </a:r>
          </a:p>
          <a:p>
            <a:pPr marL="0" indent="0" algn="just">
              <a:buFont typeface="Monotype Sorts" pitchFamily="2" charset="2"/>
              <a:buNone/>
            </a:pPr>
            <a:endParaRPr lang="en-US" altLang="en-US"/>
          </a:p>
          <a:p>
            <a:pPr lvl="2" algn="just">
              <a:buFont typeface="Monotype Sorts" pitchFamily="2" charset="2"/>
              <a:buNone/>
            </a:pPr>
            <a:r>
              <a:rPr lang="en-US" altLang="en-US"/>
              <a:t>myList.length returns 10</a:t>
            </a:r>
          </a:p>
        </p:txBody>
      </p:sp>
    </p:spTree>
    <p:extLst>
      <p:ext uri="{BB962C8B-B14F-4D97-AF65-F5344CB8AC3E}">
        <p14:creationId xmlns:p14="http://schemas.microsoft.com/office/powerpoint/2010/main" val="31031990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a:extLst>
              <a:ext uri="{FF2B5EF4-FFF2-40B4-BE49-F238E27FC236}">
                <a16:creationId xmlns:a16="http://schemas.microsoft.com/office/drawing/2014/main" id="{D8B23C68-44A2-4FF7-962D-D5DC2778463F}"/>
              </a:ext>
            </a:extLst>
          </p:cNvPr>
          <p:cNvSpPr>
            <a:spLocks noGrp="1" noChangeArrowheads="1"/>
          </p:cNvSpPr>
          <p:nvPr>
            <p:ph type="title"/>
          </p:nvPr>
        </p:nvSpPr>
        <p:spPr>
          <a:xfrm>
            <a:off x="685800" y="152400"/>
            <a:ext cx="7772400" cy="590550"/>
          </a:xfrm>
          <a:noFill/>
        </p:spPr>
        <p:txBody>
          <a:bodyPr>
            <a:normAutofit fontScale="90000"/>
          </a:bodyPr>
          <a:lstStyle/>
          <a:p>
            <a:r>
              <a:rPr lang="en-US" altLang="en-US"/>
              <a:t>Default Values</a:t>
            </a:r>
          </a:p>
        </p:txBody>
      </p:sp>
      <p:sp>
        <p:nvSpPr>
          <p:cNvPr id="11268" name="Rectangle 3">
            <a:extLst>
              <a:ext uri="{FF2B5EF4-FFF2-40B4-BE49-F238E27FC236}">
                <a16:creationId xmlns:a16="http://schemas.microsoft.com/office/drawing/2014/main" id="{AD919FA2-8B68-4AA9-99D1-D5CACEE805BB}"/>
              </a:ext>
            </a:extLst>
          </p:cNvPr>
          <p:cNvSpPr>
            <a:spLocks noGrp="1" noChangeArrowheads="1"/>
          </p:cNvSpPr>
          <p:nvPr>
            <p:ph type="body" idx="1"/>
          </p:nvPr>
        </p:nvSpPr>
        <p:spPr>
          <a:xfrm>
            <a:off x="228600" y="990600"/>
            <a:ext cx="8610600" cy="4572000"/>
          </a:xfrm>
          <a:noFill/>
        </p:spPr>
        <p:txBody>
          <a:bodyPr/>
          <a:lstStyle/>
          <a:p>
            <a:pPr marL="0" indent="0" algn="just">
              <a:buFont typeface="Monotype Sorts" pitchFamily="2" charset="2"/>
              <a:buNone/>
            </a:pPr>
            <a:r>
              <a:rPr lang="en-US" altLang="en-US" sz="3400" dirty="0">
                <a:cs typeface="Courier New" panose="02070309020205020404" pitchFamily="49" charset="0"/>
              </a:rPr>
              <a:t>When an array is created, its elements are assigned the default value of </a:t>
            </a:r>
          </a:p>
          <a:p>
            <a:pPr marL="0" indent="0" algn="just">
              <a:buFont typeface="Monotype Sorts" pitchFamily="2" charset="2"/>
              <a:buNone/>
            </a:pPr>
            <a:endParaRPr lang="en-US" altLang="en-US" sz="3400" dirty="0">
              <a:cs typeface="Courier New" panose="02070309020205020404" pitchFamily="49" charset="0"/>
            </a:endParaRPr>
          </a:p>
          <a:p>
            <a:pPr lvl="1" algn="just">
              <a:buFontTx/>
              <a:buNone/>
            </a:pPr>
            <a:r>
              <a:rPr lang="en-US" altLang="en-US" sz="3000" u="sng" dirty="0">
                <a:cs typeface="Courier New" panose="02070309020205020404" pitchFamily="49" charset="0"/>
              </a:rPr>
              <a:t>0</a:t>
            </a:r>
            <a:r>
              <a:rPr lang="en-US" altLang="en-US" sz="3000" dirty="0">
                <a:cs typeface="Courier New" panose="02070309020205020404" pitchFamily="49" charset="0"/>
              </a:rPr>
              <a:t> for the numeric primitive data types, </a:t>
            </a:r>
          </a:p>
          <a:p>
            <a:pPr lvl="1" algn="just">
              <a:buFontTx/>
              <a:buNone/>
            </a:pPr>
            <a:r>
              <a:rPr lang="en-US" altLang="en-US" sz="3000" u="sng" dirty="0">
                <a:cs typeface="Courier New" panose="02070309020205020404" pitchFamily="49" charset="0"/>
              </a:rPr>
              <a:t>'\u0000'</a:t>
            </a:r>
            <a:r>
              <a:rPr lang="en-US" altLang="en-US" sz="3000" dirty="0">
                <a:cs typeface="Courier New" panose="02070309020205020404" pitchFamily="49" charset="0"/>
              </a:rPr>
              <a:t> for </a:t>
            </a:r>
            <a:r>
              <a:rPr lang="en-US" altLang="en-US" sz="3000" u="sng" dirty="0">
                <a:cs typeface="Courier New" panose="02070309020205020404" pitchFamily="49" charset="0"/>
              </a:rPr>
              <a:t>char</a:t>
            </a:r>
            <a:r>
              <a:rPr lang="en-US" altLang="en-US" sz="3000" dirty="0">
                <a:cs typeface="Courier New" panose="02070309020205020404" pitchFamily="49" charset="0"/>
              </a:rPr>
              <a:t> types, and </a:t>
            </a:r>
          </a:p>
          <a:p>
            <a:pPr lvl="1" algn="just">
              <a:buFontTx/>
              <a:buNone/>
            </a:pPr>
            <a:r>
              <a:rPr lang="en-US" altLang="en-US" sz="3000" u="sng" dirty="0">
                <a:cs typeface="Courier New" panose="02070309020205020404" pitchFamily="49" charset="0"/>
              </a:rPr>
              <a:t>false</a:t>
            </a:r>
            <a:r>
              <a:rPr lang="en-US" altLang="en-US" sz="3000" dirty="0">
                <a:cs typeface="Courier New" panose="02070309020205020404" pitchFamily="49" charset="0"/>
              </a:rPr>
              <a:t> for </a:t>
            </a:r>
            <a:r>
              <a:rPr lang="en-US" altLang="en-US" sz="3000" u="sng" dirty="0" err="1">
                <a:cs typeface="Courier New" panose="02070309020205020404" pitchFamily="49" charset="0"/>
              </a:rPr>
              <a:t>boolean</a:t>
            </a:r>
            <a:r>
              <a:rPr lang="en-US" altLang="en-US" sz="3000" dirty="0">
                <a:cs typeface="Courier New" panose="02070309020205020404" pitchFamily="49" charset="0"/>
              </a:rPr>
              <a:t> types. </a:t>
            </a:r>
            <a:endParaRPr lang="en-US" altLang="en-US" sz="3200" dirty="0"/>
          </a:p>
        </p:txBody>
      </p:sp>
    </p:spTree>
    <p:extLst>
      <p:ext uri="{BB962C8B-B14F-4D97-AF65-F5344CB8AC3E}">
        <p14:creationId xmlns:p14="http://schemas.microsoft.com/office/powerpoint/2010/main" val="29262274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a:extLst>
              <a:ext uri="{FF2B5EF4-FFF2-40B4-BE49-F238E27FC236}">
                <a16:creationId xmlns:a16="http://schemas.microsoft.com/office/drawing/2014/main" id="{8F0C0683-CF4B-4B53-9BE5-C5A804F2574D}"/>
              </a:ext>
            </a:extLst>
          </p:cNvPr>
          <p:cNvSpPr>
            <a:spLocks noGrp="1" noChangeArrowheads="1"/>
          </p:cNvSpPr>
          <p:nvPr>
            <p:ph type="title"/>
          </p:nvPr>
        </p:nvSpPr>
        <p:spPr>
          <a:xfrm>
            <a:off x="685800" y="152400"/>
            <a:ext cx="7772400" cy="609600"/>
          </a:xfrm>
          <a:noFill/>
        </p:spPr>
        <p:txBody>
          <a:bodyPr>
            <a:normAutofit fontScale="90000"/>
          </a:bodyPr>
          <a:lstStyle/>
          <a:p>
            <a:r>
              <a:rPr lang="en-US" altLang="en-US"/>
              <a:t>Indexed Variables</a:t>
            </a:r>
          </a:p>
        </p:txBody>
      </p:sp>
      <p:sp>
        <p:nvSpPr>
          <p:cNvPr id="12292" name="Rectangle 3">
            <a:extLst>
              <a:ext uri="{FF2B5EF4-FFF2-40B4-BE49-F238E27FC236}">
                <a16:creationId xmlns:a16="http://schemas.microsoft.com/office/drawing/2014/main" id="{3128DE77-236C-4663-8142-89AED612EEC6}"/>
              </a:ext>
            </a:extLst>
          </p:cNvPr>
          <p:cNvSpPr>
            <a:spLocks noGrp="1" noChangeArrowheads="1"/>
          </p:cNvSpPr>
          <p:nvPr>
            <p:ph type="body" idx="1"/>
          </p:nvPr>
        </p:nvSpPr>
        <p:spPr>
          <a:xfrm>
            <a:off x="228600" y="914400"/>
            <a:ext cx="8686800" cy="5486400"/>
          </a:xfrm>
          <a:noFill/>
        </p:spPr>
        <p:txBody>
          <a:bodyPr/>
          <a:lstStyle/>
          <a:p>
            <a:pPr marL="0" indent="0" algn="just">
              <a:buFont typeface="Monotype Sorts" pitchFamily="2" charset="2"/>
              <a:buNone/>
            </a:pPr>
            <a:r>
              <a:rPr lang="en-US" altLang="en-US" sz="3000">
                <a:cs typeface="Courier New" panose="02070309020205020404" pitchFamily="49" charset="0"/>
              </a:rPr>
              <a:t>The array elements are accessed through the index. The array indices are </a:t>
            </a:r>
            <a:r>
              <a:rPr lang="en-US" altLang="en-US" sz="3000" i="1">
                <a:cs typeface="Courier New" panose="02070309020205020404" pitchFamily="49" charset="0"/>
              </a:rPr>
              <a:t>0-based</a:t>
            </a:r>
            <a:r>
              <a:rPr lang="en-US" altLang="en-US" sz="3000">
                <a:cs typeface="Courier New" panose="02070309020205020404" pitchFamily="49" charset="0"/>
              </a:rPr>
              <a:t>, i.e., it starts from 0 to arrayRefVar.length-1. In the example in Figure 6.1, myList holds ten double values and the indices are from 0 to 9.</a:t>
            </a:r>
          </a:p>
          <a:p>
            <a:pPr marL="0" indent="0" algn="just">
              <a:buFont typeface="Monotype Sorts" pitchFamily="2" charset="2"/>
              <a:buNone/>
            </a:pPr>
            <a:endParaRPr lang="en-US" altLang="en-US" sz="3000">
              <a:cs typeface="Times New Roman" panose="02020603050405020304" pitchFamily="18" charset="0"/>
            </a:endParaRPr>
          </a:p>
          <a:p>
            <a:pPr marL="0" indent="0" algn="just">
              <a:buFont typeface="Monotype Sorts" pitchFamily="2" charset="2"/>
              <a:buNone/>
            </a:pPr>
            <a:r>
              <a:rPr lang="en-US" altLang="en-US" sz="3000">
                <a:cs typeface="Courier New" panose="02070309020205020404" pitchFamily="49" charset="0"/>
              </a:rPr>
              <a:t>Each element in the array is represented using the following syntax, known as an </a:t>
            </a:r>
            <a:r>
              <a:rPr lang="en-US" altLang="en-US" sz="3000" i="1">
                <a:cs typeface="Courier New" panose="02070309020205020404" pitchFamily="49" charset="0"/>
              </a:rPr>
              <a:t>indexed variable</a:t>
            </a:r>
            <a:r>
              <a:rPr lang="en-US" altLang="en-US" sz="3000">
                <a:cs typeface="Courier New" panose="02070309020205020404" pitchFamily="49" charset="0"/>
              </a:rPr>
              <a:t>:</a:t>
            </a:r>
          </a:p>
          <a:p>
            <a:pPr marL="0" indent="0" algn="just">
              <a:buFont typeface="Monotype Sorts" pitchFamily="2" charset="2"/>
              <a:buNone/>
            </a:pPr>
            <a:endParaRPr lang="en-US" altLang="en-US" sz="3000">
              <a:cs typeface="Times New Roman" panose="02020603050405020304" pitchFamily="18" charset="0"/>
            </a:endParaRPr>
          </a:p>
          <a:p>
            <a:pPr lvl="1" algn="just">
              <a:buFontTx/>
              <a:buNone/>
            </a:pPr>
            <a:r>
              <a:rPr lang="en-US" altLang="en-US" sz="2600">
                <a:cs typeface="Courier New" panose="02070309020205020404" pitchFamily="49" charset="0"/>
              </a:rPr>
              <a:t>arrayRefVar[index];</a:t>
            </a:r>
            <a:endParaRPr lang="en-US" altLang="en-US" sz="2600">
              <a:cs typeface="Times New Roman" panose="02020603050405020304" pitchFamily="18" charset="0"/>
            </a:endParaRPr>
          </a:p>
        </p:txBody>
      </p:sp>
    </p:spTree>
    <p:extLst>
      <p:ext uri="{BB962C8B-B14F-4D97-AF65-F5344CB8AC3E}">
        <p14:creationId xmlns:p14="http://schemas.microsoft.com/office/powerpoint/2010/main" val="12777855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a:extLst>
              <a:ext uri="{FF2B5EF4-FFF2-40B4-BE49-F238E27FC236}">
                <a16:creationId xmlns:a16="http://schemas.microsoft.com/office/drawing/2014/main" id="{ECEC45E0-8EF1-434C-B847-47BB70E0A60E}"/>
              </a:ext>
            </a:extLst>
          </p:cNvPr>
          <p:cNvSpPr>
            <a:spLocks noGrp="1" noChangeArrowheads="1"/>
          </p:cNvSpPr>
          <p:nvPr>
            <p:ph type="title"/>
          </p:nvPr>
        </p:nvSpPr>
        <p:spPr>
          <a:xfrm>
            <a:off x="685800" y="152400"/>
            <a:ext cx="7772400" cy="609600"/>
          </a:xfrm>
          <a:noFill/>
        </p:spPr>
        <p:txBody>
          <a:bodyPr>
            <a:normAutofit fontScale="90000"/>
          </a:bodyPr>
          <a:lstStyle/>
          <a:p>
            <a:r>
              <a:rPr lang="en-US" altLang="en-US"/>
              <a:t>Using Indexed Variables</a:t>
            </a:r>
          </a:p>
        </p:txBody>
      </p:sp>
      <p:sp>
        <p:nvSpPr>
          <p:cNvPr id="13316" name="Rectangle 3">
            <a:extLst>
              <a:ext uri="{FF2B5EF4-FFF2-40B4-BE49-F238E27FC236}">
                <a16:creationId xmlns:a16="http://schemas.microsoft.com/office/drawing/2014/main" id="{A5FC74C5-C7BF-4326-B15B-5275E1E49493}"/>
              </a:ext>
            </a:extLst>
          </p:cNvPr>
          <p:cNvSpPr>
            <a:spLocks noGrp="1" noChangeArrowheads="1"/>
          </p:cNvSpPr>
          <p:nvPr>
            <p:ph type="body" idx="1"/>
          </p:nvPr>
        </p:nvSpPr>
        <p:spPr>
          <a:xfrm>
            <a:off x="228600" y="914400"/>
            <a:ext cx="8686800" cy="5486400"/>
          </a:xfrm>
          <a:noFill/>
        </p:spPr>
        <p:txBody>
          <a:bodyPr/>
          <a:lstStyle/>
          <a:p>
            <a:pPr marL="0" indent="0" algn="just">
              <a:buFont typeface="Monotype Sorts" pitchFamily="2" charset="2"/>
              <a:buNone/>
            </a:pPr>
            <a:r>
              <a:rPr lang="en-US" altLang="en-US" sz="3400">
                <a:cs typeface="Courier New" panose="02070309020205020404" pitchFamily="49" charset="0"/>
              </a:rPr>
              <a:t>After an array is created, an indexed variable can be used in the same way as a regular variable. For example, the following code adds the value in myList[0] and myList[1] to myList[2].</a:t>
            </a:r>
          </a:p>
          <a:p>
            <a:pPr marL="0" indent="0" algn="just">
              <a:buFont typeface="Monotype Sorts" pitchFamily="2" charset="2"/>
              <a:buNone/>
            </a:pPr>
            <a:endParaRPr lang="en-US" altLang="en-US" sz="3400">
              <a:cs typeface="Courier New" panose="02070309020205020404" pitchFamily="49" charset="0"/>
            </a:endParaRPr>
          </a:p>
          <a:p>
            <a:pPr lvl="1" algn="just">
              <a:buFontTx/>
              <a:buNone/>
            </a:pPr>
            <a:r>
              <a:rPr lang="en-US" altLang="en-US" sz="2600">
                <a:latin typeface="Courier New" panose="02070309020205020404" pitchFamily="49" charset="0"/>
                <a:cs typeface="Courier New" panose="02070309020205020404" pitchFamily="49" charset="0"/>
              </a:rPr>
              <a:t>myList[2] = myList[0] + myList[1];</a:t>
            </a:r>
            <a:endParaRPr lang="en-US" altLang="en-US" sz="2600">
              <a:cs typeface="Courier New" panose="02070309020205020404" pitchFamily="49" charset="0"/>
            </a:endParaRPr>
          </a:p>
        </p:txBody>
      </p:sp>
    </p:spTree>
    <p:extLst>
      <p:ext uri="{BB962C8B-B14F-4D97-AF65-F5344CB8AC3E}">
        <p14:creationId xmlns:p14="http://schemas.microsoft.com/office/powerpoint/2010/main" val="39251761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a:extLst>
              <a:ext uri="{FF2B5EF4-FFF2-40B4-BE49-F238E27FC236}">
                <a16:creationId xmlns:a16="http://schemas.microsoft.com/office/drawing/2014/main" id="{B8C6880B-78DA-47A3-91E4-1AFDACF042B9}"/>
              </a:ext>
            </a:extLst>
          </p:cNvPr>
          <p:cNvSpPr>
            <a:spLocks noGrp="1" noChangeArrowheads="1"/>
          </p:cNvSpPr>
          <p:nvPr>
            <p:ph type="title"/>
          </p:nvPr>
        </p:nvSpPr>
        <p:spPr>
          <a:xfrm>
            <a:off x="685800" y="228600"/>
            <a:ext cx="7772400" cy="990600"/>
          </a:xfrm>
          <a:noFill/>
        </p:spPr>
        <p:txBody>
          <a:bodyPr>
            <a:normAutofit fontScale="90000"/>
          </a:bodyPr>
          <a:lstStyle/>
          <a:p>
            <a:r>
              <a:rPr lang="en-US" altLang="en-US" sz="4000"/>
              <a:t>Declaring, creating, initializing Using the Shorthand Notation</a:t>
            </a:r>
          </a:p>
        </p:txBody>
      </p:sp>
      <p:sp>
        <p:nvSpPr>
          <p:cNvPr id="15364" name="Rectangle 3">
            <a:extLst>
              <a:ext uri="{FF2B5EF4-FFF2-40B4-BE49-F238E27FC236}">
                <a16:creationId xmlns:a16="http://schemas.microsoft.com/office/drawing/2014/main" id="{65DFCBB6-67A4-4B1B-AFEF-A2233D9946AC}"/>
              </a:ext>
            </a:extLst>
          </p:cNvPr>
          <p:cNvSpPr>
            <a:spLocks noGrp="1" noChangeArrowheads="1"/>
          </p:cNvSpPr>
          <p:nvPr>
            <p:ph type="body" idx="1"/>
          </p:nvPr>
        </p:nvSpPr>
        <p:spPr>
          <a:xfrm>
            <a:off x="457200" y="1600200"/>
            <a:ext cx="8305800" cy="4419600"/>
          </a:xfrm>
          <a:noFill/>
        </p:spPr>
        <p:txBody>
          <a:bodyPr>
            <a:normAutofit fontScale="92500" lnSpcReduction="10000"/>
          </a:bodyPr>
          <a:lstStyle/>
          <a:p>
            <a:pPr marL="0" indent="0">
              <a:spcBef>
                <a:spcPct val="50000"/>
              </a:spcBef>
              <a:buFont typeface="Monotype Sorts" pitchFamily="2" charset="2"/>
              <a:buNone/>
            </a:pPr>
            <a:r>
              <a:rPr lang="en-US" altLang="en-US" sz="2400" dirty="0">
                <a:latin typeface="Courier New" panose="02070309020205020404" pitchFamily="49" charset="0"/>
              </a:rPr>
              <a:t>double[] </a:t>
            </a:r>
            <a:r>
              <a:rPr lang="en-US" altLang="en-US" sz="2400" dirty="0" err="1">
                <a:latin typeface="Courier New" panose="02070309020205020404" pitchFamily="49" charset="0"/>
              </a:rPr>
              <a:t>myList</a:t>
            </a:r>
            <a:r>
              <a:rPr lang="en-US" altLang="en-US" sz="2400" dirty="0">
                <a:latin typeface="Courier New" panose="02070309020205020404" pitchFamily="49" charset="0"/>
              </a:rPr>
              <a:t> = {1.9, 2.9, 3.4, 3.5};</a:t>
            </a:r>
          </a:p>
          <a:p>
            <a:pPr marL="0" indent="0">
              <a:spcBef>
                <a:spcPct val="50000"/>
              </a:spcBef>
              <a:buNone/>
            </a:pPr>
            <a:r>
              <a:rPr lang="en-US" altLang="en-US" sz="2400" dirty="0"/>
              <a:t>- This shorthand syntax must be in one statement.</a:t>
            </a:r>
          </a:p>
          <a:p>
            <a:pPr marL="0" indent="0">
              <a:spcBef>
                <a:spcPct val="50000"/>
              </a:spcBef>
              <a:buFont typeface="Monotype Sorts" pitchFamily="2" charset="2"/>
              <a:buNone/>
            </a:pPr>
            <a:r>
              <a:rPr lang="en-US" altLang="en-US" dirty="0">
                <a:cs typeface="Times New Roman" panose="02020603050405020304" pitchFamily="18" charset="0"/>
              </a:rPr>
              <a:t>This shorthand notation is equivalent to the following statements:</a:t>
            </a:r>
          </a:p>
          <a:p>
            <a:pPr marL="0" indent="0">
              <a:spcBef>
                <a:spcPct val="50000"/>
              </a:spcBef>
              <a:buFont typeface="Monotype Sorts" pitchFamily="2" charset="2"/>
              <a:buNone/>
            </a:pPr>
            <a:r>
              <a:rPr lang="en-US" altLang="en-US" sz="2400" dirty="0">
                <a:latin typeface="Courier New" panose="02070309020205020404" pitchFamily="49" charset="0"/>
              </a:rPr>
              <a:t>double[] </a:t>
            </a:r>
            <a:r>
              <a:rPr lang="en-US" altLang="en-US" sz="2400" dirty="0" err="1">
                <a:latin typeface="Courier New" panose="02070309020205020404" pitchFamily="49" charset="0"/>
              </a:rPr>
              <a:t>myList</a:t>
            </a:r>
            <a:r>
              <a:rPr lang="en-US" altLang="en-US" sz="2400" dirty="0">
                <a:latin typeface="Courier New" panose="02070309020205020404" pitchFamily="49" charset="0"/>
              </a:rPr>
              <a:t> = new double[4];</a:t>
            </a:r>
          </a:p>
          <a:p>
            <a:pPr marL="0" indent="0">
              <a:spcBef>
                <a:spcPct val="50000"/>
              </a:spcBef>
              <a:buFont typeface="Monotype Sorts" pitchFamily="2" charset="2"/>
              <a:buNone/>
            </a:pPr>
            <a:r>
              <a:rPr lang="en-US" altLang="en-US" sz="2400" dirty="0" err="1">
                <a:latin typeface="Courier New" panose="02070309020205020404" pitchFamily="49" charset="0"/>
              </a:rPr>
              <a:t>myList</a:t>
            </a:r>
            <a:r>
              <a:rPr lang="en-US" altLang="en-US" sz="2400" dirty="0">
                <a:latin typeface="Courier New" panose="02070309020205020404" pitchFamily="49" charset="0"/>
              </a:rPr>
              <a:t>[0] = 1.9;</a:t>
            </a:r>
          </a:p>
          <a:p>
            <a:pPr marL="0" indent="0">
              <a:spcBef>
                <a:spcPct val="50000"/>
              </a:spcBef>
              <a:buFont typeface="Monotype Sorts" pitchFamily="2" charset="2"/>
              <a:buNone/>
            </a:pPr>
            <a:r>
              <a:rPr lang="en-US" altLang="en-US" sz="2400" dirty="0" err="1">
                <a:latin typeface="Courier New" panose="02070309020205020404" pitchFamily="49" charset="0"/>
              </a:rPr>
              <a:t>myList</a:t>
            </a:r>
            <a:r>
              <a:rPr lang="en-US" altLang="en-US" sz="2400" dirty="0">
                <a:latin typeface="Courier New" panose="02070309020205020404" pitchFamily="49" charset="0"/>
              </a:rPr>
              <a:t>[1] = 2.9;</a:t>
            </a:r>
          </a:p>
          <a:p>
            <a:pPr marL="0" indent="0">
              <a:spcBef>
                <a:spcPct val="50000"/>
              </a:spcBef>
              <a:buFont typeface="Monotype Sorts" pitchFamily="2" charset="2"/>
              <a:buNone/>
            </a:pPr>
            <a:r>
              <a:rPr lang="en-US" altLang="en-US" sz="2400" dirty="0" err="1">
                <a:latin typeface="Courier New" panose="02070309020205020404" pitchFamily="49" charset="0"/>
              </a:rPr>
              <a:t>myList</a:t>
            </a:r>
            <a:r>
              <a:rPr lang="en-US" altLang="en-US" sz="2400" dirty="0">
                <a:latin typeface="Courier New" panose="02070309020205020404" pitchFamily="49" charset="0"/>
              </a:rPr>
              <a:t>[2] = 3.4;</a:t>
            </a:r>
          </a:p>
          <a:p>
            <a:pPr marL="0" indent="0">
              <a:spcBef>
                <a:spcPct val="50000"/>
              </a:spcBef>
              <a:buFont typeface="Monotype Sorts" pitchFamily="2" charset="2"/>
              <a:buNone/>
            </a:pPr>
            <a:r>
              <a:rPr lang="en-US" altLang="en-US" sz="2400" dirty="0" err="1">
                <a:latin typeface="Courier New" panose="02070309020205020404" pitchFamily="49" charset="0"/>
              </a:rPr>
              <a:t>myList</a:t>
            </a:r>
            <a:r>
              <a:rPr lang="en-US" altLang="en-US" sz="2400" dirty="0">
                <a:latin typeface="Courier New" panose="02070309020205020404" pitchFamily="49" charset="0"/>
              </a:rPr>
              <a:t>[3] = 3.5; </a:t>
            </a:r>
          </a:p>
        </p:txBody>
      </p:sp>
    </p:spTree>
    <p:extLst>
      <p:ext uri="{BB962C8B-B14F-4D97-AF65-F5344CB8AC3E}">
        <p14:creationId xmlns:p14="http://schemas.microsoft.com/office/powerpoint/2010/main" val="22916346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2">
            <a:extLst>
              <a:ext uri="{FF2B5EF4-FFF2-40B4-BE49-F238E27FC236}">
                <a16:creationId xmlns:a16="http://schemas.microsoft.com/office/drawing/2014/main" id="{EA91E38C-4F75-4F90-A29E-5B3D65428EF8}"/>
              </a:ext>
            </a:extLst>
          </p:cNvPr>
          <p:cNvSpPr>
            <a:spLocks noGrp="1" noChangeArrowheads="1"/>
          </p:cNvSpPr>
          <p:nvPr>
            <p:ph type="title"/>
          </p:nvPr>
        </p:nvSpPr>
        <p:spPr>
          <a:xfrm>
            <a:off x="685800" y="228600"/>
            <a:ext cx="7772400" cy="533400"/>
          </a:xfrm>
          <a:noFill/>
        </p:spPr>
        <p:txBody>
          <a:bodyPr>
            <a:normAutofit fontScale="90000"/>
          </a:bodyPr>
          <a:lstStyle/>
          <a:p>
            <a:r>
              <a:rPr lang="en-US" altLang="en-US" sz="4000"/>
              <a:t>Processing Arrays</a:t>
            </a:r>
          </a:p>
        </p:txBody>
      </p:sp>
      <p:sp>
        <p:nvSpPr>
          <p:cNvPr id="33796" name="Rectangle 3">
            <a:extLst>
              <a:ext uri="{FF2B5EF4-FFF2-40B4-BE49-F238E27FC236}">
                <a16:creationId xmlns:a16="http://schemas.microsoft.com/office/drawing/2014/main" id="{927783AC-9C97-4282-A0AF-5D2A00DA8476}"/>
              </a:ext>
            </a:extLst>
          </p:cNvPr>
          <p:cNvSpPr>
            <a:spLocks noGrp="1" noChangeArrowheads="1"/>
          </p:cNvSpPr>
          <p:nvPr>
            <p:ph type="body" idx="1"/>
          </p:nvPr>
        </p:nvSpPr>
        <p:spPr>
          <a:xfrm>
            <a:off x="304800" y="1066800"/>
            <a:ext cx="8534400" cy="4953000"/>
          </a:xfrm>
          <a:noFill/>
        </p:spPr>
        <p:txBody>
          <a:bodyPr/>
          <a:lstStyle/>
          <a:p>
            <a:pPr marL="609600" indent="-609600">
              <a:lnSpc>
                <a:spcPct val="90000"/>
              </a:lnSpc>
              <a:spcBef>
                <a:spcPct val="50000"/>
              </a:spcBef>
              <a:buFont typeface="Monotype Sorts" pitchFamily="2" charset="2"/>
              <a:buAutoNum type="arabicPeriod"/>
            </a:pPr>
            <a:r>
              <a:rPr lang="en-US" altLang="en-US" sz="2500" dirty="0">
                <a:cs typeface="Times New Roman" panose="02020603050405020304" pitchFamily="18" charset="0"/>
              </a:rPr>
              <a:t>(Initializing arrays with input values)</a:t>
            </a:r>
          </a:p>
          <a:p>
            <a:pPr marL="609600" indent="-609600">
              <a:lnSpc>
                <a:spcPct val="90000"/>
              </a:lnSpc>
              <a:spcBef>
                <a:spcPct val="50000"/>
              </a:spcBef>
              <a:buFont typeface="Monotype Sorts" pitchFamily="2" charset="2"/>
              <a:buAutoNum type="arabicPeriod"/>
            </a:pPr>
            <a:r>
              <a:rPr lang="en-US" altLang="en-US" sz="2500" dirty="0">
                <a:cs typeface="Times New Roman" panose="02020603050405020304" pitchFamily="18" charset="0"/>
              </a:rPr>
              <a:t>(Initializing arrays with random values)</a:t>
            </a:r>
          </a:p>
          <a:p>
            <a:pPr marL="609600" indent="-609600">
              <a:lnSpc>
                <a:spcPct val="90000"/>
              </a:lnSpc>
              <a:spcBef>
                <a:spcPct val="50000"/>
              </a:spcBef>
              <a:buFont typeface="Monotype Sorts" pitchFamily="2" charset="2"/>
              <a:buAutoNum type="arabicPeriod"/>
            </a:pPr>
            <a:r>
              <a:rPr lang="en-US" altLang="en-US" sz="2500" dirty="0">
                <a:cs typeface="Times New Roman" panose="02020603050405020304" pitchFamily="18" charset="0"/>
              </a:rPr>
              <a:t>(Printing arrays)</a:t>
            </a:r>
          </a:p>
          <a:p>
            <a:pPr marL="609600" indent="-609600">
              <a:lnSpc>
                <a:spcPct val="90000"/>
              </a:lnSpc>
              <a:spcBef>
                <a:spcPct val="50000"/>
              </a:spcBef>
              <a:buFont typeface="Monotype Sorts" pitchFamily="2" charset="2"/>
              <a:buAutoNum type="arabicPeriod"/>
            </a:pPr>
            <a:r>
              <a:rPr lang="en-US" altLang="en-US" sz="2500" dirty="0">
                <a:cs typeface="Times New Roman" panose="02020603050405020304" pitchFamily="18" charset="0"/>
              </a:rPr>
              <a:t>(Summing all elements)</a:t>
            </a:r>
          </a:p>
          <a:p>
            <a:pPr marL="609600" indent="-609600">
              <a:lnSpc>
                <a:spcPct val="90000"/>
              </a:lnSpc>
              <a:spcBef>
                <a:spcPct val="50000"/>
              </a:spcBef>
              <a:buFont typeface="Monotype Sorts" pitchFamily="2" charset="2"/>
              <a:buAutoNum type="arabicPeriod"/>
            </a:pPr>
            <a:r>
              <a:rPr lang="en-US" altLang="en-US" sz="2500" dirty="0">
                <a:cs typeface="Times New Roman" panose="02020603050405020304" pitchFamily="18" charset="0"/>
              </a:rPr>
              <a:t>(Finding the largest element)</a:t>
            </a:r>
          </a:p>
          <a:p>
            <a:pPr marL="609600" indent="-609600">
              <a:lnSpc>
                <a:spcPct val="90000"/>
              </a:lnSpc>
              <a:spcBef>
                <a:spcPct val="50000"/>
              </a:spcBef>
              <a:buFont typeface="Monotype Sorts" pitchFamily="2" charset="2"/>
              <a:buAutoNum type="arabicPeriod"/>
            </a:pPr>
            <a:r>
              <a:rPr lang="en-US" altLang="en-US" sz="2500" dirty="0">
                <a:cs typeface="Times New Roman" panose="02020603050405020304" pitchFamily="18" charset="0"/>
              </a:rPr>
              <a:t>(Finding the smallest index of the largest element)</a:t>
            </a:r>
          </a:p>
          <a:p>
            <a:pPr marL="609600" indent="-609600">
              <a:lnSpc>
                <a:spcPct val="90000"/>
              </a:lnSpc>
              <a:spcBef>
                <a:spcPct val="50000"/>
              </a:spcBef>
              <a:buFont typeface="Monotype Sorts" pitchFamily="2" charset="2"/>
              <a:buAutoNum type="arabicPeriod"/>
            </a:pPr>
            <a:r>
              <a:rPr lang="en-US" altLang="en-US" sz="2500" dirty="0"/>
              <a:t>(</a:t>
            </a:r>
            <a:r>
              <a:rPr lang="en-US" altLang="en-US" sz="2500" i="1" dirty="0"/>
              <a:t>Random shuffling</a:t>
            </a:r>
            <a:r>
              <a:rPr lang="en-US" altLang="en-US" sz="2500" dirty="0"/>
              <a:t>) </a:t>
            </a:r>
          </a:p>
          <a:p>
            <a:pPr marL="609600" indent="-609600">
              <a:lnSpc>
                <a:spcPct val="90000"/>
              </a:lnSpc>
              <a:spcBef>
                <a:spcPct val="50000"/>
              </a:spcBef>
              <a:buFont typeface="Monotype Sorts" pitchFamily="2" charset="2"/>
              <a:buAutoNum type="arabicPeriod"/>
            </a:pPr>
            <a:r>
              <a:rPr lang="en-US" altLang="en-US" sz="2500" dirty="0"/>
              <a:t>(</a:t>
            </a:r>
            <a:r>
              <a:rPr lang="en-US" altLang="en-US" sz="2500" i="1" dirty="0"/>
              <a:t>Shifting elements</a:t>
            </a:r>
            <a:r>
              <a:rPr lang="en-US" altLang="en-US" sz="2500" dirty="0"/>
              <a:t>)</a:t>
            </a:r>
            <a:r>
              <a:rPr lang="en-US" altLang="en-US" sz="2400" dirty="0"/>
              <a:t> </a:t>
            </a:r>
          </a:p>
        </p:txBody>
      </p:sp>
    </p:spTree>
    <p:extLst>
      <p:ext uri="{BB962C8B-B14F-4D97-AF65-F5344CB8AC3E}">
        <p14:creationId xmlns:p14="http://schemas.microsoft.com/office/powerpoint/2010/main" val="30073676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a:extLst>
              <a:ext uri="{FF2B5EF4-FFF2-40B4-BE49-F238E27FC236}">
                <a16:creationId xmlns:a16="http://schemas.microsoft.com/office/drawing/2014/main" id="{DA048AA3-560E-42F1-A7D1-B546DC6BBBDF}"/>
              </a:ext>
            </a:extLst>
          </p:cNvPr>
          <p:cNvSpPr>
            <a:spLocks noGrp="1" noChangeArrowheads="1"/>
          </p:cNvSpPr>
          <p:nvPr>
            <p:ph type="title"/>
          </p:nvPr>
        </p:nvSpPr>
        <p:spPr>
          <a:xfrm>
            <a:off x="309563" y="381000"/>
            <a:ext cx="8564562" cy="782638"/>
          </a:xfrm>
        </p:spPr>
        <p:txBody>
          <a:bodyPr/>
          <a:lstStyle/>
          <a:p>
            <a:r>
              <a:rPr lang="en-US" altLang="en-US" sz="4500">
                <a:cs typeface="Times New Roman" panose="02020603050405020304" pitchFamily="18" charset="0"/>
              </a:rPr>
              <a:t>Initializing arrays with input values</a:t>
            </a:r>
            <a:endParaRPr lang="en-US" altLang="en-US" sz="4500">
              <a:cs typeface="Times New Roman" panose="02020603050405020304" pitchFamily="18" charset="0"/>
              <a:hlinkClick r:id="rId2" action="ppaction://program"/>
            </a:endParaRPr>
          </a:p>
        </p:txBody>
      </p:sp>
      <p:sp>
        <p:nvSpPr>
          <p:cNvPr id="38916" name="Rectangle 3">
            <a:extLst>
              <a:ext uri="{FF2B5EF4-FFF2-40B4-BE49-F238E27FC236}">
                <a16:creationId xmlns:a16="http://schemas.microsoft.com/office/drawing/2014/main" id="{78E1A68B-5CDE-4AEC-B78C-1CBBAD5F01BC}"/>
              </a:ext>
            </a:extLst>
          </p:cNvPr>
          <p:cNvSpPr>
            <a:spLocks noGrp="1" noChangeArrowheads="1"/>
          </p:cNvSpPr>
          <p:nvPr>
            <p:ph type="body" idx="1"/>
          </p:nvPr>
        </p:nvSpPr>
        <p:spPr>
          <a:xfrm>
            <a:off x="155575" y="1778000"/>
            <a:ext cx="8794750" cy="3263900"/>
          </a:xfrm>
        </p:spPr>
        <p:txBody>
          <a:bodyPr/>
          <a:lstStyle/>
          <a:p>
            <a:pPr marL="609600" indent="-609600">
              <a:lnSpc>
                <a:spcPct val="80000"/>
              </a:lnSpc>
              <a:buFont typeface="Monotype Sorts" pitchFamily="2" charset="2"/>
              <a:buNone/>
              <a:defRPr/>
            </a:pPr>
            <a:r>
              <a:rPr lang="en-US" sz="2800" dirty="0" err="1">
                <a:solidFill>
                  <a:schemeClr val="accent4"/>
                </a:solidFill>
              </a:rPr>
              <a:t>java.util.Scanner</a:t>
            </a:r>
            <a:r>
              <a:rPr lang="en-US" sz="2800" dirty="0">
                <a:solidFill>
                  <a:schemeClr val="accent4"/>
                </a:solidFill>
              </a:rPr>
              <a:t> input = </a:t>
            </a:r>
            <a:r>
              <a:rPr lang="en-US" sz="2800" b="1" dirty="0">
                <a:solidFill>
                  <a:schemeClr val="accent4"/>
                </a:solidFill>
              </a:rPr>
              <a:t>new</a:t>
            </a:r>
            <a:r>
              <a:rPr lang="en-US" sz="2800" dirty="0">
                <a:solidFill>
                  <a:schemeClr val="accent4"/>
                </a:solidFill>
              </a:rPr>
              <a:t> </a:t>
            </a:r>
            <a:r>
              <a:rPr lang="en-US" sz="2800" dirty="0" err="1">
                <a:solidFill>
                  <a:schemeClr val="accent4"/>
                </a:solidFill>
              </a:rPr>
              <a:t>java.util.Scanner</a:t>
            </a:r>
            <a:r>
              <a:rPr lang="en-US" sz="2800" dirty="0">
                <a:solidFill>
                  <a:schemeClr val="accent4"/>
                </a:solidFill>
              </a:rPr>
              <a:t>(System.in);</a:t>
            </a:r>
          </a:p>
          <a:p>
            <a:pPr marL="609600" indent="-609600">
              <a:lnSpc>
                <a:spcPct val="80000"/>
              </a:lnSpc>
              <a:buFont typeface="Monotype Sorts" pitchFamily="2" charset="2"/>
              <a:buNone/>
              <a:defRPr/>
            </a:pPr>
            <a:r>
              <a:rPr lang="en-US" sz="2800" dirty="0" err="1">
                <a:solidFill>
                  <a:schemeClr val="accent4"/>
                </a:solidFill>
              </a:rPr>
              <a:t>System.out.print</a:t>
            </a:r>
            <a:r>
              <a:rPr lang="en-US" sz="2800" dirty="0">
                <a:solidFill>
                  <a:schemeClr val="accent4"/>
                </a:solidFill>
              </a:rPr>
              <a:t>("Enter " + </a:t>
            </a:r>
            <a:r>
              <a:rPr lang="en-US" sz="2800" dirty="0" err="1">
                <a:solidFill>
                  <a:schemeClr val="accent4"/>
                </a:solidFill>
              </a:rPr>
              <a:t>myList.length</a:t>
            </a:r>
            <a:r>
              <a:rPr lang="en-US" sz="2800" dirty="0">
                <a:solidFill>
                  <a:schemeClr val="accent4"/>
                </a:solidFill>
              </a:rPr>
              <a:t> + " values: ");</a:t>
            </a:r>
            <a:endParaRPr lang="en-US" sz="2800" b="1" dirty="0">
              <a:solidFill>
                <a:schemeClr val="accent4"/>
              </a:solidFill>
            </a:endParaRPr>
          </a:p>
          <a:p>
            <a:pPr marL="609600" indent="-609600">
              <a:lnSpc>
                <a:spcPct val="80000"/>
              </a:lnSpc>
              <a:buFont typeface="Monotype Sorts" pitchFamily="2" charset="2"/>
              <a:buNone/>
              <a:defRPr/>
            </a:pPr>
            <a:r>
              <a:rPr lang="en-US" sz="2800" b="1" dirty="0">
                <a:solidFill>
                  <a:schemeClr val="accent4"/>
                </a:solidFill>
              </a:rPr>
              <a:t>for</a:t>
            </a:r>
            <a:r>
              <a:rPr lang="en-US" sz="2800" dirty="0">
                <a:solidFill>
                  <a:schemeClr val="accent4"/>
                </a:solidFill>
              </a:rPr>
              <a:t> (</a:t>
            </a:r>
            <a:r>
              <a:rPr lang="en-US" sz="2800" b="1" dirty="0" err="1">
                <a:solidFill>
                  <a:schemeClr val="accent4"/>
                </a:solidFill>
              </a:rPr>
              <a:t>int</a:t>
            </a:r>
            <a:r>
              <a:rPr lang="en-US" sz="2800" dirty="0">
                <a:solidFill>
                  <a:schemeClr val="accent4"/>
                </a:solidFill>
              </a:rPr>
              <a:t> </a:t>
            </a:r>
            <a:r>
              <a:rPr lang="en-US" sz="2800" dirty="0" err="1">
                <a:solidFill>
                  <a:schemeClr val="accent4"/>
                </a:solidFill>
              </a:rPr>
              <a:t>i</a:t>
            </a:r>
            <a:r>
              <a:rPr lang="en-US" sz="2800" dirty="0">
                <a:solidFill>
                  <a:schemeClr val="accent4"/>
                </a:solidFill>
              </a:rPr>
              <a:t> = 0; </a:t>
            </a:r>
            <a:r>
              <a:rPr lang="en-US" sz="2800" dirty="0" err="1">
                <a:solidFill>
                  <a:schemeClr val="accent4"/>
                </a:solidFill>
              </a:rPr>
              <a:t>i</a:t>
            </a:r>
            <a:r>
              <a:rPr lang="en-US" sz="2800" dirty="0">
                <a:solidFill>
                  <a:schemeClr val="accent4"/>
                </a:solidFill>
              </a:rPr>
              <a:t> &lt; </a:t>
            </a:r>
            <a:r>
              <a:rPr lang="en-US" sz="2800" dirty="0" err="1">
                <a:solidFill>
                  <a:schemeClr val="accent4"/>
                </a:solidFill>
              </a:rPr>
              <a:t>myList.length</a:t>
            </a:r>
            <a:r>
              <a:rPr lang="en-US" sz="2800" dirty="0">
                <a:solidFill>
                  <a:schemeClr val="accent4"/>
                </a:solidFill>
              </a:rPr>
              <a:t>; </a:t>
            </a:r>
            <a:r>
              <a:rPr lang="en-US" sz="2800" dirty="0" err="1">
                <a:solidFill>
                  <a:schemeClr val="accent4"/>
                </a:solidFill>
              </a:rPr>
              <a:t>i</a:t>
            </a:r>
            <a:r>
              <a:rPr lang="en-US" sz="2800" dirty="0">
                <a:solidFill>
                  <a:schemeClr val="accent4"/>
                </a:solidFill>
              </a:rPr>
              <a:t>++) </a:t>
            </a:r>
          </a:p>
          <a:p>
            <a:pPr marL="609600" indent="-609600">
              <a:lnSpc>
                <a:spcPct val="80000"/>
              </a:lnSpc>
              <a:buFont typeface="Monotype Sorts" pitchFamily="2" charset="2"/>
              <a:buNone/>
              <a:defRPr/>
            </a:pPr>
            <a:r>
              <a:rPr lang="en-US" sz="2800" dirty="0">
                <a:solidFill>
                  <a:schemeClr val="accent4"/>
                </a:solidFill>
              </a:rPr>
              <a:t>  </a:t>
            </a:r>
            <a:r>
              <a:rPr lang="en-US" sz="2800" dirty="0" err="1">
                <a:solidFill>
                  <a:schemeClr val="accent4"/>
                </a:solidFill>
              </a:rPr>
              <a:t>myList</a:t>
            </a:r>
            <a:r>
              <a:rPr lang="en-US" sz="2800" dirty="0">
                <a:solidFill>
                  <a:schemeClr val="accent4"/>
                </a:solidFill>
              </a:rPr>
              <a:t>[</a:t>
            </a:r>
            <a:r>
              <a:rPr lang="en-US" sz="2800" dirty="0" err="1">
                <a:solidFill>
                  <a:schemeClr val="accent4"/>
                </a:solidFill>
              </a:rPr>
              <a:t>i</a:t>
            </a:r>
            <a:r>
              <a:rPr lang="en-US" sz="2800" dirty="0">
                <a:solidFill>
                  <a:schemeClr val="accent4"/>
                </a:solidFill>
              </a:rPr>
              <a:t>] = </a:t>
            </a:r>
            <a:r>
              <a:rPr lang="en-US" sz="2800" dirty="0" err="1">
                <a:solidFill>
                  <a:schemeClr val="accent4"/>
                </a:solidFill>
              </a:rPr>
              <a:t>input.nextDouble</a:t>
            </a:r>
            <a:r>
              <a:rPr lang="en-US" sz="2800" dirty="0">
                <a:solidFill>
                  <a:schemeClr val="accent4"/>
                </a:solidFill>
              </a:rPr>
              <a:t>();</a:t>
            </a:r>
          </a:p>
        </p:txBody>
      </p:sp>
      <p:sp>
        <p:nvSpPr>
          <p:cNvPr id="34821" name="Rectangle 4">
            <a:extLst>
              <a:ext uri="{FF2B5EF4-FFF2-40B4-BE49-F238E27FC236}">
                <a16:creationId xmlns:a16="http://schemas.microsoft.com/office/drawing/2014/main" id="{54143C06-7B38-43D2-8223-28CC201C2E7A}"/>
              </a:ext>
            </a:extLst>
          </p:cNvPr>
          <p:cNvSpPr>
            <a:spLocks noChangeArrowheads="1"/>
          </p:cNvSpPr>
          <p:nvPr/>
        </p:nvSpPr>
        <p:spPr bwMode="auto">
          <a:xfrm>
            <a:off x="2971800" y="2514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4822" name="Rectangle 5">
            <a:extLst>
              <a:ext uri="{FF2B5EF4-FFF2-40B4-BE49-F238E27FC236}">
                <a16:creationId xmlns:a16="http://schemas.microsoft.com/office/drawing/2014/main" id="{6EF30362-2FF3-41F9-9002-4C7B4789EC40}"/>
              </a:ext>
            </a:extLst>
          </p:cNvPr>
          <p:cNvSpPr>
            <a:spLocks noChangeArrowheads="1"/>
          </p:cNvSpPr>
          <p:nvPr/>
        </p:nvSpPr>
        <p:spPr bwMode="auto">
          <a:xfrm>
            <a:off x="3352800" y="29718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Tree>
    <p:extLst>
      <p:ext uri="{BB962C8B-B14F-4D97-AF65-F5344CB8AC3E}">
        <p14:creationId xmlns:p14="http://schemas.microsoft.com/office/powerpoint/2010/main" val="22704584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a:extLst>
              <a:ext uri="{FF2B5EF4-FFF2-40B4-BE49-F238E27FC236}">
                <a16:creationId xmlns:a16="http://schemas.microsoft.com/office/drawing/2014/main" id="{1EC2EBF7-5C79-4297-9CFD-5A00F9A0B5A4}"/>
              </a:ext>
            </a:extLst>
          </p:cNvPr>
          <p:cNvSpPr>
            <a:spLocks noGrp="1" noChangeArrowheads="1"/>
          </p:cNvSpPr>
          <p:nvPr>
            <p:ph type="title"/>
          </p:nvPr>
        </p:nvSpPr>
        <p:spPr>
          <a:xfrm>
            <a:off x="309563" y="381000"/>
            <a:ext cx="8564562" cy="782638"/>
          </a:xfrm>
        </p:spPr>
        <p:txBody>
          <a:bodyPr/>
          <a:lstStyle/>
          <a:p>
            <a:r>
              <a:rPr lang="en-US" altLang="en-US" sz="4100">
                <a:cs typeface="Times New Roman" panose="02020603050405020304" pitchFamily="18" charset="0"/>
              </a:rPr>
              <a:t>Initializing arrays with random values</a:t>
            </a:r>
            <a:endParaRPr lang="en-US" altLang="en-US" sz="4100">
              <a:cs typeface="Times New Roman" panose="02020603050405020304" pitchFamily="18" charset="0"/>
              <a:hlinkClick r:id="rId2" action="ppaction://program"/>
            </a:endParaRPr>
          </a:p>
        </p:txBody>
      </p:sp>
      <p:sp>
        <p:nvSpPr>
          <p:cNvPr id="39940" name="Rectangle 3">
            <a:extLst>
              <a:ext uri="{FF2B5EF4-FFF2-40B4-BE49-F238E27FC236}">
                <a16:creationId xmlns:a16="http://schemas.microsoft.com/office/drawing/2014/main" id="{7CDE9159-3842-40CC-B03E-49B878E51EC4}"/>
              </a:ext>
            </a:extLst>
          </p:cNvPr>
          <p:cNvSpPr>
            <a:spLocks noGrp="1" noChangeArrowheads="1"/>
          </p:cNvSpPr>
          <p:nvPr>
            <p:ph type="body" idx="1"/>
          </p:nvPr>
        </p:nvSpPr>
        <p:spPr>
          <a:xfrm>
            <a:off x="155575" y="1778000"/>
            <a:ext cx="8836025" cy="2073275"/>
          </a:xfrm>
        </p:spPr>
        <p:txBody>
          <a:bodyPr/>
          <a:lstStyle/>
          <a:p>
            <a:pPr marL="609600" indent="-609600">
              <a:lnSpc>
                <a:spcPct val="90000"/>
              </a:lnSpc>
              <a:buFont typeface="Monotype Sorts" pitchFamily="2" charset="2"/>
              <a:buNone/>
              <a:defRPr/>
            </a:pPr>
            <a:r>
              <a:rPr lang="en-US" sz="4000" b="1" dirty="0">
                <a:solidFill>
                  <a:schemeClr val="accent4"/>
                </a:solidFill>
              </a:rPr>
              <a:t>for</a:t>
            </a:r>
            <a:r>
              <a:rPr lang="en-US" sz="4000" dirty="0">
                <a:solidFill>
                  <a:schemeClr val="accent4"/>
                </a:solidFill>
              </a:rPr>
              <a:t> (</a:t>
            </a:r>
            <a:r>
              <a:rPr lang="en-US" sz="4000" b="1" dirty="0" err="1">
                <a:solidFill>
                  <a:schemeClr val="accent4"/>
                </a:solidFill>
              </a:rPr>
              <a:t>int</a:t>
            </a:r>
            <a:r>
              <a:rPr lang="en-US" sz="4000" dirty="0">
                <a:solidFill>
                  <a:schemeClr val="accent4"/>
                </a:solidFill>
              </a:rPr>
              <a:t> </a:t>
            </a:r>
            <a:r>
              <a:rPr lang="en-US" sz="4000" dirty="0" err="1">
                <a:solidFill>
                  <a:schemeClr val="accent4"/>
                </a:solidFill>
              </a:rPr>
              <a:t>i</a:t>
            </a:r>
            <a:r>
              <a:rPr lang="en-US" sz="4000" dirty="0">
                <a:solidFill>
                  <a:schemeClr val="accent4"/>
                </a:solidFill>
              </a:rPr>
              <a:t> = 0; </a:t>
            </a:r>
            <a:r>
              <a:rPr lang="en-US" sz="4000" dirty="0" err="1">
                <a:solidFill>
                  <a:schemeClr val="accent4"/>
                </a:solidFill>
              </a:rPr>
              <a:t>i</a:t>
            </a:r>
            <a:r>
              <a:rPr lang="en-US" sz="4000" dirty="0">
                <a:solidFill>
                  <a:schemeClr val="accent4"/>
                </a:solidFill>
              </a:rPr>
              <a:t> &lt; </a:t>
            </a:r>
            <a:r>
              <a:rPr lang="en-US" sz="4000" dirty="0" err="1">
                <a:solidFill>
                  <a:schemeClr val="accent4"/>
                </a:solidFill>
              </a:rPr>
              <a:t>myList.length</a:t>
            </a:r>
            <a:r>
              <a:rPr lang="en-US" sz="4000" dirty="0">
                <a:solidFill>
                  <a:schemeClr val="accent4"/>
                </a:solidFill>
              </a:rPr>
              <a:t>; </a:t>
            </a:r>
            <a:r>
              <a:rPr lang="en-US" sz="4000" dirty="0" err="1">
                <a:solidFill>
                  <a:schemeClr val="accent4"/>
                </a:solidFill>
              </a:rPr>
              <a:t>i</a:t>
            </a:r>
            <a:r>
              <a:rPr lang="en-US" sz="4000" dirty="0">
                <a:solidFill>
                  <a:schemeClr val="accent4"/>
                </a:solidFill>
              </a:rPr>
              <a:t>++) {</a:t>
            </a:r>
          </a:p>
          <a:p>
            <a:pPr marL="609600" indent="-609600">
              <a:lnSpc>
                <a:spcPct val="90000"/>
              </a:lnSpc>
              <a:buFont typeface="Monotype Sorts" pitchFamily="2" charset="2"/>
              <a:buNone/>
              <a:defRPr/>
            </a:pPr>
            <a:r>
              <a:rPr lang="en-US" sz="4000" dirty="0">
                <a:solidFill>
                  <a:schemeClr val="accent4"/>
                </a:solidFill>
              </a:rPr>
              <a:t>  </a:t>
            </a:r>
            <a:r>
              <a:rPr lang="en-US" sz="4000" dirty="0" err="1">
                <a:solidFill>
                  <a:schemeClr val="accent4"/>
                </a:solidFill>
              </a:rPr>
              <a:t>myList</a:t>
            </a:r>
            <a:r>
              <a:rPr lang="en-US" sz="4000" dirty="0">
                <a:solidFill>
                  <a:schemeClr val="accent4"/>
                </a:solidFill>
              </a:rPr>
              <a:t>[</a:t>
            </a:r>
            <a:r>
              <a:rPr lang="en-US" sz="4000" dirty="0" err="1">
                <a:solidFill>
                  <a:schemeClr val="accent4"/>
                </a:solidFill>
              </a:rPr>
              <a:t>i</a:t>
            </a:r>
            <a:r>
              <a:rPr lang="en-US" sz="4000" dirty="0">
                <a:solidFill>
                  <a:schemeClr val="accent4"/>
                </a:solidFill>
              </a:rPr>
              <a:t>] = </a:t>
            </a:r>
            <a:r>
              <a:rPr lang="en-US" sz="4000" dirty="0" err="1">
                <a:solidFill>
                  <a:schemeClr val="accent4"/>
                </a:solidFill>
              </a:rPr>
              <a:t>Math.random</a:t>
            </a:r>
            <a:r>
              <a:rPr lang="en-US" sz="4000" dirty="0">
                <a:solidFill>
                  <a:schemeClr val="accent4"/>
                </a:solidFill>
              </a:rPr>
              <a:t>() * 100;</a:t>
            </a:r>
          </a:p>
          <a:p>
            <a:pPr marL="609600" indent="-609600">
              <a:lnSpc>
                <a:spcPct val="90000"/>
              </a:lnSpc>
              <a:buFont typeface="Monotype Sorts" pitchFamily="2" charset="2"/>
              <a:buNone/>
              <a:defRPr/>
            </a:pPr>
            <a:r>
              <a:rPr lang="en-US" sz="4000" dirty="0">
                <a:solidFill>
                  <a:schemeClr val="accent4"/>
                </a:solidFill>
              </a:rPr>
              <a:t>}</a:t>
            </a:r>
          </a:p>
        </p:txBody>
      </p:sp>
      <p:sp>
        <p:nvSpPr>
          <p:cNvPr id="35845" name="Rectangle 4">
            <a:extLst>
              <a:ext uri="{FF2B5EF4-FFF2-40B4-BE49-F238E27FC236}">
                <a16:creationId xmlns:a16="http://schemas.microsoft.com/office/drawing/2014/main" id="{6FAD212D-9F5E-4C31-8C3D-083D641530AF}"/>
              </a:ext>
            </a:extLst>
          </p:cNvPr>
          <p:cNvSpPr>
            <a:spLocks noChangeArrowheads="1"/>
          </p:cNvSpPr>
          <p:nvPr/>
        </p:nvSpPr>
        <p:spPr bwMode="auto">
          <a:xfrm>
            <a:off x="2971800" y="2514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5846" name="Rectangle 5">
            <a:extLst>
              <a:ext uri="{FF2B5EF4-FFF2-40B4-BE49-F238E27FC236}">
                <a16:creationId xmlns:a16="http://schemas.microsoft.com/office/drawing/2014/main" id="{FC7CAD28-3086-43F2-BE1B-097F85AB2ECD}"/>
              </a:ext>
            </a:extLst>
          </p:cNvPr>
          <p:cNvSpPr>
            <a:spLocks noChangeArrowheads="1"/>
          </p:cNvSpPr>
          <p:nvPr/>
        </p:nvSpPr>
        <p:spPr bwMode="auto">
          <a:xfrm>
            <a:off x="3352800" y="29718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Tree>
    <p:extLst>
      <p:ext uri="{BB962C8B-B14F-4D97-AF65-F5344CB8AC3E}">
        <p14:creationId xmlns:p14="http://schemas.microsoft.com/office/powerpoint/2010/main" val="34038971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a:extLst>
              <a:ext uri="{FF2B5EF4-FFF2-40B4-BE49-F238E27FC236}">
                <a16:creationId xmlns:a16="http://schemas.microsoft.com/office/drawing/2014/main" id="{C115E175-8CA4-4B7C-842E-B753A1F484E6}"/>
              </a:ext>
            </a:extLst>
          </p:cNvPr>
          <p:cNvSpPr>
            <a:spLocks noGrp="1" noChangeArrowheads="1"/>
          </p:cNvSpPr>
          <p:nvPr>
            <p:ph type="title"/>
          </p:nvPr>
        </p:nvSpPr>
        <p:spPr>
          <a:xfrm>
            <a:off x="309563" y="381000"/>
            <a:ext cx="8564562" cy="782638"/>
          </a:xfrm>
        </p:spPr>
        <p:txBody>
          <a:bodyPr/>
          <a:lstStyle/>
          <a:p>
            <a:r>
              <a:rPr lang="en-US" altLang="en-US" sz="4500">
                <a:cs typeface="Times New Roman" panose="02020603050405020304" pitchFamily="18" charset="0"/>
              </a:rPr>
              <a:t>Printing arrays</a:t>
            </a:r>
            <a:endParaRPr lang="en-US" altLang="en-US" sz="4500">
              <a:cs typeface="Times New Roman" panose="02020603050405020304" pitchFamily="18" charset="0"/>
              <a:hlinkClick r:id="rId2" action="ppaction://program"/>
            </a:endParaRPr>
          </a:p>
        </p:txBody>
      </p:sp>
      <p:sp>
        <p:nvSpPr>
          <p:cNvPr id="40964" name="Rectangle 3">
            <a:extLst>
              <a:ext uri="{FF2B5EF4-FFF2-40B4-BE49-F238E27FC236}">
                <a16:creationId xmlns:a16="http://schemas.microsoft.com/office/drawing/2014/main" id="{645C20D3-5997-41FA-84CA-C6A1DF593042}"/>
              </a:ext>
            </a:extLst>
          </p:cNvPr>
          <p:cNvSpPr>
            <a:spLocks noGrp="1" noChangeArrowheads="1"/>
          </p:cNvSpPr>
          <p:nvPr>
            <p:ph type="body" idx="1"/>
          </p:nvPr>
        </p:nvSpPr>
        <p:spPr>
          <a:xfrm>
            <a:off x="155575" y="1778000"/>
            <a:ext cx="8832850" cy="2649538"/>
          </a:xfrm>
        </p:spPr>
        <p:txBody>
          <a:bodyPr/>
          <a:lstStyle/>
          <a:p>
            <a:pPr marL="609600" indent="-609600">
              <a:lnSpc>
                <a:spcPct val="80000"/>
              </a:lnSpc>
              <a:buFont typeface="Monotype Sorts" pitchFamily="2" charset="2"/>
              <a:buNone/>
              <a:defRPr/>
            </a:pPr>
            <a:r>
              <a:rPr lang="en-US" sz="4000" b="1" dirty="0">
                <a:solidFill>
                  <a:schemeClr val="accent4"/>
                </a:solidFill>
              </a:rPr>
              <a:t>for</a:t>
            </a:r>
            <a:r>
              <a:rPr lang="en-US" sz="4000" dirty="0">
                <a:solidFill>
                  <a:schemeClr val="accent4"/>
                </a:solidFill>
              </a:rPr>
              <a:t> (</a:t>
            </a:r>
            <a:r>
              <a:rPr lang="en-US" sz="4000" b="1" dirty="0" err="1">
                <a:solidFill>
                  <a:schemeClr val="accent4"/>
                </a:solidFill>
              </a:rPr>
              <a:t>int</a:t>
            </a:r>
            <a:r>
              <a:rPr lang="en-US" sz="4000" dirty="0">
                <a:solidFill>
                  <a:schemeClr val="accent4"/>
                </a:solidFill>
              </a:rPr>
              <a:t> </a:t>
            </a:r>
            <a:r>
              <a:rPr lang="en-US" sz="4000" dirty="0" err="1">
                <a:solidFill>
                  <a:schemeClr val="accent4"/>
                </a:solidFill>
              </a:rPr>
              <a:t>i</a:t>
            </a:r>
            <a:r>
              <a:rPr lang="en-US" sz="4000" dirty="0">
                <a:solidFill>
                  <a:schemeClr val="accent4"/>
                </a:solidFill>
              </a:rPr>
              <a:t> = 0; </a:t>
            </a:r>
            <a:r>
              <a:rPr lang="en-US" sz="4000" dirty="0" err="1">
                <a:solidFill>
                  <a:schemeClr val="accent4"/>
                </a:solidFill>
              </a:rPr>
              <a:t>i</a:t>
            </a:r>
            <a:r>
              <a:rPr lang="en-US" sz="4000" dirty="0">
                <a:solidFill>
                  <a:schemeClr val="accent4"/>
                </a:solidFill>
              </a:rPr>
              <a:t> &lt; </a:t>
            </a:r>
            <a:r>
              <a:rPr lang="en-US" sz="4000" dirty="0" err="1">
                <a:solidFill>
                  <a:schemeClr val="accent4"/>
                </a:solidFill>
              </a:rPr>
              <a:t>myList.length</a:t>
            </a:r>
            <a:r>
              <a:rPr lang="en-US" sz="4000" dirty="0">
                <a:solidFill>
                  <a:schemeClr val="accent4"/>
                </a:solidFill>
              </a:rPr>
              <a:t>; </a:t>
            </a:r>
            <a:r>
              <a:rPr lang="en-US" sz="4000" dirty="0" err="1">
                <a:solidFill>
                  <a:schemeClr val="accent4"/>
                </a:solidFill>
              </a:rPr>
              <a:t>i</a:t>
            </a:r>
            <a:r>
              <a:rPr lang="en-US" sz="4000" dirty="0">
                <a:solidFill>
                  <a:schemeClr val="accent4"/>
                </a:solidFill>
              </a:rPr>
              <a:t>++) {</a:t>
            </a:r>
          </a:p>
          <a:p>
            <a:pPr marL="609600" indent="-609600">
              <a:lnSpc>
                <a:spcPct val="80000"/>
              </a:lnSpc>
              <a:buFont typeface="Monotype Sorts" pitchFamily="2" charset="2"/>
              <a:buNone/>
              <a:defRPr/>
            </a:pPr>
            <a:r>
              <a:rPr lang="en-US" sz="4000" dirty="0">
                <a:solidFill>
                  <a:schemeClr val="accent4"/>
                </a:solidFill>
              </a:rPr>
              <a:t>  </a:t>
            </a:r>
            <a:r>
              <a:rPr lang="en-US" sz="4000" dirty="0" err="1">
                <a:solidFill>
                  <a:schemeClr val="accent4"/>
                </a:solidFill>
              </a:rPr>
              <a:t>System.out.print</a:t>
            </a:r>
            <a:r>
              <a:rPr lang="en-US" sz="4000" dirty="0">
                <a:solidFill>
                  <a:schemeClr val="accent4"/>
                </a:solidFill>
              </a:rPr>
              <a:t>(</a:t>
            </a:r>
            <a:r>
              <a:rPr lang="en-US" sz="4000" dirty="0" err="1">
                <a:solidFill>
                  <a:schemeClr val="accent4"/>
                </a:solidFill>
              </a:rPr>
              <a:t>myList</a:t>
            </a:r>
            <a:r>
              <a:rPr lang="en-US" sz="4000" dirty="0">
                <a:solidFill>
                  <a:schemeClr val="accent4"/>
                </a:solidFill>
              </a:rPr>
              <a:t>[</a:t>
            </a:r>
            <a:r>
              <a:rPr lang="en-US" sz="4000" dirty="0" err="1">
                <a:solidFill>
                  <a:schemeClr val="accent4"/>
                </a:solidFill>
              </a:rPr>
              <a:t>i</a:t>
            </a:r>
            <a:r>
              <a:rPr lang="en-US" sz="4000" dirty="0">
                <a:solidFill>
                  <a:schemeClr val="accent4"/>
                </a:solidFill>
              </a:rPr>
              <a:t>] + " ");</a:t>
            </a:r>
          </a:p>
          <a:p>
            <a:pPr marL="609600" indent="-609600">
              <a:lnSpc>
                <a:spcPct val="80000"/>
              </a:lnSpc>
              <a:buFont typeface="Monotype Sorts" pitchFamily="2" charset="2"/>
              <a:buNone/>
              <a:defRPr/>
            </a:pPr>
            <a:r>
              <a:rPr lang="en-US" sz="4000" dirty="0">
                <a:solidFill>
                  <a:schemeClr val="accent4"/>
                </a:solidFill>
              </a:rPr>
              <a:t>}</a:t>
            </a:r>
          </a:p>
        </p:txBody>
      </p:sp>
      <p:sp>
        <p:nvSpPr>
          <p:cNvPr id="36869" name="Rectangle 4">
            <a:extLst>
              <a:ext uri="{FF2B5EF4-FFF2-40B4-BE49-F238E27FC236}">
                <a16:creationId xmlns:a16="http://schemas.microsoft.com/office/drawing/2014/main" id="{1CE2BB52-92FA-4CEE-B8B3-846A75D65D2F}"/>
              </a:ext>
            </a:extLst>
          </p:cNvPr>
          <p:cNvSpPr>
            <a:spLocks noChangeArrowheads="1"/>
          </p:cNvSpPr>
          <p:nvPr/>
        </p:nvSpPr>
        <p:spPr bwMode="auto">
          <a:xfrm>
            <a:off x="2971800" y="2514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6870" name="Rectangle 5">
            <a:extLst>
              <a:ext uri="{FF2B5EF4-FFF2-40B4-BE49-F238E27FC236}">
                <a16:creationId xmlns:a16="http://schemas.microsoft.com/office/drawing/2014/main" id="{D7C093C4-577D-4053-BBF4-0115FCBB1E2A}"/>
              </a:ext>
            </a:extLst>
          </p:cNvPr>
          <p:cNvSpPr>
            <a:spLocks noChangeArrowheads="1"/>
          </p:cNvSpPr>
          <p:nvPr/>
        </p:nvSpPr>
        <p:spPr bwMode="auto">
          <a:xfrm>
            <a:off x="3352800" y="29718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Tree>
    <p:extLst>
      <p:ext uri="{BB962C8B-B14F-4D97-AF65-F5344CB8AC3E}">
        <p14:creationId xmlns:p14="http://schemas.microsoft.com/office/powerpoint/2010/main" val="41451870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a:extLst>
              <a:ext uri="{FF2B5EF4-FFF2-40B4-BE49-F238E27FC236}">
                <a16:creationId xmlns:a16="http://schemas.microsoft.com/office/drawing/2014/main" id="{5DD497F3-DBC0-4E24-8BE9-FD094FDC62F4}"/>
              </a:ext>
            </a:extLst>
          </p:cNvPr>
          <p:cNvSpPr>
            <a:spLocks noGrp="1" noChangeArrowheads="1"/>
          </p:cNvSpPr>
          <p:nvPr>
            <p:ph type="title"/>
          </p:nvPr>
        </p:nvSpPr>
        <p:spPr>
          <a:xfrm>
            <a:off x="309563" y="381000"/>
            <a:ext cx="8564562" cy="782638"/>
          </a:xfrm>
        </p:spPr>
        <p:txBody>
          <a:bodyPr/>
          <a:lstStyle/>
          <a:p>
            <a:r>
              <a:rPr lang="en-US" altLang="en-US" sz="4500">
                <a:cs typeface="Times New Roman" panose="02020603050405020304" pitchFamily="18" charset="0"/>
              </a:rPr>
              <a:t>Summing all elements</a:t>
            </a:r>
            <a:endParaRPr lang="en-US" altLang="en-US" sz="4500">
              <a:cs typeface="Times New Roman" panose="02020603050405020304" pitchFamily="18" charset="0"/>
              <a:hlinkClick r:id="rId2" action="ppaction://program"/>
            </a:endParaRPr>
          </a:p>
        </p:txBody>
      </p:sp>
      <p:sp>
        <p:nvSpPr>
          <p:cNvPr id="41988" name="Rectangle 3">
            <a:extLst>
              <a:ext uri="{FF2B5EF4-FFF2-40B4-BE49-F238E27FC236}">
                <a16:creationId xmlns:a16="http://schemas.microsoft.com/office/drawing/2014/main" id="{AADEE0EA-E9A0-4111-91F5-09FE1F9BE924}"/>
              </a:ext>
            </a:extLst>
          </p:cNvPr>
          <p:cNvSpPr>
            <a:spLocks noGrp="1" noChangeArrowheads="1"/>
          </p:cNvSpPr>
          <p:nvPr>
            <p:ph type="body" idx="1"/>
          </p:nvPr>
        </p:nvSpPr>
        <p:spPr>
          <a:xfrm>
            <a:off x="155575" y="1778000"/>
            <a:ext cx="8832850" cy="2649538"/>
          </a:xfrm>
        </p:spPr>
        <p:txBody>
          <a:bodyPr>
            <a:normAutofit fontScale="92500" lnSpcReduction="10000"/>
          </a:bodyPr>
          <a:lstStyle/>
          <a:p>
            <a:pPr marL="609600" indent="-609600">
              <a:lnSpc>
                <a:spcPct val="80000"/>
              </a:lnSpc>
              <a:buFont typeface="Monotype Sorts" pitchFamily="2" charset="2"/>
              <a:buNone/>
              <a:defRPr/>
            </a:pPr>
            <a:r>
              <a:rPr lang="en-US" sz="4000" dirty="0">
                <a:solidFill>
                  <a:schemeClr val="accent4"/>
                </a:solidFill>
              </a:rPr>
              <a:t>double total = 0;</a:t>
            </a:r>
          </a:p>
          <a:p>
            <a:pPr marL="609600" indent="-609600">
              <a:lnSpc>
                <a:spcPct val="80000"/>
              </a:lnSpc>
              <a:buFont typeface="Monotype Sorts" pitchFamily="2" charset="2"/>
              <a:buNone/>
              <a:defRPr/>
            </a:pPr>
            <a:r>
              <a:rPr lang="en-US" sz="4000" dirty="0">
                <a:solidFill>
                  <a:schemeClr val="accent4"/>
                </a:solidFill>
              </a:rPr>
              <a:t>for (</a:t>
            </a:r>
            <a:r>
              <a:rPr lang="en-US" sz="4000" dirty="0" err="1">
                <a:solidFill>
                  <a:schemeClr val="accent4"/>
                </a:solidFill>
              </a:rPr>
              <a:t>int</a:t>
            </a:r>
            <a:r>
              <a:rPr lang="en-US" sz="4000" dirty="0">
                <a:solidFill>
                  <a:schemeClr val="accent4"/>
                </a:solidFill>
              </a:rPr>
              <a:t> </a:t>
            </a:r>
            <a:r>
              <a:rPr lang="en-US" sz="4000" dirty="0" err="1">
                <a:solidFill>
                  <a:schemeClr val="accent4"/>
                </a:solidFill>
              </a:rPr>
              <a:t>i</a:t>
            </a:r>
            <a:r>
              <a:rPr lang="en-US" sz="4000" dirty="0">
                <a:solidFill>
                  <a:schemeClr val="accent4"/>
                </a:solidFill>
              </a:rPr>
              <a:t> = 0; </a:t>
            </a:r>
            <a:r>
              <a:rPr lang="en-US" sz="4000" dirty="0" err="1">
                <a:solidFill>
                  <a:schemeClr val="accent4"/>
                </a:solidFill>
              </a:rPr>
              <a:t>i</a:t>
            </a:r>
            <a:r>
              <a:rPr lang="en-US" sz="4000" dirty="0">
                <a:solidFill>
                  <a:schemeClr val="accent4"/>
                </a:solidFill>
              </a:rPr>
              <a:t> &lt; </a:t>
            </a:r>
            <a:r>
              <a:rPr lang="en-US" sz="4000" dirty="0" err="1">
                <a:solidFill>
                  <a:schemeClr val="accent4"/>
                </a:solidFill>
              </a:rPr>
              <a:t>myList.length</a:t>
            </a:r>
            <a:r>
              <a:rPr lang="en-US" sz="4000" dirty="0">
                <a:solidFill>
                  <a:schemeClr val="accent4"/>
                </a:solidFill>
              </a:rPr>
              <a:t>; </a:t>
            </a:r>
            <a:r>
              <a:rPr lang="en-US" sz="4000" dirty="0" err="1">
                <a:solidFill>
                  <a:schemeClr val="accent4"/>
                </a:solidFill>
              </a:rPr>
              <a:t>i</a:t>
            </a:r>
            <a:r>
              <a:rPr lang="en-US" sz="4000" dirty="0">
                <a:solidFill>
                  <a:schemeClr val="accent4"/>
                </a:solidFill>
              </a:rPr>
              <a:t>++) {</a:t>
            </a:r>
          </a:p>
          <a:p>
            <a:pPr marL="609600" indent="-609600">
              <a:lnSpc>
                <a:spcPct val="80000"/>
              </a:lnSpc>
              <a:buFont typeface="Monotype Sorts" pitchFamily="2" charset="2"/>
              <a:buNone/>
              <a:defRPr/>
            </a:pPr>
            <a:r>
              <a:rPr lang="en-US" sz="4000" dirty="0">
                <a:solidFill>
                  <a:schemeClr val="accent4"/>
                </a:solidFill>
              </a:rPr>
              <a:t>  total += </a:t>
            </a:r>
            <a:r>
              <a:rPr lang="en-US" sz="4000" dirty="0" err="1">
                <a:solidFill>
                  <a:schemeClr val="accent4"/>
                </a:solidFill>
              </a:rPr>
              <a:t>myList</a:t>
            </a:r>
            <a:r>
              <a:rPr lang="en-US" sz="4000" dirty="0">
                <a:solidFill>
                  <a:schemeClr val="accent4"/>
                </a:solidFill>
              </a:rPr>
              <a:t>[</a:t>
            </a:r>
            <a:r>
              <a:rPr lang="en-US" sz="4000" dirty="0" err="1">
                <a:solidFill>
                  <a:schemeClr val="accent4"/>
                </a:solidFill>
              </a:rPr>
              <a:t>i</a:t>
            </a:r>
            <a:r>
              <a:rPr lang="en-US" sz="4000" dirty="0">
                <a:solidFill>
                  <a:schemeClr val="accent4"/>
                </a:solidFill>
              </a:rPr>
              <a:t>];</a:t>
            </a:r>
          </a:p>
          <a:p>
            <a:pPr marL="609600" indent="-609600">
              <a:lnSpc>
                <a:spcPct val="80000"/>
              </a:lnSpc>
              <a:buFont typeface="Monotype Sorts" pitchFamily="2" charset="2"/>
              <a:buNone/>
              <a:defRPr/>
            </a:pPr>
            <a:r>
              <a:rPr lang="en-US" sz="3500" dirty="0">
                <a:solidFill>
                  <a:schemeClr val="accent4"/>
                </a:solidFill>
              </a:rPr>
              <a:t>// total = total+ </a:t>
            </a:r>
            <a:r>
              <a:rPr lang="en-US" sz="3500" dirty="0" err="1">
                <a:solidFill>
                  <a:schemeClr val="accent4"/>
                </a:solidFill>
              </a:rPr>
              <a:t>myList</a:t>
            </a:r>
            <a:r>
              <a:rPr lang="en-US" sz="3500" dirty="0">
                <a:solidFill>
                  <a:schemeClr val="accent4"/>
                </a:solidFill>
              </a:rPr>
              <a:t>[</a:t>
            </a:r>
            <a:r>
              <a:rPr lang="en-US" sz="3500" dirty="0" err="1">
                <a:solidFill>
                  <a:schemeClr val="accent4"/>
                </a:solidFill>
              </a:rPr>
              <a:t>i</a:t>
            </a:r>
            <a:r>
              <a:rPr lang="en-US" sz="3500" dirty="0">
                <a:solidFill>
                  <a:schemeClr val="accent4"/>
                </a:solidFill>
              </a:rPr>
              <a:t>]</a:t>
            </a:r>
          </a:p>
          <a:p>
            <a:pPr marL="609600" indent="-609600">
              <a:lnSpc>
                <a:spcPct val="80000"/>
              </a:lnSpc>
              <a:buFont typeface="Monotype Sorts" pitchFamily="2" charset="2"/>
              <a:buNone/>
              <a:defRPr/>
            </a:pPr>
            <a:r>
              <a:rPr lang="en-US" sz="4000" dirty="0">
                <a:solidFill>
                  <a:schemeClr val="accent4"/>
                </a:solidFill>
              </a:rPr>
              <a:t>}</a:t>
            </a:r>
          </a:p>
        </p:txBody>
      </p:sp>
      <p:sp>
        <p:nvSpPr>
          <p:cNvPr id="37893" name="Rectangle 4">
            <a:extLst>
              <a:ext uri="{FF2B5EF4-FFF2-40B4-BE49-F238E27FC236}">
                <a16:creationId xmlns:a16="http://schemas.microsoft.com/office/drawing/2014/main" id="{F02347B6-AA6B-40C0-A7DF-35DE8BAC62BD}"/>
              </a:ext>
            </a:extLst>
          </p:cNvPr>
          <p:cNvSpPr>
            <a:spLocks noChangeArrowheads="1"/>
          </p:cNvSpPr>
          <p:nvPr/>
        </p:nvSpPr>
        <p:spPr bwMode="auto">
          <a:xfrm>
            <a:off x="2971800" y="2514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7894" name="Rectangle 5">
            <a:extLst>
              <a:ext uri="{FF2B5EF4-FFF2-40B4-BE49-F238E27FC236}">
                <a16:creationId xmlns:a16="http://schemas.microsoft.com/office/drawing/2014/main" id="{05980925-A5C2-444C-A850-392477C789F3}"/>
              </a:ext>
            </a:extLst>
          </p:cNvPr>
          <p:cNvSpPr>
            <a:spLocks noChangeArrowheads="1"/>
          </p:cNvSpPr>
          <p:nvPr/>
        </p:nvSpPr>
        <p:spPr bwMode="auto">
          <a:xfrm>
            <a:off x="3352800" y="29718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Tree>
    <p:extLst>
      <p:ext uri="{BB962C8B-B14F-4D97-AF65-F5344CB8AC3E}">
        <p14:creationId xmlns:p14="http://schemas.microsoft.com/office/powerpoint/2010/main" val="23943556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2">
            <a:extLst>
              <a:ext uri="{FF2B5EF4-FFF2-40B4-BE49-F238E27FC236}">
                <a16:creationId xmlns:a16="http://schemas.microsoft.com/office/drawing/2014/main" id="{97C4042C-07B5-4CC7-9757-ED0CAACF13B8}"/>
              </a:ext>
            </a:extLst>
          </p:cNvPr>
          <p:cNvSpPr>
            <a:spLocks noGrp="1" noChangeArrowheads="1"/>
          </p:cNvSpPr>
          <p:nvPr>
            <p:ph type="title"/>
          </p:nvPr>
        </p:nvSpPr>
        <p:spPr>
          <a:xfrm>
            <a:off x="309563" y="381000"/>
            <a:ext cx="8564562" cy="782638"/>
          </a:xfrm>
        </p:spPr>
        <p:txBody>
          <a:bodyPr/>
          <a:lstStyle/>
          <a:p>
            <a:r>
              <a:rPr lang="en-US" altLang="en-US" sz="4500">
                <a:cs typeface="Times New Roman" panose="02020603050405020304" pitchFamily="18" charset="0"/>
              </a:rPr>
              <a:t>Finding the largest element</a:t>
            </a:r>
            <a:endParaRPr lang="en-US" altLang="en-US" sz="4500">
              <a:cs typeface="Times New Roman" panose="02020603050405020304" pitchFamily="18" charset="0"/>
              <a:hlinkClick r:id="rId2" action="ppaction://program"/>
            </a:endParaRPr>
          </a:p>
        </p:txBody>
      </p:sp>
      <p:sp>
        <p:nvSpPr>
          <p:cNvPr id="43012" name="Rectangle 3">
            <a:extLst>
              <a:ext uri="{FF2B5EF4-FFF2-40B4-BE49-F238E27FC236}">
                <a16:creationId xmlns:a16="http://schemas.microsoft.com/office/drawing/2014/main" id="{9B31E44D-DBD6-4C26-A494-7512BE9F7DBC}"/>
              </a:ext>
            </a:extLst>
          </p:cNvPr>
          <p:cNvSpPr>
            <a:spLocks noGrp="1" noChangeArrowheads="1"/>
          </p:cNvSpPr>
          <p:nvPr>
            <p:ph type="body" idx="1"/>
          </p:nvPr>
        </p:nvSpPr>
        <p:spPr>
          <a:xfrm>
            <a:off x="155575" y="1778000"/>
            <a:ext cx="8718550" cy="3109913"/>
          </a:xfrm>
        </p:spPr>
        <p:txBody>
          <a:bodyPr/>
          <a:lstStyle/>
          <a:p>
            <a:pPr marL="609600" indent="-609600">
              <a:lnSpc>
                <a:spcPct val="80000"/>
              </a:lnSpc>
              <a:buFont typeface="Monotype Sorts" pitchFamily="2" charset="2"/>
              <a:buNone/>
              <a:defRPr/>
            </a:pPr>
            <a:r>
              <a:rPr lang="en-US" sz="3600" b="1" dirty="0">
                <a:solidFill>
                  <a:schemeClr val="accent4"/>
                </a:solidFill>
              </a:rPr>
              <a:t>double</a:t>
            </a:r>
            <a:r>
              <a:rPr lang="en-US" sz="3600" dirty="0">
                <a:solidFill>
                  <a:schemeClr val="accent4"/>
                </a:solidFill>
              </a:rPr>
              <a:t> max = </a:t>
            </a:r>
            <a:r>
              <a:rPr lang="en-US" sz="3600" dirty="0" err="1">
                <a:solidFill>
                  <a:schemeClr val="accent4"/>
                </a:solidFill>
              </a:rPr>
              <a:t>myList</a:t>
            </a:r>
            <a:r>
              <a:rPr lang="en-US" sz="3600" dirty="0">
                <a:solidFill>
                  <a:schemeClr val="accent4"/>
                </a:solidFill>
              </a:rPr>
              <a:t>[0];</a:t>
            </a:r>
            <a:endParaRPr lang="en-US" sz="3600" b="1" dirty="0">
              <a:solidFill>
                <a:schemeClr val="accent4"/>
              </a:solidFill>
            </a:endParaRPr>
          </a:p>
          <a:p>
            <a:pPr marL="609600" indent="-609600">
              <a:lnSpc>
                <a:spcPct val="80000"/>
              </a:lnSpc>
              <a:buFont typeface="Monotype Sorts" pitchFamily="2" charset="2"/>
              <a:buNone/>
              <a:defRPr/>
            </a:pPr>
            <a:r>
              <a:rPr lang="en-US" sz="3600" b="1" dirty="0">
                <a:solidFill>
                  <a:schemeClr val="accent4"/>
                </a:solidFill>
              </a:rPr>
              <a:t>for</a:t>
            </a:r>
            <a:r>
              <a:rPr lang="en-US" sz="3600" dirty="0">
                <a:solidFill>
                  <a:schemeClr val="accent4"/>
                </a:solidFill>
              </a:rPr>
              <a:t> (</a:t>
            </a:r>
            <a:r>
              <a:rPr lang="en-US" sz="3600" b="1" dirty="0" err="1">
                <a:solidFill>
                  <a:schemeClr val="accent4"/>
                </a:solidFill>
              </a:rPr>
              <a:t>int</a:t>
            </a:r>
            <a:r>
              <a:rPr lang="en-US" sz="3600" dirty="0">
                <a:solidFill>
                  <a:schemeClr val="accent4"/>
                </a:solidFill>
              </a:rPr>
              <a:t> </a:t>
            </a:r>
            <a:r>
              <a:rPr lang="en-US" sz="3600" dirty="0" err="1">
                <a:solidFill>
                  <a:schemeClr val="accent4"/>
                </a:solidFill>
              </a:rPr>
              <a:t>i</a:t>
            </a:r>
            <a:r>
              <a:rPr lang="en-US" sz="3600" dirty="0">
                <a:solidFill>
                  <a:schemeClr val="accent4"/>
                </a:solidFill>
              </a:rPr>
              <a:t> = 1; </a:t>
            </a:r>
            <a:r>
              <a:rPr lang="en-US" sz="3600" dirty="0" err="1">
                <a:solidFill>
                  <a:schemeClr val="accent4"/>
                </a:solidFill>
              </a:rPr>
              <a:t>i</a:t>
            </a:r>
            <a:r>
              <a:rPr lang="en-US" sz="3600" dirty="0">
                <a:solidFill>
                  <a:schemeClr val="accent4"/>
                </a:solidFill>
              </a:rPr>
              <a:t> &lt; </a:t>
            </a:r>
            <a:r>
              <a:rPr lang="en-US" sz="3600" dirty="0" err="1">
                <a:solidFill>
                  <a:schemeClr val="accent4"/>
                </a:solidFill>
              </a:rPr>
              <a:t>myList.length</a:t>
            </a:r>
            <a:r>
              <a:rPr lang="en-US" sz="3600" dirty="0">
                <a:solidFill>
                  <a:schemeClr val="accent4"/>
                </a:solidFill>
              </a:rPr>
              <a:t>; </a:t>
            </a:r>
            <a:r>
              <a:rPr lang="en-US" sz="3600" dirty="0" err="1">
                <a:solidFill>
                  <a:schemeClr val="accent4"/>
                </a:solidFill>
              </a:rPr>
              <a:t>i</a:t>
            </a:r>
            <a:r>
              <a:rPr lang="en-US" sz="3600" dirty="0">
                <a:solidFill>
                  <a:schemeClr val="accent4"/>
                </a:solidFill>
              </a:rPr>
              <a:t>++) {</a:t>
            </a:r>
          </a:p>
          <a:p>
            <a:pPr marL="609600" indent="-609600">
              <a:lnSpc>
                <a:spcPct val="80000"/>
              </a:lnSpc>
              <a:buFont typeface="Monotype Sorts" pitchFamily="2" charset="2"/>
              <a:buNone/>
              <a:defRPr/>
            </a:pPr>
            <a:r>
              <a:rPr lang="en-US" sz="3600" dirty="0">
                <a:solidFill>
                  <a:schemeClr val="accent4"/>
                </a:solidFill>
              </a:rPr>
              <a:t>  </a:t>
            </a:r>
            <a:r>
              <a:rPr lang="en-US" sz="3600" b="1" dirty="0">
                <a:solidFill>
                  <a:schemeClr val="accent4"/>
                </a:solidFill>
              </a:rPr>
              <a:t>if</a:t>
            </a:r>
            <a:r>
              <a:rPr lang="en-US" sz="3600" dirty="0">
                <a:solidFill>
                  <a:schemeClr val="accent4"/>
                </a:solidFill>
              </a:rPr>
              <a:t> (</a:t>
            </a:r>
            <a:r>
              <a:rPr lang="en-US" sz="3600" dirty="0" err="1">
                <a:solidFill>
                  <a:schemeClr val="accent4"/>
                </a:solidFill>
              </a:rPr>
              <a:t>myList</a:t>
            </a:r>
            <a:r>
              <a:rPr lang="en-US" sz="3600" dirty="0">
                <a:solidFill>
                  <a:schemeClr val="accent4"/>
                </a:solidFill>
              </a:rPr>
              <a:t>[i] &gt; max) </a:t>
            </a:r>
          </a:p>
          <a:p>
            <a:pPr marL="609600" indent="-609600">
              <a:lnSpc>
                <a:spcPct val="80000"/>
              </a:lnSpc>
              <a:buFont typeface="Monotype Sorts" pitchFamily="2" charset="2"/>
              <a:buNone/>
              <a:defRPr/>
            </a:pPr>
            <a:r>
              <a:rPr lang="en-US" sz="3600" dirty="0">
                <a:solidFill>
                  <a:schemeClr val="accent4"/>
                </a:solidFill>
              </a:rPr>
              <a:t>         max = </a:t>
            </a:r>
            <a:r>
              <a:rPr lang="en-US" sz="3600" dirty="0" err="1">
                <a:solidFill>
                  <a:schemeClr val="accent4"/>
                </a:solidFill>
              </a:rPr>
              <a:t>myList</a:t>
            </a:r>
            <a:r>
              <a:rPr lang="en-US" sz="3600" dirty="0">
                <a:solidFill>
                  <a:schemeClr val="accent4"/>
                </a:solidFill>
              </a:rPr>
              <a:t>[i];</a:t>
            </a:r>
          </a:p>
          <a:p>
            <a:pPr marL="609600" indent="-609600">
              <a:lnSpc>
                <a:spcPct val="80000"/>
              </a:lnSpc>
              <a:buFont typeface="Monotype Sorts" pitchFamily="2" charset="2"/>
              <a:buNone/>
              <a:defRPr/>
            </a:pPr>
            <a:r>
              <a:rPr lang="en-US" sz="3600" dirty="0">
                <a:solidFill>
                  <a:schemeClr val="accent4"/>
                </a:solidFill>
              </a:rPr>
              <a:t>}</a:t>
            </a:r>
          </a:p>
        </p:txBody>
      </p:sp>
      <p:sp>
        <p:nvSpPr>
          <p:cNvPr id="38917" name="Rectangle 4">
            <a:extLst>
              <a:ext uri="{FF2B5EF4-FFF2-40B4-BE49-F238E27FC236}">
                <a16:creationId xmlns:a16="http://schemas.microsoft.com/office/drawing/2014/main" id="{F184D0B0-8425-4A0D-BA7B-B7D018939312}"/>
              </a:ext>
            </a:extLst>
          </p:cNvPr>
          <p:cNvSpPr>
            <a:spLocks noChangeArrowheads="1"/>
          </p:cNvSpPr>
          <p:nvPr/>
        </p:nvSpPr>
        <p:spPr bwMode="auto">
          <a:xfrm>
            <a:off x="2971800" y="2514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8918" name="Rectangle 5">
            <a:extLst>
              <a:ext uri="{FF2B5EF4-FFF2-40B4-BE49-F238E27FC236}">
                <a16:creationId xmlns:a16="http://schemas.microsoft.com/office/drawing/2014/main" id="{8E27B48A-8C1A-486B-A207-31DE41FECB57}"/>
              </a:ext>
            </a:extLst>
          </p:cNvPr>
          <p:cNvSpPr>
            <a:spLocks noChangeArrowheads="1"/>
          </p:cNvSpPr>
          <p:nvPr/>
        </p:nvSpPr>
        <p:spPr bwMode="auto">
          <a:xfrm>
            <a:off x="3352800" y="29718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Tree>
    <p:extLst>
      <p:ext uri="{BB962C8B-B14F-4D97-AF65-F5344CB8AC3E}">
        <p14:creationId xmlns:p14="http://schemas.microsoft.com/office/powerpoint/2010/main" val="3676085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01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301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301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3012">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301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2">
            <a:extLst>
              <a:ext uri="{FF2B5EF4-FFF2-40B4-BE49-F238E27FC236}">
                <a16:creationId xmlns:a16="http://schemas.microsoft.com/office/drawing/2014/main" id="{6B475C35-CAFB-49EE-8621-4E0AEF7780A9}"/>
              </a:ext>
            </a:extLst>
          </p:cNvPr>
          <p:cNvSpPr>
            <a:spLocks noGrp="1" noChangeArrowheads="1"/>
          </p:cNvSpPr>
          <p:nvPr>
            <p:ph type="title"/>
          </p:nvPr>
        </p:nvSpPr>
        <p:spPr>
          <a:xfrm>
            <a:off x="309563" y="381000"/>
            <a:ext cx="8564562" cy="782638"/>
          </a:xfrm>
        </p:spPr>
        <p:txBody>
          <a:bodyPr/>
          <a:lstStyle/>
          <a:p>
            <a:r>
              <a:rPr lang="en-US" altLang="en-US" sz="4500">
                <a:cs typeface="Times New Roman" panose="02020603050405020304" pitchFamily="18" charset="0"/>
              </a:rPr>
              <a:t>Random shuffling</a:t>
            </a:r>
            <a:endParaRPr lang="en-US" altLang="en-US" sz="4500">
              <a:cs typeface="Times New Roman" panose="02020603050405020304" pitchFamily="18" charset="0"/>
              <a:hlinkClick r:id="rId3" action="ppaction://program"/>
            </a:endParaRPr>
          </a:p>
        </p:txBody>
      </p:sp>
      <p:sp>
        <p:nvSpPr>
          <p:cNvPr id="39940" name="Rectangle 4">
            <a:extLst>
              <a:ext uri="{FF2B5EF4-FFF2-40B4-BE49-F238E27FC236}">
                <a16:creationId xmlns:a16="http://schemas.microsoft.com/office/drawing/2014/main" id="{977B61C9-BC28-43E0-9575-556B89A55D33}"/>
              </a:ext>
            </a:extLst>
          </p:cNvPr>
          <p:cNvSpPr>
            <a:spLocks noChangeArrowheads="1"/>
          </p:cNvSpPr>
          <p:nvPr/>
        </p:nvSpPr>
        <p:spPr bwMode="auto">
          <a:xfrm>
            <a:off x="2971800" y="2514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9941" name="Rectangle 5">
            <a:extLst>
              <a:ext uri="{FF2B5EF4-FFF2-40B4-BE49-F238E27FC236}">
                <a16:creationId xmlns:a16="http://schemas.microsoft.com/office/drawing/2014/main" id="{0FE4F775-A816-4CDC-A561-6F8ABE77C182}"/>
              </a:ext>
            </a:extLst>
          </p:cNvPr>
          <p:cNvSpPr>
            <a:spLocks noChangeArrowheads="1"/>
          </p:cNvSpPr>
          <p:nvPr/>
        </p:nvSpPr>
        <p:spPr bwMode="auto">
          <a:xfrm>
            <a:off x="3343275" y="2968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9942" name="Rectangle 9">
            <a:extLst>
              <a:ext uri="{FF2B5EF4-FFF2-40B4-BE49-F238E27FC236}">
                <a16:creationId xmlns:a16="http://schemas.microsoft.com/office/drawing/2014/main" id="{286B79FD-1D95-4BE7-B386-4409B3DD9081}"/>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39943" name="Picture 8">
            <a:extLst>
              <a:ext uri="{FF2B5EF4-FFF2-40B4-BE49-F238E27FC236}">
                <a16:creationId xmlns:a16="http://schemas.microsoft.com/office/drawing/2014/main" id="{BF6EBBFC-97D5-46C2-9B5B-261290E812C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549" y="3749675"/>
            <a:ext cx="9070975" cy="2559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pic>
        <p:nvPicPr>
          <p:cNvPr id="2" name="Picture 8">
            <a:extLst>
              <a:ext uri="{FF2B5EF4-FFF2-40B4-BE49-F238E27FC236}">
                <a16:creationId xmlns:a16="http://schemas.microsoft.com/office/drawing/2014/main" id="{199613B3-6873-DAA6-38F4-FAEB836A0D1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7422"/>
          <a:stretch/>
        </p:blipFill>
        <p:spPr bwMode="auto">
          <a:xfrm>
            <a:off x="2743200" y="1199356"/>
            <a:ext cx="2955131" cy="2559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extLst>
      <p:ext uri="{BB962C8B-B14F-4D97-AF65-F5344CB8AC3E}">
        <p14:creationId xmlns:p14="http://schemas.microsoft.com/office/powerpoint/2010/main" val="64859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9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2">
            <a:extLst>
              <a:ext uri="{FF2B5EF4-FFF2-40B4-BE49-F238E27FC236}">
                <a16:creationId xmlns:a16="http://schemas.microsoft.com/office/drawing/2014/main" id="{F8D0E9B3-835F-420D-B59E-80A2438F289E}"/>
              </a:ext>
            </a:extLst>
          </p:cNvPr>
          <p:cNvSpPr>
            <a:spLocks noGrp="1" noChangeArrowheads="1"/>
          </p:cNvSpPr>
          <p:nvPr>
            <p:ph type="title"/>
          </p:nvPr>
        </p:nvSpPr>
        <p:spPr>
          <a:xfrm>
            <a:off x="309563" y="381000"/>
            <a:ext cx="8564562" cy="782638"/>
          </a:xfrm>
        </p:spPr>
        <p:txBody>
          <a:bodyPr/>
          <a:lstStyle/>
          <a:p>
            <a:r>
              <a:rPr lang="en-US" altLang="en-US" sz="4500">
                <a:cs typeface="Times New Roman" panose="02020603050405020304" pitchFamily="18" charset="0"/>
              </a:rPr>
              <a:t>Shifting Elements</a:t>
            </a:r>
            <a:endParaRPr lang="en-US" altLang="en-US" sz="4500">
              <a:cs typeface="Times New Roman" panose="02020603050405020304" pitchFamily="18" charset="0"/>
              <a:hlinkClick r:id="rId2" action="ppaction://program"/>
            </a:endParaRPr>
          </a:p>
        </p:txBody>
      </p:sp>
      <p:sp>
        <p:nvSpPr>
          <p:cNvPr id="40964" name="Rectangle 3">
            <a:extLst>
              <a:ext uri="{FF2B5EF4-FFF2-40B4-BE49-F238E27FC236}">
                <a16:creationId xmlns:a16="http://schemas.microsoft.com/office/drawing/2014/main" id="{37B15C57-DD87-44E7-84DD-06D26708677D}"/>
              </a:ext>
            </a:extLst>
          </p:cNvPr>
          <p:cNvSpPr>
            <a:spLocks noChangeArrowheads="1"/>
          </p:cNvSpPr>
          <p:nvPr/>
        </p:nvSpPr>
        <p:spPr bwMode="auto">
          <a:xfrm>
            <a:off x="2971800" y="2514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40965" name="Rectangle 4">
            <a:extLst>
              <a:ext uri="{FF2B5EF4-FFF2-40B4-BE49-F238E27FC236}">
                <a16:creationId xmlns:a16="http://schemas.microsoft.com/office/drawing/2014/main" id="{FEDC6248-4C17-4884-B017-919AFF9D3AD4}"/>
              </a:ext>
            </a:extLst>
          </p:cNvPr>
          <p:cNvSpPr>
            <a:spLocks noChangeArrowheads="1"/>
          </p:cNvSpPr>
          <p:nvPr/>
        </p:nvSpPr>
        <p:spPr bwMode="auto">
          <a:xfrm>
            <a:off x="3343275" y="2968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40966" name="Rectangle 5">
            <a:extLst>
              <a:ext uri="{FF2B5EF4-FFF2-40B4-BE49-F238E27FC236}">
                <a16:creationId xmlns:a16="http://schemas.microsoft.com/office/drawing/2014/main" id="{49ACF800-06AD-42BA-998C-25D6D685089D}"/>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40967" name="Rectangle 8">
            <a:extLst>
              <a:ext uri="{FF2B5EF4-FFF2-40B4-BE49-F238E27FC236}">
                <a16:creationId xmlns:a16="http://schemas.microsoft.com/office/drawing/2014/main" id="{092328B5-C690-498C-A230-7000B3DCB82E}"/>
              </a:ext>
            </a:extLst>
          </p:cNvPr>
          <p:cNvSpPr>
            <a:spLocks noChangeArrowheads="1"/>
          </p:cNvSpPr>
          <p:nvPr/>
        </p:nvSpPr>
        <p:spPr bwMode="auto">
          <a:xfrm>
            <a:off x="0" y="2743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40968" name="Picture 9">
            <a:extLst>
              <a:ext uri="{FF2B5EF4-FFF2-40B4-BE49-F238E27FC236}">
                <a16:creationId xmlns:a16="http://schemas.microsoft.com/office/drawing/2014/main" id="{58FADCCB-8EF1-4B2D-9E2E-8D3888C84BF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8939"/>
          <a:stretch/>
        </p:blipFill>
        <p:spPr bwMode="auto">
          <a:xfrm>
            <a:off x="2362200" y="1560586"/>
            <a:ext cx="3733800" cy="2000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pic>
        <p:nvPicPr>
          <p:cNvPr id="2" name="Picture 9">
            <a:extLst>
              <a:ext uri="{FF2B5EF4-FFF2-40B4-BE49-F238E27FC236}">
                <a16:creationId xmlns:a16="http://schemas.microsoft.com/office/drawing/2014/main" id="{D6F54CF0-F079-68F1-699E-0BD7E2F2CF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800" y="3957784"/>
            <a:ext cx="9093200" cy="2000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extLst>
      <p:ext uri="{BB962C8B-B14F-4D97-AF65-F5344CB8AC3E}">
        <p14:creationId xmlns:p14="http://schemas.microsoft.com/office/powerpoint/2010/main" val="2381104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2">
            <a:extLst>
              <a:ext uri="{FF2B5EF4-FFF2-40B4-BE49-F238E27FC236}">
                <a16:creationId xmlns:a16="http://schemas.microsoft.com/office/drawing/2014/main" id="{6D7846B6-64F5-4391-BC6E-96415A6CE704}"/>
              </a:ext>
            </a:extLst>
          </p:cNvPr>
          <p:cNvSpPr>
            <a:spLocks noGrp="1" noChangeArrowheads="1"/>
          </p:cNvSpPr>
          <p:nvPr>
            <p:ph type="title"/>
          </p:nvPr>
        </p:nvSpPr>
        <p:spPr>
          <a:xfrm>
            <a:off x="609600" y="381000"/>
            <a:ext cx="7772400" cy="533400"/>
          </a:xfrm>
        </p:spPr>
        <p:txBody>
          <a:bodyPr>
            <a:normAutofit fontScale="90000"/>
          </a:bodyPr>
          <a:lstStyle/>
          <a:p>
            <a:r>
              <a:rPr lang="en-US" altLang="en-US" sz="4100"/>
              <a:t>Copying Arrays</a:t>
            </a:r>
            <a:endParaRPr lang="en-US" altLang="en-US" sz="4100">
              <a:solidFill>
                <a:schemeClr val="tx1"/>
              </a:solidFill>
              <a:latin typeface="Book Antiqua" panose="02040602050305030304" pitchFamily="18" charset="0"/>
              <a:hlinkClick r:id="rId2" action="ppaction://program"/>
            </a:endParaRPr>
          </a:p>
        </p:txBody>
      </p:sp>
      <p:sp>
        <p:nvSpPr>
          <p:cNvPr id="50180" name="Rectangle 3">
            <a:extLst>
              <a:ext uri="{FF2B5EF4-FFF2-40B4-BE49-F238E27FC236}">
                <a16:creationId xmlns:a16="http://schemas.microsoft.com/office/drawing/2014/main" id="{F7D51B3D-8EDC-4763-8004-19EB04559483}"/>
              </a:ext>
            </a:extLst>
          </p:cNvPr>
          <p:cNvSpPr>
            <a:spLocks noGrp="1" noChangeArrowheads="1"/>
          </p:cNvSpPr>
          <p:nvPr>
            <p:ph type="body" idx="1"/>
          </p:nvPr>
        </p:nvSpPr>
        <p:spPr>
          <a:xfrm>
            <a:off x="269875" y="1047750"/>
            <a:ext cx="8604250" cy="2247900"/>
          </a:xfrm>
        </p:spPr>
        <p:txBody>
          <a:bodyPr/>
          <a:lstStyle/>
          <a:p>
            <a:pPr marL="0" indent="0">
              <a:lnSpc>
                <a:spcPct val="90000"/>
              </a:lnSpc>
              <a:buFont typeface="Monotype Sorts" pitchFamily="2" charset="2"/>
              <a:buNone/>
            </a:pPr>
            <a:r>
              <a:rPr lang="en-US" altLang="en-US" sz="2300">
                <a:cs typeface="Courier New" panose="02070309020205020404" pitchFamily="49" charset="0"/>
              </a:rPr>
              <a:t>Often, in a program, you need to duplicate an array or a part of an array. In such cases you could attempt to use the assignment statement (=), as follows:</a:t>
            </a:r>
            <a:endParaRPr lang="en-US" altLang="en-US" sz="2300">
              <a:cs typeface="Times New Roman" panose="02020603050405020304" pitchFamily="18" charset="0"/>
            </a:endParaRPr>
          </a:p>
          <a:p>
            <a:pPr marL="0" indent="0">
              <a:lnSpc>
                <a:spcPct val="90000"/>
              </a:lnSpc>
              <a:buFont typeface="Monotype Sorts" pitchFamily="2" charset="2"/>
              <a:buNone/>
            </a:pPr>
            <a:r>
              <a:rPr lang="en-US" altLang="en-US" sz="2300">
                <a:cs typeface="Courier New" panose="02070309020205020404" pitchFamily="49" charset="0"/>
              </a:rPr>
              <a:t> </a:t>
            </a:r>
            <a:endParaRPr lang="en-US" altLang="en-US" sz="2300">
              <a:cs typeface="Times New Roman" panose="02020603050405020304" pitchFamily="18" charset="0"/>
            </a:endParaRPr>
          </a:p>
          <a:p>
            <a:pPr marL="0" indent="0">
              <a:lnSpc>
                <a:spcPct val="90000"/>
              </a:lnSpc>
              <a:buFont typeface="Monotype Sorts" pitchFamily="2" charset="2"/>
              <a:buNone/>
            </a:pPr>
            <a:r>
              <a:rPr lang="en-US" altLang="en-US" sz="2300">
                <a:cs typeface="Courier New" panose="02070309020205020404" pitchFamily="49" charset="0"/>
              </a:rPr>
              <a:t>list2 = list1;</a:t>
            </a:r>
            <a:endParaRPr lang="en-US" altLang="en-US" sz="2300">
              <a:cs typeface="Times New Roman" panose="02020603050405020304" pitchFamily="18" charset="0"/>
            </a:endParaRPr>
          </a:p>
          <a:p>
            <a:pPr marL="0" indent="0">
              <a:lnSpc>
                <a:spcPct val="90000"/>
              </a:lnSpc>
              <a:buFont typeface="Monotype Sorts" pitchFamily="2" charset="2"/>
              <a:buNone/>
            </a:pPr>
            <a:r>
              <a:rPr lang="en-US" altLang="en-US" sz="2300">
                <a:cs typeface="Courier New" panose="02070309020205020404" pitchFamily="49" charset="0"/>
              </a:rPr>
              <a:t> </a:t>
            </a:r>
            <a:endParaRPr lang="en-US" altLang="en-US" sz="2300">
              <a:cs typeface="Times New Roman" panose="02020603050405020304" pitchFamily="18" charset="0"/>
            </a:endParaRPr>
          </a:p>
        </p:txBody>
      </p:sp>
      <p:pic>
        <p:nvPicPr>
          <p:cNvPr id="50181" name="Picture 6">
            <a:extLst>
              <a:ext uri="{FF2B5EF4-FFF2-40B4-BE49-F238E27FC236}">
                <a16:creationId xmlns:a16="http://schemas.microsoft.com/office/drawing/2014/main" id="{6D82595D-471E-4ABC-BFA1-A360603031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4050" y="3006725"/>
            <a:ext cx="8369300" cy="3403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extLst>
      <p:ext uri="{BB962C8B-B14F-4D97-AF65-F5344CB8AC3E}">
        <p14:creationId xmlns:p14="http://schemas.microsoft.com/office/powerpoint/2010/main" val="2720376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2">
            <a:extLst>
              <a:ext uri="{FF2B5EF4-FFF2-40B4-BE49-F238E27FC236}">
                <a16:creationId xmlns:a16="http://schemas.microsoft.com/office/drawing/2014/main" id="{E9C7C97E-A0A3-4B44-9746-F7B825A56ED4}"/>
              </a:ext>
            </a:extLst>
          </p:cNvPr>
          <p:cNvSpPr>
            <a:spLocks noGrp="1" noChangeArrowheads="1"/>
          </p:cNvSpPr>
          <p:nvPr>
            <p:ph type="title"/>
          </p:nvPr>
        </p:nvSpPr>
        <p:spPr>
          <a:xfrm>
            <a:off x="685800" y="76200"/>
            <a:ext cx="7772400" cy="1047750"/>
          </a:xfrm>
          <a:noFill/>
        </p:spPr>
        <p:txBody>
          <a:bodyPr/>
          <a:lstStyle/>
          <a:p>
            <a:r>
              <a:rPr lang="en-US" altLang="en-US"/>
              <a:t>Copying Arrays</a:t>
            </a:r>
          </a:p>
        </p:txBody>
      </p:sp>
      <p:sp>
        <p:nvSpPr>
          <p:cNvPr id="51204" name="Rectangle 3">
            <a:extLst>
              <a:ext uri="{FF2B5EF4-FFF2-40B4-BE49-F238E27FC236}">
                <a16:creationId xmlns:a16="http://schemas.microsoft.com/office/drawing/2014/main" id="{FF37827B-6511-4AD5-8C83-C60A5DD11CC3}"/>
              </a:ext>
            </a:extLst>
          </p:cNvPr>
          <p:cNvSpPr>
            <a:spLocks noGrp="1" noChangeArrowheads="1"/>
          </p:cNvSpPr>
          <p:nvPr>
            <p:ph type="body" idx="1"/>
          </p:nvPr>
        </p:nvSpPr>
        <p:spPr>
          <a:xfrm>
            <a:off x="76200" y="2133600"/>
            <a:ext cx="8991600" cy="3657600"/>
          </a:xfrm>
          <a:noFill/>
        </p:spPr>
        <p:txBody>
          <a:bodyPr/>
          <a:lstStyle/>
          <a:p>
            <a:pPr>
              <a:buFont typeface="Monotype Sorts" pitchFamily="2" charset="2"/>
              <a:buNone/>
            </a:pPr>
            <a:endParaRPr lang="en-US" altLang="en-US" sz="3000" dirty="0"/>
          </a:p>
          <a:p>
            <a:pPr>
              <a:buFont typeface="Monotype Sorts" pitchFamily="2" charset="2"/>
              <a:buNone/>
            </a:pPr>
            <a:r>
              <a:rPr lang="en-US" altLang="en-US" sz="3000" dirty="0"/>
              <a:t>Using a loop:</a:t>
            </a:r>
            <a:endParaRPr lang="en-US" altLang="en-US" dirty="0"/>
          </a:p>
          <a:p>
            <a:pPr>
              <a:spcBef>
                <a:spcPct val="50000"/>
              </a:spcBef>
              <a:buFont typeface="Monotype Sorts" pitchFamily="2" charset="2"/>
              <a:buNone/>
            </a:pPr>
            <a:r>
              <a:rPr lang="en-US" altLang="en-US" sz="2400" b="1" dirty="0" err="1">
                <a:latin typeface="Courier New" panose="02070309020205020404" pitchFamily="49" charset="0"/>
              </a:rPr>
              <a:t>int</a:t>
            </a:r>
            <a:r>
              <a:rPr lang="en-US" altLang="en-US" sz="2400" b="1" dirty="0">
                <a:latin typeface="Courier New" panose="02070309020205020404" pitchFamily="49" charset="0"/>
              </a:rPr>
              <a:t>[] </a:t>
            </a:r>
            <a:r>
              <a:rPr lang="en-US" altLang="en-US" sz="2400" b="1" dirty="0" err="1">
                <a:latin typeface="Courier New" panose="02070309020205020404" pitchFamily="49" charset="0"/>
              </a:rPr>
              <a:t>sourceArray</a:t>
            </a:r>
            <a:r>
              <a:rPr lang="en-US" altLang="en-US" sz="2400" b="1" dirty="0">
                <a:latin typeface="Courier New" panose="02070309020205020404" pitchFamily="49" charset="0"/>
              </a:rPr>
              <a:t> = {2, 3, 1, 5, 10};</a:t>
            </a:r>
          </a:p>
          <a:p>
            <a:pPr>
              <a:buFont typeface="Monotype Sorts" pitchFamily="2" charset="2"/>
              <a:buNone/>
            </a:pPr>
            <a:r>
              <a:rPr lang="en-US" altLang="en-US" sz="2400" b="1" dirty="0" err="1">
                <a:latin typeface="Courier New" panose="02070309020205020404" pitchFamily="49" charset="0"/>
              </a:rPr>
              <a:t>int</a:t>
            </a:r>
            <a:r>
              <a:rPr lang="en-US" altLang="en-US" sz="2400" b="1" dirty="0">
                <a:latin typeface="Courier New" panose="02070309020205020404" pitchFamily="49" charset="0"/>
              </a:rPr>
              <a:t>[] </a:t>
            </a:r>
            <a:r>
              <a:rPr lang="en-US" altLang="en-US" sz="2400" b="1" dirty="0" err="1">
                <a:latin typeface="Courier New" panose="02070309020205020404" pitchFamily="49" charset="0"/>
              </a:rPr>
              <a:t>targetArray</a:t>
            </a:r>
            <a:r>
              <a:rPr lang="en-US" altLang="en-US" sz="2400" b="1" dirty="0">
                <a:latin typeface="Courier New" panose="02070309020205020404" pitchFamily="49" charset="0"/>
              </a:rPr>
              <a:t> = new </a:t>
            </a:r>
            <a:r>
              <a:rPr lang="en-US" altLang="en-US" sz="2400" b="1" dirty="0" err="1">
                <a:latin typeface="Courier New" panose="02070309020205020404" pitchFamily="49" charset="0"/>
              </a:rPr>
              <a:t>int</a:t>
            </a:r>
            <a:r>
              <a:rPr lang="en-US" altLang="en-US" sz="2400" b="1" dirty="0">
                <a:latin typeface="Courier New" panose="02070309020205020404" pitchFamily="49" charset="0"/>
              </a:rPr>
              <a:t>[</a:t>
            </a:r>
            <a:r>
              <a:rPr lang="en-US" altLang="en-US" sz="2400" b="1" dirty="0" err="1">
                <a:latin typeface="Courier New" panose="02070309020205020404" pitchFamily="49" charset="0"/>
              </a:rPr>
              <a:t>sourceArray.length</a:t>
            </a:r>
            <a:r>
              <a:rPr lang="en-US" altLang="en-US" sz="2400" b="1" dirty="0">
                <a:latin typeface="Courier New" panose="02070309020205020404" pitchFamily="49" charset="0"/>
              </a:rPr>
              <a:t>];</a:t>
            </a:r>
          </a:p>
          <a:p>
            <a:pPr>
              <a:buFont typeface="Monotype Sorts" pitchFamily="2" charset="2"/>
              <a:buNone/>
            </a:pPr>
            <a:endParaRPr lang="en-US" altLang="en-US" sz="2400" b="1" dirty="0">
              <a:latin typeface="Courier New" panose="02070309020205020404" pitchFamily="49" charset="0"/>
            </a:endParaRPr>
          </a:p>
          <a:p>
            <a:pPr>
              <a:buFont typeface="Monotype Sorts" pitchFamily="2" charset="2"/>
              <a:buNone/>
            </a:pPr>
            <a:r>
              <a:rPr lang="en-US" altLang="en-US" sz="2400" b="1" dirty="0">
                <a:latin typeface="Courier New" panose="02070309020205020404" pitchFamily="49" charset="0"/>
              </a:rPr>
              <a:t>for (</a:t>
            </a:r>
            <a:r>
              <a:rPr lang="en-US" altLang="en-US" sz="2400" b="1" dirty="0" err="1">
                <a:latin typeface="Courier New" panose="02070309020205020404" pitchFamily="49" charset="0"/>
              </a:rPr>
              <a:t>int</a:t>
            </a:r>
            <a:r>
              <a:rPr lang="en-US" altLang="en-US" sz="2400" b="1" dirty="0">
                <a:latin typeface="Courier New" panose="02070309020205020404" pitchFamily="49" charset="0"/>
              </a:rPr>
              <a:t> i = 0; i &lt; </a:t>
            </a:r>
            <a:r>
              <a:rPr lang="en-US" altLang="en-US" sz="2400" b="1" dirty="0" err="1">
                <a:latin typeface="Courier New" panose="02070309020205020404" pitchFamily="49" charset="0"/>
              </a:rPr>
              <a:t>sourceArrays.length</a:t>
            </a:r>
            <a:r>
              <a:rPr lang="en-US" altLang="en-US" sz="2400" b="1" dirty="0">
                <a:latin typeface="Courier New" panose="02070309020205020404" pitchFamily="49" charset="0"/>
              </a:rPr>
              <a:t>; i++)</a:t>
            </a:r>
          </a:p>
          <a:p>
            <a:pPr>
              <a:buFont typeface="Monotype Sorts" pitchFamily="2" charset="2"/>
              <a:buNone/>
            </a:pPr>
            <a:r>
              <a:rPr lang="en-US" altLang="en-US" sz="2400" b="1" dirty="0">
                <a:latin typeface="Courier New" panose="02070309020205020404" pitchFamily="49" charset="0"/>
              </a:rPr>
              <a:t>   </a:t>
            </a:r>
            <a:r>
              <a:rPr lang="en-US" altLang="en-US" sz="2400" b="1" dirty="0" err="1">
                <a:latin typeface="Courier New" panose="02070309020205020404" pitchFamily="49" charset="0"/>
              </a:rPr>
              <a:t>targetArray</a:t>
            </a:r>
            <a:r>
              <a:rPr lang="en-US" altLang="en-US" sz="2400" b="1" dirty="0">
                <a:latin typeface="Courier New" panose="02070309020205020404" pitchFamily="49" charset="0"/>
              </a:rPr>
              <a:t>[i] = </a:t>
            </a:r>
            <a:r>
              <a:rPr lang="en-US" altLang="en-US" sz="2400" b="1" dirty="0" err="1">
                <a:latin typeface="Courier New" panose="02070309020205020404" pitchFamily="49" charset="0"/>
              </a:rPr>
              <a:t>sourceArray</a:t>
            </a:r>
            <a:r>
              <a:rPr lang="en-US" altLang="en-US" sz="2400" b="1" dirty="0">
                <a:latin typeface="Courier New" panose="02070309020205020404" pitchFamily="49" charset="0"/>
              </a:rPr>
              <a:t>[i];</a:t>
            </a:r>
          </a:p>
          <a:p>
            <a:pPr algn="just">
              <a:buFont typeface="Monotype Sorts" pitchFamily="2" charset="2"/>
              <a:buNone/>
            </a:pPr>
            <a:endParaRPr lang="en-US" altLang="en-US" sz="2800" dirty="0"/>
          </a:p>
        </p:txBody>
      </p:sp>
      <p:sp>
        <p:nvSpPr>
          <p:cNvPr id="2" name="Rectangle 1"/>
          <p:cNvSpPr/>
          <p:nvPr/>
        </p:nvSpPr>
        <p:spPr>
          <a:xfrm>
            <a:off x="228600" y="1219200"/>
            <a:ext cx="8686800" cy="70788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2000" dirty="0"/>
              <a:t>To copy the contents of one array into another, you have to copy the array’s individual elements into the other array</a:t>
            </a:r>
          </a:p>
        </p:txBody>
      </p:sp>
    </p:spTree>
    <p:extLst>
      <p:ext uri="{BB962C8B-B14F-4D97-AF65-F5344CB8AC3E}">
        <p14:creationId xmlns:p14="http://schemas.microsoft.com/office/powerpoint/2010/main" val="173474806"/>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2">
            <a:extLst>
              <a:ext uri="{FF2B5EF4-FFF2-40B4-BE49-F238E27FC236}">
                <a16:creationId xmlns:a16="http://schemas.microsoft.com/office/drawing/2014/main" id="{A21C7BB4-1137-41A5-9470-60D564A804CC}"/>
              </a:ext>
            </a:extLst>
          </p:cNvPr>
          <p:cNvSpPr>
            <a:spLocks noGrp="1" noChangeArrowheads="1"/>
          </p:cNvSpPr>
          <p:nvPr>
            <p:ph type="title"/>
          </p:nvPr>
        </p:nvSpPr>
        <p:spPr>
          <a:xfrm>
            <a:off x="685800" y="152400"/>
            <a:ext cx="7772400" cy="895350"/>
          </a:xfrm>
          <a:noFill/>
        </p:spPr>
        <p:txBody>
          <a:bodyPr/>
          <a:lstStyle/>
          <a:p>
            <a:r>
              <a:rPr lang="en-US" altLang="en-US" dirty="0"/>
              <a:t>The </a:t>
            </a:r>
            <a:r>
              <a:rPr lang="en-US" altLang="en-US" sz="4200" dirty="0" err="1">
                <a:latin typeface="Courier New" panose="02070309020205020404" pitchFamily="49" charset="0"/>
              </a:rPr>
              <a:t>arraycopy</a:t>
            </a:r>
            <a:r>
              <a:rPr lang="en-US" altLang="en-US" dirty="0"/>
              <a:t> Utility</a:t>
            </a:r>
          </a:p>
        </p:txBody>
      </p:sp>
      <p:sp>
        <p:nvSpPr>
          <p:cNvPr id="52228" name="Rectangle 3">
            <a:extLst>
              <a:ext uri="{FF2B5EF4-FFF2-40B4-BE49-F238E27FC236}">
                <a16:creationId xmlns:a16="http://schemas.microsoft.com/office/drawing/2014/main" id="{90DAD934-F952-4C16-9C0C-A7D5BB670CD1}"/>
              </a:ext>
            </a:extLst>
          </p:cNvPr>
          <p:cNvSpPr>
            <a:spLocks noGrp="1" noChangeArrowheads="1"/>
          </p:cNvSpPr>
          <p:nvPr>
            <p:ph type="body" idx="1"/>
          </p:nvPr>
        </p:nvSpPr>
        <p:spPr>
          <a:xfrm>
            <a:off x="228600" y="2209800"/>
            <a:ext cx="8534400" cy="3733800"/>
          </a:xfrm>
          <a:noFill/>
        </p:spPr>
        <p:txBody>
          <a:bodyPr>
            <a:normAutofit/>
          </a:bodyPr>
          <a:lstStyle/>
          <a:p>
            <a:pPr algn="just">
              <a:buFontTx/>
              <a:buChar char="-"/>
            </a:pPr>
            <a:r>
              <a:rPr lang="en-US" altLang="en-US" sz="2400" b="1" dirty="0" err="1"/>
              <a:t>srcPos</a:t>
            </a:r>
            <a:r>
              <a:rPr lang="en-US" altLang="en-US" sz="2400" dirty="0"/>
              <a:t> and  </a:t>
            </a:r>
            <a:r>
              <a:rPr lang="en-US" altLang="en-US" sz="2400" b="1" dirty="0" err="1"/>
              <a:t>tarPos</a:t>
            </a:r>
            <a:r>
              <a:rPr lang="en-US" altLang="en-US" sz="2400" dirty="0"/>
              <a:t> indicate the starting positions in  </a:t>
            </a:r>
            <a:r>
              <a:rPr lang="en-US" altLang="en-US" sz="2400" b="1" dirty="0" err="1"/>
              <a:t>sourceArray</a:t>
            </a:r>
            <a:r>
              <a:rPr lang="en-US" altLang="en-US" sz="2400" dirty="0"/>
              <a:t> and </a:t>
            </a:r>
            <a:r>
              <a:rPr lang="en-US" altLang="en-US" sz="2400" b="1" dirty="0" err="1"/>
              <a:t>targetArray</a:t>
            </a:r>
            <a:r>
              <a:rPr lang="en-US" altLang="en-US" sz="2400" dirty="0"/>
              <a:t>, respectively</a:t>
            </a:r>
          </a:p>
          <a:p>
            <a:pPr algn="just">
              <a:buFontTx/>
              <a:buChar char="-"/>
            </a:pPr>
            <a:r>
              <a:rPr lang="en-US" altLang="en-US" sz="2400" b="1" dirty="0"/>
              <a:t>length </a:t>
            </a:r>
            <a:r>
              <a:rPr lang="en-US" altLang="en-US" sz="2400" dirty="0"/>
              <a:t>number of elements copied from </a:t>
            </a:r>
            <a:r>
              <a:rPr lang="en-US" altLang="en-US" sz="2400" b="1" dirty="0" err="1"/>
              <a:t>sourceArray</a:t>
            </a:r>
            <a:r>
              <a:rPr lang="en-US" altLang="en-US" sz="2400" dirty="0"/>
              <a:t> to </a:t>
            </a:r>
            <a:r>
              <a:rPr lang="en-US" altLang="en-US" sz="2400" b="1" dirty="0" err="1"/>
              <a:t>targetArray</a:t>
            </a:r>
            <a:endParaRPr lang="en-US" altLang="en-US" sz="2400" b="1" dirty="0"/>
          </a:p>
          <a:p>
            <a:pPr algn="just">
              <a:buFontTx/>
              <a:buChar char="-"/>
            </a:pPr>
            <a:endParaRPr lang="en-US" altLang="en-US" sz="2400" dirty="0"/>
          </a:p>
          <a:p>
            <a:pPr algn="just">
              <a:spcBef>
                <a:spcPct val="0"/>
              </a:spcBef>
              <a:buFont typeface="Monotype Sorts" pitchFamily="2" charset="2"/>
              <a:buNone/>
            </a:pPr>
            <a:r>
              <a:rPr lang="en-US" altLang="en-US" sz="2800" dirty="0"/>
              <a:t>Example:</a:t>
            </a:r>
            <a:endParaRPr lang="en-US" altLang="en-US" sz="2400" dirty="0"/>
          </a:p>
          <a:p>
            <a:pPr algn="ctr">
              <a:buFont typeface="Monotype Sorts" pitchFamily="2" charset="2"/>
              <a:buNone/>
            </a:pPr>
            <a:endParaRPr lang="en-US" altLang="en-US" sz="2000" b="1" dirty="0">
              <a:latin typeface="+mj-lt"/>
            </a:endParaRPr>
          </a:p>
          <a:p>
            <a:pPr algn="ctr">
              <a:buFont typeface="Monotype Sorts" pitchFamily="2" charset="2"/>
              <a:buNone/>
            </a:pPr>
            <a:r>
              <a:rPr lang="en-US" altLang="en-US" sz="2000" b="1" dirty="0" err="1">
                <a:latin typeface="+mj-lt"/>
              </a:rPr>
              <a:t>System.arraycopy</a:t>
            </a:r>
            <a:r>
              <a:rPr lang="en-US" altLang="en-US" sz="2000" b="1" dirty="0">
                <a:latin typeface="+mj-lt"/>
              </a:rPr>
              <a:t>(</a:t>
            </a:r>
            <a:r>
              <a:rPr lang="en-US" altLang="en-US" sz="2000" b="1" dirty="0" err="1">
                <a:latin typeface="+mj-lt"/>
              </a:rPr>
              <a:t>sourceArray</a:t>
            </a:r>
            <a:r>
              <a:rPr lang="en-US" altLang="en-US" sz="2000" b="1" dirty="0">
                <a:latin typeface="+mj-lt"/>
              </a:rPr>
              <a:t>, 0, </a:t>
            </a:r>
            <a:r>
              <a:rPr lang="en-US" altLang="en-US" sz="2000" b="1" dirty="0" err="1">
                <a:latin typeface="+mj-lt"/>
              </a:rPr>
              <a:t>targetArray</a:t>
            </a:r>
            <a:r>
              <a:rPr lang="en-US" altLang="en-US" sz="2000" b="1" dirty="0">
                <a:latin typeface="+mj-lt"/>
              </a:rPr>
              <a:t>, 0, </a:t>
            </a:r>
            <a:r>
              <a:rPr lang="en-US" altLang="en-US" sz="2000" b="1" dirty="0" err="1">
                <a:latin typeface="+mj-lt"/>
              </a:rPr>
              <a:t>sourceArray.length</a:t>
            </a:r>
            <a:r>
              <a:rPr lang="en-US" altLang="en-US" sz="2000" b="1" dirty="0">
                <a:latin typeface="+mj-lt"/>
              </a:rPr>
              <a:t>);</a:t>
            </a:r>
            <a:r>
              <a:rPr lang="en-US" altLang="en-US" sz="1800" b="1" dirty="0">
                <a:latin typeface="+mj-lt"/>
              </a:rPr>
              <a:t> </a:t>
            </a:r>
          </a:p>
        </p:txBody>
      </p:sp>
      <p:sp>
        <p:nvSpPr>
          <p:cNvPr id="2" name="Rectangle 1"/>
          <p:cNvSpPr/>
          <p:nvPr/>
        </p:nvSpPr>
        <p:spPr>
          <a:xfrm>
            <a:off x="228600" y="1214735"/>
            <a:ext cx="8763000" cy="46166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ctr">
              <a:buFont typeface="Monotype Sorts" pitchFamily="2" charset="2"/>
              <a:buNone/>
            </a:pPr>
            <a:r>
              <a:rPr lang="en-US" altLang="en-US" sz="2400" b="1" dirty="0" err="1"/>
              <a:t>arraycopy</a:t>
            </a:r>
            <a:r>
              <a:rPr lang="en-US" altLang="en-US" sz="2400" b="1" dirty="0"/>
              <a:t>(</a:t>
            </a:r>
            <a:r>
              <a:rPr lang="en-US" altLang="en-US" sz="2400" b="1" dirty="0" err="1"/>
              <a:t>sourceArray</a:t>
            </a:r>
            <a:r>
              <a:rPr lang="en-US" altLang="en-US" sz="2400" b="1" dirty="0"/>
              <a:t>, </a:t>
            </a:r>
            <a:r>
              <a:rPr lang="en-US" altLang="en-US" sz="2400" b="1" dirty="0" err="1"/>
              <a:t>src_pos</a:t>
            </a:r>
            <a:r>
              <a:rPr lang="en-US" altLang="en-US" sz="2400" b="1" dirty="0"/>
              <a:t>, </a:t>
            </a:r>
            <a:r>
              <a:rPr lang="en-US" altLang="en-US" sz="2400" b="1" dirty="0" err="1"/>
              <a:t>targetArray</a:t>
            </a:r>
            <a:r>
              <a:rPr lang="en-US" altLang="en-US" sz="2400" b="1" dirty="0"/>
              <a:t>, </a:t>
            </a:r>
            <a:r>
              <a:rPr lang="en-US" altLang="en-US" sz="2400" b="1" dirty="0" err="1"/>
              <a:t>tar_pos</a:t>
            </a:r>
            <a:r>
              <a:rPr lang="en-US" altLang="en-US" sz="2400" b="1" dirty="0"/>
              <a:t>, length);</a:t>
            </a:r>
          </a:p>
        </p:txBody>
      </p:sp>
    </p:spTree>
    <p:extLst>
      <p:ext uri="{BB962C8B-B14F-4D97-AF65-F5344CB8AC3E}">
        <p14:creationId xmlns:p14="http://schemas.microsoft.com/office/powerpoint/2010/main" val="11298347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2">
            <a:extLst>
              <a:ext uri="{FF2B5EF4-FFF2-40B4-BE49-F238E27FC236}">
                <a16:creationId xmlns:a16="http://schemas.microsoft.com/office/drawing/2014/main" id="{99AFEE59-D866-49A2-95E5-62DEEED9B5B7}"/>
              </a:ext>
            </a:extLst>
          </p:cNvPr>
          <p:cNvSpPr>
            <a:spLocks noGrp="1" noChangeArrowheads="1"/>
          </p:cNvSpPr>
          <p:nvPr>
            <p:ph type="title"/>
          </p:nvPr>
        </p:nvSpPr>
        <p:spPr>
          <a:xfrm>
            <a:off x="609600" y="228600"/>
            <a:ext cx="7772400" cy="838200"/>
          </a:xfrm>
        </p:spPr>
        <p:txBody>
          <a:bodyPr/>
          <a:lstStyle/>
          <a:p>
            <a:r>
              <a:rPr lang="en-US" altLang="en-US"/>
              <a:t>Passing Arrays to Methods</a:t>
            </a:r>
            <a:endParaRPr lang="en-US" altLang="en-US">
              <a:solidFill>
                <a:schemeClr val="tx1"/>
              </a:solidFill>
              <a:latin typeface="Book Antiqua" panose="02040602050305030304" pitchFamily="18" charset="0"/>
              <a:hlinkClick r:id="rId2" action="ppaction://program"/>
            </a:endParaRPr>
          </a:p>
        </p:txBody>
      </p:sp>
      <p:sp>
        <p:nvSpPr>
          <p:cNvPr id="53252" name="Rectangle 3">
            <a:extLst>
              <a:ext uri="{FF2B5EF4-FFF2-40B4-BE49-F238E27FC236}">
                <a16:creationId xmlns:a16="http://schemas.microsoft.com/office/drawing/2014/main" id="{D6032DEE-1A31-47AD-93F0-922D9263CA2E}"/>
              </a:ext>
            </a:extLst>
          </p:cNvPr>
          <p:cNvSpPr>
            <a:spLocks noGrp="1" noChangeArrowheads="1"/>
          </p:cNvSpPr>
          <p:nvPr>
            <p:ph type="body" idx="1"/>
          </p:nvPr>
        </p:nvSpPr>
        <p:spPr>
          <a:xfrm>
            <a:off x="309093" y="3147811"/>
            <a:ext cx="6400800" cy="1676400"/>
          </a:xfrm>
        </p:spPr>
        <p:txBody>
          <a:bodyPr/>
          <a:lstStyle/>
          <a:p>
            <a:pPr marL="0" indent="0">
              <a:lnSpc>
                <a:spcPct val="90000"/>
              </a:lnSpc>
              <a:buFont typeface="Monotype Sorts" pitchFamily="2" charset="2"/>
              <a:buNone/>
            </a:pPr>
            <a:r>
              <a:rPr lang="en-US" altLang="en-US" sz="1800" b="1" dirty="0">
                <a:latin typeface="Courier New" panose="02070309020205020404" pitchFamily="49" charset="0"/>
                <a:cs typeface="Courier New" panose="02070309020205020404" pitchFamily="49" charset="0"/>
              </a:rPr>
              <a:t>public static void </a:t>
            </a:r>
            <a:r>
              <a:rPr lang="en-US" altLang="en-US" sz="1800" b="1" dirty="0" err="1">
                <a:latin typeface="Courier New" panose="02070309020205020404" pitchFamily="49" charset="0"/>
                <a:cs typeface="Courier New" panose="02070309020205020404" pitchFamily="49" charset="0"/>
              </a:rPr>
              <a:t>printArray</a:t>
            </a:r>
            <a:r>
              <a:rPr lang="en-US" altLang="en-US" sz="1800" b="1" dirty="0">
                <a:latin typeface="Courier New" panose="02070309020205020404" pitchFamily="49" charset="0"/>
                <a:cs typeface="Courier New" panose="02070309020205020404" pitchFamily="49" charset="0"/>
              </a:rPr>
              <a:t>(</a:t>
            </a:r>
            <a:r>
              <a:rPr lang="en-US" altLang="en-US" sz="1800" b="1" dirty="0" err="1">
                <a:latin typeface="Courier New" panose="02070309020205020404" pitchFamily="49" charset="0"/>
                <a:cs typeface="Courier New" panose="02070309020205020404" pitchFamily="49" charset="0"/>
              </a:rPr>
              <a:t>int</a:t>
            </a:r>
            <a:r>
              <a:rPr lang="en-US" altLang="en-US" sz="1800" b="1" dirty="0">
                <a:latin typeface="Courier New" panose="02070309020205020404" pitchFamily="49" charset="0"/>
                <a:cs typeface="Courier New" panose="02070309020205020404" pitchFamily="49" charset="0"/>
              </a:rPr>
              <a:t>[] array) {</a:t>
            </a:r>
            <a:endParaRPr lang="en-US" altLang="en-US" sz="1800" b="1" dirty="0">
              <a:latin typeface="Courier"/>
              <a:cs typeface="Times New Roman" panose="02020603050405020304" pitchFamily="18" charset="0"/>
            </a:endParaRPr>
          </a:p>
          <a:p>
            <a:pPr marL="0" indent="0">
              <a:lnSpc>
                <a:spcPct val="90000"/>
              </a:lnSpc>
              <a:buFont typeface="Monotype Sorts" pitchFamily="2" charset="2"/>
              <a:buNone/>
            </a:pPr>
            <a:r>
              <a:rPr lang="en-US" altLang="en-US" sz="1800" b="1" dirty="0">
                <a:latin typeface="Courier New" panose="02070309020205020404" pitchFamily="49" charset="0"/>
                <a:cs typeface="Courier New" panose="02070309020205020404" pitchFamily="49" charset="0"/>
              </a:rPr>
              <a:t>  for (</a:t>
            </a:r>
            <a:r>
              <a:rPr lang="en-US" altLang="en-US" sz="1800" b="1" dirty="0" err="1">
                <a:latin typeface="Courier New" panose="02070309020205020404" pitchFamily="49" charset="0"/>
                <a:cs typeface="Courier New" panose="02070309020205020404" pitchFamily="49" charset="0"/>
              </a:rPr>
              <a:t>int</a:t>
            </a:r>
            <a:r>
              <a:rPr lang="en-US" altLang="en-US" sz="1800" b="1" dirty="0">
                <a:latin typeface="Courier New" panose="02070309020205020404" pitchFamily="49" charset="0"/>
                <a:cs typeface="Courier New" panose="02070309020205020404" pitchFamily="49" charset="0"/>
              </a:rPr>
              <a:t> i = 0; i &lt; </a:t>
            </a:r>
            <a:r>
              <a:rPr lang="en-US" altLang="en-US" sz="1800" b="1" dirty="0" err="1">
                <a:latin typeface="Courier New" panose="02070309020205020404" pitchFamily="49" charset="0"/>
                <a:cs typeface="Courier New" panose="02070309020205020404" pitchFamily="49" charset="0"/>
              </a:rPr>
              <a:t>array.length</a:t>
            </a:r>
            <a:r>
              <a:rPr lang="en-US" altLang="en-US" sz="1800" b="1" dirty="0">
                <a:latin typeface="Courier New" panose="02070309020205020404" pitchFamily="49" charset="0"/>
                <a:cs typeface="Courier New" panose="02070309020205020404" pitchFamily="49" charset="0"/>
              </a:rPr>
              <a:t>; i++) {</a:t>
            </a:r>
            <a:endParaRPr lang="en-US" altLang="en-US" sz="1800" b="1" dirty="0">
              <a:latin typeface="Courier"/>
              <a:cs typeface="Times New Roman" panose="02020603050405020304" pitchFamily="18" charset="0"/>
            </a:endParaRPr>
          </a:p>
          <a:p>
            <a:pPr marL="0" indent="0">
              <a:lnSpc>
                <a:spcPct val="90000"/>
              </a:lnSpc>
              <a:buFont typeface="Monotype Sorts" pitchFamily="2" charset="2"/>
              <a:buNone/>
            </a:pPr>
            <a:r>
              <a:rPr lang="en-US" altLang="en-US" sz="1800" b="1" dirty="0">
                <a:latin typeface="Courier New" panose="02070309020205020404" pitchFamily="49" charset="0"/>
                <a:cs typeface="Courier New" panose="02070309020205020404" pitchFamily="49" charset="0"/>
              </a:rPr>
              <a:t>    </a:t>
            </a:r>
            <a:r>
              <a:rPr lang="en-US" altLang="en-US" sz="1800" b="1" dirty="0" err="1">
                <a:latin typeface="Courier New" panose="02070309020205020404" pitchFamily="49" charset="0"/>
                <a:cs typeface="Courier New" panose="02070309020205020404" pitchFamily="49" charset="0"/>
              </a:rPr>
              <a:t>System.out.print</a:t>
            </a:r>
            <a:r>
              <a:rPr lang="en-US" altLang="en-US" sz="1800" b="1" dirty="0">
                <a:latin typeface="Courier New" panose="02070309020205020404" pitchFamily="49" charset="0"/>
                <a:cs typeface="Courier New" panose="02070309020205020404" pitchFamily="49" charset="0"/>
              </a:rPr>
              <a:t>(array[i] + " ");</a:t>
            </a:r>
            <a:endParaRPr lang="en-US" altLang="en-US" sz="1800" b="1" dirty="0">
              <a:latin typeface="Courier"/>
              <a:cs typeface="Times New Roman" panose="02020603050405020304" pitchFamily="18" charset="0"/>
            </a:endParaRPr>
          </a:p>
          <a:p>
            <a:pPr marL="0" indent="0">
              <a:lnSpc>
                <a:spcPct val="90000"/>
              </a:lnSpc>
              <a:buFont typeface="Monotype Sorts" pitchFamily="2" charset="2"/>
              <a:buNone/>
            </a:pPr>
            <a:r>
              <a:rPr lang="en-US" altLang="en-US" sz="1800" b="1" dirty="0">
                <a:latin typeface="Courier New" panose="02070309020205020404" pitchFamily="49" charset="0"/>
                <a:cs typeface="Courier New" panose="02070309020205020404" pitchFamily="49" charset="0"/>
              </a:rPr>
              <a:t>  }</a:t>
            </a:r>
            <a:endParaRPr lang="en-US" altLang="en-US" sz="1800" b="1" dirty="0">
              <a:latin typeface="Courier"/>
              <a:cs typeface="Times New Roman" panose="02020603050405020304" pitchFamily="18" charset="0"/>
            </a:endParaRPr>
          </a:p>
          <a:p>
            <a:pPr marL="0" indent="0">
              <a:lnSpc>
                <a:spcPct val="90000"/>
              </a:lnSpc>
              <a:buFont typeface="Monotype Sorts" pitchFamily="2" charset="2"/>
              <a:buNone/>
            </a:pPr>
            <a:r>
              <a:rPr lang="en-US" altLang="en-US" sz="1800" b="1" dirty="0">
                <a:latin typeface="Courier New" panose="02070309020205020404" pitchFamily="49" charset="0"/>
                <a:cs typeface="Courier New" panose="02070309020205020404" pitchFamily="49" charset="0"/>
              </a:rPr>
              <a:t>}</a:t>
            </a:r>
            <a:r>
              <a:rPr lang="en-US" altLang="en-US" sz="1800" b="1" dirty="0"/>
              <a:t> </a:t>
            </a:r>
          </a:p>
        </p:txBody>
      </p:sp>
      <p:sp>
        <p:nvSpPr>
          <p:cNvPr id="53253" name="Rectangle 6">
            <a:extLst>
              <a:ext uri="{FF2B5EF4-FFF2-40B4-BE49-F238E27FC236}">
                <a16:creationId xmlns:a16="http://schemas.microsoft.com/office/drawing/2014/main" id="{1038624F-3AEA-4A03-A017-3B164472174F}"/>
              </a:ext>
            </a:extLst>
          </p:cNvPr>
          <p:cNvSpPr>
            <a:spLocks noChangeArrowheads="1"/>
          </p:cNvSpPr>
          <p:nvPr/>
        </p:nvSpPr>
        <p:spPr bwMode="auto">
          <a:xfrm>
            <a:off x="1375893" y="5129011"/>
            <a:ext cx="69342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90000"/>
              </a:lnSpc>
              <a:spcBef>
                <a:spcPct val="20000"/>
              </a:spcBef>
              <a:buClr>
                <a:schemeClr val="tx2"/>
              </a:buClr>
              <a:buSzPct val="75000"/>
              <a:buFont typeface="Monotype Sorts" pitchFamily="2" charset="2"/>
              <a:buNone/>
            </a:pPr>
            <a:r>
              <a:rPr lang="en-US" altLang="en-US" sz="1800" b="1">
                <a:latin typeface="Courier New" panose="02070309020205020404" pitchFamily="49" charset="0"/>
                <a:cs typeface="Courier New" panose="02070309020205020404" pitchFamily="49" charset="0"/>
              </a:rPr>
              <a:t>Invoke the method</a:t>
            </a:r>
          </a:p>
          <a:p>
            <a:pPr>
              <a:lnSpc>
                <a:spcPct val="90000"/>
              </a:lnSpc>
              <a:spcBef>
                <a:spcPct val="20000"/>
              </a:spcBef>
              <a:buClr>
                <a:schemeClr val="tx2"/>
              </a:buClr>
              <a:buSzPct val="75000"/>
              <a:buFont typeface="Monotype Sorts" pitchFamily="2" charset="2"/>
              <a:buNone/>
            </a:pPr>
            <a:endParaRPr lang="en-US" altLang="en-US" sz="1800" b="1">
              <a:latin typeface="Courier New" panose="02070309020205020404" pitchFamily="49" charset="0"/>
              <a:cs typeface="Courier New" panose="02070309020205020404" pitchFamily="49" charset="0"/>
            </a:endParaRPr>
          </a:p>
          <a:p>
            <a:pPr>
              <a:lnSpc>
                <a:spcPct val="90000"/>
              </a:lnSpc>
              <a:spcBef>
                <a:spcPct val="20000"/>
              </a:spcBef>
              <a:buClr>
                <a:schemeClr val="tx2"/>
              </a:buClr>
              <a:buSzPct val="75000"/>
              <a:buFont typeface="Monotype Sorts" pitchFamily="2" charset="2"/>
              <a:buNone/>
            </a:pPr>
            <a:r>
              <a:rPr lang="en-US" altLang="en-US" sz="1800" b="1">
                <a:latin typeface="Courier New" panose="02070309020205020404" pitchFamily="49" charset="0"/>
                <a:cs typeface="Courier New" panose="02070309020205020404" pitchFamily="49" charset="0"/>
              </a:rPr>
              <a:t>int[] list = {3, 1, 2, 6, 4, 2};</a:t>
            </a:r>
          </a:p>
          <a:p>
            <a:pPr>
              <a:lnSpc>
                <a:spcPct val="90000"/>
              </a:lnSpc>
              <a:spcBef>
                <a:spcPct val="20000"/>
              </a:spcBef>
              <a:buClr>
                <a:schemeClr val="tx2"/>
              </a:buClr>
              <a:buSzPct val="75000"/>
              <a:buFont typeface="Monotype Sorts" pitchFamily="2" charset="2"/>
              <a:buNone/>
            </a:pPr>
            <a:r>
              <a:rPr lang="en-US" altLang="en-US" sz="1800" b="1">
                <a:latin typeface="Courier New" panose="02070309020205020404" pitchFamily="49" charset="0"/>
                <a:cs typeface="Courier New" panose="02070309020205020404" pitchFamily="49" charset="0"/>
              </a:rPr>
              <a:t>printArray(list);</a:t>
            </a:r>
          </a:p>
        </p:txBody>
      </p:sp>
      <p:sp>
        <p:nvSpPr>
          <p:cNvPr id="53254" name="Line 7">
            <a:extLst>
              <a:ext uri="{FF2B5EF4-FFF2-40B4-BE49-F238E27FC236}">
                <a16:creationId xmlns:a16="http://schemas.microsoft.com/office/drawing/2014/main" id="{E896531D-805E-40CD-B8EF-862E1E65CFB0}"/>
              </a:ext>
            </a:extLst>
          </p:cNvPr>
          <p:cNvSpPr>
            <a:spLocks noChangeShapeType="1"/>
          </p:cNvSpPr>
          <p:nvPr/>
        </p:nvSpPr>
        <p:spPr bwMode="auto">
          <a:xfrm flipV="1">
            <a:off x="3280893" y="3452611"/>
            <a:ext cx="2286000" cy="2667000"/>
          </a:xfrm>
          <a:prstGeom prst="line">
            <a:avLst/>
          </a:prstGeom>
          <a:noFill/>
          <a:ln w="12700">
            <a:solidFill>
              <a:srgbClr val="FF0000"/>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 name="Rectangle 1"/>
          <p:cNvSpPr/>
          <p:nvPr/>
        </p:nvSpPr>
        <p:spPr>
          <a:xfrm>
            <a:off x="270992" y="1295400"/>
            <a:ext cx="8568207" cy="83099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2400" dirty="0"/>
              <a:t>When passing an array to a method, the reference of the array is passed to the method.</a:t>
            </a:r>
          </a:p>
        </p:txBody>
      </p:sp>
      <p:sp>
        <p:nvSpPr>
          <p:cNvPr id="3" name="Rectangle 2"/>
          <p:cNvSpPr/>
          <p:nvPr/>
        </p:nvSpPr>
        <p:spPr>
          <a:xfrm>
            <a:off x="4432478" y="6101245"/>
            <a:ext cx="4254321" cy="646331"/>
          </a:xfrm>
          <a:prstGeom prst="rect">
            <a:avLst/>
          </a:prstGeom>
        </p:spPr>
        <p:txBody>
          <a:bodyPr wrap="square">
            <a:spAutoFit/>
          </a:bodyPr>
          <a:lstStyle/>
          <a:p>
            <a:r>
              <a:rPr lang="en-US" b="1" dirty="0"/>
              <a:t>Anonymous Array</a:t>
            </a:r>
          </a:p>
          <a:p>
            <a:r>
              <a:rPr lang="en-US" dirty="0" err="1"/>
              <a:t>printArray</a:t>
            </a:r>
            <a:r>
              <a:rPr lang="en-US" dirty="0"/>
              <a:t>(new </a:t>
            </a:r>
            <a:r>
              <a:rPr lang="en-US" dirty="0" err="1"/>
              <a:t>int</a:t>
            </a:r>
            <a:r>
              <a:rPr lang="en-US" dirty="0"/>
              <a:t>[]{3, 1, 2, 6, 4, 2});</a:t>
            </a:r>
          </a:p>
        </p:txBody>
      </p:sp>
    </p:spTree>
    <p:extLst>
      <p:ext uri="{BB962C8B-B14F-4D97-AF65-F5344CB8AC3E}">
        <p14:creationId xmlns:p14="http://schemas.microsoft.com/office/powerpoint/2010/main" val="35145881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2">
            <a:extLst>
              <a:ext uri="{FF2B5EF4-FFF2-40B4-BE49-F238E27FC236}">
                <a16:creationId xmlns:a16="http://schemas.microsoft.com/office/drawing/2014/main" id="{3422E259-C959-4461-B49B-5F56E8B3A0D0}"/>
              </a:ext>
            </a:extLst>
          </p:cNvPr>
          <p:cNvSpPr>
            <a:spLocks noGrp="1" noChangeArrowheads="1"/>
          </p:cNvSpPr>
          <p:nvPr>
            <p:ph type="title"/>
          </p:nvPr>
        </p:nvSpPr>
        <p:spPr>
          <a:xfrm>
            <a:off x="609600" y="228600"/>
            <a:ext cx="7772400" cy="838200"/>
          </a:xfrm>
        </p:spPr>
        <p:txBody>
          <a:bodyPr/>
          <a:lstStyle/>
          <a:p>
            <a:r>
              <a:rPr lang="en-US" altLang="en-US"/>
              <a:t>Pass By Value</a:t>
            </a:r>
            <a:endParaRPr lang="en-US" altLang="en-US">
              <a:solidFill>
                <a:schemeClr val="tx1"/>
              </a:solidFill>
              <a:latin typeface="Book Antiqua" panose="02040602050305030304" pitchFamily="18" charset="0"/>
              <a:hlinkClick r:id="rId2" action="ppaction://program"/>
            </a:endParaRPr>
          </a:p>
        </p:txBody>
      </p:sp>
      <p:sp>
        <p:nvSpPr>
          <p:cNvPr id="55300" name="Rectangle 3">
            <a:extLst>
              <a:ext uri="{FF2B5EF4-FFF2-40B4-BE49-F238E27FC236}">
                <a16:creationId xmlns:a16="http://schemas.microsoft.com/office/drawing/2014/main" id="{BFDB73B7-65A2-49D0-AF78-ABE0B2100128}"/>
              </a:ext>
            </a:extLst>
          </p:cNvPr>
          <p:cNvSpPr>
            <a:spLocks noGrp="1" noChangeArrowheads="1"/>
          </p:cNvSpPr>
          <p:nvPr>
            <p:ph type="body" idx="1"/>
          </p:nvPr>
        </p:nvSpPr>
        <p:spPr>
          <a:xfrm>
            <a:off x="304800" y="1143000"/>
            <a:ext cx="8686800" cy="5334000"/>
          </a:xfrm>
        </p:spPr>
        <p:txBody>
          <a:bodyPr>
            <a:normAutofit lnSpcReduction="10000"/>
          </a:bodyPr>
          <a:lstStyle/>
          <a:p>
            <a:pPr marL="0" indent="0">
              <a:lnSpc>
                <a:spcPct val="90000"/>
              </a:lnSpc>
              <a:buFont typeface="Monotype Sorts" pitchFamily="2" charset="2"/>
              <a:buNone/>
            </a:pPr>
            <a:r>
              <a:rPr lang="en-US" altLang="en-US" sz="2600">
                <a:cs typeface="Times New Roman" panose="02020603050405020304" pitchFamily="18" charset="0"/>
              </a:rPr>
              <a:t>Java uses </a:t>
            </a:r>
            <a:r>
              <a:rPr lang="en-US" altLang="en-US" sz="2600" i="1">
                <a:cs typeface="Times New Roman" panose="02020603050405020304" pitchFamily="18" charset="0"/>
              </a:rPr>
              <a:t>pass by value</a:t>
            </a:r>
            <a:r>
              <a:rPr lang="en-US" altLang="en-US" sz="2600">
                <a:cs typeface="Times New Roman" panose="02020603050405020304" pitchFamily="18" charset="0"/>
              </a:rPr>
              <a:t> to pass arguments to a method. There are important differences between passing a value of variables of primitive data types and passing arrays.</a:t>
            </a:r>
          </a:p>
          <a:p>
            <a:pPr marL="0" indent="0">
              <a:lnSpc>
                <a:spcPct val="90000"/>
              </a:lnSpc>
              <a:buFont typeface="Monotype Sorts" pitchFamily="2" charset="2"/>
              <a:buNone/>
            </a:pPr>
            <a:endParaRPr lang="en-US" altLang="en-US" sz="2600">
              <a:cs typeface="Times New Roman" panose="02020603050405020304" pitchFamily="18" charset="0"/>
            </a:endParaRPr>
          </a:p>
          <a:p>
            <a:pPr marL="0" indent="0">
              <a:lnSpc>
                <a:spcPct val="90000"/>
              </a:lnSpc>
            </a:pPr>
            <a:r>
              <a:rPr lang="en-US" altLang="en-US" sz="2600">
                <a:cs typeface="Times New Roman" panose="02020603050405020304" pitchFamily="18" charset="0"/>
              </a:rPr>
              <a:t> For a parameter of a primitive type value, the actual value is passed. Changing the value of the local parameter inside the method does not affect the value of the variable outside the method.</a:t>
            </a:r>
          </a:p>
          <a:p>
            <a:pPr marL="0" indent="0">
              <a:lnSpc>
                <a:spcPct val="90000"/>
              </a:lnSpc>
            </a:pPr>
            <a:endParaRPr lang="en-US" altLang="en-US" sz="2600">
              <a:cs typeface="Times New Roman" panose="02020603050405020304" pitchFamily="18" charset="0"/>
            </a:endParaRPr>
          </a:p>
          <a:p>
            <a:pPr marL="0" indent="0">
              <a:lnSpc>
                <a:spcPct val="90000"/>
              </a:lnSpc>
            </a:pPr>
            <a:r>
              <a:rPr lang="en-US" altLang="en-US" sz="2600">
                <a:cs typeface="Times New Roman" panose="02020603050405020304" pitchFamily="18" charset="0"/>
              </a:rPr>
              <a:t> For a parameter of an array type, the value of the parameter contains a reference to an array; this reference is passed to the method. Any changes to the array that occur inside the method body will affect the original array that was passed as the argument. </a:t>
            </a:r>
            <a:endParaRPr lang="en-US" altLang="en-US" sz="2600"/>
          </a:p>
        </p:txBody>
      </p:sp>
    </p:spTree>
    <p:extLst>
      <p:ext uri="{BB962C8B-B14F-4D97-AF65-F5344CB8AC3E}">
        <p14:creationId xmlns:p14="http://schemas.microsoft.com/office/powerpoint/2010/main" val="6613648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Number Placeholder 4">
            <a:extLst>
              <a:ext uri="{FF2B5EF4-FFF2-40B4-BE49-F238E27FC236}">
                <a16:creationId xmlns:a16="http://schemas.microsoft.com/office/drawing/2014/main" id="{ECFFD2C6-E55E-40EA-8E31-A9740527413B}"/>
              </a:ext>
            </a:extLst>
          </p:cNvPr>
          <p:cNvSpPr>
            <a:spLocks noGrp="1"/>
          </p:cNvSpPr>
          <p:nvPr>
            <p:ph type="sldNum" sz="quarter" idx="11"/>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2C02AABB-F77B-4072-8CC1-10AA0706ED49}" type="slidenum">
              <a:rPr lang="en-US" altLang="en-US" sz="1400"/>
              <a:pPr/>
              <a:t>26</a:t>
            </a:fld>
            <a:endParaRPr lang="en-US" altLang="en-US" sz="1400"/>
          </a:p>
        </p:txBody>
      </p:sp>
      <p:sp>
        <p:nvSpPr>
          <p:cNvPr id="56323" name="Rectangle 3">
            <a:extLst>
              <a:ext uri="{FF2B5EF4-FFF2-40B4-BE49-F238E27FC236}">
                <a16:creationId xmlns:a16="http://schemas.microsoft.com/office/drawing/2014/main" id="{4F0BE6B6-82D2-4167-9353-5B1962206590}"/>
              </a:ext>
            </a:extLst>
          </p:cNvPr>
          <p:cNvSpPr>
            <a:spLocks noGrp="1" noChangeArrowheads="1"/>
          </p:cNvSpPr>
          <p:nvPr>
            <p:ph type="body" idx="1"/>
          </p:nvPr>
        </p:nvSpPr>
        <p:spPr>
          <a:xfrm>
            <a:off x="0" y="1143000"/>
            <a:ext cx="9144000" cy="5410200"/>
          </a:xfrm>
          <a:ln>
            <a:solidFill>
              <a:srgbClr val="FFFFFF"/>
            </a:solidFill>
            <a:miter lim="800000"/>
            <a:headEnd/>
            <a:tailEnd/>
          </a:ln>
        </p:spPr>
        <p:txBody>
          <a:bodyPr/>
          <a:lstStyle/>
          <a:p>
            <a:pPr>
              <a:buFont typeface="Monotype Sorts" pitchFamily="2" charset="2"/>
              <a:buNone/>
            </a:pPr>
            <a:r>
              <a:rPr lang="en-US" altLang="en-US" sz="1800" b="1" dirty="0">
                <a:solidFill>
                  <a:srgbClr val="002060"/>
                </a:solidFill>
                <a:latin typeface="Courier New" panose="02070309020205020404" pitchFamily="49" charset="0"/>
                <a:cs typeface="Times New Roman" panose="02020603050405020304" pitchFamily="18" charset="0"/>
              </a:rPr>
              <a:t>public class Test {</a:t>
            </a:r>
          </a:p>
          <a:p>
            <a:pPr>
              <a:buFont typeface="Monotype Sorts" pitchFamily="2" charset="2"/>
              <a:buNone/>
            </a:pPr>
            <a:r>
              <a:rPr lang="en-US" altLang="en-US" sz="1800" b="1" dirty="0">
                <a:solidFill>
                  <a:srgbClr val="002060"/>
                </a:solidFill>
                <a:latin typeface="Courier New" panose="02070309020205020404" pitchFamily="49" charset="0"/>
                <a:cs typeface="Times New Roman" panose="02020603050405020304" pitchFamily="18" charset="0"/>
              </a:rPr>
              <a:t>  public static void main(String[] </a:t>
            </a:r>
            <a:r>
              <a:rPr lang="en-US" altLang="en-US" sz="1800" b="1" dirty="0" err="1">
                <a:solidFill>
                  <a:srgbClr val="002060"/>
                </a:solidFill>
                <a:latin typeface="Courier New" panose="02070309020205020404" pitchFamily="49" charset="0"/>
                <a:cs typeface="Times New Roman" panose="02020603050405020304" pitchFamily="18" charset="0"/>
              </a:rPr>
              <a:t>args</a:t>
            </a:r>
            <a:r>
              <a:rPr lang="en-US" altLang="en-US" sz="1800" b="1" dirty="0">
                <a:solidFill>
                  <a:srgbClr val="002060"/>
                </a:solidFill>
                <a:latin typeface="Courier New" panose="02070309020205020404" pitchFamily="49" charset="0"/>
                <a:cs typeface="Times New Roman" panose="02020603050405020304" pitchFamily="18" charset="0"/>
              </a:rPr>
              <a:t>) {</a:t>
            </a:r>
          </a:p>
          <a:p>
            <a:pPr>
              <a:buFont typeface="Monotype Sorts" pitchFamily="2" charset="2"/>
              <a:buNone/>
            </a:pPr>
            <a:r>
              <a:rPr lang="en-US" altLang="en-US" sz="1800" b="1" dirty="0">
                <a:solidFill>
                  <a:srgbClr val="002060"/>
                </a:solidFill>
                <a:latin typeface="Courier New" panose="02070309020205020404" pitchFamily="49" charset="0"/>
                <a:cs typeface="Times New Roman" panose="02020603050405020304" pitchFamily="18" charset="0"/>
              </a:rPr>
              <a:t>    int x = 1; // x represents an int value</a:t>
            </a:r>
          </a:p>
          <a:p>
            <a:pPr>
              <a:buFont typeface="Monotype Sorts" pitchFamily="2" charset="2"/>
              <a:buNone/>
            </a:pPr>
            <a:r>
              <a:rPr lang="en-US" altLang="en-US" sz="1800" b="1" dirty="0">
                <a:solidFill>
                  <a:srgbClr val="002060"/>
                </a:solidFill>
                <a:latin typeface="Courier New" panose="02070309020205020404" pitchFamily="49" charset="0"/>
                <a:cs typeface="Times New Roman" panose="02020603050405020304" pitchFamily="18" charset="0"/>
              </a:rPr>
              <a:t>    int[] y = new int[10]; // y represents an array of int values</a:t>
            </a:r>
          </a:p>
          <a:p>
            <a:pPr>
              <a:buFont typeface="Monotype Sorts" pitchFamily="2" charset="2"/>
              <a:buNone/>
            </a:pPr>
            <a:r>
              <a:rPr lang="en-US" altLang="en-US" sz="1800" b="1" dirty="0">
                <a:solidFill>
                  <a:srgbClr val="002060"/>
                </a:solidFill>
                <a:latin typeface="Courier New" panose="02070309020205020404" pitchFamily="49" charset="0"/>
                <a:cs typeface="Times New Roman" panose="02020603050405020304" pitchFamily="18" charset="0"/>
              </a:rPr>
              <a:t> </a:t>
            </a:r>
          </a:p>
          <a:p>
            <a:pPr>
              <a:buFont typeface="Monotype Sorts" pitchFamily="2" charset="2"/>
              <a:buNone/>
            </a:pPr>
            <a:r>
              <a:rPr lang="en-US" altLang="en-US" sz="1800" b="1" dirty="0">
                <a:solidFill>
                  <a:srgbClr val="002060"/>
                </a:solidFill>
                <a:latin typeface="Courier New" panose="02070309020205020404" pitchFamily="49" charset="0"/>
                <a:cs typeface="Times New Roman" panose="02020603050405020304" pitchFamily="18" charset="0"/>
              </a:rPr>
              <a:t>    m(x, y); // Invoke m with arguments x and y</a:t>
            </a:r>
          </a:p>
          <a:p>
            <a:pPr>
              <a:buFont typeface="Monotype Sorts" pitchFamily="2" charset="2"/>
              <a:buNone/>
            </a:pPr>
            <a:r>
              <a:rPr lang="en-US" altLang="en-US" sz="1800" b="1" dirty="0">
                <a:solidFill>
                  <a:srgbClr val="002060"/>
                </a:solidFill>
                <a:latin typeface="Courier New" panose="02070309020205020404" pitchFamily="49" charset="0"/>
                <a:cs typeface="Times New Roman" panose="02020603050405020304" pitchFamily="18" charset="0"/>
              </a:rPr>
              <a:t> </a:t>
            </a:r>
          </a:p>
          <a:p>
            <a:pPr>
              <a:buFont typeface="Monotype Sorts" pitchFamily="2" charset="2"/>
              <a:buNone/>
            </a:pPr>
            <a:r>
              <a:rPr lang="en-US" altLang="en-US" sz="1800" b="1" dirty="0">
                <a:solidFill>
                  <a:srgbClr val="002060"/>
                </a:solidFill>
                <a:latin typeface="Courier New" panose="02070309020205020404" pitchFamily="49" charset="0"/>
                <a:cs typeface="Times New Roman" panose="02020603050405020304" pitchFamily="18" charset="0"/>
              </a:rPr>
              <a:t>    </a:t>
            </a:r>
            <a:r>
              <a:rPr lang="en-US" altLang="en-US" sz="1800" b="1" dirty="0" err="1">
                <a:solidFill>
                  <a:srgbClr val="002060"/>
                </a:solidFill>
                <a:latin typeface="Courier New" panose="02070309020205020404" pitchFamily="49" charset="0"/>
                <a:cs typeface="Times New Roman" panose="02020603050405020304" pitchFamily="18" charset="0"/>
              </a:rPr>
              <a:t>System.out.println</a:t>
            </a:r>
            <a:r>
              <a:rPr lang="en-US" altLang="en-US" sz="1800" b="1" dirty="0">
                <a:solidFill>
                  <a:srgbClr val="002060"/>
                </a:solidFill>
                <a:latin typeface="Courier New" panose="02070309020205020404" pitchFamily="49" charset="0"/>
                <a:cs typeface="Times New Roman" panose="02020603050405020304" pitchFamily="18" charset="0"/>
              </a:rPr>
              <a:t>("x is " + x);</a:t>
            </a:r>
          </a:p>
          <a:p>
            <a:pPr>
              <a:buFont typeface="Monotype Sorts" pitchFamily="2" charset="2"/>
              <a:buNone/>
            </a:pPr>
            <a:r>
              <a:rPr lang="en-US" altLang="en-US" sz="1800" b="1" dirty="0">
                <a:solidFill>
                  <a:srgbClr val="002060"/>
                </a:solidFill>
                <a:latin typeface="Courier New" panose="02070309020205020404" pitchFamily="49" charset="0"/>
                <a:cs typeface="Times New Roman" panose="02020603050405020304" pitchFamily="18" charset="0"/>
              </a:rPr>
              <a:t>    </a:t>
            </a:r>
            <a:r>
              <a:rPr lang="en-US" altLang="en-US" sz="1800" b="1" dirty="0" err="1">
                <a:solidFill>
                  <a:srgbClr val="002060"/>
                </a:solidFill>
                <a:latin typeface="Courier New" panose="02070309020205020404" pitchFamily="49" charset="0"/>
                <a:cs typeface="Times New Roman" panose="02020603050405020304" pitchFamily="18" charset="0"/>
              </a:rPr>
              <a:t>System.out.println</a:t>
            </a:r>
            <a:r>
              <a:rPr lang="en-US" altLang="en-US" sz="1800" b="1" dirty="0">
                <a:solidFill>
                  <a:srgbClr val="002060"/>
                </a:solidFill>
                <a:latin typeface="Courier New" panose="02070309020205020404" pitchFamily="49" charset="0"/>
                <a:cs typeface="Times New Roman" panose="02020603050405020304" pitchFamily="18" charset="0"/>
              </a:rPr>
              <a:t>("y[0] is " + y[0]);</a:t>
            </a:r>
          </a:p>
          <a:p>
            <a:pPr>
              <a:buFont typeface="Monotype Sorts" pitchFamily="2" charset="2"/>
              <a:buNone/>
            </a:pPr>
            <a:r>
              <a:rPr lang="en-US" altLang="en-US" sz="1800" b="1" dirty="0">
                <a:solidFill>
                  <a:srgbClr val="002060"/>
                </a:solidFill>
                <a:latin typeface="Courier New" panose="02070309020205020404" pitchFamily="49" charset="0"/>
                <a:cs typeface="Times New Roman" panose="02020603050405020304" pitchFamily="18" charset="0"/>
              </a:rPr>
              <a:t>  }</a:t>
            </a:r>
          </a:p>
          <a:p>
            <a:pPr>
              <a:buFont typeface="Monotype Sorts" pitchFamily="2" charset="2"/>
              <a:buNone/>
            </a:pPr>
            <a:r>
              <a:rPr lang="en-US" altLang="en-US" sz="1800" b="1" dirty="0">
                <a:solidFill>
                  <a:srgbClr val="002060"/>
                </a:solidFill>
                <a:latin typeface="Courier New" panose="02070309020205020404" pitchFamily="49" charset="0"/>
                <a:cs typeface="Times New Roman" panose="02020603050405020304" pitchFamily="18" charset="0"/>
              </a:rPr>
              <a:t> </a:t>
            </a:r>
          </a:p>
          <a:p>
            <a:pPr>
              <a:buFont typeface="Monotype Sorts" pitchFamily="2" charset="2"/>
              <a:buNone/>
            </a:pPr>
            <a:r>
              <a:rPr lang="en-US" altLang="en-US" sz="1800" b="1" dirty="0">
                <a:solidFill>
                  <a:srgbClr val="002060"/>
                </a:solidFill>
                <a:latin typeface="Courier New" panose="02070309020205020404" pitchFamily="49" charset="0"/>
                <a:cs typeface="Times New Roman" panose="02020603050405020304" pitchFamily="18" charset="0"/>
              </a:rPr>
              <a:t>  public static void m(int number, int[] numbers) {</a:t>
            </a:r>
          </a:p>
          <a:p>
            <a:pPr>
              <a:buFont typeface="Monotype Sorts" pitchFamily="2" charset="2"/>
              <a:buNone/>
            </a:pPr>
            <a:r>
              <a:rPr lang="en-US" altLang="en-US" sz="1800" b="1" dirty="0">
                <a:solidFill>
                  <a:srgbClr val="002060"/>
                </a:solidFill>
                <a:latin typeface="Courier New" panose="02070309020205020404" pitchFamily="49" charset="0"/>
                <a:cs typeface="Times New Roman" panose="02020603050405020304" pitchFamily="18" charset="0"/>
              </a:rPr>
              <a:t>    number = 1001; // Assign a new value to number</a:t>
            </a:r>
          </a:p>
          <a:p>
            <a:pPr>
              <a:buFont typeface="Monotype Sorts" pitchFamily="2" charset="2"/>
              <a:buNone/>
            </a:pPr>
            <a:r>
              <a:rPr lang="en-US" altLang="en-US" sz="1800" b="1" dirty="0">
                <a:solidFill>
                  <a:srgbClr val="002060"/>
                </a:solidFill>
                <a:latin typeface="Courier New" panose="02070309020205020404" pitchFamily="49" charset="0"/>
                <a:cs typeface="Times New Roman" panose="02020603050405020304" pitchFamily="18" charset="0"/>
              </a:rPr>
              <a:t>    numbers[0] = 5555; // Assign a new value to numbers[0]</a:t>
            </a:r>
          </a:p>
          <a:p>
            <a:pPr>
              <a:buFont typeface="Monotype Sorts" pitchFamily="2" charset="2"/>
              <a:buNone/>
            </a:pPr>
            <a:r>
              <a:rPr lang="en-US" altLang="en-US" sz="1800" b="1" dirty="0">
                <a:solidFill>
                  <a:srgbClr val="002060"/>
                </a:solidFill>
                <a:latin typeface="Courier New" panose="02070309020205020404" pitchFamily="49" charset="0"/>
                <a:cs typeface="Times New Roman" panose="02020603050405020304" pitchFamily="18" charset="0"/>
              </a:rPr>
              <a:t>  }</a:t>
            </a:r>
          </a:p>
          <a:p>
            <a:pPr>
              <a:buFont typeface="Monotype Sorts" pitchFamily="2" charset="2"/>
              <a:buNone/>
            </a:pPr>
            <a:r>
              <a:rPr lang="en-US" altLang="en-US" sz="1800" b="1" dirty="0">
                <a:solidFill>
                  <a:srgbClr val="002060"/>
                </a:solidFill>
                <a:latin typeface="Courier New" panose="02070309020205020404" pitchFamily="49" charset="0"/>
                <a:cs typeface="Times New Roman" panose="02020603050405020304" pitchFamily="18" charset="0"/>
              </a:rPr>
              <a:t>}</a:t>
            </a:r>
          </a:p>
        </p:txBody>
      </p:sp>
      <p:sp>
        <p:nvSpPr>
          <p:cNvPr id="56324" name="Rectangle 7">
            <a:extLst>
              <a:ext uri="{FF2B5EF4-FFF2-40B4-BE49-F238E27FC236}">
                <a16:creationId xmlns:a16="http://schemas.microsoft.com/office/drawing/2014/main" id="{E9333A9C-7600-4DD6-8B07-501C88948918}"/>
              </a:ext>
            </a:extLst>
          </p:cNvPr>
          <p:cNvSpPr>
            <a:spLocks noGrp="1" noChangeArrowheads="1"/>
          </p:cNvSpPr>
          <p:nvPr>
            <p:ph type="title"/>
          </p:nvPr>
        </p:nvSpPr>
        <p:spPr>
          <a:xfrm>
            <a:off x="609600" y="152400"/>
            <a:ext cx="7772400" cy="533400"/>
          </a:xfrm>
          <a:noFill/>
        </p:spPr>
        <p:txBody>
          <a:bodyPr>
            <a:normAutofit fontScale="90000"/>
          </a:bodyPr>
          <a:lstStyle/>
          <a:p>
            <a:r>
              <a:rPr lang="en-US" altLang="en-US"/>
              <a:t>Simple Example</a:t>
            </a:r>
            <a:endParaRPr lang="en-US" altLang="en-US">
              <a:solidFill>
                <a:schemeClr val="tx1"/>
              </a:solidFill>
              <a:latin typeface="Book Antiqua" panose="02040602050305030304" pitchFamily="18" charset="0"/>
              <a:hlinkClick r:id="rId2" action="ppaction://program"/>
            </a:endParaRPr>
          </a:p>
        </p:txBody>
      </p:sp>
      <p:sp>
        <p:nvSpPr>
          <p:cNvPr id="56325" name="Line 8">
            <a:extLst>
              <a:ext uri="{FF2B5EF4-FFF2-40B4-BE49-F238E27FC236}">
                <a16:creationId xmlns:a16="http://schemas.microsoft.com/office/drawing/2014/main" id="{F9D18074-9915-41AE-8775-01C0BA212BE5}"/>
              </a:ext>
            </a:extLst>
          </p:cNvPr>
          <p:cNvSpPr>
            <a:spLocks noChangeShapeType="1"/>
          </p:cNvSpPr>
          <p:nvPr/>
        </p:nvSpPr>
        <p:spPr bwMode="auto">
          <a:xfrm>
            <a:off x="990600" y="3048000"/>
            <a:ext cx="3124200" cy="1828800"/>
          </a:xfrm>
          <a:prstGeom prst="line">
            <a:avLst/>
          </a:prstGeom>
          <a:noFill/>
          <a:ln w="12700">
            <a:solidFill>
              <a:srgbClr val="FF0000"/>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6326" name="Line 9">
            <a:extLst>
              <a:ext uri="{FF2B5EF4-FFF2-40B4-BE49-F238E27FC236}">
                <a16:creationId xmlns:a16="http://schemas.microsoft.com/office/drawing/2014/main" id="{D3C58C03-6E15-43E1-A592-89DD1A2F76BB}"/>
              </a:ext>
            </a:extLst>
          </p:cNvPr>
          <p:cNvSpPr>
            <a:spLocks noChangeShapeType="1"/>
          </p:cNvSpPr>
          <p:nvPr/>
        </p:nvSpPr>
        <p:spPr bwMode="auto">
          <a:xfrm>
            <a:off x="1447800" y="3124200"/>
            <a:ext cx="4648200" cy="1752600"/>
          </a:xfrm>
          <a:prstGeom prst="line">
            <a:avLst/>
          </a:prstGeom>
          <a:noFill/>
          <a:ln w="12700">
            <a:solidFill>
              <a:srgbClr val="FF0000"/>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20920819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2">
            <a:extLst>
              <a:ext uri="{FF2B5EF4-FFF2-40B4-BE49-F238E27FC236}">
                <a16:creationId xmlns:a16="http://schemas.microsoft.com/office/drawing/2014/main" id="{419763B4-B070-43BC-976D-1C528AA6C6AB}"/>
              </a:ext>
            </a:extLst>
          </p:cNvPr>
          <p:cNvSpPr>
            <a:spLocks noGrp="1" noChangeArrowheads="1"/>
          </p:cNvSpPr>
          <p:nvPr>
            <p:ph type="title"/>
          </p:nvPr>
        </p:nvSpPr>
        <p:spPr>
          <a:xfrm>
            <a:off x="609600" y="304800"/>
            <a:ext cx="7772400" cy="533400"/>
          </a:xfrm>
        </p:spPr>
        <p:txBody>
          <a:bodyPr>
            <a:normAutofit fontScale="90000"/>
          </a:bodyPr>
          <a:lstStyle/>
          <a:p>
            <a:r>
              <a:rPr lang="en-US" altLang="en-US" sz="4000"/>
              <a:t>Returning an Array from a Method</a:t>
            </a:r>
            <a:endParaRPr lang="en-US" altLang="en-US" sz="3700">
              <a:solidFill>
                <a:schemeClr val="tx1"/>
              </a:solidFill>
              <a:latin typeface="Book Antiqua" panose="02040602050305030304" pitchFamily="18" charset="0"/>
              <a:hlinkClick r:id="rId2" action="ppaction://program"/>
            </a:endParaRPr>
          </a:p>
        </p:txBody>
      </p:sp>
      <p:sp>
        <p:nvSpPr>
          <p:cNvPr id="62469" name="Rectangle 8">
            <a:extLst>
              <a:ext uri="{FF2B5EF4-FFF2-40B4-BE49-F238E27FC236}">
                <a16:creationId xmlns:a16="http://schemas.microsoft.com/office/drawing/2014/main" id="{405163DB-2FF0-45E1-A9D7-8779424A215C}"/>
              </a:ext>
            </a:extLst>
          </p:cNvPr>
          <p:cNvSpPr>
            <a:spLocks noChangeArrowheads="1"/>
          </p:cNvSpPr>
          <p:nvPr/>
        </p:nvSpPr>
        <p:spPr bwMode="auto">
          <a:xfrm>
            <a:off x="2314575" y="25431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3074"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196" t="-3511" r="35047" b="3511"/>
          <a:stretch/>
        </p:blipFill>
        <p:spPr bwMode="auto">
          <a:xfrm>
            <a:off x="1208240" y="3462670"/>
            <a:ext cx="5697828" cy="295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76200" y="1290935"/>
            <a:ext cx="8991600" cy="46166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2400" dirty="0"/>
              <a:t>When a method returns an array, the reference of the array is returned</a:t>
            </a:r>
          </a:p>
        </p:txBody>
      </p:sp>
      <p:pic>
        <p:nvPicPr>
          <p:cNvPr id="2" name="Picture 1">
            <a:extLst>
              <a:ext uri="{FF2B5EF4-FFF2-40B4-BE49-F238E27FC236}">
                <a16:creationId xmlns:a16="http://schemas.microsoft.com/office/drawing/2014/main" id="{1E81D3DA-E32C-FBAE-B267-AB03656F2384}"/>
              </a:ext>
            </a:extLst>
          </p:cNvPr>
          <p:cNvPicPr>
            <a:picLocks noChangeAspect="1"/>
          </p:cNvPicPr>
          <p:nvPr/>
        </p:nvPicPr>
        <p:blipFill>
          <a:blip r:embed="rId4"/>
          <a:srcRect l="51724" t="46772"/>
          <a:stretch/>
        </p:blipFill>
        <p:spPr>
          <a:xfrm>
            <a:off x="1828800" y="1858391"/>
            <a:ext cx="4267583" cy="1570609"/>
          </a:xfrm>
          <a:prstGeom prst="rect">
            <a:avLst/>
          </a:prstGeom>
        </p:spPr>
      </p:pic>
    </p:spTree>
    <p:extLst>
      <p:ext uri="{BB962C8B-B14F-4D97-AF65-F5344CB8AC3E}">
        <p14:creationId xmlns:p14="http://schemas.microsoft.com/office/powerpoint/2010/main" val="2754120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Variable-Length Argument Lists</a:t>
            </a:r>
          </a:p>
        </p:txBody>
      </p:sp>
      <p:sp>
        <p:nvSpPr>
          <p:cNvPr id="3" name="Content Placeholder 2"/>
          <p:cNvSpPr>
            <a:spLocks noGrp="1"/>
          </p:cNvSpPr>
          <p:nvPr>
            <p:ph idx="1"/>
          </p:nvPr>
        </p:nvSpPr>
        <p:spPr>
          <a:xfrm>
            <a:off x="228600" y="2286000"/>
            <a:ext cx="8610600" cy="3840163"/>
          </a:xfrm>
        </p:spPr>
        <p:txBody>
          <a:bodyPr>
            <a:normAutofit/>
          </a:bodyPr>
          <a:lstStyle/>
          <a:p>
            <a:r>
              <a:rPr lang="en-US" sz="2400" dirty="0"/>
              <a:t>You can pass a variable number of arguments of the same type to a method</a:t>
            </a:r>
          </a:p>
          <a:p>
            <a:r>
              <a:rPr lang="en-US" sz="2400" dirty="0"/>
              <a:t>Syntax:         </a:t>
            </a:r>
            <a:r>
              <a:rPr lang="en-US" sz="2400" b="1" dirty="0" err="1"/>
              <a:t>typeName</a:t>
            </a:r>
            <a:r>
              <a:rPr lang="en-US" sz="2400" b="1" dirty="0"/>
              <a:t>... </a:t>
            </a:r>
            <a:r>
              <a:rPr lang="en-US" sz="2400" b="1" dirty="0" err="1"/>
              <a:t>parameterName</a:t>
            </a:r>
            <a:endParaRPr lang="en-US" sz="2400" b="1" dirty="0"/>
          </a:p>
          <a:p>
            <a:r>
              <a:rPr lang="en-US" sz="2400" dirty="0"/>
              <a:t>Java treats a variable-length parameter as an array</a:t>
            </a:r>
          </a:p>
          <a:p>
            <a:r>
              <a:rPr lang="en-US" sz="2400" dirty="0"/>
              <a:t>Only one variable-length parameter may be specified in a method, and this parameter must be the last parameter</a:t>
            </a:r>
          </a:p>
          <a:p>
            <a:r>
              <a:rPr lang="en-US" sz="2400" dirty="0"/>
              <a:t>Any regular parameters must come before it.</a:t>
            </a:r>
          </a:p>
          <a:p>
            <a:pPr marL="0" indent="0" algn="ctr">
              <a:buNone/>
            </a:pPr>
            <a:r>
              <a:rPr lang="en-US" sz="2400" b="1" dirty="0"/>
              <a:t>public static void </a:t>
            </a:r>
            <a:r>
              <a:rPr lang="en-US" sz="2400" b="1" dirty="0" err="1"/>
              <a:t>varLengthMethod</a:t>
            </a:r>
            <a:r>
              <a:rPr lang="en-US" sz="2400" b="1" dirty="0"/>
              <a:t>(double </a:t>
            </a:r>
            <a:r>
              <a:rPr lang="en-US" sz="2400" b="1" dirty="0" err="1"/>
              <a:t>a,int</a:t>
            </a:r>
            <a:r>
              <a:rPr lang="en-US" sz="2400" b="1" dirty="0"/>
              <a:t>...n)</a:t>
            </a:r>
          </a:p>
        </p:txBody>
      </p:sp>
      <p:sp>
        <p:nvSpPr>
          <p:cNvPr id="4" name="Rectangle 3"/>
          <p:cNvSpPr/>
          <p:nvPr/>
        </p:nvSpPr>
        <p:spPr>
          <a:xfrm>
            <a:off x="228600" y="1295400"/>
            <a:ext cx="8763000" cy="83099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2400" dirty="0"/>
              <a:t>A variable number of arguments of the same type can be passed to a method and treated as an array.</a:t>
            </a:r>
          </a:p>
        </p:txBody>
      </p:sp>
    </p:spTree>
    <p:extLst>
      <p:ext uri="{BB962C8B-B14F-4D97-AF65-F5344CB8AC3E}">
        <p14:creationId xmlns:p14="http://schemas.microsoft.com/office/powerpoint/2010/main" val="26290260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E7A48A7-6535-6A3B-6B19-7874D55A87AA}"/>
              </a:ext>
            </a:extLst>
          </p:cNvPr>
          <p:cNvPicPr>
            <a:picLocks noChangeAspect="1"/>
          </p:cNvPicPr>
          <p:nvPr/>
        </p:nvPicPr>
        <p:blipFill>
          <a:blip r:embed="rId2"/>
          <a:stretch>
            <a:fillRect/>
          </a:stretch>
        </p:blipFill>
        <p:spPr>
          <a:xfrm>
            <a:off x="389946" y="0"/>
            <a:ext cx="8364107" cy="6858000"/>
          </a:xfrm>
          <a:prstGeom prst="rect">
            <a:avLst/>
          </a:prstGeom>
        </p:spPr>
      </p:pic>
    </p:spTree>
    <p:extLst>
      <p:ext uri="{BB962C8B-B14F-4D97-AF65-F5344CB8AC3E}">
        <p14:creationId xmlns:p14="http://schemas.microsoft.com/office/powerpoint/2010/main" val="8225412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3" name="Rectangle 2">
            <a:extLst>
              <a:ext uri="{FF2B5EF4-FFF2-40B4-BE49-F238E27FC236}">
                <a16:creationId xmlns:a16="http://schemas.microsoft.com/office/drawing/2014/main" id="{4E0719F3-997A-4AD2-B02A-8FF803DF192B}"/>
              </a:ext>
            </a:extLst>
          </p:cNvPr>
          <p:cNvSpPr>
            <a:spLocks noGrp="1" noChangeArrowheads="1"/>
          </p:cNvSpPr>
          <p:nvPr>
            <p:ph type="title"/>
          </p:nvPr>
        </p:nvSpPr>
        <p:spPr>
          <a:xfrm>
            <a:off x="762000" y="152400"/>
            <a:ext cx="7772400" cy="838200"/>
          </a:xfrm>
        </p:spPr>
        <p:txBody>
          <a:bodyPr/>
          <a:lstStyle/>
          <a:p>
            <a:r>
              <a:rPr lang="en-US" altLang="en-US"/>
              <a:t>Searching Arrays</a:t>
            </a:r>
            <a:endParaRPr lang="en-US" altLang="en-US" u="sng">
              <a:latin typeface="Book Antiqua" panose="02040602050305030304" pitchFamily="18" charset="0"/>
              <a:hlinkClick r:id="rId2" action="ppaction://program"/>
            </a:endParaRPr>
          </a:p>
        </p:txBody>
      </p:sp>
      <p:sp>
        <p:nvSpPr>
          <p:cNvPr id="87044" name="Rectangle 6">
            <a:extLst>
              <a:ext uri="{FF2B5EF4-FFF2-40B4-BE49-F238E27FC236}">
                <a16:creationId xmlns:a16="http://schemas.microsoft.com/office/drawing/2014/main" id="{56020526-9DF3-469E-8798-C52FC7F0F0A7}"/>
              </a:ext>
            </a:extLst>
          </p:cNvPr>
          <p:cNvSpPr>
            <a:spLocks noChangeArrowheads="1"/>
          </p:cNvSpPr>
          <p:nvPr/>
        </p:nvSpPr>
        <p:spPr bwMode="auto">
          <a:xfrm>
            <a:off x="0" y="28162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87046" name="Rectangle 7">
            <a:extLst>
              <a:ext uri="{FF2B5EF4-FFF2-40B4-BE49-F238E27FC236}">
                <a16:creationId xmlns:a16="http://schemas.microsoft.com/office/drawing/2014/main" id="{CD995F02-0FBA-47CF-8DF3-7C2450424A49}"/>
              </a:ext>
            </a:extLst>
          </p:cNvPr>
          <p:cNvSpPr>
            <a:spLocks noGrp="1" noChangeArrowheads="1"/>
          </p:cNvSpPr>
          <p:nvPr>
            <p:ph type="body" idx="1"/>
          </p:nvPr>
        </p:nvSpPr>
        <p:spPr>
          <a:xfrm>
            <a:off x="152400" y="1066800"/>
            <a:ext cx="8839200" cy="2971800"/>
          </a:xfrm>
          <a:noFill/>
        </p:spPr>
        <p:txBody>
          <a:bodyPr/>
          <a:lstStyle/>
          <a:p>
            <a:pPr marL="0" indent="0">
              <a:lnSpc>
                <a:spcPct val="90000"/>
              </a:lnSpc>
              <a:buFont typeface="Monotype Sorts" pitchFamily="2" charset="2"/>
              <a:buNone/>
            </a:pPr>
            <a:r>
              <a:rPr lang="en-US" altLang="en-US" sz="2800"/>
              <a:t>Searching is the process of looking for a specific element in an array; for example, discovering whether a certain score is included in a list of scores. Searching is a common task in computer programming. There are many algorithms and data structures devoted to searching. In this section, two commonly used approaches are discussed, </a:t>
            </a:r>
            <a:r>
              <a:rPr lang="en-US" altLang="en-US" sz="2800" i="1"/>
              <a:t>linear search</a:t>
            </a:r>
            <a:r>
              <a:rPr lang="en-US" altLang="en-US" sz="2800"/>
              <a:t> and </a:t>
            </a:r>
            <a:r>
              <a:rPr lang="en-US" altLang="en-US" sz="2800" i="1"/>
              <a:t>binary search</a:t>
            </a:r>
            <a:r>
              <a:rPr lang="en-US" altLang="en-US" sz="2800"/>
              <a:t>. </a:t>
            </a:r>
          </a:p>
        </p:txBody>
      </p:sp>
    </p:spTree>
    <p:extLst>
      <p:ext uri="{BB962C8B-B14F-4D97-AF65-F5344CB8AC3E}">
        <p14:creationId xmlns:p14="http://schemas.microsoft.com/office/powerpoint/2010/main" val="27601391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5821C-88F2-C26D-5CAC-512CF6F13FF8}"/>
              </a:ext>
            </a:extLst>
          </p:cNvPr>
          <p:cNvSpPr>
            <a:spLocks noGrp="1"/>
          </p:cNvSpPr>
          <p:nvPr>
            <p:ph type="title"/>
          </p:nvPr>
        </p:nvSpPr>
        <p:spPr/>
        <p:txBody>
          <a:bodyPr/>
          <a:lstStyle/>
          <a:p>
            <a:r>
              <a:rPr lang="en-US" dirty="0"/>
              <a:t>Searching Arrays</a:t>
            </a:r>
          </a:p>
        </p:txBody>
      </p:sp>
      <p:graphicFrame>
        <p:nvGraphicFramePr>
          <p:cNvPr id="87045" name="Object 5">
            <a:extLst>
              <a:ext uri="{FF2B5EF4-FFF2-40B4-BE49-F238E27FC236}">
                <a16:creationId xmlns:a16="http://schemas.microsoft.com/office/drawing/2014/main" id="{4FFE047D-67A5-40F7-A3EC-C216967FE9D4}"/>
              </a:ext>
            </a:extLst>
          </p:cNvPr>
          <p:cNvGraphicFramePr>
            <a:graphicFrameLocks noGrp="1" noChangeAspect="1"/>
          </p:cNvGraphicFramePr>
          <p:nvPr>
            <p:ph idx="1"/>
            <p:extLst>
              <p:ext uri="{D42A27DB-BD31-4B8C-83A1-F6EECF244321}">
                <p14:modId xmlns:p14="http://schemas.microsoft.com/office/powerpoint/2010/main" val="2098105015"/>
              </p:ext>
            </p:extLst>
          </p:nvPr>
        </p:nvGraphicFramePr>
        <p:xfrm>
          <a:off x="-2743200" y="990600"/>
          <a:ext cx="9601199" cy="2174081"/>
        </p:xfrm>
        <a:graphic>
          <a:graphicData uri="http://schemas.openxmlformats.org/presentationml/2006/ole">
            <mc:AlternateContent xmlns:mc="http://schemas.openxmlformats.org/markup-compatibility/2006">
              <mc:Choice xmlns:v="urn:schemas-microsoft-com:vml" Requires="v">
                <p:oleObj name="Picture" r:id="rId2" imgW="4795962" imgH="1225911" progId="Word.Picture.8">
                  <p:embed/>
                </p:oleObj>
              </mc:Choice>
              <mc:Fallback>
                <p:oleObj name="Picture" r:id="rId2" imgW="4795962" imgH="1225911" progId="Word.Picture.8">
                  <p:embed/>
                  <p:pic>
                    <p:nvPicPr>
                      <p:cNvPr id="87045" name="Object 5">
                        <a:extLst>
                          <a:ext uri="{FF2B5EF4-FFF2-40B4-BE49-F238E27FC236}">
                            <a16:creationId xmlns:a16="http://schemas.microsoft.com/office/drawing/2014/main" id="{4FFE047D-67A5-40F7-A3EC-C216967FE9D4}"/>
                          </a:ext>
                        </a:extLst>
                      </p:cNvPr>
                      <p:cNvPicPr>
                        <a:picLocks noChangeAspect="1" noChangeArrowheads="1"/>
                      </p:cNvPicPr>
                      <p:nvPr/>
                    </p:nvPicPr>
                    <p:blipFill>
                      <a:blip r:embed="rId3"/>
                      <a:srcRect/>
                      <a:stretch>
                        <a:fillRect/>
                      </a:stretch>
                    </p:blipFill>
                    <p:spPr bwMode="auto">
                      <a:xfrm>
                        <a:off x="-2743200" y="990600"/>
                        <a:ext cx="9601199" cy="2174081"/>
                      </a:xfrm>
                      <a:prstGeom prst="rect">
                        <a:avLst/>
                      </a:prstGeom>
                      <a:noFill/>
                      <a:ln>
                        <a:noFill/>
                      </a:ln>
                    </p:spPr>
                  </p:pic>
                </p:oleObj>
              </mc:Fallback>
            </mc:AlternateContent>
          </a:graphicData>
        </a:graphic>
      </p:graphicFrame>
      <p:sp>
        <p:nvSpPr>
          <p:cNvPr id="5" name="TextBox 4">
            <a:extLst>
              <a:ext uri="{FF2B5EF4-FFF2-40B4-BE49-F238E27FC236}">
                <a16:creationId xmlns:a16="http://schemas.microsoft.com/office/drawing/2014/main" id="{3223F63E-6DB6-ED1C-985C-456D5D5CAE62}"/>
              </a:ext>
            </a:extLst>
          </p:cNvPr>
          <p:cNvSpPr txBox="1"/>
          <p:nvPr/>
        </p:nvSpPr>
        <p:spPr>
          <a:xfrm>
            <a:off x="1752600" y="3164681"/>
            <a:ext cx="4800600" cy="3693319"/>
          </a:xfrm>
          <a:prstGeom prst="rect">
            <a:avLst/>
          </a:prstGeom>
          <a:noFill/>
        </p:spPr>
        <p:txBody>
          <a:bodyPr wrap="square">
            <a:spAutoFit/>
          </a:bodyPr>
          <a:lstStyle/>
          <a:p>
            <a:pPr marL="0" hangingPunct="0">
              <a:buNone/>
            </a:pPr>
            <a:r>
              <a:rPr lang="en-US" sz="1800" u="none" strike="noStrike" dirty="0">
                <a:effectLst/>
                <a:latin typeface="Courier New" panose="02070309020205020404" pitchFamily="49" charset="0"/>
                <a:ea typeface="Times New Roman" panose="02020603050405020304" pitchFamily="18" charset="0"/>
                <a:cs typeface="Times New Roman" panose="02020603050405020304" pitchFamily="18" charset="0"/>
              </a:rPr>
              <a:t>public class </a:t>
            </a:r>
            <a:r>
              <a:rPr lang="en-US" sz="1800" u="none" strike="noStrike" dirty="0" err="1">
                <a:effectLst/>
                <a:latin typeface="Courier New" panose="02070309020205020404" pitchFamily="49" charset="0"/>
                <a:ea typeface="Times New Roman" panose="02020603050405020304" pitchFamily="18" charset="0"/>
                <a:cs typeface="Times New Roman" panose="02020603050405020304" pitchFamily="18" charset="0"/>
              </a:rPr>
              <a:t>LinearSearch</a:t>
            </a:r>
            <a:r>
              <a:rPr lang="en-US" sz="1800" u="none" strike="noStrike" dirty="0">
                <a:effectLst/>
                <a:latin typeface="Courier New" panose="02070309020205020404" pitchFamily="49" charset="0"/>
                <a:ea typeface="Times New Roman" panose="02020603050405020304" pitchFamily="18" charset="0"/>
                <a:cs typeface="Times New Roman" panose="02020603050405020304" pitchFamily="18" charset="0"/>
              </a:rPr>
              <a:t> {</a:t>
            </a:r>
            <a:endParaRPr lang="en-US" sz="1800" u="sng" dirty="0">
              <a:effectLst/>
              <a:latin typeface="Courier"/>
              <a:ea typeface="Times New Roman" panose="02020603050405020304" pitchFamily="18" charset="0"/>
              <a:cs typeface="Times New Roman" panose="02020603050405020304" pitchFamily="18" charset="0"/>
            </a:endParaRPr>
          </a:p>
          <a:p>
            <a:pPr marL="0" hangingPunct="0">
              <a:buNone/>
            </a:pPr>
            <a:r>
              <a:rPr lang="en-US" sz="1800" u="none" strike="noStrike" dirty="0">
                <a:effectLst/>
                <a:latin typeface="Courier New" panose="02070309020205020404" pitchFamily="49" charset="0"/>
                <a:ea typeface="Times New Roman" panose="02020603050405020304" pitchFamily="18" charset="0"/>
                <a:cs typeface="Times New Roman" panose="02020603050405020304" pitchFamily="18" charset="0"/>
              </a:rPr>
              <a:t>  /** The method for finding a key in the list */</a:t>
            </a:r>
            <a:endParaRPr lang="en-US" sz="1800" u="sng" dirty="0">
              <a:effectLst/>
              <a:latin typeface="Courier"/>
              <a:ea typeface="Times New Roman" panose="02020603050405020304" pitchFamily="18" charset="0"/>
              <a:cs typeface="Times New Roman" panose="02020603050405020304" pitchFamily="18" charset="0"/>
            </a:endParaRPr>
          </a:p>
          <a:p>
            <a:pPr marL="0" hangingPunct="0">
              <a:buNone/>
            </a:pPr>
            <a:r>
              <a:rPr lang="en-US" sz="1800" u="none" strike="noStrike" dirty="0">
                <a:effectLst/>
                <a:latin typeface="Courier New" panose="02070309020205020404" pitchFamily="49" charset="0"/>
                <a:ea typeface="Times New Roman" panose="02020603050405020304" pitchFamily="18" charset="0"/>
                <a:cs typeface="Times New Roman" panose="02020603050405020304" pitchFamily="18" charset="0"/>
              </a:rPr>
              <a:t>  public static int </a:t>
            </a:r>
            <a:r>
              <a:rPr lang="en-US" sz="1800" u="none" strike="noStrike" dirty="0" err="1">
                <a:effectLst/>
                <a:latin typeface="Courier New" panose="02070309020205020404" pitchFamily="49" charset="0"/>
                <a:ea typeface="Times New Roman" panose="02020603050405020304" pitchFamily="18" charset="0"/>
                <a:cs typeface="Times New Roman" panose="02020603050405020304" pitchFamily="18" charset="0"/>
              </a:rPr>
              <a:t>linearSearch</a:t>
            </a:r>
            <a:r>
              <a:rPr lang="en-US" sz="1800" u="none" strike="noStrike" dirty="0">
                <a:effectLst/>
                <a:latin typeface="Courier New" panose="02070309020205020404" pitchFamily="49" charset="0"/>
                <a:ea typeface="Times New Roman" panose="02020603050405020304" pitchFamily="18" charset="0"/>
                <a:cs typeface="Times New Roman" panose="02020603050405020304" pitchFamily="18" charset="0"/>
              </a:rPr>
              <a:t>(int[] list, int key) {</a:t>
            </a:r>
            <a:endParaRPr lang="en-US" sz="1800" u="sng" dirty="0">
              <a:effectLst/>
              <a:latin typeface="Courier"/>
              <a:ea typeface="Times New Roman" panose="02020603050405020304" pitchFamily="18" charset="0"/>
              <a:cs typeface="Times New Roman" panose="02020603050405020304" pitchFamily="18" charset="0"/>
            </a:endParaRPr>
          </a:p>
          <a:p>
            <a:pPr marL="0" hangingPunct="0">
              <a:buNone/>
            </a:pPr>
            <a:r>
              <a:rPr lang="en-US" sz="1800" u="none" strike="noStrike" dirty="0">
                <a:effectLst/>
                <a:latin typeface="Courier New" panose="02070309020205020404" pitchFamily="49" charset="0"/>
                <a:ea typeface="Times New Roman" panose="02020603050405020304" pitchFamily="18" charset="0"/>
                <a:cs typeface="Times New Roman" panose="02020603050405020304" pitchFamily="18" charset="0"/>
              </a:rPr>
              <a:t>    </a:t>
            </a:r>
            <a:r>
              <a:rPr lang="en-US" sz="1800" u="none" strike="noStrike" dirty="0">
                <a:effectLst/>
                <a:highlight>
                  <a:srgbClr val="FFFF00"/>
                </a:highlight>
                <a:latin typeface="Courier New" panose="02070309020205020404" pitchFamily="49" charset="0"/>
                <a:ea typeface="Times New Roman" panose="02020603050405020304" pitchFamily="18" charset="0"/>
                <a:cs typeface="Times New Roman" panose="02020603050405020304" pitchFamily="18" charset="0"/>
              </a:rPr>
              <a:t>for (int </a:t>
            </a:r>
            <a:r>
              <a:rPr lang="en-US" sz="1800" u="none" strike="noStrike" dirty="0" err="1">
                <a:effectLst/>
                <a:highlight>
                  <a:srgbClr val="FFFF00"/>
                </a:highlight>
                <a:latin typeface="Courier New" panose="02070309020205020404" pitchFamily="49" charset="0"/>
                <a:ea typeface="Times New Roman" panose="02020603050405020304" pitchFamily="18" charset="0"/>
                <a:cs typeface="Times New Roman" panose="02020603050405020304" pitchFamily="18" charset="0"/>
              </a:rPr>
              <a:t>i</a:t>
            </a:r>
            <a:r>
              <a:rPr lang="en-US" sz="1800" u="none" strike="noStrike" dirty="0">
                <a:effectLst/>
                <a:highlight>
                  <a:srgbClr val="FFFF00"/>
                </a:highlight>
                <a:latin typeface="Courier New" panose="02070309020205020404" pitchFamily="49" charset="0"/>
                <a:ea typeface="Times New Roman" panose="02020603050405020304" pitchFamily="18" charset="0"/>
                <a:cs typeface="Times New Roman" panose="02020603050405020304" pitchFamily="18" charset="0"/>
              </a:rPr>
              <a:t> = 0; </a:t>
            </a:r>
            <a:r>
              <a:rPr lang="en-US" sz="1800" u="none" strike="noStrike" dirty="0" err="1">
                <a:effectLst/>
                <a:highlight>
                  <a:srgbClr val="FFFF00"/>
                </a:highlight>
                <a:latin typeface="Courier New" panose="02070309020205020404" pitchFamily="49" charset="0"/>
                <a:ea typeface="Times New Roman" panose="02020603050405020304" pitchFamily="18" charset="0"/>
                <a:cs typeface="Times New Roman" panose="02020603050405020304" pitchFamily="18" charset="0"/>
              </a:rPr>
              <a:t>i</a:t>
            </a:r>
            <a:r>
              <a:rPr lang="en-US" sz="1800" u="none" strike="noStrike" dirty="0">
                <a:effectLst/>
                <a:highlight>
                  <a:srgbClr val="FFFF00"/>
                </a:highlight>
                <a:latin typeface="Courier New" panose="02070309020205020404" pitchFamily="49" charset="0"/>
                <a:ea typeface="Times New Roman" panose="02020603050405020304" pitchFamily="18" charset="0"/>
                <a:cs typeface="Times New Roman" panose="02020603050405020304" pitchFamily="18" charset="0"/>
              </a:rPr>
              <a:t> &lt; </a:t>
            </a:r>
            <a:r>
              <a:rPr lang="en-US" sz="1800" u="none" strike="noStrike" dirty="0" err="1">
                <a:effectLst/>
                <a:highlight>
                  <a:srgbClr val="FFFF00"/>
                </a:highlight>
                <a:latin typeface="Courier New" panose="02070309020205020404" pitchFamily="49" charset="0"/>
                <a:ea typeface="Times New Roman" panose="02020603050405020304" pitchFamily="18" charset="0"/>
                <a:cs typeface="Times New Roman" panose="02020603050405020304" pitchFamily="18" charset="0"/>
              </a:rPr>
              <a:t>list.length</a:t>
            </a:r>
            <a:r>
              <a:rPr lang="en-US" sz="1800" u="none" strike="noStrike" dirty="0">
                <a:effectLst/>
                <a:highlight>
                  <a:srgbClr val="FFFF00"/>
                </a:highlight>
                <a:latin typeface="Courier New" panose="02070309020205020404" pitchFamily="49" charset="0"/>
                <a:ea typeface="Times New Roman" panose="02020603050405020304" pitchFamily="18" charset="0"/>
                <a:cs typeface="Times New Roman" panose="02020603050405020304" pitchFamily="18" charset="0"/>
              </a:rPr>
              <a:t>; </a:t>
            </a:r>
            <a:r>
              <a:rPr lang="en-US" sz="1800" u="none" strike="noStrike" dirty="0" err="1">
                <a:effectLst/>
                <a:highlight>
                  <a:srgbClr val="FFFF00"/>
                </a:highlight>
                <a:latin typeface="Courier New" panose="02070309020205020404" pitchFamily="49" charset="0"/>
                <a:ea typeface="Times New Roman" panose="02020603050405020304" pitchFamily="18" charset="0"/>
                <a:cs typeface="Times New Roman" panose="02020603050405020304" pitchFamily="18" charset="0"/>
              </a:rPr>
              <a:t>i</a:t>
            </a:r>
            <a:r>
              <a:rPr lang="en-US" sz="1800" u="none" strike="noStrike" dirty="0">
                <a:effectLst/>
                <a:highlight>
                  <a:srgbClr val="FFFF00"/>
                </a:highlight>
                <a:latin typeface="Courier New" panose="02070309020205020404" pitchFamily="49" charset="0"/>
                <a:ea typeface="Times New Roman" panose="02020603050405020304" pitchFamily="18" charset="0"/>
                <a:cs typeface="Times New Roman" panose="02020603050405020304" pitchFamily="18" charset="0"/>
              </a:rPr>
              <a:t>++)</a:t>
            </a:r>
            <a:endParaRPr lang="en-US" sz="1800" u="sng" dirty="0">
              <a:effectLst/>
              <a:latin typeface="Courier"/>
              <a:ea typeface="Times New Roman" panose="02020603050405020304" pitchFamily="18" charset="0"/>
              <a:cs typeface="Times New Roman" panose="02020603050405020304" pitchFamily="18" charset="0"/>
            </a:endParaRPr>
          </a:p>
          <a:p>
            <a:pPr marL="0" hangingPunct="0">
              <a:buNone/>
            </a:pPr>
            <a:r>
              <a:rPr lang="en-US" sz="1800" u="none" strike="noStrike" dirty="0">
                <a:effectLst/>
                <a:latin typeface="Courier New" panose="02070309020205020404" pitchFamily="49" charset="0"/>
                <a:ea typeface="Times New Roman" panose="02020603050405020304" pitchFamily="18" charset="0"/>
                <a:cs typeface="Times New Roman" panose="02020603050405020304" pitchFamily="18" charset="0"/>
              </a:rPr>
              <a:t>      if (key == list[</a:t>
            </a:r>
            <a:r>
              <a:rPr lang="en-US" sz="1800" u="none" strike="noStrike" dirty="0" err="1">
                <a:effectLst/>
                <a:latin typeface="Courier New" panose="02070309020205020404" pitchFamily="49" charset="0"/>
                <a:ea typeface="Times New Roman" panose="02020603050405020304" pitchFamily="18" charset="0"/>
                <a:cs typeface="Times New Roman" panose="02020603050405020304" pitchFamily="18" charset="0"/>
              </a:rPr>
              <a:t>i</a:t>
            </a:r>
            <a:r>
              <a:rPr lang="en-US" sz="1800" u="none" strike="noStrike" dirty="0">
                <a:effectLst/>
                <a:latin typeface="Courier New" panose="02070309020205020404" pitchFamily="49" charset="0"/>
                <a:ea typeface="Times New Roman" panose="02020603050405020304" pitchFamily="18" charset="0"/>
                <a:cs typeface="Times New Roman" panose="02020603050405020304" pitchFamily="18" charset="0"/>
              </a:rPr>
              <a:t>])</a:t>
            </a:r>
            <a:endParaRPr lang="en-US" sz="1800" u="sng" dirty="0">
              <a:effectLst/>
              <a:latin typeface="Courier"/>
              <a:ea typeface="Times New Roman" panose="02020603050405020304" pitchFamily="18" charset="0"/>
              <a:cs typeface="Times New Roman" panose="02020603050405020304" pitchFamily="18" charset="0"/>
            </a:endParaRPr>
          </a:p>
          <a:p>
            <a:pPr marL="0" hangingPunct="0">
              <a:buNone/>
            </a:pPr>
            <a:r>
              <a:rPr lang="en-US" sz="1800" u="none" strike="noStrike" dirty="0">
                <a:effectLst/>
                <a:latin typeface="Courier New" panose="02070309020205020404" pitchFamily="49" charset="0"/>
                <a:ea typeface="Times New Roman" panose="02020603050405020304" pitchFamily="18" charset="0"/>
                <a:cs typeface="Times New Roman" panose="02020603050405020304" pitchFamily="18" charset="0"/>
              </a:rPr>
              <a:t>        return </a:t>
            </a:r>
            <a:r>
              <a:rPr lang="en-US" sz="1800" u="none" strike="noStrike" dirty="0" err="1">
                <a:effectLst/>
                <a:latin typeface="Courier New" panose="02070309020205020404" pitchFamily="49" charset="0"/>
                <a:ea typeface="Times New Roman" panose="02020603050405020304" pitchFamily="18" charset="0"/>
                <a:cs typeface="Times New Roman" panose="02020603050405020304" pitchFamily="18" charset="0"/>
              </a:rPr>
              <a:t>i</a:t>
            </a:r>
            <a:r>
              <a:rPr lang="en-US" sz="1800" u="none" strike="noStrike" dirty="0">
                <a:effectLst/>
                <a:latin typeface="Courier New" panose="02070309020205020404" pitchFamily="49" charset="0"/>
                <a:ea typeface="Times New Roman" panose="02020603050405020304" pitchFamily="18" charset="0"/>
                <a:cs typeface="Times New Roman" panose="02020603050405020304" pitchFamily="18" charset="0"/>
              </a:rPr>
              <a:t>;</a:t>
            </a:r>
            <a:endParaRPr lang="en-US" sz="1800" u="sng" dirty="0">
              <a:effectLst/>
              <a:latin typeface="Courier"/>
              <a:ea typeface="Times New Roman" panose="02020603050405020304" pitchFamily="18" charset="0"/>
              <a:cs typeface="Times New Roman" panose="02020603050405020304" pitchFamily="18" charset="0"/>
            </a:endParaRPr>
          </a:p>
          <a:p>
            <a:pPr marL="0" hangingPunct="0">
              <a:buNone/>
            </a:pPr>
            <a:r>
              <a:rPr lang="en-US" sz="1800" u="none" strike="noStrike" dirty="0">
                <a:effectLst/>
                <a:latin typeface="Courier New" panose="02070309020205020404" pitchFamily="49" charset="0"/>
                <a:ea typeface="Times New Roman" panose="02020603050405020304" pitchFamily="18" charset="0"/>
                <a:cs typeface="Times New Roman" panose="02020603050405020304" pitchFamily="18" charset="0"/>
              </a:rPr>
              <a:t>    return -1;</a:t>
            </a:r>
            <a:endParaRPr lang="en-US" sz="1800" u="sng" dirty="0">
              <a:effectLst/>
              <a:latin typeface="Courier"/>
              <a:ea typeface="Times New Roman" panose="02020603050405020304" pitchFamily="18" charset="0"/>
              <a:cs typeface="Times New Roman" panose="02020603050405020304" pitchFamily="18" charset="0"/>
            </a:endParaRPr>
          </a:p>
          <a:p>
            <a:pPr marL="0" hangingPunct="0">
              <a:buNone/>
            </a:pPr>
            <a:r>
              <a:rPr lang="en-US" sz="1800" u="none" strike="noStrike" dirty="0">
                <a:effectLst/>
                <a:latin typeface="Courier New" panose="02070309020205020404" pitchFamily="49" charset="0"/>
                <a:ea typeface="Times New Roman" panose="02020603050405020304" pitchFamily="18" charset="0"/>
                <a:cs typeface="Times New Roman" panose="02020603050405020304" pitchFamily="18" charset="0"/>
              </a:rPr>
              <a:t>  }</a:t>
            </a:r>
            <a:endParaRPr lang="en-US" sz="1800" u="sng" dirty="0">
              <a:effectLst/>
              <a:latin typeface="Courier"/>
              <a:ea typeface="Times New Roman" panose="02020603050405020304" pitchFamily="18" charset="0"/>
              <a:cs typeface="Times New Roman" panose="02020603050405020304" pitchFamily="18" charset="0"/>
            </a:endParaRPr>
          </a:p>
          <a:p>
            <a:pPr marL="0" hangingPunct="0"/>
            <a:r>
              <a:rPr lang="en-US" sz="1800" u="none" strike="noStrike" dirty="0">
                <a:effectLst/>
                <a:latin typeface="Courier New" panose="02070309020205020404" pitchFamily="49" charset="0"/>
                <a:ea typeface="Times New Roman" panose="02020603050405020304" pitchFamily="18" charset="0"/>
                <a:cs typeface="Times New Roman" panose="02020603050405020304" pitchFamily="18" charset="0"/>
              </a:rPr>
              <a:t>}</a:t>
            </a:r>
            <a:endParaRPr lang="en-US" sz="1800" u="sng" dirty="0">
              <a:effectLst/>
              <a:latin typeface="Courier"/>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6765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7" name="Rectangle 2">
            <a:extLst>
              <a:ext uri="{FF2B5EF4-FFF2-40B4-BE49-F238E27FC236}">
                <a16:creationId xmlns:a16="http://schemas.microsoft.com/office/drawing/2014/main" id="{1F68B4A8-7C8C-4D54-8E80-1279AAFC6AA7}"/>
              </a:ext>
            </a:extLst>
          </p:cNvPr>
          <p:cNvSpPr>
            <a:spLocks noGrp="1" noChangeArrowheads="1"/>
          </p:cNvSpPr>
          <p:nvPr>
            <p:ph type="title"/>
          </p:nvPr>
        </p:nvSpPr>
        <p:spPr>
          <a:xfrm>
            <a:off x="685800" y="457200"/>
            <a:ext cx="7772400" cy="838200"/>
          </a:xfrm>
        </p:spPr>
        <p:txBody>
          <a:bodyPr/>
          <a:lstStyle/>
          <a:p>
            <a:r>
              <a:rPr lang="en-US" altLang="en-US"/>
              <a:t>Linear Search</a:t>
            </a:r>
            <a:endParaRPr lang="en-US" altLang="en-US" u="sng">
              <a:latin typeface="Book Antiqua" panose="02040602050305030304" pitchFamily="18" charset="0"/>
              <a:hlinkClick r:id="rId2" action="ppaction://program"/>
            </a:endParaRPr>
          </a:p>
        </p:txBody>
      </p:sp>
      <p:sp>
        <p:nvSpPr>
          <p:cNvPr id="88068" name="Rectangle 3">
            <a:extLst>
              <a:ext uri="{FF2B5EF4-FFF2-40B4-BE49-F238E27FC236}">
                <a16:creationId xmlns:a16="http://schemas.microsoft.com/office/drawing/2014/main" id="{66B5F835-F2CD-4F22-86A4-D11F8806C814}"/>
              </a:ext>
            </a:extLst>
          </p:cNvPr>
          <p:cNvSpPr>
            <a:spLocks noGrp="1" noChangeArrowheads="1"/>
          </p:cNvSpPr>
          <p:nvPr>
            <p:ph type="body" idx="1"/>
          </p:nvPr>
        </p:nvSpPr>
        <p:spPr>
          <a:xfrm>
            <a:off x="685800" y="1447800"/>
            <a:ext cx="7924800" cy="4648200"/>
          </a:xfrm>
        </p:spPr>
        <p:txBody>
          <a:bodyPr/>
          <a:lstStyle/>
          <a:p>
            <a:pPr marL="0" indent="0">
              <a:buFont typeface="Monotype Sorts" pitchFamily="2" charset="2"/>
              <a:buNone/>
            </a:pPr>
            <a:r>
              <a:rPr lang="en-US" altLang="en-US">
                <a:cs typeface="Times New Roman" panose="02020603050405020304" pitchFamily="18" charset="0"/>
              </a:rPr>
              <a:t>The linear search approach compares the key element, </a:t>
            </a:r>
            <a:r>
              <a:rPr lang="en-US" altLang="en-US" u="sng">
                <a:cs typeface="Times New Roman" panose="02020603050405020304" pitchFamily="18" charset="0"/>
              </a:rPr>
              <a:t>key</a:t>
            </a:r>
            <a:r>
              <a:rPr lang="en-US" altLang="en-US">
                <a:cs typeface="Times New Roman" panose="02020603050405020304" pitchFamily="18" charset="0"/>
              </a:rPr>
              <a:t>, </a:t>
            </a:r>
            <a:r>
              <a:rPr lang="en-US" altLang="en-US" i="1">
                <a:cs typeface="Times New Roman" panose="02020603050405020304" pitchFamily="18" charset="0"/>
              </a:rPr>
              <a:t>sequentially</a:t>
            </a:r>
            <a:r>
              <a:rPr lang="en-US" altLang="en-US">
                <a:cs typeface="Times New Roman" panose="02020603050405020304" pitchFamily="18" charset="0"/>
              </a:rPr>
              <a:t> with each element in the array </a:t>
            </a:r>
            <a:r>
              <a:rPr lang="en-US" altLang="en-US" u="sng">
                <a:cs typeface="Times New Roman" panose="02020603050405020304" pitchFamily="18" charset="0"/>
              </a:rPr>
              <a:t>list</a:t>
            </a:r>
            <a:r>
              <a:rPr lang="en-US" altLang="en-US">
                <a:cs typeface="Times New Roman" panose="02020603050405020304" pitchFamily="18" charset="0"/>
              </a:rPr>
              <a:t>. The method continues to do so until the key matches an element in the list or the list is exhausted without a match being found. If a match is made, the linear search returns the index of the element in the array that matches the key. If no match is found, the search returns </a:t>
            </a:r>
            <a:r>
              <a:rPr lang="en-US" altLang="en-US" u="sng">
                <a:cs typeface="Times New Roman" panose="02020603050405020304" pitchFamily="18" charset="0"/>
              </a:rPr>
              <a:t>-1</a:t>
            </a:r>
            <a:r>
              <a:rPr lang="en-US" altLang="en-US">
                <a:cs typeface="Times New Roman" panose="02020603050405020304" pitchFamily="18" charset="0"/>
              </a:rPr>
              <a:t>. </a:t>
            </a:r>
          </a:p>
        </p:txBody>
      </p:sp>
    </p:spTree>
    <p:extLst>
      <p:ext uri="{BB962C8B-B14F-4D97-AF65-F5344CB8AC3E}">
        <p14:creationId xmlns:p14="http://schemas.microsoft.com/office/powerpoint/2010/main" val="18314744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1" name="Rectangle 2">
            <a:extLst>
              <a:ext uri="{FF2B5EF4-FFF2-40B4-BE49-F238E27FC236}">
                <a16:creationId xmlns:a16="http://schemas.microsoft.com/office/drawing/2014/main" id="{472D752D-6813-4E95-8221-931644E6DF28}"/>
              </a:ext>
            </a:extLst>
          </p:cNvPr>
          <p:cNvSpPr>
            <a:spLocks noGrp="1" noChangeArrowheads="1"/>
          </p:cNvSpPr>
          <p:nvPr>
            <p:ph type="title" sz="quarter"/>
          </p:nvPr>
        </p:nvSpPr>
        <p:spPr>
          <a:xfrm>
            <a:off x="685800" y="285750"/>
            <a:ext cx="7772400" cy="685800"/>
          </a:xfrm>
        </p:spPr>
        <p:txBody>
          <a:bodyPr>
            <a:normAutofit fontScale="90000"/>
          </a:bodyPr>
          <a:lstStyle/>
          <a:p>
            <a:r>
              <a:rPr lang="en-US" altLang="en-US" sz="4000" dirty="0"/>
              <a:t>Linear Search Animation</a:t>
            </a:r>
          </a:p>
        </p:txBody>
      </p:sp>
      <p:graphicFrame>
        <p:nvGraphicFramePr>
          <p:cNvPr id="385027" name="Group 3">
            <a:extLst>
              <a:ext uri="{FF2B5EF4-FFF2-40B4-BE49-F238E27FC236}">
                <a16:creationId xmlns:a16="http://schemas.microsoft.com/office/drawing/2014/main" id="{D7E389F2-1F56-44FC-8960-7A01C3AF10CF}"/>
              </a:ext>
            </a:extLst>
          </p:cNvPr>
          <p:cNvGraphicFramePr>
            <a:graphicFrameLocks noGrp="1"/>
          </p:cNvGraphicFramePr>
          <p:nvPr/>
        </p:nvGraphicFramePr>
        <p:xfrm>
          <a:off x="1884363" y="1662113"/>
          <a:ext cx="4267200" cy="517602"/>
        </p:xfrm>
        <a:graphic>
          <a:graphicData uri="http://schemas.openxmlformats.org/drawingml/2006/table">
            <a:tbl>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gridCol w="533400">
                  <a:extLst>
                    <a:ext uri="{9D8B030D-6E8A-4147-A177-3AD203B41FA5}">
                      <a16:colId xmlns:a16="http://schemas.microsoft.com/office/drawing/2014/main" val="20003"/>
                    </a:ext>
                  </a:extLst>
                </a:gridCol>
                <a:gridCol w="533400">
                  <a:extLst>
                    <a:ext uri="{9D8B030D-6E8A-4147-A177-3AD203B41FA5}">
                      <a16:colId xmlns:a16="http://schemas.microsoft.com/office/drawing/2014/main" val="20004"/>
                    </a:ext>
                  </a:extLst>
                </a:gridCol>
                <a:gridCol w="533400">
                  <a:extLst>
                    <a:ext uri="{9D8B030D-6E8A-4147-A177-3AD203B41FA5}">
                      <a16:colId xmlns:a16="http://schemas.microsoft.com/office/drawing/2014/main" val="20005"/>
                    </a:ext>
                  </a:extLst>
                </a:gridCol>
                <a:gridCol w="533400">
                  <a:extLst>
                    <a:ext uri="{9D8B030D-6E8A-4147-A177-3AD203B41FA5}">
                      <a16:colId xmlns:a16="http://schemas.microsoft.com/office/drawing/2014/main" val="20006"/>
                    </a:ext>
                  </a:extLst>
                </a:gridCol>
                <a:gridCol w="533400">
                  <a:extLst>
                    <a:ext uri="{9D8B030D-6E8A-4147-A177-3AD203B41FA5}">
                      <a16:colId xmlns:a16="http://schemas.microsoft.com/office/drawing/2014/main" val="20007"/>
                    </a:ext>
                  </a:extLst>
                </a:gridCol>
              </a:tblGrid>
              <a:tr h="517525">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6</a:t>
                      </a:r>
                    </a:p>
                  </a:txBody>
                  <a:tcPr marT="45441" marB="4544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4</a:t>
                      </a:r>
                    </a:p>
                  </a:txBody>
                  <a:tcPr marT="45441" marB="454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1</a:t>
                      </a:r>
                    </a:p>
                  </a:txBody>
                  <a:tcPr marT="45441" marB="454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9</a:t>
                      </a:r>
                    </a:p>
                  </a:txBody>
                  <a:tcPr marT="45441" marB="454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7</a:t>
                      </a:r>
                    </a:p>
                  </a:txBody>
                  <a:tcPr marT="45441" marB="454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3</a:t>
                      </a:r>
                    </a:p>
                  </a:txBody>
                  <a:tcPr marT="45441" marB="454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2</a:t>
                      </a:r>
                    </a:p>
                  </a:txBody>
                  <a:tcPr marT="45441" marB="454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8</a:t>
                      </a:r>
                    </a:p>
                  </a:txBody>
                  <a:tcPr marT="45441" marB="4544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385047" name="Group 23">
            <a:extLst>
              <a:ext uri="{FF2B5EF4-FFF2-40B4-BE49-F238E27FC236}">
                <a16:creationId xmlns:a16="http://schemas.microsoft.com/office/drawing/2014/main" id="{BE4C7415-6B5F-417C-9C6E-4300648C4846}"/>
              </a:ext>
            </a:extLst>
          </p:cNvPr>
          <p:cNvGraphicFramePr>
            <a:graphicFrameLocks noGrp="1"/>
          </p:cNvGraphicFramePr>
          <p:nvPr/>
        </p:nvGraphicFramePr>
        <p:xfrm>
          <a:off x="1884363" y="2408238"/>
          <a:ext cx="4267200" cy="533400"/>
        </p:xfrm>
        <a:graphic>
          <a:graphicData uri="http://schemas.openxmlformats.org/drawingml/2006/table">
            <a:tbl>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gridCol w="533400">
                  <a:extLst>
                    <a:ext uri="{9D8B030D-6E8A-4147-A177-3AD203B41FA5}">
                      <a16:colId xmlns:a16="http://schemas.microsoft.com/office/drawing/2014/main" val="20003"/>
                    </a:ext>
                  </a:extLst>
                </a:gridCol>
                <a:gridCol w="533400">
                  <a:extLst>
                    <a:ext uri="{9D8B030D-6E8A-4147-A177-3AD203B41FA5}">
                      <a16:colId xmlns:a16="http://schemas.microsoft.com/office/drawing/2014/main" val="20004"/>
                    </a:ext>
                  </a:extLst>
                </a:gridCol>
                <a:gridCol w="533400">
                  <a:extLst>
                    <a:ext uri="{9D8B030D-6E8A-4147-A177-3AD203B41FA5}">
                      <a16:colId xmlns:a16="http://schemas.microsoft.com/office/drawing/2014/main" val="20005"/>
                    </a:ext>
                  </a:extLst>
                </a:gridCol>
                <a:gridCol w="533400">
                  <a:extLst>
                    <a:ext uri="{9D8B030D-6E8A-4147-A177-3AD203B41FA5}">
                      <a16:colId xmlns:a16="http://schemas.microsoft.com/office/drawing/2014/main" val="20006"/>
                    </a:ext>
                  </a:extLst>
                </a:gridCol>
                <a:gridCol w="533400">
                  <a:extLst>
                    <a:ext uri="{9D8B030D-6E8A-4147-A177-3AD203B41FA5}">
                      <a16:colId xmlns:a16="http://schemas.microsoft.com/office/drawing/2014/main" val="20007"/>
                    </a:ext>
                  </a:extLst>
                </a:gridCol>
              </a:tblGrid>
              <a:tr h="533400">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385067" name="Group 43">
            <a:extLst>
              <a:ext uri="{FF2B5EF4-FFF2-40B4-BE49-F238E27FC236}">
                <a16:creationId xmlns:a16="http://schemas.microsoft.com/office/drawing/2014/main" id="{D0D7A5D7-1182-41AB-837A-164355F9187E}"/>
              </a:ext>
            </a:extLst>
          </p:cNvPr>
          <p:cNvGraphicFramePr>
            <a:graphicFrameLocks noGrp="1"/>
          </p:cNvGraphicFramePr>
          <p:nvPr/>
        </p:nvGraphicFramePr>
        <p:xfrm>
          <a:off x="1884363" y="3170238"/>
          <a:ext cx="4267200" cy="533400"/>
        </p:xfrm>
        <a:graphic>
          <a:graphicData uri="http://schemas.openxmlformats.org/drawingml/2006/table">
            <a:tbl>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gridCol w="533400">
                  <a:extLst>
                    <a:ext uri="{9D8B030D-6E8A-4147-A177-3AD203B41FA5}">
                      <a16:colId xmlns:a16="http://schemas.microsoft.com/office/drawing/2014/main" val="20003"/>
                    </a:ext>
                  </a:extLst>
                </a:gridCol>
                <a:gridCol w="533400">
                  <a:extLst>
                    <a:ext uri="{9D8B030D-6E8A-4147-A177-3AD203B41FA5}">
                      <a16:colId xmlns:a16="http://schemas.microsoft.com/office/drawing/2014/main" val="20004"/>
                    </a:ext>
                  </a:extLst>
                </a:gridCol>
                <a:gridCol w="533400">
                  <a:extLst>
                    <a:ext uri="{9D8B030D-6E8A-4147-A177-3AD203B41FA5}">
                      <a16:colId xmlns:a16="http://schemas.microsoft.com/office/drawing/2014/main" val="20005"/>
                    </a:ext>
                  </a:extLst>
                </a:gridCol>
                <a:gridCol w="533400">
                  <a:extLst>
                    <a:ext uri="{9D8B030D-6E8A-4147-A177-3AD203B41FA5}">
                      <a16:colId xmlns:a16="http://schemas.microsoft.com/office/drawing/2014/main" val="20006"/>
                    </a:ext>
                  </a:extLst>
                </a:gridCol>
                <a:gridCol w="533400">
                  <a:extLst>
                    <a:ext uri="{9D8B030D-6E8A-4147-A177-3AD203B41FA5}">
                      <a16:colId xmlns:a16="http://schemas.microsoft.com/office/drawing/2014/main" val="20007"/>
                    </a:ext>
                  </a:extLst>
                </a:gridCol>
              </a:tblGrid>
              <a:tr h="533400">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385087" name="Group 63">
            <a:extLst>
              <a:ext uri="{FF2B5EF4-FFF2-40B4-BE49-F238E27FC236}">
                <a16:creationId xmlns:a16="http://schemas.microsoft.com/office/drawing/2014/main" id="{2B37C45C-2730-4B13-830E-CFC022EBE0AE}"/>
              </a:ext>
            </a:extLst>
          </p:cNvPr>
          <p:cNvGraphicFramePr>
            <a:graphicFrameLocks noGrp="1"/>
          </p:cNvGraphicFramePr>
          <p:nvPr/>
        </p:nvGraphicFramePr>
        <p:xfrm>
          <a:off x="1884363" y="4846638"/>
          <a:ext cx="4267200" cy="533400"/>
        </p:xfrm>
        <a:graphic>
          <a:graphicData uri="http://schemas.openxmlformats.org/drawingml/2006/table">
            <a:tbl>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gridCol w="533400">
                  <a:extLst>
                    <a:ext uri="{9D8B030D-6E8A-4147-A177-3AD203B41FA5}">
                      <a16:colId xmlns:a16="http://schemas.microsoft.com/office/drawing/2014/main" val="20003"/>
                    </a:ext>
                  </a:extLst>
                </a:gridCol>
                <a:gridCol w="533400">
                  <a:extLst>
                    <a:ext uri="{9D8B030D-6E8A-4147-A177-3AD203B41FA5}">
                      <a16:colId xmlns:a16="http://schemas.microsoft.com/office/drawing/2014/main" val="20004"/>
                    </a:ext>
                  </a:extLst>
                </a:gridCol>
                <a:gridCol w="533400">
                  <a:extLst>
                    <a:ext uri="{9D8B030D-6E8A-4147-A177-3AD203B41FA5}">
                      <a16:colId xmlns:a16="http://schemas.microsoft.com/office/drawing/2014/main" val="20005"/>
                    </a:ext>
                  </a:extLst>
                </a:gridCol>
                <a:gridCol w="533400">
                  <a:extLst>
                    <a:ext uri="{9D8B030D-6E8A-4147-A177-3AD203B41FA5}">
                      <a16:colId xmlns:a16="http://schemas.microsoft.com/office/drawing/2014/main" val="20006"/>
                    </a:ext>
                  </a:extLst>
                </a:gridCol>
                <a:gridCol w="533400">
                  <a:extLst>
                    <a:ext uri="{9D8B030D-6E8A-4147-A177-3AD203B41FA5}">
                      <a16:colId xmlns:a16="http://schemas.microsoft.com/office/drawing/2014/main" val="20007"/>
                    </a:ext>
                  </a:extLst>
                </a:gridCol>
              </a:tblGrid>
              <a:tr h="533400">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385107" name="Group 83">
            <a:extLst>
              <a:ext uri="{FF2B5EF4-FFF2-40B4-BE49-F238E27FC236}">
                <a16:creationId xmlns:a16="http://schemas.microsoft.com/office/drawing/2014/main" id="{C090752F-6E85-44E1-A563-40E0574A71BC}"/>
              </a:ext>
            </a:extLst>
          </p:cNvPr>
          <p:cNvGraphicFramePr>
            <a:graphicFrameLocks noGrp="1"/>
          </p:cNvGraphicFramePr>
          <p:nvPr/>
        </p:nvGraphicFramePr>
        <p:xfrm>
          <a:off x="1884363" y="5684838"/>
          <a:ext cx="4267200" cy="533400"/>
        </p:xfrm>
        <a:graphic>
          <a:graphicData uri="http://schemas.openxmlformats.org/drawingml/2006/table">
            <a:tbl>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gridCol w="533400">
                  <a:extLst>
                    <a:ext uri="{9D8B030D-6E8A-4147-A177-3AD203B41FA5}">
                      <a16:colId xmlns:a16="http://schemas.microsoft.com/office/drawing/2014/main" val="20003"/>
                    </a:ext>
                  </a:extLst>
                </a:gridCol>
                <a:gridCol w="533400">
                  <a:extLst>
                    <a:ext uri="{9D8B030D-6E8A-4147-A177-3AD203B41FA5}">
                      <a16:colId xmlns:a16="http://schemas.microsoft.com/office/drawing/2014/main" val="20004"/>
                    </a:ext>
                  </a:extLst>
                </a:gridCol>
                <a:gridCol w="533400">
                  <a:extLst>
                    <a:ext uri="{9D8B030D-6E8A-4147-A177-3AD203B41FA5}">
                      <a16:colId xmlns:a16="http://schemas.microsoft.com/office/drawing/2014/main" val="20005"/>
                    </a:ext>
                  </a:extLst>
                </a:gridCol>
                <a:gridCol w="533400">
                  <a:extLst>
                    <a:ext uri="{9D8B030D-6E8A-4147-A177-3AD203B41FA5}">
                      <a16:colId xmlns:a16="http://schemas.microsoft.com/office/drawing/2014/main" val="20006"/>
                    </a:ext>
                  </a:extLst>
                </a:gridCol>
                <a:gridCol w="533400">
                  <a:extLst>
                    <a:ext uri="{9D8B030D-6E8A-4147-A177-3AD203B41FA5}">
                      <a16:colId xmlns:a16="http://schemas.microsoft.com/office/drawing/2014/main" val="20007"/>
                    </a:ext>
                  </a:extLst>
                </a:gridCol>
              </a:tblGrid>
              <a:tr h="533400">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FF33"/>
                    </a:solid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385127" name="Group 103">
            <a:extLst>
              <a:ext uri="{FF2B5EF4-FFF2-40B4-BE49-F238E27FC236}">
                <a16:creationId xmlns:a16="http://schemas.microsoft.com/office/drawing/2014/main" id="{01FF963B-A9DD-4AC1-8639-665B5B15825F}"/>
              </a:ext>
            </a:extLst>
          </p:cNvPr>
          <p:cNvGraphicFramePr>
            <a:graphicFrameLocks noGrp="1"/>
          </p:cNvGraphicFramePr>
          <p:nvPr/>
        </p:nvGraphicFramePr>
        <p:xfrm>
          <a:off x="1884363" y="4008438"/>
          <a:ext cx="4267200" cy="533400"/>
        </p:xfrm>
        <a:graphic>
          <a:graphicData uri="http://schemas.openxmlformats.org/drawingml/2006/table">
            <a:tbl>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gridCol w="533400">
                  <a:extLst>
                    <a:ext uri="{9D8B030D-6E8A-4147-A177-3AD203B41FA5}">
                      <a16:colId xmlns:a16="http://schemas.microsoft.com/office/drawing/2014/main" val="20003"/>
                    </a:ext>
                  </a:extLst>
                </a:gridCol>
                <a:gridCol w="533400">
                  <a:extLst>
                    <a:ext uri="{9D8B030D-6E8A-4147-A177-3AD203B41FA5}">
                      <a16:colId xmlns:a16="http://schemas.microsoft.com/office/drawing/2014/main" val="20004"/>
                    </a:ext>
                  </a:extLst>
                </a:gridCol>
                <a:gridCol w="533400">
                  <a:extLst>
                    <a:ext uri="{9D8B030D-6E8A-4147-A177-3AD203B41FA5}">
                      <a16:colId xmlns:a16="http://schemas.microsoft.com/office/drawing/2014/main" val="20005"/>
                    </a:ext>
                  </a:extLst>
                </a:gridCol>
                <a:gridCol w="533400">
                  <a:extLst>
                    <a:ext uri="{9D8B030D-6E8A-4147-A177-3AD203B41FA5}">
                      <a16:colId xmlns:a16="http://schemas.microsoft.com/office/drawing/2014/main" val="20006"/>
                    </a:ext>
                  </a:extLst>
                </a:gridCol>
                <a:gridCol w="533400">
                  <a:extLst>
                    <a:ext uri="{9D8B030D-6E8A-4147-A177-3AD203B41FA5}">
                      <a16:colId xmlns:a16="http://schemas.microsoft.com/office/drawing/2014/main" val="20007"/>
                    </a:ext>
                  </a:extLst>
                </a:gridCol>
              </a:tblGrid>
              <a:tr h="533400">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385147" name="Rectangle 123">
            <a:extLst>
              <a:ext uri="{FF2B5EF4-FFF2-40B4-BE49-F238E27FC236}">
                <a16:creationId xmlns:a16="http://schemas.microsoft.com/office/drawing/2014/main" id="{1C93F2EB-2EBD-418F-9E9B-17D0F08BA097}"/>
              </a:ext>
            </a:extLst>
          </p:cNvPr>
          <p:cNvSpPr>
            <a:spLocks noChangeArrowheads="1"/>
          </p:cNvSpPr>
          <p:nvPr/>
        </p:nvSpPr>
        <p:spPr bwMode="auto">
          <a:xfrm>
            <a:off x="817563" y="1646238"/>
            <a:ext cx="533400" cy="533400"/>
          </a:xfrm>
          <a:prstGeom prst="rect">
            <a:avLst/>
          </a:prstGeom>
          <a:solidFill>
            <a:srgbClr val="FF0000"/>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800">
                <a:latin typeface="Arial" panose="020B0604020202020204" pitchFamily="34" charset="0"/>
              </a:rPr>
              <a:t>3</a:t>
            </a:r>
          </a:p>
        </p:txBody>
      </p:sp>
      <p:sp>
        <p:nvSpPr>
          <p:cNvPr id="385148" name="Rectangle 124">
            <a:extLst>
              <a:ext uri="{FF2B5EF4-FFF2-40B4-BE49-F238E27FC236}">
                <a16:creationId xmlns:a16="http://schemas.microsoft.com/office/drawing/2014/main" id="{1870A567-F8F8-4A8B-B327-51B5ED15AB6A}"/>
              </a:ext>
            </a:extLst>
          </p:cNvPr>
          <p:cNvSpPr>
            <a:spLocks noChangeArrowheads="1"/>
          </p:cNvSpPr>
          <p:nvPr/>
        </p:nvSpPr>
        <p:spPr bwMode="auto">
          <a:xfrm>
            <a:off x="817563" y="2408238"/>
            <a:ext cx="533400" cy="533400"/>
          </a:xfrm>
          <a:prstGeom prst="rect">
            <a:avLst/>
          </a:prstGeom>
          <a:solidFill>
            <a:srgbClr val="FF0000"/>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800">
                <a:latin typeface="Arial" panose="020B0604020202020204" pitchFamily="34" charset="0"/>
              </a:rPr>
              <a:t>3</a:t>
            </a:r>
          </a:p>
        </p:txBody>
      </p:sp>
      <p:sp>
        <p:nvSpPr>
          <p:cNvPr id="385149" name="Rectangle 125">
            <a:extLst>
              <a:ext uri="{FF2B5EF4-FFF2-40B4-BE49-F238E27FC236}">
                <a16:creationId xmlns:a16="http://schemas.microsoft.com/office/drawing/2014/main" id="{A4FC8911-D0B4-4718-8453-7597D0762051}"/>
              </a:ext>
            </a:extLst>
          </p:cNvPr>
          <p:cNvSpPr>
            <a:spLocks noChangeArrowheads="1"/>
          </p:cNvSpPr>
          <p:nvPr/>
        </p:nvSpPr>
        <p:spPr bwMode="auto">
          <a:xfrm>
            <a:off x="817563" y="3170238"/>
            <a:ext cx="533400" cy="533400"/>
          </a:xfrm>
          <a:prstGeom prst="rect">
            <a:avLst/>
          </a:prstGeom>
          <a:solidFill>
            <a:srgbClr val="FF0000"/>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800">
                <a:latin typeface="Arial" panose="020B0604020202020204" pitchFamily="34" charset="0"/>
              </a:rPr>
              <a:t>3</a:t>
            </a:r>
          </a:p>
        </p:txBody>
      </p:sp>
      <p:sp>
        <p:nvSpPr>
          <p:cNvPr id="385150" name="Rectangle 126">
            <a:extLst>
              <a:ext uri="{FF2B5EF4-FFF2-40B4-BE49-F238E27FC236}">
                <a16:creationId xmlns:a16="http://schemas.microsoft.com/office/drawing/2014/main" id="{83DBFD4B-7127-4BDC-8AEB-7C522BE01A6D}"/>
              </a:ext>
            </a:extLst>
          </p:cNvPr>
          <p:cNvSpPr>
            <a:spLocks noChangeArrowheads="1"/>
          </p:cNvSpPr>
          <p:nvPr/>
        </p:nvSpPr>
        <p:spPr bwMode="auto">
          <a:xfrm>
            <a:off x="817563" y="4008438"/>
            <a:ext cx="533400" cy="533400"/>
          </a:xfrm>
          <a:prstGeom prst="rect">
            <a:avLst/>
          </a:prstGeom>
          <a:solidFill>
            <a:srgbClr val="FF0000"/>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800">
                <a:latin typeface="Arial" panose="020B0604020202020204" pitchFamily="34" charset="0"/>
              </a:rPr>
              <a:t>3</a:t>
            </a:r>
          </a:p>
        </p:txBody>
      </p:sp>
      <p:sp>
        <p:nvSpPr>
          <p:cNvPr id="385151" name="Rectangle 127">
            <a:extLst>
              <a:ext uri="{FF2B5EF4-FFF2-40B4-BE49-F238E27FC236}">
                <a16:creationId xmlns:a16="http://schemas.microsoft.com/office/drawing/2014/main" id="{EBEC7947-58D2-4E6C-8490-C3DCECC9C33C}"/>
              </a:ext>
            </a:extLst>
          </p:cNvPr>
          <p:cNvSpPr>
            <a:spLocks noChangeArrowheads="1"/>
          </p:cNvSpPr>
          <p:nvPr/>
        </p:nvSpPr>
        <p:spPr bwMode="auto">
          <a:xfrm>
            <a:off x="817563" y="4846638"/>
            <a:ext cx="533400" cy="533400"/>
          </a:xfrm>
          <a:prstGeom prst="rect">
            <a:avLst/>
          </a:prstGeom>
          <a:solidFill>
            <a:srgbClr val="FF0000"/>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800">
                <a:latin typeface="Arial" panose="020B0604020202020204" pitchFamily="34" charset="0"/>
              </a:rPr>
              <a:t>3</a:t>
            </a:r>
          </a:p>
        </p:txBody>
      </p:sp>
      <p:sp>
        <p:nvSpPr>
          <p:cNvPr id="385152" name="Rectangle 128">
            <a:extLst>
              <a:ext uri="{FF2B5EF4-FFF2-40B4-BE49-F238E27FC236}">
                <a16:creationId xmlns:a16="http://schemas.microsoft.com/office/drawing/2014/main" id="{1EEFC6C2-0DD6-440E-9809-4E91B19CBE3E}"/>
              </a:ext>
            </a:extLst>
          </p:cNvPr>
          <p:cNvSpPr>
            <a:spLocks noChangeArrowheads="1"/>
          </p:cNvSpPr>
          <p:nvPr/>
        </p:nvSpPr>
        <p:spPr bwMode="auto">
          <a:xfrm>
            <a:off x="817563" y="5684838"/>
            <a:ext cx="533400" cy="533400"/>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800">
                <a:latin typeface="Arial" panose="020B0604020202020204" pitchFamily="34" charset="0"/>
              </a:rPr>
              <a:t>3</a:t>
            </a:r>
          </a:p>
        </p:txBody>
      </p:sp>
      <p:sp>
        <p:nvSpPr>
          <p:cNvPr id="89219" name="Text Box 131">
            <a:extLst>
              <a:ext uri="{FF2B5EF4-FFF2-40B4-BE49-F238E27FC236}">
                <a16:creationId xmlns:a16="http://schemas.microsoft.com/office/drawing/2014/main" id="{17CCA68D-ADF9-4D22-9D57-118E9F6E0ACC}"/>
              </a:ext>
            </a:extLst>
          </p:cNvPr>
          <p:cNvSpPr txBox="1">
            <a:spLocks noChangeArrowheads="1"/>
          </p:cNvSpPr>
          <p:nvPr/>
        </p:nvSpPr>
        <p:spPr bwMode="auto">
          <a:xfrm>
            <a:off x="693738" y="1123950"/>
            <a:ext cx="11144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a:t>Key</a:t>
            </a:r>
          </a:p>
        </p:txBody>
      </p:sp>
      <p:sp>
        <p:nvSpPr>
          <p:cNvPr id="89220" name="Text Box 132">
            <a:extLst>
              <a:ext uri="{FF2B5EF4-FFF2-40B4-BE49-F238E27FC236}">
                <a16:creationId xmlns:a16="http://schemas.microsoft.com/office/drawing/2014/main" id="{3BE128CA-B1B8-46BB-913F-B626C2878E15}"/>
              </a:ext>
            </a:extLst>
          </p:cNvPr>
          <p:cNvSpPr txBox="1">
            <a:spLocks noChangeArrowheads="1"/>
          </p:cNvSpPr>
          <p:nvPr/>
        </p:nvSpPr>
        <p:spPr bwMode="auto">
          <a:xfrm>
            <a:off x="2268538" y="1123950"/>
            <a:ext cx="22272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dirty="0"/>
              <a:t>List</a:t>
            </a:r>
          </a:p>
        </p:txBody>
      </p:sp>
    </p:spTree>
    <p:extLst>
      <p:ext uri="{BB962C8B-B14F-4D97-AF65-F5344CB8AC3E}">
        <p14:creationId xmlns:p14="http://schemas.microsoft.com/office/powerpoint/2010/main" val="7800786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850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85147"/>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38504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8514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8506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85149"/>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38512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85150"/>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38508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85151"/>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0"/>
                                          </p:stCondLst>
                                        </p:cTn>
                                        <p:tgtEl>
                                          <p:spTgt spid="38510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851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5147" grpId="0" animBg="1"/>
      <p:bldP spid="385148" grpId="0" animBg="1"/>
      <p:bldP spid="385149" grpId="0" animBg="1"/>
      <p:bldP spid="385150" grpId="0" animBg="1"/>
      <p:bldP spid="385151" grpId="0" animBg="1"/>
      <p:bldP spid="38515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9" name="Rectangle 2">
            <a:extLst>
              <a:ext uri="{FF2B5EF4-FFF2-40B4-BE49-F238E27FC236}">
                <a16:creationId xmlns:a16="http://schemas.microsoft.com/office/drawing/2014/main" id="{C32935D1-3324-4240-9EF4-E2D67C7801AD}"/>
              </a:ext>
            </a:extLst>
          </p:cNvPr>
          <p:cNvSpPr>
            <a:spLocks noGrp="1" noChangeArrowheads="1"/>
          </p:cNvSpPr>
          <p:nvPr>
            <p:ph type="title"/>
          </p:nvPr>
        </p:nvSpPr>
        <p:spPr>
          <a:xfrm>
            <a:off x="685800" y="304800"/>
            <a:ext cx="7772400" cy="609600"/>
          </a:xfrm>
        </p:spPr>
        <p:txBody>
          <a:bodyPr>
            <a:normAutofit fontScale="90000"/>
          </a:bodyPr>
          <a:lstStyle/>
          <a:p>
            <a:r>
              <a:rPr lang="en-US" altLang="en-US"/>
              <a:t>From Idea to Solution</a:t>
            </a:r>
            <a:endParaRPr lang="en-US" altLang="en-US" u="sng">
              <a:latin typeface="Book Antiqua" panose="02040602050305030304" pitchFamily="18" charset="0"/>
              <a:hlinkClick r:id="rId2" action="ppaction://program"/>
            </a:endParaRPr>
          </a:p>
        </p:txBody>
      </p:sp>
      <p:sp>
        <p:nvSpPr>
          <p:cNvPr id="94212" name="Rectangle 3">
            <a:extLst>
              <a:ext uri="{FF2B5EF4-FFF2-40B4-BE49-F238E27FC236}">
                <a16:creationId xmlns:a16="http://schemas.microsoft.com/office/drawing/2014/main" id="{1BCDF372-A340-47AE-9EF7-822CDBC381DF}"/>
              </a:ext>
            </a:extLst>
          </p:cNvPr>
          <p:cNvSpPr>
            <a:spLocks noGrp="1" noChangeArrowheads="1"/>
          </p:cNvSpPr>
          <p:nvPr>
            <p:ph type="body" idx="1"/>
          </p:nvPr>
        </p:nvSpPr>
        <p:spPr>
          <a:xfrm>
            <a:off x="228600" y="1143000"/>
            <a:ext cx="8534400" cy="2590800"/>
          </a:xfrm>
        </p:spPr>
        <p:txBody>
          <a:bodyPr/>
          <a:lstStyle/>
          <a:p>
            <a:pPr marL="0" indent="0">
              <a:buFont typeface="Monotype Sorts" pitchFamily="2" charset="2"/>
              <a:buNone/>
              <a:defRPr/>
            </a:pPr>
            <a:r>
              <a:rPr lang="en-US" sz="2000" b="1" dirty="0">
                <a:solidFill>
                  <a:schemeClr val="accent4"/>
                </a:solidFill>
                <a:latin typeface="Courier New" pitchFamily="49" charset="0"/>
                <a:cs typeface="Courier New" pitchFamily="49" charset="0"/>
              </a:rPr>
              <a:t>/** The method for finding a key in the list */</a:t>
            </a:r>
            <a:endParaRPr lang="en-US" sz="2000" b="1" dirty="0">
              <a:solidFill>
                <a:schemeClr val="accent4"/>
              </a:solidFill>
              <a:latin typeface="Courier"/>
              <a:cs typeface="Times New Roman" pitchFamily="18" charset="0"/>
            </a:endParaRPr>
          </a:p>
          <a:p>
            <a:pPr marL="0" indent="0">
              <a:buFont typeface="Monotype Sorts" pitchFamily="2" charset="2"/>
              <a:buNone/>
              <a:defRPr/>
            </a:pPr>
            <a:r>
              <a:rPr lang="en-US" sz="2000" b="1" dirty="0">
                <a:solidFill>
                  <a:schemeClr val="accent4"/>
                </a:solidFill>
                <a:latin typeface="Courier New" pitchFamily="49" charset="0"/>
                <a:cs typeface="Courier New" pitchFamily="49" charset="0"/>
              </a:rPr>
              <a:t>public static </a:t>
            </a:r>
            <a:r>
              <a:rPr lang="en-US" sz="2000" b="1" dirty="0" err="1">
                <a:solidFill>
                  <a:schemeClr val="accent4"/>
                </a:solidFill>
                <a:latin typeface="Courier New" pitchFamily="49" charset="0"/>
                <a:cs typeface="Courier New" pitchFamily="49" charset="0"/>
              </a:rPr>
              <a:t>int</a:t>
            </a:r>
            <a:r>
              <a:rPr lang="en-US" sz="2000" b="1" dirty="0">
                <a:solidFill>
                  <a:schemeClr val="accent4"/>
                </a:solidFill>
                <a:latin typeface="Courier New" pitchFamily="49" charset="0"/>
                <a:cs typeface="Courier New" pitchFamily="49" charset="0"/>
              </a:rPr>
              <a:t> </a:t>
            </a:r>
            <a:r>
              <a:rPr lang="en-US" sz="2000" b="1" dirty="0" err="1">
                <a:solidFill>
                  <a:schemeClr val="accent4"/>
                </a:solidFill>
                <a:latin typeface="Courier New" pitchFamily="49" charset="0"/>
                <a:cs typeface="Courier New" pitchFamily="49" charset="0"/>
              </a:rPr>
              <a:t>linearSearch</a:t>
            </a:r>
            <a:r>
              <a:rPr lang="en-US" sz="2000" b="1" dirty="0">
                <a:solidFill>
                  <a:schemeClr val="accent4"/>
                </a:solidFill>
                <a:latin typeface="Courier New" pitchFamily="49" charset="0"/>
                <a:cs typeface="Courier New" pitchFamily="49" charset="0"/>
              </a:rPr>
              <a:t>(</a:t>
            </a:r>
            <a:r>
              <a:rPr lang="en-US" sz="2000" b="1" dirty="0" err="1">
                <a:solidFill>
                  <a:schemeClr val="accent4"/>
                </a:solidFill>
                <a:latin typeface="Courier New" pitchFamily="49" charset="0"/>
                <a:cs typeface="Courier New" pitchFamily="49" charset="0"/>
              </a:rPr>
              <a:t>int</a:t>
            </a:r>
            <a:r>
              <a:rPr lang="en-US" sz="2000" b="1" dirty="0">
                <a:solidFill>
                  <a:schemeClr val="accent4"/>
                </a:solidFill>
                <a:latin typeface="Courier New" pitchFamily="49" charset="0"/>
                <a:cs typeface="Courier New" pitchFamily="49" charset="0"/>
              </a:rPr>
              <a:t>[] list, </a:t>
            </a:r>
            <a:r>
              <a:rPr lang="en-US" sz="2000" b="1" dirty="0" err="1">
                <a:solidFill>
                  <a:schemeClr val="accent4"/>
                </a:solidFill>
                <a:latin typeface="Courier New" pitchFamily="49" charset="0"/>
                <a:cs typeface="Courier New" pitchFamily="49" charset="0"/>
              </a:rPr>
              <a:t>int</a:t>
            </a:r>
            <a:r>
              <a:rPr lang="en-US" sz="2000" b="1" dirty="0">
                <a:solidFill>
                  <a:schemeClr val="accent4"/>
                </a:solidFill>
                <a:latin typeface="Courier New" pitchFamily="49" charset="0"/>
                <a:cs typeface="Courier New" pitchFamily="49" charset="0"/>
              </a:rPr>
              <a:t> key) {</a:t>
            </a:r>
            <a:endParaRPr lang="en-US" sz="2000" b="1" dirty="0">
              <a:solidFill>
                <a:schemeClr val="accent4"/>
              </a:solidFill>
              <a:latin typeface="Courier"/>
              <a:cs typeface="Times New Roman" pitchFamily="18" charset="0"/>
            </a:endParaRPr>
          </a:p>
          <a:p>
            <a:pPr marL="0" indent="0">
              <a:buFont typeface="Monotype Sorts" pitchFamily="2" charset="2"/>
              <a:buNone/>
              <a:defRPr/>
            </a:pPr>
            <a:r>
              <a:rPr lang="en-US" sz="2000" b="1" dirty="0">
                <a:solidFill>
                  <a:schemeClr val="accent4"/>
                </a:solidFill>
                <a:latin typeface="Courier New" pitchFamily="49" charset="0"/>
                <a:cs typeface="Courier New" pitchFamily="49" charset="0"/>
              </a:rPr>
              <a:t>  for (</a:t>
            </a:r>
            <a:r>
              <a:rPr lang="en-US" sz="2000" b="1" dirty="0" err="1">
                <a:solidFill>
                  <a:schemeClr val="accent4"/>
                </a:solidFill>
                <a:latin typeface="Courier New" pitchFamily="49" charset="0"/>
                <a:cs typeface="Courier New" pitchFamily="49" charset="0"/>
              </a:rPr>
              <a:t>int</a:t>
            </a:r>
            <a:r>
              <a:rPr lang="en-US" sz="2000" b="1" dirty="0">
                <a:solidFill>
                  <a:schemeClr val="accent4"/>
                </a:solidFill>
                <a:latin typeface="Courier New" pitchFamily="49" charset="0"/>
                <a:cs typeface="Courier New" pitchFamily="49" charset="0"/>
              </a:rPr>
              <a:t> </a:t>
            </a:r>
            <a:r>
              <a:rPr lang="en-US" sz="2000" b="1" dirty="0" err="1">
                <a:solidFill>
                  <a:schemeClr val="accent4"/>
                </a:solidFill>
                <a:latin typeface="Courier New" pitchFamily="49" charset="0"/>
                <a:cs typeface="Courier New" pitchFamily="49" charset="0"/>
              </a:rPr>
              <a:t>i</a:t>
            </a:r>
            <a:r>
              <a:rPr lang="en-US" sz="2000" b="1" dirty="0">
                <a:solidFill>
                  <a:schemeClr val="accent4"/>
                </a:solidFill>
                <a:latin typeface="Courier New" pitchFamily="49" charset="0"/>
                <a:cs typeface="Courier New" pitchFamily="49" charset="0"/>
              </a:rPr>
              <a:t> = 0; </a:t>
            </a:r>
            <a:r>
              <a:rPr lang="en-US" sz="2000" b="1" dirty="0" err="1">
                <a:solidFill>
                  <a:schemeClr val="accent4"/>
                </a:solidFill>
                <a:latin typeface="Courier New" pitchFamily="49" charset="0"/>
                <a:cs typeface="Courier New" pitchFamily="49" charset="0"/>
              </a:rPr>
              <a:t>i</a:t>
            </a:r>
            <a:r>
              <a:rPr lang="en-US" sz="2000" b="1" dirty="0">
                <a:solidFill>
                  <a:schemeClr val="accent4"/>
                </a:solidFill>
                <a:latin typeface="Courier New" pitchFamily="49" charset="0"/>
                <a:cs typeface="Courier New" pitchFamily="49" charset="0"/>
              </a:rPr>
              <a:t> &lt; </a:t>
            </a:r>
            <a:r>
              <a:rPr lang="en-US" sz="2000" b="1" dirty="0" err="1">
                <a:solidFill>
                  <a:schemeClr val="accent4"/>
                </a:solidFill>
                <a:latin typeface="Courier New" pitchFamily="49" charset="0"/>
                <a:cs typeface="Courier New" pitchFamily="49" charset="0"/>
              </a:rPr>
              <a:t>list.length</a:t>
            </a:r>
            <a:r>
              <a:rPr lang="en-US" sz="2000" b="1" dirty="0">
                <a:solidFill>
                  <a:schemeClr val="accent4"/>
                </a:solidFill>
                <a:latin typeface="Courier New" pitchFamily="49" charset="0"/>
                <a:cs typeface="Courier New" pitchFamily="49" charset="0"/>
              </a:rPr>
              <a:t>; </a:t>
            </a:r>
            <a:r>
              <a:rPr lang="en-US" sz="2000" b="1" dirty="0" err="1">
                <a:solidFill>
                  <a:schemeClr val="accent4"/>
                </a:solidFill>
                <a:latin typeface="Courier New" pitchFamily="49" charset="0"/>
                <a:cs typeface="Courier New" pitchFamily="49" charset="0"/>
              </a:rPr>
              <a:t>i</a:t>
            </a:r>
            <a:r>
              <a:rPr lang="en-US" sz="2000" b="1" dirty="0">
                <a:solidFill>
                  <a:schemeClr val="accent4"/>
                </a:solidFill>
                <a:latin typeface="Courier New" pitchFamily="49" charset="0"/>
                <a:cs typeface="Courier New" pitchFamily="49" charset="0"/>
              </a:rPr>
              <a:t>++)</a:t>
            </a:r>
            <a:endParaRPr lang="en-US" sz="2000" b="1" dirty="0">
              <a:solidFill>
                <a:schemeClr val="accent4"/>
              </a:solidFill>
              <a:latin typeface="Courier"/>
              <a:cs typeface="Times New Roman" pitchFamily="18" charset="0"/>
            </a:endParaRPr>
          </a:p>
          <a:p>
            <a:pPr marL="0" indent="0">
              <a:buFont typeface="Monotype Sorts" pitchFamily="2" charset="2"/>
              <a:buNone/>
              <a:defRPr/>
            </a:pPr>
            <a:r>
              <a:rPr lang="en-US" sz="2000" b="1" dirty="0">
                <a:solidFill>
                  <a:schemeClr val="accent4"/>
                </a:solidFill>
                <a:latin typeface="Courier New" pitchFamily="49" charset="0"/>
                <a:cs typeface="Courier New" pitchFamily="49" charset="0"/>
              </a:rPr>
              <a:t>    if (key == list[</a:t>
            </a:r>
            <a:r>
              <a:rPr lang="en-US" sz="2000" b="1" dirty="0" err="1">
                <a:solidFill>
                  <a:schemeClr val="accent4"/>
                </a:solidFill>
                <a:latin typeface="Courier New" pitchFamily="49" charset="0"/>
                <a:cs typeface="Courier New" pitchFamily="49" charset="0"/>
              </a:rPr>
              <a:t>i</a:t>
            </a:r>
            <a:r>
              <a:rPr lang="en-US" sz="2000" b="1" dirty="0">
                <a:solidFill>
                  <a:schemeClr val="accent4"/>
                </a:solidFill>
                <a:latin typeface="Courier New" pitchFamily="49" charset="0"/>
                <a:cs typeface="Courier New" pitchFamily="49" charset="0"/>
              </a:rPr>
              <a:t>])</a:t>
            </a:r>
            <a:endParaRPr lang="en-US" sz="2000" b="1" dirty="0">
              <a:solidFill>
                <a:schemeClr val="accent4"/>
              </a:solidFill>
              <a:latin typeface="Courier"/>
              <a:cs typeface="Times New Roman" pitchFamily="18" charset="0"/>
            </a:endParaRPr>
          </a:p>
          <a:p>
            <a:pPr marL="0" indent="0">
              <a:buFont typeface="Monotype Sorts" pitchFamily="2" charset="2"/>
              <a:buNone/>
              <a:defRPr/>
            </a:pPr>
            <a:r>
              <a:rPr lang="en-US" sz="2000" b="1" dirty="0">
                <a:solidFill>
                  <a:schemeClr val="accent4"/>
                </a:solidFill>
                <a:latin typeface="Courier New" pitchFamily="49" charset="0"/>
                <a:cs typeface="Courier New" pitchFamily="49" charset="0"/>
              </a:rPr>
              <a:t>      return </a:t>
            </a:r>
            <a:r>
              <a:rPr lang="en-US" sz="2000" b="1" dirty="0" err="1">
                <a:solidFill>
                  <a:schemeClr val="accent4"/>
                </a:solidFill>
                <a:latin typeface="Courier New" pitchFamily="49" charset="0"/>
                <a:cs typeface="Courier New" pitchFamily="49" charset="0"/>
              </a:rPr>
              <a:t>i</a:t>
            </a:r>
            <a:r>
              <a:rPr lang="en-US" sz="2000" b="1" dirty="0">
                <a:solidFill>
                  <a:schemeClr val="accent4"/>
                </a:solidFill>
                <a:latin typeface="Courier New" pitchFamily="49" charset="0"/>
                <a:cs typeface="Courier New" pitchFamily="49" charset="0"/>
              </a:rPr>
              <a:t>;</a:t>
            </a:r>
            <a:endParaRPr lang="en-US" sz="2000" b="1" dirty="0">
              <a:solidFill>
                <a:schemeClr val="accent4"/>
              </a:solidFill>
              <a:latin typeface="Courier"/>
              <a:cs typeface="Times New Roman" pitchFamily="18" charset="0"/>
            </a:endParaRPr>
          </a:p>
          <a:p>
            <a:pPr marL="0" indent="0">
              <a:buFont typeface="Monotype Sorts" pitchFamily="2" charset="2"/>
              <a:buNone/>
              <a:defRPr/>
            </a:pPr>
            <a:r>
              <a:rPr lang="en-US" sz="2000" b="1" dirty="0">
                <a:solidFill>
                  <a:schemeClr val="accent4"/>
                </a:solidFill>
                <a:latin typeface="Courier New" pitchFamily="49" charset="0"/>
                <a:cs typeface="Courier New" pitchFamily="49" charset="0"/>
              </a:rPr>
              <a:t>  return -1;</a:t>
            </a:r>
            <a:endParaRPr lang="en-US" sz="2000" b="1" dirty="0">
              <a:solidFill>
                <a:schemeClr val="accent4"/>
              </a:solidFill>
              <a:latin typeface="Courier"/>
              <a:cs typeface="Times New Roman" pitchFamily="18" charset="0"/>
            </a:endParaRPr>
          </a:p>
          <a:p>
            <a:pPr marL="0" indent="0">
              <a:buFont typeface="Monotype Sorts" pitchFamily="2" charset="2"/>
              <a:buNone/>
              <a:defRPr/>
            </a:pPr>
            <a:r>
              <a:rPr lang="en-US" sz="2000" b="1" dirty="0">
                <a:solidFill>
                  <a:schemeClr val="accent4"/>
                </a:solidFill>
                <a:latin typeface="Courier New" pitchFamily="49" charset="0"/>
                <a:cs typeface="Courier New" pitchFamily="49" charset="0"/>
              </a:rPr>
              <a:t>}</a:t>
            </a:r>
            <a:endParaRPr lang="en-US" sz="2000" b="1" dirty="0">
              <a:solidFill>
                <a:schemeClr val="accent4"/>
              </a:solidFill>
            </a:endParaRPr>
          </a:p>
        </p:txBody>
      </p:sp>
      <p:sp>
        <p:nvSpPr>
          <p:cNvPr id="94213" name="Rectangle 7">
            <a:extLst>
              <a:ext uri="{FF2B5EF4-FFF2-40B4-BE49-F238E27FC236}">
                <a16:creationId xmlns:a16="http://schemas.microsoft.com/office/drawing/2014/main" id="{0777279D-2833-423E-BB2B-18199440D90A}"/>
              </a:ext>
            </a:extLst>
          </p:cNvPr>
          <p:cNvSpPr>
            <a:spLocks noChangeArrowheads="1"/>
          </p:cNvSpPr>
          <p:nvPr/>
        </p:nvSpPr>
        <p:spPr bwMode="auto">
          <a:xfrm>
            <a:off x="228600" y="4876800"/>
            <a:ext cx="85344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a:spcBef>
                <a:spcPct val="20000"/>
              </a:spcBef>
              <a:buClr>
                <a:schemeClr val="tx2"/>
              </a:buClr>
              <a:buSzPct val="75000"/>
              <a:buFont typeface="Monotype Sorts" pitchFamily="2" charset="2"/>
              <a:buNone/>
              <a:defRPr/>
            </a:pPr>
            <a:r>
              <a:rPr lang="en-US" sz="2000" b="1" dirty="0" err="1">
                <a:solidFill>
                  <a:schemeClr val="accent4"/>
                </a:solidFill>
                <a:latin typeface="Courier New" pitchFamily="49" charset="0"/>
                <a:cs typeface="Courier New" pitchFamily="49" charset="0"/>
              </a:rPr>
              <a:t>int</a:t>
            </a:r>
            <a:r>
              <a:rPr lang="en-US" sz="2000" b="1" dirty="0">
                <a:solidFill>
                  <a:schemeClr val="accent4"/>
                </a:solidFill>
                <a:latin typeface="Courier New" pitchFamily="49" charset="0"/>
                <a:cs typeface="Courier New" pitchFamily="49" charset="0"/>
              </a:rPr>
              <a:t>[] list = {1, 4, 4, 2, 5, -3, 6, 2};</a:t>
            </a:r>
            <a:endParaRPr lang="en-US" sz="2000" b="1" dirty="0">
              <a:solidFill>
                <a:schemeClr val="accent4"/>
              </a:solidFill>
              <a:latin typeface="Courier"/>
              <a:cs typeface="Times New Roman" pitchFamily="18" charset="0"/>
            </a:endParaRPr>
          </a:p>
          <a:p>
            <a:pPr>
              <a:spcBef>
                <a:spcPct val="20000"/>
              </a:spcBef>
              <a:buClr>
                <a:schemeClr val="tx2"/>
              </a:buClr>
              <a:buSzPct val="75000"/>
              <a:buFont typeface="Monotype Sorts" pitchFamily="2" charset="2"/>
              <a:buNone/>
              <a:defRPr/>
            </a:pPr>
            <a:r>
              <a:rPr lang="en-US" sz="2000" b="1" dirty="0" err="1">
                <a:solidFill>
                  <a:schemeClr val="accent4"/>
                </a:solidFill>
                <a:latin typeface="Courier New" pitchFamily="49" charset="0"/>
                <a:cs typeface="Courier New" pitchFamily="49" charset="0"/>
              </a:rPr>
              <a:t>int</a:t>
            </a:r>
            <a:r>
              <a:rPr lang="en-US" sz="2000" b="1" dirty="0">
                <a:solidFill>
                  <a:schemeClr val="accent4"/>
                </a:solidFill>
                <a:latin typeface="Courier New" pitchFamily="49" charset="0"/>
                <a:cs typeface="Courier New" pitchFamily="49" charset="0"/>
              </a:rPr>
              <a:t> </a:t>
            </a:r>
            <a:r>
              <a:rPr lang="en-US" sz="2000" b="1" dirty="0" err="1">
                <a:solidFill>
                  <a:schemeClr val="accent4"/>
                </a:solidFill>
                <a:latin typeface="Courier New" pitchFamily="49" charset="0"/>
                <a:cs typeface="Courier New" pitchFamily="49" charset="0"/>
              </a:rPr>
              <a:t>i</a:t>
            </a:r>
            <a:r>
              <a:rPr lang="en-US" sz="2000" b="1" dirty="0">
                <a:solidFill>
                  <a:schemeClr val="accent4"/>
                </a:solidFill>
                <a:latin typeface="Courier New" pitchFamily="49" charset="0"/>
                <a:cs typeface="Courier New" pitchFamily="49" charset="0"/>
              </a:rPr>
              <a:t> = </a:t>
            </a:r>
            <a:r>
              <a:rPr lang="en-US" sz="2000" b="1" dirty="0" err="1">
                <a:solidFill>
                  <a:schemeClr val="accent4"/>
                </a:solidFill>
                <a:latin typeface="Courier New" pitchFamily="49" charset="0"/>
                <a:cs typeface="Courier New" pitchFamily="49" charset="0"/>
              </a:rPr>
              <a:t>linearSearch</a:t>
            </a:r>
            <a:r>
              <a:rPr lang="en-US" sz="2000" b="1" dirty="0">
                <a:solidFill>
                  <a:schemeClr val="accent4"/>
                </a:solidFill>
                <a:latin typeface="Courier New" pitchFamily="49" charset="0"/>
                <a:cs typeface="Courier New" pitchFamily="49" charset="0"/>
              </a:rPr>
              <a:t>(list, 4);  // returns 1</a:t>
            </a:r>
            <a:endParaRPr lang="en-US" sz="2000" b="1" dirty="0">
              <a:solidFill>
                <a:schemeClr val="accent4"/>
              </a:solidFill>
              <a:latin typeface="Courier"/>
              <a:cs typeface="Times New Roman" pitchFamily="18" charset="0"/>
            </a:endParaRPr>
          </a:p>
          <a:p>
            <a:pPr>
              <a:spcBef>
                <a:spcPct val="20000"/>
              </a:spcBef>
              <a:buClr>
                <a:schemeClr val="tx2"/>
              </a:buClr>
              <a:buSzPct val="75000"/>
              <a:buFont typeface="Monotype Sorts" pitchFamily="2" charset="2"/>
              <a:buNone/>
              <a:defRPr/>
            </a:pPr>
            <a:r>
              <a:rPr lang="en-US" sz="2000" b="1" dirty="0" err="1">
                <a:solidFill>
                  <a:schemeClr val="accent4"/>
                </a:solidFill>
                <a:latin typeface="Courier New" pitchFamily="49" charset="0"/>
                <a:cs typeface="Courier New" pitchFamily="49" charset="0"/>
              </a:rPr>
              <a:t>int</a:t>
            </a:r>
            <a:r>
              <a:rPr lang="en-US" sz="2000" b="1" dirty="0">
                <a:solidFill>
                  <a:schemeClr val="accent4"/>
                </a:solidFill>
                <a:latin typeface="Courier New" pitchFamily="49" charset="0"/>
                <a:cs typeface="Courier New" pitchFamily="49" charset="0"/>
              </a:rPr>
              <a:t> j = </a:t>
            </a:r>
            <a:r>
              <a:rPr lang="en-US" sz="2000" b="1" dirty="0" err="1">
                <a:solidFill>
                  <a:schemeClr val="accent4"/>
                </a:solidFill>
                <a:latin typeface="Courier New" pitchFamily="49" charset="0"/>
                <a:cs typeface="Courier New" pitchFamily="49" charset="0"/>
              </a:rPr>
              <a:t>linearSearch</a:t>
            </a:r>
            <a:r>
              <a:rPr lang="en-US" sz="2000" b="1" dirty="0">
                <a:solidFill>
                  <a:schemeClr val="accent4"/>
                </a:solidFill>
                <a:latin typeface="Courier New" pitchFamily="49" charset="0"/>
                <a:cs typeface="Courier New" pitchFamily="49" charset="0"/>
              </a:rPr>
              <a:t>(list, -4); // returns -1</a:t>
            </a:r>
            <a:endParaRPr lang="en-US" sz="2000" b="1" dirty="0">
              <a:solidFill>
                <a:schemeClr val="accent4"/>
              </a:solidFill>
              <a:latin typeface="Courier"/>
              <a:cs typeface="Times New Roman" pitchFamily="18" charset="0"/>
            </a:endParaRPr>
          </a:p>
          <a:p>
            <a:pPr>
              <a:spcBef>
                <a:spcPct val="20000"/>
              </a:spcBef>
              <a:buClr>
                <a:schemeClr val="tx2"/>
              </a:buClr>
              <a:buSzPct val="75000"/>
              <a:buFont typeface="Monotype Sorts" pitchFamily="2" charset="2"/>
              <a:buNone/>
              <a:defRPr/>
            </a:pPr>
            <a:r>
              <a:rPr lang="en-US" sz="2000" b="1" dirty="0" err="1">
                <a:solidFill>
                  <a:schemeClr val="accent4"/>
                </a:solidFill>
                <a:latin typeface="Courier New" pitchFamily="49" charset="0"/>
                <a:cs typeface="Courier New" pitchFamily="49" charset="0"/>
              </a:rPr>
              <a:t>int</a:t>
            </a:r>
            <a:r>
              <a:rPr lang="en-US" sz="2000" b="1" dirty="0">
                <a:solidFill>
                  <a:schemeClr val="accent4"/>
                </a:solidFill>
                <a:latin typeface="Courier New" pitchFamily="49" charset="0"/>
                <a:cs typeface="Courier New" pitchFamily="49" charset="0"/>
              </a:rPr>
              <a:t> k = </a:t>
            </a:r>
            <a:r>
              <a:rPr lang="en-US" sz="2000" b="1" dirty="0" err="1">
                <a:solidFill>
                  <a:schemeClr val="accent4"/>
                </a:solidFill>
                <a:latin typeface="Courier New" pitchFamily="49" charset="0"/>
                <a:cs typeface="Courier New" pitchFamily="49" charset="0"/>
              </a:rPr>
              <a:t>linearSearch</a:t>
            </a:r>
            <a:r>
              <a:rPr lang="en-US" sz="2000" b="1" dirty="0">
                <a:solidFill>
                  <a:schemeClr val="accent4"/>
                </a:solidFill>
                <a:latin typeface="Courier New" pitchFamily="49" charset="0"/>
                <a:cs typeface="Courier New" pitchFamily="49" charset="0"/>
              </a:rPr>
              <a:t>(list, -3); // returns 5</a:t>
            </a:r>
          </a:p>
        </p:txBody>
      </p:sp>
      <p:sp>
        <p:nvSpPr>
          <p:cNvPr id="91142" name="Rectangle 8">
            <a:extLst>
              <a:ext uri="{FF2B5EF4-FFF2-40B4-BE49-F238E27FC236}">
                <a16:creationId xmlns:a16="http://schemas.microsoft.com/office/drawing/2014/main" id="{84E4ED61-D3A9-49FF-B4CB-D97DAF2B16FC}"/>
              </a:ext>
            </a:extLst>
          </p:cNvPr>
          <p:cNvSpPr>
            <a:spLocks noChangeArrowheads="1"/>
          </p:cNvSpPr>
          <p:nvPr/>
        </p:nvSpPr>
        <p:spPr bwMode="auto">
          <a:xfrm>
            <a:off x="304800" y="3962400"/>
            <a:ext cx="83058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20000"/>
              </a:spcBef>
              <a:buClr>
                <a:schemeClr val="tx2"/>
              </a:buClr>
              <a:buSzPct val="75000"/>
              <a:buFont typeface="Monotype Sorts" pitchFamily="2" charset="2"/>
              <a:buNone/>
            </a:pPr>
            <a:r>
              <a:rPr lang="en-US" altLang="en-US" sz="3200">
                <a:cs typeface="Times New Roman" panose="02020603050405020304" pitchFamily="18" charset="0"/>
              </a:rPr>
              <a:t>Trace the method</a:t>
            </a:r>
          </a:p>
        </p:txBody>
      </p:sp>
      <p:sp>
        <p:nvSpPr>
          <p:cNvPr id="91143" name="Rectangle 9">
            <a:extLst>
              <a:ext uri="{FF2B5EF4-FFF2-40B4-BE49-F238E27FC236}">
                <a16:creationId xmlns:a16="http://schemas.microsoft.com/office/drawing/2014/main" id="{E3B1D018-8D5B-41D1-BF5D-E3A9187BC5A4}"/>
              </a:ext>
            </a:extLst>
          </p:cNvPr>
          <p:cNvSpPr>
            <a:spLocks noChangeArrowheads="1"/>
          </p:cNvSpPr>
          <p:nvPr/>
        </p:nvSpPr>
        <p:spPr bwMode="auto">
          <a:xfrm>
            <a:off x="533400" y="1905000"/>
            <a:ext cx="6629400" cy="1447800"/>
          </a:xfrm>
          <a:prstGeom prst="rect">
            <a:avLst/>
          </a:prstGeom>
          <a:noFill/>
          <a:ln w="12700">
            <a:solidFill>
              <a:srgbClr val="FF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Tree>
    <p:extLst>
      <p:ext uri="{BB962C8B-B14F-4D97-AF65-F5344CB8AC3E}">
        <p14:creationId xmlns:p14="http://schemas.microsoft.com/office/powerpoint/2010/main" val="30924913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3" name="Rectangle 2">
            <a:extLst>
              <a:ext uri="{FF2B5EF4-FFF2-40B4-BE49-F238E27FC236}">
                <a16:creationId xmlns:a16="http://schemas.microsoft.com/office/drawing/2014/main" id="{000F92DE-8CD7-442E-AD2C-95ED779E87D5}"/>
              </a:ext>
            </a:extLst>
          </p:cNvPr>
          <p:cNvSpPr>
            <a:spLocks noGrp="1" noChangeArrowheads="1"/>
          </p:cNvSpPr>
          <p:nvPr>
            <p:ph type="title"/>
          </p:nvPr>
        </p:nvSpPr>
        <p:spPr>
          <a:xfrm>
            <a:off x="685800" y="457200"/>
            <a:ext cx="7772400" cy="838200"/>
          </a:xfrm>
        </p:spPr>
        <p:txBody>
          <a:bodyPr/>
          <a:lstStyle/>
          <a:p>
            <a:r>
              <a:rPr lang="en-US" altLang="en-US"/>
              <a:t>Binary Search</a:t>
            </a:r>
            <a:endParaRPr lang="en-US" altLang="en-US" u="sng">
              <a:latin typeface="Book Antiqua" panose="02040602050305030304" pitchFamily="18" charset="0"/>
              <a:hlinkClick r:id="rId2" action="ppaction://program"/>
            </a:endParaRPr>
          </a:p>
        </p:txBody>
      </p:sp>
      <p:sp>
        <p:nvSpPr>
          <p:cNvPr id="92164" name="Rectangle 3">
            <a:extLst>
              <a:ext uri="{FF2B5EF4-FFF2-40B4-BE49-F238E27FC236}">
                <a16:creationId xmlns:a16="http://schemas.microsoft.com/office/drawing/2014/main" id="{C42CC8F3-A834-4BA2-90A3-39052F6A0FCE}"/>
              </a:ext>
            </a:extLst>
          </p:cNvPr>
          <p:cNvSpPr>
            <a:spLocks noGrp="1" noChangeArrowheads="1"/>
          </p:cNvSpPr>
          <p:nvPr>
            <p:ph type="body" idx="1"/>
          </p:nvPr>
        </p:nvSpPr>
        <p:spPr>
          <a:xfrm>
            <a:off x="685800" y="1447800"/>
            <a:ext cx="7924800" cy="4648200"/>
          </a:xfrm>
        </p:spPr>
        <p:txBody>
          <a:bodyPr/>
          <a:lstStyle/>
          <a:p>
            <a:pPr marL="0" indent="0">
              <a:buFont typeface="Monotype Sorts" pitchFamily="2" charset="2"/>
              <a:buNone/>
            </a:pPr>
            <a:r>
              <a:rPr lang="en-US" altLang="en-US">
                <a:cs typeface="Times New Roman" panose="02020603050405020304" pitchFamily="18" charset="0"/>
              </a:rPr>
              <a:t>For binary search to work, the elements in the array must already be ordered. Without loss of generality, assume that the array is in ascending order. </a:t>
            </a:r>
          </a:p>
          <a:p>
            <a:pPr marL="292100" lvl="1" indent="165100">
              <a:buFontTx/>
              <a:buNone/>
            </a:pPr>
            <a:r>
              <a:rPr lang="en-US" altLang="en-US">
                <a:cs typeface="Times New Roman" panose="02020603050405020304" pitchFamily="18" charset="0"/>
              </a:rPr>
              <a:t>e.g., 2 4 7 10 11 45 50 59 60 66 69 70 79</a:t>
            </a:r>
          </a:p>
          <a:p>
            <a:pPr marL="0" indent="0">
              <a:buFont typeface="Monotype Sorts" pitchFamily="2" charset="2"/>
              <a:buNone/>
            </a:pPr>
            <a:r>
              <a:rPr lang="en-US" altLang="en-US">
                <a:cs typeface="Times New Roman" panose="02020603050405020304" pitchFamily="18" charset="0"/>
              </a:rPr>
              <a:t>The binary search first compares the key with the element in the middle of the array. </a:t>
            </a:r>
          </a:p>
        </p:txBody>
      </p:sp>
    </p:spTree>
    <p:extLst>
      <p:ext uri="{BB962C8B-B14F-4D97-AF65-F5344CB8AC3E}">
        <p14:creationId xmlns:p14="http://schemas.microsoft.com/office/powerpoint/2010/main" val="2606657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7" name="Rectangle 2">
            <a:extLst>
              <a:ext uri="{FF2B5EF4-FFF2-40B4-BE49-F238E27FC236}">
                <a16:creationId xmlns:a16="http://schemas.microsoft.com/office/drawing/2014/main" id="{041FCE8E-0787-476F-BF03-AF9010AB97E1}"/>
              </a:ext>
            </a:extLst>
          </p:cNvPr>
          <p:cNvSpPr>
            <a:spLocks noGrp="1" noChangeArrowheads="1"/>
          </p:cNvSpPr>
          <p:nvPr>
            <p:ph type="title"/>
          </p:nvPr>
        </p:nvSpPr>
        <p:spPr>
          <a:xfrm>
            <a:off x="685800" y="457200"/>
            <a:ext cx="7772400" cy="838200"/>
          </a:xfrm>
        </p:spPr>
        <p:txBody>
          <a:bodyPr/>
          <a:lstStyle/>
          <a:p>
            <a:r>
              <a:rPr lang="en-US" altLang="en-US"/>
              <a:t>Binary Search, cont.</a:t>
            </a:r>
            <a:endParaRPr lang="en-US" altLang="en-US" u="sng">
              <a:latin typeface="Book Antiqua" panose="02040602050305030304" pitchFamily="18" charset="0"/>
              <a:hlinkClick r:id="rId2" action="ppaction://program"/>
            </a:endParaRPr>
          </a:p>
        </p:txBody>
      </p:sp>
      <p:sp>
        <p:nvSpPr>
          <p:cNvPr id="93188" name="Rectangle 3">
            <a:extLst>
              <a:ext uri="{FF2B5EF4-FFF2-40B4-BE49-F238E27FC236}">
                <a16:creationId xmlns:a16="http://schemas.microsoft.com/office/drawing/2014/main" id="{7405C984-E57D-473F-94D4-98C2A5548EBC}"/>
              </a:ext>
            </a:extLst>
          </p:cNvPr>
          <p:cNvSpPr>
            <a:spLocks noGrp="1" noChangeArrowheads="1"/>
          </p:cNvSpPr>
          <p:nvPr>
            <p:ph type="body" idx="1"/>
          </p:nvPr>
        </p:nvSpPr>
        <p:spPr>
          <a:xfrm>
            <a:off x="609600" y="2390775"/>
            <a:ext cx="7924800" cy="4011613"/>
          </a:xfrm>
        </p:spPr>
        <p:txBody>
          <a:bodyPr/>
          <a:lstStyle/>
          <a:p>
            <a:pPr marL="512763" indent="-512763">
              <a:lnSpc>
                <a:spcPct val="90000"/>
              </a:lnSpc>
            </a:pPr>
            <a:r>
              <a:rPr lang="en-US" altLang="en-US" dirty="0">
                <a:cs typeface="Times New Roman" panose="02020603050405020304" pitchFamily="18" charset="0"/>
              </a:rPr>
              <a:t>If the key is less than the middle element, you only need to search the key in the first half of the array.</a:t>
            </a:r>
          </a:p>
          <a:p>
            <a:pPr marL="512763" indent="-512763">
              <a:lnSpc>
                <a:spcPct val="90000"/>
              </a:lnSpc>
            </a:pPr>
            <a:r>
              <a:rPr lang="en-US" altLang="en-US" dirty="0">
                <a:cs typeface="Times New Roman" panose="02020603050405020304" pitchFamily="18" charset="0"/>
              </a:rPr>
              <a:t>If the key is equal to the middle element, the search ends with a match.</a:t>
            </a:r>
          </a:p>
          <a:p>
            <a:pPr marL="512763" indent="-512763">
              <a:lnSpc>
                <a:spcPct val="90000"/>
              </a:lnSpc>
            </a:pPr>
            <a:r>
              <a:rPr lang="en-US" altLang="en-US" dirty="0">
                <a:cs typeface="Times New Roman" panose="02020603050405020304" pitchFamily="18" charset="0"/>
              </a:rPr>
              <a:t>If the key is greater than the middle element, you only need to search the key in the second half of the array.</a:t>
            </a:r>
            <a:endParaRPr lang="en-US" altLang="en-US" dirty="0"/>
          </a:p>
        </p:txBody>
      </p:sp>
      <p:sp>
        <p:nvSpPr>
          <p:cNvPr id="93189" name="Rectangle 4">
            <a:extLst>
              <a:ext uri="{FF2B5EF4-FFF2-40B4-BE49-F238E27FC236}">
                <a16:creationId xmlns:a16="http://schemas.microsoft.com/office/drawing/2014/main" id="{3924F02B-9B0C-45B4-AB22-1C4A515DA635}"/>
              </a:ext>
            </a:extLst>
          </p:cNvPr>
          <p:cNvSpPr>
            <a:spLocks noChangeArrowheads="1"/>
          </p:cNvSpPr>
          <p:nvPr/>
        </p:nvSpPr>
        <p:spPr bwMode="auto">
          <a:xfrm>
            <a:off x="693738" y="1662113"/>
            <a:ext cx="7221537" cy="690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512763" indent="-512763">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20000"/>
              </a:spcBef>
              <a:buClr>
                <a:schemeClr val="tx2"/>
              </a:buClr>
              <a:buSzPct val="75000"/>
              <a:buFont typeface="Monotype Sorts" pitchFamily="2" charset="2"/>
              <a:buNone/>
            </a:pPr>
            <a:r>
              <a:rPr lang="en-US" altLang="en-US" sz="3200" dirty="0">
                <a:latin typeface="+mn-lt"/>
                <a:cs typeface="Times New Roman" panose="02020603050405020304" pitchFamily="18" charset="0"/>
              </a:rPr>
              <a:t>Consider the following three cases:</a:t>
            </a:r>
          </a:p>
        </p:txBody>
      </p:sp>
    </p:spTree>
    <p:extLst>
      <p:ext uri="{BB962C8B-B14F-4D97-AF65-F5344CB8AC3E}">
        <p14:creationId xmlns:p14="http://schemas.microsoft.com/office/powerpoint/2010/main" val="31838470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1" name="Rectangle 2">
            <a:extLst>
              <a:ext uri="{FF2B5EF4-FFF2-40B4-BE49-F238E27FC236}">
                <a16:creationId xmlns:a16="http://schemas.microsoft.com/office/drawing/2014/main" id="{088D6A91-03B8-4F39-9D60-AE2864CAA889}"/>
              </a:ext>
            </a:extLst>
          </p:cNvPr>
          <p:cNvSpPr>
            <a:spLocks noGrp="1" noChangeArrowheads="1"/>
          </p:cNvSpPr>
          <p:nvPr>
            <p:ph type="title"/>
          </p:nvPr>
        </p:nvSpPr>
        <p:spPr/>
        <p:txBody>
          <a:bodyPr/>
          <a:lstStyle/>
          <a:p>
            <a:r>
              <a:rPr lang="en-US" altLang="en-US"/>
              <a:t>Binary Search</a:t>
            </a:r>
          </a:p>
        </p:txBody>
      </p:sp>
      <p:graphicFrame>
        <p:nvGraphicFramePr>
          <p:cNvPr id="386051" name="Group 3">
            <a:extLst>
              <a:ext uri="{FF2B5EF4-FFF2-40B4-BE49-F238E27FC236}">
                <a16:creationId xmlns:a16="http://schemas.microsoft.com/office/drawing/2014/main" id="{9B7EFC60-DA9A-4792-BFB6-160FA9C8EC96}"/>
              </a:ext>
            </a:extLst>
          </p:cNvPr>
          <p:cNvGraphicFramePr>
            <a:graphicFrameLocks noGrp="1"/>
          </p:cNvGraphicFramePr>
          <p:nvPr/>
        </p:nvGraphicFramePr>
        <p:xfrm>
          <a:off x="2590800" y="3216275"/>
          <a:ext cx="4267200" cy="517602"/>
        </p:xfrm>
        <a:graphic>
          <a:graphicData uri="http://schemas.openxmlformats.org/drawingml/2006/table">
            <a:tbl>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gridCol w="533400">
                  <a:extLst>
                    <a:ext uri="{9D8B030D-6E8A-4147-A177-3AD203B41FA5}">
                      <a16:colId xmlns:a16="http://schemas.microsoft.com/office/drawing/2014/main" val="20003"/>
                    </a:ext>
                  </a:extLst>
                </a:gridCol>
                <a:gridCol w="533400">
                  <a:extLst>
                    <a:ext uri="{9D8B030D-6E8A-4147-A177-3AD203B41FA5}">
                      <a16:colId xmlns:a16="http://schemas.microsoft.com/office/drawing/2014/main" val="20004"/>
                    </a:ext>
                  </a:extLst>
                </a:gridCol>
                <a:gridCol w="533400">
                  <a:extLst>
                    <a:ext uri="{9D8B030D-6E8A-4147-A177-3AD203B41FA5}">
                      <a16:colId xmlns:a16="http://schemas.microsoft.com/office/drawing/2014/main" val="20005"/>
                    </a:ext>
                  </a:extLst>
                </a:gridCol>
                <a:gridCol w="533400">
                  <a:extLst>
                    <a:ext uri="{9D8B030D-6E8A-4147-A177-3AD203B41FA5}">
                      <a16:colId xmlns:a16="http://schemas.microsoft.com/office/drawing/2014/main" val="20006"/>
                    </a:ext>
                  </a:extLst>
                </a:gridCol>
                <a:gridCol w="533400">
                  <a:extLst>
                    <a:ext uri="{9D8B030D-6E8A-4147-A177-3AD203B41FA5}">
                      <a16:colId xmlns:a16="http://schemas.microsoft.com/office/drawing/2014/main" val="20007"/>
                    </a:ext>
                  </a:extLst>
                </a:gridCol>
              </a:tblGrid>
              <a:tr h="517525">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1</a:t>
                      </a:r>
                    </a:p>
                  </a:txBody>
                  <a:tcPr marT="45441" marB="4544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0000">
                        <a:alpha val="50000"/>
                      </a:srgbClr>
                    </a:solid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2</a:t>
                      </a:r>
                    </a:p>
                  </a:txBody>
                  <a:tcPr marT="45441" marB="454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3</a:t>
                      </a:r>
                    </a:p>
                  </a:txBody>
                  <a:tcPr marT="45441" marB="454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4</a:t>
                      </a:r>
                    </a:p>
                  </a:txBody>
                  <a:tcPr marT="45441" marB="454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6</a:t>
                      </a:r>
                    </a:p>
                  </a:txBody>
                  <a:tcPr marT="45441" marB="454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7</a:t>
                      </a:r>
                    </a:p>
                  </a:txBody>
                  <a:tcPr marT="45441" marB="454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8</a:t>
                      </a:r>
                    </a:p>
                  </a:txBody>
                  <a:tcPr marT="45441" marB="454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9</a:t>
                      </a:r>
                    </a:p>
                  </a:txBody>
                  <a:tcPr marT="45441" marB="4544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0000">
                        <a:alpha val="50000"/>
                      </a:srgbClr>
                    </a:solidFill>
                  </a:tcPr>
                </a:tc>
                <a:extLst>
                  <a:ext uri="{0D108BD9-81ED-4DB2-BD59-A6C34878D82A}">
                    <a16:rowId xmlns:a16="http://schemas.microsoft.com/office/drawing/2014/main" val="10000"/>
                  </a:ext>
                </a:extLst>
              </a:tr>
            </a:tbl>
          </a:graphicData>
        </a:graphic>
      </p:graphicFrame>
      <p:graphicFrame>
        <p:nvGraphicFramePr>
          <p:cNvPr id="386071" name="Group 23">
            <a:extLst>
              <a:ext uri="{FF2B5EF4-FFF2-40B4-BE49-F238E27FC236}">
                <a16:creationId xmlns:a16="http://schemas.microsoft.com/office/drawing/2014/main" id="{3729AF0B-5CBF-40DA-A5ED-94C503C90E40}"/>
              </a:ext>
            </a:extLst>
          </p:cNvPr>
          <p:cNvGraphicFramePr>
            <a:graphicFrameLocks noGrp="1"/>
          </p:cNvGraphicFramePr>
          <p:nvPr/>
        </p:nvGraphicFramePr>
        <p:xfrm>
          <a:off x="2590800" y="3962400"/>
          <a:ext cx="4267200" cy="533400"/>
        </p:xfrm>
        <a:graphic>
          <a:graphicData uri="http://schemas.openxmlformats.org/drawingml/2006/table">
            <a:tbl>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gridCol w="533400">
                  <a:extLst>
                    <a:ext uri="{9D8B030D-6E8A-4147-A177-3AD203B41FA5}">
                      <a16:colId xmlns:a16="http://schemas.microsoft.com/office/drawing/2014/main" val="20003"/>
                    </a:ext>
                  </a:extLst>
                </a:gridCol>
                <a:gridCol w="533400">
                  <a:extLst>
                    <a:ext uri="{9D8B030D-6E8A-4147-A177-3AD203B41FA5}">
                      <a16:colId xmlns:a16="http://schemas.microsoft.com/office/drawing/2014/main" val="20004"/>
                    </a:ext>
                  </a:extLst>
                </a:gridCol>
                <a:gridCol w="533400">
                  <a:extLst>
                    <a:ext uri="{9D8B030D-6E8A-4147-A177-3AD203B41FA5}">
                      <a16:colId xmlns:a16="http://schemas.microsoft.com/office/drawing/2014/main" val="20005"/>
                    </a:ext>
                  </a:extLst>
                </a:gridCol>
                <a:gridCol w="533400">
                  <a:extLst>
                    <a:ext uri="{9D8B030D-6E8A-4147-A177-3AD203B41FA5}">
                      <a16:colId xmlns:a16="http://schemas.microsoft.com/office/drawing/2014/main" val="20006"/>
                    </a:ext>
                  </a:extLst>
                </a:gridCol>
                <a:gridCol w="533400">
                  <a:extLst>
                    <a:ext uri="{9D8B030D-6E8A-4147-A177-3AD203B41FA5}">
                      <a16:colId xmlns:a16="http://schemas.microsoft.com/office/drawing/2014/main" val="20007"/>
                    </a:ext>
                  </a:extLst>
                </a:gridCol>
              </a:tblGrid>
              <a:tr h="533400">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0000">
                        <a:alpha val="50000"/>
                      </a:srgbClr>
                    </a:solid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9</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0000">
                        <a:alpha val="50000"/>
                      </a:srgbClr>
                    </a:solidFill>
                  </a:tcPr>
                </a:tc>
                <a:extLst>
                  <a:ext uri="{0D108BD9-81ED-4DB2-BD59-A6C34878D82A}">
                    <a16:rowId xmlns:a16="http://schemas.microsoft.com/office/drawing/2014/main" val="10000"/>
                  </a:ext>
                </a:extLst>
              </a:tr>
            </a:tbl>
          </a:graphicData>
        </a:graphic>
      </p:graphicFrame>
      <p:graphicFrame>
        <p:nvGraphicFramePr>
          <p:cNvPr id="386091" name="Group 43">
            <a:extLst>
              <a:ext uri="{FF2B5EF4-FFF2-40B4-BE49-F238E27FC236}">
                <a16:creationId xmlns:a16="http://schemas.microsoft.com/office/drawing/2014/main" id="{E1712E1B-6EEE-4DD5-BA76-C8922E82D66D}"/>
              </a:ext>
            </a:extLst>
          </p:cNvPr>
          <p:cNvGraphicFramePr>
            <a:graphicFrameLocks noGrp="1"/>
          </p:cNvGraphicFramePr>
          <p:nvPr/>
        </p:nvGraphicFramePr>
        <p:xfrm>
          <a:off x="2590800" y="4724400"/>
          <a:ext cx="4267200" cy="533400"/>
        </p:xfrm>
        <a:graphic>
          <a:graphicData uri="http://schemas.openxmlformats.org/drawingml/2006/table">
            <a:tbl>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gridCol w="533400">
                  <a:extLst>
                    <a:ext uri="{9D8B030D-6E8A-4147-A177-3AD203B41FA5}">
                      <a16:colId xmlns:a16="http://schemas.microsoft.com/office/drawing/2014/main" val="20003"/>
                    </a:ext>
                  </a:extLst>
                </a:gridCol>
                <a:gridCol w="533400">
                  <a:extLst>
                    <a:ext uri="{9D8B030D-6E8A-4147-A177-3AD203B41FA5}">
                      <a16:colId xmlns:a16="http://schemas.microsoft.com/office/drawing/2014/main" val="20004"/>
                    </a:ext>
                  </a:extLst>
                </a:gridCol>
                <a:gridCol w="533400">
                  <a:extLst>
                    <a:ext uri="{9D8B030D-6E8A-4147-A177-3AD203B41FA5}">
                      <a16:colId xmlns:a16="http://schemas.microsoft.com/office/drawing/2014/main" val="20005"/>
                    </a:ext>
                  </a:extLst>
                </a:gridCol>
                <a:gridCol w="533400">
                  <a:extLst>
                    <a:ext uri="{9D8B030D-6E8A-4147-A177-3AD203B41FA5}">
                      <a16:colId xmlns:a16="http://schemas.microsoft.com/office/drawing/2014/main" val="20006"/>
                    </a:ext>
                  </a:extLst>
                </a:gridCol>
                <a:gridCol w="533400">
                  <a:extLst>
                    <a:ext uri="{9D8B030D-6E8A-4147-A177-3AD203B41FA5}">
                      <a16:colId xmlns:a16="http://schemas.microsoft.com/office/drawing/2014/main" val="20007"/>
                    </a:ext>
                  </a:extLst>
                </a:gridCol>
              </a:tblGrid>
              <a:tr h="533400">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FF33"/>
                    </a:solidFill>
                  </a:tcPr>
                </a:tc>
                <a:tc>
                  <a:txBody>
                    <a:bodyPr/>
                    <a:lstStyle>
                      <a:lvl1pPr>
                        <a:spcBef>
                          <a:spcPct val="20000"/>
                        </a:spcBef>
                        <a:buClr>
                          <a:schemeClr val="tx2"/>
                        </a:buClr>
                        <a:buSzPct val="75000"/>
                        <a:buFont typeface="Monotype Sorts" pitchFamily="2" charset="2"/>
                        <a:defRPr sz="2800">
                          <a:solidFill>
                            <a:schemeClr val="tx1"/>
                          </a:solidFill>
                          <a:latin typeface="Times New Roman" panose="02020603050405020304" pitchFamily="18" charset="0"/>
                        </a:defRPr>
                      </a:lvl1pPr>
                      <a:lvl2pPr>
                        <a:spcBef>
                          <a:spcPct val="20000"/>
                        </a:spcBef>
                        <a:buClr>
                          <a:schemeClr val="tx1"/>
                        </a:buClr>
                        <a:defRPr sz="2400">
                          <a:solidFill>
                            <a:schemeClr val="tx1"/>
                          </a:solidFill>
                          <a:latin typeface="Times New Roman" panose="02020603050405020304" pitchFamily="18" charset="0"/>
                        </a:defRPr>
                      </a:lvl2pPr>
                      <a:lvl3pPr>
                        <a:spcBef>
                          <a:spcPct val="20000"/>
                        </a:spcBef>
                        <a:buClr>
                          <a:schemeClr val="accent2"/>
                        </a:buClr>
                        <a:buSzPct val="65000"/>
                        <a:buFont typeface="Monotype Sorts" pitchFamily="2" charset="2"/>
                        <a:defRPr sz="2000">
                          <a:solidFill>
                            <a:schemeClr val="tx1"/>
                          </a:solidFill>
                          <a:latin typeface="Times New Roman" panose="02020603050405020304" pitchFamily="18" charset="0"/>
                        </a:defRPr>
                      </a:lvl3pPr>
                      <a:lvl4pPr>
                        <a:spcBef>
                          <a:spcPct val="20000"/>
                        </a:spcBef>
                        <a:buClr>
                          <a:schemeClr val="tx1"/>
                        </a:buClr>
                        <a:defRPr>
                          <a:solidFill>
                            <a:schemeClr val="tx1"/>
                          </a:solidFill>
                          <a:latin typeface="Times New Roman" panose="02020603050405020304" pitchFamily="18" charset="0"/>
                        </a:defRPr>
                      </a:lvl4pPr>
                      <a:lvl5pPr>
                        <a:spcBef>
                          <a:spcPct val="20000"/>
                        </a:spcBef>
                        <a:buClr>
                          <a:schemeClr val="tx2"/>
                        </a:buClr>
                        <a:defRPr>
                          <a:solidFill>
                            <a:schemeClr val="tx1"/>
                          </a:solidFill>
                          <a:latin typeface="Times New Roman" panose="02020603050405020304" pitchFamily="18" charset="0"/>
                        </a:defRPr>
                      </a:lvl5pPr>
                      <a:lvl6pPr eaLnBrk="0" fontAlgn="base" hangingPunct="0">
                        <a:spcBef>
                          <a:spcPct val="20000"/>
                        </a:spcBef>
                        <a:spcAft>
                          <a:spcPct val="0"/>
                        </a:spcAft>
                        <a:buClr>
                          <a:schemeClr val="tx2"/>
                        </a:buClr>
                        <a:defRPr>
                          <a:solidFill>
                            <a:schemeClr val="tx1"/>
                          </a:solidFill>
                          <a:latin typeface="Times New Roman" panose="02020603050405020304" pitchFamily="18" charset="0"/>
                        </a:defRPr>
                      </a:lvl6pPr>
                      <a:lvl7pPr eaLnBrk="0" fontAlgn="base" hangingPunct="0">
                        <a:spcBef>
                          <a:spcPct val="20000"/>
                        </a:spcBef>
                        <a:spcAft>
                          <a:spcPct val="0"/>
                        </a:spcAft>
                        <a:buClr>
                          <a:schemeClr val="tx2"/>
                        </a:buClr>
                        <a:defRPr>
                          <a:solidFill>
                            <a:schemeClr val="tx1"/>
                          </a:solidFill>
                          <a:latin typeface="Times New Roman" panose="02020603050405020304" pitchFamily="18" charset="0"/>
                        </a:defRPr>
                      </a:lvl7pPr>
                      <a:lvl8pPr eaLnBrk="0" fontAlgn="base" hangingPunct="0">
                        <a:spcBef>
                          <a:spcPct val="20000"/>
                        </a:spcBef>
                        <a:spcAft>
                          <a:spcPct val="0"/>
                        </a:spcAft>
                        <a:buClr>
                          <a:schemeClr val="tx2"/>
                        </a:buClr>
                        <a:defRPr>
                          <a:solidFill>
                            <a:schemeClr val="tx1"/>
                          </a:solidFill>
                          <a:latin typeface="Times New Roman" panose="02020603050405020304" pitchFamily="18" charset="0"/>
                        </a:defRPr>
                      </a:lvl8pPr>
                      <a:lvl9pPr eaLnBrk="0" fontAlgn="base" hangingPunct="0">
                        <a:spcBef>
                          <a:spcPct val="20000"/>
                        </a:spcBef>
                        <a:spcAft>
                          <a:spcPct val="0"/>
                        </a:spcAft>
                        <a:buClr>
                          <a:schemeClr val="tx2"/>
                        </a:buClr>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r>
                        <a:rPr kumimoji="0" lang="en-US" sz="2800" b="0" i="0" u="none" strike="noStrike" cap="none" normalizeH="0" baseline="0">
                          <a:ln>
                            <a:noFill/>
                          </a:ln>
                          <a:solidFill>
                            <a:schemeClr val="tx1"/>
                          </a:solidFill>
                          <a:effectLst/>
                          <a:latin typeface="Times New Roman" panose="02020603050405020304" pitchFamily="18" charset="0"/>
                        </a:rPr>
                        <a:t>9</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0000">
                        <a:alpha val="50000"/>
                      </a:srgbClr>
                    </a:solidFill>
                  </a:tcPr>
                </a:tc>
                <a:extLst>
                  <a:ext uri="{0D108BD9-81ED-4DB2-BD59-A6C34878D82A}">
                    <a16:rowId xmlns:a16="http://schemas.microsoft.com/office/drawing/2014/main" val="10000"/>
                  </a:ext>
                </a:extLst>
              </a:tr>
            </a:tbl>
          </a:graphicData>
        </a:graphic>
      </p:graphicFrame>
      <p:sp>
        <p:nvSpPr>
          <p:cNvPr id="386111" name="Rectangle 63">
            <a:extLst>
              <a:ext uri="{FF2B5EF4-FFF2-40B4-BE49-F238E27FC236}">
                <a16:creationId xmlns:a16="http://schemas.microsoft.com/office/drawing/2014/main" id="{1725D91B-9489-406A-84C7-220E613B15BA}"/>
              </a:ext>
            </a:extLst>
          </p:cNvPr>
          <p:cNvSpPr>
            <a:spLocks noChangeArrowheads="1"/>
          </p:cNvSpPr>
          <p:nvPr/>
        </p:nvSpPr>
        <p:spPr bwMode="auto">
          <a:xfrm>
            <a:off x="1524000" y="3200400"/>
            <a:ext cx="533400" cy="533400"/>
          </a:xfrm>
          <a:prstGeom prst="rect">
            <a:avLst/>
          </a:prstGeom>
          <a:solidFill>
            <a:srgbClr val="FF0000"/>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800">
                <a:latin typeface="Arial" panose="020B0604020202020204" pitchFamily="34" charset="0"/>
              </a:rPr>
              <a:t>8</a:t>
            </a:r>
          </a:p>
        </p:txBody>
      </p:sp>
      <p:sp>
        <p:nvSpPr>
          <p:cNvPr id="386112" name="Rectangle 64">
            <a:extLst>
              <a:ext uri="{FF2B5EF4-FFF2-40B4-BE49-F238E27FC236}">
                <a16:creationId xmlns:a16="http://schemas.microsoft.com/office/drawing/2014/main" id="{D370B64F-F35D-4DAE-9F22-396EFB184BFB}"/>
              </a:ext>
            </a:extLst>
          </p:cNvPr>
          <p:cNvSpPr>
            <a:spLocks noChangeArrowheads="1"/>
          </p:cNvSpPr>
          <p:nvPr/>
        </p:nvSpPr>
        <p:spPr bwMode="auto">
          <a:xfrm>
            <a:off x="1524000" y="3962400"/>
            <a:ext cx="533400" cy="533400"/>
          </a:xfrm>
          <a:prstGeom prst="rect">
            <a:avLst/>
          </a:prstGeom>
          <a:solidFill>
            <a:srgbClr val="FF0000"/>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800">
                <a:latin typeface="Arial" panose="020B0604020202020204" pitchFamily="34" charset="0"/>
              </a:rPr>
              <a:t>8</a:t>
            </a:r>
          </a:p>
        </p:txBody>
      </p:sp>
      <p:sp>
        <p:nvSpPr>
          <p:cNvPr id="386113" name="Rectangle 65">
            <a:extLst>
              <a:ext uri="{FF2B5EF4-FFF2-40B4-BE49-F238E27FC236}">
                <a16:creationId xmlns:a16="http://schemas.microsoft.com/office/drawing/2014/main" id="{7AA99E7F-FF58-4B68-8B00-620C343D59BD}"/>
              </a:ext>
            </a:extLst>
          </p:cNvPr>
          <p:cNvSpPr>
            <a:spLocks noChangeArrowheads="1"/>
          </p:cNvSpPr>
          <p:nvPr/>
        </p:nvSpPr>
        <p:spPr bwMode="auto">
          <a:xfrm>
            <a:off x="1524000" y="4724400"/>
            <a:ext cx="533400" cy="533400"/>
          </a:xfrm>
          <a:prstGeom prst="rect">
            <a:avLst/>
          </a:prstGeom>
          <a:solidFill>
            <a:srgbClr val="66FF33"/>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800">
                <a:latin typeface="Arial" panose="020B0604020202020204" pitchFamily="34" charset="0"/>
              </a:rPr>
              <a:t>8</a:t>
            </a:r>
          </a:p>
        </p:txBody>
      </p:sp>
      <p:sp>
        <p:nvSpPr>
          <p:cNvPr id="94275" name="Text Box 68">
            <a:extLst>
              <a:ext uri="{FF2B5EF4-FFF2-40B4-BE49-F238E27FC236}">
                <a16:creationId xmlns:a16="http://schemas.microsoft.com/office/drawing/2014/main" id="{087870E4-1476-4A30-85D6-DCBF4CBF253E}"/>
              </a:ext>
            </a:extLst>
          </p:cNvPr>
          <p:cNvSpPr txBox="1">
            <a:spLocks noChangeArrowheads="1"/>
          </p:cNvSpPr>
          <p:nvPr/>
        </p:nvSpPr>
        <p:spPr bwMode="auto">
          <a:xfrm>
            <a:off x="1422400" y="2354263"/>
            <a:ext cx="11144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a:t>Key</a:t>
            </a:r>
          </a:p>
        </p:txBody>
      </p:sp>
      <p:sp>
        <p:nvSpPr>
          <p:cNvPr id="94276" name="Text Box 69">
            <a:extLst>
              <a:ext uri="{FF2B5EF4-FFF2-40B4-BE49-F238E27FC236}">
                <a16:creationId xmlns:a16="http://schemas.microsoft.com/office/drawing/2014/main" id="{10D12800-D00F-43CD-920B-FC54CB1AD321}"/>
              </a:ext>
            </a:extLst>
          </p:cNvPr>
          <p:cNvSpPr txBox="1">
            <a:spLocks noChangeArrowheads="1"/>
          </p:cNvSpPr>
          <p:nvPr/>
        </p:nvSpPr>
        <p:spPr bwMode="auto">
          <a:xfrm>
            <a:off x="2997200" y="2354263"/>
            <a:ext cx="22272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a:t>List</a:t>
            </a:r>
          </a:p>
        </p:txBody>
      </p:sp>
    </p:spTree>
    <p:extLst>
      <p:ext uri="{BB962C8B-B14F-4D97-AF65-F5344CB8AC3E}">
        <p14:creationId xmlns:p14="http://schemas.microsoft.com/office/powerpoint/2010/main" val="34759885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860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86111"/>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38607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8611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8609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861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6111" grpId="0" animBg="1"/>
      <p:bldP spid="386112" grpId="0" animBg="1"/>
      <p:bldP spid="386113"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9" name="Rectangle 2">
            <a:extLst>
              <a:ext uri="{FF2B5EF4-FFF2-40B4-BE49-F238E27FC236}">
                <a16:creationId xmlns:a16="http://schemas.microsoft.com/office/drawing/2014/main" id="{7D522779-3FD6-46B8-88AE-B60C575289F3}"/>
              </a:ext>
            </a:extLst>
          </p:cNvPr>
          <p:cNvSpPr>
            <a:spLocks noGrp="1" noChangeArrowheads="1"/>
          </p:cNvSpPr>
          <p:nvPr>
            <p:ph type="title"/>
          </p:nvPr>
        </p:nvSpPr>
        <p:spPr>
          <a:xfrm>
            <a:off x="685800" y="304800"/>
            <a:ext cx="7772400" cy="533400"/>
          </a:xfrm>
        </p:spPr>
        <p:txBody>
          <a:bodyPr>
            <a:normAutofit fontScale="90000"/>
          </a:bodyPr>
          <a:lstStyle/>
          <a:p>
            <a:r>
              <a:rPr lang="en-US" altLang="en-US"/>
              <a:t>Binary Search, cont.</a:t>
            </a:r>
            <a:endParaRPr lang="en-US" altLang="en-US" u="sng">
              <a:latin typeface="Book Antiqua" panose="02040602050305030304" pitchFamily="18" charset="0"/>
              <a:hlinkClick r:id="rId2" action="ppaction://program"/>
            </a:endParaRPr>
          </a:p>
        </p:txBody>
      </p:sp>
      <p:sp>
        <p:nvSpPr>
          <p:cNvPr id="96260" name="Rectangle 6">
            <a:extLst>
              <a:ext uri="{FF2B5EF4-FFF2-40B4-BE49-F238E27FC236}">
                <a16:creationId xmlns:a16="http://schemas.microsoft.com/office/drawing/2014/main" id="{244BAE9D-379F-4249-9D28-30A9B40BC4DE}"/>
              </a:ext>
            </a:extLst>
          </p:cNvPr>
          <p:cNvSpPr>
            <a:spLocks noChangeArrowheads="1"/>
          </p:cNvSpPr>
          <p:nvPr/>
        </p:nvSpPr>
        <p:spPr bwMode="auto">
          <a:xfrm>
            <a:off x="2914650"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96261" name="Rectangle 8">
            <a:extLst>
              <a:ext uri="{FF2B5EF4-FFF2-40B4-BE49-F238E27FC236}">
                <a16:creationId xmlns:a16="http://schemas.microsoft.com/office/drawing/2014/main" id="{9B348890-C10E-4165-844D-651306DB2685}"/>
              </a:ext>
            </a:extLst>
          </p:cNvPr>
          <p:cNvSpPr>
            <a:spLocks noChangeArrowheads="1"/>
          </p:cNvSpPr>
          <p:nvPr/>
        </p:nvSpPr>
        <p:spPr bwMode="auto">
          <a:xfrm>
            <a:off x="2433638" y="23907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96262" name="Picture 8">
            <a:extLst>
              <a:ext uri="{FF2B5EF4-FFF2-40B4-BE49-F238E27FC236}">
                <a16:creationId xmlns:a16="http://schemas.microsoft.com/office/drawing/2014/main" id="{D2FE60B5-D86B-4318-8192-45D4AD9CFC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675" y="1201738"/>
            <a:ext cx="8680450" cy="4879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extLst>
      <p:ext uri="{BB962C8B-B14F-4D97-AF65-F5344CB8AC3E}">
        <p14:creationId xmlns:p14="http://schemas.microsoft.com/office/powerpoint/2010/main" val="35484191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3" name="Rectangle 2">
            <a:extLst>
              <a:ext uri="{FF2B5EF4-FFF2-40B4-BE49-F238E27FC236}">
                <a16:creationId xmlns:a16="http://schemas.microsoft.com/office/drawing/2014/main" id="{E1CF7090-D18D-46E8-93DA-D87E41449926}"/>
              </a:ext>
            </a:extLst>
          </p:cNvPr>
          <p:cNvSpPr>
            <a:spLocks noGrp="1" noChangeArrowheads="1"/>
          </p:cNvSpPr>
          <p:nvPr>
            <p:ph type="title"/>
          </p:nvPr>
        </p:nvSpPr>
        <p:spPr>
          <a:xfrm>
            <a:off x="731838" y="87313"/>
            <a:ext cx="7772400" cy="422275"/>
          </a:xfrm>
        </p:spPr>
        <p:txBody>
          <a:bodyPr>
            <a:normAutofit fontScale="90000"/>
          </a:bodyPr>
          <a:lstStyle/>
          <a:p>
            <a:r>
              <a:rPr lang="en-US" altLang="en-US"/>
              <a:t>Binary Search, cont.</a:t>
            </a:r>
            <a:endParaRPr lang="en-US" altLang="en-US" u="sng">
              <a:latin typeface="Book Antiqua" panose="02040602050305030304" pitchFamily="18" charset="0"/>
              <a:hlinkClick r:id="rId2" action="ppaction://program"/>
            </a:endParaRPr>
          </a:p>
        </p:txBody>
      </p:sp>
      <p:sp>
        <p:nvSpPr>
          <p:cNvPr id="97284" name="Rectangle 3">
            <a:extLst>
              <a:ext uri="{FF2B5EF4-FFF2-40B4-BE49-F238E27FC236}">
                <a16:creationId xmlns:a16="http://schemas.microsoft.com/office/drawing/2014/main" id="{5510EFE0-C4B0-4830-8154-1522807CE173}"/>
              </a:ext>
            </a:extLst>
          </p:cNvPr>
          <p:cNvSpPr>
            <a:spLocks noChangeArrowheads="1"/>
          </p:cNvSpPr>
          <p:nvPr/>
        </p:nvSpPr>
        <p:spPr bwMode="auto">
          <a:xfrm>
            <a:off x="2914650"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97285" name="Rectangle 4">
            <a:extLst>
              <a:ext uri="{FF2B5EF4-FFF2-40B4-BE49-F238E27FC236}">
                <a16:creationId xmlns:a16="http://schemas.microsoft.com/office/drawing/2014/main" id="{BAEAC288-41E3-4CB0-BD32-CE3A400AE52F}"/>
              </a:ext>
            </a:extLst>
          </p:cNvPr>
          <p:cNvSpPr>
            <a:spLocks noChangeArrowheads="1"/>
          </p:cNvSpPr>
          <p:nvPr/>
        </p:nvSpPr>
        <p:spPr bwMode="auto">
          <a:xfrm>
            <a:off x="2433638" y="23907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graphicFrame>
        <p:nvGraphicFramePr>
          <p:cNvPr id="97286" name="Object 5">
            <a:extLst>
              <a:ext uri="{FF2B5EF4-FFF2-40B4-BE49-F238E27FC236}">
                <a16:creationId xmlns:a16="http://schemas.microsoft.com/office/drawing/2014/main" id="{38C35CD9-89C8-45BF-9E8C-B69FABE2EEAD}"/>
              </a:ext>
            </a:extLst>
          </p:cNvPr>
          <p:cNvGraphicFramePr>
            <a:graphicFrameLocks noChangeAspect="1"/>
          </p:cNvGraphicFramePr>
          <p:nvPr/>
        </p:nvGraphicFramePr>
        <p:xfrm>
          <a:off x="-382588" y="509588"/>
          <a:ext cx="9380538" cy="6130925"/>
        </p:xfrm>
        <a:graphic>
          <a:graphicData uri="http://schemas.openxmlformats.org/presentationml/2006/ole">
            <mc:AlternateContent xmlns:mc="http://schemas.openxmlformats.org/markup-compatibility/2006">
              <mc:Choice xmlns:v="urn:schemas-microsoft-com:vml" Requires="v">
                <p:oleObj name="Picture" r:id="rId3" imgW="4282440" imgH="2796540" progId="Word.Picture.8">
                  <p:embed/>
                </p:oleObj>
              </mc:Choice>
              <mc:Fallback>
                <p:oleObj name="Picture" r:id="rId3" imgW="4282440" imgH="2796540" progId="Word.Picture.8">
                  <p:embed/>
                  <p:pic>
                    <p:nvPicPr>
                      <p:cNvPr id="97286" name="Object 5">
                        <a:extLst>
                          <a:ext uri="{FF2B5EF4-FFF2-40B4-BE49-F238E27FC236}">
                            <a16:creationId xmlns:a16="http://schemas.microsoft.com/office/drawing/2014/main" id="{38C35CD9-89C8-45BF-9E8C-B69FABE2EEA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2588" y="509588"/>
                        <a:ext cx="9380538" cy="613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9951863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7" name="Rectangle 2">
            <a:extLst>
              <a:ext uri="{FF2B5EF4-FFF2-40B4-BE49-F238E27FC236}">
                <a16:creationId xmlns:a16="http://schemas.microsoft.com/office/drawing/2014/main" id="{85BBF6B8-305D-47DC-AB96-BB6CCCD6B5FA}"/>
              </a:ext>
            </a:extLst>
          </p:cNvPr>
          <p:cNvSpPr>
            <a:spLocks noGrp="1" noChangeArrowheads="1"/>
          </p:cNvSpPr>
          <p:nvPr>
            <p:ph type="title"/>
          </p:nvPr>
        </p:nvSpPr>
        <p:spPr>
          <a:xfrm>
            <a:off x="685800" y="152400"/>
            <a:ext cx="7772400" cy="533400"/>
          </a:xfrm>
        </p:spPr>
        <p:txBody>
          <a:bodyPr>
            <a:normAutofit fontScale="90000"/>
          </a:bodyPr>
          <a:lstStyle/>
          <a:p>
            <a:r>
              <a:rPr lang="en-US" altLang="en-US"/>
              <a:t>Binary Search, cont.</a:t>
            </a:r>
            <a:endParaRPr lang="en-US" altLang="en-US" u="sng">
              <a:latin typeface="Book Antiqua" panose="02040602050305030304" pitchFamily="18" charset="0"/>
              <a:hlinkClick r:id="rId2" action="ppaction://program"/>
            </a:endParaRPr>
          </a:p>
        </p:txBody>
      </p:sp>
      <p:sp>
        <p:nvSpPr>
          <p:cNvPr id="98308" name="Rectangle 3">
            <a:extLst>
              <a:ext uri="{FF2B5EF4-FFF2-40B4-BE49-F238E27FC236}">
                <a16:creationId xmlns:a16="http://schemas.microsoft.com/office/drawing/2014/main" id="{3149E9D3-F329-4277-9BE7-2A77764100CA}"/>
              </a:ext>
            </a:extLst>
          </p:cNvPr>
          <p:cNvSpPr>
            <a:spLocks noGrp="1" noChangeArrowheads="1"/>
          </p:cNvSpPr>
          <p:nvPr>
            <p:ph type="body" idx="1"/>
          </p:nvPr>
        </p:nvSpPr>
        <p:spPr>
          <a:xfrm>
            <a:off x="381000" y="914400"/>
            <a:ext cx="8534400" cy="5334000"/>
          </a:xfrm>
        </p:spPr>
        <p:txBody>
          <a:bodyPr/>
          <a:lstStyle/>
          <a:p>
            <a:pPr marL="0" indent="0">
              <a:buFont typeface="Monotype Sorts" pitchFamily="2" charset="2"/>
              <a:buNone/>
            </a:pPr>
            <a:r>
              <a:rPr lang="en-US" altLang="en-US">
                <a:cs typeface="Times New Roman" panose="02020603050405020304" pitchFamily="18" charset="0"/>
              </a:rPr>
              <a:t>The binarySearch method returns the index of the element in the list that matches the search key if it is contained in the list. Otherwise, it returns </a:t>
            </a:r>
          </a:p>
          <a:p>
            <a:pPr marL="0" indent="0">
              <a:buFont typeface="Monotype Sorts" pitchFamily="2" charset="2"/>
              <a:buNone/>
            </a:pPr>
            <a:endParaRPr lang="en-US" altLang="en-US">
              <a:cs typeface="Times New Roman" panose="02020603050405020304" pitchFamily="18" charset="0"/>
            </a:endParaRPr>
          </a:p>
          <a:p>
            <a:pPr marL="0" indent="0">
              <a:buFont typeface="Monotype Sorts" pitchFamily="2" charset="2"/>
              <a:buNone/>
            </a:pPr>
            <a:r>
              <a:rPr lang="en-US" altLang="en-US">
                <a:cs typeface="Times New Roman" panose="02020603050405020304" pitchFamily="18" charset="0"/>
              </a:rPr>
              <a:t> -insertion point - 1. </a:t>
            </a:r>
          </a:p>
          <a:p>
            <a:pPr marL="0" indent="0">
              <a:buFont typeface="Monotype Sorts" pitchFamily="2" charset="2"/>
              <a:buNone/>
            </a:pPr>
            <a:endParaRPr lang="en-US" altLang="en-US">
              <a:cs typeface="Times New Roman" panose="02020603050405020304" pitchFamily="18" charset="0"/>
            </a:endParaRPr>
          </a:p>
          <a:p>
            <a:pPr marL="0" indent="0">
              <a:buFont typeface="Monotype Sorts" pitchFamily="2" charset="2"/>
              <a:buNone/>
            </a:pPr>
            <a:r>
              <a:rPr lang="en-US" altLang="en-US">
                <a:cs typeface="Times New Roman" panose="02020603050405020304" pitchFamily="18" charset="0"/>
              </a:rPr>
              <a:t>The insertion point is the point at which the key would be inserted into the list.</a:t>
            </a:r>
            <a:r>
              <a:rPr lang="en-US" altLang="en-US" sz="4000">
                <a:cs typeface="Times New Roman" panose="02020603050405020304" pitchFamily="18" charset="0"/>
              </a:rPr>
              <a:t> </a:t>
            </a:r>
          </a:p>
          <a:p>
            <a:pPr marL="0" indent="0">
              <a:buFont typeface="Monotype Sorts" pitchFamily="2" charset="2"/>
              <a:buNone/>
            </a:pPr>
            <a:endParaRPr lang="en-US" altLang="en-US" sz="4000">
              <a:cs typeface="Times New Roman" panose="02020603050405020304" pitchFamily="18" charset="0"/>
            </a:endParaRPr>
          </a:p>
        </p:txBody>
      </p:sp>
    </p:spTree>
    <p:extLst>
      <p:ext uri="{BB962C8B-B14F-4D97-AF65-F5344CB8AC3E}">
        <p14:creationId xmlns:p14="http://schemas.microsoft.com/office/powerpoint/2010/main" val="26995988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1" name="Rectangle 2">
            <a:extLst>
              <a:ext uri="{FF2B5EF4-FFF2-40B4-BE49-F238E27FC236}">
                <a16:creationId xmlns:a16="http://schemas.microsoft.com/office/drawing/2014/main" id="{008A36B0-C465-4958-B144-7B8E29FD44B3}"/>
              </a:ext>
            </a:extLst>
          </p:cNvPr>
          <p:cNvSpPr>
            <a:spLocks noGrp="1" noChangeArrowheads="1"/>
          </p:cNvSpPr>
          <p:nvPr>
            <p:ph type="title"/>
          </p:nvPr>
        </p:nvSpPr>
        <p:spPr>
          <a:xfrm>
            <a:off x="685800" y="152400"/>
            <a:ext cx="7772400" cy="533400"/>
          </a:xfrm>
        </p:spPr>
        <p:txBody>
          <a:bodyPr>
            <a:normAutofit fontScale="90000"/>
          </a:bodyPr>
          <a:lstStyle/>
          <a:p>
            <a:r>
              <a:rPr lang="en-US" altLang="en-US" dirty="0"/>
              <a:t>From Idea to Solution</a:t>
            </a:r>
            <a:endParaRPr lang="en-US" altLang="en-US" u="sng" dirty="0">
              <a:latin typeface="Book Antiqua" panose="02040602050305030304" pitchFamily="18" charset="0"/>
              <a:hlinkClick r:id="rId2" action="ppaction://program"/>
            </a:endParaRPr>
          </a:p>
        </p:txBody>
      </p:sp>
      <p:sp>
        <p:nvSpPr>
          <p:cNvPr id="102404" name="Rectangle 3">
            <a:extLst>
              <a:ext uri="{FF2B5EF4-FFF2-40B4-BE49-F238E27FC236}">
                <a16:creationId xmlns:a16="http://schemas.microsoft.com/office/drawing/2014/main" id="{83053944-94D6-426B-BA41-34E7DD7C6FF4}"/>
              </a:ext>
            </a:extLst>
          </p:cNvPr>
          <p:cNvSpPr>
            <a:spLocks noGrp="1" noChangeArrowheads="1"/>
          </p:cNvSpPr>
          <p:nvPr>
            <p:ph type="body" idx="1"/>
          </p:nvPr>
        </p:nvSpPr>
        <p:spPr>
          <a:xfrm>
            <a:off x="381000" y="914400"/>
            <a:ext cx="8610600" cy="5257800"/>
          </a:xfrm>
        </p:spPr>
        <p:txBody>
          <a:bodyPr/>
          <a:lstStyle/>
          <a:p>
            <a:pPr marL="0" indent="0">
              <a:lnSpc>
                <a:spcPct val="90000"/>
              </a:lnSpc>
              <a:buFont typeface="Monotype Sorts" pitchFamily="2" charset="2"/>
              <a:buNone/>
              <a:defRPr/>
            </a:pPr>
            <a:r>
              <a:rPr lang="en-US" sz="1800" b="1" dirty="0">
                <a:solidFill>
                  <a:schemeClr val="accent4"/>
                </a:solidFill>
                <a:latin typeface="Courier New" pitchFamily="49" charset="0"/>
                <a:cs typeface="Courier New" pitchFamily="49" charset="0"/>
              </a:rPr>
              <a:t>/** Use binary search to find the key in the list */</a:t>
            </a:r>
            <a:endParaRPr lang="en-US" sz="1800" b="1" dirty="0">
              <a:solidFill>
                <a:schemeClr val="accent4"/>
              </a:solidFill>
              <a:latin typeface="Courier"/>
              <a:cs typeface="Times New Roman" pitchFamily="18" charset="0"/>
            </a:endParaRPr>
          </a:p>
          <a:p>
            <a:pPr marL="0" indent="0">
              <a:lnSpc>
                <a:spcPct val="90000"/>
              </a:lnSpc>
              <a:buFont typeface="Monotype Sorts" pitchFamily="2" charset="2"/>
              <a:buNone/>
              <a:defRPr/>
            </a:pPr>
            <a:r>
              <a:rPr lang="en-US" sz="1800" b="1" dirty="0">
                <a:solidFill>
                  <a:schemeClr val="accent4"/>
                </a:solidFill>
                <a:latin typeface="Courier New" pitchFamily="49" charset="0"/>
                <a:cs typeface="Courier New" pitchFamily="49" charset="0"/>
              </a:rPr>
              <a:t>public static </a:t>
            </a:r>
            <a:r>
              <a:rPr lang="en-US" sz="1800" b="1" dirty="0" err="1">
                <a:solidFill>
                  <a:schemeClr val="accent4"/>
                </a:solidFill>
                <a:latin typeface="Courier New" pitchFamily="49" charset="0"/>
                <a:cs typeface="Courier New" pitchFamily="49" charset="0"/>
              </a:rPr>
              <a:t>int</a:t>
            </a:r>
            <a:r>
              <a:rPr lang="en-US" sz="1800" b="1" dirty="0">
                <a:solidFill>
                  <a:schemeClr val="accent4"/>
                </a:solidFill>
                <a:latin typeface="Courier New" pitchFamily="49" charset="0"/>
                <a:cs typeface="Courier New" pitchFamily="49" charset="0"/>
              </a:rPr>
              <a:t> </a:t>
            </a:r>
            <a:r>
              <a:rPr lang="en-US" sz="1800" b="1" dirty="0" err="1">
                <a:solidFill>
                  <a:schemeClr val="accent4"/>
                </a:solidFill>
                <a:latin typeface="Courier New" pitchFamily="49" charset="0"/>
                <a:cs typeface="Courier New" pitchFamily="49" charset="0"/>
              </a:rPr>
              <a:t>binarySearch</a:t>
            </a:r>
            <a:r>
              <a:rPr lang="en-US" sz="1800" b="1" dirty="0">
                <a:solidFill>
                  <a:schemeClr val="accent4"/>
                </a:solidFill>
                <a:latin typeface="Courier New" pitchFamily="49" charset="0"/>
                <a:cs typeface="Courier New" pitchFamily="49" charset="0"/>
              </a:rPr>
              <a:t>(</a:t>
            </a:r>
            <a:r>
              <a:rPr lang="en-US" sz="1800" b="1" dirty="0" err="1">
                <a:solidFill>
                  <a:schemeClr val="accent4"/>
                </a:solidFill>
                <a:latin typeface="Courier New" pitchFamily="49" charset="0"/>
                <a:cs typeface="Courier New" pitchFamily="49" charset="0"/>
              </a:rPr>
              <a:t>int</a:t>
            </a:r>
            <a:r>
              <a:rPr lang="en-US" sz="1800" b="1" dirty="0">
                <a:solidFill>
                  <a:schemeClr val="accent4"/>
                </a:solidFill>
                <a:latin typeface="Courier New" pitchFamily="49" charset="0"/>
                <a:cs typeface="Courier New" pitchFamily="49" charset="0"/>
              </a:rPr>
              <a:t>[] list, </a:t>
            </a:r>
            <a:r>
              <a:rPr lang="en-US" sz="1800" b="1" dirty="0" err="1">
                <a:solidFill>
                  <a:schemeClr val="accent4"/>
                </a:solidFill>
                <a:latin typeface="Courier New" pitchFamily="49" charset="0"/>
                <a:cs typeface="Courier New" pitchFamily="49" charset="0"/>
              </a:rPr>
              <a:t>int</a:t>
            </a:r>
            <a:r>
              <a:rPr lang="en-US" sz="1800" b="1" dirty="0">
                <a:solidFill>
                  <a:schemeClr val="accent4"/>
                </a:solidFill>
                <a:latin typeface="Courier New" pitchFamily="49" charset="0"/>
                <a:cs typeface="Courier New" pitchFamily="49" charset="0"/>
              </a:rPr>
              <a:t> key) {</a:t>
            </a:r>
            <a:endParaRPr lang="en-US" sz="1800" b="1" dirty="0">
              <a:solidFill>
                <a:schemeClr val="accent4"/>
              </a:solidFill>
              <a:latin typeface="Courier"/>
              <a:cs typeface="Times New Roman" pitchFamily="18" charset="0"/>
            </a:endParaRPr>
          </a:p>
          <a:p>
            <a:pPr marL="0" indent="0">
              <a:lnSpc>
                <a:spcPct val="90000"/>
              </a:lnSpc>
              <a:buFont typeface="Monotype Sorts" pitchFamily="2" charset="2"/>
              <a:buNone/>
              <a:defRPr/>
            </a:pPr>
            <a:r>
              <a:rPr lang="en-US" sz="1800" b="1" dirty="0">
                <a:solidFill>
                  <a:schemeClr val="accent4"/>
                </a:solidFill>
                <a:latin typeface="Courier New" pitchFamily="49" charset="0"/>
                <a:cs typeface="Courier New" pitchFamily="49" charset="0"/>
              </a:rPr>
              <a:t>  </a:t>
            </a:r>
            <a:r>
              <a:rPr lang="en-US" sz="1800" b="1" dirty="0" err="1">
                <a:solidFill>
                  <a:schemeClr val="accent4"/>
                </a:solidFill>
                <a:latin typeface="Courier New" pitchFamily="49" charset="0"/>
                <a:cs typeface="Courier New" pitchFamily="49" charset="0"/>
              </a:rPr>
              <a:t>int</a:t>
            </a:r>
            <a:r>
              <a:rPr lang="en-US" sz="1800" b="1" dirty="0">
                <a:solidFill>
                  <a:schemeClr val="accent4"/>
                </a:solidFill>
                <a:latin typeface="Courier New" pitchFamily="49" charset="0"/>
                <a:cs typeface="Courier New" pitchFamily="49" charset="0"/>
              </a:rPr>
              <a:t> low = 0;</a:t>
            </a:r>
            <a:endParaRPr lang="en-US" sz="1800" b="1" dirty="0">
              <a:solidFill>
                <a:schemeClr val="accent4"/>
              </a:solidFill>
              <a:latin typeface="Courier"/>
              <a:cs typeface="Times New Roman" pitchFamily="18" charset="0"/>
            </a:endParaRPr>
          </a:p>
          <a:p>
            <a:pPr marL="0" indent="0">
              <a:lnSpc>
                <a:spcPct val="90000"/>
              </a:lnSpc>
              <a:buFont typeface="Monotype Sorts" pitchFamily="2" charset="2"/>
              <a:buNone/>
              <a:defRPr/>
            </a:pPr>
            <a:r>
              <a:rPr lang="en-US" sz="1800" b="1" dirty="0">
                <a:solidFill>
                  <a:schemeClr val="accent4"/>
                </a:solidFill>
                <a:latin typeface="Courier New" pitchFamily="49" charset="0"/>
                <a:cs typeface="Courier New" pitchFamily="49" charset="0"/>
              </a:rPr>
              <a:t>  </a:t>
            </a:r>
            <a:r>
              <a:rPr lang="en-US" sz="1800" b="1" dirty="0" err="1">
                <a:solidFill>
                  <a:schemeClr val="accent4"/>
                </a:solidFill>
                <a:latin typeface="Courier New" pitchFamily="49" charset="0"/>
                <a:cs typeface="Courier New" pitchFamily="49" charset="0"/>
              </a:rPr>
              <a:t>int</a:t>
            </a:r>
            <a:r>
              <a:rPr lang="en-US" sz="1800" b="1" dirty="0">
                <a:solidFill>
                  <a:schemeClr val="accent4"/>
                </a:solidFill>
                <a:latin typeface="Courier New" pitchFamily="49" charset="0"/>
                <a:cs typeface="Courier New" pitchFamily="49" charset="0"/>
              </a:rPr>
              <a:t> high = </a:t>
            </a:r>
            <a:r>
              <a:rPr lang="en-US" sz="1800" b="1" dirty="0" err="1">
                <a:solidFill>
                  <a:schemeClr val="accent4"/>
                </a:solidFill>
                <a:latin typeface="Courier New" pitchFamily="49" charset="0"/>
                <a:cs typeface="Courier New" pitchFamily="49" charset="0"/>
              </a:rPr>
              <a:t>list.length</a:t>
            </a:r>
            <a:r>
              <a:rPr lang="en-US" sz="1800" b="1" dirty="0">
                <a:solidFill>
                  <a:schemeClr val="accent4"/>
                </a:solidFill>
                <a:latin typeface="Courier New" pitchFamily="49" charset="0"/>
                <a:cs typeface="Courier New" pitchFamily="49" charset="0"/>
              </a:rPr>
              <a:t> - 1;</a:t>
            </a:r>
            <a:endParaRPr lang="en-US" sz="1800" b="1" dirty="0">
              <a:solidFill>
                <a:schemeClr val="accent4"/>
              </a:solidFill>
              <a:latin typeface="Courier"/>
              <a:cs typeface="Times New Roman" pitchFamily="18" charset="0"/>
            </a:endParaRPr>
          </a:p>
          <a:p>
            <a:pPr marL="0" indent="0">
              <a:lnSpc>
                <a:spcPct val="90000"/>
              </a:lnSpc>
              <a:buFont typeface="Monotype Sorts" pitchFamily="2" charset="2"/>
              <a:buNone/>
              <a:defRPr/>
            </a:pPr>
            <a:r>
              <a:rPr lang="en-US" sz="1800" b="1" dirty="0">
                <a:solidFill>
                  <a:schemeClr val="accent4"/>
                </a:solidFill>
                <a:cs typeface="Courier New" pitchFamily="49" charset="0"/>
              </a:rPr>
              <a:t> </a:t>
            </a:r>
            <a:endParaRPr lang="en-US" sz="1800" b="1" dirty="0">
              <a:solidFill>
                <a:schemeClr val="accent4"/>
              </a:solidFill>
              <a:latin typeface="Courier"/>
              <a:cs typeface="Times New Roman" pitchFamily="18" charset="0"/>
            </a:endParaRPr>
          </a:p>
          <a:p>
            <a:pPr marL="0" indent="0">
              <a:lnSpc>
                <a:spcPct val="90000"/>
              </a:lnSpc>
              <a:buFont typeface="Monotype Sorts" pitchFamily="2" charset="2"/>
              <a:buNone/>
              <a:defRPr/>
            </a:pPr>
            <a:r>
              <a:rPr lang="en-US" sz="1800" b="1" dirty="0">
                <a:solidFill>
                  <a:schemeClr val="accent4"/>
                </a:solidFill>
                <a:latin typeface="Courier New" pitchFamily="49" charset="0"/>
                <a:cs typeface="Courier New" pitchFamily="49" charset="0"/>
              </a:rPr>
              <a:t>  while (high &gt;= low) {</a:t>
            </a:r>
            <a:endParaRPr lang="en-US" sz="1800" b="1" dirty="0">
              <a:solidFill>
                <a:schemeClr val="accent4"/>
              </a:solidFill>
              <a:latin typeface="Courier"/>
              <a:cs typeface="Times New Roman" pitchFamily="18" charset="0"/>
            </a:endParaRPr>
          </a:p>
          <a:p>
            <a:pPr marL="0" indent="0">
              <a:lnSpc>
                <a:spcPct val="90000"/>
              </a:lnSpc>
              <a:buFont typeface="Monotype Sorts" pitchFamily="2" charset="2"/>
              <a:buNone/>
              <a:defRPr/>
            </a:pPr>
            <a:r>
              <a:rPr lang="en-US" sz="1800" b="1" dirty="0">
                <a:solidFill>
                  <a:schemeClr val="accent4"/>
                </a:solidFill>
                <a:latin typeface="Courier New" pitchFamily="49" charset="0"/>
                <a:cs typeface="Courier New" pitchFamily="49" charset="0"/>
              </a:rPr>
              <a:t>    </a:t>
            </a:r>
            <a:r>
              <a:rPr lang="en-US" sz="1800" b="1" dirty="0" err="1">
                <a:solidFill>
                  <a:schemeClr val="accent4"/>
                </a:solidFill>
                <a:latin typeface="Courier New" pitchFamily="49" charset="0"/>
                <a:cs typeface="Courier New" pitchFamily="49" charset="0"/>
              </a:rPr>
              <a:t>int</a:t>
            </a:r>
            <a:r>
              <a:rPr lang="en-US" sz="1800" b="1" dirty="0">
                <a:solidFill>
                  <a:schemeClr val="accent4"/>
                </a:solidFill>
                <a:latin typeface="Courier New" pitchFamily="49" charset="0"/>
                <a:cs typeface="Courier New" pitchFamily="49" charset="0"/>
              </a:rPr>
              <a:t> mid = (low + high) / 2;</a:t>
            </a:r>
            <a:endParaRPr lang="en-US" sz="1800" b="1" dirty="0">
              <a:solidFill>
                <a:schemeClr val="accent4"/>
              </a:solidFill>
              <a:latin typeface="Courier"/>
              <a:cs typeface="Times New Roman" pitchFamily="18" charset="0"/>
            </a:endParaRPr>
          </a:p>
          <a:p>
            <a:pPr marL="0" indent="0">
              <a:lnSpc>
                <a:spcPct val="90000"/>
              </a:lnSpc>
              <a:buFont typeface="Monotype Sorts" pitchFamily="2" charset="2"/>
              <a:buNone/>
              <a:defRPr/>
            </a:pPr>
            <a:r>
              <a:rPr lang="en-US" sz="1800" b="1" dirty="0">
                <a:solidFill>
                  <a:schemeClr val="accent4"/>
                </a:solidFill>
                <a:latin typeface="Courier New" pitchFamily="49" charset="0"/>
                <a:cs typeface="Courier New" pitchFamily="49" charset="0"/>
              </a:rPr>
              <a:t>    if (key &lt; list[mid])</a:t>
            </a:r>
            <a:endParaRPr lang="en-US" sz="1800" b="1" dirty="0">
              <a:solidFill>
                <a:schemeClr val="accent4"/>
              </a:solidFill>
              <a:latin typeface="Courier"/>
              <a:cs typeface="Times New Roman" pitchFamily="18" charset="0"/>
            </a:endParaRPr>
          </a:p>
          <a:p>
            <a:pPr marL="0" indent="0">
              <a:lnSpc>
                <a:spcPct val="90000"/>
              </a:lnSpc>
              <a:buFont typeface="Monotype Sorts" pitchFamily="2" charset="2"/>
              <a:buNone/>
              <a:defRPr/>
            </a:pPr>
            <a:r>
              <a:rPr lang="en-US" sz="1800" b="1" dirty="0">
                <a:solidFill>
                  <a:schemeClr val="accent4"/>
                </a:solidFill>
                <a:latin typeface="Courier New" pitchFamily="49" charset="0"/>
                <a:cs typeface="Courier New" pitchFamily="49" charset="0"/>
              </a:rPr>
              <a:t>      high = mid - 1;</a:t>
            </a:r>
            <a:endParaRPr lang="en-US" sz="1800" b="1" dirty="0">
              <a:solidFill>
                <a:schemeClr val="accent4"/>
              </a:solidFill>
              <a:latin typeface="Courier"/>
              <a:cs typeface="Times New Roman" pitchFamily="18" charset="0"/>
            </a:endParaRPr>
          </a:p>
          <a:p>
            <a:pPr marL="0" indent="0">
              <a:lnSpc>
                <a:spcPct val="90000"/>
              </a:lnSpc>
              <a:buFont typeface="Monotype Sorts" pitchFamily="2" charset="2"/>
              <a:buNone/>
              <a:defRPr/>
            </a:pPr>
            <a:r>
              <a:rPr lang="en-US" sz="1800" b="1" dirty="0">
                <a:solidFill>
                  <a:schemeClr val="accent4"/>
                </a:solidFill>
                <a:latin typeface="Courier New" pitchFamily="49" charset="0"/>
                <a:cs typeface="Courier New" pitchFamily="49" charset="0"/>
              </a:rPr>
              <a:t>    else if (key == list[mid])</a:t>
            </a:r>
            <a:endParaRPr lang="en-US" sz="1800" b="1" dirty="0">
              <a:solidFill>
                <a:schemeClr val="accent4"/>
              </a:solidFill>
              <a:latin typeface="Courier"/>
              <a:cs typeface="Times New Roman" pitchFamily="18" charset="0"/>
            </a:endParaRPr>
          </a:p>
          <a:p>
            <a:pPr marL="0" indent="0">
              <a:lnSpc>
                <a:spcPct val="90000"/>
              </a:lnSpc>
              <a:buFont typeface="Monotype Sorts" pitchFamily="2" charset="2"/>
              <a:buNone/>
              <a:defRPr/>
            </a:pPr>
            <a:r>
              <a:rPr lang="en-US" sz="1800" b="1" dirty="0">
                <a:solidFill>
                  <a:schemeClr val="accent4"/>
                </a:solidFill>
                <a:latin typeface="Courier New" pitchFamily="49" charset="0"/>
                <a:cs typeface="Courier New" pitchFamily="49" charset="0"/>
              </a:rPr>
              <a:t>      return mid;</a:t>
            </a:r>
            <a:endParaRPr lang="en-US" sz="1800" b="1" dirty="0">
              <a:solidFill>
                <a:schemeClr val="accent4"/>
              </a:solidFill>
              <a:latin typeface="Courier"/>
              <a:cs typeface="Times New Roman" pitchFamily="18" charset="0"/>
            </a:endParaRPr>
          </a:p>
          <a:p>
            <a:pPr marL="0" indent="0">
              <a:lnSpc>
                <a:spcPct val="90000"/>
              </a:lnSpc>
              <a:buFont typeface="Monotype Sorts" pitchFamily="2" charset="2"/>
              <a:buNone/>
              <a:defRPr/>
            </a:pPr>
            <a:r>
              <a:rPr lang="en-US" sz="1800" b="1" dirty="0">
                <a:solidFill>
                  <a:schemeClr val="accent4"/>
                </a:solidFill>
                <a:latin typeface="Courier New" pitchFamily="49" charset="0"/>
                <a:cs typeface="Courier New" pitchFamily="49" charset="0"/>
              </a:rPr>
              <a:t>    else</a:t>
            </a:r>
            <a:endParaRPr lang="en-US" sz="1800" b="1" dirty="0">
              <a:solidFill>
                <a:schemeClr val="accent4"/>
              </a:solidFill>
              <a:latin typeface="Courier"/>
              <a:cs typeface="Times New Roman" pitchFamily="18" charset="0"/>
            </a:endParaRPr>
          </a:p>
          <a:p>
            <a:pPr marL="0" indent="0">
              <a:lnSpc>
                <a:spcPct val="90000"/>
              </a:lnSpc>
              <a:buFont typeface="Monotype Sorts" pitchFamily="2" charset="2"/>
              <a:buNone/>
              <a:defRPr/>
            </a:pPr>
            <a:r>
              <a:rPr lang="en-US" sz="1800" b="1" dirty="0">
                <a:solidFill>
                  <a:schemeClr val="accent4"/>
                </a:solidFill>
                <a:latin typeface="Courier New" pitchFamily="49" charset="0"/>
                <a:cs typeface="Courier New" pitchFamily="49" charset="0"/>
              </a:rPr>
              <a:t>      low = mid + 1;</a:t>
            </a:r>
            <a:endParaRPr lang="en-US" sz="1800" b="1" dirty="0">
              <a:solidFill>
                <a:schemeClr val="accent4"/>
              </a:solidFill>
              <a:latin typeface="Courier"/>
              <a:cs typeface="Times New Roman" pitchFamily="18" charset="0"/>
            </a:endParaRPr>
          </a:p>
          <a:p>
            <a:pPr marL="0" indent="0">
              <a:lnSpc>
                <a:spcPct val="90000"/>
              </a:lnSpc>
              <a:buFont typeface="Monotype Sorts" pitchFamily="2" charset="2"/>
              <a:buNone/>
              <a:defRPr/>
            </a:pPr>
            <a:r>
              <a:rPr lang="en-US" sz="1800" b="1" dirty="0">
                <a:solidFill>
                  <a:schemeClr val="accent4"/>
                </a:solidFill>
                <a:latin typeface="Courier New" pitchFamily="49" charset="0"/>
                <a:cs typeface="Courier New" pitchFamily="49" charset="0"/>
              </a:rPr>
              <a:t>  }</a:t>
            </a:r>
            <a:endParaRPr lang="en-US" sz="1800" b="1" dirty="0">
              <a:solidFill>
                <a:schemeClr val="accent4"/>
              </a:solidFill>
              <a:latin typeface="Courier"/>
              <a:cs typeface="Times New Roman" pitchFamily="18" charset="0"/>
            </a:endParaRPr>
          </a:p>
          <a:p>
            <a:pPr marL="0" indent="0">
              <a:lnSpc>
                <a:spcPct val="90000"/>
              </a:lnSpc>
              <a:buFont typeface="Monotype Sorts" pitchFamily="2" charset="2"/>
              <a:buNone/>
              <a:defRPr/>
            </a:pPr>
            <a:r>
              <a:rPr lang="en-US" sz="1800" b="1" dirty="0">
                <a:solidFill>
                  <a:schemeClr val="accent4"/>
                </a:solidFill>
                <a:cs typeface="Courier New" pitchFamily="49" charset="0"/>
              </a:rPr>
              <a:t> </a:t>
            </a:r>
            <a:endParaRPr lang="en-US" sz="1800" b="1" dirty="0">
              <a:solidFill>
                <a:schemeClr val="accent4"/>
              </a:solidFill>
              <a:latin typeface="Courier"/>
              <a:cs typeface="Times New Roman" pitchFamily="18" charset="0"/>
            </a:endParaRPr>
          </a:p>
          <a:p>
            <a:pPr marL="0" indent="0">
              <a:lnSpc>
                <a:spcPct val="90000"/>
              </a:lnSpc>
              <a:buFont typeface="Monotype Sorts" pitchFamily="2" charset="2"/>
              <a:buNone/>
              <a:defRPr/>
            </a:pPr>
            <a:r>
              <a:rPr lang="en-US" sz="1800" b="1" dirty="0">
                <a:solidFill>
                  <a:schemeClr val="accent4"/>
                </a:solidFill>
                <a:latin typeface="Courier New" pitchFamily="49" charset="0"/>
                <a:cs typeface="Courier New" pitchFamily="49" charset="0"/>
              </a:rPr>
              <a:t>  return -1 - low;</a:t>
            </a:r>
            <a:endParaRPr lang="en-US" sz="1800" b="1" dirty="0">
              <a:solidFill>
                <a:schemeClr val="accent4"/>
              </a:solidFill>
              <a:latin typeface="Courier"/>
              <a:cs typeface="Times New Roman" pitchFamily="18" charset="0"/>
            </a:endParaRPr>
          </a:p>
          <a:p>
            <a:pPr marL="0" indent="0">
              <a:lnSpc>
                <a:spcPct val="90000"/>
              </a:lnSpc>
              <a:buFont typeface="Monotype Sorts" pitchFamily="2" charset="2"/>
              <a:buNone/>
              <a:defRPr/>
            </a:pPr>
            <a:r>
              <a:rPr lang="en-US" sz="1800" b="1" dirty="0">
                <a:solidFill>
                  <a:schemeClr val="accent4"/>
                </a:solidFill>
                <a:latin typeface="Courier New" pitchFamily="49" charset="0"/>
                <a:cs typeface="Courier New" pitchFamily="49" charset="0"/>
              </a:rPr>
              <a:t>}</a:t>
            </a:r>
          </a:p>
        </p:txBody>
      </p:sp>
    </p:spTree>
    <p:extLst>
      <p:ext uri="{BB962C8B-B14F-4D97-AF65-F5344CB8AC3E}">
        <p14:creationId xmlns:p14="http://schemas.microsoft.com/office/powerpoint/2010/main" val="41645928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5" name="Rectangle 2">
            <a:extLst>
              <a:ext uri="{FF2B5EF4-FFF2-40B4-BE49-F238E27FC236}">
                <a16:creationId xmlns:a16="http://schemas.microsoft.com/office/drawing/2014/main" id="{24A9484C-E4D6-4C9D-9582-70CE575D1ACE}"/>
              </a:ext>
            </a:extLst>
          </p:cNvPr>
          <p:cNvSpPr>
            <a:spLocks noGrp="1" noChangeArrowheads="1"/>
          </p:cNvSpPr>
          <p:nvPr>
            <p:ph type="title"/>
          </p:nvPr>
        </p:nvSpPr>
        <p:spPr>
          <a:xfrm>
            <a:off x="685800" y="304800"/>
            <a:ext cx="7772400" cy="609600"/>
          </a:xfrm>
        </p:spPr>
        <p:txBody>
          <a:bodyPr>
            <a:normAutofit fontScale="90000"/>
          </a:bodyPr>
          <a:lstStyle/>
          <a:p>
            <a:r>
              <a:rPr lang="en-US" altLang="en-US"/>
              <a:t>The Arrays.binarySearch Method</a:t>
            </a:r>
            <a:endParaRPr lang="en-US" altLang="en-US" u="sng">
              <a:latin typeface="Book Antiqua" panose="02040602050305030304" pitchFamily="18" charset="0"/>
              <a:hlinkClick r:id="rId2" action="ppaction://program"/>
            </a:endParaRPr>
          </a:p>
        </p:txBody>
      </p:sp>
      <p:sp>
        <p:nvSpPr>
          <p:cNvPr id="100356" name="Rectangle 3">
            <a:extLst>
              <a:ext uri="{FF2B5EF4-FFF2-40B4-BE49-F238E27FC236}">
                <a16:creationId xmlns:a16="http://schemas.microsoft.com/office/drawing/2014/main" id="{D97BE4A1-AA62-4C2D-98FB-7CCD9D8E88FA}"/>
              </a:ext>
            </a:extLst>
          </p:cNvPr>
          <p:cNvSpPr>
            <a:spLocks noGrp="1" noChangeArrowheads="1"/>
          </p:cNvSpPr>
          <p:nvPr>
            <p:ph type="body" idx="1"/>
          </p:nvPr>
        </p:nvSpPr>
        <p:spPr>
          <a:xfrm>
            <a:off x="381000" y="990600"/>
            <a:ext cx="8534400" cy="5257800"/>
          </a:xfrm>
        </p:spPr>
        <p:txBody>
          <a:bodyPr/>
          <a:lstStyle/>
          <a:p>
            <a:pPr marL="0" indent="0">
              <a:lnSpc>
                <a:spcPct val="90000"/>
              </a:lnSpc>
              <a:buFont typeface="Monotype Sorts" pitchFamily="2" charset="2"/>
              <a:buNone/>
            </a:pPr>
            <a:r>
              <a:rPr lang="en-US" altLang="en-US" sz="2000">
                <a:cs typeface="Courier New" panose="02070309020205020404" pitchFamily="49" charset="0"/>
              </a:rPr>
              <a:t>Since binary search is frequently used in programming, Java provides several overloaded binarySearch methods for searching a key in an array of int, double, char, short, long, and float in the java.util.Arrays class. For example, the following code searches the keys in an array of numbers and an array of characters.</a:t>
            </a:r>
          </a:p>
          <a:p>
            <a:pPr marL="0" indent="0">
              <a:lnSpc>
                <a:spcPct val="90000"/>
              </a:lnSpc>
              <a:buFont typeface="Monotype Sorts" pitchFamily="2" charset="2"/>
              <a:buNone/>
            </a:pPr>
            <a:endParaRPr lang="en-US" altLang="en-US" sz="2000">
              <a:cs typeface="Times New Roman" panose="02020603050405020304" pitchFamily="18" charset="0"/>
            </a:endParaRPr>
          </a:p>
          <a:p>
            <a:pPr lvl="1">
              <a:lnSpc>
                <a:spcPct val="90000"/>
              </a:lnSpc>
              <a:buFontTx/>
              <a:buNone/>
            </a:pPr>
            <a:r>
              <a:rPr lang="en-US" altLang="en-US" sz="1800">
                <a:cs typeface="Courier New" panose="02070309020205020404" pitchFamily="49" charset="0"/>
              </a:rPr>
              <a:t>int[] list = {2, 4, 7, 10, 11, 45, 50, 59, 60, 66, 69, 70, 79};</a:t>
            </a:r>
            <a:endParaRPr lang="en-US" altLang="en-US" sz="1800">
              <a:cs typeface="Times New Roman" panose="02020603050405020304" pitchFamily="18" charset="0"/>
            </a:endParaRPr>
          </a:p>
          <a:p>
            <a:pPr lvl="1">
              <a:lnSpc>
                <a:spcPct val="90000"/>
              </a:lnSpc>
              <a:buFontTx/>
              <a:buNone/>
            </a:pPr>
            <a:r>
              <a:rPr lang="en-US" altLang="en-US" sz="1800">
                <a:cs typeface="Courier New" panose="02070309020205020404" pitchFamily="49" charset="0"/>
              </a:rPr>
              <a:t>System.out.println("Index is " + </a:t>
            </a:r>
            <a:endParaRPr lang="en-US" altLang="en-US" sz="1800">
              <a:cs typeface="Times New Roman" panose="02020603050405020304" pitchFamily="18" charset="0"/>
            </a:endParaRPr>
          </a:p>
          <a:p>
            <a:pPr lvl="1">
              <a:lnSpc>
                <a:spcPct val="90000"/>
              </a:lnSpc>
              <a:buFontTx/>
              <a:buNone/>
            </a:pPr>
            <a:r>
              <a:rPr lang="en-US" altLang="en-US" sz="1800">
                <a:cs typeface="Courier New" panose="02070309020205020404" pitchFamily="49" charset="0"/>
              </a:rPr>
              <a:t>  java.util.Arrays.binarySearch(list, 11));</a:t>
            </a:r>
            <a:endParaRPr lang="en-US" altLang="en-US" sz="1800">
              <a:cs typeface="Times New Roman" panose="02020603050405020304" pitchFamily="18" charset="0"/>
            </a:endParaRPr>
          </a:p>
          <a:p>
            <a:pPr lvl="1">
              <a:lnSpc>
                <a:spcPct val="90000"/>
              </a:lnSpc>
              <a:buFontTx/>
              <a:buNone/>
            </a:pPr>
            <a:r>
              <a:rPr lang="en-US" altLang="en-US" sz="1800">
                <a:cs typeface="Courier New" panose="02070309020205020404" pitchFamily="49" charset="0"/>
              </a:rPr>
              <a:t> </a:t>
            </a:r>
            <a:endParaRPr lang="en-US" altLang="en-US" sz="1800">
              <a:cs typeface="Times New Roman" panose="02020603050405020304" pitchFamily="18" charset="0"/>
            </a:endParaRPr>
          </a:p>
          <a:p>
            <a:pPr lvl="1">
              <a:lnSpc>
                <a:spcPct val="90000"/>
              </a:lnSpc>
              <a:buFontTx/>
              <a:buNone/>
            </a:pPr>
            <a:r>
              <a:rPr lang="en-US" altLang="en-US" sz="1800">
                <a:cs typeface="Courier New" panose="02070309020205020404" pitchFamily="49" charset="0"/>
              </a:rPr>
              <a:t>char[] chars = {'a', 'c', 'g', 'x', 'y', 'z'};</a:t>
            </a:r>
            <a:endParaRPr lang="en-US" altLang="en-US" sz="1800">
              <a:cs typeface="Times New Roman" panose="02020603050405020304" pitchFamily="18" charset="0"/>
            </a:endParaRPr>
          </a:p>
          <a:p>
            <a:pPr lvl="1">
              <a:lnSpc>
                <a:spcPct val="90000"/>
              </a:lnSpc>
              <a:buFontTx/>
              <a:buNone/>
            </a:pPr>
            <a:r>
              <a:rPr lang="en-US" altLang="en-US" sz="1800">
                <a:cs typeface="Courier New" panose="02070309020205020404" pitchFamily="49" charset="0"/>
              </a:rPr>
              <a:t>System.out.println("Index is " + </a:t>
            </a:r>
            <a:endParaRPr lang="en-US" altLang="en-US" sz="1800">
              <a:cs typeface="Times New Roman" panose="02020603050405020304" pitchFamily="18" charset="0"/>
            </a:endParaRPr>
          </a:p>
          <a:p>
            <a:pPr lvl="1">
              <a:lnSpc>
                <a:spcPct val="90000"/>
              </a:lnSpc>
              <a:buFontTx/>
              <a:buNone/>
            </a:pPr>
            <a:r>
              <a:rPr lang="en-US" altLang="en-US" sz="1800">
                <a:cs typeface="Courier New" panose="02070309020205020404" pitchFamily="49" charset="0"/>
              </a:rPr>
              <a:t>  java.util.Arrays.binarySearch(chars, 't'));</a:t>
            </a:r>
            <a:endParaRPr lang="en-US" altLang="en-US" sz="1800">
              <a:cs typeface="Times New Roman" panose="02020603050405020304" pitchFamily="18" charset="0"/>
            </a:endParaRPr>
          </a:p>
          <a:p>
            <a:pPr marL="0" indent="0">
              <a:lnSpc>
                <a:spcPct val="90000"/>
              </a:lnSpc>
              <a:buFont typeface="Monotype Sorts" pitchFamily="2" charset="2"/>
              <a:buNone/>
            </a:pPr>
            <a:r>
              <a:rPr lang="en-US" altLang="en-US" sz="2000">
                <a:cs typeface="Courier New" panose="02070309020205020404" pitchFamily="49" charset="0"/>
              </a:rPr>
              <a:t> </a:t>
            </a:r>
            <a:endParaRPr lang="en-US" altLang="en-US" sz="2000">
              <a:cs typeface="Times New Roman" panose="02020603050405020304" pitchFamily="18" charset="0"/>
            </a:endParaRPr>
          </a:p>
          <a:p>
            <a:pPr marL="0" indent="0">
              <a:lnSpc>
                <a:spcPct val="90000"/>
              </a:lnSpc>
              <a:buFont typeface="Monotype Sorts" pitchFamily="2" charset="2"/>
              <a:buNone/>
            </a:pPr>
            <a:r>
              <a:rPr lang="en-US" altLang="en-US" sz="2000">
                <a:cs typeface="Courier New" panose="02070309020205020404" pitchFamily="49" charset="0"/>
              </a:rPr>
              <a:t>For the binarySearch method to work, the array must be pre-sorted in increasing order. </a:t>
            </a:r>
          </a:p>
        </p:txBody>
      </p:sp>
      <p:sp>
        <p:nvSpPr>
          <p:cNvPr id="100357" name="Line 7">
            <a:extLst>
              <a:ext uri="{FF2B5EF4-FFF2-40B4-BE49-F238E27FC236}">
                <a16:creationId xmlns:a16="http://schemas.microsoft.com/office/drawing/2014/main" id="{B556C730-FBE9-4EC5-8ED3-E0C925368BCD}"/>
              </a:ext>
            </a:extLst>
          </p:cNvPr>
          <p:cNvSpPr>
            <a:spLocks noChangeShapeType="1"/>
          </p:cNvSpPr>
          <p:nvPr/>
        </p:nvSpPr>
        <p:spPr bwMode="auto">
          <a:xfrm flipH="1" flipV="1">
            <a:off x="3124200" y="2971800"/>
            <a:ext cx="1828800" cy="38100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0358" name="Rectangle 8">
            <a:extLst>
              <a:ext uri="{FF2B5EF4-FFF2-40B4-BE49-F238E27FC236}">
                <a16:creationId xmlns:a16="http://schemas.microsoft.com/office/drawing/2014/main" id="{98C305A4-B10F-4440-BE96-B1402C09BFC3}"/>
              </a:ext>
            </a:extLst>
          </p:cNvPr>
          <p:cNvSpPr>
            <a:spLocks noChangeArrowheads="1"/>
          </p:cNvSpPr>
          <p:nvPr/>
        </p:nvSpPr>
        <p:spPr bwMode="auto">
          <a:xfrm>
            <a:off x="5486400" y="3352800"/>
            <a:ext cx="2743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90000"/>
              </a:lnSpc>
              <a:spcBef>
                <a:spcPct val="20000"/>
              </a:spcBef>
              <a:buClr>
                <a:schemeClr val="tx2"/>
              </a:buClr>
              <a:buSzPct val="75000"/>
              <a:buFont typeface="Monotype Sorts" pitchFamily="2" charset="2"/>
              <a:buNone/>
            </a:pPr>
            <a:r>
              <a:rPr lang="en-US" altLang="en-US" sz="2000">
                <a:cs typeface="Courier New" panose="02070309020205020404" pitchFamily="49" charset="0"/>
              </a:rPr>
              <a:t>Return is 4</a:t>
            </a:r>
          </a:p>
        </p:txBody>
      </p:sp>
      <p:sp>
        <p:nvSpPr>
          <p:cNvPr id="100359" name="Rectangle 9">
            <a:extLst>
              <a:ext uri="{FF2B5EF4-FFF2-40B4-BE49-F238E27FC236}">
                <a16:creationId xmlns:a16="http://schemas.microsoft.com/office/drawing/2014/main" id="{92AE5916-BDE2-4424-84A1-D10C7654FBD4}"/>
              </a:ext>
            </a:extLst>
          </p:cNvPr>
          <p:cNvSpPr>
            <a:spLocks noChangeArrowheads="1"/>
          </p:cNvSpPr>
          <p:nvPr/>
        </p:nvSpPr>
        <p:spPr bwMode="auto">
          <a:xfrm>
            <a:off x="5410200" y="4419600"/>
            <a:ext cx="32766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90000"/>
              </a:lnSpc>
              <a:spcBef>
                <a:spcPct val="20000"/>
              </a:spcBef>
              <a:buClr>
                <a:schemeClr val="tx2"/>
              </a:buClr>
              <a:buSzPct val="75000"/>
              <a:buFont typeface="Monotype Sorts" pitchFamily="2" charset="2"/>
              <a:buNone/>
            </a:pPr>
            <a:r>
              <a:rPr lang="en-US" altLang="en-US" sz="2000">
                <a:cs typeface="Courier New" panose="02070309020205020404" pitchFamily="49" charset="0"/>
              </a:rPr>
              <a:t>Return is –4 (insertion point is 3, so return is -3-1)</a:t>
            </a:r>
          </a:p>
        </p:txBody>
      </p:sp>
      <p:sp>
        <p:nvSpPr>
          <p:cNvPr id="100360" name="Line 10">
            <a:extLst>
              <a:ext uri="{FF2B5EF4-FFF2-40B4-BE49-F238E27FC236}">
                <a16:creationId xmlns:a16="http://schemas.microsoft.com/office/drawing/2014/main" id="{FC9F859B-31E7-43A3-86F8-EA70C7B685CA}"/>
              </a:ext>
            </a:extLst>
          </p:cNvPr>
          <p:cNvSpPr>
            <a:spLocks noChangeShapeType="1"/>
          </p:cNvSpPr>
          <p:nvPr/>
        </p:nvSpPr>
        <p:spPr bwMode="auto">
          <a:xfrm flipH="1" flipV="1">
            <a:off x="3429000" y="4267200"/>
            <a:ext cx="1981200" cy="45720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244542249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1379" name="Rectangle 2">
            <a:extLst>
              <a:ext uri="{FF2B5EF4-FFF2-40B4-BE49-F238E27FC236}">
                <a16:creationId xmlns:a16="http://schemas.microsoft.com/office/drawing/2014/main" id="{09637013-6FBE-48D5-B7A3-7F1C80B6581B}"/>
              </a:ext>
            </a:extLst>
          </p:cNvPr>
          <p:cNvSpPr>
            <a:spLocks noGrp="1" noChangeArrowheads="1"/>
          </p:cNvSpPr>
          <p:nvPr>
            <p:ph type="title"/>
          </p:nvPr>
        </p:nvSpPr>
        <p:spPr>
          <a:xfrm>
            <a:off x="762000" y="152400"/>
            <a:ext cx="7772400" cy="838200"/>
          </a:xfrm>
        </p:spPr>
        <p:txBody>
          <a:bodyPr/>
          <a:lstStyle/>
          <a:p>
            <a:r>
              <a:rPr lang="en-US" altLang="en-US"/>
              <a:t>Sorting Arrays</a:t>
            </a:r>
            <a:endParaRPr lang="en-US" altLang="en-US" u="sng">
              <a:latin typeface="Book Antiqua" panose="02040602050305030304" pitchFamily="18" charset="0"/>
              <a:hlinkClick r:id="rId2" action="ppaction://program"/>
            </a:endParaRPr>
          </a:p>
        </p:txBody>
      </p:sp>
      <p:sp>
        <p:nvSpPr>
          <p:cNvPr id="101380" name="Rectangle 3">
            <a:extLst>
              <a:ext uri="{FF2B5EF4-FFF2-40B4-BE49-F238E27FC236}">
                <a16:creationId xmlns:a16="http://schemas.microsoft.com/office/drawing/2014/main" id="{DA2331EF-1FC3-45A5-B908-C07FF6B50E7A}"/>
              </a:ext>
            </a:extLst>
          </p:cNvPr>
          <p:cNvSpPr>
            <a:spLocks noChangeArrowheads="1"/>
          </p:cNvSpPr>
          <p:nvPr/>
        </p:nvSpPr>
        <p:spPr bwMode="auto">
          <a:xfrm>
            <a:off x="0" y="28162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01381" name="Rectangle 5">
            <a:extLst>
              <a:ext uri="{FF2B5EF4-FFF2-40B4-BE49-F238E27FC236}">
                <a16:creationId xmlns:a16="http://schemas.microsoft.com/office/drawing/2014/main" id="{043DE48A-D146-4C40-BF94-9FEF77EB4A79}"/>
              </a:ext>
            </a:extLst>
          </p:cNvPr>
          <p:cNvSpPr>
            <a:spLocks noGrp="1" noChangeArrowheads="1"/>
          </p:cNvSpPr>
          <p:nvPr>
            <p:ph type="body" idx="1"/>
          </p:nvPr>
        </p:nvSpPr>
        <p:spPr>
          <a:xfrm>
            <a:off x="155575" y="1201738"/>
            <a:ext cx="8759825" cy="4090987"/>
          </a:xfrm>
          <a:noFill/>
        </p:spPr>
        <p:txBody>
          <a:bodyPr/>
          <a:lstStyle/>
          <a:p>
            <a:pPr marL="0" indent="0">
              <a:buFont typeface="Monotype Sorts" pitchFamily="2" charset="2"/>
              <a:buNone/>
            </a:pPr>
            <a:r>
              <a:rPr lang="en-US" altLang="en-US"/>
              <a:t>Sorting, like searching, is also a common task in computer programming. Many different algorithms have been developed for sorting. This section introduces a simple, intuitive sorting algorithms: </a:t>
            </a:r>
            <a:r>
              <a:rPr lang="en-US" altLang="en-US" i="1"/>
              <a:t>selection sort</a:t>
            </a:r>
            <a:r>
              <a:rPr lang="en-US" altLang="en-US"/>
              <a:t>.</a:t>
            </a:r>
          </a:p>
        </p:txBody>
      </p:sp>
    </p:spTree>
    <p:extLst>
      <p:ext uri="{BB962C8B-B14F-4D97-AF65-F5344CB8AC3E}">
        <p14:creationId xmlns:p14="http://schemas.microsoft.com/office/powerpoint/2010/main" val="305855259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2403" name="Rectangle 2">
            <a:extLst>
              <a:ext uri="{FF2B5EF4-FFF2-40B4-BE49-F238E27FC236}">
                <a16:creationId xmlns:a16="http://schemas.microsoft.com/office/drawing/2014/main" id="{4082F05A-512F-4EBD-A9B2-523D672F3B12}"/>
              </a:ext>
            </a:extLst>
          </p:cNvPr>
          <p:cNvSpPr>
            <a:spLocks noChangeArrowheads="1"/>
          </p:cNvSpPr>
          <p:nvPr/>
        </p:nvSpPr>
        <p:spPr bwMode="auto">
          <a:xfrm>
            <a:off x="2027238" y="427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02404" name="Rectangle 4">
            <a:extLst>
              <a:ext uri="{FF2B5EF4-FFF2-40B4-BE49-F238E27FC236}">
                <a16:creationId xmlns:a16="http://schemas.microsoft.com/office/drawing/2014/main" id="{7E1CB916-2BF1-4CA3-8CAA-EEB854A98CAA}"/>
              </a:ext>
            </a:extLst>
          </p:cNvPr>
          <p:cNvSpPr>
            <a:spLocks noGrp="1" noChangeArrowheads="1"/>
          </p:cNvSpPr>
          <p:nvPr>
            <p:ph type="title"/>
          </p:nvPr>
        </p:nvSpPr>
        <p:spPr>
          <a:xfrm>
            <a:off x="228600" y="228600"/>
            <a:ext cx="8299450" cy="396875"/>
          </a:xfrm>
          <a:noFill/>
        </p:spPr>
        <p:txBody>
          <a:bodyPr>
            <a:normAutofit fontScale="90000"/>
          </a:bodyPr>
          <a:lstStyle/>
          <a:p>
            <a:r>
              <a:rPr lang="en-US" altLang="en-US" sz="3200"/>
              <a:t>Selection Sort</a:t>
            </a:r>
            <a:endParaRPr lang="en-US" altLang="en-US" sz="3200">
              <a:solidFill>
                <a:schemeClr val="tx1"/>
              </a:solidFill>
              <a:latin typeface="Book Antiqua" panose="02040602050305030304" pitchFamily="18" charset="0"/>
              <a:hlinkClick r:id="rId2" action="ppaction://program"/>
            </a:endParaRPr>
          </a:p>
        </p:txBody>
      </p:sp>
      <p:sp>
        <p:nvSpPr>
          <p:cNvPr id="102405" name="Rectangle 5">
            <a:extLst>
              <a:ext uri="{FF2B5EF4-FFF2-40B4-BE49-F238E27FC236}">
                <a16:creationId xmlns:a16="http://schemas.microsoft.com/office/drawing/2014/main" id="{4BBF02BF-8B99-4BF6-A5B6-58F729DBBA07}"/>
              </a:ext>
            </a:extLst>
          </p:cNvPr>
          <p:cNvSpPr>
            <a:spLocks noChangeArrowheads="1"/>
          </p:cNvSpPr>
          <p:nvPr/>
        </p:nvSpPr>
        <p:spPr bwMode="auto">
          <a:xfrm>
            <a:off x="0" y="15017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02406" name="Rectangle 6">
            <a:extLst>
              <a:ext uri="{FF2B5EF4-FFF2-40B4-BE49-F238E27FC236}">
                <a16:creationId xmlns:a16="http://schemas.microsoft.com/office/drawing/2014/main" id="{86E54F2E-C1CE-42FD-8D37-3C836439B9D1}"/>
              </a:ext>
            </a:extLst>
          </p:cNvPr>
          <p:cNvSpPr>
            <a:spLocks noChangeArrowheads="1"/>
          </p:cNvSpPr>
          <p:nvPr/>
        </p:nvSpPr>
        <p:spPr bwMode="auto">
          <a:xfrm>
            <a:off x="0" y="14970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102407" name="Picture 10">
            <a:extLst>
              <a:ext uri="{FF2B5EF4-FFF2-40B4-BE49-F238E27FC236}">
                <a16:creationId xmlns:a16="http://schemas.microsoft.com/office/drawing/2014/main" id="{3EBAFDAF-65D6-4848-B2BF-0542565D48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0938" y="1277938"/>
            <a:ext cx="6307137" cy="5089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
        <p:nvSpPr>
          <p:cNvPr id="102408" name="Rectangle 3">
            <a:extLst>
              <a:ext uri="{FF2B5EF4-FFF2-40B4-BE49-F238E27FC236}">
                <a16:creationId xmlns:a16="http://schemas.microsoft.com/office/drawing/2014/main" id="{D97DF8D9-B542-4134-840C-33860191628B}"/>
              </a:ext>
            </a:extLst>
          </p:cNvPr>
          <p:cNvSpPr>
            <a:spLocks noGrp="1" noChangeArrowheads="1"/>
          </p:cNvSpPr>
          <p:nvPr>
            <p:ph type="body" idx="1"/>
          </p:nvPr>
        </p:nvSpPr>
        <p:spPr>
          <a:xfrm>
            <a:off x="306388" y="644525"/>
            <a:ext cx="8531225" cy="863600"/>
          </a:xfrm>
          <a:noFill/>
        </p:spPr>
        <p:txBody>
          <a:bodyPr/>
          <a:lstStyle/>
          <a:p>
            <a:pPr marL="0" indent="0">
              <a:lnSpc>
                <a:spcPct val="80000"/>
              </a:lnSpc>
              <a:buFont typeface="Monotype Sorts" pitchFamily="2" charset="2"/>
              <a:buNone/>
            </a:pPr>
            <a:r>
              <a:rPr lang="en-US" altLang="en-US" sz="2000">
                <a:cs typeface="Times New Roman" panose="02020603050405020304" pitchFamily="18" charset="0"/>
              </a:rPr>
              <a:t>Selection sort finds the smallest number in the list and places it first. It then finds the smallest number remaining and places it second, and so on until the list contains only a single number. </a:t>
            </a:r>
            <a:endParaRPr lang="en-US" altLang="en-US" sz="2000"/>
          </a:p>
        </p:txBody>
      </p:sp>
    </p:spTree>
    <p:extLst>
      <p:ext uri="{BB962C8B-B14F-4D97-AF65-F5344CB8AC3E}">
        <p14:creationId xmlns:p14="http://schemas.microsoft.com/office/powerpoint/2010/main" val="173426934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8547" name="Rectangle 2">
            <a:extLst>
              <a:ext uri="{FF2B5EF4-FFF2-40B4-BE49-F238E27FC236}">
                <a16:creationId xmlns:a16="http://schemas.microsoft.com/office/drawing/2014/main" id="{FEF252B1-B667-4D1E-A302-E9AFEA9C5EBC}"/>
              </a:ext>
            </a:extLst>
          </p:cNvPr>
          <p:cNvSpPr>
            <a:spLocks noGrp="1" noChangeArrowheads="1"/>
          </p:cNvSpPr>
          <p:nvPr>
            <p:ph type="title"/>
          </p:nvPr>
        </p:nvSpPr>
        <p:spPr>
          <a:xfrm>
            <a:off x="609600" y="304800"/>
            <a:ext cx="7772400" cy="457200"/>
          </a:xfrm>
        </p:spPr>
        <p:txBody>
          <a:bodyPr>
            <a:normAutofit fontScale="90000"/>
          </a:bodyPr>
          <a:lstStyle/>
          <a:p>
            <a:r>
              <a:rPr lang="en-US" altLang="en-US"/>
              <a:t>Wrap it in a Method</a:t>
            </a:r>
            <a:endParaRPr lang="en-US" altLang="en-US">
              <a:solidFill>
                <a:schemeClr val="tx1"/>
              </a:solidFill>
              <a:latin typeface="Book Antiqua" panose="02040602050305030304" pitchFamily="18" charset="0"/>
              <a:hlinkClick r:id="rId2" action="ppaction://program"/>
            </a:endParaRPr>
          </a:p>
        </p:txBody>
      </p:sp>
      <p:sp>
        <p:nvSpPr>
          <p:cNvPr id="111620" name="Rectangle 3">
            <a:extLst>
              <a:ext uri="{FF2B5EF4-FFF2-40B4-BE49-F238E27FC236}">
                <a16:creationId xmlns:a16="http://schemas.microsoft.com/office/drawing/2014/main" id="{9DF72B11-FC6F-4976-8EEE-3761FD0E0466}"/>
              </a:ext>
            </a:extLst>
          </p:cNvPr>
          <p:cNvSpPr>
            <a:spLocks noChangeArrowheads="1"/>
          </p:cNvSpPr>
          <p:nvPr/>
        </p:nvSpPr>
        <p:spPr bwMode="auto">
          <a:xfrm>
            <a:off x="304800" y="914400"/>
            <a:ext cx="8610600"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a:lnSpc>
                <a:spcPct val="90000"/>
              </a:lnSpc>
              <a:spcBef>
                <a:spcPct val="20000"/>
              </a:spcBef>
              <a:buClr>
                <a:schemeClr val="tx2"/>
              </a:buClr>
              <a:buSzPct val="75000"/>
              <a:buFont typeface="Monotype Sorts" pitchFamily="2" charset="2"/>
              <a:buNone/>
              <a:defRPr/>
            </a:pPr>
            <a:r>
              <a:rPr lang="en-US" sz="1600" b="1" dirty="0">
                <a:solidFill>
                  <a:schemeClr val="accent4"/>
                </a:solidFill>
                <a:latin typeface="Courier New" pitchFamily="49" charset="0"/>
                <a:cs typeface="Courier New" pitchFamily="49" charset="0"/>
              </a:rPr>
              <a:t>  /** The method for sorting the numbers */</a:t>
            </a:r>
            <a:endParaRPr lang="en-US" sz="1600" b="1" dirty="0">
              <a:solidFill>
                <a:schemeClr val="accent4"/>
              </a:solidFill>
              <a:latin typeface="Courier"/>
              <a:cs typeface="Times New Roman" pitchFamily="18" charset="0"/>
            </a:endParaRPr>
          </a:p>
          <a:p>
            <a:pPr>
              <a:defRPr/>
            </a:pPr>
            <a:endParaRPr lang="en-US" b="1" dirty="0">
              <a:solidFill>
                <a:schemeClr val="accent4"/>
              </a:solidFill>
            </a:endParaRPr>
          </a:p>
          <a:p>
            <a:pPr>
              <a:defRPr/>
            </a:pPr>
            <a:endParaRPr lang="en-US" b="1" dirty="0">
              <a:solidFill>
                <a:schemeClr val="accent4"/>
              </a:solidFill>
            </a:endParaRPr>
          </a:p>
          <a:p>
            <a:pPr>
              <a:defRPr/>
            </a:pPr>
            <a:r>
              <a:rPr lang="en-US" b="1" dirty="0">
                <a:solidFill>
                  <a:schemeClr val="accent4"/>
                </a:solidFill>
              </a:rPr>
              <a:t>   </a:t>
            </a:r>
            <a:r>
              <a:rPr lang="en-US" sz="1600" b="1" dirty="0">
                <a:solidFill>
                  <a:schemeClr val="accent4"/>
                </a:solidFill>
                <a:latin typeface="Courier New" pitchFamily="49" charset="0"/>
                <a:cs typeface="Courier New" pitchFamily="49" charset="0"/>
              </a:rPr>
              <a:t>public static void </a:t>
            </a:r>
            <a:r>
              <a:rPr lang="en-US" sz="1600" b="1" dirty="0" err="1">
                <a:solidFill>
                  <a:schemeClr val="accent4"/>
                </a:solidFill>
                <a:latin typeface="Courier New" pitchFamily="49" charset="0"/>
                <a:cs typeface="Courier New" pitchFamily="49" charset="0"/>
              </a:rPr>
              <a:t>selectionSort</a:t>
            </a:r>
            <a:r>
              <a:rPr lang="en-US" sz="1600" b="1" dirty="0">
                <a:solidFill>
                  <a:schemeClr val="accent4"/>
                </a:solidFill>
                <a:latin typeface="Courier New" pitchFamily="49" charset="0"/>
                <a:cs typeface="Courier New" pitchFamily="49" charset="0"/>
              </a:rPr>
              <a:t>(double[] list) {</a:t>
            </a:r>
          </a:p>
          <a:p>
            <a:pPr>
              <a:defRPr/>
            </a:pPr>
            <a:r>
              <a:rPr lang="en-US" sz="1600" b="1" dirty="0">
                <a:solidFill>
                  <a:schemeClr val="accent4"/>
                </a:solidFill>
                <a:latin typeface="Courier New" pitchFamily="49" charset="0"/>
                <a:cs typeface="Courier New" pitchFamily="49" charset="0"/>
              </a:rPr>
              <a:t>    for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 = 0; </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 &lt; </a:t>
            </a:r>
            <a:r>
              <a:rPr lang="en-US" sz="1600" b="1" dirty="0" err="1">
                <a:solidFill>
                  <a:schemeClr val="accent4"/>
                </a:solidFill>
                <a:latin typeface="Courier New" pitchFamily="49" charset="0"/>
                <a:cs typeface="Courier New" pitchFamily="49" charset="0"/>
              </a:rPr>
              <a:t>list.length</a:t>
            </a: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 {</a:t>
            </a:r>
          </a:p>
          <a:p>
            <a:pPr>
              <a:defRPr/>
            </a:pPr>
            <a:r>
              <a:rPr lang="en-US" sz="1600" b="1" dirty="0">
                <a:solidFill>
                  <a:schemeClr val="accent4"/>
                </a:solidFill>
                <a:latin typeface="Courier New" pitchFamily="49" charset="0"/>
                <a:cs typeface="Courier New" pitchFamily="49" charset="0"/>
              </a:rPr>
              <a:t>      // Find the minimum in the list[i..list.length-1]</a:t>
            </a:r>
          </a:p>
          <a:p>
            <a:pPr>
              <a:defRPr/>
            </a:pPr>
            <a:r>
              <a:rPr lang="en-US" sz="1600" b="1" dirty="0">
                <a:solidFill>
                  <a:schemeClr val="accent4"/>
                </a:solidFill>
                <a:latin typeface="Courier New" pitchFamily="49" charset="0"/>
                <a:cs typeface="Courier New" pitchFamily="49" charset="0"/>
              </a:rPr>
              <a:t>      double </a:t>
            </a:r>
            <a:r>
              <a:rPr lang="en-US" sz="1600" b="1" dirty="0" err="1">
                <a:solidFill>
                  <a:schemeClr val="accent4"/>
                </a:solidFill>
                <a:latin typeface="Courier New" pitchFamily="49" charset="0"/>
                <a:cs typeface="Courier New" pitchFamily="49" charset="0"/>
              </a:rPr>
              <a:t>currentMin</a:t>
            </a:r>
            <a:r>
              <a:rPr lang="en-US" sz="1600" b="1" dirty="0">
                <a:solidFill>
                  <a:schemeClr val="accent4"/>
                </a:solidFill>
                <a:latin typeface="Courier New" pitchFamily="49" charset="0"/>
                <a:cs typeface="Courier New" pitchFamily="49" charset="0"/>
              </a:rPr>
              <a:t> = list[</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a:t>
            </a:r>
          </a:p>
          <a:p>
            <a:pPr>
              <a:defRPr/>
            </a:pP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currentMinIndex</a:t>
            </a:r>
            <a:r>
              <a:rPr lang="en-US" sz="1600" b="1" dirty="0">
                <a:solidFill>
                  <a:schemeClr val="accent4"/>
                </a:solidFill>
                <a:latin typeface="Courier New" pitchFamily="49" charset="0"/>
                <a:cs typeface="Courier New" pitchFamily="49" charset="0"/>
              </a:rPr>
              <a:t> = </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a:t>
            </a:r>
          </a:p>
          <a:p>
            <a:pPr>
              <a:defRPr/>
            </a:pPr>
            <a:r>
              <a:rPr lang="en-US" sz="1600" b="1" dirty="0">
                <a:solidFill>
                  <a:schemeClr val="accent4"/>
                </a:solidFill>
                <a:latin typeface="Courier New" pitchFamily="49" charset="0"/>
                <a:cs typeface="Courier New" pitchFamily="49" charset="0"/>
              </a:rPr>
              <a:t>      for (</a:t>
            </a:r>
            <a:r>
              <a:rPr lang="en-US" sz="1600" b="1" dirty="0" err="1">
                <a:solidFill>
                  <a:schemeClr val="accent4"/>
                </a:solidFill>
                <a:latin typeface="Courier New" pitchFamily="49" charset="0"/>
                <a:cs typeface="Courier New" pitchFamily="49" charset="0"/>
              </a:rPr>
              <a:t>int</a:t>
            </a:r>
            <a:r>
              <a:rPr lang="en-US" sz="1600" b="1" dirty="0">
                <a:solidFill>
                  <a:schemeClr val="accent4"/>
                </a:solidFill>
                <a:latin typeface="Courier New" pitchFamily="49" charset="0"/>
                <a:cs typeface="Courier New" pitchFamily="49" charset="0"/>
              </a:rPr>
              <a:t> j = </a:t>
            </a:r>
            <a:r>
              <a:rPr lang="en-US" sz="1600" b="1" dirty="0" err="1">
                <a:solidFill>
                  <a:schemeClr val="accent4"/>
                </a:solidFill>
                <a:latin typeface="Courier New" pitchFamily="49" charset="0"/>
                <a:cs typeface="Courier New" pitchFamily="49" charset="0"/>
              </a:rPr>
              <a:t>i</a:t>
            </a:r>
            <a:r>
              <a:rPr lang="en-US" sz="1600" b="1" dirty="0">
                <a:solidFill>
                  <a:schemeClr val="accent4"/>
                </a:solidFill>
                <a:latin typeface="Courier New" pitchFamily="49" charset="0"/>
                <a:cs typeface="Courier New" pitchFamily="49" charset="0"/>
              </a:rPr>
              <a:t> + 1; j &lt; </a:t>
            </a:r>
            <a:r>
              <a:rPr lang="en-US" sz="1600" b="1" dirty="0" err="1">
                <a:solidFill>
                  <a:schemeClr val="accent4"/>
                </a:solidFill>
                <a:latin typeface="Courier New" pitchFamily="49" charset="0"/>
                <a:cs typeface="Courier New" pitchFamily="49" charset="0"/>
              </a:rPr>
              <a:t>list.length</a:t>
            </a:r>
            <a:r>
              <a:rPr lang="en-US" sz="1600" b="1" dirty="0">
                <a:solidFill>
                  <a:schemeClr val="accent4"/>
                </a:solidFill>
                <a:latin typeface="Courier New" pitchFamily="49" charset="0"/>
                <a:cs typeface="Courier New" pitchFamily="49" charset="0"/>
              </a:rPr>
              <a:t>; j++) {</a:t>
            </a:r>
          </a:p>
          <a:p>
            <a:pPr>
              <a:defRPr/>
            </a:pPr>
            <a:r>
              <a:rPr lang="en-US" sz="1600" b="1" dirty="0">
                <a:solidFill>
                  <a:schemeClr val="accent4"/>
                </a:solidFill>
                <a:latin typeface="Courier New" pitchFamily="49" charset="0"/>
                <a:cs typeface="Courier New" pitchFamily="49" charset="0"/>
              </a:rPr>
              <a:t>        if (</a:t>
            </a:r>
            <a:r>
              <a:rPr lang="en-US" sz="1600" b="1" dirty="0" err="1">
                <a:solidFill>
                  <a:schemeClr val="accent4"/>
                </a:solidFill>
                <a:latin typeface="Courier New" pitchFamily="49" charset="0"/>
                <a:cs typeface="Courier New" pitchFamily="49" charset="0"/>
              </a:rPr>
              <a:t>currentMin</a:t>
            </a:r>
            <a:r>
              <a:rPr lang="en-US" sz="1600" b="1" dirty="0">
                <a:solidFill>
                  <a:schemeClr val="accent4"/>
                </a:solidFill>
                <a:latin typeface="Courier New" pitchFamily="49" charset="0"/>
                <a:cs typeface="Courier New" pitchFamily="49" charset="0"/>
              </a:rPr>
              <a:t> &gt; list[j]) {</a:t>
            </a:r>
          </a:p>
          <a:p>
            <a:pPr>
              <a:defRPr/>
            </a:pP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currentMin</a:t>
            </a:r>
            <a:r>
              <a:rPr lang="en-US" sz="1600" b="1" dirty="0">
                <a:solidFill>
                  <a:schemeClr val="accent4"/>
                </a:solidFill>
                <a:latin typeface="Courier New" pitchFamily="49" charset="0"/>
                <a:cs typeface="Courier New" pitchFamily="49" charset="0"/>
              </a:rPr>
              <a:t> = list[j];</a:t>
            </a:r>
          </a:p>
          <a:p>
            <a:pPr>
              <a:defRPr/>
            </a:pPr>
            <a:r>
              <a:rPr lang="en-US" sz="1600" b="1" dirty="0">
                <a:solidFill>
                  <a:schemeClr val="accent4"/>
                </a:solidFill>
                <a:latin typeface="Courier New" pitchFamily="49" charset="0"/>
                <a:cs typeface="Courier New" pitchFamily="49" charset="0"/>
              </a:rPr>
              <a:t>          </a:t>
            </a:r>
            <a:r>
              <a:rPr lang="en-US" sz="1600" b="1" dirty="0" err="1">
                <a:solidFill>
                  <a:schemeClr val="accent4"/>
                </a:solidFill>
                <a:latin typeface="Courier New" pitchFamily="49" charset="0"/>
                <a:cs typeface="Courier New" pitchFamily="49" charset="0"/>
              </a:rPr>
              <a:t>currentMinIndex</a:t>
            </a:r>
            <a:r>
              <a:rPr lang="en-US" sz="1600" b="1" dirty="0">
                <a:solidFill>
                  <a:schemeClr val="accent4"/>
                </a:solidFill>
                <a:latin typeface="Courier New" pitchFamily="49" charset="0"/>
                <a:cs typeface="Courier New" pitchFamily="49" charset="0"/>
              </a:rPr>
              <a:t> = j;</a:t>
            </a:r>
          </a:p>
          <a:p>
            <a:pPr>
              <a:defRPr/>
            </a:pPr>
            <a:r>
              <a:rPr lang="en-US" sz="1600" b="1" dirty="0">
                <a:solidFill>
                  <a:schemeClr val="accent4"/>
                </a:solidFill>
                <a:latin typeface="Courier New" pitchFamily="49" charset="0"/>
                <a:cs typeface="Courier New" pitchFamily="49" charset="0"/>
              </a:rPr>
              <a:t>        }</a:t>
            </a:r>
          </a:p>
          <a:p>
            <a:pPr>
              <a:defRPr/>
            </a:pPr>
            <a:r>
              <a:rPr lang="en-US" sz="1600" b="1" dirty="0">
                <a:solidFill>
                  <a:schemeClr val="accent4"/>
                </a:solidFill>
                <a:latin typeface="Courier New" pitchFamily="49" charset="0"/>
                <a:cs typeface="Courier New" pitchFamily="49" charset="0"/>
              </a:rPr>
              <a:t>      }</a:t>
            </a:r>
          </a:p>
        </p:txBody>
      </p:sp>
      <p:sp>
        <p:nvSpPr>
          <p:cNvPr id="108549" name="Rectangle 5">
            <a:extLst>
              <a:ext uri="{FF2B5EF4-FFF2-40B4-BE49-F238E27FC236}">
                <a16:creationId xmlns:a16="http://schemas.microsoft.com/office/drawing/2014/main" id="{80C4591F-BB59-49CB-A437-D7B790408EF3}"/>
              </a:ext>
            </a:extLst>
          </p:cNvPr>
          <p:cNvSpPr>
            <a:spLocks noChangeArrowheads="1"/>
          </p:cNvSpPr>
          <p:nvPr/>
        </p:nvSpPr>
        <p:spPr bwMode="auto">
          <a:xfrm>
            <a:off x="385763" y="1239838"/>
            <a:ext cx="7772400" cy="4876800"/>
          </a:xfrm>
          <a:prstGeom prst="rect">
            <a:avLst/>
          </a:prstGeom>
          <a:noFill/>
          <a:ln w="12700">
            <a:solidFill>
              <a:srgbClr val="FF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08550" name="Text Box 7">
            <a:extLst>
              <a:ext uri="{FF2B5EF4-FFF2-40B4-BE49-F238E27FC236}">
                <a16:creationId xmlns:a16="http://schemas.microsoft.com/office/drawing/2014/main" id="{A8E48F67-6100-403F-AA98-B25837EE977F}"/>
              </a:ext>
            </a:extLst>
          </p:cNvPr>
          <p:cNvSpPr txBox="1">
            <a:spLocks noChangeArrowheads="1"/>
          </p:cNvSpPr>
          <p:nvPr/>
        </p:nvSpPr>
        <p:spPr bwMode="auto">
          <a:xfrm>
            <a:off x="5867400" y="22098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endParaRPr lang="en-US" altLang="en-US"/>
          </a:p>
        </p:txBody>
      </p:sp>
      <p:sp>
        <p:nvSpPr>
          <p:cNvPr id="108551" name="Text Box 8">
            <a:extLst>
              <a:ext uri="{FF2B5EF4-FFF2-40B4-BE49-F238E27FC236}">
                <a16:creationId xmlns:a16="http://schemas.microsoft.com/office/drawing/2014/main" id="{041894D5-4D18-4418-9423-F10FA802CA7F}"/>
              </a:ext>
            </a:extLst>
          </p:cNvPr>
          <p:cNvSpPr txBox="1">
            <a:spLocks noChangeArrowheads="1"/>
          </p:cNvSpPr>
          <p:nvPr/>
        </p:nvSpPr>
        <p:spPr bwMode="auto">
          <a:xfrm>
            <a:off x="5867400" y="4657725"/>
            <a:ext cx="3276600" cy="1004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a:solidFill>
                  <a:schemeClr val="bg2"/>
                </a:solidFill>
              </a:rPr>
              <a:t>Invoke it</a:t>
            </a:r>
          </a:p>
          <a:p>
            <a:pPr>
              <a:spcBef>
                <a:spcPct val="50000"/>
              </a:spcBef>
            </a:pPr>
            <a:r>
              <a:rPr lang="en-US" altLang="en-US">
                <a:solidFill>
                  <a:schemeClr val="bg2"/>
                </a:solidFill>
              </a:rPr>
              <a:t>selectionSort(yourList)</a:t>
            </a:r>
          </a:p>
        </p:txBody>
      </p:sp>
    </p:spTree>
    <p:extLst>
      <p:ext uri="{BB962C8B-B14F-4D97-AF65-F5344CB8AC3E}">
        <p14:creationId xmlns:p14="http://schemas.microsoft.com/office/powerpoint/2010/main" val="348840591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1" name="Rectangle 2">
            <a:extLst>
              <a:ext uri="{FF2B5EF4-FFF2-40B4-BE49-F238E27FC236}">
                <a16:creationId xmlns:a16="http://schemas.microsoft.com/office/drawing/2014/main" id="{F64D170E-C00D-458D-80C9-DAB711910D31}"/>
              </a:ext>
            </a:extLst>
          </p:cNvPr>
          <p:cNvSpPr>
            <a:spLocks noGrp="1" noChangeArrowheads="1"/>
          </p:cNvSpPr>
          <p:nvPr>
            <p:ph type="title"/>
          </p:nvPr>
        </p:nvSpPr>
        <p:spPr>
          <a:xfrm>
            <a:off x="609600" y="304800"/>
            <a:ext cx="7772400" cy="609600"/>
          </a:xfrm>
        </p:spPr>
        <p:txBody>
          <a:bodyPr>
            <a:normAutofit fontScale="90000"/>
          </a:bodyPr>
          <a:lstStyle/>
          <a:p>
            <a:r>
              <a:rPr lang="en-US" altLang="en-US"/>
              <a:t>The Arrays.sort Method</a:t>
            </a:r>
            <a:endParaRPr lang="en-US" altLang="en-US">
              <a:solidFill>
                <a:schemeClr val="tx1"/>
              </a:solidFill>
              <a:latin typeface="Book Antiqua" panose="02040602050305030304" pitchFamily="18" charset="0"/>
              <a:hlinkClick r:id="rId2" action="ppaction://program"/>
            </a:endParaRPr>
          </a:p>
        </p:txBody>
      </p:sp>
      <p:sp>
        <p:nvSpPr>
          <p:cNvPr id="109572" name="Rectangle 4">
            <a:extLst>
              <a:ext uri="{FF2B5EF4-FFF2-40B4-BE49-F238E27FC236}">
                <a16:creationId xmlns:a16="http://schemas.microsoft.com/office/drawing/2014/main" id="{8605E117-9B2B-4356-BE99-C29AE68C9B00}"/>
              </a:ext>
            </a:extLst>
          </p:cNvPr>
          <p:cNvSpPr>
            <a:spLocks noChangeArrowheads="1"/>
          </p:cNvSpPr>
          <p:nvPr/>
        </p:nvSpPr>
        <p:spPr bwMode="auto">
          <a:xfrm>
            <a:off x="381000" y="1700213"/>
            <a:ext cx="8534400" cy="3590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nSpc>
                <a:spcPct val="90000"/>
              </a:lnSpc>
              <a:buFont typeface="Monotype Sorts"/>
              <a:buNone/>
              <a:defRPr/>
            </a:pPr>
            <a:r>
              <a:rPr lang="en-US" altLang="en-US" sz="2200" dirty="0">
                <a:latin typeface="+mj-lt"/>
                <a:cs typeface="Courier New" pitchFamily="49" charset="0"/>
              </a:rPr>
              <a:t>Since sorting is frequently used in programming, Java provides several overloaded sort methods for sorting an array of </a:t>
            </a:r>
            <a:r>
              <a:rPr lang="en-US" altLang="en-US" sz="2200" dirty="0" err="1">
                <a:latin typeface="+mj-lt"/>
                <a:cs typeface="Courier New" pitchFamily="49" charset="0"/>
              </a:rPr>
              <a:t>int</a:t>
            </a:r>
            <a:r>
              <a:rPr lang="en-US" altLang="en-US" sz="2200" dirty="0">
                <a:latin typeface="+mj-lt"/>
                <a:cs typeface="Courier New" pitchFamily="49" charset="0"/>
              </a:rPr>
              <a:t>, double, char, short, long, and float in the </a:t>
            </a:r>
            <a:r>
              <a:rPr lang="en-US" altLang="en-US" sz="2200" dirty="0" err="1">
                <a:latin typeface="+mj-lt"/>
                <a:cs typeface="Courier New" pitchFamily="49" charset="0"/>
              </a:rPr>
              <a:t>java.util.Arrays</a:t>
            </a:r>
            <a:r>
              <a:rPr lang="en-US" altLang="en-US" sz="2200" dirty="0">
                <a:latin typeface="+mj-lt"/>
                <a:cs typeface="Courier New" pitchFamily="49" charset="0"/>
              </a:rPr>
              <a:t> class. For example, the following code sorts an array of numbers and an array of characters.</a:t>
            </a:r>
          </a:p>
          <a:p>
            <a:pPr>
              <a:lnSpc>
                <a:spcPct val="90000"/>
              </a:lnSpc>
              <a:buFont typeface="Monotype Sorts"/>
              <a:buNone/>
              <a:defRPr/>
            </a:pPr>
            <a:endParaRPr lang="en-US" altLang="en-US" sz="1700" b="1" dirty="0">
              <a:solidFill>
                <a:schemeClr val="accent4"/>
              </a:solidFill>
              <a:latin typeface="+mj-lt"/>
              <a:cs typeface="Courier New" pitchFamily="49" charset="0"/>
            </a:endParaRPr>
          </a:p>
          <a:p>
            <a:pPr lvl="1">
              <a:lnSpc>
                <a:spcPct val="90000"/>
              </a:lnSpc>
              <a:buClr>
                <a:schemeClr val="tx2"/>
              </a:buClr>
              <a:buSzPct val="75000"/>
              <a:buFont typeface="Monotype Sorts"/>
              <a:buNone/>
              <a:defRPr/>
            </a:pPr>
            <a:r>
              <a:rPr lang="en-US" altLang="en-US" sz="2200" dirty="0">
                <a:latin typeface="+mj-lt"/>
                <a:cs typeface="Courier New" pitchFamily="49" charset="0"/>
              </a:rPr>
              <a:t>double[] numbers = {6.0, 4.4, 1.9, 2.9, 3.4, 3.5};</a:t>
            </a:r>
            <a:endParaRPr lang="en-US" altLang="en-US" sz="2200" dirty="0">
              <a:latin typeface="+mj-lt"/>
              <a:cs typeface="Times New Roman" pitchFamily="18" charset="0"/>
            </a:endParaRPr>
          </a:p>
          <a:p>
            <a:pPr lvl="1">
              <a:lnSpc>
                <a:spcPct val="90000"/>
              </a:lnSpc>
              <a:buClr>
                <a:schemeClr val="tx2"/>
              </a:buClr>
              <a:buSzPct val="75000"/>
              <a:buFont typeface="Monotype Sorts"/>
              <a:buNone/>
              <a:defRPr/>
            </a:pPr>
            <a:r>
              <a:rPr lang="en-US" altLang="en-US" sz="2200" dirty="0" err="1">
                <a:latin typeface="+mj-lt"/>
                <a:cs typeface="Courier New" pitchFamily="49" charset="0"/>
              </a:rPr>
              <a:t>java.util.Arrays.sort</a:t>
            </a:r>
            <a:r>
              <a:rPr lang="en-US" altLang="en-US" sz="2200" dirty="0">
                <a:latin typeface="+mj-lt"/>
                <a:cs typeface="Courier New" pitchFamily="49" charset="0"/>
              </a:rPr>
              <a:t>(numbers);</a:t>
            </a:r>
            <a:endParaRPr lang="en-US" altLang="en-US" sz="2200" dirty="0">
              <a:latin typeface="+mj-lt"/>
              <a:cs typeface="Times New Roman" pitchFamily="18" charset="0"/>
            </a:endParaRPr>
          </a:p>
          <a:p>
            <a:pPr>
              <a:lnSpc>
                <a:spcPct val="90000"/>
              </a:lnSpc>
              <a:buFont typeface="Monotype Sorts"/>
              <a:buNone/>
              <a:defRPr/>
            </a:pPr>
            <a:r>
              <a:rPr lang="en-US" altLang="en-US" sz="2200" dirty="0">
                <a:latin typeface="+mj-lt"/>
                <a:cs typeface="Courier New" pitchFamily="49" charset="0"/>
              </a:rPr>
              <a:t> </a:t>
            </a:r>
            <a:endParaRPr lang="en-US" altLang="en-US" sz="2200" dirty="0">
              <a:latin typeface="+mj-lt"/>
              <a:cs typeface="Times New Roman" pitchFamily="18" charset="0"/>
            </a:endParaRPr>
          </a:p>
          <a:p>
            <a:pPr lvl="1">
              <a:lnSpc>
                <a:spcPct val="90000"/>
              </a:lnSpc>
              <a:buClr>
                <a:schemeClr val="tx2"/>
              </a:buClr>
              <a:buSzPct val="75000"/>
              <a:buFont typeface="Monotype Sorts"/>
              <a:buNone/>
              <a:defRPr/>
            </a:pPr>
            <a:r>
              <a:rPr lang="en-US" altLang="en-US" sz="2200" dirty="0">
                <a:latin typeface="+mj-lt"/>
                <a:cs typeface="Courier New" pitchFamily="49" charset="0"/>
              </a:rPr>
              <a:t>char[] chars = {'a', 'A', '4', 'F', 'D', 'P'};</a:t>
            </a:r>
            <a:endParaRPr lang="en-US" altLang="en-US" sz="2200" dirty="0">
              <a:latin typeface="+mj-lt"/>
              <a:cs typeface="Times New Roman" pitchFamily="18" charset="0"/>
            </a:endParaRPr>
          </a:p>
          <a:p>
            <a:pPr lvl="1">
              <a:lnSpc>
                <a:spcPct val="90000"/>
              </a:lnSpc>
              <a:buClr>
                <a:schemeClr val="tx2"/>
              </a:buClr>
              <a:buSzPct val="75000"/>
              <a:buFont typeface="Monotype Sorts"/>
              <a:buNone/>
              <a:defRPr/>
            </a:pPr>
            <a:r>
              <a:rPr lang="en-US" altLang="en-US" sz="2200" dirty="0" err="1">
                <a:latin typeface="+mj-lt"/>
                <a:cs typeface="Courier New" pitchFamily="49" charset="0"/>
              </a:rPr>
              <a:t>java.util.Arrays.sort</a:t>
            </a:r>
            <a:r>
              <a:rPr lang="en-US" altLang="en-US" sz="2200" dirty="0">
                <a:latin typeface="+mj-lt"/>
                <a:cs typeface="Courier New" pitchFamily="49" charset="0"/>
              </a:rPr>
              <a:t>(chars);</a:t>
            </a:r>
          </a:p>
        </p:txBody>
      </p:sp>
    </p:spTree>
    <p:extLst>
      <p:ext uri="{BB962C8B-B14F-4D97-AF65-F5344CB8AC3E}">
        <p14:creationId xmlns:p14="http://schemas.microsoft.com/office/powerpoint/2010/main" val="363024782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5" name="Rectangle 2">
            <a:extLst>
              <a:ext uri="{FF2B5EF4-FFF2-40B4-BE49-F238E27FC236}">
                <a16:creationId xmlns:a16="http://schemas.microsoft.com/office/drawing/2014/main" id="{BB5BE4A9-25BA-497C-9432-CAF5D15819AA}"/>
              </a:ext>
            </a:extLst>
          </p:cNvPr>
          <p:cNvSpPr>
            <a:spLocks noGrp="1" noChangeArrowheads="1"/>
          </p:cNvSpPr>
          <p:nvPr>
            <p:ph type="title"/>
          </p:nvPr>
        </p:nvSpPr>
        <p:spPr>
          <a:xfrm>
            <a:off x="609600" y="304800"/>
            <a:ext cx="7772400" cy="609600"/>
          </a:xfrm>
        </p:spPr>
        <p:txBody>
          <a:bodyPr>
            <a:normAutofit fontScale="90000"/>
          </a:bodyPr>
          <a:lstStyle/>
          <a:p>
            <a:r>
              <a:rPr lang="en-US" altLang="en-US"/>
              <a:t>The Arrays.toString(list) Method</a:t>
            </a:r>
            <a:endParaRPr lang="en-US" altLang="en-US">
              <a:solidFill>
                <a:schemeClr val="tx1"/>
              </a:solidFill>
              <a:latin typeface="Book Antiqua" panose="02040602050305030304" pitchFamily="18" charset="0"/>
              <a:hlinkClick r:id="rId2" action="ppaction://program"/>
            </a:endParaRPr>
          </a:p>
        </p:txBody>
      </p:sp>
      <p:sp>
        <p:nvSpPr>
          <p:cNvPr id="110596" name="Rectangle 4">
            <a:extLst>
              <a:ext uri="{FF2B5EF4-FFF2-40B4-BE49-F238E27FC236}">
                <a16:creationId xmlns:a16="http://schemas.microsoft.com/office/drawing/2014/main" id="{A115FDC3-3B67-455C-AF64-39F71DAAC79E}"/>
              </a:ext>
            </a:extLst>
          </p:cNvPr>
          <p:cNvSpPr>
            <a:spLocks noChangeArrowheads="1"/>
          </p:cNvSpPr>
          <p:nvPr/>
        </p:nvSpPr>
        <p:spPr bwMode="auto">
          <a:xfrm>
            <a:off x="381000" y="1066800"/>
            <a:ext cx="8534400" cy="426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150000"/>
              </a:lnSpc>
              <a:spcBef>
                <a:spcPct val="20000"/>
              </a:spcBef>
              <a:buClr>
                <a:schemeClr val="tx2"/>
              </a:buClr>
              <a:buSzPct val="75000"/>
              <a:buFont typeface="Monotype Sorts" pitchFamily="2" charset="2"/>
              <a:buNone/>
            </a:pPr>
            <a:r>
              <a:rPr lang="en-US" altLang="en-US" sz="2200" dirty="0">
                <a:latin typeface="+mj-lt"/>
                <a:cs typeface="Courier New" panose="02070309020205020404" pitchFamily="49" charset="0"/>
              </a:rPr>
              <a:t>The </a:t>
            </a:r>
            <a:r>
              <a:rPr lang="en-US" altLang="en-US" sz="2200" dirty="0" err="1">
                <a:latin typeface="+mj-lt"/>
                <a:cs typeface="Courier New" panose="02070309020205020404" pitchFamily="49" charset="0"/>
              </a:rPr>
              <a:t>Arrays.toString</a:t>
            </a:r>
            <a:r>
              <a:rPr lang="en-US" altLang="en-US" sz="2200" dirty="0">
                <a:latin typeface="+mj-lt"/>
                <a:cs typeface="Courier New" panose="02070309020205020404" pitchFamily="49" charset="0"/>
              </a:rPr>
              <a:t>(list) method can be used to return a string representation for the list.</a:t>
            </a:r>
          </a:p>
        </p:txBody>
      </p:sp>
    </p:spTree>
    <p:extLst>
      <p:ext uri="{BB962C8B-B14F-4D97-AF65-F5344CB8AC3E}">
        <p14:creationId xmlns:p14="http://schemas.microsoft.com/office/powerpoint/2010/main" val="173421227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3" name="Rectangle 2">
            <a:extLst>
              <a:ext uri="{FF2B5EF4-FFF2-40B4-BE49-F238E27FC236}">
                <a16:creationId xmlns:a16="http://schemas.microsoft.com/office/drawing/2014/main" id="{CE8BE3E2-7B59-4574-A18B-7AE4FA4D5AEB}"/>
              </a:ext>
            </a:extLst>
          </p:cNvPr>
          <p:cNvSpPr>
            <a:spLocks noGrp="1" noChangeArrowheads="1"/>
          </p:cNvSpPr>
          <p:nvPr>
            <p:ph type="title"/>
          </p:nvPr>
        </p:nvSpPr>
        <p:spPr>
          <a:xfrm>
            <a:off x="0" y="381000"/>
            <a:ext cx="9144000" cy="685800"/>
          </a:xfrm>
          <a:noFill/>
        </p:spPr>
        <p:txBody>
          <a:bodyPr>
            <a:normAutofit fontScale="90000"/>
          </a:bodyPr>
          <a:lstStyle/>
          <a:p>
            <a:r>
              <a:rPr lang="en-US" altLang="en-US" sz="4000"/>
              <a:t>Main Method Is Just a Regular Method</a:t>
            </a:r>
          </a:p>
        </p:txBody>
      </p:sp>
      <p:sp>
        <p:nvSpPr>
          <p:cNvPr id="112644" name="Rectangle 6">
            <a:extLst>
              <a:ext uri="{FF2B5EF4-FFF2-40B4-BE49-F238E27FC236}">
                <a16:creationId xmlns:a16="http://schemas.microsoft.com/office/drawing/2014/main" id="{52808827-E8AA-4FCD-9F1C-F118AD5F20CC}"/>
              </a:ext>
            </a:extLst>
          </p:cNvPr>
          <p:cNvSpPr>
            <a:spLocks noChangeArrowheads="1"/>
          </p:cNvSpPr>
          <p:nvPr/>
        </p:nvSpPr>
        <p:spPr bwMode="auto">
          <a:xfrm>
            <a:off x="0" y="2938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graphicFrame>
        <p:nvGraphicFramePr>
          <p:cNvPr id="112645" name="Object 5">
            <a:extLst>
              <a:ext uri="{FF2B5EF4-FFF2-40B4-BE49-F238E27FC236}">
                <a16:creationId xmlns:a16="http://schemas.microsoft.com/office/drawing/2014/main" id="{D77D26C5-B85D-40FD-879E-A2D85CA041E4}"/>
              </a:ext>
            </a:extLst>
          </p:cNvPr>
          <p:cNvGraphicFramePr>
            <a:graphicFrameLocks noChangeAspect="1"/>
          </p:cNvGraphicFramePr>
          <p:nvPr/>
        </p:nvGraphicFramePr>
        <p:xfrm>
          <a:off x="230188" y="4191000"/>
          <a:ext cx="8910637" cy="1506538"/>
        </p:xfrm>
        <a:graphic>
          <a:graphicData uri="http://schemas.openxmlformats.org/presentationml/2006/ole">
            <mc:AlternateContent xmlns:mc="http://schemas.openxmlformats.org/markup-compatibility/2006">
              <mc:Choice xmlns:v="urn:schemas-microsoft-com:vml" Requires="v">
                <p:oleObj name="Picture" r:id="rId2" imgW="6019800" imgH="1016000" progId="Word.Picture.8">
                  <p:embed/>
                </p:oleObj>
              </mc:Choice>
              <mc:Fallback>
                <p:oleObj name="Picture" r:id="rId2" imgW="6019800" imgH="1016000" progId="Word.Picture.8">
                  <p:embed/>
                  <p:pic>
                    <p:nvPicPr>
                      <p:cNvPr id="112645" name="Object 5">
                        <a:extLst>
                          <a:ext uri="{FF2B5EF4-FFF2-40B4-BE49-F238E27FC236}">
                            <a16:creationId xmlns:a16="http://schemas.microsoft.com/office/drawing/2014/main" id="{D77D26C5-B85D-40FD-879E-A2D85CA041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0188" y="4191000"/>
                        <a:ext cx="8910637" cy="1506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2646" name="Rectangle 7">
            <a:extLst>
              <a:ext uri="{FF2B5EF4-FFF2-40B4-BE49-F238E27FC236}">
                <a16:creationId xmlns:a16="http://schemas.microsoft.com/office/drawing/2014/main" id="{0055CA69-A189-4FB8-BA73-67BFB7589D06}"/>
              </a:ext>
            </a:extLst>
          </p:cNvPr>
          <p:cNvSpPr>
            <a:spLocks noGrp="1" noChangeArrowheads="1"/>
          </p:cNvSpPr>
          <p:nvPr>
            <p:ph type="body" idx="1"/>
          </p:nvPr>
        </p:nvSpPr>
        <p:spPr>
          <a:xfrm>
            <a:off x="381000" y="1524000"/>
            <a:ext cx="8534400" cy="2209800"/>
          </a:xfrm>
          <a:noFill/>
        </p:spPr>
        <p:txBody>
          <a:bodyPr>
            <a:normAutofit fontScale="92500"/>
          </a:bodyPr>
          <a:lstStyle/>
          <a:p>
            <a:pPr marL="0" indent="0">
              <a:buFont typeface="Monotype Sorts" pitchFamily="2" charset="2"/>
              <a:buNone/>
            </a:pPr>
            <a:r>
              <a:rPr lang="en-US" altLang="en-US"/>
              <a:t>You can call a regular method by passing actual parameters. Can you pass arguments to </a:t>
            </a:r>
            <a:r>
              <a:rPr lang="en-US" altLang="en-US" u="sng"/>
              <a:t>main</a:t>
            </a:r>
            <a:r>
              <a:rPr lang="en-US" altLang="en-US"/>
              <a:t>? Of course, yes. For example, the main method in class </a:t>
            </a:r>
            <a:r>
              <a:rPr lang="en-US" altLang="en-US" u="sng"/>
              <a:t>B</a:t>
            </a:r>
            <a:r>
              <a:rPr lang="en-US" altLang="en-US"/>
              <a:t> is invoked by a method in </a:t>
            </a:r>
            <a:r>
              <a:rPr lang="en-US" altLang="en-US" u="sng"/>
              <a:t>A</a:t>
            </a:r>
            <a:r>
              <a:rPr lang="en-US" altLang="en-US"/>
              <a:t>, as shown below:</a:t>
            </a:r>
          </a:p>
        </p:txBody>
      </p:sp>
    </p:spTree>
    <p:extLst>
      <p:ext uri="{BB962C8B-B14F-4D97-AF65-F5344CB8AC3E}">
        <p14:creationId xmlns:p14="http://schemas.microsoft.com/office/powerpoint/2010/main" val="63475286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7" name="Rectangle 2">
            <a:extLst>
              <a:ext uri="{FF2B5EF4-FFF2-40B4-BE49-F238E27FC236}">
                <a16:creationId xmlns:a16="http://schemas.microsoft.com/office/drawing/2014/main" id="{D20C9DC1-9B10-40A5-B636-55C676E98A5D}"/>
              </a:ext>
            </a:extLst>
          </p:cNvPr>
          <p:cNvSpPr>
            <a:spLocks noGrp="1" noChangeArrowheads="1"/>
          </p:cNvSpPr>
          <p:nvPr>
            <p:ph type="title"/>
          </p:nvPr>
        </p:nvSpPr>
        <p:spPr>
          <a:xfrm>
            <a:off x="685800" y="0"/>
            <a:ext cx="7772400" cy="1428750"/>
          </a:xfrm>
          <a:noFill/>
        </p:spPr>
        <p:txBody>
          <a:bodyPr/>
          <a:lstStyle/>
          <a:p>
            <a:r>
              <a:rPr lang="en-US" altLang="en-US"/>
              <a:t>Command-Line Parameters</a:t>
            </a:r>
          </a:p>
        </p:txBody>
      </p:sp>
      <p:sp>
        <p:nvSpPr>
          <p:cNvPr id="113668" name="Rectangle 3">
            <a:extLst>
              <a:ext uri="{FF2B5EF4-FFF2-40B4-BE49-F238E27FC236}">
                <a16:creationId xmlns:a16="http://schemas.microsoft.com/office/drawing/2014/main" id="{76602686-B154-4B4C-93A5-5E9EC2391E9F}"/>
              </a:ext>
            </a:extLst>
          </p:cNvPr>
          <p:cNvSpPr>
            <a:spLocks noGrp="1" noChangeArrowheads="1"/>
          </p:cNvSpPr>
          <p:nvPr>
            <p:ph type="body" idx="1"/>
          </p:nvPr>
        </p:nvSpPr>
        <p:spPr>
          <a:xfrm>
            <a:off x="0" y="1657350"/>
            <a:ext cx="9829800" cy="4114800"/>
          </a:xfrm>
          <a:noFill/>
        </p:spPr>
        <p:txBody>
          <a:bodyPr/>
          <a:lstStyle/>
          <a:p>
            <a:pPr>
              <a:buFont typeface="Monotype Sorts" pitchFamily="2" charset="2"/>
              <a:buNone/>
            </a:pPr>
            <a:r>
              <a:rPr lang="en-US" altLang="en-US" sz="2800" b="1">
                <a:latin typeface="Courier New" panose="02070309020205020404" pitchFamily="49" charset="0"/>
              </a:rPr>
              <a:t>class TestMain {	</a:t>
            </a:r>
          </a:p>
          <a:p>
            <a:pPr>
              <a:buFont typeface="Monotype Sorts" pitchFamily="2" charset="2"/>
              <a:buNone/>
            </a:pPr>
            <a:r>
              <a:rPr lang="en-US" altLang="en-US" sz="2800" b="1">
                <a:latin typeface="Courier New" panose="02070309020205020404" pitchFamily="49" charset="0"/>
              </a:rPr>
              <a:t>  public static void main(String[] args) { </a:t>
            </a:r>
          </a:p>
          <a:p>
            <a:pPr>
              <a:buFont typeface="Monotype Sorts" pitchFamily="2" charset="2"/>
              <a:buNone/>
            </a:pPr>
            <a:r>
              <a:rPr lang="en-US" altLang="en-US" sz="2800" b="1">
                <a:latin typeface="Courier New" panose="02070309020205020404" pitchFamily="49" charset="0"/>
              </a:rPr>
              <a:t>  ... </a:t>
            </a:r>
          </a:p>
          <a:p>
            <a:pPr>
              <a:buFont typeface="Monotype Sorts" pitchFamily="2" charset="2"/>
              <a:buNone/>
            </a:pPr>
            <a:r>
              <a:rPr lang="en-US" altLang="en-US" sz="2800" b="1">
                <a:latin typeface="Courier New" panose="02070309020205020404" pitchFamily="49" charset="0"/>
              </a:rPr>
              <a:t>  }</a:t>
            </a:r>
          </a:p>
          <a:p>
            <a:pPr>
              <a:buFont typeface="Monotype Sorts" pitchFamily="2" charset="2"/>
              <a:buNone/>
            </a:pPr>
            <a:r>
              <a:rPr lang="en-US" altLang="en-US" sz="2800" b="1">
                <a:latin typeface="Courier New" panose="02070309020205020404" pitchFamily="49" charset="0"/>
              </a:rPr>
              <a:t>}</a:t>
            </a:r>
          </a:p>
          <a:p>
            <a:pPr>
              <a:buFont typeface="Monotype Sorts" pitchFamily="2" charset="2"/>
              <a:buNone/>
            </a:pPr>
            <a:endParaRPr lang="en-US" altLang="en-US" sz="2800" b="1">
              <a:latin typeface="Courier New" panose="02070309020205020404" pitchFamily="49" charset="0"/>
            </a:endParaRPr>
          </a:p>
          <a:p>
            <a:pPr>
              <a:buFont typeface="Monotype Sorts" pitchFamily="2" charset="2"/>
              <a:buNone/>
            </a:pPr>
            <a:r>
              <a:rPr lang="en-US" altLang="en-US" sz="2800" b="1">
                <a:latin typeface="Courier New" panose="02070309020205020404" pitchFamily="49" charset="0"/>
              </a:rPr>
              <a:t>java TestMain arg0 arg1 arg2 ... argn</a:t>
            </a:r>
          </a:p>
          <a:p>
            <a:pPr>
              <a:buFont typeface="Monotype Sorts" pitchFamily="2" charset="2"/>
              <a:buNone/>
            </a:pPr>
            <a:endParaRPr lang="en-US" altLang="en-US" sz="2800" b="1"/>
          </a:p>
        </p:txBody>
      </p:sp>
    </p:spTree>
    <p:extLst>
      <p:ext uri="{BB962C8B-B14F-4D97-AF65-F5344CB8AC3E}">
        <p14:creationId xmlns:p14="http://schemas.microsoft.com/office/powerpoint/2010/main" val="358847540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1" name="Rectangle 2">
            <a:extLst>
              <a:ext uri="{FF2B5EF4-FFF2-40B4-BE49-F238E27FC236}">
                <a16:creationId xmlns:a16="http://schemas.microsoft.com/office/drawing/2014/main" id="{D9669213-4F94-4EE2-A036-D704AAA2C0DA}"/>
              </a:ext>
            </a:extLst>
          </p:cNvPr>
          <p:cNvSpPr>
            <a:spLocks noGrp="1" noChangeArrowheads="1"/>
          </p:cNvSpPr>
          <p:nvPr>
            <p:ph type="title"/>
          </p:nvPr>
        </p:nvSpPr>
        <p:spPr>
          <a:xfrm>
            <a:off x="685800" y="457200"/>
            <a:ext cx="7772400" cy="1143000"/>
          </a:xfrm>
          <a:noFill/>
        </p:spPr>
        <p:txBody>
          <a:bodyPr>
            <a:normAutofit fontScale="90000"/>
          </a:bodyPr>
          <a:lstStyle/>
          <a:p>
            <a:r>
              <a:rPr lang="en-US" altLang="en-US"/>
              <a:t>Processing</a:t>
            </a:r>
            <a:br>
              <a:rPr lang="en-US" altLang="en-US"/>
            </a:br>
            <a:r>
              <a:rPr lang="en-US" altLang="en-US"/>
              <a:t>Command-Line Parameters</a:t>
            </a:r>
            <a:endParaRPr lang="en-US" altLang="en-US" sz="3600"/>
          </a:p>
        </p:txBody>
      </p:sp>
      <p:sp>
        <p:nvSpPr>
          <p:cNvPr id="114692" name="Rectangle 3">
            <a:extLst>
              <a:ext uri="{FF2B5EF4-FFF2-40B4-BE49-F238E27FC236}">
                <a16:creationId xmlns:a16="http://schemas.microsoft.com/office/drawing/2014/main" id="{8728EE70-3502-4CC5-9808-C82B3358E017}"/>
              </a:ext>
            </a:extLst>
          </p:cNvPr>
          <p:cNvSpPr>
            <a:spLocks noGrp="1" noChangeArrowheads="1"/>
          </p:cNvSpPr>
          <p:nvPr>
            <p:ph type="body" idx="1"/>
          </p:nvPr>
        </p:nvSpPr>
        <p:spPr>
          <a:xfrm>
            <a:off x="838200" y="2057400"/>
            <a:ext cx="7772400" cy="3714750"/>
          </a:xfrm>
          <a:noFill/>
        </p:spPr>
        <p:txBody>
          <a:bodyPr/>
          <a:lstStyle/>
          <a:p>
            <a:pPr marL="0" indent="0">
              <a:buFont typeface="Monotype Sorts" pitchFamily="2" charset="2"/>
              <a:buNone/>
            </a:pPr>
            <a:r>
              <a:rPr lang="en-US" altLang="en-US" sz="3000"/>
              <a:t>In the main method, get the arguments from </a:t>
            </a:r>
            <a:r>
              <a:rPr lang="en-US" altLang="en-US" sz="2800">
                <a:latin typeface="Courier New" panose="02070309020205020404" pitchFamily="49" charset="0"/>
              </a:rPr>
              <a:t>args[0], args[1], ..., args[n]</a:t>
            </a:r>
            <a:r>
              <a:rPr lang="en-US" altLang="en-US" sz="3000"/>
              <a:t>, which corresponds to </a:t>
            </a:r>
            <a:r>
              <a:rPr lang="en-US" altLang="en-US" sz="2800">
                <a:latin typeface="Courier New" panose="02070309020205020404" pitchFamily="49" charset="0"/>
              </a:rPr>
              <a:t>arg0, arg1, ..., argn</a:t>
            </a:r>
            <a:r>
              <a:rPr lang="en-US" altLang="en-US" sz="3000"/>
              <a:t> in the command line.</a:t>
            </a:r>
          </a:p>
        </p:txBody>
      </p:sp>
    </p:spTree>
    <p:extLst>
      <p:ext uri="{BB962C8B-B14F-4D97-AF65-F5344CB8AC3E}">
        <p14:creationId xmlns:p14="http://schemas.microsoft.com/office/powerpoint/2010/main" val="20410356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10013</TotalTime>
  <Words>2923</Words>
  <Application>Microsoft Office PowerPoint</Application>
  <PresentationFormat>On-screen Show (4:3)</PresentationFormat>
  <Paragraphs>383</Paragraphs>
  <Slides>50</Slides>
  <Notes>3</Notes>
  <HiddenSlides>3</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50</vt:i4>
      </vt:variant>
    </vt:vector>
  </HeadingPairs>
  <TitlesOfParts>
    <vt:vector size="59" baseType="lpstr">
      <vt:lpstr>Arial</vt:lpstr>
      <vt:lpstr>Book Antiqua</vt:lpstr>
      <vt:lpstr>Calibri</vt:lpstr>
      <vt:lpstr>Courier</vt:lpstr>
      <vt:lpstr>Courier New</vt:lpstr>
      <vt:lpstr>Monotype Sorts</vt:lpstr>
      <vt:lpstr>Times New Roman</vt:lpstr>
      <vt:lpstr>Office Theme</vt:lpstr>
      <vt:lpstr>Picture</vt:lpstr>
      <vt:lpstr>Arrays</vt:lpstr>
      <vt:lpstr>Opening Problem</vt:lpstr>
      <vt:lpstr>Introducing Arrays</vt:lpstr>
      <vt:lpstr>Declaring Array Variables</vt:lpstr>
      <vt:lpstr>Creating Arrays</vt:lpstr>
      <vt:lpstr>Declaring and Creating in One Step</vt:lpstr>
      <vt:lpstr>Creating Arrays</vt:lpstr>
      <vt:lpstr>The Length of an Array</vt:lpstr>
      <vt:lpstr>Default Values</vt:lpstr>
      <vt:lpstr>Indexed Variables</vt:lpstr>
      <vt:lpstr>Using Indexed Variables</vt:lpstr>
      <vt:lpstr>Declaring, creating, initializing Using the Shorthand Notation</vt:lpstr>
      <vt:lpstr>Processing Arrays</vt:lpstr>
      <vt:lpstr>Initializing arrays with input values</vt:lpstr>
      <vt:lpstr>Initializing arrays with random values</vt:lpstr>
      <vt:lpstr>Printing arrays</vt:lpstr>
      <vt:lpstr>Summing all elements</vt:lpstr>
      <vt:lpstr>Finding the largest element</vt:lpstr>
      <vt:lpstr>Random shuffling</vt:lpstr>
      <vt:lpstr>Shifting Elements</vt:lpstr>
      <vt:lpstr>Copying Arrays</vt:lpstr>
      <vt:lpstr>Copying Arrays</vt:lpstr>
      <vt:lpstr>The arraycopy Utility</vt:lpstr>
      <vt:lpstr>Passing Arrays to Methods</vt:lpstr>
      <vt:lpstr>Pass By Value</vt:lpstr>
      <vt:lpstr>Simple Example</vt:lpstr>
      <vt:lpstr>Returning an Array from a Method</vt:lpstr>
      <vt:lpstr>Variable-Length Argument Lists</vt:lpstr>
      <vt:lpstr>PowerPoint Presentation</vt:lpstr>
      <vt:lpstr>Searching Arrays</vt:lpstr>
      <vt:lpstr>Searching Arrays</vt:lpstr>
      <vt:lpstr>Linear Search</vt:lpstr>
      <vt:lpstr>Linear Search Animation</vt:lpstr>
      <vt:lpstr>From Idea to Solution</vt:lpstr>
      <vt:lpstr>Binary Search</vt:lpstr>
      <vt:lpstr>Binary Search, cont.</vt:lpstr>
      <vt:lpstr>Binary Search</vt:lpstr>
      <vt:lpstr>Binary Search, cont.</vt:lpstr>
      <vt:lpstr>Binary Search, cont.</vt:lpstr>
      <vt:lpstr>Binary Search, cont.</vt:lpstr>
      <vt:lpstr>From Idea to Solution</vt:lpstr>
      <vt:lpstr>The Arrays.binarySearch Method</vt:lpstr>
      <vt:lpstr>Sorting Arrays</vt:lpstr>
      <vt:lpstr>Selection Sort</vt:lpstr>
      <vt:lpstr>Wrap it in a Method</vt:lpstr>
      <vt:lpstr>The Arrays.sort Method</vt:lpstr>
      <vt:lpstr>The Arrays.toString(list) Method</vt:lpstr>
      <vt:lpstr>Main Method Is Just a Regular Method</vt:lpstr>
      <vt:lpstr>Command-Line Parameters</vt:lpstr>
      <vt:lpstr>Processing Command-Line Parameters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Arrays</dc:title>
  <dc:creator>Rizwan</dc:creator>
  <cp:lastModifiedBy>Khurram Iqbal</cp:lastModifiedBy>
  <cp:revision>22</cp:revision>
  <dcterms:created xsi:type="dcterms:W3CDTF">2006-08-16T00:00:00Z</dcterms:created>
  <dcterms:modified xsi:type="dcterms:W3CDTF">2026-05-08T06:04:54Z</dcterms:modified>
</cp:coreProperties>
</file>